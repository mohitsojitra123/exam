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media/image70.jpg" ContentType="image/png"/>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2" r:id="rId1"/>
  </p:sldMasterIdLst>
  <p:notesMasterIdLst>
    <p:notesMasterId r:id="rId84"/>
  </p:notesMasterIdLst>
  <p:handoutMasterIdLst>
    <p:handoutMasterId r:id="rId85"/>
  </p:handoutMasterIdLst>
  <p:sldIdLst>
    <p:sldId id="283" r:id="rId2"/>
    <p:sldId id="447" r:id="rId3"/>
    <p:sldId id="448" r:id="rId4"/>
    <p:sldId id="449" r:id="rId5"/>
    <p:sldId id="450" r:id="rId6"/>
    <p:sldId id="451" r:id="rId7"/>
    <p:sldId id="452" r:id="rId8"/>
    <p:sldId id="454" r:id="rId9"/>
    <p:sldId id="453" r:id="rId10"/>
    <p:sldId id="455" r:id="rId11"/>
    <p:sldId id="456" r:id="rId12"/>
    <p:sldId id="457" r:id="rId13"/>
    <p:sldId id="458" r:id="rId14"/>
    <p:sldId id="459" r:id="rId15"/>
    <p:sldId id="462" r:id="rId16"/>
    <p:sldId id="460" r:id="rId17"/>
    <p:sldId id="461" r:id="rId18"/>
    <p:sldId id="463" r:id="rId19"/>
    <p:sldId id="464" r:id="rId20"/>
    <p:sldId id="465" r:id="rId21"/>
    <p:sldId id="466" r:id="rId22"/>
    <p:sldId id="468" r:id="rId23"/>
    <p:sldId id="467" r:id="rId24"/>
    <p:sldId id="469" r:id="rId25"/>
    <p:sldId id="470" r:id="rId26"/>
    <p:sldId id="471" r:id="rId27"/>
    <p:sldId id="472" r:id="rId28"/>
    <p:sldId id="473" r:id="rId29"/>
    <p:sldId id="474" r:id="rId30"/>
    <p:sldId id="475" r:id="rId31"/>
    <p:sldId id="476" r:id="rId32"/>
    <p:sldId id="477" r:id="rId33"/>
    <p:sldId id="478" r:id="rId34"/>
    <p:sldId id="479" r:id="rId35"/>
    <p:sldId id="481" r:id="rId36"/>
    <p:sldId id="480" r:id="rId37"/>
    <p:sldId id="482" r:id="rId38"/>
    <p:sldId id="483" r:id="rId39"/>
    <p:sldId id="484" r:id="rId40"/>
    <p:sldId id="485" r:id="rId41"/>
    <p:sldId id="487" r:id="rId42"/>
    <p:sldId id="486" r:id="rId43"/>
    <p:sldId id="488" r:id="rId44"/>
    <p:sldId id="490" r:id="rId45"/>
    <p:sldId id="489" r:id="rId46"/>
    <p:sldId id="491" r:id="rId47"/>
    <p:sldId id="492" r:id="rId48"/>
    <p:sldId id="493" r:id="rId49"/>
    <p:sldId id="494" r:id="rId50"/>
    <p:sldId id="495" r:id="rId51"/>
    <p:sldId id="496" r:id="rId52"/>
    <p:sldId id="497" r:id="rId53"/>
    <p:sldId id="498" r:id="rId54"/>
    <p:sldId id="499" r:id="rId55"/>
    <p:sldId id="500" r:id="rId56"/>
    <p:sldId id="502" r:id="rId57"/>
    <p:sldId id="503" r:id="rId58"/>
    <p:sldId id="504" r:id="rId59"/>
    <p:sldId id="505" r:id="rId60"/>
    <p:sldId id="506" r:id="rId61"/>
    <p:sldId id="507" r:id="rId62"/>
    <p:sldId id="508" r:id="rId63"/>
    <p:sldId id="509" r:id="rId64"/>
    <p:sldId id="510" r:id="rId65"/>
    <p:sldId id="511" r:id="rId66"/>
    <p:sldId id="512" r:id="rId67"/>
    <p:sldId id="513" r:id="rId68"/>
    <p:sldId id="514" r:id="rId69"/>
    <p:sldId id="520" r:id="rId70"/>
    <p:sldId id="521" r:id="rId71"/>
    <p:sldId id="522" r:id="rId72"/>
    <p:sldId id="523" r:id="rId73"/>
    <p:sldId id="524" r:id="rId74"/>
    <p:sldId id="526" r:id="rId75"/>
    <p:sldId id="527" r:id="rId76"/>
    <p:sldId id="529" r:id="rId77"/>
    <p:sldId id="530" r:id="rId78"/>
    <p:sldId id="531" r:id="rId79"/>
    <p:sldId id="532" r:id="rId80"/>
    <p:sldId id="533" r:id="rId81"/>
    <p:sldId id="536" r:id="rId82"/>
    <p:sldId id="345" r:id="rId83"/>
  </p:sldIdLst>
  <p:sldSz cx="12192000" cy="6858000"/>
  <p:notesSz cx="6858000" cy="9144000"/>
  <p:embeddedFontLst>
    <p:embeddedFont>
      <p:font typeface="Calibri" panose="020F0502020204030204" pitchFamily="34" charset="0"/>
      <p:regular r:id="rId86"/>
      <p:bold r:id="rId87"/>
      <p:italic r:id="rId88"/>
      <p:boldItalic r:id="rId89"/>
    </p:embeddedFont>
    <p:embeddedFont>
      <p:font typeface="Roboto Condensed" panose="02000000000000000000" pitchFamily="2" charset="0"/>
      <p:regular r:id="rId90"/>
      <p:bold r:id="rId91"/>
      <p:italic r:id="rId92"/>
      <p:boldItalic r:id="rId93"/>
    </p:embeddedFont>
    <p:embeddedFont>
      <p:font typeface="Roboto Condensed Light" panose="02000000000000000000" pitchFamily="2" charset="0"/>
      <p:regular r:id="rId94"/>
      <p:bold r:id="rId95"/>
      <p:italic r:id="rId96"/>
      <p:boldItalic r:id="rId97"/>
    </p:embeddedFont>
    <p:embeddedFont>
      <p:font typeface="Wingdings 3" panose="05040102010807070707" pitchFamily="18" charset="2"/>
      <p:regular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01A032-DF04-D542-AF03-FB576A7ADED9}">
          <p14:sldIdLst>
            <p14:sldId id="283"/>
            <p14:sldId id="447"/>
            <p14:sldId id="448"/>
            <p14:sldId id="449"/>
            <p14:sldId id="450"/>
            <p14:sldId id="451"/>
            <p14:sldId id="452"/>
            <p14:sldId id="454"/>
            <p14:sldId id="453"/>
            <p14:sldId id="455"/>
            <p14:sldId id="456"/>
            <p14:sldId id="457"/>
            <p14:sldId id="458"/>
            <p14:sldId id="459"/>
            <p14:sldId id="462"/>
            <p14:sldId id="460"/>
            <p14:sldId id="461"/>
            <p14:sldId id="463"/>
            <p14:sldId id="464"/>
            <p14:sldId id="465"/>
            <p14:sldId id="466"/>
            <p14:sldId id="468"/>
            <p14:sldId id="467"/>
            <p14:sldId id="469"/>
            <p14:sldId id="470"/>
            <p14:sldId id="471"/>
            <p14:sldId id="472"/>
            <p14:sldId id="473"/>
            <p14:sldId id="474"/>
            <p14:sldId id="475"/>
            <p14:sldId id="476"/>
            <p14:sldId id="477"/>
            <p14:sldId id="478"/>
            <p14:sldId id="479"/>
            <p14:sldId id="481"/>
            <p14:sldId id="480"/>
            <p14:sldId id="482"/>
            <p14:sldId id="483"/>
            <p14:sldId id="484"/>
            <p14:sldId id="485"/>
            <p14:sldId id="487"/>
            <p14:sldId id="486"/>
            <p14:sldId id="488"/>
            <p14:sldId id="490"/>
            <p14:sldId id="489"/>
            <p14:sldId id="491"/>
            <p14:sldId id="492"/>
            <p14:sldId id="493"/>
            <p14:sldId id="494"/>
            <p14:sldId id="495"/>
            <p14:sldId id="496"/>
            <p14:sldId id="497"/>
            <p14:sldId id="498"/>
            <p14:sldId id="499"/>
            <p14:sldId id="500"/>
            <p14:sldId id="502"/>
            <p14:sldId id="503"/>
            <p14:sldId id="504"/>
            <p14:sldId id="505"/>
            <p14:sldId id="506"/>
            <p14:sldId id="507"/>
            <p14:sldId id="508"/>
            <p14:sldId id="509"/>
            <p14:sldId id="510"/>
            <p14:sldId id="511"/>
            <p14:sldId id="512"/>
            <p14:sldId id="513"/>
            <p14:sldId id="514"/>
            <p14:sldId id="520"/>
            <p14:sldId id="521"/>
            <p14:sldId id="522"/>
            <p14:sldId id="523"/>
            <p14:sldId id="524"/>
            <p14:sldId id="526"/>
            <p14:sldId id="527"/>
            <p14:sldId id="529"/>
            <p14:sldId id="530"/>
            <p14:sldId id="531"/>
            <p14:sldId id="532"/>
            <p14:sldId id="533"/>
            <p14:sldId id="536"/>
            <p14:sldId id="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F"/>
    <a:srgbClr val="EDF0FC"/>
    <a:srgbClr val="3399FF"/>
    <a:srgbClr val="301B92"/>
    <a:srgbClr val="673BB7"/>
    <a:srgbClr val="607D8B"/>
    <a:srgbClr val="ED524F"/>
    <a:srgbClr val="B71B1C"/>
    <a:srgbClr val="F54337"/>
    <a:srgbClr val="D81A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66" autoAdjust="0"/>
    <p:restoredTop sz="94660"/>
  </p:normalViewPr>
  <p:slideViewPr>
    <p:cSldViewPr snapToGrid="0">
      <p:cViewPr varScale="1">
        <p:scale>
          <a:sx n="85" d="100"/>
          <a:sy n="85" d="100"/>
        </p:scale>
        <p:origin x="446" y="53"/>
      </p:cViewPr>
      <p:guideLst/>
    </p:cSldViewPr>
  </p:slideViewPr>
  <p:notesTextViewPr>
    <p:cViewPr>
      <p:scale>
        <a:sx n="1" d="1"/>
        <a:sy n="1" d="1"/>
      </p:scale>
      <p:origin x="0" y="0"/>
    </p:cViewPr>
  </p:notesTextViewPr>
  <p:notesViewPr>
    <p:cSldViewPr snapToGrid="0">
      <p:cViewPr varScale="1">
        <p:scale>
          <a:sx n="97" d="100"/>
          <a:sy n="97" d="100"/>
        </p:scale>
        <p:origin x="3688" y="2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E:\Darshan%20University\Study%20-%20DIM\Sem-05\Digital%20Marketing%20&amp;%20SEO%20-%20BBA-2026\PPT\cha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Darshan%20University\Study%20-%20DIM\Sem-05\Digital%20Marketing%20&amp;%20SEO%20-%20BBA-2026\PPT\char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1" i="1" u="none" strike="noStrike" kern="1200" spc="0" baseline="0">
                <a:solidFill>
                  <a:schemeClr val="tx1">
                    <a:lumMod val="65000"/>
                    <a:lumOff val="35000"/>
                  </a:schemeClr>
                </a:solidFill>
                <a:latin typeface="+mj-lt"/>
                <a:ea typeface="+mn-ea"/>
                <a:cs typeface="+mn-cs"/>
              </a:defRPr>
            </a:pPr>
            <a:r>
              <a:rPr lang="en-US" b="1" i="1" dirty="0"/>
              <a:t>Growth of Internet Users in India (2000-2025)</a:t>
            </a:r>
          </a:p>
        </c:rich>
      </c:tx>
      <c:overlay val="0"/>
      <c:spPr>
        <a:noFill/>
        <a:ln>
          <a:noFill/>
        </a:ln>
        <a:effectLst/>
      </c:spPr>
      <c:txPr>
        <a:bodyPr rot="0" spcFirstLastPara="1" vertOverflow="ellipsis" vert="horz" wrap="square" anchor="ctr" anchorCtr="1"/>
        <a:lstStyle/>
        <a:p>
          <a:pPr>
            <a:defRPr sz="1920" b="1" i="1" u="none" strike="noStrike" kern="1200" spc="0" baseline="0">
              <a:solidFill>
                <a:schemeClr val="tx1">
                  <a:lumMod val="65000"/>
                  <a:lumOff val="35000"/>
                </a:schemeClr>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Internet Users
(in millions)</c:v>
                </c:pt>
              </c:strCache>
            </c:strRef>
          </c:tx>
          <c:spPr>
            <a:solidFill>
              <a:schemeClr val="accent6"/>
            </a:solidFill>
            <a:ln>
              <a:noFill/>
            </a:ln>
            <a:effectLst/>
          </c:spPr>
          <c:invertIfNegative val="0"/>
          <c:cat>
            <c:numRef>
              <c:f>Sheet1!$A$2:$A$8</c:f>
              <c:numCache>
                <c:formatCode>General</c:formatCode>
                <c:ptCount val="7"/>
                <c:pt idx="0">
                  <c:v>2005</c:v>
                </c:pt>
                <c:pt idx="1">
                  <c:v>2010</c:v>
                </c:pt>
                <c:pt idx="2">
                  <c:v>2015</c:v>
                </c:pt>
                <c:pt idx="3">
                  <c:v>2020</c:v>
                </c:pt>
                <c:pt idx="4">
                  <c:v>2023</c:v>
                </c:pt>
                <c:pt idx="5">
                  <c:v>2024</c:v>
                </c:pt>
                <c:pt idx="6">
                  <c:v>2025</c:v>
                </c:pt>
              </c:numCache>
            </c:numRef>
          </c:cat>
          <c:val>
            <c:numRef>
              <c:f>Sheet1!$B$2:$B$8</c:f>
              <c:numCache>
                <c:formatCode>General</c:formatCode>
                <c:ptCount val="7"/>
                <c:pt idx="0">
                  <c:v>50</c:v>
                </c:pt>
                <c:pt idx="1">
                  <c:v>100</c:v>
                </c:pt>
                <c:pt idx="2">
                  <c:v>375</c:v>
                </c:pt>
                <c:pt idx="3">
                  <c:v>687</c:v>
                </c:pt>
                <c:pt idx="4">
                  <c:v>825</c:v>
                </c:pt>
                <c:pt idx="5">
                  <c:v>887</c:v>
                </c:pt>
                <c:pt idx="6">
                  <c:v>958</c:v>
                </c:pt>
              </c:numCache>
            </c:numRef>
          </c:val>
          <c:extLst>
            <c:ext xmlns:c16="http://schemas.microsoft.com/office/drawing/2014/chart" uri="{C3380CC4-5D6E-409C-BE32-E72D297353CC}">
              <c16:uniqueId val="{00000000-31AD-4533-8BEA-67649AFC81D8}"/>
            </c:ext>
          </c:extLst>
        </c:ser>
        <c:dLbls>
          <c:showLegendKey val="0"/>
          <c:showVal val="0"/>
          <c:showCatName val="0"/>
          <c:showSerName val="0"/>
          <c:showPercent val="0"/>
          <c:showBubbleSize val="0"/>
        </c:dLbls>
        <c:gapWidth val="219"/>
        <c:overlap val="-27"/>
        <c:axId val="1031292704"/>
        <c:axId val="1031291744"/>
      </c:barChart>
      <c:lineChart>
        <c:grouping val="standard"/>
        <c:varyColors val="0"/>
        <c:ser>
          <c:idx val="1"/>
          <c:order val="1"/>
          <c:tx>
            <c:strRef>
              <c:f>Sheet1!$C$1</c:f>
              <c:strCache>
                <c:ptCount val="1"/>
                <c:pt idx="0">
                  <c:v>Penetration Rate (%)</c:v>
                </c:pt>
              </c:strCache>
            </c:strRef>
          </c:tx>
          <c:spPr>
            <a:ln w="28575" cap="rnd">
              <a:solidFill>
                <a:schemeClr val="accent5"/>
              </a:solidFill>
              <a:round/>
            </a:ln>
            <a:effectLst/>
          </c:spPr>
          <c:marker>
            <c:symbol val="none"/>
          </c:marker>
          <c:cat>
            <c:numRef>
              <c:f>Sheet1!$A$2:$A$8</c:f>
              <c:numCache>
                <c:formatCode>General</c:formatCode>
                <c:ptCount val="7"/>
                <c:pt idx="0">
                  <c:v>2005</c:v>
                </c:pt>
                <c:pt idx="1">
                  <c:v>2010</c:v>
                </c:pt>
                <c:pt idx="2">
                  <c:v>2015</c:v>
                </c:pt>
                <c:pt idx="3">
                  <c:v>2020</c:v>
                </c:pt>
                <c:pt idx="4">
                  <c:v>2023</c:v>
                </c:pt>
                <c:pt idx="5">
                  <c:v>2024</c:v>
                </c:pt>
                <c:pt idx="6">
                  <c:v>2025</c:v>
                </c:pt>
              </c:numCache>
            </c:numRef>
          </c:cat>
          <c:val>
            <c:numRef>
              <c:f>Sheet1!$C$2:$C$8</c:f>
              <c:numCache>
                <c:formatCode>0.00%</c:formatCode>
                <c:ptCount val="7"/>
                <c:pt idx="0">
                  <c:v>0.04</c:v>
                </c:pt>
                <c:pt idx="1">
                  <c:v>0.08</c:v>
                </c:pt>
                <c:pt idx="2">
                  <c:v>0.3</c:v>
                </c:pt>
                <c:pt idx="3">
                  <c:v>0.5</c:v>
                </c:pt>
                <c:pt idx="4">
                  <c:v>0.6</c:v>
                </c:pt>
                <c:pt idx="5">
                  <c:v>0.59</c:v>
                </c:pt>
                <c:pt idx="6">
                  <c:v>0.625</c:v>
                </c:pt>
              </c:numCache>
            </c:numRef>
          </c:val>
          <c:smooth val="0"/>
          <c:extLst>
            <c:ext xmlns:c16="http://schemas.microsoft.com/office/drawing/2014/chart" uri="{C3380CC4-5D6E-409C-BE32-E72D297353CC}">
              <c16:uniqueId val="{00000001-31AD-4533-8BEA-67649AFC81D8}"/>
            </c:ext>
          </c:extLst>
        </c:ser>
        <c:dLbls>
          <c:showLegendKey val="0"/>
          <c:showVal val="0"/>
          <c:showCatName val="0"/>
          <c:showSerName val="0"/>
          <c:showPercent val="0"/>
          <c:showBubbleSize val="0"/>
        </c:dLbls>
        <c:marker val="1"/>
        <c:smooth val="0"/>
        <c:axId val="1031275904"/>
        <c:axId val="1031293184"/>
      </c:lineChart>
      <c:catAx>
        <c:axId val="103129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j-lt"/>
                <a:ea typeface="+mn-ea"/>
                <a:cs typeface="+mn-cs"/>
              </a:defRPr>
            </a:pPr>
            <a:endParaRPr lang="en-US"/>
          </a:p>
        </c:txPr>
        <c:crossAx val="1031291744"/>
        <c:crosses val="autoZero"/>
        <c:auto val="1"/>
        <c:lblAlgn val="ctr"/>
        <c:lblOffset val="100"/>
        <c:noMultiLvlLbl val="0"/>
      </c:catAx>
      <c:valAx>
        <c:axId val="10312917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j-lt"/>
                <a:ea typeface="+mn-ea"/>
                <a:cs typeface="+mn-cs"/>
              </a:defRPr>
            </a:pPr>
            <a:endParaRPr lang="en-US"/>
          </a:p>
        </c:txPr>
        <c:crossAx val="1031292704"/>
        <c:crosses val="autoZero"/>
        <c:crossBetween val="between"/>
      </c:valAx>
      <c:valAx>
        <c:axId val="1031293184"/>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j-lt"/>
                <a:ea typeface="+mn-ea"/>
                <a:cs typeface="+mn-cs"/>
              </a:defRPr>
            </a:pPr>
            <a:endParaRPr lang="en-US"/>
          </a:p>
        </c:txPr>
        <c:crossAx val="1031275904"/>
        <c:crosses val="max"/>
        <c:crossBetween val="between"/>
      </c:valAx>
      <c:catAx>
        <c:axId val="1031275904"/>
        <c:scaling>
          <c:orientation val="minMax"/>
        </c:scaling>
        <c:delete val="1"/>
        <c:axPos val="b"/>
        <c:numFmt formatCode="General" sourceLinked="1"/>
        <c:majorTickMark val="none"/>
        <c:minorTickMark val="none"/>
        <c:tickLblPos val="nextTo"/>
        <c:crossAx val="10312931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j-lt"/>
              <a:ea typeface="+mn-ea"/>
              <a:cs typeface="+mn-cs"/>
            </a:defRPr>
          </a:pPr>
          <a:endParaRPr lang="en-US"/>
        </a:p>
      </c:txPr>
    </c:legend>
    <c:plotVisOnly val="1"/>
    <c:dispBlanksAs val="gap"/>
    <c:showDLblsOverMax val="0"/>
  </c:chart>
  <c:spPr>
    <a:noFill/>
    <a:ln>
      <a:noFill/>
    </a:ln>
    <a:effectLst/>
  </c:spPr>
  <c:txPr>
    <a:bodyPr/>
    <a:lstStyle/>
    <a:p>
      <a:pPr>
        <a:defRPr sz="1600">
          <a:latin typeface="+mj-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sz="1800" b="1" i="1" dirty="0"/>
              <a:t>Growth of Global Internet  User in</a:t>
            </a:r>
            <a:r>
              <a:rPr lang="en-US" sz="1800" b="1" i="1" baseline="0" dirty="0"/>
              <a:t> World</a:t>
            </a:r>
            <a:r>
              <a:rPr lang="en-US" sz="1800" b="1" i="1" dirty="0"/>
              <a:t> </a:t>
            </a:r>
          </a:p>
          <a:p>
            <a:pPr>
              <a:defRPr/>
            </a:pPr>
            <a:r>
              <a:rPr lang="en-US" sz="1800" b="1" i="1" dirty="0"/>
              <a:t>(2000-2025)</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cked"/>
        <c:varyColors val="0"/>
        <c:ser>
          <c:idx val="0"/>
          <c:order val="0"/>
          <c:tx>
            <c:strRef>
              <c:f>Sheet2!$B$1</c:f>
              <c:strCache>
                <c:ptCount val="1"/>
                <c:pt idx="0">
                  <c:v>Internet Users
(in billions)</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cat>
            <c:numRef>
              <c:f>Sheet2!$A$2:$A$9</c:f>
              <c:numCache>
                <c:formatCode>General</c:formatCode>
                <c:ptCount val="8"/>
                <c:pt idx="0">
                  <c:v>2000</c:v>
                </c:pt>
                <c:pt idx="1">
                  <c:v>2005</c:v>
                </c:pt>
                <c:pt idx="2">
                  <c:v>2010</c:v>
                </c:pt>
                <c:pt idx="3">
                  <c:v>2015</c:v>
                </c:pt>
                <c:pt idx="4">
                  <c:v>2020</c:v>
                </c:pt>
                <c:pt idx="5">
                  <c:v>2023</c:v>
                </c:pt>
                <c:pt idx="6">
                  <c:v>2024</c:v>
                </c:pt>
                <c:pt idx="7">
                  <c:v>2025</c:v>
                </c:pt>
              </c:numCache>
            </c:numRef>
          </c:cat>
          <c:val>
            <c:numRef>
              <c:f>Sheet2!$B$2:$B$9</c:f>
              <c:numCache>
                <c:formatCode>General</c:formatCode>
                <c:ptCount val="8"/>
                <c:pt idx="0">
                  <c:v>0.36</c:v>
                </c:pt>
                <c:pt idx="1">
                  <c:v>1.02</c:v>
                </c:pt>
                <c:pt idx="2">
                  <c:v>2.0299999999999998</c:v>
                </c:pt>
                <c:pt idx="3">
                  <c:v>3.18</c:v>
                </c:pt>
                <c:pt idx="4">
                  <c:v>4.54</c:v>
                </c:pt>
                <c:pt idx="5">
                  <c:v>5.3</c:v>
                </c:pt>
                <c:pt idx="6">
                  <c:v>5.8</c:v>
                </c:pt>
                <c:pt idx="7">
                  <c:v>6</c:v>
                </c:pt>
              </c:numCache>
            </c:numRef>
          </c:val>
          <c:smooth val="0"/>
          <c:extLst>
            <c:ext xmlns:c16="http://schemas.microsoft.com/office/drawing/2014/chart" uri="{C3380CC4-5D6E-409C-BE32-E72D297353CC}">
              <c16:uniqueId val="{00000000-DE33-45CE-AE85-9179DC6DD601}"/>
            </c:ext>
          </c:extLst>
        </c:ser>
        <c:ser>
          <c:idx val="1"/>
          <c:order val="1"/>
          <c:tx>
            <c:strRef>
              <c:f>Sheet2!$C$1</c:f>
              <c:strCache>
                <c:ptCount val="1"/>
                <c:pt idx="0">
                  <c:v>Penetration Rate (%)</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cat>
            <c:numRef>
              <c:f>Sheet2!$A$2:$A$9</c:f>
              <c:numCache>
                <c:formatCode>General</c:formatCode>
                <c:ptCount val="8"/>
                <c:pt idx="0">
                  <c:v>2000</c:v>
                </c:pt>
                <c:pt idx="1">
                  <c:v>2005</c:v>
                </c:pt>
                <c:pt idx="2">
                  <c:v>2010</c:v>
                </c:pt>
                <c:pt idx="3">
                  <c:v>2015</c:v>
                </c:pt>
                <c:pt idx="4">
                  <c:v>2020</c:v>
                </c:pt>
                <c:pt idx="5">
                  <c:v>2023</c:v>
                </c:pt>
                <c:pt idx="6">
                  <c:v>2024</c:v>
                </c:pt>
                <c:pt idx="7">
                  <c:v>2025</c:v>
                </c:pt>
              </c:numCache>
            </c:numRef>
          </c:cat>
          <c:val>
            <c:numRef>
              <c:f>Sheet2!$C$2:$C$9</c:f>
              <c:numCache>
                <c:formatCode>0.00%</c:formatCode>
                <c:ptCount val="8"/>
                <c:pt idx="0">
                  <c:v>0.05</c:v>
                </c:pt>
                <c:pt idx="1">
                  <c:v>0.15</c:v>
                </c:pt>
                <c:pt idx="2">
                  <c:v>0.3</c:v>
                </c:pt>
                <c:pt idx="3">
                  <c:v>0.43</c:v>
                </c:pt>
                <c:pt idx="4">
                  <c:v>0.6</c:v>
                </c:pt>
                <c:pt idx="5">
                  <c:v>0.65</c:v>
                </c:pt>
                <c:pt idx="6">
                  <c:v>0.71</c:v>
                </c:pt>
                <c:pt idx="7">
                  <c:v>0.74</c:v>
                </c:pt>
              </c:numCache>
            </c:numRef>
          </c:val>
          <c:smooth val="0"/>
          <c:extLst>
            <c:ext xmlns:c16="http://schemas.microsoft.com/office/drawing/2014/chart" uri="{C3380CC4-5D6E-409C-BE32-E72D297353CC}">
              <c16:uniqueId val="{00000001-DE33-45CE-AE85-9179DC6DD601}"/>
            </c:ext>
          </c:extLst>
        </c:ser>
        <c:dLbls>
          <c:showLegendKey val="0"/>
          <c:showVal val="0"/>
          <c:showCatName val="0"/>
          <c:showSerName val="0"/>
          <c:showPercent val="0"/>
          <c:showBubbleSize val="0"/>
        </c:dLbls>
        <c:marker val="1"/>
        <c:smooth val="0"/>
        <c:axId val="1031284544"/>
        <c:axId val="1031285024"/>
      </c:lineChart>
      <c:catAx>
        <c:axId val="10312845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31285024"/>
        <c:crosses val="autoZero"/>
        <c:auto val="1"/>
        <c:lblAlgn val="ctr"/>
        <c:lblOffset val="100"/>
        <c:noMultiLvlLbl val="0"/>
      </c:catAx>
      <c:valAx>
        <c:axId val="1031285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312845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C6F80A-7174-4476-846B-BA13B5289C02}" type="doc">
      <dgm:prSet loTypeId="urn:microsoft.com/office/officeart/2008/layout/AlternatingHexagons" loCatId="list" qsTypeId="urn:microsoft.com/office/officeart/2005/8/quickstyle/simple1" qsCatId="simple" csTypeId="urn:microsoft.com/office/officeart/2005/8/colors/colorful1" csCatId="colorful" phldr="1"/>
      <dgm:spPr/>
      <dgm:t>
        <a:bodyPr/>
        <a:lstStyle/>
        <a:p>
          <a:endParaRPr lang="en-US"/>
        </a:p>
      </dgm:t>
    </dgm:pt>
    <dgm:pt modelId="{F3FB4B95-1736-42CC-865F-B7C8AEEB90A8}">
      <dgm:prSet phldrT="[Text]"/>
      <dgm:spPr/>
      <dgm:t>
        <a:bodyPr/>
        <a:lstStyle/>
        <a:p>
          <a:r>
            <a:rPr lang="en-US" b="1" dirty="0"/>
            <a:t>Search Engine Optimization (SEO)</a:t>
          </a:r>
          <a:endParaRPr lang="en-US" dirty="0"/>
        </a:p>
      </dgm:t>
    </dgm:pt>
    <dgm:pt modelId="{A2018BD8-B7CA-41AE-A5AC-EA6B7527C84B}" type="parTrans" cxnId="{7C2BCFBA-114E-441D-AD0E-BBDD3639717A}">
      <dgm:prSet/>
      <dgm:spPr/>
      <dgm:t>
        <a:bodyPr/>
        <a:lstStyle/>
        <a:p>
          <a:endParaRPr lang="en-US"/>
        </a:p>
      </dgm:t>
    </dgm:pt>
    <dgm:pt modelId="{46E94923-0817-40F9-9D47-6E1B7E0FE025}" type="sibTrans" cxnId="{7C2BCFBA-114E-441D-AD0E-BBDD3639717A}">
      <dgm:prSet/>
      <dgm:spPr/>
      <dgm:t>
        <a:bodyPr/>
        <a:lstStyle/>
        <a:p>
          <a:r>
            <a:rPr lang="en-US" dirty="0"/>
            <a:t>Content Marketing</a:t>
          </a:r>
        </a:p>
      </dgm:t>
    </dgm:pt>
    <dgm:pt modelId="{D5A7EFAA-F71A-49AF-AF55-1EEDA4940CB2}">
      <dgm:prSet phldrT="[Text]"/>
      <dgm:spPr/>
      <dgm:t>
        <a:bodyPr/>
        <a:lstStyle/>
        <a:p>
          <a:r>
            <a:rPr lang="en-US" dirty="0"/>
            <a:t>Email Marketing</a:t>
          </a:r>
        </a:p>
      </dgm:t>
    </dgm:pt>
    <dgm:pt modelId="{7057D89C-6F01-4B7B-9159-9C947FDE993C}" type="parTrans" cxnId="{73725015-181D-487E-8B34-6CCD50309AE5}">
      <dgm:prSet/>
      <dgm:spPr/>
      <dgm:t>
        <a:bodyPr/>
        <a:lstStyle/>
        <a:p>
          <a:endParaRPr lang="en-US"/>
        </a:p>
      </dgm:t>
    </dgm:pt>
    <dgm:pt modelId="{2D3492FD-0E35-414F-8C7D-5455D5824E95}" type="sibTrans" cxnId="{73725015-181D-487E-8B34-6CCD50309AE5}">
      <dgm:prSet/>
      <dgm:spPr/>
      <dgm:t>
        <a:bodyPr/>
        <a:lstStyle/>
        <a:p>
          <a:r>
            <a:rPr lang="en-US" dirty="0"/>
            <a:t>Social Media Marketing</a:t>
          </a:r>
        </a:p>
      </dgm:t>
    </dgm:pt>
    <dgm:pt modelId="{2AEBDE0F-11AE-4DB9-8FD2-FD8AFCDA768F}">
      <dgm:prSet phldrT="[Text]"/>
      <dgm:spPr/>
      <dgm:t>
        <a:bodyPr/>
        <a:lstStyle/>
        <a:p>
          <a:r>
            <a:rPr lang="en-US" dirty="0"/>
            <a:t>Pay Per Click</a:t>
          </a:r>
        </a:p>
      </dgm:t>
    </dgm:pt>
    <dgm:pt modelId="{2941092D-70C7-43E7-A07B-0770E1B94DAC}" type="parTrans" cxnId="{4B498E56-040A-4523-B60F-A96B51113E94}">
      <dgm:prSet/>
      <dgm:spPr/>
      <dgm:t>
        <a:bodyPr/>
        <a:lstStyle/>
        <a:p>
          <a:endParaRPr lang="en-US"/>
        </a:p>
      </dgm:t>
    </dgm:pt>
    <dgm:pt modelId="{FB67867E-2E6B-4225-B9AC-5628E51E9CF9}" type="sibTrans" cxnId="{4B498E56-040A-4523-B60F-A96B51113E94}">
      <dgm:prSet/>
      <dgm:spPr/>
      <dgm:t>
        <a:bodyPr/>
        <a:lstStyle/>
        <a:p>
          <a:r>
            <a:rPr lang="en-US" dirty="0"/>
            <a:t>Mobile Marketing</a:t>
          </a:r>
        </a:p>
      </dgm:t>
    </dgm:pt>
    <dgm:pt modelId="{EF74EF37-9C55-4DEA-A2F9-45CF983B62CA}" type="pres">
      <dgm:prSet presAssocID="{E8C6F80A-7174-4476-846B-BA13B5289C02}" presName="Name0" presStyleCnt="0">
        <dgm:presLayoutVars>
          <dgm:chMax/>
          <dgm:chPref/>
          <dgm:dir/>
          <dgm:animLvl val="lvl"/>
        </dgm:presLayoutVars>
      </dgm:prSet>
      <dgm:spPr/>
    </dgm:pt>
    <dgm:pt modelId="{17B4290C-F5C4-474F-AEF8-01FD11634FC7}" type="pres">
      <dgm:prSet presAssocID="{F3FB4B95-1736-42CC-865F-B7C8AEEB90A8}" presName="composite" presStyleCnt="0"/>
      <dgm:spPr/>
    </dgm:pt>
    <dgm:pt modelId="{0B357C4D-56A4-4922-8599-3669B981D66E}" type="pres">
      <dgm:prSet presAssocID="{F3FB4B95-1736-42CC-865F-B7C8AEEB90A8}" presName="Parent1" presStyleLbl="node1" presStyleIdx="0" presStyleCnt="6" custLinFactX="-95425" custLinFactNeighborX="-100000" custLinFactNeighborY="34822">
        <dgm:presLayoutVars>
          <dgm:chMax val="1"/>
          <dgm:chPref val="1"/>
          <dgm:bulletEnabled val="1"/>
        </dgm:presLayoutVars>
      </dgm:prSet>
      <dgm:spPr/>
    </dgm:pt>
    <dgm:pt modelId="{0EFFBE21-0C39-463C-B1CC-BCB500128020}" type="pres">
      <dgm:prSet presAssocID="{F3FB4B95-1736-42CC-865F-B7C8AEEB90A8}" presName="Childtext1" presStyleLbl="revTx" presStyleIdx="0" presStyleCnt="3">
        <dgm:presLayoutVars>
          <dgm:chMax val="0"/>
          <dgm:chPref val="0"/>
          <dgm:bulletEnabled val="1"/>
        </dgm:presLayoutVars>
      </dgm:prSet>
      <dgm:spPr/>
    </dgm:pt>
    <dgm:pt modelId="{899928E5-6B45-4184-AF14-83B43184ACBD}" type="pres">
      <dgm:prSet presAssocID="{F3FB4B95-1736-42CC-865F-B7C8AEEB90A8}" presName="BalanceSpacing" presStyleCnt="0"/>
      <dgm:spPr/>
    </dgm:pt>
    <dgm:pt modelId="{C9BB552A-36F4-4275-95AD-76FC417FADB2}" type="pres">
      <dgm:prSet presAssocID="{F3FB4B95-1736-42CC-865F-B7C8AEEB90A8}" presName="BalanceSpacing1" presStyleCnt="0"/>
      <dgm:spPr/>
    </dgm:pt>
    <dgm:pt modelId="{E4F78CB9-DF12-412F-8CB3-A1DFD1C233B7}" type="pres">
      <dgm:prSet presAssocID="{46E94923-0817-40F9-9D47-6E1B7E0FE025}" presName="Accent1Text" presStyleLbl="node1" presStyleIdx="1" presStyleCnt="6" custLinFactX="100000" custLinFactNeighborX="182355" custLinFactNeighborY="29902"/>
      <dgm:spPr/>
    </dgm:pt>
    <dgm:pt modelId="{0F1E716F-1A51-44E7-8B23-A9DD4A25C895}" type="pres">
      <dgm:prSet presAssocID="{46E94923-0817-40F9-9D47-6E1B7E0FE025}" presName="spaceBetweenRectangles" presStyleCnt="0"/>
      <dgm:spPr/>
    </dgm:pt>
    <dgm:pt modelId="{AED107C4-71CB-44C4-9A94-2FD01C4B3F5C}" type="pres">
      <dgm:prSet presAssocID="{D5A7EFAA-F71A-49AF-AF55-1EEDA4940CB2}" presName="composite" presStyleCnt="0"/>
      <dgm:spPr/>
    </dgm:pt>
    <dgm:pt modelId="{3E8A39C0-DD73-4606-AC90-AF53D2E34056}" type="pres">
      <dgm:prSet presAssocID="{D5A7EFAA-F71A-49AF-AF55-1EEDA4940CB2}" presName="Parent1" presStyleLbl="node1" presStyleIdx="2" presStyleCnt="6" custLinFactNeighborX="-26624" custLinFactNeighborY="25084">
        <dgm:presLayoutVars>
          <dgm:chMax val="1"/>
          <dgm:chPref val="1"/>
          <dgm:bulletEnabled val="1"/>
        </dgm:presLayoutVars>
      </dgm:prSet>
      <dgm:spPr/>
    </dgm:pt>
    <dgm:pt modelId="{D35CAEF2-4E97-4C0B-8951-31D1C5C44271}" type="pres">
      <dgm:prSet presAssocID="{D5A7EFAA-F71A-49AF-AF55-1EEDA4940CB2}" presName="Childtext1" presStyleLbl="revTx" presStyleIdx="1" presStyleCnt="3">
        <dgm:presLayoutVars>
          <dgm:chMax val="0"/>
          <dgm:chPref val="0"/>
          <dgm:bulletEnabled val="1"/>
        </dgm:presLayoutVars>
      </dgm:prSet>
      <dgm:spPr/>
    </dgm:pt>
    <dgm:pt modelId="{119F67CD-7039-48F2-A6BA-09B8D043D73B}" type="pres">
      <dgm:prSet presAssocID="{D5A7EFAA-F71A-49AF-AF55-1EEDA4940CB2}" presName="BalanceSpacing" presStyleCnt="0"/>
      <dgm:spPr/>
    </dgm:pt>
    <dgm:pt modelId="{9B5D6912-DA62-467E-BC47-56813DC3DDA8}" type="pres">
      <dgm:prSet presAssocID="{D5A7EFAA-F71A-49AF-AF55-1EEDA4940CB2}" presName="BalanceSpacing1" presStyleCnt="0"/>
      <dgm:spPr/>
    </dgm:pt>
    <dgm:pt modelId="{5D253248-06E2-40AB-83A6-D98ECE886DEC}" type="pres">
      <dgm:prSet presAssocID="{2D3492FD-0E35-414F-8C7D-5455D5824E95}" presName="Accent1Text" presStyleLbl="node1" presStyleIdx="3" presStyleCnt="6" custLinFactNeighborX="920" custLinFactNeighborY="25129"/>
      <dgm:spPr/>
    </dgm:pt>
    <dgm:pt modelId="{9AD97402-00CB-4386-8D4D-0AFEC5491ED7}" type="pres">
      <dgm:prSet presAssocID="{2D3492FD-0E35-414F-8C7D-5455D5824E95}" presName="spaceBetweenRectangles" presStyleCnt="0"/>
      <dgm:spPr/>
    </dgm:pt>
    <dgm:pt modelId="{225F995B-AFDA-4F26-9E7C-FC70BDBD8C57}" type="pres">
      <dgm:prSet presAssocID="{2AEBDE0F-11AE-4DB9-8FD2-FD8AFCDA768F}" presName="composite" presStyleCnt="0"/>
      <dgm:spPr/>
    </dgm:pt>
    <dgm:pt modelId="{E44355A0-BD21-4B96-BD2C-EC190D22175D}" type="pres">
      <dgm:prSet presAssocID="{2AEBDE0F-11AE-4DB9-8FD2-FD8AFCDA768F}" presName="Parent1" presStyleLbl="node1" presStyleIdx="4" presStyleCnt="6" custLinFactX="-97831" custLinFactNeighborX="-100000" custLinFactNeighborY="-6572">
        <dgm:presLayoutVars>
          <dgm:chMax val="1"/>
          <dgm:chPref val="1"/>
          <dgm:bulletEnabled val="1"/>
        </dgm:presLayoutVars>
      </dgm:prSet>
      <dgm:spPr/>
    </dgm:pt>
    <dgm:pt modelId="{01FC1486-A0D2-4417-A408-492C39760E06}" type="pres">
      <dgm:prSet presAssocID="{2AEBDE0F-11AE-4DB9-8FD2-FD8AFCDA768F}" presName="Childtext1" presStyleLbl="revTx" presStyleIdx="2" presStyleCnt="3">
        <dgm:presLayoutVars>
          <dgm:chMax val="0"/>
          <dgm:chPref val="0"/>
          <dgm:bulletEnabled val="1"/>
        </dgm:presLayoutVars>
      </dgm:prSet>
      <dgm:spPr/>
    </dgm:pt>
    <dgm:pt modelId="{E36B3A13-AD06-41B1-8574-8B167364D053}" type="pres">
      <dgm:prSet presAssocID="{2AEBDE0F-11AE-4DB9-8FD2-FD8AFCDA768F}" presName="BalanceSpacing" presStyleCnt="0"/>
      <dgm:spPr/>
    </dgm:pt>
    <dgm:pt modelId="{259B36B0-CC69-4C11-BACD-0B6E905F74E0}" type="pres">
      <dgm:prSet presAssocID="{2AEBDE0F-11AE-4DB9-8FD2-FD8AFCDA768F}" presName="BalanceSpacing1" presStyleCnt="0"/>
      <dgm:spPr/>
    </dgm:pt>
    <dgm:pt modelId="{B76F2A0A-98B4-4173-87B9-D46BEB25B61A}" type="pres">
      <dgm:prSet presAssocID="{FB67867E-2E6B-4225-B9AC-5628E51E9CF9}" presName="Accent1Text" presStyleLbl="node1" presStyleIdx="5" presStyleCnt="6" custLinFactX="100000" custLinFactNeighborX="183772" custLinFactNeighborY="-15663"/>
      <dgm:spPr/>
    </dgm:pt>
  </dgm:ptLst>
  <dgm:cxnLst>
    <dgm:cxn modelId="{4B0B270C-060E-4280-AB77-EBDB9F5BAF65}" type="presOf" srcId="{46E94923-0817-40F9-9D47-6E1B7E0FE025}" destId="{E4F78CB9-DF12-412F-8CB3-A1DFD1C233B7}" srcOrd="0" destOrd="0" presId="urn:microsoft.com/office/officeart/2008/layout/AlternatingHexagons"/>
    <dgm:cxn modelId="{73725015-181D-487E-8B34-6CCD50309AE5}" srcId="{E8C6F80A-7174-4476-846B-BA13B5289C02}" destId="{D5A7EFAA-F71A-49AF-AF55-1EEDA4940CB2}" srcOrd="1" destOrd="0" parTransId="{7057D89C-6F01-4B7B-9159-9C947FDE993C}" sibTransId="{2D3492FD-0E35-414F-8C7D-5455D5824E95}"/>
    <dgm:cxn modelId="{913BF553-25B6-440F-9B4C-484AE44C8467}" type="presOf" srcId="{E8C6F80A-7174-4476-846B-BA13B5289C02}" destId="{EF74EF37-9C55-4DEA-A2F9-45CF983B62CA}" srcOrd="0" destOrd="0" presId="urn:microsoft.com/office/officeart/2008/layout/AlternatingHexagons"/>
    <dgm:cxn modelId="{92732756-9DD4-4411-93C7-469093BB11E3}" type="presOf" srcId="{F3FB4B95-1736-42CC-865F-B7C8AEEB90A8}" destId="{0B357C4D-56A4-4922-8599-3669B981D66E}" srcOrd="0" destOrd="0" presId="urn:microsoft.com/office/officeart/2008/layout/AlternatingHexagons"/>
    <dgm:cxn modelId="{4B498E56-040A-4523-B60F-A96B51113E94}" srcId="{E8C6F80A-7174-4476-846B-BA13B5289C02}" destId="{2AEBDE0F-11AE-4DB9-8FD2-FD8AFCDA768F}" srcOrd="2" destOrd="0" parTransId="{2941092D-70C7-43E7-A07B-0770E1B94DAC}" sibTransId="{FB67867E-2E6B-4225-B9AC-5628E51E9CF9}"/>
    <dgm:cxn modelId="{77B6627C-D51E-4272-ADEB-AC82C902CBEA}" type="presOf" srcId="{D5A7EFAA-F71A-49AF-AF55-1EEDA4940CB2}" destId="{3E8A39C0-DD73-4606-AC90-AF53D2E34056}" srcOrd="0" destOrd="0" presId="urn:microsoft.com/office/officeart/2008/layout/AlternatingHexagons"/>
    <dgm:cxn modelId="{62D2B388-A824-493F-A897-F2AB425B03A7}" type="presOf" srcId="{2AEBDE0F-11AE-4DB9-8FD2-FD8AFCDA768F}" destId="{E44355A0-BD21-4B96-BD2C-EC190D22175D}" srcOrd="0" destOrd="0" presId="urn:microsoft.com/office/officeart/2008/layout/AlternatingHexagons"/>
    <dgm:cxn modelId="{7C2BCFBA-114E-441D-AD0E-BBDD3639717A}" srcId="{E8C6F80A-7174-4476-846B-BA13B5289C02}" destId="{F3FB4B95-1736-42CC-865F-B7C8AEEB90A8}" srcOrd="0" destOrd="0" parTransId="{A2018BD8-B7CA-41AE-A5AC-EA6B7527C84B}" sibTransId="{46E94923-0817-40F9-9D47-6E1B7E0FE025}"/>
    <dgm:cxn modelId="{B78A4ABB-E4C3-427A-B21F-3E6C544AF8DD}" type="presOf" srcId="{FB67867E-2E6B-4225-B9AC-5628E51E9CF9}" destId="{B76F2A0A-98B4-4173-87B9-D46BEB25B61A}" srcOrd="0" destOrd="0" presId="urn:microsoft.com/office/officeart/2008/layout/AlternatingHexagons"/>
    <dgm:cxn modelId="{AFD582D4-C5B7-4B65-A819-6D19C4A91E83}" type="presOf" srcId="{2D3492FD-0E35-414F-8C7D-5455D5824E95}" destId="{5D253248-06E2-40AB-83A6-D98ECE886DEC}" srcOrd="0" destOrd="0" presId="urn:microsoft.com/office/officeart/2008/layout/AlternatingHexagons"/>
    <dgm:cxn modelId="{5D634567-8D16-4A7F-96FB-772794739E90}" type="presParOf" srcId="{EF74EF37-9C55-4DEA-A2F9-45CF983B62CA}" destId="{17B4290C-F5C4-474F-AEF8-01FD11634FC7}" srcOrd="0" destOrd="0" presId="urn:microsoft.com/office/officeart/2008/layout/AlternatingHexagons"/>
    <dgm:cxn modelId="{9A52F6F1-3E6C-4B86-AA39-CAE7C1B5426C}" type="presParOf" srcId="{17B4290C-F5C4-474F-AEF8-01FD11634FC7}" destId="{0B357C4D-56A4-4922-8599-3669B981D66E}" srcOrd="0" destOrd="0" presId="urn:microsoft.com/office/officeart/2008/layout/AlternatingHexagons"/>
    <dgm:cxn modelId="{4B83B729-FA7E-4CF3-8165-597AC16A80A5}" type="presParOf" srcId="{17B4290C-F5C4-474F-AEF8-01FD11634FC7}" destId="{0EFFBE21-0C39-463C-B1CC-BCB500128020}" srcOrd="1" destOrd="0" presId="urn:microsoft.com/office/officeart/2008/layout/AlternatingHexagons"/>
    <dgm:cxn modelId="{ECF4CCF4-9E88-4A0F-A40D-7216C55F1BE5}" type="presParOf" srcId="{17B4290C-F5C4-474F-AEF8-01FD11634FC7}" destId="{899928E5-6B45-4184-AF14-83B43184ACBD}" srcOrd="2" destOrd="0" presId="urn:microsoft.com/office/officeart/2008/layout/AlternatingHexagons"/>
    <dgm:cxn modelId="{458EF1B5-C7AD-45C5-ADFA-3E8BB0FD85C2}" type="presParOf" srcId="{17B4290C-F5C4-474F-AEF8-01FD11634FC7}" destId="{C9BB552A-36F4-4275-95AD-76FC417FADB2}" srcOrd="3" destOrd="0" presId="urn:microsoft.com/office/officeart/2008/layout/AlternatingHexagons"/>
    <dgm:cxn modelId="{ECAF7153-1BDB-41BE-BCEC-D18858FEC853}" type="presParOf" srcId="{17B4290C-F5C4-474F-AEF8-01FD11634FC7}" destId="{E4F78CB9-DF12-412F-8CB3-A1DFD1C233B7}" srcOrd="4" destOrd="0" presId="urn:microsoft.com/office/officeart/2008/layout/AlternatingHexagons"/>
    <dgm:cxn modelId="{DBAF87D9-D09B-474E-880D-9E95E9A71682}" type="presParOf" srcId="{EF74EF37-9C55-4DEA-A2F9-45CF983B62CA}" destId="{0F1E716F-1A51-44E7-8B23-A9DD4A25C895}" srcOrd="1" destOrd="0" presId="urn:microsoft.com/office/officeart/2008/layout/AlternatingHexagons"/>
    <dgm:cxn modelId="{A6594598-94FC-494A-AA8A-6D2883505702}" type="presParOf" srcId="{EF74EF37-9C55-4DEA-A2F9-45CF983B62CA}" destId="{AED107C4-71CB-44C4-9A94-2FD01C4B3F5C}" srcOrd="2" destOrd="0" presId="urn:microsoft.com/office/officeart/2008/layout/AlternatingHexagons"/>
    <dgm:cxn modelId="{80F4F727-C484-4190-9EEC-52BBB29A9A11}" type="presParOf" srcId="{AED107C4-71CB-44C4-9A94-2FD01C4B3F5C}" destId="{3E8A39C0-DD73-4606-AC90-AF53D2E34056}" srcOrd="0" destOrd="0" presId="urn:microsoft.com/office/officeart/2008/layout/AlternatingHexagons"/>
    <dgm:cxn modelId="{8CE86F00-3E24-4B6F-9362-4E38868ABDBA}" type="presParOf" srcId="{AED107C4-71CB-44C4-9A94-2FD01C4B3F5C}" destId="{D35CAEF2-4E97-4C0B-8951-31D1C5C44271}" srcOrd="1" destOrd="0" presId="urn:microsoft.com/office/officeart/2008/layout/AlternatingHexagons"/>
    <dgm:cxn modelId="{6EF0E59F-D3B8-491C-8482-D72724AB4FA8}" type="presParOf" srcId="{AED107C4-71CB-44C4-9A94-2FD01C4B3F5C}" destId="{119F67CD-7039-48F2-A6BA-09B8D043D73B}" srcOrd="2" destOrd="0" presId="urn:microsoft.com/office/officeart/2008/layout/AlternatingHexagons"/>
    <dgm:cxn modelId="{8439322F-14CE-4D81-ABFE-9A068251FA3F}" type="presParOf" srcId="{AED107C4-71CB-44C4-9A94-2FD01C4B3F5C}" destId="{9B5D6912-DA62-467E-BC47-56813DC3DDA8}" srcOrd="3" destOrd="0" presId="urn:microsoft.com/office/officeart/2008/layout/AlternatingHexagons"/>
    <dgm:cxn modelId="{A3FE1B99-D628-4AEC-9077-BE526666C2B8}" type="presParOf" srcId="{AED107C4-71CB-44C4-9A94-2FD01C4B3F5C}" destId="{5D253248-06E2-40AB-83A6-D98ECE886DEC}" srcOrd="4" destOrd="0" presId="urn:microsoft.com/office/officeart/2008/layout/AlternatingHexagons"/>
    <dgm:cxn modelId="{1FD2D122-766D-40A6-969B-1C0A16A488A1}" type="presParOf" srcId="{EF74EF37-9C55-4DEA-A2F9-45CF983B62CA}" destId="{9AD97402-00CB-4386-8D4D-0AFEC5491ED7}" srcOrd="3" destOrd="0" presId="urn:microsoft.com/office/officeart/2008/layout/AlternatingHexagons"/>
    <dgm:cxn modelId="{351500E1-5135-4B42-80CB-28A66C885D0D}" type="presParOf" srcId="{EF74EF37-9C55-4DEA-A2F9-45CF983B62CA}" destId="{225F995B-AFDA-4F26-9E7C-FC70BDBD8C57}" srcOrd="4" destOrd="0" presId="urn:microsoft.com/office/officeart/2008/layout/AlternatingHexagons"/>
    <dgm:cxn modelId="{7646CF6A-2E47-4554-A92D-3E13479DF3B9}" type="presParOf" srcId="{225F995B-AFDA-4F26-9E7C-FC70BDBD8C57}" destId="{E44355A0-BD21-4B96-BD2C-EC190D22175D}" srcOrd="0" destOrd="0" presId="urn:microsoft.com/office/officeart/2008/layout/AlternatingHexagons"/>
    <dgm:cxn modelId="{B107436E-0480-47D9-9148-DD67B963AD83}" type="presParOf" srcId="{225F995B-AFDA-4F26-9E7C-FC70BDBD8C57}" destId="{01FC1486-A0D2-4417-A408-492C39760E06}" srcOrd="1" destOrd="0" presId="urn:microsoft.com/office/officeart/2008/layout/AlternatingHexagons"/>
    <dgm:cxn modelId="{5D2D0EDB-31E0-4608-81C7-BB119484A0E2}" type="presParOf" srcId="{225F995B-AFDA-4F26-9E7C-FC70BDBD8C57}" destId="{E36B3A13-AD06-41B1-8574-8B167364D053}" srcOrd="2" destOrd="0" presId="urn:microsoft.com/office/officeart/2008/layout/AlternatingHexagons"/>
    <dgm:cxn modelId="{66F1A2BF-1012-45A9-9858-CFF03AF913F4}" type="presParOf" srcId="{225F995B-AFDA-4F26-9E7C-FC70BDBD8C57}" destId="{259B36B0-CC69-4C11-BACD-0B6E905F74E0}" srcOrd="3" destOrd="0" presId="urn:microsoft.com/office/officeart/2008/layout/AlternatingHexagons"/>
    <dgm:cxn modelId="{48D5385C-67DA-48CE-A3E4-2CE1F1E2174A}" type="presParOf" srcId="{225F995B-AFDA-4F26-9E7C-FC70BDBD8C57}" destId="{B76F2A0A-98B4-4173-87B9-D46BEB25B61A}"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7EC0AF-96C6-4F7F-B8CF-D5F407DB7068}" type="doc">
      <dgm:prSet loTypeId="urn:microsoft.com/office/officeart/2005/8/layout/chevron2" loCatId="list" qsTypeId="urn:microsoft.com/office/officeart/2005/8/quickstyle/simple1" qsCatId="simple" csTypeId="urn:microsoft.com/office/officeart/2005/8/colors/accent6_2" csCatId="accent6" phldr="1"/>
      <dgm:spPr/>
      <dgm:t>
        <a:bodyPr/>
        <a:lstStyle/>
        <a:p>
          <a:endParaRPr lang="en-US"/>
        </a:p>
      </dgm:t>
    </dgm:pt>
    <dgm:pt modelId="{89B21836-FD72-4006-9F57-63E03532C925}">
      <dgm:prSet phldrT="[Text]"/>
      <dgm:spPr/>
      <dgm:t>
        <a:bodyPr/>
        <a:lstStyle/>
        <a:p>
          <a:r>
            <a:rPr lang="en-US" dirty="0"/>
            <a:t>R</a:t>
          </a:r>
        </a:p>
      </dgm:t>
    </dgm:pt>
    <dgm:pt modelId="{D7F19042-4403-4A5B-8D35-EAD50AAE6D18}" type="parTrans" cxnId="{5D652BF8-BB7B-444B-BEDA-1A653E860EEC}">
      <dgm:prSet/>
      <dgm:spPr/>
      <dgm:t>
        <a:bodyPr/>
        <a:lstStyle/>
        <a:p>
          <a:endParaRPr lang="en-US"/>
        </a:p>
      </dgm:t>
    </dgm:pt>
    <dgm:pt modelId="{36302238-D667-4F01-8099-01506A282F18}" type="sibTrans" cxnId="{5D652BF8-BB7B-444B-BEDA-1A653E860EEC}">
      <dgm:prSet/>
      <dgm:spPr/>
      <dgm:t>
        <a:bodyPr/>
        <a:lstStyle/>
        <a:p>
          <a:endParaRPr lang="en-US"/>
        </a:p>
      </dgm:t>
    </dgm:pt>
    <dgm:pt modelId="{ADE1030C-FE7E-4DA7-A047-5AFA4EE4EE54}">
      <dgm:prSet phldrT="[Text]"/>
      <dgm:spPr/>
      <dgm:t>
        <a:bodyPr/>
        <a:lstStyle/>
        <a:p>
          <a:r>
            <a:rPr lang="en-US" dirty="0"/>
            <a:t>Reach</a:t>
          </a:r>
        </a:p>
      </dgm:t>
    </dgm:pt>
    <dgm:pt modelId="{900C85A7-427F-4806-81EB-F17724CB23B4}" type="parTrans" cxnId="{BF171CC9-7CF1-4C50-AF5A-95609AE08A5B}">
      <dgm:prSet/>
      <dgm:spPr/>
      <dgm:t>
        <a:bodyPr/>
        <a:lstStyle/>
        <a:p>
          <a:endParaRPr lang="en-US"/>
        </a:p>
      </dgm:t>
    </dgm:pt>
    <dgm:pt modelId="{2A91FDC1-05F3-4B4A-8828-53B69B9E9244}" type="sibTrans" cxnId="{BF171CC9-7CF1-4C50-AF5A-95609AE08A5B}">
      <dgm:prSet/>
      <dgm:spPr/>
      <dgm:t>
        <a:bodyPr/>
        <a:lstStyle/>
        <a:p>
          <a:endParaRPr lang="en-US"/>
        </a:p>
      </dgm:t>
    </dgm:pt>
    <dgm:pt modelId="{6D332125-8F15-4DAB-9A2C-78E0802844DD}">
      <dgm:prSet phldrT="[Text]"/>
      <dgm:spPr/>
      <dgm:t>
        <a:bodyPr/>
        <a:lstStyle/>
        <a:p>
          <a:r>
            <a:rPr lang="en-US" dirty="0"/>
            <a:t>A</a:t>
          </a:r>
        </a:p>
      </dgm:t>
    </dgm:pt>
    <dgm:pt modelId="{14F6EA78-26BA-4685-B875-BF157566CC58}" type="parTrans" cxnId="{FF041D86-2ABA-4114-A18D-940EC19264A2}">
      <dgm:prSet/>
      <dgm:spPr/>
      <dgm:t>
        <a:bodyPr/>
        <a:lstStyle/>
        <a:p>
          <a:endParaRPr lang="en-US"/>
        </a:p>
      </dgm:t>
    </dgm:pt>
    <dgm:pt modelId="{7C972DAB-E083-447B-A8EF-15ACA6D1A712}" type="sibTrans" cxnId="{FF041D86-2ABA-4114-A18D-940EC19264A2}">
      <dgm:prSet/>
      <dgm:spPr/>
      <dgm:t>
        <a:bodyPr/>
        <a:lstStyle/>
        <a:p>
          <a:endParaRPr lang="en-US"/>
        </a:p>
      </dgm:t>
    </dgm:pt>
    <dgm:pt modelId="{3BF3D0E7-7F71-4754-B55E-927C1DC8B6FB}">
      <dgm:prSet phldrT="[Text]"/>
      <dgm:spPr/>
      <dgm:t>
        <a:bodyPr/>
        <a:lstStyle/>
        <a:p>
          <a:r>
            <a:rPr lang="en-US" dirty="0"/>
            <a:t>Act</a:t>
          </a:r>
        </a:p>
      </dgm:t>
    </dgm:pt>
    <dgm:pt modelId="{72BC5AB5-FC67-412B-A895-F53CBAEF6B54}" type="parTrans" cxnId="{273C9657-2288-4DD0-8991-B39524179BF4}">
      <dgm:prSet/>
      <dgm:spPr/>
      <dgm:t>
        <a:bodyPr/>
        <a:lstStyle/>
        <a:p>
          <a:endParaRPr lang="en-US"/>
        </a:p>
      </dgm:t>
    </dgm:pt>
    <dgm:pt modelId="{8D71E5B5-DB07-482C-84CE-456A0C4A5E30}" type="sibTrans" cxnId="{273C9657-2288-4DD0-8991-B39524179BF4}">
      <dgm:prSet/>
      <dgm:spPr/>
      <dgm:t>
        <a:bodyPr/>
        <a:lstStyle/>
        <a:p>
          <a:endParaRPr lang="en-US"/>
        </a:p>
      </dgm:t>
    </dgm:pt>
    <dgm:pt modelId="{3F6E2A88-EF89-47F0-82E6-174CF11C1062}">
      <dgm:prSet phldrT="[Text]"/>
      <dgm:spPr/>
      <dgm:t>
        <a:bodyPr/>
        <a:lstStyle/>
        <a:p>
          <a:r>
            <a:rPr lang="en-US" dirty="0"/>
            <a:t>C</a:t>
          </a:r>
        </a:p>
      </dgm:t>
    </dgm:pt>
    <dgm:pt modelId="{464F0A48-5EE1-4B79-83B1-5C3B1E98988E}" type="parTrans" cxnId="{049B82AE-F340-401E-8C8F-42BF57E43C01}">
      <dgm:prSet/>
      <dgm:spPr/>
      <dgm:t>
        <a:bodyPr/>
        <a:lstStyle/>
        <a:p>
          <a:endParaRPr lang="en-US"/>
        </a:p>
      </dgm:t>
    </dgm:pt>
    <dgm:pt modelId="{63B0F32B-59D0-4C11-9A94-13F196B9650E}" type="sibTrans" cxnId="{049B82AE-F340-401E-8C8F-42BF57E43C01}">
      <dgm:prSet/>
      <dgm:spPr/>
      <dgm:t>
        <a:bodyPr/>
        <a:lstStyle/>
        <a:p>
          <a:endParaRPr lang="en-US"/>
        </a:p>
      </dgm:t>
    </dgm:pt>
    <dgm:pt modelId="{D8ED29A2-EDFC-4214-AA58-290BCAE4A9AF}">
      <dgm:prSet phldrT="[Text]"/>
      <dgm:spPr/>
      <dgm:t>
        <a:bodyPr/>
        <a:lstStyle/>
        <a:p>
          <a:r>
            <a:rPr lang="en-US" dirty="0"/>
            <a:t>Convert</a:t>
          </a:r>
        </a:p>
      </dgm:t>
    </dgm:pt>
    <dgm:pt modelId="{428AB39D-7F2C-48CD-805E-4B1B76A28A35}" type="parTrans" cxnId="{DD3B78CE-4262-46EA-96B5-6C8294ADDBD4}">
      <dgm:prSet/>
      <dgm:spPr/>
      <dgm:t>
        <a:bodyPr/>
        <a:lstStyle/>
        <a:p>
          <a:endParaRPr lang="en-US"/>
        </a:p>
      </dgm:t>
    </dgm:pt>
    <dgm:pt modelId="{2989695C-CAC2-4C91-B81C-DF675CE8C1B9}" type="sibTrans" cxnId="{DD3B78CE-4262-46EA-96B5-6C8294ADDBD4}">
      <dgm:prSet/>
      <dgm:spPr/>
      <dgm:t>
        <a:bodyPr/>
        <a:lstStyle/>
        <a:p>
          <a:endParaRPr lang="en-US"/>
        </a:p>
      </dgm:t>
    </dgm:pt>
    <dgm:pt modelId="{69142C67-F955-4368-B125-9BF436241D74}">
      <dgm:prSet phldrT="[Text]"/>
      <dgm:spPr/>
      <dgm:t>
        <a:bodyPr/>
        <a:lstStyle/>
        <a:p>
          <a:r>
            <a:rPr lang="en-US" dirty="0"/>
            <a:t>E</a:t>
          </a:r>
        </a:p>
      </dgm:t>
    </dgm:pt>
    <dgm:pt modelId="{CC35AC28-2689-4FE3-824C-5F8F19BCA294}" type="parTrans" cxnId="{EC7989A1-0D82-4511-837B-041A6D571DC3}">
      <dgm:prSet/>
      <dgm:spPr/>
      <dgm:t>
        <a:bodyPr/>
        <a:lstStyle/>
        <a:p>
          <a:endParaRPr lang="en-US"/>
        </a:p>
      </dgm:t>
    </dgm:pt>
    <dgm:pt modelId="{BB69001E-9554-4A21-8173-237E76F77BDC}" type="sibTrans" cxnId="{EC7989A1-0D82-4511-837B-041A6D571DC3}">
      <dgm:prSet/>
      <dgm:spPr/>
      <dgm:t>
        <a:bodyPr/>
        <a:lstStyle/>
        <a:p>
          <a:endParaRPr lang="en-US"/>
        </a:p>
      </dgm:t>
    </dgm:pt>
    <dgm:pt modelId="{2C7F1887-D415-47DE-8624-E2CCC0221FDC}">
      <dgm:prSet phldrT="[Text]"/>
      <dgm:spPr/>
      <dgm:t>
        <a:bodyPr/>
        <a:lstStyle/>
        <a:p>
          <a:r>
            <a:rPr lang="en-US" dirty="0"/>
            <a:t>Engage</a:t>
          </a:r>
        </a:p>
      </dgm:t>
    </dgm:pt>
    <dgm:pt modelId="{2E661BEA-CD19-4091-A3D9-21D519C5AD54}" type="parTrans" cxnId="{7F7A3E65-BDD6-49F5-B526-84DB29F8DA72}">
      <dgm:prSet/>
      <dgm:spPr/>
      <dgm:t>
        <a:bodyPr/>
        <a:lstStyle/>
        <a:p>
          <a:endParaRPr lang="en-US"/>
        </a:p>
      </dgm:t>
    </dgm:pt>
    <dgm:pt modelId="{4933A61F-4A03-4ABD-8126-DF448E4E155D}" type="sibTrans" cxnId="{7F7A3E65-BDD6-49F5-B526-84DB29F8DA72}">
      <dgm:prSet/>
      <dgm:spPr/>
      <dgm:t>
        <a:bodyPr/>
        <a:lstStyle/>
        <a:p>
          <a:endParaRPr lang="en-US"/>
        </a:p>
      </dgm:t>
    </dgm:pt>
    <dgm:pt modelId="{544329AE-FFF6-45DD-A9FB-3051A6DD4710}" type="pres">
      <dgm:prSet presAssocID="{A57EC0AF-96C6-4F7F-B8CF-D5F407DB7068}" presName="linearFlow" presStyleCnt="0">
        <dgm:presLayoutVars>
          <dgm:dir/>
          <dgm:animLvl val="lvl"/>
          <dgm:resizeHandles val="exact"/>
        </dgm:presLayoutVars>
      </dgm:prSet>
      <dgm:spPr/>
    </dgm:pt>
    <dgm:pt modelId="{5DD0D088-9EFF-49DB-95B9-68218BB8B20B}" type="pres">
      <dgm:prSet presAssocID="{89B21836-FD72-4006-9F57-63E03532C925}" presName="composite" presStyleCnt="0"/>
      <dgm:spPr/>
    </dgm:pt>
    <dgm:pt modelId="{9976F1C9-BCC8-4E06-A667-C24836129E76}" type="pres">
      <dgm:prSet presAssocID="{89B21836-FD72-4006-9F57-63E03532C925}" presName="parentText" presStyleLbl="alignNode1" presStyleIdx="0" presStyleCnt="4">
        <dgm:presLayoutVars>
          <dgm:chMax val="1"/>
          <dgm:bulletEnabled val="1"/>
        </dgm:presLayoutVars>
      </dgm:prSet>
      <dgm:spPr/>
    </dgm:pt>
    <dgm:pt modelId="{DFA5D6BA-AB79-434C-AC93-62394C726C8B}" type="pres">
      <dgm:prSet presAssocID="{89B21836-FD72-4006-9F57-63E03532C925}" presName="descendantText" presStyleLbl="alignAcc1" presStyleIdx="0" presStyleCnt="4">
        <dgm:presLayoutVars>
          <dgm:bulletEnabled val="1"/>
        </dgm:presLayoutVars>
      </dgm:prSet>
      <dgm:spPr/>
    </dgm:pt>
    <dgm:pt modelId="{A8ED6D9F-D537-4CAE-9688-2ABE6FB9322F}" type="pres">
      <dgm:prSet presAssocID="{36302238-D667-4F01-8099-01506A282F18}" presName="sp" presStyleCnt="0"/>
      <dgm:spPr/>
    </dgm:pt>
    <dgm:pt modelId="{1A3E18B0-3156-4E4A-A584-990D8D2EB896}" type="pres">
      <dgm:prSet presAssocID="{6D332125-8F15-4DAB-9A2C-78E0802844DD}" presName="composite" presStyleCnt="0"/>
      <dgm:spPr/>
    </dgm:pt>
    <dgm:pt modelId="{001D8DAB-DBB9-4C7A-829C-35F4ED2F5C8E}" type="pres">
      <dgm:prSet presAssocID="{6D332125-8F15-4DAB-9A2C-78E0802844DD}" presName="parentText" presStyleLbl="alignNode1" presStyleIdx="1" presStyleCnt="4">
        <dgm:presLayoutVars>
          <dgm:chMax val="1"/>
          <dgm:bulletEnabled val="1"/>
        </dgm:presLayoutVars>
      </dgm:prSet>
      <dgm:spPr/>
    </dgm:pt>
    <dgm:pt modelId="{3B4541DE-9CF2-4BD8-B875-99342E3A2861}" type="pres">
      <dgm:prSet presAssocID="{6D332125-8F15-4DAB-9A2C-78E0802844DD}" presName="descendantText" presStyleLbl="alignAcc1" presStyleIdx="1" presStyleCnt="4">
        <dgm:presLayoutVars>
          <dgm:bulletEnabled val="1"/>
        </dgm:presLayoutVars>
      </dgm:prSet>
      <dgm:spPr/>
    </dgm:pt>
    <dgm:pt modelId="{BCF0A2F7-5F38-4AB9-B643-5B9DAE88FDB4}" type="pres">
      <dgm:prSet presAssocID="{7C972DAB-E083-447B-A8EF-15ACA6D1A712}" presName="sp" presStyleCnt="0"/>
      <dgm:spPr/>
    </dgm:pt>
    <dgm:pt modelId="{DCC35500-4198-4B8C-BF2F-15A65BEAFC1B}" type="pres">
      <dgm:prSet presAssocID="{3F6E2A88-EF89-47F0-82E6-174CF11C1062}" presName="composite" presStyleCnt="0"/>
      <dgm:spPr/>
    </dgm:pt>
    <dgm:pt modelId="{EEBDFD2D-9B38-4B5E-BBD6-12ED988AC9F6}" type="pres">
      <dgm:prSet presAssocID="{3F6E2A88-EF89-47F0-82E6-174CF11C1062}" presName="parentText" presStyleLbl="alignNode1" presStyleIdx="2" presStyleCnt="4">
        <dgm:presLayoutVars>
          <dgm:chMax val="1"/>
          <dgm:bulletEnabled val="1"/>
        </dgm:presLayoutVars>
      </dgm:prSet>
      <dgm:spPr/>
    </dgm:pt>
    <dgm:pt modelId="{C3692202-CB0E-4752-893F-907E58FC98A9}" type="pres">
      <dgm:prSet presAssocID="{3F6E2A88-EF89-47F0-82E6-174CF11C1062}" presName="descendantText" presStyleLbl="alignAcc1" presStyleIdx="2" presStyleCnt="4">
        <dgm:presLayoutVars>
          <dgm:bulletEnabled val="1"/>
        </dgm:presLayoutVars>
      </dgm:prSet>
      <dgm:spPr/>
    </dgm:pt>
    <dgm:pt modelId="{C3921B63-4796-43BF-B781-2BFDEA012CC6}" type="pres">
      <dgm:prSet presAssocID="{63B0F32B-59D0-4C11-9A94-13F196B9650E}" presName="sp" presStyleCnt="0"/>
      <dgm:spPr/>
    </dgm:pt>
    <dgm:pt modelId="{93C3BAC9-DF82-4BEF-99D9-65CED2CABFA2}" type="pres">
      <dgm:prSet presAssocID="{69142C67-F955-4368-B125-9BF436241D74}" presName="composite" presStyleCnt="0"/>
      <dgm:spPr/>
    </dgm:pt>
    <dgm:pt modelId="{092C6D97-D386-4FC0-AA1C-C16D7AE6CF1D}" type="pres">
      <dgm:prSet presAssocID="{69142C67-F955-4368-B125-9BF436241D74}" presName="parentText" presStyleLbl="alignNode1" presStyleIdx="3" presStyleCnt="4">
        <dgm:presLayoutVars>
          <dgm:chMax val="1"/>
          <dgm:bulletEnabled val="1"/>
        </dgm:presLayoutVars>
      </dgm:prSet>
      <dgm:spPr/>
    </dgm:pt>
    <dgm:pt modelId="{9BD554E2-AF92-467A-A2C2-4853F007B91B}" type="pres">
      <dgm:prSet presAssocID="{69142C67-F955-4368-B125-9BF436241D74}" presName="descendantText" presStyleLbl="alignAcc1" presStyleIdx="3" presStyleCnt="4">
        <dgm:presLayoutVars>
          <dgm:bulletEnabled val="1"/>
        </dgm:presLayoutVars>
      </dgm:prSet>
      <dgm:spPr/>
    </dgm:pt>
  </dgm:ptLst>
  <dgm:cxnLst>
    <dgm:cxn modelId="{47E25F15-9EDE-4EC7-9D5A-9841D20A9794}" type="presOf" srcId="{2C7F1887-D415-47DE-8624-E2CCC0221FDC}" destId="{9BD554E2-AF92-467A-A2C2-4853F007B91B}" srcOrd="0" destOrd="0" presId="urn:microsoft.com/office/officeart/2005/8/layout/chevron2"/>
    <dgm:cxn modelId="{79902E1B-FCB2-4F61-8F92-DA2017537C6C}" type="presOf" srcId="{A57EC0AF-96C6-4F7F-B8CF-D5F407DB7068}" destId="{544329AE-FFF6-45DD-A9FB-3051A6DD4710}" srcOrd="0" destOrd="0" presId="urn:microsoft.com/office/officeart/2005/8/layout/chevron2"/>
    <dgm:cxn modelId="{0B7E8B24-9D70-4E1D-9554-59E483EBD2BD}" type="presOf" srcId="{89B21836-FD72-4006-9F57-63E03532C925}" destId="{9976F1C9-BCC8-4E06-A667-C24836129E76}" srcOrd="0" destOrd="0" presId="urn:microsoft.com/office/officeart/2005/8/layout/chevron2"/>
    <dgm:cxn modelId="{C68DA13F-47F2-40BE-B329-9BB97A6B8B5A}" type="presOf" srcId="{6D332125-8F15-4DAB-9A2C-78E0802844DD}" destId="{001D8DAB-DBB9-4C7A-829C-35F4ED2F5C8E}" srcOrd="0" destOrd="0" presId="urn:microsoft.com/office/officeart/2005/8/layout/chevron2"/>
    <dgm:cxn modelId="{7F7A3E65-BDD6-49F5-B526-84DB29F8DA72}" srcId="{69142C67-F955-4368-B125-9BF436241D74}" destId="{2C7F1887-D415-47DE-8624-E2CCC0221FDC}" srcOrd="0" destOrd="0" parTransId="{2E661BEA-CD19-4091-A3D9-21D519C5AD54}" sibTransId="{4933A61F-4A03-4ABD-8126-DF448E4E155D}"/>
    <dgm:cxn modelId="{0F623267-C33E-4A30-AFF4-45C4840E6A01}" type="presOf" srcId="{ADE1030C-FE7E-4DA7-A047-5AFA4EE4EE54}" destId="{DFA5D6BA-AB79-434C-AC93-62394C726C8B}" srcOrd="0" destOrd="0" presId="urn:microsoft.com/office/officeart/2005/8/layout/chevron2"/>
    <dgm:cxn modelId="{D6FDEA6C-7426-40C4-B311-F1EDD2E7A5F2}" type="presOf" srcId="{D8ED29A2-EDFC-4214-AA58-290BCAE4A9AF}" destId="{C3692202-CB0E-4752-893F-907E58FC98A9}" srcOrd="0" destOrd="0" presId="urn:microsoft.com/office/officeart/2005/8/layout/chevron2"/>
    <dgm:cxn modelId="{273C9657-2288-4DD0-8991-B39524179BF4}" srcId="{6D332125-8F15-4DAB-9A2C-78E0802844DD}" destId="{3BF3D0E7-7F71-4754-B55E-927C1DC8B6FB}" srcOrd="0" destOrd="0" parTransId="{72BC5AB5-FC67-412B-A895-F53CBAEF6B54}" sibTransId="{8D71E5B5-DB07-482C-84CE-456A0C4A5E30}"/>
    <dgm:cxn modelId="{FF041D86-2ABA-4114-A18D-940EC19264A2}" srcId="{A57EC0AF-96C6-4F7F-B8CF-D5F407DB7068}" destId="{6D332125-8F15-4DAB-9A2C-78E0802844DD}" srcOrd="1" destOrd="0" parTransId="{14F6EA78-26BA-4685-B875-BF157566CC58}" sibTransId="{7C972DAB-E083-447B-A8EF-15ACA6D1A712}"/>
    <dgm:cxn modelId="{2E6F6496-5E09-4B91-B12C-F550313DE1E2}" type="presOf" srcId="{3BF3D0E7-7F71-4754-B55E-927C1DC8B6FB}" destId="{3B4541DE-9CF2-4BD8-B875-99342E3A2861}" srcOrd="0" destOrd="0" presId="urn:microsoft.com/office/officeart/2005/8/layout/chevron2"/>
    <dgm:cxn modelId="{EC7989A1-0D82-4511-837B-041A6D571DC3}" srcId="{A57EC0AF-96C6-4F7F-B8CF-D5F407DB7068}" destId="{69142C67-F955-4368-B125-9BF436241D74}" srcOrd="3" destOrd="0" parTransId="{CC35AC28-2689-4FE3-824C-5F8F19BCA294}" sibTransId="{BB69001E-9554-4A21-8173-237E76F77BDC}"/>
    <dgm:cxn modelId="{049B82AE-F340-401E-8C8F-42BF57E43C01}" srcId="{A57EC0AF-96C6-4F7F-B8CF-D5F407DB7068}" destId="{3F6E2A88-EF89-47F0-82E6-174CF11C1062}" srcOrd="2" destOrd="0" parTransId="{464F0A48-5EE1-4B79-83B1-5C3B1E98988E}" sibTransId="{63B0F32B-59D0-4C11-9A94-13F196B9650E}"/>
    <dgm:cxn modelId="{BF171CC9-7CF1-4C50-AF5A-95609AE08A5B}" srcId="{89B21836-FD72-4006-9F57-63E03532C925}" destId="{ADE1030C-FE7E-4DA7-A047-5AFA4EE4EE54}" srcOrd="0" destOrd="0" parTransId="{900C85A7-427F-4806-81EB-F17724CB23B4}" sibTransId="{2A91FDC1-05F3-4B4A-8828-53B69B9E9244}"/>
    <dgm:cxn modelId="{DD3B78CE-4262-46EA-96B5-6C8294ADDBD4}" srcId="{3F6E2A88-EF89-47F0-82E6-174CF11C1062}" destId="{D8ED29A2-EDFC-4214-AA58-290BCAE4A9AF}" srcOrd="0" destOrd="0" parTransId="{428AB39D-7F2C-48CD-805E-4B1B76A28A35}" sibTransId="{2989695C-CAC2-4C91-B81C-DF675CE8C1B9}"/>
    <dgm:cxn modelId="{5B428FD6-CB85-42CD-95FB-5894D8005E6D}" type="presOf" srcId="{3F6E2A88-EF89-47F0-82E6-174CF11C1062}" destId="{EEBDFD2D-9B38-4B5E-BBD6-12ED988AC9F6}" srcOrd="0" destOrd="0" presId="urn:microsoft.com/office/officeart/2005/8/layout/chevron2"/>
    <dgm:cxn modelId="{DA2E53E6-4DCD-4320-B8A5-1A1476AE77F6}" type="presOf" srcId="{69142C67-F955-4368-B125-9BF436241D74}" destId="{092C6D97-D386-4FC0-AA1C-C16D7AE6CF1D}" srcOrd="0" destOrd="0" presId="urn:microsoft.com/office/officeart/2005/8/layout/chevron2"/>
    <dgm:cxn modelId="{5D652BF8-BB7B-444B-BEDA-1A653E860EEC}" srcId="{A57EC0AF-96C6-4F7F-B8CF-D5F407DB7068}" destId="{89B21836-FD72-4006-9F57-63E03532C925}" srcOrd="0" destOrd="0" parTransId="{D7F19042-4403-4A5B-8D35-EAD50AAE6D18}" sibTransId="{36302238-D667-4F01-8099-01506A282F18}"/>
    <dgm:cxn modelId="{3A4B3DDF-4A9D-49A4-B45A-AD4AC820132C}" type="presParOf" srcId="{544329AE-FFF6-45DD-A9FB-3051A6DD4710}" destId="{5DD0D088-9EFF-49DB-95B9-68218BB8B20B}" srcOrd="0" destOrd="0" presId="urn:microsoft.com/office/officeart/2005/8/layout/chevron2"/>
    <dgm:cxn modelId="{BE2981C1-03F6-4BF8-AD35-4CB703CF5D76}" type="presParOf" srcId="{5DD0D088-9EFF-49DB-95B9-68218BB8B20B}" destId="{9976F1C9-BCC8-4E06-A667-C24836129E76}" srcOrd="0" destOrd="0" presId="urn:microsoft.com/office/officeart/2005/8/layout/chevron2"/>
    <dgm:cxn modelId="{A914A8BD-EC56-437B-8A5A-369FDB6E0155}" type="presParOf" srcId="{5DD0D088-9EFF-49DB-95B9-68218BB8B20B}" destId="{DFA5D6BA-AB79-434C-AC93-62394C726C8B}" srcOrd="1" destOrd="0" presId="urn:microsoft.com/office/officeart/2005/8/layout/chevron2"/>
    <dgm:cxn modelId="{C557E4B7-2E7A-4F8A-AA30-B0E263A72195}" type="presParOf" srcId="{544329AE-FFF6-45DD-A9FB-3051A6DD4710}" destId="{A8ED6D9F-D537-4CAE-9688-2ABE6FB9322F}" srcOrd="1" destOrd="0" presId="urn:microsoft.com/office/officeart/2005/8/layout/chevron2"/>
    <dgm:cxn modelId="{A4E48878-7891-4636-8BC6-FB3E08AAEC4D}" type="presParOf" srcId="{544329AE-FFF6-45DD-A9FB-3051A6DD4710}" destId="{1A3E18B0-3156-4E4A-A584-990D8D2EB896}" srcOrd="2" destOrd="0" presId="urn:microsoft.com/office/officeart/2005/8/layout/chevron2"/>
    <dgm:cxn modelId="{1AB8E779-DE8A-42C7-A115-69B0244C5923}" type="presParOf" srcId="{1A3E18B0-3156-4E4A-A584-990D8D2EB896}" destId="{001D8DAB-DBB9-4C7A-829C-35F4ED2F5C8E}" srcOrd="0" destOrd="0" presId="urn:microsoft.com/office/officeart/2005/8/layout/chevron2"/>
    <dgm:cxn modelId="{B4CD3A55-38FE-408D-9695-34EC723F253F}" type="presParOf" srcId="{1A3E18B0-3156-4E4A-A584-990D8D2EB896}" destId="{3B4541DE-9CF2-4BD8-B875-99342E3A2861}" srcOrd="1" destOrd="0" presId="urn:microsoft.com/office/officeart/2005/8/layout/chevron2"/>
    <dgm:cxn modelId="{C8003458-637B-424C-BB2F-F1542A689C4C}" type="presParOf" srcId="{544329AE-FFF6-45DD-A9FB-3051A6DD4710}" destId="{BCF0A2F7-5F38-4AB9-B643-5B9DAE88FDB4}" srcOrd="3" destOrd="0" presId="urn:microsoft.com/office/officeart/2005/8/layout/chevron2"/>
    <dgm:cxn modelId="{58C3296D-9EB7-44FD-9CE7-CC562A9FBD9E}" type="presParOf" srcId="{544329AE-FFF6-45DD-A9FB-3051A6DD4710}" destId="{DCC35500-4198-4B8C-BF2F-15A65BEAFC1B}" srcOrd="4" destOrd="0" presId="urn:microsoft.com/office/officeart/2005/8/layout/chevron2"/>
    <dgm:cxn modelId="{5BE91B6C-1285-4191-990F-A6367177E6F2}" type="presParOf" srcId="{DCC35500-4198-4B8C-BF2F-15A65BEAFC1B}" destId="{EEBDFD2D-9B38-4B5E-BBD6-12ED988AC9F6}" srcOrd="0" destOrd="0" presId="urn:microsoft.com/office/officeart/2005/8/layout/chevron2"/>
    <dgm:cxn modelId="{1A34FCD4-0EA2-4EE8-91F6-B1D8E5590887}" type="presParOf" srcId="{DCC35500-4198-4B8C-BF2F-15A65BEAFC1B}" destId="{C3692202-CB0E-4752-893F-907E58FC98A9}" srcOrd="1" destOrd="0" presId="urn:microsoft.com/office/officeart/2005/8/layout/chevron2"/>
    <dgm:cxn modelId="{5539ED98-6F35-46BE-9402-6FE22FC84BBA}" type="presParOf" srcId="{544329AE-FFF6-45DD-A9FB-3051A6DD4710}" destId="{C3921B63-4796-43BF-B781-2BFDEA012CC6}" srcOrd="5" destOrd="0" presId="urn:microsoft.com/office/officeart/2005/8/layout/chevron2"/>
    <dgm:cxn modelId="{5D85553F-65C8-4269-9825-BC13C14CFDE5}" type="presParOf" srcId="{544329AE-FFF6-45DD-A9FB-3051A6DD4710}" destId="{93C3BAC9-DF82-4BEF-99D9-65CED2CABFA2}" srcOrd="6" destOrd="0" presId="urn:microsoft.com/office/officeart/2005/8/layout/chevron2"/>
    <dgm:cxn modelId="{1EAD097F-A3DD-4202-89FB-422335D19342}" type="presParOf" srcId="{93C3BAC9-DF82-4BEF-99D9-65CED2CABFA2}" destId="{092C6D97-D386-4FC0-AA1C-C16D7AE6CF1D}" srcOrd="0" destOrd="0" presId="urn:microsoft.com/office/officeart/2005/8/layout/chevron2"/>
    <dgm:cxn modelId="{46B8E30D-708A-45C1-A1F8-23B59B9F4CEB}" type="presParOf" srcId="{93C3BAC9-DF82-4BEF-99D9-65CED2CABFA2}" destId="{9BD554E2-AF92-467A-A2C2-4853F007B91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18E13D-9410-4C94-8D5A-67187785F9B7}" type="doc">
      <dgm:prSet loTypeId="urn:microsoft.com/office/officeart/2005/8/layout/vList6" loCatId="list" qsTypeId="urn:microsoft.com/office/officeart/2005/8/quickstyle/simple1" qsCatId="simple" csTypeId="urn:microsoft.com/office/officeart/2005/8/colors/accent6_3" csCatId="accent6" phldr="1"/>
      <dgm:spPr/>
      <dgm:t>
        <a:bodyPr/>
        <a:lstStyle/>
        <a:p>
          <a:endParaRPr lang="en-IN"/>
        </a:p>
      </dgm:t>
    </dgm:pt>
    <dgm:pt modelId="{F8559ACF-57A1-44F5-AAB8-77012BA9F788}">
      <dgm:prSet custT="1"/>
      <dgm:spPr/>
      <dgm:t>
        <a:bodyPr/>
        <a:lstStyle/>
        <a:p>
          <a:pPr rtl="0"/>
          <a:r>
            <a:rPr lang="en-US" sz="2400" b="1" dirty="0"/>
            <a:t>Wider Reach</a:t>
          </a:r>
          <a:endParaRPr lang="en-IN" sz="2400" b="1" dirty="0"/>
        </a:p>
      </dgm:t>
    </dgm:pt>
    <dgm:pt modelId="{84E9ED31-91FA-4941-8038-B46B570FB1FE}" type="parTrans" cxnId="{EC250E3B-FA45-41E5-A124-408B1504BF16}">
      <dgm:prSet/>
      <dgm:spPr/>
      <dgm:t>
        <a:bodyPr/>
        <a:lstStyle/>
        <a:p>
          <a:endParaRPr lang="en-IN" dirty="0"/>
        </a:p>
      </dgm:t>
    </dgm:pt>
    <dgm:pt modelId="{555DBC23-8DBF-4D5B-9025-10DEE54E6436}" type="sibTrans" cxnId="{EC250E3B-FA45-41E5-A124-408B1504BF16}">
      <dgm:prSet/>
      <dgm:spPr/>
      <dgm:t>
        <a:bodyPr/>
        <a:lstStyle/>
        <a:p>
          <a:endParaRPr lang="en-IN" dirty="0"/>
        </a:p>
      </dgm:t>
    </dgm:pt>
    <dgm:pt modelId="{0280CE24-23ED-42E4-B14A-037C9888A6C7}">
      <dgm:prSet custT="1"/>
      <dgm:spPr/>
      <dgm:t>
        <a:bodyPr/>
        <a:lstStyle/>
        <a:p>
          <a:pPr rtl="0"/>
          <a:r>
            <a:rPr lang="en-US" sz="2400" b="1" dirty="0"/>
            <a:t>Brand Development</a:t>
          </a:r>
          <a:endParaRPr lang="en-IN" sz="2400" b="1" dirty="0"/>
        </a:p>
      </dgm:t>
    </dgm:pt>
    <dgm:pt modelId="{D4FDF18E-0151-4E8E-ACE3-A113E39B1ADD}" type="parTrans" cxnId="{925DD1D8-3FDA-44B0-A9BB-9628A8C4B935}">
      <dgm:prSet/>
      <dgm:spPr/>
      <dgm:t>
        <a:bodyPr/>
        <a:lstStyle/>
        <a:p>
          <a:endParaRPr lang="en-IN" dirty="0"/>
        </a:p>
      </dgm:t>
    </dgm:pt>
    <dgm:pt modelId="{A5EDDD5C-D0A5-4E4F-90C7-155FCD161255}" type="sibTrans" cxnId="{925DD1D8-3FDA-44B0-A9BB-9628A8C4B935}">
      <dgm:prSet/>
      <dgm:spPr/>
      <dgm:t>
        <a:bodyPr/>
        <a:lstStyle/>
        <a:p>
          <a:endParaRPr lang="en-IN" dirty="0"/>
        </a:p>
      </dgm:t>
    </dgm:pt>
    <dgm:pt modelId="{7B9A0A4C-A9FC-40CF-BFE8-16FFFD29A92B}">
      <dgm:prSet custT="1"/>
      <dgm:spPr/>
      <dgm:t>
        <a:bodyPr/>
        <a:lstStyle/>
        <a:p>
          <a:pPr rtl="0"/>
          <a:r>
            <a:rPr lang="en-US" sz="2400" b="1" dirty="0"/>
            <a:t>Personalization</a:t>
          </a:r>
          <a:endParaRPr lang="en-IN" sz="2400" b="1" dirty="0"/>
        </a:p>
      </dgm:t>
    </dgm:pt>
    <dgm:pt modelId="{BF4A3F0D-6BFD-4C1D-BCFE-B0FF9F5AB74F}" type="parTrans" cxnId="{FF9A117E-6F76-402E-9FF0-6348A509184A}">
      <dgm:prSet/>
      <dgm:spPr/>
      <dgm:t>
        <a:bodyPr/>
        <a:lstStyle/>
        <a:p>
          <a:endParaRPr lang="en-IN" dirty="0"/>
        </a:p>
      </dgm:t>
    </dgm:pt>
    <dgm:pt modelId="{B7373763-1D85-4C67-A61B-FECFEC57176E}" type="sibTrans" cxnId="{FF9A117E-6F76-402E-9FF0-6348A509184A}">
      <dgm:prSet/>
      <dgm:spPr/>
      <dgm:t>
        <a:bodyPr/>
        <a:lstStyle/>
        <a:p>
          <a:endParaRPr lang="en-IN" dirty="0"/>
        </a:p>
      </dgm:t>
    </dgm:pt>
    <dgm:pt modelId="{48C8D6AF-311B-4C72-B765-44640BDC38E6}">
      <dgm:prSet custT="1"/>
      <dgm:spPr/>
      <dgm:t>
        <a:bodyPr/>
        <a:lstStyle/>
        <a:p>
          <a:pPr rtl="0"/>
          <a:r>
            <a:rPr lang="en-US" sz="2400" b="1" dirty="0"/>
            <a:t>Accessibility</a:t>
          </a:r>
          <a:endParaRPr lang="en-IN" sz="2400" b="1" dirty="0"/>
        </a:p>
      </dgm:t>
    </dgm:pt>
    <dgm:pt modelId="{BCC440C0-0AF0-4E90-B268-8E25C0DFB568}" type="parTrans" cxnId="{174C6134-5B31-4AD7-AF93-7FDB1E417D76}">
      <dgm:prSet/>
      <dgm:spPr/>
      <dgm:t>
        <a:bodyPr/>
        <a:lstStyle/>
        <a:p>
          <a:endParaRPr lang="en-IN" dirty="0"/>
        </a:p>
      </dgm:t>
    </dgm:pt>
    <dgm:pt modelId="{8283E8D9-34A1-4074-8B9A-F3DF69530B22}" type="sibTrans" cxnId="{174C6134-5B31-4AD7-AF93-7FDB1E417D76}">
      <dgm:prSet/>
      <dgm:spPr/>
      <dgm:t>
        <a:bodyPr/>
        <a:lstStyle/>
        <a:p>
          <a:endParaRPr lang="en-IN" dirty="0"/>
        </a:p>
      </dgm:t>
    </dgm:pt>
    <dgm:pt modelId="{A8EF9131-F1DE-435E-99DD-D0ED577CAC33}">
      <dgm:prSet custT="1"/>
      <dgm:spPr/>
      <dgm:t>
        <a:bodyPr/>
        <a:lstStyle/>
        <a:p>
          <a:pPr rtl="0"/>
          <a:r>
            <a:rPr lang="en-US" sz="2400" b="1" dirty="0"/>
            <a:t>Better Engagement</a:t>
          </a:r>
          <a:endParaRPr lang="en-IN" sz="2400" b="1" dirty="0"/>
        </a:p>
      </dgm:t>
    </dgm:pt>
    <dgm:pt modelId="{53C976B0-3C64-4083-9D2A-593A705A1474}" type="parTrans" cxnId="{481F9551-9638-4F97-A48E-AAA663C81A0F}">
      <dgm:prSet/>
      <dgm:spPr/>
      <dgm:t>
        <a:bodyPr/>
        <a:lstStyle/>
        <a:p>
          <a:endParaRPr lang="en-IN" dirty="0"/>
        </a:p>
      </dgm:t>
    </dgm:pt>
    <dgm:pt modelId="{CA656F44-B055-4A72-AC0E-1046DDB17D1A}" type="sibTrans" cxnId="{481F9551-9638-4F97-A48E-AAA663C81A0F}">
      <dgm:prSet/>
      <dgm:spPr/>
      <dgm:t>
        <a:bodyPr/>
        <a:lstStyle/>
        <a:p>
          <a:endParaRPr lang="en-IN" dirty="0"/>
        </a:p>
      </dgm:t>
    </dgm:pt>
    <dgm:pt modelId="{4AFEE904-3267-4B27-BF8A-E9BBEFA25523}">
      <dgm:prSet custT="1"/>
      <dgm:spPr/>
      <dgm:t>
        <a:bodyPr/>
        <a:lstStyle/>
        <a:p>
          <a:pPr rtl="0"/>
          <a:r>
            <a:rPr lang="en-US" sz="2400" b="1" dirty="0"/>
            <a:t>Lower Cost</a:t>
          </a:r>
          <a:endParaRPr lang="en-IN" sz="2400" b="1" dirty="0"/>
        </a:p>
      </dgm:t>
    </dgm:pt>
    <dgm:pt modelId="{E3B6FA1A-F316-4608-A94E-252B0DBD6CA7}" type="parTrans" cxnId="{99D0816B-B8E3-414B-8A8A-E8476806FD28}">
      <dgm:prSet/>
      <dgm:spPr/>
      <dgm:t>
        <a:bodyPr/>
        <a:lstStyle/>
        <a:p>
          <a:endParaRPr lang="en-IN" dirty="0"/>
        </a:p>
      </dgm:t>
    </dgm:pt>
    <dgm:pt modelId="{2D357448-3D11-4D4D-9C69-57763710D166}" type="sibTrans" cxnId="{99D0816B-B8E3-414B-8A8A-E8476806FD28}">
      <dgm:prSet/>
      <dgm:spPr/>
      <dgm:t>
        <a:bodyPr/>
        <a:lstStyle/>
        <a:p>
          <a:endParaRPr lang="en-IN" dirty="0"/>
        </a:p>
      </dgm:t>
    </dgm:pt>
    <dgm:pt modelId="{2244B39C-61DC-4E35-86B5-006772EAFDD1}">
      <dgm:prSet custT="1"/>
      <dgm:spPr/>
      <dgm:t>
        <a:bodyPr/>
        <a:lstStyle/>
        <a:p>
          <a:pPr rtl="0"/>
          <a:r>
            <a:rPr lang="en-US" sz="2400" b="1" dirty="0"/>
            <a:t>Track-able Results</a:t>
          </a:r>
          <a:endParaRPr lang="en-IN" sz="2400" b="1" dirty="0"/>
        </a:p>
      </dgm:t>
    </dgm:pt>
    <dgm:pt modelId="{58DC8DDB-4068-4B5D-9FBE-8F2E1DCC4077}" type="parTrans" cxnId="{E354CECF-69B4-44DE-90BF-A2B6E16541C8}">
      <dgm:prSet/>
      <dgm:spPr/>
      <dgm:t>
        <a:bodyPr/>
        <a:lstStyle/>
        <a:p>
          <a:endParaRPr lang="en-IN" dirty="0"/>
        </a:p>
      </dgm:t>
    </dgm:pt>
    <dgm:pt modelId="{516610BE-5A2C-4DAB-A482-BBC2EC5BE3D1}" type="sibTrans" cxnId="{E354CECF-69B4-44DE-90BF-A2B6E16541C8}">
      <dgm:prSet/>
      <dgm:spPr/>
      <dgm:t>
        <a:bodyPr/>
        <a:lstStyle/>
        <a:p>
          <a:endParaRPr lang="en-IN" dirty="0"/>
        </a:p>
      </dgm:t>
    </dgm:pt>
    <dgm:pt modelId="{26CD68BA-57CC-486A-ACCB-E4866815EF06}">
      <dgm:prSet custT="1"/>
      <dgm:spPr/>
      <dgm:t>
        <a:bodyPr/>
        <a:lstStyle/>
        <a:p>
          <a:pPr rtl="0"/>
          <a:r>
            <a:rPr lang="en-US" sz="2400" b="1" dirty="0"/>
            <a:t>Improved Conversion Rates</a:t>
          </a:r>
          <a:endParaRPr lang="en-IN" sz="2400" b="1" dirty="0"/>
        </a:p>
      </dgm:t>
    </dgm:pt>
    <dgm:pt modelId="{C4B2D207-DA53-4B13-B62D-E98E07782397}" type="parTrans" cxnId="{600DE629-3F84-4976-B465-3AC220D9C535}">
      <dgm:prSet/>
      <dgm:spPr/>
      <dgm:t>
        <a:bodyPr/>
        <a:lstStyle/>
        <a:p>
          <a:endParaRPr lang="en-IN" dirty="0"/>
        </a:p>
      </dgm:t>
    </dgm:pt>
    <dgm:pt modelId="{A68A5F21-7DDF-457F-9FDC-D01825C5755C}" type="sibTrans" cxnId="{600DE629-3F84-4976-B465-3AC220D9C535}">
      <dgm:prSet/>
      <dgm:spPr/>
      <dgm:t>
        <a:bodyPr/>
        <a:lstStyle/>
        <a:p>
          <a:endParaRPr lang="en-IN" dirty="0"/>
        </a:p>
      </dgm:t>
    </dgm:pt>
    <dgm:pt modelId="{7048F639-EC7E-4A1A-A935-7C63CB8E4894}">
      <dgm:prSet custT="1"/>
      <dgm:spPr/>
      <dgm:t>
        <a:bodyPr anchor="ctr"/>
        <a:lstStyle/>
        <a:p>
          <a:pPr algn="just"/>
          <a:r>
            <a:rPr lang="en-US" sz="1600" b="0" i="0" dirty="0"/>
            <a:t>Digital marketing helps improve </a:t>
          </a:r>
          <a:r>
            <a:rPr lang="en-US" sz="1600" b="1" i="0" dirty="0"/>
            <a:t>awareness about products </a:t>
          </a:r>
          <a:r>
            <a:rPr lang="en-US" sz="1600" b="0" i="0" dirty="0"/>
            <a:t>and services through an online platform to reach a wide base of customers </a:t>
          </a:r>
          <a:r>
            <a:rPr lang="en-US" sz="1600" b="1" i="0" dirty="0"/>
            <a:t>across the world</a:t>
          </a:r>
          <a:r>
            <a:rPr lang="en-US" sz="1600" b="0" i="0" dirty="0"/>
            <a:t>. </a:t>
          </a:r>
          <a:endParaRPr lang="en-IN" sz="1600" dirty="0"/>
        </a:p>
      </dgm:t>
    </dgm:pt>
    <dgm:pt modelId="{3621FDE9-B470-42D0-B087-FCA1E844690D}" type="parTrans" cxnId="{F1E64EB4-EC65-4D4D-A11F-B3D23CE1D9C7}">
      <dgm:prSet/>
      <dgm:spPr/>
      <dgm:t>
        <a:bodyPr/>
        <a:lstStyle/>
        <a:p>
          <a:endParaRPr lang="en-IN"/>
        </a:p>
      </dgm:t>
    </dgm:pt>
    <dgm:pt modelId="{DBAC3FF2-9796-4DA0-8E63-976210B7C993}" type="sibTrans" cxnId="{F1E64EB4-EC65-4D4D-A11F-B3D23CE1D9C7}">
      <dgm:prSet/>
      <dgm:spPr/>
      <dgm:t>
        <a:bodyPr/>
        <a:lstStyle/>
        <a:p>
          <a:endParaRPr lang="en-IN"/>
        </a:p>
      </dgm:t>
    </dgm:pt>
    <dgm:pt modelId="{47C8CCE6-21D3-4669-83E3-DBDEE86CF41B}">
      <dgm:prSet custT="1"/>
      <dgm:spPr/>
      <dgm:t>
        <a:bodyPr anchor="ctr"/>
        <a:lstStyle/>
        <a:p>
          <a:pPr algn="just"/>
          <a:r>
            <a:rPr lang="en-US" sz="1600" b="0" i="0" dirty="0"/>
            <a:t>Digital marketing helps to build the brand in various ways of </a:t>
          </a:r>
          <a:r>
            <a:rPr lang="en-US" sz="1600" b="1" i="0" dirty="0"/>
            <a:t>direct campaigning and personalized approach.</a:t>
          </a:r>
          <a:endParaRPr lang="en-IN" sz="1600" b="1" dirty="0"/>
        </a:p>
      </dgm:t>
    </dgm:pt>
    <dgm:pt modelId="{DD485046-5FDE-4634-84D3-D8671E0BFF52}" type="parTrans" cxnId="{573B5B23-3855-4B33-95ED-C0BFF1C23B19}">
      <dgm:prSet/>
      <dgm:spPr/>
      <dgm:t>
        <a:bodyPr/>
        <a:lstStyle/>
        <a:p>
          <a:endParaRPr lang="en-IN"/>
        </a:p>
      </dgm:t>
    </dgm:pt>
    <dgm:pt modelId="{F4E509C4-D5CB-493A-A844-BB0151E30EE5}" type="sibTrans" cxnId="{573B5B23-3855-4B33-95ED-C0BFF1C23B19}">
      <dgm:prSet/>
      <dgm:spPr/>
      <dgm:t>
        <a:bodyPr/>
        <a:lstStyle/>
        <a:p>
          <a:endParaRPr lang="en-IN"/>
        </a:p>
      </dgm:t>
    </dgm:pt>
    <dgm:pt modelId="{31CDE146-858B-494B-8C85-A99E070F7E03}">
      <dgm:prSet custT="1"/>
      <dgm:spPr/>
      <dgm:t>
        <a:bodyPr/>
        <a:lstStyle/>
        <a:p>
          <a:pPr algn="just"/>
          <a:r>
            <a:rPr lang="en-US" sz="1600" b="0" i="0" dirty="0"/>
            <a:t>Bringing the audience closer and approaching them with the product that meets their requirement, helps to </a:t>
          </a:r>
          <a:r>
            <a:rPr lang="en-US" sz="1600" b="1" i="0" dirty="0"/>
            <a:t>create brand loyalty </a:t>
          </a:r>
          <a:r>
            <a:rPr lang="en-US" sz="1600" b="0" i="0" dirty="0"/>
            <a:t>and </a:t>
          </a:r>
          <a:r>
            <a:rPr lang="en-US" sz="1600" b="1" i="0" dirty="0"/>
            <a:t>reputation.</a:t>
          </a:r>
          <a:r>
            <a:rPr lang="en-US" sz="1600" b="0" i="0" dirty="0"/>
            <a:t> </a:t>
          </a:r>
          <a:endParaRPr lang="en-IN" sz="1600" dirty="0"/>
        </a:p>
      </dgm:t>
    </dgm:pt>
    <dgm:pt modelId="{56A42982-3C8C-41DA-B1A6-F4AA5A45290C}" type="parTrans" cxnId="{70EFF52E-1196-490B-A9A4-2DD739398CCD}">
      <dgm:prSet/>
      <dgm:spPr/>
      <dgm:t>
        <a:bodyPr/>
        <a:lstStyle/>
        <a:p>
          <a:endParaRPr lang="en-IN"/>
        </a:p>
      </dgm:t>
    </dgm:pt>
    <dgm:pt modelId="{670E8126-E434-4650-B23B-005B7BE1B406}" type="sibTrans" cxnId="{70EFF52E-1196-490B-A9A4-2DD739398CCD}">
      <dgm:prSet/>
      <dgm:spPr/>
      <dgm:t>
        <a:bodyPr/>
        <a:lstStyle/>
        <a:p>
          <a:endParaRPr lang="en-IN"/>
        </a:p>
      </dgm:t>
    </dgm:pt>
    <dgm:pt modelId="{15AC01D0-451A-4F20-A304-F86A054A56E0}">
      <dgm:prSet custT="1"/>
      <dgm:spPr/>
      <dgm:t>
        <a:bodyPr/>
        <a:lstStyle/>
        <a:p>
          <a:pPr algn="just"/>
          <a:r>
            <a:rPr lang="en-US" sz="1600" b="0" i="0" dirty="0"/>
            <a:t>Marketing methods using digital platforms provide the opportunity for both sellers and buyers to get easy access with the </a:t>
          </a:r>
          <a:r>
            <a:rPr lang="en-US" sz="1600" b="1" i="0" dirty="0"/>
            <a:t>flexibility of time and location. </a:t>
          </a:r>
          <a:endParaRPr lang="en-IN" sz="1600" b="1" dirty="0"/>
        </a:p>
      </dgm:t>
    </dgm:pt>
    <dgm:pt modelId="{0F956B96-6BEB-4FBA-A193-07FA5AFA46F1}" type="parTrans" cxnId="{64CCEA0A-05FC-42A2-9E36-AC977D301B35}">
      <dgm:prSet/>
      <dgm:spPr/>
      <dgm:t>
        <a:bodyPr/>
        <a:lstStyle/>
        <a:p>
          <a:endParaRPr lang="en-IN"/>
        </a:p>
      </dgm:t>
    </dgm:pt>
    <dgm:pt modelId="{510EAF08-6531-4BED-A76F-3826EDD6F88B}" type="sibTrans" cxnId="{64CCEA0A-05FC-42A2-9E36-AC977D301B35}">
      <dgm:prSet/>
      <dgm:spPr/>
      <dgm:t>
        <a:bodyPr/>
        <a:lstStyle/>
        <a:p>
          <a:endParaRPr lang="en-IN"/>
        </a:p>
      </dgm:t>
    </dgm:pt>
    <dgm:pt modelId="{20EAB21A-FB1F-4958-86BA-2A1F7B4077A3}">
      <dgm:prSet custT="1"/>
      <dgm:spPr/>
      <dgm:t>
        <a:bodyPr/>
        <a:lstStyle/>
        <a:p>
          <a:pPr algn="just"/>
          <a:r>
            <a:rPr lang="en-US" sz="1600" b="0" i="0" dirty="0"/>
            <a:t>A suitable promotional strategy using blogs, social media content, and promotional offers allow the brand to get a hold of the </a:t>
          </a:r>
          <a:r>
            <a:rPr lang="en-US" sz="1600" b="1" i="0" dirty="0"/>
            <a:t>customer’s attention and build credibility.</a:t>
          </a:r>
          <a:endParaRPr lang="en-IN" sz="1600" b="1" dirty="0"/>
        </a:p>
      </dgm:t>
    </dgm:pt>
    <dgm:pt modelId="{37E5158E-34B4-4637-ACBB-1509970B66DD}" type="parTrans" cxnId="{7FDDF1BA-0389-44DA-87B4-2419EC187516}">
      <dgm:prSet/>
      <dgm:spPr/>
      <dgm:t>
        <a:bodyPr/>
        <a:lstStyle/>
        <a:p>
          <a:endParaRPr lang="en-IN"/>
        </a:p>
      </dgm:t>
    </dgm:pt>
    <dgm:pt modelId="{829BBE27-6002-4153-B133-2FA206A94F61}" type="sibTrans" cxnId="{7FDDF1BA-0389-44DA-87B4-2419EC187516}">
      <dgm:prSet/>
      <dgm:spPr/>
      <dgm:t>
        <a:bodyPr/>
        <a:lstStyle/>
        <a:p>
          <a:endParaRPr lang="en-IN"/>
        </a:p>
      </dgm:t>
    </dgm:pt>
    <dgm:pt modelId="{F5AA2327-7726-45C7-AAC8-169749BE0D06}">
      <dgm:prSet custT="1"/>
      <dgm:spPr/>
      <dgm:t>
        <a:bodyPr/>
        <a:lstStyle/>
        <a:p>
          <a:pPr algn="just"/>
          <a:r>
            <a:rPr lang="en-US" sz="1600" b="0" i="0" dirty="0"/>
            <a:t>The digital marketing methodology is easier to implement with a </a:t>
          </a:r>
          <a:r>
            <a:rPr lang="en-US" sz="1600" b="1" i="0" dirty="0"/>
            <a:t>limited budget </a:t>
          </a:r>
          <a:r>
            <a:rPr lang="en-US" sz="1600" b="0" i="0" dirty="0"/>
            <a:t>and infrastructure which is beneficial especially for </a:t>
          </a:r>
          <a:r>
            <a:rPr lang="en-US" sz="1600" b="1" i="0" dirty="0"/>
            <a:t>small businesses.</a:t>
          </a:r>
          <a:endParaRPr lang="en-IN" sz="1600" b="1" dirty="0"/>
        </a:p>
      </dgm:t>
    </dgm:pt>
    <dgm:pt modelId="{3E4ECB5D-2799-478A-B458-47E1BDE7B25B}" type="parTrans" cxnId="{216A8E8C-11F4-4E72-8CE7-70DED96B4ACC}">
      <dgm:prSet/>
      <dgm:spPr/>
      <dgm:t>
        <a:bodyPr/>
        <a:lstStyle/>
        <a:p>
          <a:endParaRPr lang="en-IN"/>
        </a:p>
      </dgm:t>
    </dgm:pt>
    <dgm:pt modelId="{AB694FE3-4AB6-4DA2-AC86-ADAC2A226B4D}" type="sibTrans" cxnId="{216A8E8C-11F4-4E72-8CE7-70DED96B4ACC}">
      <dgm:prSet/>
      <dgm:spPr/>
      <dgm:t>
        <a:bodyPr/>
        <a:lstStyle/>
        <a:p>
          <a:endParaRPr lang="en-IN"/>
        </a:p>
      </dgm:t>
    </dgm:pt>
    <dgm:pt modelId="{A39B2410-9B1A-4CD3-A13C-9C3FB60DECC4}">
      <dgm:prSet custT="1"/>
      <dgm:spPr/>
      <dgm:t>
        <a:bodyPr/>
        <a:lstStyle/>
        <a:p>
          <a:pPr algn="just"/>
          <a:r>
            <a:rPr lang="en-US" sz="1600" b="0" i="0" dirty="0"/>
            <a:t>The digital analytical tools and other online metrics help to </a:t>
          </a:r>
          <a:r>
            <a:rPr lang="en-US" sz="1600" b="1" i="0" dirty="0"/>
            <a:t>track how effective the marketing campaign has been </a:t>
          </a:r>
          <a:r>
            <a:rPr lang="en-US" sz="1600" b="0" i="0" dirty="0"/>
            <a:t>in terms of customer reach and response.</a:t>
          </a:r>
          <a:endParaRPr lang="en-IN" sz="1600" dirty="0"/>
        </a:p>
      </dgm:t>
    </dgm:pt>
    <dgm:pt modelId="{017440D0-CF43-4526-8100-8920AC5BFF5C}" type="parTrans" cxnId="{F489FBE9-5B0A-42CB-BAC9-EF59EC4966D9}">
      <dgm:prSet/>
      <dgm:spPr/>
      <dgm:t>
        <a:bodyPr/>
        <a:lstStyle/>
        <a:p>
          <a:endParaRPr lang="en-IN"/>
        </a:p>
      </dgm:t>
    </dgm:pt>
    <dgm:pt modelId="{CB26D8BE-AE66-4B6C-BFC4-7A57045F6045}" type="sibTrans" cxnId="{F489FBE9-5B0A-42CB-BAC9-EF59EC4966D9}">
      <dgm:prSet/>
      <dgm:spPr/>
      <dgm:t>
        <a:bodyPr/>
        <a:lstStyle/>
        <a:p>
          <a:endParaRPr lang="en-IN"/>
        </a:p>
      </dgm:t>
    </dgm:pt>
    <dgm:pt modelId="{D671BE99-1766-41CE-B95B-DEB69BB63EC8}">
      <dgm:prSet custT="1"/>
      <dgm:spPr/>
      <dgm:t>
        <a:bodyPr/>
        <a:lstStyle/>
        <a:p>
          <a:pPr algn="just"/>
          <a:r>
            <a:rPr lang="en-US" sz="1600" b="0" i="0" dirty="0"/>
            <a:t>The digital marketing process creates a </a:t>
          </a:r>
          <a:r>
            <a:rPr lang="en-US" sz="1600" b="1" i="0" dirty="0"/>
            <a:t>seamless and immediate connection </a:t>
          </a:r>
          <a:r>
            <a:rPr lang="en-US" sz="1600" b="0" i="0" dirty="0"/>
            <a:t>with potential customers with </a:t>
          </a:r>
          <a:r>
            <a:rPr lang="en-US" sz="1600" b="1" i="0" dirty="0"/>
            <a:t>the convenience of making a purchase </a:t>
          </a:r>
          <a:r>
            <a:rPr lang="en-US" sz="1600" b="0" i="0" dirty="0"/>
            <a:t>just with a few clicks on your website. </a:t>
          </a:r>
          <a:endParaRPr lang="en-IN" sz="1600" dirty="0"/>
        </a:p>
      </dgm:t>
    </dgm:pt>
    <dgm:pt modelId="{B0055747-C3A6-4995-A79F-24C34F35E748}" type="parTrans" cxnId="{C357A62C-0F87-40AA-BBB9-6B049FEC7A9D}">
      <dgm:prSet/>
      <dgm:spPr/>
      <dgm:t>
        <a:bodyPr/>
        <a:lstStyle/>
        <a:p>
          <a:endParaRPr lang="en-IN"/>
        </a:p>
      </dgm:t>
    </dgm:pt>
    <dgm:pt modelId="{46EB95BF-0583-4456-B736-793FEE32CDC8}" type="sibTrans" cxnId="{C357A62C-0F87-40AA-BBB9-6B049FEC7A9D}">
      <dgm:prSet/>
      <dgm:spPr/>
      <dgm:t>
        <a:bodyPr/>
        <a:lstStyle/>
        <a:p>
          <a:endParaRPr lang="en-IN"/>
        </a:p>
      </dgm:t>
    </dgm:pt>
    <dgm:pt modelId="{EDD0ABDE-084A-47DA-A219-D80DA0D6DEC0}" type="pres">
      <dgm:prSet presAssocID="{AA18E13D-9410-4C94-8D5A-67187785F9B7}" presName="Name0" presStyleCnt="0">
        <dgm:presLayoutVars>
          <dgm:dir/>
          <dgm:animLvl val="lvl"/>
          <dgm:resizeHandles/>
        </dgm:presLayoutVars>
      </dgm:prSet>
      <dgm:spPr/>
    </dgm:pt>
    <dgm:pt modelId="{0C976DFD-0D38-4E63-B45B-A1DA0E3C69D6}" type="pres">
      <dgm:prSet presAssocID="{F8559ACF-57A1-44F5-AAB8-77012BA9F788}" presName="linNode" presStyleCnt="0"/>
      <dgm:spPr/>
    </dgm:pt>
    <dgm:pt modelId="{29C125EA-172E-4678-A511-56A3C5C55820}" type="pres">
      <dgm:prSet presAssocID="{F8559ACF-57A1-44F5-AAB8-77012BA9F788}" presName="parentShp" presStyleLbl="node1" presStyleIdx="0" presStyleCnt="8" custScaleX="75347">
        <dgm:presLayoutVars>
          <dgm:bulletEnabled val="1"/>
        </dgm:presLayoutVars>
      </dgm:prSet>
      <dgm:spPr/>
    </dgm:pt>
    <dgm:pt modelId="{73F55F7F-47E0-4C9F-8C1A-A08F20CE5891}" type="pres">
      <dgm:prSet presAssocID="{F8559ACF-57A1-44F5-AAB8-77012BA9F788}" presName="childShp" presStyleLbl="bgAccFollowNode1" presStyleIdx="0" presStyleCnt="8" custScaleX="111983">
        <dgm:presLayoutVars>
          <dgm:bulletEnabled val="1"/>
        </dgm:presLayoutVars>
      </dgm:prSet>
      <dgm:spPr/>
    </dgm:pt>
    <dgm:pt modelId="{FC8C9E45-EB8F-427D-80AB-4BF04F72C31E}" type="pres">
      <dgm:prSet presAssocID="{555DBC23-8DBF-4D5B-9025-10DEE54E6436}" presName="spacing" presStyleCnt="0"/>
      <dgm:spPr/>
    </dgm:pt>
    <dgm:pt modelId="{CC5AAAC3-BCB3-4CE6-9143-7EE025F60472}" type="pres">
      <dgm:prSet presAssocID="{0280CE24-23ED-42E4-B14A-037C9888A6C7}" presName="linNode" presStyleCnt="0"/>
      <dgm:spPr/>
    </dgm:pt>
    <dgm:pt modelId="{82FC78B8-3845-4931-9D37-7695E8A84A4E}" type="pres">
      <dgm:prSet presAssocID="{0280CE24-23ED-42E4-B14A-037C9888A6C7}" presName="parentShp" presStyleLbl="node1" presStyleIdx="1" presStyleCnt="8" custScaleX="75347">
        <dgm:presLayoutVars>
          <dgm:bulletEnabled val="1"/>
        </dgm:presLayoutVars>
      </dgm:prSet>
      <dgm:spPr/>
    </dgm:pt>
    <dgm:pt modelId="{DD0C4C7B-338D-4A92-8958-26FE0BE7A64F}" type="pres">
      <dgm:prSet presAssocID="{0280CE24-23ED-42E4-B14A-037C9888A6C7}" presName="childShp" presStyleLbl="bgAccFollowNode1" presStyleIdx="1" presStyleCnt="8" custScaleX="111983">
        <dgm:presLayoutVars>
          <dgm:bulletEnabled val="1"/>
        </dgm:presLayoutVars>
      </dgm:prSet>
      <dgm:spPr/>
    </dgm:pt>
    <dgm:pt modelId="{DC4B77D9-A093-46C2-88FE-C752AC38A2A3}" type="pres">
      <dgm:prSet presAssocID="{A5EDDD5C-D0A5-4E4F-90C7-155FCD161255}" presName="spacing" presStyleCnt="0"/>
      <dgm:spPr/>
    </dgm:pt>
    <dgm:pt modelId="{38F19A12-31ED-4E27-AB5D-1D29F5F66A8B}" type="pres">
      <dgm:prSet presAssocID="{7B9A0A4C-A9FC-40CF-BFE8-16FFFD29A92B}" presName="linNode" presStyleCnt="0"/>
      <dgm:spPr/>
    </dgm:pt>
    <dgm:pt modelId="{2C564FD7-A121-4E4E-AD91-07B362ABC854}" type="pres">
      <dgm:prSet presAssocID="{7B9A0A4C-A9FC-40CF-BFE8-16FFFD29A92B}" presName="parentShp" presStyleLbl="node1" presStyleIdx="2" presStyleCnt="8" custScaleX="75347">
        <dgm:presLayoutVars>
          <dgm:bulletEnabled val="1"/>
        </dgm:presLayoutVars>
      </dgm:prSet>
      <dgm:spPr/>
    </dgm:pt>
    <dgm:pt modelId="{C7CA6E80-DCC5-42DD-A0D6-C54E57EE28AD}" type="pres">
      <dgm:prSet presAssocID="{7B9A0A4C-A9FC-40CF-BFE8-16FFFD29A92B}" presName="childShp" presStyleLbl="bgAccFollowNode1" presStyleIdx="2" presStyleCnt="8" custScaleX="111983">
        <dgm:presLayoutVars>
          <dgm:bulletEnabled val="1"/>
        </dgm:presLayoutVars>
      </dgm:prSet>
      <dgm:spPr/>
    </dgm:pt>
    <dgm:pt modelId="{5EDC204C-67F5-4704-8354-78DA1614E5D0}" type="pres">
      <dgm:prSet presAssocID="{B7373763-1D85-4C67-A61B-FECFEC57176E}" presName="spacing" presStyleCnt="0"/>
      <dgm:spPr/>
    </dgm:pt>
    <dgm:pt modelId="{AE8444C3-5E42-410D-87E7-975FDD92F489}" type="pres">
      <dgm:prSet presAssocID="{48C8D6AF-311B-4C72-B765-44640BDC38E6}" presName="linNode" presStyleCnt="0"/>
      <dgm:spPr/>
    </dgm:pt>
    <dgm:pt modelId="{D4D6ECCB-60A3-45F1-B3AD-465EFC7CC223}" type="pres">
      <dgm:prSet presAssocID="{48C8D6AF-311B-4C72-B765-44640BDC38E6}" presName="parentShp" presStyleLbl="node1" presStyleIdx="3" presStyleCnt="8" custScaleX="75347">
        <dgm:presLayoutVars>
          <dgm:bulletEnabled val="1"/>
        </dgm:presLayoutVars>
      </dgm:prSet>
      <dgm:spPr/>
    </dgm:pt>
    <dgm:pt modelId="{69C2DACB-176B-4C3F-A07C-BD6BE57A29BB}" type="pres">
      <dgm:prSet presAssocID="{48C8D6AF-311B-4C72-B765-44640BDC38E6}" presName="childShp" presStyleLbl="bgAccFollowNode1" presStyleIdx="3" presStyleCnt="8" custScaleX="111983">
        <dgm:presLayoutVars>
          <dgm:bulletEnabled val="1"/>
        </dgm:presLayoutVars>
      </dgm:prSet>
      <dgm:spPr/>
    </dgm:pt>
    <dgm:pt modelId="{8DE74FC8-2DD8-4A9C-B552-B72C83D33EE1}" type="pres">
      <dgm:prSet presAssocID="{8283E8D9-34A1-4074-8B9A-F3DF69530B22}" presName="spacing" presStyleCnt="0"/>
      <dgm:spPr/>
    </dgm:pt>
    <dgm:pt modelId="{274D8257-D175-4BB5-81DB-BBF68EEE65A2}" type="pres">
      <dgm:prSet presAssocID="{A8EF9131-F1DE-435E-99DD-D0ED577CAC33}" presName="linNode" presStyleCnt="0"/>
      <dgm:spPr/>
    </dgm:pt>
    <dgm:pt modelId="{462C38BD-EB2A-4633-BEBC-44A358B7FF7E}" type="pres">
      <dgm:prSet presAssocID="{A8EF9131-F1DE-435E-99DD-D0ED577CAC33}" presName="parentShp" presStyleLbl="node1" presStyleIdx="4" presStyleCnt="8" custScaleX="75347">
        <dgm:presLayoutVars>
          <dgm:bulletEnabled val="1"/>
        </dgm:presLayoutVars>
      </dgm:prSet>
      <dgm:spPr/>
    </dgm:pt>
    <dgm:pt modelId="{8580EB9A-6B24-419B-8D00-2778ADE0B56A}" type="pres">
      <dgm:prSet presAssocID="{A8EF9131-F1DE-435E-99DD-D0ED577CAC33}" presName="childShp" presStyleLbl="bgAccFollowNode1" presStyleIdx="4" presStyleCnt="8" custScaleX="111983">
        <dgm:presLayoutVars>
          <dgm:bulletEnabled val="1"/>
        </dgm:presLayoutVars>
      </dgm:prSet>
      <dgm:spPr/>
    </dgm:pt>
    <dgm:pt modelId="{D88989B4-DEDD-4C0B-8432-E79062A662E1}" type="pres">
      <dgm:prSet presAssocID="{CA656F44-B055-4A72-AC0E-1046DDB17D1A}" presName="spacing" presStyleCnt="0"/>
      <dgm:spPr/>
    </dgm:pt>
    <dgm:pt modelId="{F2ABF7E8-3D17-442D-9800-938A15FFBB07}" type="pres">
      <dgm:prSet presAssocID="{4AFEE904-3267-4B27-BF8A-E9BBEFA25523}" presName="linNode" presStyleCnt="0"/>
      <dgm:spPr/>
    </dgm:pt>
    <dgm:pt modelId="{86820873-FA0D-4398-A80B-977DC22D2F89}" type="pres">
      <dgm:prSet presAssocID="{4AFEE904-3267-4B27-BF8A-E9BBEFA25523}" presName="parentShp" presStyleLbl="node1" presStyleIdx="5" presStyleCnt="8" custScaleX="75347">
        <dgm:presLayoutVars>
          <dgm:bulletEnabled val="1"/>
        </dgm:presLayoutVars>
      </dgm:prSet>
      <dgm:spPr/>
    </dgm:pt>
    <dgm:pt modelId="{296C2F33-51FD-4743-9A9F-FD34584493D7}" type="pres">
      <dgm:prSet presAssocID="{4AFEE904-3267-4B27-BF8A-E9BBEFA25523}" presName="childShp" presStyleLbl="bgAccFollowNode1" presStyleIdx="5" presStyleCnt="8" custScaleX="111983">
        <dgm:presLayoutVars>
          <dgm:bulletEnabled val="1"/>
        </dgm:presLayoutVars>
      </dgm:prSet>
      <dgm:spPr/>
    </dgm:pt>
    <dgm:pt modelId="{F8289AD8-2174-4EE0-BE68-8047AE698C8F}" type="pres">
      <dgm:prSet presAssocID="{2D357448-3D11-4D4D-9C69-57763710D166}" presName="spacing" presStyleCnt="0"/>
      <dgm:spPr/>
    </dgm:pt>
    <dgm:pt modelId="{85C1351D-5E86-40C4-9923-84A5CB93E2CD}" type="pres">
      <dgm:prSet presAssocID="{2244B39C-61DC-4E35-86B5-006772EAFDD1}" presName="linNode" presStyleCnt="0"/>
      <dgm:spPr/>
    </dgm:pt>
    <dgm:pt modelId="{0821461F-8B7C-4EDD-80F5-0BC98B27F171}" type="pres">
      <dgm:prSet presAssocID="{2244B39C-61DC-4E35-86B5-006772EAFDD1}" presName="parentShp" presStyleLbl="node1" presStyleIdx="6" presStyleCnt="8" custScaleX="75347">
        <dgm:presLayoutVars>
          <dgm:bulletEnabled val="1"/>
        </dgm:presLayoutVars>
      </dgm:prSet>
      <dgm:spPr/>
    </dgm:pt>
    <dgm:pt modelId="{51EA8229-B10B-4E21-8599-2DE9DE20EC58}" type="pres">
      <dgm:prSet presAssocID="{2244B39C-61DC-4E35-86B5-006772EAFDD1}" presName="childShp" presStyleLbl="bgAccFollowNode1" presStyleIdx="6" presStyleCnt="8" custScaleX="111983">
        <dgm:presLayoutVars>
          <dgm:bulletEnabled val="1"/>
        </dgm:presLayoutVars>
      </dgm:prSet>
      <dgm:spPr/>
    </dgm:pt>
    <dgm:pt modelId="{493A3933-905E-44EF-9B9B-5DEBC444FF88}" type="pres">
      <dgm:prSet presAssocID="{516610BE-5A2C-4DAB-A482-BBC2EC5BE3D1}" presName="spacing" presStyleCnt="0"/>
      <dgm:spPr/>
    </dgm:pt>
    <dgm:pt modelId="{FEE25147-4E64-42D4-883F-87920E13A221}" type="pres">
      <dgm:prSet presAssocID="{26CD68BA-57CC-486A-ACCB-E4866815EF06}" presName="linNode" presStyleCnt="0"/>
      <dgm:spPr/>
    </dgm:pt>
    <dgm:pt modelId="{F24165A5-FF00-4A85-B7D3-3D8C2B47650B}" type="pres">
      <dgm:prSet presAssocID="{26CD68BA-57CC-486A-ACCB-E4866815EF06}" presName="parentShp" presStyleLbl="node1" presStyleIdx="7" presStyleCnt="8" custScaleX="75347">
        <dgm:presLayoutVars>
          <dgm:bulletEnabled val="1"/>
        </dgm:presLayoutVars>
      </dgm:prSet>
      <dgm:spPr/>
    </dgm:pt>
    <dgm:pt modelId="{EA75DF1E-AA7C-42F6-A183-C24631A54F0B}" type="pres">
      <dgm:prSet presAssocID="{26CD68BA-57CC-486A-ACCB-E4866815EF06}" presName="childShp" presStyleLbl="bgAccFollowNode1" presStyleIdx="7" presStyleCnt="8" custScaleX="111983">
        <dgm:presLayoutVars>
          <dgm:bulletEnabled val="1"/>
        </dgm:presLayoutVars>
      </dgm:prSet>
      <dgm:spPr/>
    </dgm:pt>
  </dgm:ptLst>
  <dgm:cxnLst>
    <dgm:cxn modelId="{64CCEA0A-05FC-42A2-9E36-AC977D301B35}" srcId="{48C8D6AF-311B-4C72-B765-44640BDC38E6}" destId="{15AC01D0-451A-4F20-A304-F86A054A56E0}" srcOrd="0" destOrd="0" parTransId="{0F956B96-6BEB-4FBA-A193-07FA5AFA46F1}" sibTransId="{510EAF08-6531-4BED-A76F-3826EDD6F88B}"/>
    <dgm:cxn modelId="{1B870B0F-B759-496D-9AA6-D469E29D3C4A}" type="presOf" srcId="{2244B39C-61DC-4E35-86B5-006772EAFDD1}" destId="{0821461F-8B7C-4EDD-80F5-0BC98B27F171}" srcOrd="0" destOrd="0" presId="urn:microsoft.com/office/officeart/2005/8/layout/vList6"/>
    <dgm:cxn modelId="{573B5B23-3855-4B33-95ED-C0BFF1C23B19}" srcId="{0280CE24-23ED-42E4-B14A-037C9888A6C7}" destId="{47C8CCE6-21D3-4669-83E3-DBDEE86CF41B}" srcOrd="0" destOrd="0" parTransId="{DD485046-5FDE-4634-84D3-D8671E0BFF52}" sibTransId="{F4E509C4-D5CB-493A-A844-BB0151E30EE5}"/>
    <dgm:cxn modelId="{600DE629-3F84-4976-B465-3AC220D9C535}" srcId="{AA18E13D-9410-4C94-8D5A-67187785F9B7}" destId="{26CD68BA-57CC-486A-ACCB-E4866815EF06}" srcOrd="7" destOrd="0" parTransId="{C4B2D207-DA53-4B13-B62D-E98E07782397}" sibTransId="{A68A5F21-7DDF-457F-9FDC-D01825C5755C}"/>
    <dgm:cxn modelId="{C357A62C-0F87-40AA-BBB9-6B049FEC7A9D}" srcId="{26CD68BA-57CC-486A-ACCB-E4866815EF06}" destId="{D671BE99-1766-41CE-B95B-DEB69BB63EC8}" srcOrd="0" destOrd="0" parTransId="{B0055747-C3A6-4995-A79F-24C34F35E748}" sibTransId="{46EB95BF-0583-4456-B736-793FEE32CDC8}"/>
    <dgm:cxn modelId="{70EFF52E-1196-490B-A9A4-2DD739398CCD}" srcId="{7B9A0A4C-A9FC-40CF-BFE8-16FFFD29A92B}" destId="{31CDE146-858B-494B-8C85-A99E070F7E03}" srcOrd="0" destOrd="0" parTransId="{56A42982-3C8C-41DA-B1A6-F4AA5A45290C}" sibTransId="{670E8126-E434-4650-B23B-005B7BE1B406}"/>
    <dgm:cxn modelId="{174C6134-5B31-4AD7-AF93-7FDB1E417D76}" srcId="{AA18E13D-9410-4C94-8D5A-67187785F9B7}" destId="{48C8D6AF-311B-4C72-B765-44640BDC38E6}" srcOrd="3" destOrd="0" parTransId="{BCC440C0-0AF0-4E90-B268-8E25C0DFB568}" sibTransId="{8283E8D9-34A1-4074-8B9A-F3DF69530B22}"/>
    <dgm:cxn modelId="{EC250E3B-FA45-41E5-A124-408B1504BF16}" srcId="{AA18E13D-9410-4C94-8D5A-67187785F9B7}" destId="{F8559ACF-57A1-44F5-AAB8-77012BA9F788}" srcOrd="0" destOrd="0" parTransId="{84E9ED31-91FA-4941-8038-B46B570FB1FE}" sibTransId="{555DBC23-8DBF-4D5B-9025-10DEE54E6436}"/>
    <dgm:cxn modelId="{CF786F43-8BD6-40FE-9633-DA2A4F1215E1}" type="presOf" srcId="{F8559ACF-57A1-44F5-AAB8-77012BA9F788}" destId="{29C125EA-172E-4678-A511-56A3C5C55820}" srcOrd="0" destOrd="0" presId="urn:microsoft.com/office/officeart/2005/8/layout/vList6"/>
    <dgm:cxn modelId="{35FD7864-3AD1-4233-90C7-43DEC95DE984}" type="presOf" srcId="{A8EF9131-F1DE-435E-99DD-D0ED577CAC33}" destId="{462C38BD-EB2A-4633-BEBC-44A358B7FF7E}" srcOrd="0" destOrd="0" presId="urn:microsoft.com/office/officeart/2005/8/layout/vList6"/>
    <dgm:cxn modelId="{99D0816B-B8E3-414B-8A8A-E8476806FD28}" srcId="{AA18E13D-9410-4C94-8D5A-67187785F9B7}" destId="{4AFEE904-3267-4B27-BF8A-E9BBEFA25523}" srcOrd="5" destOrd="0" parTransId="{E3B6FA1A-F316-4608-A94E-252B0DBD6CA7}" sibTransId="{2D357448-3D11-4D4D-9C69-57763710D166}"/>
    <dgm:cxn modelId="{BF32FE6C-6991-4522-8545-0503D0DB348A}" type="presOf" srcId="{AA18E13D-9410-4C94-8D5A-67187785F9B7}" destId="{EDD0ABDE-084A-47DA-A219-D80DA0D6DEC0}" srcOrd="0" destOrd="0" presId="urn:microsoft.com/office/officeart/2005/8/layout/vList6"/>
    <dgm:cxn modelId="{481F9551-9638-4F97-A48E-AAA663C81A0F}" srcId="{AA18E13D-9410-4C94-8D5A-67187785F9B7}" destId="{A8EF9131-F1DE-435E-99DD-D0ED577CAC33}" srcOrd="4" destOrd="0" parTransId="{53C976B0-3C64-4083-9D2A-593A705A1474}" sibTransId="{CA656F44-B055-4A72-AC0E-1046DDB17D1A}"/>
    <dgm:cxn modelId="{51B8C772-7410-44D4-89AA-BDAC6FAD8D50}" type="presOf" srcId="{15AC01D0-451A-4F20-A304-F86A054A56E0}" destId="{69C2DACB-176B-4C3F-A07C-BD6BE57A29BB}" srcOrd="0" destOrd="0" presId="urn:microsoft.com/office/officeart/2005/8/layout/vList6"/>
    <dgm:cxn modelId="{45DF5154-B4DE-4338-8D62-7AEEE3567000}" type="presOf" srcId="{4AFEE904-3267-4B27-BF8A-E9BBEFA25523}" destId="{86820873-FA0D-4398-A80B-977DC22D2F89}" srcOrd="0" destOrd="0" presId="urn:microsoft.com/office/officeart/2005/8/layout/vList6"/>
    <dgm:cxn modelId="{00BB4275-8B1C-4BE2-823F-8F447E13D1CD}" type="presOf" srcId="{0280CE24-23ED-42E4-B14A-037C9888A6C7}" destId="{82FC78B8-3845-4931-9D37-7695E8A84A4E}" srcOrd="0" destOrd="0" presId="urn:microsoft.com/office/officeart/2005/8/layout/vList6"/>
    <dgm:cxn modelId="{B3811557-20EC-499C-ADCD-8C308EB95A10}" type="presOf" srcId="{F5AA2327-7726-45C7-AAC8-169749BE0D06}" destId="{296C2F33-51FD-4743-9A9F-FD34584493D7}" srcOrd="0" destOrd="0" presId="urn:microsoft.com/office/officeart/2005/8/layout/vList6"/>
    <dgm:cxn modelId="{FF9A117E-6F76-402E-9FF0-6348A509184A}" srcId="{AA18E13D-9410-4C94-8D5A-67187785F9B7}" destId="{7B9A0A4C-A9FC-40CF-BFE8-16FFFD29A92B}" srcOrd="2" destOrd="0" parTransId="{BF4A3F0D-6BFD-4C1D-BCFE-B0FF9F5AB74F}" sibTransId="{B7373763-1D85-4C67-A61B-FECFEC57176E}"/>
    <dgm:cxn modelId="{9FBA1E7E-63C5-4329-A3A4-77209AB264A3}" type="presOf" srcId="{7048F639-EC7E-4A1A-A935-7C63CB8E4894}" destId="{73F55F7F-47E0-4C9F-8C1A-A08F20CE5891}" srcOrd="0" destOrd="0" presId="urn:microsoft.com/office/officeart/2005/8/layout/vList6"/>
    <dgm:cxn modelId="{216A8E8C-11F4-4E72-8CE7-70DED96B4ACC}" srcId="{4AFEE904-3267-4B27-BF8A-E9BBEFA25523}" destId="{F5AA2327-7726-45C7-AAC8-169749BE0D06}" srcOrd="0" destOrd="0" parTransId="{3E4ECB5D-2799-478A-B458-47E1BDE7B25B}" sibTransId="{AB694FE3-4AB6-4DA2-AC86-ADAC2A226B4D}"/>
    <dgm:cxn modelId="{436A7A8F-8D49-48BC-AAC2-E27596640148}" type="presOf" srcId="{26CD68BA-57CC-486A-ACCB-E4866815EF06}" destId="{F24165A5-FF00-4A85-B7D3-3D8C2B47650B}" srcOrd="0" destOrd="0" presId="urn:microsoft.com/office/officeart/2005/8/layout/vList6"/>
    <dgm:cxn modelId="{FC3ACAAA-BD59-4AB0-B6E3-77E9CE8CC3AD}" type="presOf" srcId="{D671BE99-1766-41CE-B95B-DEB69BB63EC8}" destId="{EA75DF1E-AA7C-42F6-A183-C24631A54F0B}" srcOrd="0" destOrd="0" presId="urn:microsoft.com/office/officeart/2005/8/layout/vList6"/>
    <dgm:cxn modelId="{F1E64EB4-EC65-4D4D-A11F-B3D23CE1D9C7}" srcId="{F8559ACF-57A1-44F5-AAB8-77012BA9F788}" destId="{7048F639-EC7E-4A1A-A935-7C63CB8E4894}" srcOrd="0" destOrd="0" parTransId="{3621FDE9-B470-42D0-B087-FCA1E844690D}" sibTransId="{DBAC3FF2-9796-4DA0-8E63-976210B7C993}"/>
    <dgm:cxn modelId="{EE5CECB6-7B59-4867-BC40-87F977C66A92}" type="presOf" srcId="{20EAB21A-FB1F-4958-86BA-2A1F7B4077A3}" destId="{8580EB9A-6B24-419B-8D00-2778ADE0B56A}" srcOrd="0" destOrd="0" presId="urn:microsoft.com/office/officeart/2005/8/layout/vList6"/>
    <dgm:cxn modelId="{2EACB9B8-9929-464E-8E37-85FF2096B879}" type="presOf" srcId="{47C8CCE6-21D3-4669-83E3-DBDEE86CF41B}" destId="{DD0C4C7B-338D-4A92-8958-26FE0BE7A64F}" srcOrd="0" destOrd="0" presId="urn:microsoft.com/office/officeart/2005/8/layout/vList6"/>
    <dgm:cxn modelId="{7FDDF1BA-0389-44DA-87B4-2419EC187516}" srcId="{A8EF9131-F1DE-435E-99DD-D0ED577CAC33}" destId="{20EAB21A-FB1F-4958-86BA-2A1F7B4077A3}" srcOrd="0" destOrd="0" parTransId="{37E5158E-34B4-4637-ACBB-1509970B66DD}" sibTransId="{829BBE27-6002-4153-B133-2FA206A94F61}"/>
    <dgm:cxn modelId="{68773ACD-33E6-4547-B428-4285F6AF2377}" type="presOf" srcId="{31CDE146-858B-494B-8C85-A99E070F7E03}" destId="{C7CA6E80-DCC5-42DD-A0D6-C54E57EE28AD}" srcOrd="0" destOrd="0" presId="urn:microsoft.com/office/officeart/2005/8/layout/vList6"/>
    <dgm:cxn modelId="{E354CECF-69B4-44DE-90BF-A2B6E16541C8}" srcId="{AA18E13D-9410-4C94-8D5A-67187785F9B7}" destId="{2244B39C-61DC-4E35-86B5-006772EAFDD1}" srcOrd="6" destOrd="0" parTransId="{58DC8DDB-4068-4B5D-9FBE-8F2E1DCC4077}" sibTransId="{516610BE-5A2C-4DAB-A482-BBC2EC5BE3D1}"/>
    <dgm:cxn modelId="{FA635DD8-3C7F-4BB6-9A6B-91213AFE492A}" type="presOf" srcId="{A39B2410-9B1A-4CD3-A13C-9C3FB60DECC4}" destId="{51EA8229-B10B-4E21-8599-2DE9DE20EC58}" srcOrd="0" destOrd="0" presId="urn:microsoft.com/office/officeart/2005/8/layout/vList6"/>
    <dgm:cxn modelId="{925DD1D8-3FDA-44B0-A9BB-9628A8C4B935}" srcId="{AA18E13D-9410-4C94-8D5A-67187785F9B7}" destId="{0280CE24-23ED-42E4-B14A-037C9888A6C7}" srcOrd="1" destOrd="0" parTransId="{D4FDF18E-0151-4E8E-ACE3-A113E39B1ADD}" sibTransId="{A5EDDD5C-D0A5-4E4F-90C7-155FCD161255}"/>
    <dgm:cxn modelId="{B38702E1-603A-416C-99D5-834A6C0E2676}" type="presOf" srcId="{7B9A0A4C-A9FC-40CF-BFE8-16FFFD29A92B}" destId="{2C564FD7-A121-4E4E-AD91-07B362ABC854}" srcOrd="0" destOrd="0" presId="urn:microsoft.com/office/officeart/2005/8/layout/vList6"/>
    <dgm:cxn modelId="{F489FBE9-5B0A-42CB-BAC9-EF59EC4966D9}" srcId="{2244B39C-61DC-4E35-86B5-006772EAFDD1}" destId="{A39B2410-9B1A-4CD3-A13C-9C3FB60DECC4}" srcOrd="0" destOrd="0" parTransId="{017440D0-CF43-4526-8100-8920AC5BFF5C}" sibTransId="{CB26D8BE-AE66-4B6C-BFC4-7A57045F6045}"/>
    <dgm:cxn modelId="{AC4EFEF6-4357-4B84-B400-D6DE209375E7}" type="presOf" srcId="{48C8D6AF-311B-4C72-B765-44640BDC38E6}" destId="{D4D6ECCB-60A3-45F1-B3AD-465EFC7CC223}" srcOrd="0" destOrd="0" presId="urn:microsoft.com/office/officeart/2005/8/layout/vList6"/>
    <dgm:cxn modelId="{C38B5679-215B-48E9-8A1A-7BADA40D04D3}" type="presParOf" srcId="{EDD0ABDE-084A-47DA-A219-D80DA0D6DEC0}" destId="{0C976DFD-0D38-4E63-B45B-A1DA0E3C69D6}" srcOrd="0" destOrd="0" presId="urn:microsoft.com/office/officeart/2005/8/layout/vList6"/>
    <dgm:cxn modelId="{87E88404-1360-487C-B60B-B1F43E618774}" type="presParOf" srcId="{0C976DFD-0D38-4E63-B45B-A1DA0E3C69D6}" destId="{29C125EA-172E-4678-A511-56A3C5C55820}" srcOrd="0" destOrd="0" presId="urn:microsoft.com/office/officeart/2005/8/layout/vList6"/>
    <dgm:cxn modelId="{0C391754-41D3-4D8C-9E34-70D2880A0F9A}" type="presParOf" srcId="{0C976DFD-0D38-4E63-B45B-A1DA0E3C69D6}" destId="{73F55F7F-47E0-4C9F-8C1A-A08F20CE5891}" srcOrd="1" destOrd="0" presId="urn:microsoft.com/office/officeart/2005/8/layout/vList6"/>
    <dgm:cxn modelId="{48B7A669-33B6-44C3-B19D-3C76DE61D2EB}" type="presParOf" srcId="{EDD0ABDE-084A-47DA-A219-D80DA0D6DEC0}" destId="{FC8C9E45-EB8F-427D-80AB-4BF04F72C31E}" srcOrd="1" destOrd="0" presId="urn:microsoft.com/office/officeart/2005/8/layout/vList6"/>
    <dgm:cxn modelId="{9512F3D8-D0EC-40DB-98FC-CE8517E7C890}" type="presParOf" srcId="{EDD0ABDE-084A-47DA-A219-D80DA0D6DEC0}" destId="{CC5AAAC3-BCB3-4CE6-9143-7EE025F60472}" srcOrd="2" destOrd="0" presId="urn:microsoft.com/office/officeart/2005/8/layout/vList6"/>
    <dgm:cxn modelId="{19D02DC4-484B-4D8F-980F-1020D3CE5F5C}" type="presParOf" srcId="{CC5AAAC3-BCB3-4CE6-9143-7EE025F60472}" destId="{82FC78B8-3845-4931-9D37-7695E8A84A4E}" srcOrd="0" destOrd="0" presId="urn:microsoft.com/office/officeart/2005/8/layout/vList6"/>
    <dgm:cxn modelId="{1B944087-9559-4DEE-9583-4DCA2F87315A}" type="presParOf" srcId="{CC5AAAC3-BCB3-4CE6-9143-7EE025F60472}" destId="{DD0C4C7B-338D-4A92-8958-26FE0BE7A64F}" srcOrd="1" destOrd="0" presId="urn:microsoft.com/office/officeart/2005/8/layout/vList6"/>
    <dgm:cxn modelId="{562619BB-F595-4F62-8A27-5714E72C6FF4}" type="presParOf" srcId="{EDD0ABDE-084A-47DA-A219-D80DA0D6DEC0}" destId="{DC4B77D9-A093-46C2-88FE-C752AC38A2A3}" srcOrd="3" destOrd="0" presId="urn:microsoft.com/office/officeart/2005/8/layout/vList6"/>
    <dgm:cxn modelId="{704DA7AD-6805-47CD-8A76-76A4BFE48F60}" type="presParOf" srcId="{EDD0ABDE-084A-47DA-A219-D80DA0D6DEC0}" destId="{38F19A12-31ED-4E27-AB5D-1D29F5F66A8B}" srcOrd="4" destOrd="0" presId="urn:microsoft.com/office/officeart/2005/8/layout/vList6"/>
    <dgm:cxn modelId="{2E76B77D-D20B-4E92-928A-0645798140D9}" type="presParOf" srcId="{38F19A12-31ED-4E27-AB5D-1D29F5F66A8B}" destId="{2C564FD7-A121-4E4E-AD91-07B362ABC854}" srcOrd="0" destOrd="0" presId="urn:microsoft.com/office/officeart/2005/8/layout/vList6"/>
    <dgm:cxn modelId="{EEA1FBD3-C9B1-4A45-B9AA-F134CE2A59D3}" type="presParOf" srcId="{38F19A12-31ED-4E27-AB5D-1D29F5F66A8B}" destId="{C7CA6E80-DCC5-42DD-A0D6-C54E57EE28AD}" srcOrd="1" destOrd="0" presId="urn:microsoft.com/office/officeart/2005/8/layout/vList6"/>
    <dgm:cxn modelId="{76B53516-71F9-44AE-8972-BB8C89BE142A}" type="presParOf" srcId="{EDD0ABDE-084A-47DA-A219-D80DA0D6DEC0}" destId="{5EDC204C-67F5-4704-8354-78DA1614E5D0}" srcOrd="5" destOrd="0" presId="urn:microsoft.com/office/officeart/2005/8/layout/vList6"/>
    <dgm:cxn modelId="{090A782C-B492-488B-8239-2D1C60B842ED}" type="presParOf" srcId="{EDD0ABDE-084A-47DA-A219-D80DA0D6DEC0}" destId="{AE8444C3-5E42-410D-87E7-975FDD92F489}" srcOrd="6" destOrd="0" presId="urn:microsoft.com/office/officeart/2005/8/layout/vList6"/>
    <dgm:cxn modelId="{7869833F-5202-4B6D-AD11-AD0CE8A78140}" type="presParOf" srcId="{AE8444C3-5E42-410D-87E7-975FDD92F489}" destId="{D4D6ECCB-60A3-45F1-B3AD-465EFC7CC223}" srcOrd="0" destOrd="0" presId="urn:microsoft.com/office/officeart/2005/8/layout/vList6"/>
    <dgm:cxn modelId="{FE0399EC-06C7-47FF-804A-D739D71CB1A5}" type="presParOf" srcId="{AE8444C3-5E42-410D-87E7-975FDD92F489}" destId="{69C2DACB-176B-4C3F-A07C-BD6BE57A29BB}" srcOrd="1" destOrd="0" presId="urn:microsoft.com/office/officeart/2005/8/layout/vList6"/>
    <dgm:cxn modelId="{E628879D-AFA5-49D3-9869-2212B345332A}" type="presParOf" srcId="{EDD0ABDE-084A-47DA-A219-D80DA0D6DEC0}" destId="{8DE74FC8-2DD8-4A9C-B552-B72C83D33EE1}" srcOrd="7" destOrd="0" presId="urn:microsoft.com/office/officeart/2005/8/layout/vList6"/>
    <dgm:cxn modelId="{064E0975-EF87-48BF-B376-9FFBEA9C82F0}" type="presParOf" srcId="{EDD0ABDE-084A-47DA-A219-D80DA0D6DEC0}" destId="{274D8257-D175-4BB5-81DB-BBF68EEE65A2}" srcOrd="8" destOrd="0" presId="urn:microsoft.com/office/officeart/2005/8/layout/vList6"/>
    <dgm:cxn modelId="{28429765-020E-44F0-A0B2-590D7850E9A2}" type="presParOf" srcId="{274D8257-D175-4BB5-81DB-BBF68EEE65A2}" destId="{462C38BD-EB2A-4633-BEBC-44A358B7FF7E}" srcOrd="0" destOrd="0" presId="urn:microsoft.com/office/officeart/2005/8/layout/vList6"/>
    <dgm:cxn modelId="{6E918E0C-102E-4A7F-A98C-DD430421A428}" type="presParOf" srcId="{274D8257-D175-4BB5-81DB-BBF68EEE65A2}" destId="{8580EB9A-6B24-419B-8D00-2778ADE0B56A}" srcOrd="1" destOrd="0" presId="urn:microsoft.com/office/officeart/2005/8/layout/vList6"/>
    <dgm:cxn modelId="{3736496A-2D47-450F-AC74-3E29D53DC9DF}" type="presParOf" srcId="{EDD0ABDE-084A-47DA-A219-D80DA0D6DEC0}" destId="{D88989B4-DEDD-4C0B-8432-E79062A662E1}" srcOrd="9" destOrd="0" presId="urn:microsoft.com/office/officeart/2005/8/layout/vList6"/>
    <dgm:cxn modelId="{C239C9E2-247B-4E7C-96F5-460F688D1060}" type="presParOf" srcId="{EDD0ABDE-084A-47DA-A219-D80DA0D6DEC0}" destId="{F2ABF7E8-3D17-442D-9800-938A15FFBB07}" srcOrd="10" destOrd="0" presId="urn:microsoft.com/office/officeart/2005/8/layout/vList6"/>
    <dgm:cxn modelId="{A2E23DB2-54E0-4D2C-998D-86B176E82DF8}" type="presParOf" srcId="{F2ABF7E8-3D17-442D-9800-938A15FFBB07}" destId="{86820873-FA0D-4398-A80B-977DC22D2F89}" srcOrd="0" destOrd="0" presId="urn:microsoft.com/office/officeart/2005/8/layout/vList6"/>
    <dgm:cxn modelId="{8DC5676E-540E-4950-8D81-2C60680628F1}" type="presParOf" srcId="{F2ABF7E8-3D17-442D-9800-938A15FFBB07}" destId="{296C2F33-51FD-4743-9A9F-FD34584493D7}" srcOrd="1" destOrd="0" presId="urn:microsoft.com/office/officeart/2005/8/layout/vList6"/>
    <dgm:cxn modelId="{1F6B9352-7BBF-446D-9B55-392CBFD97B18}" type="presParOf" srcId="{EDD0ABDE-084A-47DA-A219-D80DA0D6DEC0}" destId="{F8289AD8-2174-4EE0-BE68-8047AE698C8F}" srcOrd="11" destOrd="0" presId="urn:microsoft.com/office/officeart/2005/8/layout/vList6"/>
    <dgm:cxn modelId="{18E9BC4E-CF96-4E07-AE3C-915053E2852A}" type="presParOf" srcId="{EDD0ABDE-084A-47DA-A219-D80DA0D6DEC0}" destId="{85C1351D-5E86-40C4-9923-84A5CB93E2CD}" srcOrd="12" destOrd="0" presId="urn:microsoft.com/office/officeart/2005/8/layout/vList6"/>
    <dgm:cxn modelId="{52B66DBD-5240-40E9-A683-2C7DC716751E}" type="presParOf" srcId="{85C1351D-5E86-40C4-9923-84A5CB93E2CD}" destId="{0821461F-8B7C-4EDD-80F5-0BC98B27F171}" srcOrd="0" destOrd="0" presId="urn:microsoft.com/office/officeart/2005/8/layout/vList6"/>
    <dgm:cxn modelId="{D767327C-2AC3-4395-81B4-8572DC9F70B1}" type="presParOf" srcId="{85C1351D-5E86-40C4-9923-84A5CB93E2CD}" destId="{51EA8229-B10B-4E21-8599-2DE9DE20EC58}" srcOrd="1" destOrd="0" presId="urn:microsoft.com/office/officeart/2005/8/layout/vList6"/>
    <dgm:cxn modelId="{79A8EED4-8260-4DCF-91BB-C9179257A864}" type="presParOf" srcId="{EDD0ABDE-084A-47DA-A219-D80DA0D6DEC0}" destId="{493A3933-905E-44EF-9B9B-5DEBC444FF88}" srcOrd="13" destOrd="0" presId="urn:microsoft.com/office/officeart/2005/8/layout/vList6"/>
    <dgm:cxn modelId="{86285FB0-5A2A-41AC-A899-91B02F9002BD}" type="presParOf" srcId="{EDD0ABDE-084A-47DA-A219-D80DA0D6DEC0}" destId="{FEE25147-4E64-42D4-883F-87920E13A221}" srcOrd="14" destOrd="0" presId="urn:microsoft.com/office/officeart/2005/8/layout/vList6"/>
    <dgm:cxn modelId="{C31539B1-78D2-4BE9-84D5-A77A2DB3D5BE}" type="presParOf" srcId="{FEE25147-4E64-42D4-883F-87920E13A221}" destId="{F24165A5-FF00-4A85-B7D3-3D8C2B47650B}" srcOrd="0" destOrd="0" presId="urn:microsoft.com/office/officeart/2005/8/layout/vList6"/>
    <dgm:cxn modelId="{0B7CC9F1-DDA2-46DC-A7F7-792792E8A782}" type="presParOf" srcId="{FEE25147-4E64-42D4-883F-87920E13A221}" destId="{EA75DF1E-AA7C-42F6-A183-C24631A54F0B}"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271A89-F281-4EA6-BF22-05305E0C874B}"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A02F9954-8BF2-48D7-9446-1A7D0996103D}">
      <dgm:prSet custT="1"/>
      <dgm:spPr/>
      <dgm:t>
        <a:bodyPr/>
        <a:lstStyle/>
        <a:p>
          <a:pPr algn="just"/>
          <a:r>
            <a:rPr lang="en-IN" sz="2400" b="1" dirty="0">
              <a:solidFill>
                <a:srgbClr val="C00000"/>
              </a:solidFill>
            </a:rPr>
            <a:t>Skills Requirement:</a:t>
          </a:r>
          <a:r>
            <a:rPr lang="en-IN" sz="2400" dirty="0"/>
            <a:t> </a:t>
          </a:r>
          <a:r>
            <a:rPr lang="en-US" sz="2400" b="0" i="0" dirty="0"/>
            <a:t>With regular advancements in </a:t>
          </a:r>
          <a:r>
            <a:rPr lang="en-US" sz="2400" b="1" i="0" dirty="0"/>
            <a:t>technology,</a:t>
          </a:r>
          <a:r>
            <a:rPr lang="en-US" sz="2400" b="0" i="0" dirty="0"/>
            <a:t> it is essential to remain updated on tools, platforms, and methods to quickly respond to any changes.</a:t>
          </a:r>
          <a:endParaRPr lang="en-US" sz="2400" dirty="0"/>
        </a:p>
      </dgm:t>
    </dgm:pt>
    <dgm:pt modelId="{77A00D50-5D81-4ACA-B8FD-B244A27BC33A}" type="parTrans" cxnId="{C4559E75-5D6B-4DE1-99C3-F4B91F80D9D0}">
      <dgm:prSet/>
      <dgm:spPr/>
      <dgm:t>
        <a:bodyPr/>
        <a:lstStyle/>
        <a:p>
          <a:pPr algn="just"/>
          <a:endParaRPr lang="en-US"/>
        </a:p>
      </dgm:t>
    </dgm:pt>
    <dgm:pt modelId="{3A5341EA-6E75-4FE9-8232-AEF8C62019B7}" type="sibTrans" cxnId="{C4559E75-5D6B-4DE1-99C3-F4B91F80D9D0}">
      <dgm:prSet/>
      <dgm:spPr/>
      <dgm:t>
        <a:bodyPr/>
        <a:lstStyle/>
        <a:p>
          <a:pPr algn="just"/>
          <a:endParaRPr lang="en-US"/>
        </a:p>
      </dgm:t>
    </dgm:pt>
    <dgm:pt modelId="{2284E131-E593-4DAF-BBED-4EF7B250A400}">
      <dgm:prSet custT="1"/>
      <dgm:spPr/>
      <dgm:t>
        <a:bodyPr/>
        <a:lstStyle/>
        <a:p>
          <a:pPr algn="just"/>
          <a:r>
            <a:rPr lang="en-IN" sz="2400" b="1" kern="1200" dirty="0">
              <a:solidFill>
                <a:srgbClr val="C00000"/>
              </a:solidFill>
              <a:latin typeface="Roboto Condensed"/>
              <a:ea typeface="+mn-ea"/>
              <a:cs typeface="+mn-cs"/>
            </a:rPr>
            <a:t>Time-consuming: </a:t>
          </a:r>
          <a:r>
            <a:rPr lang="en-US" sz="2400" b="0" i="0" kern="1200" dirty="0"/>
            <a:t>We need to plan and implement </a:t>
          </a:r>
          <a:r>
            <a:rPr lang="en-US" sz="2400" b="1" i="0" kern="1200" dirty="0"/>
            <a:t>various tasks </a:t>
          </a:r>
          <a:r>
            <a:rPr lang="en-US" sz="2400" b="0" i="0" kern="1200" dirty="0"/>
            <a:t>related to optimization of online advertising and creating suitable content for promotions that can take up a lot of time.</a:t>
          </a:r>
          <a:endParaRPr lang="en-US" sz="2400" kern="1200" dirty="0"/>
        </a:p>
      </dgm:t>
    </dgm:pt>
    <dgm:pt modelId="{394D46FC-5210-436F-A4FB-FF28967F466C}" type="parTrans" cxnId="{83A518F1-F20B-42E9-92D4-DD8273E31980}">
      <dgm:prSet/>
      <dgm:spPr/>
      <dgm:t>
        <a:bodyPr/>
        <a:lstStyle/>
        <a:p>
          <a:pPr algn="just"/>
          <a:endParaRPr lang="en-US"/>
        </a:p>
      </dgm:t>
    </dgm:pt>
    <dgm:pt modelId="{E648519C-A191-4AC1-9320-DBEAEEF33E21}" type="sibTrans" cxnId="{83A518F1-F20B-42E9-92D4-DD8273E31980}">
      <dgm:prSet/>
      <dgm:spPr/>
      <dgm:t>
        <a:bodyPr/>
        <a:lstStyle/>
        <a:p>
          <a:pPr algn="just"/>
          <a:endParaRPr lang="en-US"/>
        </a:p>
      </dgm:t>
    </dgm:pt>
    <dgm:pt modelId="{D31AEDEC-3EDE-4556-B41A-08413D7C3093}">
      <dgm:prSet custT="1"/>
      <dgm:spPr/>
      <dgm:t>
        <a:bodyPr/>
        <a:lstStyle/>
        <a:p>
          <a:pPr algn="just"/>
          <a:r>
            <a:rPr lang="en-IN" sz="2400" b="1" kern="1200" dirty="0">
              <a:solidFill>
                <a:srgbClr val="C00000"/>
              </a:solidFill>
              <a:latin typeface="Roboto Condensed"/>
              <a:ea typeface="+mn-ea"/>
              <a:cs typeface="+mn-cs"/>
            </a:rPr>
            <a:t>High Competition: </a:t>
          </a:r>
          <a:r>
            <a:rPr lang="en-US" sz="2400" b="0" i="0" kern="1200" dirty="0"/>
            <a:t>A wider reach to the global audience with digital marketing also requires building capabilities to face </a:t>
          </a:r>
          <a:r>
            <a:rPr lang="en-US" sz="2400" b="1" i="0" kern="1200" dirty="0"/>
            <a:t>global competition. </a:t>
          </a:r>
          <a:endParaRPr lang="en-US" sz="2400" b="1" kern="1200" dirty="0"/>
        </a:p>
      </dgm:t>
    </dgm:pt>
    <dgm:pt modelId="{E96DC271-A845-4023-828F-59012E410956}" type="parTrans" cxnId="{E0CDA11F-FFF5-47E1-9BFB-B5A01D0FD7B5}">
      <dgm:prSet/>
      <dgm:spPr/>
      <dgm:t>
        <a:bodyPr/>
        <a:lstStyle/>
        <a:p>
          <a:pPr algn="just"/>
          <a:endParaRPr lang="en-US"/>
        </a:p>
      </dgm:t>
    </dgm:pt>
    <dgm:pt modelId="{6AFA9436-5AA0-4B9C-9F5A-43E201D1B061}" type="sibTrans" cxnId="{E0CDA11F-FFF5-47E1-9BFB-B5A01D0FD7B5}">
      <dgm:prSet/>
      <dgm:spPr/>
      <dgm:t>
        <a:bodyPr/>
        <a:lstStyle/>
        <a:p>
          <a:pPr algn="just"/>
          <a:endParaRPr lang="en-US"/>
        </a:p>
      </dgm:t>
    </dgm:pt>
    <dgm:pt modelId="{8A0A2B8B-69D2-455F-9082-2631FD1B8649}">
      <dgm:prSet custT="1"/>
      <dgm:spPr/>
      <dgm:t>
        <a:bodyPr/>
        <a:lstStyle/>
        <a:p>
          <a:pPr algn="just"/>
          <a:r>
            <a:rPr lang="en-IN" sz="2400" b="1" kern="1200" dirty="0">
              <a:solidFill>
                <a:srgbClr val="C00000"/>
              </a:solidFill>
              <a:latin typeface="Roboto Condensed"/>
              <a:ea typeface="+mn-ea"/>
              <a:cs typeface="+mn-cs"/>
            </a:rPr>
            <a:t>Complaints and Feedback: </a:t>
          </a:r>
          <a:r>
            <a:rPr lang="en-US" sz="2400" b="0" i="0" kern="1200" dirty="0"/>
            <a:t>Any </a:t>
          </a:r>
          <a:r>
            <a:rPr lang="en-US" sz="2400" b="1" i="0" kern="1200" dirty="0"/>
            <a:t>negative review </a:t>
          </a:r>
          <a:r>
            <a:rPr lang="en-US" sz="2400" b="0" i="0" kern="1200" dirty="0"/>
            <a:t>can create an adverse impact on some part of your customers unless you have a strong foothold through brand loyalty and efficient customer service.</a:t>
          </a:r>
          <a:endParaRPr lang="en-US" sz="2400" kern="1200" dirty="0"/>
        </a:p>
      </dgm:t>
    </dgm:pt>
    <dgm:pt modelId="{C152089A-8182-49B0-9C78-AF1AE48663D8}" type="parTrans" cxnId="{87CA38EF-0EF2-4A0C-BADE-B6CDEF715655}">
      <dgm:prSet/>
      <dgm:spPr/>
      <dgm:t>
        <a:bodyPr/>
        <a:lstStyle/>
        <a:p>
          <a:pPr algn="just"/>
          <a:endParaRPr lang="en-US"/>
        </a:p>
      </dgm:t>
    </dgm:pt>
    <dgm:pt modelId="{5A102FF6-B5AB-4367-8C6E-577F7F8AC634}" type="sibTrans" cxnId="{87CA38EF-0EF2-4A0C-BADE-B6CDEF715655}">
      <dgm:prSet/>
      <dgm:spPr/>
      <dgm:t>
        <a:bodyPr/>
        <a:lstStyle/>
        <a:p>
          <a:pPr algn="just"/>
          <a:endParaRPr lang="en-US"/>
        </a:p>
      </dgm:t>
    </dgm:pt>
    <dgm:pt modelId="{B1E4C075-7961-4022-8E68-987553ED2D17}" type="pres">
      <dgm:prSet presAssocID="{33271A89-F281-4EA6-BF22-05305E0C874B}" presName="vert0" presStyleCnt="0">
        <dgm:presLayoutVars>
          <dgm:dir/>
          <dgm:animOne val="branch"/>
          <dgm:animLvl val="lvl"/>
        </dgm:presLayoutVars>
      </dgm:prSet>
      <dgm:spPr/>
    </dgm:pt>
    <dgm:pt modelId="{FF66FCD1-D613-49A0-AE7A-BEEAF6AA75EF}" type="pres">
      <dgm:prSet presAssocID="{A02F9954-8BF2-48D7-9446-1A7D0996103D}" presName="thickLine" presStyleLbl="alignNode1" presStyleIdx="0" presStyleCnt="4"/>
      <dgm:spPr/>
    </dgm:pt>
    <dgm:pt modelId="{BFACE002-3F43-4FAC-AD2D-A81BB82EB0C3}" type="pres">
      <dgm:prSet presAssocID="{A02F9954-8BF2-48D7-9446-1A7D0996103D}" presName="horz1" presStyleCnt="0"/>
      <dgm:spPr/>
    </dgm:pt>
    <dgm:pt modelId="{DFB2890D-74EB-4015-869D-F642D9DDB1DD}" type="pres">
      <dgm:prSet presAssocID="{A02F9954-8BF2-48D7-9446-1A7D0996103D}" presName="tx1" presStyleLbl="revTx" presStyleIdx="0" presStyleCnt="4"/>
      <dgm:spPr/>
    </dgm:pt>
    <dgm:pt modelId="{B90A0CD5-C22A-4AEF-8BEC-F4FD49BB116C}" type="pres">
      <dgm:prSet presAssocID="{A02F9954-8BF2-48D7-9446-1A7D0996103D}" presName="vert1" presStyleCnt="0"/>
      <dgm:spPr/>
    </dgm:pt>
    <dgm:pt modelId="{89A43BE7-11BB-4CEA-B9FC-CEDBA10D0CB0}" type="pres">
      <dgm:prSet presAssocID="{2284E131-E593-4DAF-BBED-4EF7B250A400}" presName="thickLine" presStyleLbl="alignNode1" presStyleIdx="1" presStyleCnt="4"/>
      <dgm:spPr/>
    </dgm:pt>
    <dgm:pt modelId="{F50891F7-4874-4D7A-BE34-0F96DCE0FCED}" type="pres">
      <dgm:prSet presAssocID="{2284E131-E593-4DAF-BBED-4EF7B250A400}" presName="horz1" presStyleCnt="0"/>
      <dgm:spPr/>
    </dgm:pt>
    <dgm:pt modelId="{0356CEDE-E675-4187-A28C-8677F69314D3}" type="pres">
      <dgm:prSet presAssocID="{2284E131-E593-4DAF-BBED-4EF7B250A400}" presName="tx1" presStyleLbl="revTx" presStyleIdx="1" presStyleCnt="4"/>
      <dgm:spPr/>
    </dgm:pt>
    <dgm:pt modelId="{6DC4474E-0790-4D41-B1D2-EA2FDD7E7F8C}" type="pres">
      <dgm:prSet presAssocID="{2284E131-E593-4DAF-BBED-4EF7B250A400}" presName="vert1" presStyleCnt="0"/>
      <dgm:spPr/>
    </dgm:pt>
    <dgm:pt modelId="{B9BC1190-58F9-48DB-9422-AC62C8D40FD9}" type="pres">
      <dgm:prSet presAssocID="{D31AEDEC-3EDE-4556-B41A-08413D7C3093}" presName="thickLine" presStyleLbl="alignNode1" presStyleIdx="2" presStyleCnt="4"/>
      <dgm:spPr/>
    </dgm:pt>
    <dgm:pt modelId="{AB5AF05C-EF50-4F6D-A7BD-D97E1EE26379}" type="pres">
      <dgm:prSet presAssocID="{D31AEDEC-3EDE-4556-B41A-08413D7C3093}" presName="horz1" presStyleCnt="0"/>
      <dgm:spPr/>
    </dgm:pt>
    <dgm:pt modelId="{FE9A0685-6252-46EE-A17B-8148E83707FF}" type="pres">
      <dgm:prSet presAssocID="{D31AEDEC-3EDE-4556-B41A-08413D7C3093}" presName="tx1" presStyleLbl="revTx" presStyleIdx="2" presStyleCnt="4"/>
      <dgm:spPr/>
    </dgm:pt>
    <dgm:pt modelId="{641A8A79-E1AA-45D7-ACCA-4FFE1FC2CAB7}" type="pres">
      <dgm:prSet presAssocID="{D31AEDEC-3EDE-4556-B41A-08413D7C3093}" presName="vert1" presStyleCnt="0"/>
      <dgm:spPr/>
    </dgm:pt>
    <dgm:pt modelId="{23C6C63D-B771-4C11-B6D7-405652B335E0}" type="pres">
      <dgm:prSet presAssocID="{8A0A2B8B-69D2-455F-9082-2631FD1B8649}" presName="thickLine" presStyleLbl="alignNode1" presStyleIdx="3" presStyleCnt="4"/>
      <dgm:spPr/>
    </dgm:pt>
    <dgm:pt modelId="{3AF65E96-540D-40BB-ABE7-BCFECCCCA3D2}" type="pres">
      <dgm:prSet presAssocID="{8A0A2B8B-69D2-455F-9082-2631FD1B8649}" presName="horz1" presStyleCnt="0"/>
      <dgm:spPr/>
    </dgm:pt>
    <dgm:pt modelId="{6D8BC660-999D-41C0-A539-A8015F5FD0FF}" type="pres">
      <dgm:prSet presAssocID="{8A0A2B8B-69D2-455F-9082-2631FD1B8649}" presName="tx1" presStyleLbl="revTx" presStyleIdx="3" presStyleCnt="4"/>
      <dgm:spPr/>
    </dgm:pt>
    <dgm:pt modelId="{9E6592ED-62DA-4162-AE1C-1379AD950443}" type="pres">
      <dgm:prSet presAssocID="{8A0A2B8B-69D2-455F-9082-2631FD1B8649}" presName="vert1" presStyleCnt="0"/>
      <dgm:spPr/>
    </dgm:pt>
  </dgm:ptLst>
  <dgm:cxnLst>
    <dgm:cxn modelId="{E0CDA11F-FFF5-47E1-9BFB-B5A01D0FD7B5}" srcId="{33271A89-F281-4EA6-BF22-05305E0C874B}" destId="{D31AEDEC-3EDE-4556-B41A-08413D7C3093}" srcOrd="2" destOrd="0" parTransId="{E96DC271-A845-4023-828F-59012E410956}" sibTransId="{6AFA9436-5AA0-4B9C-9F5A-43E201D1B061}"/>
    <dgm:cxn modelId="{94F51320-5CCA-4762-93E0-87AC9B313377}" type="presOf" srcId="{A02F9954-8BF2-48D7-9446-1A7D0996103D}" destId="{DFB2890D-74EB-4015-869D-F642D9DDB1DD}" srcOrd="0" destOrd="0" presId="urn:microsoft.com/office/officeart/2008/layout/LinedList"/>
    <dgm:cxn modelId="{864F7926-A12E-4409-9BF6-F7916B9FEA95}" type="presOf" srcId="{D31AEDEC-3EDE-4556-B41A-08413D7C3093}" destId="{FE9A0685-6252-46EE-A17B-8148E83707FF}" srcOrd="0" destOrd="0" presId="urn:microsoft.com/office/officeart/2008/layout/LinedList"/>
    <dgm:cxn modelId="{C4559E75-5D6B-4DE1-99C3-F4B91F80D9D0}" srcId="{33271A89-F281-4EA6-BF22-05305E0C874B}" destId="{A02F9954-8BF2-48D7-9446-1A7D0996103D}" srcOrd="0" destOrd="0" parTransId="{77A00D50-5D81-4ACA-B8FD-B244A27BC33A}" sibTransId="{3A5341EA-6E75-4FE9-8232-AEF8C62019B7}"/>
    <dgm:cxn modelId="{68529858-9BFC-43CF-B6A5-6B9E054053AE}" type="presOf" srcId="{2284E131-E593-4DAF-BBED-4EF7B250A400}" destId="{0356CEDE-E675-4187-A28C-8677F69314D3}" srcOrd="0" destOrd="0" presId="urn:microsoft.com/office/officeart/2008/layout/LinedList"/>
    <dgm:cxn modelId="{79E75BD4-6897-4589-A4D6-9FB2FF730214}" type="presOf" srcId="{33271A89-F281-4EA6-BF22-05305E0C874B}" destId="{B1E4C075-7961-4022-8E68-987553ED2D17}" srcOrd="0" destOrd="0" presId="urn:microsoft.com/office/officeart/2008/layout/LinedList"/>
    <dgm:cxn modelId="{102982EB-D6ED-4EA1-A01C-C549A7FAC6BC}" type="presOf" srcId="{8A0A2B8B-69D2-455F-9082-2631FD1B8649}" destId="{6D8BC660-999D-41C0-A539-A8015F5FD0FF}" srcOrd="0" destOrd="0" presId="urn:microsoft.com/office/officeart/2008/layout/LinedList"/>
    <dgm:cxn modelId="{87CA38EF-0EF2-4A0C-BADE-B6CDEF715655}" srcId="{33271A89-F281-4EA6-BF22-05305E0C874B}" destId="{8A0A2B8B-69D2-455F-9082-2631FD1B8649}" srcOrd="3" destOrd="0" parTransId="{C152089A-8182-49B0-9C78-AF1AE48663D8}" sibTransId="{5A102FF6-B5AB-4367-8C6E-577F7F8AC634}"/>
    <dgm:cxn modelId="{83A518F1-F20B-42E9-92D4-DD8273E31980}" srcId="{33271A89-F281-4EA6-BF22-05305E0C874B}" destId="{2284E131-E593-4DAF-BBED-4EF7B250A400}" srcOrd="1" destOrd="0" parTransId="{394D46FC-5210-436F-A4FB-FF28967F466C}" sibTransId="{E648519C-A191-4AC1-9320-DBEAEEF33E21}"/>
    <dgm:cxn modelId="{55D87E58-0092-4285-83B8-98BE9E7B6495}" type="presParOf" srcId="{B1E4C075-7961-4022-8E68-987553ED2D17}" destId="{FF66FCD1-D613-49A0-AE7A-BEEAF6AA75EF}" srcOrd="0" destOrd="0" presId="urn:microsoft.com/office/officeart/2008/layout/LinedList"/>
    <dgm:cxn modelId="{2F27795F-AC45-49C2-AEEA-4043657A9870}" type="presParOf" srcId="{B1E4C075-7961-4022-8E68-987553ED2D17}" destId="{BFACE002-3F43-4FAC-AD2D-A81BB82EB0C3}" srcOrd="1" destOrd="0" presId="urn:microsoft.com/office/officeart/2008/layout/LinedList"/>
    <dgm:cxn modelId="{498D63BD-BE86-4701-8B2C-3C1BB03D5484}" type="presParOf" srcId="{BFACE002-3F43-4FAC-AD2D-A81BB82EB0C3}" destId="{DFB2890D-74EB-4015-869D-F642D9DDB1DD}" srcOrd="0" destOrd="0" presId="urn:microsoft.com/office/officeart/2008/layout/LinedList"/>
    <dgm:cxn modelId="{251DAAD3-6505-43D5-9F37-B72A2FAE6308}" type="presParOf" srcId="{BFACE002-3F43-4FAC-AD2D-A81BB82EB0C3}" destId="{B90A0CD5-C22A-4AEF-8BEC-F4FD49BB116C}" srcOrd="1" destOrd="0" presId="urn:microsoft.com/office/officeart/2008/layout/LinedList"/>
    <dgm:cxn modelId="{DF730A4C-33BC-4DD1-A968-61F666F8B1E5}" type="presParOf" srcId="{B1E4C075-7961-4022-8E68-987553ED2D17}" destId="{89A43BE7-11BB-4CEA-B9FC-CEDBA10D0CB0}" srcOrd="2" destOrd="0" presId="urn:microsoft.com/office/officeart/2008/layout/LinedList"/>
    <dgm:cxn modelId="{858F9F26-1BF9-47D5-8394-895FFF94AB50}" type="presParOf" srcId="{B1E4C075-7961-4022-8E68-987553ED2D17}" destId="{F50891F7-4874-4D7A-BE34-0F96DCE0FCED}" srcOrd="3" destOrd="0" presId="urn:microsoft.com/office/officeart/2008/layout/LinedList"/>
    <dgm:cxn modelId="{751935A9-5097-4D1E-A399-6FC8959668D2}" type="presParOf" srcId="{F50891F7-4874-4D7A-BE34-0F96DCE0FCED}" destId="{0356CEDE-E675-4187-A28C-8677F69314D3}" srcOrd="0" destOrd="0" presId="urn:microsoft.com/office/officeart/2008/layout/LinedList"/>
    <dgm:cxn modelId="{6C8C2C6B-2EEA-4D45-A3ED-F455D82D9510}" type="presParOf" srcId="{F50891F7-4874-4D7A-BE34-0F96DCE0FCED}" destId="{6DC4474E-0790-4D41-B1D2-EA2FDD7E7F8C}" srcOrd="1" destOrd="0" presId="urn:microsoft.com/office/officeart/2008/layout/LinedList"/>
    <dgm:cxn modelId="{A96CE4B4-4368-4913-B17B-3D3C4BE4373B}" type="presParOf" srcId="{B1E4C075-7961-4022-8E68-987553ED2D17}" destId="{B9BC1190-58F9-48DB-9422-AC62C8D40FD9}" srcOrd="4" destOrd="0" presId="urn:microsoft.com/office/officeart/2008/layout/LinedList"/>
    <dgm:cxn modelId="{689DEF2C-554B-4E0D-BC3C-9047CD336D6B}" type="presParOf" srcId="{B1E4C075-7961-4022-8E68-987553ED2D17}" destId="{AB5AF05C-EF50-4F6D-A7BD-D97E1EE26379}" srcOrd="5" destOrd="0" presId="urn:microsoft.com/office/officeart/2008/layout/LinedList"/>
    <dgm:cxn modelId="{70B150AE-A215-4079-A1E5-E88601E8C05B}" type="presParOf" srcId="{AB5AF05C-EF50-4F6D-A7BD-D97E1EE26379}" destId="{FE9A0685-6252-46EE-A17B-8148E83707FF}" srcOrd="0" destOrd="0" presId="urn:microsoft.com/office/officeart/2008/layout/LinedList"/>
    <dgm:cxn modelId="{F70E2066-C04C-4B6A-8EB5-7C8435CB97A2}" type="presParOf" srcId="{AB5AF05C-EF50-4F6D-A7BD-D97E1EE26379}" destId="{641A8A79-E1AA-45D7-ACCA-4FFE1FC2CAB7}" srcOrd="1" destOrd="0" presId="urn:microsoft.com/office/officeart/2008/layout/LinedList"/>
    <dgm:cxn modelId="{905F603E-8500-4181-8C6B-DFF44AC14A1D}" type="presParOf" srcId="{B1E4C075-7961-4022-8E68-987553ED2D17}" destId="{23C6C63D-B771-4C11-B6D7-405652B335E0}" srcOrd="6" destOrd="0" presId="urn:microsoft.com/office/officeart/2008/layout/LinedList"/>
    <dgm:cxn modelId="{69AA5B8D-C36A-4BF8-9CDF-2E3789030FF7}" type="presParOf" srcId="{B1E4C075-7961-4022-8E68-987553ED2D17}" destId="{3AF65E96-540D-40BB-ABE7-BCFECCCCA3D2}" srcOrd="7" destOrd="0" presId="urn:microsoft.com/office/officeart/2008/layout/LinedList"/>
    <dgm:cxn modelId="{82CB0183-C2EA-4936-A416-C852FB5D4144}" type="presParOf" srcId="{3AF65E96-540D-40BB-ABE7-BCFECCCCA3D2}" destId="{6D8BC660-999D-41C0-A539-A8015F5FD0FF}" srcOrd="0" destOrd="0" presId="urn:microsoft.com/office/officeart/2008/layout/LinedList"/>
    <dgm:cxn modelId="{D181F8C2-268D-4B24-A2CE-6533A131B8AE}" type="presParOf" srcId="{3AF65E96-540D-40BB-ABE7-BCFECCCCA3D2}" destId="{9E6592ED-62DA-4162-AE1C-1379AD95044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51F156-2EF7-4864-8E9F-4FA281FBEE0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628C8EE-6790-4182-BA23-698F3BCC33AF}">
      <dgm:prSet custT="1"/>
      <dgm:spPr/>
      <dgm:t>
        <a:bodyPr/>
        <a:lstStyle/>
        <a:p>
          <a:pPr algn="just"/>
          <a:r>
            <a:rPr lang="en-IN" sz="2400" b="1" kern="1200" dirty="0">
              <a:solidFill>
                <a:srgbClr val="C00000"/>
              </a:solidFill>
              <a:latin typeface="Roboto Condensed"/>
              <a:ea typeface="+mn-ea"/>
              <a:cs typeface="+mn-cs"/>
            </a:rPr>
            <a:t>Dependability on Technology: </a:t>
          </a:r>
          <a:r>
            <a:rPr lang="en-US" sz="2400" b="0" i="0" kern="1200" dirty="0"/>
            <a:t>There can be instances of failure when the links may not work, the website may not respond, and user may not be able to access website. </a:t>
          </a:r>
        </a:p>
        <a:p>
          <a:pPr algn="just"/>
          <a:r>
            <a:rPr lang="en-US" sz="2400" b="0" i="0" kern="1200" dirty="0"/>
            <a:t>This may create dissatisfaction among the prospective customers that forces them to switch to other brands.</a:t>
          </a:r>
          <a:endParaRPr lang="en-US" sz="2400" kern="1200" dirty="0"/>
        </a:p>
      </dgm:t>
    </dgm:pt>
    <dgm:pt modelId="{C3E4414F-D5FF-4E39-8E5A-BC09DBDF1439}" type="parTrans" cxnId="{34EC9C15-F920-4442-9470-5245BFD3470D}">
      <dgm:prSet/>
      <dgm:spPr/>
      <dgm:t>
        <a:bodyPr/>
        <a:lstStyle/>
        <a:p>
          <a:pPr algn="just"/>
          <a:endParaRPr lang="en-US"/>
        </a:p>
      </dgm:t>
    </dgm:pt>
    <dgm:pt modelId="{062E9C07-D489-42B0-9427-87BCC7F89CA8}" type="sibTrans" cxnId="{34EC9C15-F920-4442-9470-5245BFD3470D}">
      <dgm:prSet/>
      <dgm:spPr/>
      <dgm:t>
        <a:bodyPr/>
        <a:lstStyle/>
        <a:p>
          <a:pPr algn="just"/>
          <a:endParaRPr lang="en-US"/>
        </a:p>
      </dgm:t>
    </dgm:pt>
    <dgm:pt modelId="{74A661E9-3DBF-40E9-965A-AFB028D9BA70}">
      <dgm:prSet custT="1"/>
      <dgm:spPr/>
      <dgm:t>
        <a:bodyPr/>
        <a:lstStyle/>
        <a:p>
          <a:pPr algn="just"/>
          <a:r>
            <a:rPr lang="en-IN" sz="2400" b="1" kern="1200" dirty="0">
              <a:solidFill>
                <a:srgbClr val="C00000"/>
              </a:solidFill>
              <a:latin typeface="Roboto Condensed"/>
              <a:ea typeface="+mn-ea"/>
              <a:cs typeface="+mn-cs"/>
            </a:rPr>
            <a:t>Security and Privacy Issues: </a:t>
          </a:r>
          <a:r>
            <a:rPr lang="en-US" sz="2400" b="0" i="0" kern="1200" dirty="0"/>
            <a:t>The more use of online platforms demands better security and website protection. </a:t>
          </a:r>
        </a:p>
        <a:p>
          <a:pPr algn="just"/>
          <a:r>
            <a:rPr lang="en-US" sz="2400" b="0" i="0" kern="1200" dirty="0"/>
            <a:t>For a digital marketer, securing and safeguarding the network connections by using firewalls and good antivirus is always desirable.</a:t>
          </a:r>
          <a:endParaRPr lang="en-US" sz="2400" kern="1200" dirty="0"/>
        </a:p>
      </dgm:t>
    </dgm:pt>
    <dgm:pt modelId="{744D6085-77F7-4AA9-A8D8-C195C07D6085}" type="parTrans" cxnId="{891A4E59-450E-4FC4-AA3D-065AFD8A0681}">
      <dgm:prSet/>
      <dgm:spPr/>
      <dgm:t>
        <a:bodyPr/>
        <a:lstStyle/>
        <a:p>
          <a:pPr algn="just"/>
          <a:endParaRPr lang="en-US"/>
        </a:p>
      </dgm:t>
    </dgm:pt>
    <dgm:pt modelId="{A339ACED-DD8D-46FA-B857-02F3F3F6000C}" type="sibTrans" cxnId="{891A4E59-450E-4FC4-AA3D-065AFD8A0681}">
      <dgm:prSet/>
      <dgm:spPr/>
      <dgm:t>
        <a:bodyPr/>
        <a:lstStyle/>
        <a:p>
          <a:pPr algn="just"/>
          <a:endParaRPr lang="en-US"/>
        </a:p>
      </dgm:t>
    </dgm:pt>
    <dgm:pt modelId="{3011F5EB-A7A0-4E53-A6CA-B4C093FAC414}" type="pres">
      <dgm:prSet presAssocID="{2651F156-2EF7-4864-8E9F-4FA281FBEE09}" presName="vert0" presStyleCnt="0">
        <dgm:presLayoutVars>
          <dgm:dir/>
          <dgm:animOne val="branch"/>
          <dgm:animLvl val="lvl"/>
        </dgm:presLayoutVars>
      </dgm:prSet>
      <dgm:spPr/>
    </dgm:pt>
    <dgm:pt modelId="{4CF3971B-3539-45CB-BCEE-2BBA62A9869F}" type="pres">
      <dgm:prSet presAssocID="{D628C8EE-6790-4182-BA23-698F3BCC33AF}" presName="thickLine" presStyleLbl="alignNode1" presStyleIdx="0" presStyleCnt="2"/>
      <dgm:spPr/>
    </dgm:pt>
    <dgm:pt modelId="{3A092285-4D81-472C-ADC2-68F589DA8574}" type="pres">
      <dgm:prSet presAssocID="{D628C8EE-6790-4182-BA23-698F3BCC33AF}" presName="horz1" presStyleCnt="0"/>
      <dgm:spPr/>
    </dgm:pt>
    <dgm:pt modelId="{BAE01B31-EBEA-45BA-AF22-D98E3153BE46}" type="pres">
      <dgm:prSet presAssocID="{D628C8EE-6790-4182-BA23-698F3BCC33AF}" presName="tx1" presStyleLbl="revTx" presStyleIdx="0" presStyleCnt="2"/>
      <dgm:spPr/>
    </dgm:pt>
    <dgm:pt modelId="{0736C6E2-1925-4169-A2CC-F8285AE203B2}" type="pres">
      <dgm:prSet presAssocID="{D628C8EE-6790-4182-BA23-698F3BCC33AF}" presName="vert1" presStyleCnt="0"/>
      <dgm:spPr/>
    </dgm:pt>
    <dgm:pt modelId="{DCF6AFE6-30D3-4D3C-B839-3588D57073DC}" type="pres">
      <dgm:prSet presAssocID="{74A661E9-3DBF-40E9-965A-AFB028D9BA70}" presName="thickLine" presStyleLbl="alignNode1" presStyleIdx="1" presStyleCnt="2"/>
      <dgm:spPr/>
    </dgm:pt>
    <dgm:pt modelId="{C428EA17-5E09-4ACB-9E13-4FC7AA8F524C}" type="pres">
      <dgm:prSet presAssocID="{74A661E9-3DBF-40E9-965A-AFB028D9BA70}" presName="horz1" presStyleCnt="0"/>
      <dgm:spPr/>
    </dgm:pt>
    <dgm:pt modelId="{06901601-C422-4B11-89C2-61285BD73227}" type="pres">
      <dgm:prSet presAssocID="{74A661E9-3DBF-40E9-965A-AFB028D9BA70}" presName="tx1" presStyleLbl="revTx" presStyleIdx="1" presStyleCnt="2"/>
      <dgm:spPr/>
    </dgm:pt>
    <dgm:pt modelId="{BFBC4C73-AD0D-4CA6-B61B-DB46DDFDF4C8}" type="pres">
      <dgm:prSet presAssocID="{74A661E9-3DBF-40E9-965A-AFB028D9BA70}" presName="vert1" presStyleCnt="0"/>
      <dgm:spPr/>
    </dgm:pt>
  </dgm:ptLst>
  <dgm:cxnLst>
    <dgm:cxn modelId="{34EC9C15-F920-4442-9470-5245BFD3470D}" srcId="{2651F156-2EF7-4864-8E9F-4FA281FBEE09}" destId="{D628C8EE-6790-4182-BA23-698F3BCC33AF}" srcOrd="0" destOrd="0" parTransId="{C3E4414F-D5FF-4E39-8E5A-BC09DBDF1439}" sibTransId="{062E9C07-D489-42B0-9427-87BCC7F89CA8}"/>
    <dgm:cxn modelId="{E638CF3E-0DC3-418D-9833-8E4492E0C4D8}" type="presOf" srcId="{D628C8EE-6790-4182-BA23-698F3BCC33AF}" destId="{BAE01B31-EBEA-45BA-AF22-D98E3153BE46}" srcOrd="0" destOrd="0" presId="urn:microsoft.com/office/officeart/2008/layout/LinedList"/>
    <dgm:cxn modelId="{CC1AFB61-D74E-4220-9076-9260C3C8D0A8}" type="presOf" srcId="{74A661E9-3DBF-40E9-965A-AFB028D9BA70}" destId="{06901601-C422-4B11-89C2-61285BD73227}" srcOrd="0" destOrd="0" presId="urn:microsoft.com/office/officeart/2008/layout/LinedList"/>
    <dgm:cxn modelId="{891A4E59-450E-4FC4-AA3D-065AFD8A0681}" srcId="{2651F156-2EF7-4864-8E9F-4FA281FBEE09}" destId="{74A661E9-3DBF-40E9-965A-AFB028D9BA70}" srcOrd="1" destOrd="0" parTransId="{744D6085-77F7-4AA9-A8D8-C195C07D6085}" sibTransId="{A339ACED-DD8D-46FA-B857-02F3F3F6000C}"/>
    <dgm:cxn modelId="{BDBE89B1-E71E-4A0F-8CFA-310BFE64DC64}" type="presOf" srcId="{2651F156-2EF7-4864-8E9F-4FA281FBEE09}" destId="{3011F5EB-A7A0-4E53-A6CA-B4C093FAC414}" srcOrd="0" destOrd="0" presId="urn:microsoft.com/office/officeart/2008/layout/LinedList"/>
    <dgm:cxn modelId="{376ACCAB-4D52-42ED-ADA1-85A80132D49A}" type="presParOf" srcId="{3011F5EB-A7A0-4E53-A6CA-B4C093FAC414}" destId="{4CF3971B-3539-45CB-BCEE-2BBA62A9869F}" srcOrd="0" destOrd="0" presId="urn:microsoft.com/office/officeart/2008/layout/LinedList"/>
    <dgm:cxn modelId="{74007F4B-8291-4EDC-A2D3-4EACCC644CF8}" type="presParOf" srcId="{3011F5EB-A7A0-4E53-A6CA-B4C093FAC414}" destId="{3A092285-4D81-472C-ADC2-68F589DA8574}" srcOrd="1" destOrd="0" presId="urn:microsoft.com/office/officeart/2008/layout/LinedList"/>
    <dgm:cxn modelId="{F4261123-0DAB-4D51-8593-F8895DE9BD8E}" type="presParOf" srcId="{3A092285-4D81-472C-ADC2-68F589DA8574}" destId="{BAE01B31-EBEA-45BA-AF22-D98E3153BE46}" srcOrd="0" destOrd="0" presId="urn:microsoft.com/office/officeart/2008/layout/LinedList"/>
    <dgm:cxn modelId="{A15A5866-5991-440B-8DA8-9EAFD223A717}" type="presParOf" srcId="{3A092285-4D81-472C-ADC2-68F589DA8574}" destId="{0736C6E2-1925-4169-A2CC-F8285AE203B2}" srcOrd="1" destOrd="0" presId="urn:microsoft.com/office/officeart/2008/layout/LinedList"/>
    <dgm:cxn modelId="{F797B113-AC56-4B62-893D-38C145FA9B26}" type="presParOf" srcId="{3011F5EB-A7A0-4E53-A6CA-B4C093FAC414}" destId="{DCF6AFE6-30D3-4D3C-B839-3588D57073DC}" srcOrd="2" destOrd="0" presId="urn:microsoft.com/office/officeart/2008/layout/LinedList"/>
    <dgm:cxn modelId="{0A6545C9-FC9F-4873-B3BB-8D5CB497D5B3}" type="presParOf" srcId="{3011F5EB-A7A0-4E53-A6CA-B4C093FAC414}" destId="{C428EA17-5E09-4ACB-9E13-4FC7AA8F524C}" srcOrd="3" destOrd="0" presId="urn:microsoft.com/office/officeart/2008/layout/LinedList"/>
    <dgm:cxn modelId="{5AE23137-665E-4DAD-8A57-2D109143B02D}" type="presParOf" srcId="{C428EA17-5E09-4ACB-9E13-4FC7AA8F524C}" destId="{06901601-C422-4B11-89C2-61285BD73227}" srcOrd="0" destOrd="0" presId="urn:microsoft.com/office/officeart/2008/layout/LinedList"/>
    <dgm:cxn modelId="{66C69DCB-C2CF-4CA5-814A-D9E1E0796EBD}" type="presParOf" srcId="{C428EA17-5E09-4ACB-9E13-4FC7AA8F524C}" destId="{BFBC4C73-AD0D-4CA6-B61B-DB46DDFDF4C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8735DF-881A-4328-BB66-6B034D15DE6E}"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DEEA348B-D750-460B-9217-4E11BFED56F7}">
      <dgm:prSet/>
      <dgm:spPr/>
      <dgm:t>
        <a:bodyPr/>
        <a:lstStyle/>
        <a:p>
          <a:r>
            <a:rPr lang="en-US" b="1"/>
            <a:t>Communication Skills</a:t>
          </a:r>
          <a:endParaRPr lang="en-US"/>
        </a:p>
      </dgm:t>
    </dgm:pt>
    <dgm:pt modelId="{633B55AB-8DA0-40E2-B459-DA822BA96C63}" type="parTrans" cxnId="{B8009C4A-B806-4650-835F-099D61111D30}">
      <dgm:prSet/>
      <dgm:spPr/>
      <dgm:t>
        <a:bodyPr/>
        <a:lstStyle/>
        <a:p>
          <a:endParaRPr lang="en-US"/>
        </a:p>
      </dgm:t>
    </dgm:pt>
    <dgm:pt modelId="{6580B3D5-1C82-4F0D-A32A-76458ED4A837}" type="sibTrans" cxnId="{B8009C4A-B806-4650-835F-099D61111D30}">
      <dgm:prSet/>
      <dgm:spPr/>
      <dgm:t>
        <a:bodyPr/>
        <a:lstStyle/>
        <a:p>
          <a:endParaRPr lang="en-US"/>
        </a:p>
      </dgm:t>
    </dgm:pt>
    <dgm:pt modelId="{7ADAE01F-2DB2-4EC0-8691-A03A751F29E9}">
      <dgm:prSet/>
      <dgm:spPr/>
      <dgm:t>
        <a:bodyPr/>
        <a:lstStyle/>
        <a:p>
          <a:r>
            <a:rPr lang="en-US" b="1"/>
            <a:t>Content Creation Skills</a:t>
          </a:r>
          <a:endParaRPr lang="en-US"/>
        </a:p>
      </dgm:t>
    </dgm:pt>
    <dgm:pt modelId="{43F7687B-C5FE-4C91-8ECE-BBB0DCB36D8F}" type="parTrans" cxnId="{9856ECDD-BCE9-4728-B10F-3EF994B4C496}">
      <dgm:prSet/>
      <dgm:spPr/>
      <dgm:t>
        <a:bodyPr/>
        <a:lstStyle/>
        <a:p>
          <a:endParaRPr lang="en-US"/>
        </a:p>
      </dgm:t>
    </dgm:pt>
    <dgm:pt modelId="{0FB77C03-5576-4AB7-98A3-15E2370F797C}" type="sibTrans" cxnId="{9856ECDD-BCE9-4728-B10F-3EF994B4C496}">
      <dgm:prSet/>
      <dgm:spPr/>
      <dgm:t>
        <a:bodyPr/>
        <a:lstStyle/>
        <a:p>
          <a:endParaRPr lang="en-US"/>
        </a:p>
      </dgm:t>
    </dgm:pt>
    <dgm:pt modelId="{89746AC2-466F-4C60-9124-86FAF97E2589}">
      <dgm:prSet/>
      <dgm:spPr/>
      <dgm:t>
        <a:bodyPr/>
        <a:lstStyle/>
        <a:p>
          <a:r>
            <a:rPr lang="en-US" b="1"/>
            <a:t>SEO Skills</a:t>
          </a:r>
          <a:endParaRPr lang="en-US"/>
        </a:p>
      </dgm:t>
    </dgm:pt>
    <dgm:pt modelId="{74EB0EC2-3F2A-4726-AE69-7B6A062EB764}" type="parTrans" cxnId="{71D77F5F-490B-44D1-B267-D6448DD99712}">
      <dgm:prSet/>
      <dgm:spPr/>
      <dgm:t>
        <a:bodyPr/>
        <a:lstStyle/>
        <a:p>
          <a:endParaRPr lang="en-US"/>
        </a:p>
      </dgm:t>
    </dgm:pt>
    <dgm:pt modelId="{F259FE19-4556-4CBD-9C04-1671E01B93D0}" type="sibTrans" cxnId="{71D77F5F-490B-44D1-B267-D6448DD99712}">
      <dgm:prSet/>
      <dgm:spPr/>
      <dgm:t>
        <a:bodyPr/>
        <a:lstStyle/>
        <a:p>
          <a:endParaRPr lang="en-US"/>
        </a:p>
      </dgm:t>
    </dgm:pt>
    <dgm:pt modelId="{474F420F-8691-418B-A0EA-9F64A1215C5E}">
      <dgm:prSet/>
      <dgm:spPr/>
      <dgm:t>
        <a:bodyPr/>
        <a:lstStyle/>
        <a:p>
          <a:r>
            <a:rPr lang="en-US" b="1" dirty="0"/>
            <a:t>Social Media Management Skills</a:t>
          </a:r>
          <a:endParaRPr lang="en-US" dirty="0"/>
        </a:p>
      </dgm:t>
    </dgm:pt>
    <dgm:pt modelId="{D0460DF7-75D5-4B19-A9ED-4312A9B6CF48}" type="parTrans" cxnId="{03CB857B-4159-4835-AEC7-56B79FD742E8}">
      <dgm:prSet/>
      <dgm:spPr/>
      <dgm:t>
        <a:bodyPr/>
        <a:lstStyle/>
        <a:p>
          <a:endParaRPr lang="en-US"/>
        </a:p>
      </dgm:t>
    </dgm:pt>
    <dgm:pt modelId="{93BAB653-9263-4457-AB77-6CAE55C97821}" type="sibTrans" cxnId="{03CB857B-4159-4835-AEC7-56B79FD742E8}">
      <dgm:prSet/>
      <dgm:spPr/>
      <dgm:t>
        <a:bodyPr/>
        <a:lstStyle/>
        <a:p>
          <a:endParaRPr lang="en-US"/>
        </a:p>
      </dgm:t>
    </dgm:pt>
    <dgm:pt modelId="{DC1DD6B3-D04E-497B-80A2-23FC5B18C766}">
      <dgm:prSet/>
      <dgm:spPr/>
      <dgm:t>
        <a:bodyPr/>
        <a:lstStyle/>
        <a:p>
          <a:r>
            <a:rPr lang="en-US" b="1"/>
            <a:t>Data Analysis Skills</a:t>
          </a:r>
          <a:endParaRPr lang="en-US"/>
        </a:p>
      </dgm:t>
    </dgm:pt>
    <dgm:pt modelId="{8CE1CE7A-C560-4433-BF42-5AACF0661847}" type="parTrans" cxnId="{B439BFD0-D1CC-4C81-8BE3-994F77464605}">
      <dgm:prSet/>
      <dgm:spPr/>
      <dgm:t>
        <a:bodyPr/>
        <a:lstStyle/>
        <a:p>
          <a:endParaRPr lang="en-US"/>
        </a:p>
      </dgm:t>
    </dgm:pt>
    <dgm:pt modelId="{5DD61BD2-1F38-46F7-8192-12951115DA10}" type="sibTrans" cxnId="{B439BFD0-D1CC-4C81-8BE3-994F77464605}">
      <dgm:prSet/>
      <dgm:spPr/>
      <dgm:t>
        <a:bodyPr/>
        <a:lstStyle/>
        <a:p>
          <a:endParaRPr lang="en-US"/>
        </a:p>
      </dgm:t>
    </dgm:pt>
    <dgm:pt modelId="{77B60F6C-FDD8-408A-B91A-DA834182A60B}">
      <dgm:prSet/>
      <dgm:spPr/>
      <dgm:t>
        <a:bodyPr/>
        <a:lstStyle/>
        <a:p>
          <a:r>
            <a:rPr lang="en-US" b="1"/>
            <a:t>Creativity and Innovation</a:t>
          </a:r>
          <a:endParaRPr lang="en-US"/>
        </a:p>
      </dgm:t>
    </dgm:pt>
    <dgm:pt modelId="{09BC64C2-661B-4EAB-8410-7250835B9189}" type="parTrans" cxnId="{218324A6-4A6B-4953-8EDB-93B502C0B097}">
      <dgm:prSet/>
      <dgm:spPr/>
      <dgm:t>
        <a:bodyPr/>
        <a:lstStyle/>
        <a:p>
          <a:endParaRPr lang="en-US"/>
        </a:p>
      </dgm:t>
    </dgm:pt>
    <dgm:pt modelId="{A40DC623-D8E7-49EE-B486-55E1C99A07D6}" type="sibTrans" cxnId="{218324A6-4A6B-4953-8EDB-93B502C0B097}">
      <dgm:prSet/>
      <dgm:spPr/>
      <dgm:t>
        <a:bodyPr/>
        <a:lstStyle/>
        <a:p>
          <a:endParaRPr lang="en-US"/>
        </a:p>
      </dgm:t>
    </dgm:pt>
    <dgm:pt modelId="{A1508C4A-8862-4559-810E-D4965E0F36ED}">
      <dgm:prSet/>
      <dgm:spPr/>
      <dgm:t>
        <a:bodyPr/>
        <a:lstStyle/>
        <a:p>
          <a:r>
            <a:rPr lang="en-US" b="1"/>
            <a:t>Email Marketing Skills</a:t>
          </a:r>
          <a:endParaRPr lang="en-US"/>
        </a:p>
      </dgm:t>
    </dgm:pt>
    <dgm:pt modelId="{041F4BDD-835E-4B3E-8B23-68D2BCC839CD}" type="parTrans" cxnId="{5B61D961-EE78-40EA-B88C-10E8ACBFCCB4}">
      <dgm:prSet/>
      <dgm:spPr/>
      <dgm:t>
        <a:bodyPr/>
        <a:lstStyle/>
        <a:p>
          <a:endParaRPr lang="en-US"/>
        </a:p>
      </dgm:t>
    </dgm:pt>
    <dgm:pt modelId="{6134B38D-AD38-4E09-8858-86F027AA4605}" type="sibTrans" cxnId="{5B61D961-EE78-40EA-B88C-10E8ACBFCCB4}">
      <dgm:prSet/>
      <dgm:spPr/>
      <dgm:t>
        <a:bodyPr/>
        <a:lstStyle/>
        <a:p>
          <a:endParaRPr lang="en-US"/>
        </a:p>
      </dgm:t>
    </dgm:pt>
    <dgm:pt modelId="{AD34EB75-A19C-4DDF-90CF-594BBCC4554C}">
      <dgm:prSet/>
      <dgm:spPr/>
      <dgm:t>
        <a:bodyPr/>
        <a:lstStyle/>
        <a:p>
          <a:r>
            <a:rPr lang="en-US" b="1"/>
            <a:t>Advertising &amp; Campaign Management Skills</a:t>
          </a:r>
          <a:endParaRPr lang="en-US"/>
        </a:p>
      </dgm:t>
    </dgm:pt>
    <dgm:pt modelId="{2FC0ED94-8939-4CC7-B6A2-F706B28FCE1D}" type="parTrans" cxnId="{F7E059D6-16BC-4064-AB0C-58F23E46EFEC}">
      <dgm:prSet/>
      <dgm:spPr/>
      <dgm:t>
        <a:bodyPr/>
        <a:lstStyle/>
        <a:p>
          <a:endParaRPr lang="en-US"/>
        </a:p>
      </dgm:t>
    </dgm:pt>
    <dgm:pt modelId="{6124B3C8-CAEC-478A-B441-95E9DCCFBAA6}" type="sibTrans" cxnId="{F7E059D6-16BC-4064-AB0C-58F23E46EFEC}">
      <dgm:prSet/>
      <dgm:spPr/>
      <dgm:t>
        <a:bodyPr/>
        <a:lstStyle/>
        <a:p>
          <a:endParaRPr lang="en-US"/>
        </a:p>
      </dgm:t>
    </dgm:pt>
    <dgm:pt modelId="{E10BD6B3-6A44-4A32-B0D9-64D1395569E9}">
      <dgm:prSet/>
      <dgm:spPr/>
      <dgm:t>
        <a:bodyPr/>
        <a:lstStyle/>
        <a:p>
          <a:r>
            <a:rPr lang="en-US" b="1"/>
            <a:t>Adaptability and Continuous Learning Skills</a:t>
          </a:r>
          <a:endParaRPr lang="en-US"/>
        </a:p>
      </dgm:t>
    </dgm:pt>
    <dgm:pt modelId="{A28C7FE9-89E8-4B5D-A0A2-E8EBCD14508B}" type="parTrans" cxnId="{E6198962-F3C5-4AE3-9032-DA851055D766}">
      <dgm:prSet/>
      <dgm:spPr/>
      <dgm:t>
        <a:bodyPr/>
        <a:lstStyle/>
        <a:p>
          <a:endParaRPr lang="en-US"/>
        </a:p>
      </dgm:t>
    </dgm:pt>
    <dgm:pt modelId="{8F30CCB2-EEE4-44D1-9E8D-5A82AA86C5C3}" type="sibTrans" cxnId="{E6198962-F3C5-4AE3-9032-DA851055D766}">
      <dgm:prSet/>
      <dgm:spPr/>
      <dgm:t>
        <a:bodyPr/>
        <a:lstStyle/>
        <a:p>
          <a:endParaRPr lang="en-US"/>
        </a:p>
      </dgm:t>
    </dgm:pt>
    <dgm:pt modelId="{1F6CB5C2-3812-4AE7-A34F-AF2859C3DB7D}" type="pres">
      <dgm:prSet presAssocID="{A08735DF-881A-4328-BB66-6B034D15DE6E}" presName="diagram" presStyleCnt="0">
        <dgm:presLayoutVars>
          <dgm:dir/>
          <dgm:resizeHandles val="exact"/>
        </dgm:presLayoutVars>
      </dgm:prSet>
      <dgm:spPr/>
    </dgm:pt>
    <dgm:pt modelId="{0BC2368D-AE02-48D2-B0DC-AD4F7EC7F910}" type="pres">
      <dgm:prSet presAssocID="{DEEA348B-D750-460B-9217-4E11BFED56F7}" presName="node" presStyleLbl="node1" presStyleIdx="0" presStyleCnt="9">
        <dgm:presLayoutVars>
          <dgm:bulletEnabled val="1"/>
        </dgm:presLayoutVars>
      </dgm:prSet>
      <dgm:spPr/>
    </dgm:pt>
    <dgm:pt modelId="{473FDEEE-0E90-4682-9A9D-63B2A9721053}" type="pres">
      <dgm:prSet presAssocID="{6580B3D5-1C82-4F0D-A32A-76458ED4A837}" presName="sibTrans" presStyleCnt="0"/>
      <dgm:spPr/>
    </dgm:pt>
    <dgm:pt modelId="{2C7D0A2C-D70F-4BA6-9034-94B8BB4942B3}" type="pres">
      <dgm:prSet presAssocID="{7ADAE01F-2DB2-4EC0-8691-A03A751F29E9}" presName="node" presStyleLbl="node1" presStyleIdx="1" presStyleCnt="9">
        <dgm:presLayoutVars>
          <dgm:bulletEnabled val="1"/>
        </dgm:presLayoutVars>
      </dgm:prSet>
      <dgm:spPr/>
    </dgm:pt>
    <dgm:pt modelId="{C4BD3D61-F892-47EE-A4F8-5EF74211A414}" type="pres">
      <dgm:prSet presAssocID="{0FB77C03-5576-4AB7-98A3-15E2370F797C}" presName="sibTrans" presStyleCnt="0"/>
      <dgm:spPr/>
    </dgm:pt>
    <dgm:pt modelId="{D17B99F8-163F-44C9-AAD3-8542529645D0}" type="pres">
      <dgm:prSet presAssocID="{89746AC2-466F-4C60-9124-86FAF97E2589}" presName="node" presStyleLbl="node1" presStyleIdx="2" presStyleCnt="9">
        <dgm:presLayoutVars>
          <dgm:bulletEnabled val="1"/>
        </dgm:presLayoutVars>
      </dgm:prSet>
      <dgm:spPr/>
    </dgm:pt>
    <dgm:pt modelId="{FBCEF908-10CC-4EA5-B012-980E82B0CCC6}" type="pres">
      <dgm:prSet presAssocID="{F259FE19-4556-4CBD-9C04-1671E01B93D0}" presName="sibTrans" presStyleCnt="0"/>
      <dgm:spPr/>
    </dgm:pt>
    <dgm:pt modelId="{6A926001-8C4D-4A13-A971-D206EF36688A}" type="pres">
      <dgm:prSet presAssocID="{474F420F-8691-418B-A0EA-9F64A1215C5E}" presName="node" presStyleLbl="node1" presStyleIdx="3" presStyleCnt="9">
        <dgm:presLayoutVars>
          <dgm:bulletEnabled val="1"/>
        </dgm:presLayoutVars>
      </dgm:prSet>
      <dgm:spPr/>
    </dgm:pt>
    <dgm:pt modelId="{CF216031-1DC3-4309-BCDF-87E4280C8452}" type="pres">
      <dgm:prSet presAssocID="{93BAB653-9263-4457-AB77-6CAE55C97821}" presName="sibTrans" presStyleCnt="0"/>
      <dgm:spPr/>
    </dgm:pt>
    <dgm:pt modelId="{167CAC4D-9D37-406E-8948-0FCE9CDB6ED5}" type="pres">
      <dgm:prSet presAssocID="{DC1DD6B3-D04E-497B-80A2-23FC5B18C766}" presName="node" presStyleLbl="node1" presStyleIdx="4" presStyleCnt="9">
        <dgm:presLayoutVars>
          <dgm:bulletEnabled val="1"/>
        </dgm:presLayoutVars>
      </dgm:prSet>
      <dgm:spPr/>
    </dgm:pt>
    <dgm:pt modelId="{A759A1D9-1B81-4592-99AB-6459499FEC27}" type="pres">
      <dgm:prSet presAssocID="{5DD61BD2-1F38-46F7-8192-12951115DA10}" presName="sibTrans" presStyleCnt="0"/>
      <dgm:spPr/>
    </dgm:pt>
    <dgm:pt modelId="{B35BA514-9915-4C31-BF57-EC98A19EFF13}" type="pres">
      <dgm:prSet presAssocID="{77B60F6C-FDD8-408A-B91A-DA834182A60B}" presName="node" presStyleLbl="node1" presStyleIdx="5" presStyleCnt="9">
        <dgm:presLayoutVars>
          <dgm:bulletEnabled val="1"/>
        </dgm:presLayoutVars>
      </dgm:prSet>
      <dgm:spPr/>
    </dgm:pt>
    <dgm:pt modelId="{27C902E7-61C4-49A4-9F3F-2084041407A1}" type="pres">
      <dgm:prSet presAssocID="{A40DC623-D8E7-49EE-B486-55E1C99A07D6}" presName="sibTrans" presStyleCnt="0"/>
      <dgm:spPr/>
    </dgm:pt>
    <dgm:pt modelId="{183720C7-FBC9-430A-B8DF-C0E572D03623}" type="pres">
      <dgm:prSet presAssocID="{A1508C4A-8862-4559-810E-D4965E0F36ED}" presName="node" presStyleLbl="node1" presStyleIdx="6" presStyleCnt="9">
        <dgm:presLayoutVars>
          <dgm:bulletEnabled val="1"/>
        </dgm:presLayoutVars>
      </dgm:prSet>
      <dgm:spPr/>
    </dgm:pt>
    <dgm:pt modelId="{597BDF91-3944-43CA-BBC9-8D792E30F9F3}" type="pres">
      <dgm:prSet presAssocID="{6134B38D-AD38-4E09-8858-86F027AA4605}" presName="sibTrans" presStyleCnt="0"/>
      <dgm:spPr/>
    </dgm:pt>
    <dgm:pt modelId="{2E92CCC9-2EA6-4953-9814-8201A2C20D39}" type="pres">
      <dgm:prSet presAssocID="{AD34EB75-A19C-4DDF-90CF-594BBCC4554C}" presName="node" presStyleLbl="node1" presStyleIdx="7" presStyleCnt="9">
        <dgm:presLayoutVars>
          <dgm:bulletEnabled val="1"/>
        </dgm:presLayoutVars>
      </dgm:prSet>
      <dgm:spPr/>
    </dgm:pt>
    <dgm:pt modelId="{E288990C-D32F-4080-9C75-0C90D246E85D}" type="pres">
      <dgm:prSet presAssocID="{6124B3C8-CAEC-478A-B441-95E9DCCFBAA6}" presName="sibTrans" presStyleCnt="0"/>
      <dgm:spPr/>
    </dgm:pt>
    <dgm:pt modelId="{2A6ED8D5-F674-4213-9D05-7E18624D849B}" type="pres">
      <dgm:prSet presAssocID="{E10BD6B3-6A44-4A32-B0D9-64D1395569E9}" presName="node" presStyleLbl="node1" presStyleIdx="8" presStyleCnt="9">
        <dgm:presLayoutVars>
          <dgm:bulletEnabled val="1"/>
        </dgm:presLayoutVars>
      </dgm:prSet>
      <dgm:spPr/>
    </dgm:pt>
  </dgm:ptLst>
  <dgm:cxnLst>
    <dgm:cxn modelId="{7452E332-C1D3-4CDB-AC78-9B5586C80150}" type="presOf" srcId="{E10BD6B3-6A44-4A32-B0D9-64D1395569E9}" destId="{2A6ED8D5-F674-4213-9D05-7E18624D849B}" srcOrd="0" destOrd="0" presId="urn:microsoft.com/office/officeart/2005/8/layout/default"/>
    <dgm:cxn modelId="{47928536-8105-44BC-8D82-D8E69DADA028}" type="presOf" srcId="{DC1DD6B3-D04E-497B-80A2-23FC5B18C766}" destId="{167CAC4D-9D37-406E-8948-0FCE9CDB6ED5}" srcOrd="0" destOrd="0" presId="urn:microsoft.com/office/officeart/2005/8/layout/default"/>
    <dgm:cxn modelId="{71D77F5F-490B-44D1-B267-D6448DD99712}" srcId="{A08735DF-881A-4328-BB66-6B034D15DE6E}" destId="{89746AC2-466F-4C60-9124-86FAF97E2589}" srcOrd="2" destOrd="0" parTransId="{74EB0EC2-3F2A-4726-AE69-7B6A062EB764}" sibTransId="{F259FE19-4556-4CBD-9C04-1671E01B93D0}"/>
    <dgm:cxn modelId="{5B61D961-EE78-40EA-B88C-10E8ACBFCCB4}" srcId="{A08735DF-881A-4328-BB66-6B034D15DE6E}" destId="{A1508C4A-8862-4559-810E-D4965E0F36ED}" srcOrd="6" destOrd="0" parTransId="{041F4BDD-835E-4B3E-8B23-68D2BCC839CD}" sibTransId="{6134B38D-AD38-4E09-8858-86F027AA4605}"/>
    <dgm:cxn modelId="{287D2562-ED07-4CE5-80AB-6B8665B9108B}" type="presOf" srcId="{AD34EB75-A19C-4DDF-90CF-594BBCC4554C}" destId="{2E92CCC9-2EA6-4953-9814-8201A2C20D39}" srcOrd="0" destOrd="0" presId="urn:microsoft.com/office/officeart/2005/8/layout/default"/>
    <dgm:cxn modelId="{E6198962-F3C5-4AE3-9032-DA851055D766}" srcId="{A08735DF-881A-4328-BB66-6B034D15DE6E}" destId="{E10BD6B3-6A44-4A32-B0D9-64D1395569E9}" srcOrd="8" destOrd="0" parTransId="{A28C7FE9-89E8-4B5D-A0A2-E8EBCD14508B}" sibTransId="{8F30CCB2-EEE4-44D1-9E8D-5A82AA86C5C3}"/>
    <dgm:cxn modelId="{B8009C4A-B806-4650-835F-099D61111D30}" srcId="{A08735DF-881A-4328-BB66-6B034D15DE6E}" destId="{DEEA348B-D750-460B-9217-4E11BFED56F7}" srcOrd="0" destOrd="0" parTransId="{633B55AB-8DA0-40E2-B459-DA822BA96C63}" sibTransId="{6580B3D5-1C82-4F0D-A32A-76458ED4A837}"/>
    <dgm:cxn modelId="{9883C451-3598-4685-8CA5-F2C399799FD9}" type="presOf" srcId="{A08735DF-881A-4328-BB66-6B034D15DE6E}" destId="{1F6CB5C2-3812-4AE7-A34F-AF2859C3DB7D}" srcOrd="0" destOrd="0" presId="urn:microsoft.com/office/officeart/2005/8/layout/default"/>
    <dgm:cxn modelId="{03CB857B-4159-4835-AEC7-56B79FD742E8}" srcId="{A08735DF-881A-4328-BB66-6B034D15DE6E}" destId="{474F420F-8691-418B-A0EA-9F64A1215C5E}" srcOrd="3" destOrd="0" parTransId="{D0460DF7-75D5-4B19-A9ED-4312A9B6CF48}" sibTransId="{93BAB653-9263-4457-AB77-6CAE55C97821}"/>
    <dgm:cxn modelId="{DA43E497-B5C0-40DD-AC10-D8641A1AC527}" type="presOf" srcId="{77B60F6C-FDD8-408A-B91A-DA834182A60B}" destId="{B35BA514-9915-4C31-BF57-EC98A19EFF13}" srcOrd="0" destOrd="0" presId="urn:microsoft.com/office/officeart/2005/8/layout/default"/>
    <dgm:cxn modelId="{218324A6-4A6B-4953-8EDB-93B502C0B097}" srcId="{A08735DF-881A-4328-BB66-6B034D15DE6E}" destId="{77B60F6C-FDD8-408A-B91A-DA834182A60B}" srcOrd="5" destOrd="0" parTransId="{09BC64C2-661B-4EAB-8410-7250835B9189}" sibTransId="{A40DC623-D8E7-49EE-B486-55E1C99A07D6}"/>
    <dgm:cxn modelId="{EA5A1AAF-CEF9-4042-93AC-EE0A9983626C}" type="presOf" srcId="{DEEA348B-D750-460B-9217-4E11BFED56F7}" destId="{0BC2368D-AE02-48D2-B0DC-AD4F7EC7F910}" srcOrd="0" destOrd="0" presId="urn:microsoft.com/office/officeart/2005/8/layout/default"/>
    <dgm:cxn modelId="{31480FB0-192E-4742-85C8-08E9D36C6916}" type="presOf" srcId="{7ADAE01F-2DB2-4EC0-8691-A03A751F29E9}" destId="{2C7D0A2C-D70F-4BA6-9034-94B8BB4942B3}" srcOrd="0" destOrd="0" presId="urn:microsoft.com/office/officeart/2005/8/layout/default"/>
    <dgm:cxn modelId="{DAA818B0-A057-41CB-A2BF-9B20E27A8DB6}" type="presOf" srcId="{474F420F-8691-418B-A0EA-9F64A1215C5E}" destId="{6A926001-8C4D-4A13-A971-D206EF36688A}" srcOrd="0" destOrd="0" presId="urn:microsoft.com/office/officeart/2005/8/layout/default"/>
    <dgm:cxn modelId="{B439BFD0-D1CC-4C81-8BE3-994F77464605}" srcId="{A08735DF-881A-4328-BB66-6B034D15DE6E}" destId="{DC1DD6B3-D04E-497B-80A2-23FC5B18C766}" srcOrd="4" destOrd="0" parTransId="{8CE1CE7A-C560-4433-BF42-5AACF0661847}" sibTransId="{5DD61BD2-1F38-46F7-8192-12951115DA10}"/>
    <dgm:cxn modelId="{1AC7F1D0-7CC0-49D8-BED5-A6896FD07AF5}" type="presOf" srcId="{89746AC2-466F-4C60-9124-86FAF97E2589}" destId="{D17B99F8-163F-44C9-AAD3-8542529645D0}" srcOrd="0" destOrd="0" presId="urn:microsoft.com/office/officeart/2005/8/layout/default"/>
    <dgm:cxn modelId="{F7E059D6-16BC-4064-AB0C-58F23E46EFEC}" srcId="{A08735DF-881A-4328-BB66-6B034D15DE6E}" destId="{AD34EB75-A19C-4DDF-90CF-594BBCC4554C}" srcOrd="7" destOrd="0" parTransId="{2FC0ED94-8939-4CC7-B6A2-F706B28FCE1D}" sibTransId="{6124B3C8-CAEC-478A-B441-95E9DCCFBAA6}"/>
    <dgm:cxn modelId="{9856ECDD-BCE9-4728-B10F-3EF994B4C496}" srcId="{A08735DF-881A-4328-BB66-6B034D15DE6E}" destId="{7ADAE01F-2DB2-4EC0-8691-A03A751F29E9}" srcOrd="1" destOrd="0" parTransId="{43F7687B-C5FE-4C91-8ECE-BBB0DCB36D8F}" sibTransId="{0FB77C03-5576-4AB7-98A3-15E2370F797C}"/>
    <dgm:cxn modelId="{6230A7E5-327F-468A-AAE3-E4CD681F97B6}" type="presOf" srcId="{A1508C4A-8862-4559-810E-D4965E0F36ED}" destId="{183720C7-FBC9-430A-B8DF-C0E572D03623}" srcOrd="0" destOrd="0" presId="urn:microsoft.com/office/officeart/2005/8/layout/default"/>
    <dgm:cxn modelId="{6398618B-0561-4B2C-9629-37B0925B0C78}" type="presParOf" srcId="{1F6CB5C2-3812-4AE7-A34F-AF2859C3DB7D}" destId="{0BC2368D-AE02-48D2-B0DC-AD4F7EC7F910}" srcOrd="0" destOrd="0" presId="urn:microsoft.com/office/officeart/2005/8/layout/default"/>
    <dgm:cxn modelId="{4C998F38-364D-40FF-B301-0AC032D87922}" type="presParOf" srcId="{1F6CB5C2-3812-4AE7-A34F-AF2859C3DB7D}" destId="{473FDEEE-0E90-4682-9A9D-63B2A9721053}" srcOrd="1" destOrd="0" presId="urn:microsoft.com/office/officeart/2005/8/layout/default"/>
    <dgm:cxn modelId="{E943C71F-335F-4ABC-BFBB-C909DEEAA000}" type="presParOf" srcId="{1F6CB5C2-3812-4AE7-A34F-AF2859C3DB7D}" destId="{2C7D0A2C-D70F-4BA6-9034-94B8BB4942B3}" srcOrd="2" destOrd="0" presId="urn:microsoft.com/office/officeart/2005/8/layout/default"/>
    <dgm:cxn modelId="{C3BFEEE9-EDBB-428D-9AE2-A12F580D59B1}" type="presParOf" srcId="{1F6CB5C2-3812-4AE7-A34F-AF2859C3DB7D}" destId="{C4BD3D61-F892-47EE-A4F8-5EF74211A414}" srcOrd="3" destOrd="0" presId="urn:microsoft.com/office/officeart/2005/8/layout/default"/>
    <dgm:cxn modelId="{B165D116-72C4-444D-9ED6-58E8B73788B4}" type="presParOf" srcId="{1F6CB5C2-3812-4AE7-A34F-AF2859C3DB7D}" destId="{D17B99F8-163F-44C9-AAD3-8542529645D0}" srcOrd="4" destOrd="0" presId="urn:microsoft.com/office/officeart/2005/8/layout/default"/>
    <dgm:cxn modelId="{FD9441E6-629E-4B96-B2E3-C3A024F43100}" type="presParOf" srcId="{1F6CB5C2-3812-4AE7-A34F-AF2859C3DB7D}" destId="{FBCEF908-10CC-4EA5-B012-980E82B0CCC6}" srcOrd="5" destOrd="0" presId="urn:microsoft.com/office/officeart/2005/8/layout/default"/>
    <dgm:cxn modelId="{E6AB30B6-74F1-404B-9309-C753EC98C567}" type="presParOf" srcId="{1F6CB5C2-3812-4AE7-A34F-AF2859C3DB7D}" destId="{6A926001-8C4D-4A13-A971-D206EF36688A}" srcOrd="6" destOrd="0" presId="urn:microsoft.com/office/officeart/2005/8/layout/default"/>
    <dgm:cxn modelId="{02EE2BD9-CF57-4C99-93D5-1DC472D54A45}" type="presParOf" srcId="{1F6CB5C2-3812-4AE7-A34F-AF2859C3DB7D}" destId="{CF216031-1DC3-4309-BCDF-87E4280C8452}" srcOrd="7" destOrd="0" presId="urn:microsoft.com/office/officeart/2005/8/layout/default"/>
    <dgm:cxn modelId="{992FA478-C6FD-449D-A28B-C48AC38E97CE}" type="presParOf" srcId="{1F6CB5C2-3812-4AE7-A34F-AF2859C3DB7D}" destId="{167CAC4D-9D37-406E-8948-0FCE9CDB6ED5}" srcOrd="8" destOrd="0" presId="urn:microsoft.com/office/officeart/2005/8/layout/default"/>
    <dgm:cxn modelId="{73225B2B-072D-41BC-A462-5E1BEC56EE05}" type="presParOf" srcId="{1F6CB5C2-3812-4AE7-A34F-AF2859C3DB7D}" destId="{A759A1D9-1B81-4592-99AB-6459499FEC27}" srcOrd="9" destOrd="0" presId="urn:microsoft.com/office/officeart/2005/8/layout/default"/>
    <dgm:cxn modelId="{95C4E613-CEE6-4973-94C2-3E9B5D9A2506}" type="presParOf" srcId="{1F6CB5C2-3812-4AE7-A34F-AF2859C3DB7D}" destId="{B35BA514-9915-4C31-BF57-EC98A19EFF13}" srcOrd="10" destOrd="0" presId="urn:microsoft.com/office/officeart/2005/8/layout/default"/>
    <dgm:cxn modelId="{9000A93C-AC58-40E5-9ACF-F5137C64EE06}" type="presParOf" srcId="{1F6CB5C2-3812-4AE7-A34F-AF2859C3DB7D}" destId="{27C902E7-61C4-49A4-9F3F-2084041407A1}" srcOrd="11" destOrd="0" presId="urn:microsoft.com/office/officeart/2005/8/layout/default"/>
    <dgm:cxn modelId="{81ED9639-6667-4CDE-91DE-AB468BDCAF6A}" type="presParOf" srcId="{1F6CB5C2-3812-4AE7-A34F-AF2859C3DB7D}" destId="{183720C7-FBC9-430A-B8DF-C0E572D03623}" srcOrd="12" destOrd="0" presId="urn:microsoft.com/office/officeart/2005/8/layout/default"/>
    <dgm:cxn modelId="{7F1F7207-C1D6-4389-B11A-30102BEEEB4D}" type="presParOf" srcId="{1F6CB5C2-3812-4AE7-A34F-AF2859C3DB7D}" destId="{597BDF91-3944-43CA-BBC9-8D792E30F9F3}" srcOrd="13" destOrd="0" presId="urn:microsoft.com/office/officeart/2005/8/layout/default"/>
    <dgm:cxn modelId="{B44E3869-09CF-4058-9C37-F7C71FE49548}" type="presParOf" srcId="{1F6CB5C2-3812-4AE7-A34F-AF2859C3DB7D}" destId="{2E92CCC9-2EA6-4953-9814-8201A2C20D39}" srcOrd="14" destOrd="0" presId="urn:microsoft.com/office/officeart/2005/8/layout/default"/>
    <dgm:cxn modelId="{247D10E4-D547-4C34-920E-D019BDC7C293}" type="presParOf" srcId="{1F6CB5C2-3812-4AE7-A34F-AF2859C3DB7D}" destId="{E288990C-D32F-4080-9C75-0C90D246E85D}" srcOrd="15" destOrd="0" presId="urn:microsoft.com/office/officeart/2005/8/layout/default"/>
    <dgm:cxn modelId="{CF0FE78B-E5D2-4C58-8EBE-6EF1DAFEC0D6}" type="presParOf" srcId="{1F6CB5C2-3812-4AE7-A34F-AF2859C3DB7D}" destId="{2A6ED8D5-F674-4213-9D05-7E18624D849B}"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53B46C-8DCF-4E70-8C87-ACF251CCC2F9}" type="doc">
      <dgm:prSet loTypeId="urn:microsoft.com/office/officeart/2005/8/layout/vList2" loCatId="list" qsTypeId="urn:microsoft.com/office/officeart/2005/8/quickstyle/simple1" qsCatId="simple" csTypeId="urn:microsoft.com/office/officeart/2005/8/colors/accent6_3" csCatId="accent6" phldr="1"/>
      <dgm:spPr/>
      <dgm:t>
        <a:bodyPr/>
        <a:lstStyle/>
        <a:p>
          <a:endParaRPr lang="en-US"/>
        </a:p>
      </dgm:t>
    </dgm:pt>
    <dgm:pt modelId="{017CB1AE-79FE-408D-889A-5885FCF8EAD9}">
      <dgm:prSet phldrT="[Text]"/>
      <dgm:spPr/>
      <dgm:t>
        <a:bodyPr/>
        <a:lstStyle/>
        <a:p>
          <a:pPr>
            <a:buNone/>
          </a:pPr>
          <a:r>
            <a:rPr lang="en-US" b="1" dirty="0"/>
            <a:t>Process Infographics</a:t>
          </a:r>
          <a:endParaRPr lang="en-US" dirty="0"/>
        </a:p>
      </dgm:t>
    </dgm:pt>
    <dgm:pt modelId="{1F0B9B57-A2E6-4EF7-A408-1672C6499B78}" type="parTrans" cxnId="{3DB014C1-4BA6-4AC9-85FE-9878EDEB4BE9}">
      <dgm:prSet/>
      <dgm:spPr/>
      <dgm:t>
        <a:bodyPr/>
        <a:lstStyle/>
        <a:p>
          <a:endParaRPr lang="en-US"/>
        </a:p>
      </dgm:t>
    </dgm:pt>
    <dgm:pt modelId="{AEDB9E8E-BB3F-4EE5-A8B1-DB88A18CC332}" type="sibTrans" cxnId="{3DB014C1-4BA6-4AC9-85FE-9878EDEB4BE9}">
      <dgm:prSet/>
      <dgm:spPr/>
      <dgm:t>
        <a:bodyPr/>
        <a:lstStyle/>
        <a:p>
          <a:endParaRPr lang="en-US"/>
        </a:p>
      </dgm:t>
    </dgm:pt>
    <dgm:pt modelId="{8CA3A34D-2001-4582-851B-30504FD58121}">
      <dgm:prSet phldrT="[Text]"/>
      <dgm:spPr/>
      <dgm:t>
        <a:bodyPr/>
        <a:lstStyle/>
        <a:p>
          <a:pPr>
            <a:buNone/>
          </a:pPr>
          <a:r>
            <a:rPr lang="en-US" b="1" dirty="0"/>
            <a:t>Statistical Infographics</a:t>
          </a:r>
          <a:endParaRPr lang="en-US" dirty="0"/>
        </a:p>
      </dgm:t>
    </dgm:pt>
    <dgm:pt modelId="{01814412-EDFC-4D27-878B-B4F9C29B2FB7}" type="parTrans" cxnId="{B8E8A2B0-9776-4723-9335-4645F65F606D}">
      <dgm:prSet/>
      <dgm:spPr/>
      <dgm:t>
        <a:bodyPr/>
        <a:lstStyle/>
        <a:p>
          <a:endParaRPr lang="en-US"/>
        </a:p>
      </dgm:t>
    </dgm:pt>
    <dgm:pt modelId="{D8C3D3D4-05FA-47F9-A5B4-944F06C3C62D}" type="sibTrans" cxnId="{B8E8A2B0-9776-4723-9335-4645F65F606D}">
      <dgm:prSet/>
      <dgm:spPr/>
      <dgm:t>
        <a:bodyPr/>
        <a:lstStyle/>
        <a:p>
          <a:endParaRPr lang="en-US"/>
        </a:p>
      </dgm:t>
    </dgm:pt>
    <dgm:pt modelId="{AD41583C-2067-4D76-AC90-443901FA9EDA}">
      <dgm:prSet phldrT="[Text]"/>
      <dgm:spPr/>
      <dgm:t>
        <a:bodyPr/>
        <a:lstStyle/>
        <a:p>
          <a:pPr>
            <a:buNone/>
          </a:pPr>
          <a:r>
            <a:rPr lang="en-US" b="1" dirty="0"/>
            <a:t>Informational Infographics</a:t>
          </a:r>
          <a:endParaRPr lang="en-US" dirty="0"/>
        </a:p>
      </dgm:t>
    </dgm:pt>
    <dgm:pt modelId="{04797CAD-4A5D-4B76-8F4A-A4AEFC69DF6E}" type="parTrans" cxnId="{2BF30243-62A5-4E50-B5DA-670AE022C49D}">
      <dgm:prSet/>
      <dgm:spPr/>
      <dgm:t>
        <a:bodyPr/>
        <a:lstStyle/>
        <a:p>
          <a:endParaRPr lang="en-US"/>
        </a:p>
      </dgm:t>
    </dgm:pt>
    <dgm:pt modelId="{7328A112-8107-4531-931E-C0BA050F1CE0}" type="sibTrans" cxnId="{2BF30243-62A5-4E50-B5DA-670AE022C49D}">
      <dgm:prSet/>
      <dgm:spPr/>
      <dgm:t>
        <a:bodyPr/>
        <a:lstStyle/>
        <a:p>
          <a:endParaRPr lang="en-US"/>
        </a:p>
      </dgm:t>
    </dgm:pt>
    <dgm:pt modelId="{7409C58D-3FCF-4083-82B9-54D01B512426}">
      <dgm:prSet phldrT="[Text]"/>
      <dgm:spPr/>
      <dgm:t>
        <a:bodyPr/>
        <a:lstStyle/>
        <a:p>
          <a:pPr>
            <a:buNone/>
          </a:pPr>
          <a:r>
            <a:rPr lang="en-US" b="1" dirty="0"/>
            <a:t>Timeline Infographics</a:t>
          </a:r>
          <a:endParaRPr lang="en-US" dirty="0"/>
        </a:p>
      </dgm:t>
    </dgm:pt>
    <dgm:pt modelId="{2FCA2471-C34F-4433-ADF6-6F961283210A}" type="parTrans" cxnId="{574B2490-7389-4F59-89E7-A3485BE15E17}">
      <dgm:prSet/>
      <dgm:spPr/>
      <dgm:t>
        <a:bodyPr/>
        <a:lstStyle/>
        <a:p>
          <a:endParaRPr lang="en-US"/>
        </a:p>
      </dgm:t>
    </dgm:pt>
    <dgm:pt modelId="{68CD9868-0C82-4056-B4C3-298F7CFF6A91}" type="sibTrans" cxnId="{574B2490-7389-4F59-89E7-A3485BE15E17}">
      <dgm:prSet/>
      <dgm:spPr/>
      <dgm:t>
        <a:bodyPr/>
        <a:lstStyle/>
        <a:p>
          <a:endParaRPr lang="en-US"/>
        </a:p>
      </dgm:t>
    </dgm:pt>
    <dgm:pt modelId="{A1E79A7A-B283-4617-97AB-8FB53EB166BF}">
      <dgm:prSet phldrT="[Text]"/>
      <dgm:spPr/>
      <dgm:t>
        <a:bodyPr/>
        <a:lstStyle/>
        <a:p>
          <a:pPr>
            <a:buNone/>
          </a:pPr>
          <a:r>
            <a:rPr lang="en-US" b="1" dirty="0"/>
            <a:t>Geographic Infographics</a:t>
          </a:r>
          <a:endParaRPr lang="en-US" dirty="0"/>
        </a:p>
      </dgm:t>
    </dgm:pt>
    <dgm:pt modelId="{0F4A4027-1FAA-49FF-B8F4-65FDCDE3C782}" type="parTrans" cxnId="{1129C46E-6B10-450B-9861-9CA96623D407}">
      <dgm:prSet/>
      <dgm:spPr/>
      <dgm:t>
        <a:bodyPr/>
        <a:lstStyle/>
        <a:p>
          <a:endParaRPr lang="en-US"/>
        </a:p>
      </dgm:t>
    </dgm:pt>
    <dgm:pt modelId="{BFA3BDB2-7FE9-46C4-9369-083032C4FD45}" type="sibTrans" cxnId="{1129C46E-6B10-450B-9861-9CA96623D407}">
      <dgm:prSet/>
      <dgm:spPr/>
      <dgm:t>
        <a:bodyPr/>
        <a:lstStyle/>
        <a:p>
          <a:endParaRPr lang="en-US"/>
        </a:p>
      </dgm:t>
    </dgm:pt>
    <dgm:pt modelId="{DC484187-8CA6-4C92-9BD3-03FDBCCA14DE}">
      <dgm:prSet phldrT="[Text]"/>
      <dgm:spPr/>
      <dgm:t>
        <a:bodyPr/>
        <a:lstStyle/>
        <a:p>
          <a:pPr>
            <a:buNone/>
          </a:pPr>
          <a:r>
            <a:rPr lang="en-US" b="1" dirty="0"/>
            <a:t>Comparison Infographics</a:t>
          </a:r>
          <a:endParaRPr lang="en-US" dirty="0"/>
        </a:p>
      </dgm:t>
    </dgm:pt>
    <dgm:pt modelId="{17C448B1-4D0D-4C00-B7DF-888E13B08815}" type="parTrans" cxnId="{B765EB26-F9E5-4881-B260-7092128287BF}">
      <dgm:prSet/>
      <dgm:spPr/>
      <dgm:t>
        <a:bodyPr/>
        <a:lstStyle/>
        <a:p>
          <a:endParaRPr lang="en-US"/>
        </a:p>
      </dgm:t>
    </dgm:pt>
    <dgm:pt modelId="{EBC866B6-F20A-4912-B22C-E4FA30A57BA4}" type="sibTrans" cxnId="{B765EB26-F9E5-4881-B260-7092128287BF}">
      <dgm:prSet/>
      <dgm:spPr/>
      <dgm:t>
        <a:bodyPr/>
        <a:lstStyle/>
        <a:p>
          <a:endParaRPr lang="en-US"/>
        </a:p>
      </dgm:t>
    </dgm:pt>
    <dgm:pt modelId="{50329B4E-08BA-4063-B8F6-27F225D5B24A}">
      <dgm:prSet phldrT="[Text]"/>
      <dgm:spPr/>
      <dgm:t>
        <a:bodyPr/>
        <a:lstStyle/>
        <a:p>
          <a:pPr>
            <a:buNone/>
          </a:pPr>
          <a:r>
            <a:rPr lang="en-US" b="1" dirty="0"/>
            <a:t>Hierarchical Infographics</a:t>
          </a:r>
          <a:endParaRPr lang="en-US" dirty="0"/>
        </a:p>
      </dgm:t>
    </dgm:pt>
    <dgm:pt modelId="{897DD895-9C0E-4395-B1D7-AB0453339ADC}" type="parTrans" cxnId="{E82774C9-A462-4061-8288-54A847D11CA6}">
      <dgm:prSet/>
      <dgm:spPr/>
      <dgm:t>
        <a:bodyPr/>
        <a:lstStyle/>
        <a:p>
          <a:endParaRPr lang="en-US"/>
        </a:p>
      </dgm:t>
    </dgm:pt>
    <dgm:pt modelId="{B5340F92-8140-424F-8C9B-88D6A42A7753}" type="sibTrans" cxnId="{E82774C9-A462-4061-8288-54A847D11CA6}">
      <dgm:prSet/>
      <dgm:spPr/>
      <dgm:t>
        <a:bodyPr/>
        <a:lstStyle/>
        <a:p>
          <a:endParaRPr lang="en-US"/>
        </a:p>
      </dgm:t>
    </dgm:pt>
    <dgm:pt modelId="{7DBC5BBF-A8FB-4347-ACE7-6B2694B7A9BE}">
      <dgm:prSet phldrT="[Text]"/>
      <dgm:spPr/>
      <dgm:t>
        <a:bodyPr/>
        <a:lstStyle/>
        <a:p>
          <a:pPr>
            <a:buNone/>
          </a:pPr>
          <a:r>
            <a:rPr lang="en-US" b="1" dirty="0"/>
            <a:t>List Infographics</a:t>
          </a:r>
          <a:endParaRPr lang="en-US" dirty="0"/>
        </a:p>
      </dgm:t>
    </dgm:pt>
    <dgm:pt modelId="{88C88FE5-F03E-4859-9F9D-D03ED3C53681}" type="parTrans" cxnId="{B74DAC4C-0C97-4AEC-AC07-A22DB34EF997}">
      <dgm:prSet/>
      <dgm:spPr/>
      <dgm:t>
        <a:bodyPr/>
        <a:lstStyle/>
        <a:p>
          <a:endParaRPr lang="en-US"/>
        </a:p>
      </dgm:t>
    </dgm:pt>
    <dgm:pt modelId="{DF8085A7-4578-4097-A6C6-9B0AF7134337}" type="sibTrans" cxnId="{B74DAC4C-0C97-4AEC-AC07-A22DB34EF997}">
      <dgm:prSet/>
      <dgm:spPr/>
      <dgm:t>
        <a:bodyPr/>
        <a:lstStyle/>
        <a:p>
          <a:endParaRPr lang="en-US"/>
        </a:p>
      </dgm:t>
    </dgm:pt>
    <dgm:pt modelId="{68B484C9-424A-4D83-B371-C2EC0428811A}" type="pres">
      <dgm:prSet presAssocID="{2953B46C-8DCF-4E70-8C87-ACF251CCC2F9}" presName="linear" presStyleCnt="0">
        <dgm:presLayoutVars>
          <dgm:animLvl val="lvl"/>
          <dgm:resizeHandles val="exact"/>
        </dgm:presLayoutVars>
      </dgm:prSet>
      <dgm:spPr/>
    </dgm:pt>
    <dgm:pt modelId="{3499286F-8690-483E-B64E-5CEEED6CC482}" type="pres">
      <dgm:prSet presAssocID="{017CB1AE-79FE-408D-889A-5885FCF8EAD9}" presName="parentText" presStyleLbl="node1" presStyleIdx="0" presStyleCnt="8">
        <dgm:presLayoutVars>
          <dgm:chMax val="0"/>
          <dgm:bulletEnabled val="1"/>
        </dgm:presLayoutVars>
      </dgm:prSet>
      <dgm:spPr/>
    </dgm:pt>
    <dgm:pt modelId="{E1998D0C-ED9E-4FC8-9BA1-7BB114220A04}" type="pres">
      <dgm:prSet presAssocID="{AEDB9E8E-BB3F-4EE5-A8B1-DB88A18CC332}" presName="spacer" presStyleCnt="0"/>
      <dgm:spPr/>
    </dgm:pt>
    <dgm:pt modelId="{2C9AD620-1C60-4FFE-AB88-EAEE4FF6CF5D}" type="pres">
      <dgm:prSet presAssocID="{8CA3A34D-2001-4582-851B-30504FD58121}" presName="parentText" presStyleLbl="node1" presStyleIdx="1" presStyleCnt="8">
        <dgm:presLayoutVars>
          <dgm:chMax val="0"/>
          <dgm:bulletEnabled val="1"/>
        </dgm:presLayoutVars>
      </dgm:prSet>
      <dgm:spPr/>
    </dgm:pt>
    <dgm:pt modelId="{404D30EF-4886-450A-85CA-60E177120A95}" type="pres">
      <dgm:prSet presAssocID="{D8C3D3D4-05FA-47F9-A5B4-944F06C3C62D}" presName="spacer" presStyleCnt="0"/>
      <dgm:spPr/>
    </dgm:pt>
    <dgm:pt modelId="{FC4AC079-F4C6-4E09-8673-8ACE3FFA05C7}" type="pres">
      <dgm:prSet presAssocID="{AD41583C-2067-4D76-AC90-443901FA9EDA}" presName="parentText" presStyleLbl="node1" presStyleIdx="2" presStyleCnt="8">
        <dgm:presLayoutVars>
          <dgm:chMax val="0"/>
          <dgm:bulletEnabled val="1"/>
        </dgm:presLayoutVars>
      </dgm:prSet>
      <dgm:spPr/>
    </dgm:pt>
    <dgm:pt modelId="{5D43E13F-5130-4904-A65C-ED4CFF0F0DA0}" type="pres">
      <dgm:prSet presAssocID="{7328A112-8107-4531-931E-C0BA050F1CE0}" presName="spacer" presStyleCnt="0"/>
      <dgm:spPr/>
    </dgm:pt>
    <dgm:pt modelId="{D756CD92-E468-491C-AD26-CDE818372260}" type="pres">
      <dgm:prSet presAssocID="{7409C58D-3FCF-4083-82B9-54D01B512426}" presName="parentText" presStyleLbl="node1" presStyleIdx="3" presStyleCnt="8">
        <dgm:presLayoutVars>
          <dgm:chMax val="0"/>
          <dgm:bulletEnabled val="1"/>
        </dgm:presLayoutVars>
      </dgm:prSet>
      <dgm:spPr/>
    </dgm:pt>
    <dgm:pt modelId="{BED0DF74-5F6C-4592-98E9-75D27B16941D}" type="pres">
      <dgm:prSet presAssocID="{68CD9868-0C82-4056-B4C3-298F7CFF6A91}" presName="spacer" presStyleCnt="0"/>
      <dgm:spPr/>
    </dgm:pt>
    <dgm:pt modelId="{D4A456BC-C7D1-4709-B31E-131746407444}" type="pres">
      <dgm:prSet presAssocID="{A1E79A7A-B283-4617-97AB-8FB53EB166BF}" presName="parentText" presStyleLbl="node1" presStyleIdx="4" presStyleCnt="8">
        <dgm:presLayoutVars>
          <dgm:chMax val="0"/>
          <dgm:bulletEnabled val="1"/>
        </dgm:presLayoutVars>
      </dgm:prSet>
      <dgm:spPr/>
    </dgm:pt>
    <dgm:pt modelId="{392C2045-BCBF-4627-B621-FD2FC4D602EF}" type="pres">
      <dgm:prSet presAssocID="{BFA3BDB2-7FE9-46C4-9369-083032C4FD45}" presName="spacer" presStyleCnt="0"/>
      <dgm:spPr/>
    </dgm:pt>
    <dgm:pt modelId="{6EF6D743-CEDD-46CD-9C1D-69D4FA6B6356}" type="pres">
      <dgm:prSet presAssocID="{DC484187-8CA6-4C92-9BD3-03FDBCCA14DE}" presName="parentText" presStyleLbl="node1" presStyleIdx="5" presStyleCnt="8">
        <dgm:presLayoutVars>
          <dgm:chMax val="0"/>
          <dgm:bulletEnabled val="1"/>
        </dgm:presLayoutVars>
      </dgm:prSet>
      <dgm:spPr/>
    </dgm:pt>
    <dgm:pt modelId="{3B6F26D7-7468-4F40-B462-3D75693148C4}" type="pres">
      <dgm:prSet presAssocID="{EBC866B6-F20A-4912-B22C-E4FA30A57BA4}" presName="spacer" presStyleCnt="0"/>
      <dgm:spPr/>
    </dgm:pt>
    <dgm:pt modelId="{FD669AE0-EF3A-4E7E-BCDC-85AE4CA57823}" type="pres">
      <dgm:prSet presAssocID="{50329B4E-08BA-4063-B8F6-27F225D5B24A}" presName="parentText" presStyleLbl="node1" presStyleIdx="6" presStyleCnt="8">
        <dgm:presLayoutVars>
          <dgm:chMax val="0"/>
          <dgm:bulletEnabled val="1"/>
        </dgm:presLayoutVars>
      </dgm:prSet>
      <dgm:spPr/>
    </dgm:pt>
    <dgm:pt modelId="{9FF81555-7B33-45C3-8209-679B83AC05C5}" type="pres">
      <dgm:prSet presAssocID="{B5340F92-8140-424F-8C9B-88D6A42A7753}" presName="spacer" presStyleCnt="0"/>
      <dgm:spPr/>
    </dgm:pt>
    <dgm:pt modelId="{D7820115-2570-4E43-BE7A-EB5E11B61DA7}" type="pres">
      <dgm:prSet presAssocID="{7DBC5BBF-A8FB-4347-ACE7-6B2694B7A9BE}" presName="parentText" presStyleLbl="node1" presStyleIdx="7" presStyleCnt="8">
        <dgm:presLayoutVars>
          <dgm:chMax val="0"/>
          <dgm:bulletEnabled val="1"/>
        </dgm:presLayoutVars>
      </dgm:prSet>
      <dgm:spPr/>
    </dgm:pt>
  </dgm:ptLst>
  <dgm:cxnLst>
    <dgm:cxn modelId="{41244309-5EB8-432E-B98E-6E81CDCCE62F}" type="presOf" srcId="{8CA3A34D-2001-4582-851B-30504FD58121}" destId="{2C9AD620-1C60-4FFE-AB88-EAEE4FF6CF5D}" srcOrd="0" destOrd="0" presId="urn:microsoft.com/office/officeart/2005/8/layout/vList2"/>
    <dgm:cxn modelId="{B765EB26-F9E5-4881-B260-7092128287BF}" srcId="{2953B46C-8DCF-4E70-8C87-ACF251CCC2F9}" destId="{DC484187-8CA6-4C92-9BD3-03FDBCCA14DE}" srcOrd="5" destOrd="0" parTransId="{17C448B1-4D0D-4C00-B7DF-888E13B08815}" sibTransId="{EBC866B6-F20A-4912-B22C-E4FA30A57BA4}"/>
    <dgm:cxn modelId="{2BF30243-62A5-4E50-B5DA-670AE022C49D}" srcId="{2953B46C-8DCF-4E70-8C87-ACF251CCC2F9}" destId="{AD41583C-2067-4D76-AC90-443901FA9EDA}" srcOrd="2" destOrd="0" parTransId="{04797CAD-4A5D-4B76-8F4A-A4AEFC69DF6E}" sibTransId="{7328A112-8107-4531-931E-C0BA050F1CE0}"/>
    <dgm:cxn modelId="{B74DAC4C-0C97-4AEC-AC07-A22DB34EF997}" srcId="{2953B46C-8DCF-4E70-8C87-ACF251CCC2F9}" destId="{7DBC5BBF-A8FB-4347-ACE7-6B2694B7A9BE}" srcOrd="7" destOrd="0" parTransId="{88C88FE5-F03E-4859-9F9D-D03ED3C53681}" sibTransId="{DF8085A7-4578-4097-A6C6-9B0AF7134337}"/>
    <dgm:cxn modelId="{BD4AEE6C-AF39-4B8F-9FFC-B181D86639E0}" type="presOf" srcId="{50329B4E-08BA-4063-B8F6-27F225D5B24A}" destId="{FD669AE0-EF3A-4E7E-BCDC-85AE4CA57823}" srcOrd="0" destOrd="0" presId="urn:microsoft.com/office/officeart/2005/8/layout/vList2"/>
    <dgm:cxn modelId="{1129C46E-6B10-450B-9861-9CA96623D407}" srcId="{2953B46C-8DCF-4E70-8C87-ACF251CCC2F9}" destId="{A1E79A7A-B283-4617-97AB-8FB53EB166BF}" srcOrd="4" destOrd="0" parTransId="{0F4A4027-1FAA-49FF-B8F4-65FDCDE3C782}" sibTransId="{BFA3BDB2-7FE9-46C4-9369-083032C4FD45}"/>
    <dgm:cxn modelId="{11A9487B-0812-4650-8719-901A005B1444}" type="presOf" srcId="{017CB1AE-79FE-408D-889A-5885FCF8EAD9}" destId="{3499286F-8690-483E-B64E-5CEEED6CC482}" srcOrd="0" destOrd="0" presId="urn:microsoft.com/office/officeart/2005/8/layout/vList2"/>
    <dgm:cxn modelId="{5A16C38A-3DD4-4B31-81EE-DAA7CAF14CF8}" type="presOf" srcId="{7409C58D-3FCF-4083-82B9-54D01B512426}" destId="{D756CD92-E468-491C-AD26-CDE818372260}" srcOrd="0" destOrd="0" presId="urn:microsoft.com/office/officeart/2005/8/layout/vList2"/>
    <dgm:cxn modelId="{574B2490-7389-4F59-89E7-A3485BE15E17}" srcId="{2953B46C-8DCF-4E70-8C87-ACF251CCC2F9}" destId="{7409C58D-3FCF-4083-82B9-54D01B512426}" srcOrd="3" destOrd="0" parTransId="{2FCA2471-C34F-4433-ADF6-6F961283210A}" sibTransId="{68CD9868-0C82-4056-B4C3-298F7CFF6A91}"/>
    <dgm:cxn modelId="{3052DA95-B61B-4CBE-BAA5-3C8844C4DC57}" type="presOf" srcId="{DC484187-8CA6-4C92-9BD3-03FDBCCA14DE}" destId="{6EF6D743-CEDD-46CD-9C1D-69D4FA6B6356}" srcOrd="0" destOrd="0" presId="urn:microsoft.com/office/officeart/2005/8/layout/vList2"/>
    <dgm:cxn modelId="{237A7BAF-B599-40F6-9D5F-EB9AA08B85AC}" type="presOf" srcId="{AD41583C-2067-4D76-AC90-443901FA9EDA}" destId="{FC4AC079-F4C6-4E09-8673-8ACE3FFA05C7}" srcOrd="0" destOrd="0" presId="urn:microsoft.com/office/officeart/2005/8/layout/vList2"/>
    <dgm:cxn modelId="{B8E8A2B0-9776-4723-9335-4645F65F606D}" srcId="{2953B46C-8DCF-4E70-8C87-ACF251CCC2F9}" destId="{8CA3A34D-2001-4582-851B-30504FD58121}" srcOrd="1" destOrd="0" parTransId="{01814412-EDFC-4D27-878B-B4F9C29B2FB7}" sibTransId="{D8C3D3D4-05FA-47F9-A5B4-944F06C3C62D}"/>
    <dgm:cxn modelId="{3DB014C1-4BA6-4AC9-85FE-9878EDEB4BE9}" srcId="{2953B46C-8DCF-4E70-8C87-ACF251CCC2F9}" destId="{017CB1AE-79FE-408D-889A-5885FCF8EAD9}" srcOrd="0" destOrd="0" parTransId="{1F0B9B57-A2E6-4EF7-A408-1672C6499B78}" sibTransId="{AEDB9E8E-BB3F-4EE5-A8B1-DB88A18CC332}"/>
    <dgm:cxn modelId="{BF8B8AC4-FEA5-4B25-BCDB-ECCEF7EF9AF8}" type="presOf" srcId="{7DBC5BBF-A8FB-4347-ACE7-6B2694B7A9BE}" destId="{D7820115-2570-4E43-BE7A-EB5E11B61DA7}" srcOrd="0" destOrd="0" presId="urn:microsoft.com/office/officeart/2005/8/layout/vList2"/>
    <dgm:cxn modelId="{E82774C9-A462-4061-8288-54A847D11CA6}" srcId="{2953B46C-8DCF-4E70-8C87-ACF251CCC2F9}" destId="{50329B4E-08BA-4063-B8F6-27F225D5B24A}" srcOrd="6" destOrd="0" parTransId="{897DD895-9C0E-4395-B1D7-AB0453339ADC}" sibTransId="{B5340F92-8140-424F-8C9B-88D6A42A7753}"/>
    <dgm:cxn modelId="{CF6241DF-36BF-4FA6-A4DD-E861426AB845}" type="presOf" srcId="{A1E79A7A-B283-4617-97AB-8FB53EB166BF}" destId="{D4A456BC-C7D1-4709-B31E-131746407444}" srcOrd="0" destOrd="0" presId="urn:microsoft.com/office/officeart/2005/8/layout/vList2"/>
    <dgm:cxn modelId="{424AABE7-33AB-4E12-9BE6-9699431FAE4E}" type="presOf" srcId="{2953B46C-8DCF-4E70-8C87-ACF251CCC2F9}" destId="{68B484C9-424A-4D83-B371-C2EC0428811A}" srcOrd="0" destOrd="0" presId="urn:microsoft.com/office/officeart/2005/8/layout/vList2"/>
    <dgm:cxn modelId="{14B60FBC-DD73-4944-9FFF-A5162CEA9C8C}" type="presParOf" srcId="{68B484C9-424A-4D83-B371-C2EC0428811A}" destId="{3499286F-8690-483E-B64E-5CEEED6CC482}" srcOrd="0" destOrd="0" presId="urn:microsoft.com/office/officeart/2005/8/layout/vList2"/>
    <dgm:cxn modelId="{D8F5CB63-B767-4EDE-AE07-49BB267F5328}" type="presParOf" srcId="{68B484C9-424A-4D83-B371-C2EC0428811A}" destId="{E1998D0C-ED9E-4FC8-9BA1-7BB114220A04}" srcOrd="1" destOrd="0" presId="urn:microsoft.com/office/officeart/2005/8/layout/vList2"/>
    <dgm:cxn modelId="{D46C16F0-EF83-4418-A0E7-BC320888A0C8}" type="presParOf" srcId="{68B484C9-424A-4D83-B371-C2EC0428811A}" destId="{2C9AD620-1C60-4FFE-AB88-EAEE4FF6CF5D}" srcOrd="2" destOrd="0" presId="urn:microsoft.com/office/officeart/2005/8/layout/vList2"/>
    <dgm:cxn modelId="{1916A0F7-66FB-4D2E-BC78-604F346C4B40}" type="presParOf" srcId="{68B484C9-424A-4D83-B371-C2EC0428811A}" destId="{404D30EF-4886-450A-85CA-60E177120A95}" srcOrd="3" destOrd="0" presId="urn:microsoft.com/office/officeart/2005/8/layout/vList2"/>
    <dgm:cxn modelId="{FDC694C7-4056-49C2-9394-C9C5738E2C9B}" type="presParOf" srcId="{68B484C9-424A-4D83-B371-C2EC0428811A}" destId="{FC4AC079-F4C6-4E09-8673-8ACE3FFA05C7}" srcOrd="4" destOrd="0" presId="urn:microsoft.com/office/officeart/2005/8/layout/vList2"/>
    <dgm:cxn modelId="{0C5DC0EA-5AD5-413A-A764-45B52EF40617}" type="presParOf" srcId="{68B484C9-424A-4D83-B371-C2EC0428811A}" destId="{5D43E13F-5130-4904-A65C-ED4CFF0F0DA0}" srcOrd="5" destOrd="0" presId="urn:microsoft.com/office/officeart/2005/8/layout/vList2"/>
    <dgm:cxn modelId="{62E04467-DCB1-43B8-8718-5C5866B29778}" type="presParOf" srcId="{68B484C9-424A-4D83-B371-C2EC0428811A}" destId="{D756CD92-E468-491C-AD26-CDE818372260}" srcOrd="6" destOrd="0" presId="urn:microsoft.com/office/officeart/2005/8/layout/vList2"/>
    <dgm:cxn modelId="{F4B7E603-F3EC-4A8F-9D3F-B506200677C2}" type="presParOf" srcId="{68B484C9-424A-4D83-B371-C2EC0428811A}" destId="{BED0DF74-5F6C-4592-98E9-75D27B16941D}" srcOrd="7" destOrd="0" presId="urn:microsoft.com/office/officeart/2005/8/layout/vList2"/>
    <dgm:cxn modelId="{EFF4D9FA-9173-4C75-B23A-81B84F222ABB}" type="presParOf" srcId="{68B484C9-424A-4D83-B371-C2EC0428811A}" destId="{D4A456BC-C7D1-4709-B31E-131746407444}" srcOrd="8" destOrd="0" presId="urn:microsoft.com/office/officeart/2005/8/layout/vList2"/>
    <dgm:cxn modelId="{6BEBA254-5581-4B8F-AA54-90812A699A32}" type="presParOf" srcId="{68B484C9-424A-4D83-B371-C2EC0428811A}" destId="{392C2045-BCBF-4627-B621-FD2FC4D602EF}" srcOrd="9" destOrd="0" presId="urn:microsoft.com/office/officeart/2005/8/layout/vList2"/>
    <dgm:cxn modelId="{9BEA2774-0373-4591-A62C-CABF08C07344}" type="presParOf" srcId="{68B484C9-424A-4D83-B371-C2EC0428811A}" destId="{6EF6D743-CEDD-46CD-9C1D-69D4FA6B6356}" srcOrd="10" destOrd="0" presId="urn:microsoft.com/office/officeart/2005/8/layout/vList2"/>
    <dgm:cxn modelId="{A0F85A35-798A-4B4B-8E05-E2D1074C8E66}" type="presParOf" srcId="{68B484C9-424A-4D83-B371-C2EC0428811A}" destId="{3B6F26D7-7468-4F40-B462-3D75693148C4}" srcOrd="11" destOrd="0" presId="urn:microsoft.com/office/officeart/2005/8/layout/vList2"/>
    <dgm:cxn modelId="{AAE37A8B-6931-466B-8487-9D1945AB4CFC}" type="presParOf" srcId="{68B484C9-424A-4D83-B371-C2EC0428811A}" destId="{FD669AE0-EF3A-4E7E-BCDC-85AE4CA57823}" srcOrd="12" destOrd="0" presId="urn:microsoft.com/office/officeart/2005/8/layout/vList2"/>
    <dgm:cxn modelId="{85A6B1EA-AB2E-4A7E-9E69-3B3E2B92384C}" type="presParOf" srcId="{68B484C9-424A-4D83-B371-C2EC0428811A}" destId="{9FF81555-7B33-45C3-8209-679B83AC05C5}" srcOrd="13" destOrd="0" presId="urn:microsoft.com/office/officeart/2005/8/layout/vList2"/>
    <dgm:cxn modelId="{332A4D11-DD09-4FDE-9808-8D59D83A7C0F}" type="presParOf" srcId="{68B484C9-424A-4D83-B371-C2EC0428811A}" destId="{D7820115-2570-4E43-BE7A-EB5E11B61DA7}"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357C4D-56A4-4922-8599-3669B981D66E}">
      <dsp:nvSpPr>
        <dsp:cNvPr id="0" name=""/>
        <dsp:cNvSpPr/>
      </dsp:nvSpPr>
      <dsp:spPr>
        <a:xfrm rot="5400000">
          <a:off x="780721" y="903003"/>
          <a:ext cx="2177596" cy="1894509"/>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Search Engine Optimization (SEO)</a:t>
          </a:r>
          <a:endParaRPr lang="en-US" sz="1700" kern="1200" dirty="0"/>
        </a:p>
      </dsp:txBody>
      <dsp:txXfrm rot="-5400000">
        <a:off x="1217492" y="1100802"/>
        <a:ext cx="1304053" cy="1498912"/>
      </dsp:txXfrm>
    </dsp:sp>
    <dsp:sp modelId="{0EFFBE21-0C39-463C-B1CC-BCB500128020}">
      <dsp:nvSpPr>
        <dsp:cNvPr id="0" name=""/>
        <dsp:cNvSpPr/>
      </dsp:nvSpPr>
      <dsp:spPr>
        <a:xfrm>
          <a:off x="6576607" y="438696"/>
          <a:ext cx="2430198" cy="1306558"/>
        </a:xfrm>
        <a:prstGeom prst="rect">
          <a:avLst/>
        </a:prstGeom>
        <a:noFill/>
        <a:ln>
          <a:noFill/>
        </a:ln>
        <a:effectLst/>
      </dsp:spPr>
      <dsp:style>
        <a:lnRef idx="0">
          <a:scrgbClr r="0" g="0" b="0"/>
        </a:lnRef>
        <a:fillRef idx="0">
          <a:scrgbClr r="0" g="0" b="0"/>
        </a:fillRef>
        <a:effectRef idx="0">
          <a:scrgbClr r="0" g="0" b="0"/>
        </a:effectRef>
        <a:fontRef idx="minor"/>
      </dsp:style>
    </dsp:sp>
    <dsp:sp modelId="{E4F78CB9-DF12-412F-8CB3-A1DFD1C233B7}">
      <dsp:nvSpPr>
        <dsp:cNvPr id="0" name=""/>
        <dsp:cNvSpPr/>
      </dsp:nvSpPr>
      <dsp:spPr>
        <a:xfrm rot="5400000">
          <a:off x="7786237" y="795865"/>
          <a:ext cx="2177596" cy="1894509"/>
        </a:xfrm>
        <a:prstGeom prst="hexagon">
          <a:avLst>
            <a:gd name="adj" fmla="val 2500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kern="1200" dirty="0"/>
            <a:t>Content Marketing</a:t>
          </a:r>
        </a:p>
      </dsp:txBody>
      <dsp:txXfrm rot="-5400000">
        <a:off x="8223008" y="993664"/>
        <a:ext cx="1304053" cy="1498912"/>
      </dsp:txXfrm>
    </dsp:sp>
    <dsp:sp modelId="{3E8A39C0-DD73-4606-AC90-AF53D2E34056}">
      <dsp:nvSpPr>
        <dsp:cNvPr id="0" name=""/>
        <dsp:cNvSpPr/>
      </dsp:nvSpPr>
      <dsp:spPr>
        <a:xfrm rot="5400000">
          <a:off x="2951717" y="2539293"/>
          <a:ext cx="2177596" cy="1894509"/>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Email Marketing</a:t>
          </a:r>
        </a:p>
      </dsp:txBody>
      <dsp:txXfrm rot="-5400000">
        <a:off x="3388488" y="2737092"/>
        <a:ext cx="1304053" cy="1498912"/>
      </dsp:txXfrm>
    </dsp:sp>
    <dsp:sp modelId="{D35CAEF2-4E97-4C0B-8951-31D1C5C44271}">
      <dsp:nvSpPr>
        <dsp:cNvPr id="0" name=""/>
        <dsp:cNvSpPr/>
      </dsp:nvSpPr>
      <dsp:spPr>
        <a:xfrm>
          <a:off x="1167456" y="2287040"/>
          <a:ext cx="2351804" cy="1306558"/>
        </a:xfrm>
        <a:prstGeom prst="rect">
          <a:avLst/>
        </a:prstGeom>
        <a:noFill/>
        <a:ln>
          <a:noFill/>
        </a:ln>
        <a:effectLst/>
      </dsp:spPr>
      <dsp:style>
        <a:lnRef idx="0">
          <a:scrgbClr r="0" g="0" b="0"/>
        </a:lnRef>
        <a:fillRef idx="0">
          <a:scrgbClr r="0" g="0" b="0"/>
        </a:fillRef>
        <a:effectRef idx="0">
          <a:scrgbClr r="0" g="0" b="0"/>
        </a:effectRef>
        <a:fontRef idx="minor"/>
      </dsp:style>
    </dsp:sp>
    <dsp:sp modelId="{5D253248-06E2-40AB-83A6-D98ECE886DEC}">
      <dsp:nvSpPr>
        <dsp:cNvPr id="0" name=""/>
        <dsp:cNvSpPr/>
      </dsp:nvSpPr>
      <dsp:spPr>
        <a:xfrm rot="5400000">
          <a:off x="5519610" y="2540273"/>
          <a:ext cx="2177596" cy="1894509"/>
        </a:xfrm>
        <a:prstGeom prst="hexagon">
          <a:avLst>
            <a:gd name="adj" fmla="val 2500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kern="1200" dirty="0"/>
            <a:t>Social Media Marketing</a:t>
          </a:r>
        </a:p>
      </dsp:txBody>
      <dsp:txXfrm rot="-5400000">
        <a:off x="5956381" y="2738072"/>
        <a:ext cx="1304053" cy="1498912"/>
      </dsp:txXfrm>
    </dsp:sp>
    <dsp:sp modelId="{E44355A0-BD21-4B96-BD2C-EC190D22175D}">
      <dsp:nvSpPr>
        <dsp:cNvPr id="0" name=""/>
        <dsp:cNvSpPr/>
      </dsp:nvSpPr>
      <dsp:spPr>
        <a:xfrm rot="5400000">
          <a:off x="735139" y="3698297"/>
          <a:ext cx="2177596" cy="1894509"/>
        </a:xfrm>
        <a:prstGeom prst="hexagon">
          <a:avLst>
            <a:gd name="adj" fmla="val 2500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Pay Per Click</a:t>
          </a:r>
        </a:p>
      </dsp:txBody>
      <dsp:txXfrm rot="-5400000">
        <a:off x="1171910" y="3896096"/>
        <a:ext cx="1304053" cy="1498912"/>
      </dsp:txXfrm>
    </dsp:sp>
    <dsp:sp modelId="{01FC1486-A0D2-4417-A408-492C39760E06}">
      <dsp:nvSpPr>
        <dsp:cNvPr id="0" name=""/>
        <dsp:cNvSpPr/>
      </dsp:nvSpPr>
      <dsp:spPr>
        <a:xfrm>
          <a:off x="6576607" y="4135384"/>
          <a:ext cx="2430198" cy="1306558"/>
        </a:xfrm>
        <a:prstGeom prst="rect">
          <a:avLst/>
        </a:prstGeom>
        <a:noFill/>
        <a:ln>
          <a:noFill/>
        </a:ln>
        <a:effectLst/>
      </dsp:spPr>
      <dsp:style>
        <a:lnRef idx="0">
          <a:scrgbClr r="0" g="0" b="0"/>
        </a:lnRef>
        <a:fillRef idx="0">
          <a:scrgbClr r="0" g="0" b="0"/>
        </a:fillRef>
        <a:effectRef idx="0">
          <a:scrgbClr r="0" g="0" b="0"/>
        </a:effectRef>
        <a:fontRef idx="minor"/>
      </dsp:style>
    </dsp:sp>
    <dsp:sp modelId="{B76F2A0A-98B4-4173-87B9-D46BEB25B61A}">
      <dsp:nvSpPr>
        <dsp:cNvPr id="0" name=""/>
        <dsp:cNvSpPr/>
      </dsp:nvSpPr>
      <dsp:spPr>
        <a:xfrm rot="5400000">
          <a:off x="7813083" y="3500332"/>
          <a:ext cx="2177596" cy="1894509"/>
        </a:xfrm>
        <a:prstGeom prst="hexagon">
          <a:avLst>
            <a:gd name="adj" fmla="val 2500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en-US" sz="2500" kern="1200" dirty="0"/>
            <a:t>Mobile Marketing</a:t>
          </a:r>
        </a:p>
      </dsp:txBody>
      <dsp:txXfrm rot="-5400000">
        <a:off x="8249854" y="3698131"/>
        <a:ext cx="1304053" cy="14989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6F1C9-BCC8-4E06-A667-C24836129E76}">
      <dsp:nvSpPr>
        <dsp:cNvPr id="0" name=""/>
        <dsp:cNvSpPr/>
      </dsp:nvSpPr>
      <dsp:spPr>
        <a:xfrm rot="5400000">
          <a:off x="-154543" y="157177"/>
          <a:ext cx="1030290" cy="721203"/>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R</a:t>
          </a:r>
        </a:p>
      </dsp:txBody>
      <dsp:txXfrm rot="-5400000">
        <a:off x="1" y="363236"/>
        <a:ext cx="721203" cy="309087"/>
      </dsp:txXfrm>
    </dsp:sp>
    <dsp:sp modelId="{DFA5D6BA-AB79-434C-AC93-62394C726C8B}">
      <dsp:nvSpPr>
        <dsp:cNvPr id="0" name=""/>
        <dsp:cNvSpPr/>
      </dsp:nvSpPr>
      <dsp:spPr>
        <a:xfrm rot="5400000">
          <a:off x="3670806" y="-2946969"/>
          <a:ext cx="669688" cy="6568895"/>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a:t>Reach</a:t>
          </a:r>
        </a:p>
      </dsp:txBody>
      <dsp:txXfrm rot="-5400000">
        <a:off x="721203" y="35325"/>
        <a:ext cx="6536204" cy="604306"/>
      </dsp:txXfrm>
    </dsp:sp>
    <dsp:sp modelId="{001D8DAB-DBB9-4C7A-829C-35F4ED2F5C8E}">
      <dsp:nvSpPr>
        <dsp:cNvPr id="0" name=""/>
        <dsp:cNvSpPr/>
      </dsp:nvSpPr>
      <dsp:spPr>
        <a:xfrm rot="5400000">
          <a:off x="-154543" y="1037331"/>
          <a:ext cx="1030290" cy="721203"/>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rot="-5400000">
        <a:off x="1" y="1243390"/>
        <a:ext cx="721203" cy="309087"/>
      </dsp:txXfrm>
    </dsp:sp>
    <dsp:sp modelId="{3B4541DE-9CF2-4BD8-B875-99342E3A2861}">
      <dsp:nvSpPr>
        <dsp:cNvPr id="0" name=""/>
        <dsp:cNvSpPr/>
      </dsp:nvSpPr>
      <dsp:spPr>
        <a:xfrm rot="5400000">
          <a:off x="3670806" y="-2066815"/>
          <a:ext cx="669688" cy="6568895"/>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a:t>Act</a:t>
          </a:r>
        </a:p>
      </dsp:txBody>
      <dsp:txXfrm rot="-5400000">
        <a:off x="721203" y="915479"/>
        <a:ext cx="6536204" cy="604306"/>
      </dsp:txXfrm>
    </dsp:sp>
    <dsp:sp modelId="{EEBDFD2D-9B38-4B5E-BBD6-12ED988AC9F6}">
      <dsp:nvSpPr>
        <dsp:cNvPr id="0" name=""/>
        <dsp:cNvSpPr/>
      </dsp:nvSpPr>
      <dsp:spPr>
        <a:xfrm rot="5400000">
          <a:off x="-154543" y="1917484"/>
          <a:ext cx="1030290" cy="721203"/>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rot="-5400000">
        <a:off x="1" y="2123543"/>
        <a:ext cx="721203" cy="309087"/>
      </dsp:txXfrm>
    </dsp:sp>
    <dsp:sp modelId="{C3692202-CB0E-4752-893F-907E58FC98A9}">
      <dsp:nvSpPr>
        <dsp:cNvPr id="0" name=""/>
        <dsp:cNvSpPr/>
      </dsp:nvSpPr>
      <dsp:spPr>
        <a:xfrm rot="5400000">
          <a:off x="3670806" y="-1186662"/>
          <a:ext cx="669688" cy="6568895"/>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a:t>Convert</a:t>
          </a:r>
        </a:p>
      </dsp:txBody>
      <dsp:txXfrm rot="-5400000">
        <a:off x="721203" y="1795632"/>
        <a:ext cx="6536204" cy="604306"/>
      </dsp:txXfrm>
    </dsp:sp>
    <dsp:sp modelId="{092C6D97-D386-4FC0-AA1C-C16D7AE6CF1D}">
      <dsp:nvSpPr>
        <dsp:cNvPr id="0" name=""/>
        <dsp:cNvSpPr/>
      </dsp:nvSpPr>
      <dsp:spPr>
        <a:xfrm rot="5400000">
          <a:off x="-154543" y="2797638"/>
          <a:ext cx="1030290" cy="721203"/>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E</a:t>
          </a:r>
        </a:p>
      </dsp:txBody>
      <dsp:txXfrm rot="-5400000">
        <a:off x="1" y="3003697"/>
        <a:ext cx="721203" cy="309087"/>
      </dsp:txXfrm>
    </dsp:sp>
    <dsp:sp modelId="{9BD554E2-AF92-467A-A2C2-4853F007B91B}">
      <dsp:nvSpPr>
        <dsp:cNvPr id="0" name=""/>
        <dsp:cNvSpPr/>
      </dsp:nvSpPr>
      <dsp:spPr>
        <a:xfrm rot="5400000">
          <a:off x="3670806" y="-306508"/>
          <a:ext cx="669688" cy="6568895"/>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en-US" sz="4000" kern="1200" dirty="0"/>
            <a:t>Engage</a:t>
          </a:r>
        </a:p>
      </dsp:txBody>
      <dsp:txXfrm rot="-5400000">
        <a:off x="721203" y="2675786"/>
        <a:ext cx="6536204" cy="6043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F55F7F-47E0-4C9F-8C1A-A08F20CE5891}">
      <dsp:nvSpPr>
        <dsp:cNvPr id="0" name=""/>
        <dsp:cNvSpPr/>
      </dsp:nvSpPr>
      <dsp:spPr>
        <a:xfrm>
          <a:off x="3754427" y="1808"/>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just" defTabSz="711200">
            <a:lnSpc>
              <a:spcPct val="90000"/>
            </a:lnSpc>
            <a:spcBef>
              <a:spcPct val="0"/>
            </a:spcBef>
            <a:spcAft>
              <a:spcPct val="15000"/>
            </a:spcAft>
            <a:buChar char="•"/>
          </a:pPr>
          <a:r>
            <a:rPr lang="en-US" sz="1600" b="0" i="0" kern="1200" dirty="0"/>
            <a:t>Digital marketing helps improve </a:t>
          </a:r>
          <a:r>
            <a:rPr lang="en-US" sz="1600" b="1" i="0" kern="1200" dirty="0"/>
            <a:t>awareness about products </a:t>
          </a:r>
          <a:r>
            <a:rPr lang="en-US" sz="1600" b="0" i="0" kern="1200" dirty="0"/>
            <a:t>and services through an online platform to reach a wide base of customers </a:t>
          </a:r>
          <a:r>
            <a:rPr lang="en-US" sz="1600" b="1" i="0" kern="1200" dirty="0"/>
            <a:t>across the world</a:t>
          </a:r>
          <a:r>
            <a:rPr lang="en-US" sz="1600" b="0" i="0" kern="1200" dirty="0"/>
            <a:t>. </a:t>
          </a:r>
          <a:endParaRPr lang="en-IN" sz="1600" kern="1200" dirty="0"/>
        </a:p>
      </dsp:txBody>
      <dsp:txXfrm>
        <a:off x="3754427" y="82089"/>
        <a:ext cx="7773875" cy="481686"/>
      </dsp:txXfrm>
    </dsp:sp>
    <dsp:sp modelId="{29C125EA-172E-4678-A511-56A3C5C55820}">
      <dsp:nvSpPr>
        <dsp:cNvPr id="0" name=""/>
        <dsp:cNvSpPr/>
      </dsp:nvSpPr>
      <dsp:spPr>
        <a:xfrm>
          <a:off x="159328" y="1808"/>
          <a:ext cx="3595099" cy="642248"/>
        </a:xfrm>
        <a:prstGeom prst="roundRect">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Wider Reach</a:t>
          </a:r>
          <a:endParaRPr lang="en-IN" sz="2400" b="1" kern="1200" dirty="0"/>
        </a:p>
      </dsp:txBody>
      <dsp:txXfrm>
        <a:off x="190680" y="33160"/>
        <a:ext cx="3532395" cy="579544"/>
      </dsp:txXfrm>
    </dsp:sp>
    <dsp:sp modelId="{DD0C4C7B-338D-4A92-8958-26FE0BE7A64F}">
      <dsp:nvSpPr>
        <dsp:cNvPr id="0" name=""/>
        <dsp:cNvSpPr/>
      </dsp:nvSpPr>
      <dsp:spPr>
        <a:xfrm>
          <a:off x="3754427" y="708281"/>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just" defTabSz="711200">
            <a:lnSpc>
              <a:spcPct val="90000"/>
            </a:lnSpc>
            <a:spcBef>
              <a:spcPct val="0"/>
            </a:spcBef>
            <a:spcAft>
              <a:spcPct val="15000"/>
            </a:spcAft>
            <a:buChar char="•"/>
          </a:pPr>
          <a:r>
            <a:rPr lang="en-US" sz="1600" b="0" i="0" kern="1200" dirty="0"/>
            <a:t>Digital marketing helps to build the brand in various ways of </a:t>
          </a:r>
          <a:r>
            <a:rPr lang="en-US" sz="1600" b="1" i="0" kern="1200" dirty="0"/>
            <a:t>direct campaigning and personalized approach.</a:t>
          </a:r>
          <a:endParaRPr lang="en-IN" sz="1600" b="1" kern="1200" dirty="0"/>
        </a:p>
      </dsp:txBody>
      <dsp:txXfrm>
        <a:off x="3754427" y="788562"/>
        <a:ext cx="7773875" cy="481686"/>
      </dsp:txXfrm>
    </dsp:sp>
    <dsp:sp modelId="{82FC78B8-3845-4931-9D37-7695E8A84A4E}">
      <dsp:nvSpPr>
        <dsp:cNvPr id="0" name=""/>
        <dsp:cNvSpPr/>
      </dsp:nvSpPr>
      <dsp:spPr>
        <a:xfrm>
          <a:off x="159328" y="708281"/>
          <a:ext cx="3595099" cy="642248"/>
        </a:xfrm>
        <a:prstGeom prst="roundRect">
          <a:avLst/>
        </a:prstGeom>
        <a:solidFill>
          <a:schemeClr val="accent6">
            <a:shade val="80000"/>
            <a:hueOff val="-9294"/>
            <a:satOff val="-1713"/>
            <a:lumOff val="39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Brand Development</a:t>
          </a:r>
          <a:endParaRPr lang="en-IN" sz="2400" b="1" kern="1200" dirty="0"/>
        </a:p>
      </dsp:txBody>
      <dsp:txXfrm>
        <a:off x="190680" y="739633"/>
        <a:ext cx="3532395" cy="579544"/>
      </dsp:txXfrm>
    </dsp:sp>
    <dsp:sp modelId="{C7CA6E80-DCC5-42DD-A0D6-C54E57EE28AD}">
      <dsp:nvSpPr>
        <dsp:cNvPr id="0" name=""/>
        <dsp:cNvSpPr/>
      </dsp:nvSpPr>
      <dsp:spPr>
        <a:xfrm>
          <a:off x="3754427" y="1414754"/>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Bringing the audience closer and approaching them with the product that meets their requirement, helps to </a:t>
          </a:r>
          <a:r>
            <a:rPr lang="en-US" sz="1600" b="1" i="0" kern="1200" dirty="0"/>
            <a:t>create brand loyalty </a:t>
          </a:r>
          <a:r>
            <a:rPr lang="en-US" sz="1600" b="0" i="0" kern="1200" dirty="0"/>
            <a:t>and </a:t>
          </a:r>
          <a:r>
            <a:rPr lang="en-US" sz="1600" b="1" i="0" kern="1200" dirty="0"/>
            <a:t>reputation.</a:t>
          </a:r>
          <a:r>
            <a:rPr lang="en-US" sz="1600" b="0" i="0" kern="1200" dirty="0"/>
            <a:t> </a:t>
          </a:r>
          <a:endParaRPr lang="en-IN" sz="1600" kern="1200" dirty="0"/>
        </a:p>
      </dsp:txBody>
      <dsp:txXfrm>
        <a:off x="3754427" y="1495035"/>
        <a:ext cx="7773875" cy="481686"/>
      </dsp:txXfrm>
    </dsp:sp>
    <dsp:sp modelId="{2C564FD7-A121-4E4E-AD91-07B362ABC854}">
      <dsp:nvSpPr>
        <dsp:cNvPr id="0" name=""/>
        <dsp:cNvSpPr/>
      </dsp:nvSpPr>
      <dsp:spPr>
        <a:xfrm>
          <a:off x="159328" y="1414754"/>
          <a:ext cx="3595099" cy="642248"/>
        </a:xfrm>
        <a:prstGeom prst="roundRect">
          <a:avLst/>
        </a:prstGeom>
        <a:solidFill>
          <a:schemeClr val="accent6">
            <a:shade val="80000"/>
            <a:hueOff val="-18588"/>
            <a:satOff val="-3426"/>
            <a:lumOff val="7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Personalization</a:t>
          </a:r>
          <a:endParaRPr lang="en-IN" sz="2400" b="1" kern="1200" dirty="0"/>
        </a:p>
      </dsp:txBody>
      <dsp:txXfrm>
        <a:off x="190680" y="1446106"/>
        <a:ext cx="3532395" cy="579544"/>
      </dsp:txXfrm>
    </dsp:sp>
    <dsp:sp modelId="{69C2DACB-176B-4C3F-A07C-BD6BE57A29BB}">
      <dsp:nvSpPr>
        <dsp:cNvPr id="0" name=""/>
        <dsp:cNvSpPr/>
      </dsp:nvSpPr>
      <dsp:spPr>
        <a:xfrm>
          <a:off x="3754427" y="2121227"/>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Marketing methods using digital platforms provide the opportunity for both sellers and buyers to get easy access with the </a:t>
          </a:r>
          <a:r>
            <a:rPr lang="en-US" sz="1600" b="1" i="0" kern="1200" dirty="0"/>
            <a:t>flexibility of time and location. </a:t>
          </a:r>
          <a:endParaRPr lang="en-IN" sz="1600" b="1" kern="1200" dirty="0"/>
        </a:p>
      </dsp:txBody>
      <dsp:txXfrm>
        <a:off x="3754427" y="2201508"/>
        <a:ext cx="7773875" cy="481686"/>
      </dsp:txXfrm>
    </dsp:sp>
    <dsp:sp modelId="{D4D6ECCB-60A3-45F1-B3AD-465EFC7CC223}">
      <dsp:nvSpPr>
        <dsp:cNvPr id="0" name=""/>
        <dsp:cNvSpPr/>
      </dsp:nvSpPr>
      <dsp:spPr>
        <a:xfrm>
          <a:off x="159328" y="2121227"/>
          <a:ext cx="3595099" cy="642248"/>
        </a:xfrm>
        <a:prstGeom prst="roundRect">
          <a:avLst/>
        </a:prstGeom>
        <a:solidFill>
          <a:schemeClr val="accent6">
            <a:shade val="80000"/>
            <a:hueOff val="-27882"/>
            <a:satOff val="-5139"/>
            <a:lumOff val="118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Accessibility</a:t>
          </a:r>
          <a:endParaRPr lang="en-IN" sz="2400" b="1" kern="1200" dirty="0"/>
        </a:p>
      </dsp:txBody>
      <dsp:txXfrm>
        <a:off x="190680" y="2152579"/>
        <a:ext cx="3532395" cy="579544"/>
      </dsp:txXfrm>
    </dsp:sp>
    <dsp:sp modelId="{8580EB9A-6B24-419B-8D00-2778ADE0B56A}">
      <dsp:nvSpPr>
        <dsp:cNvPr id="0" name=""/>
        <dsp:cNvSpPr/>
      </dsp:nvSpPr>
      <dsp:spPr>
        <a:xfrm>
          <a:off x="3754427" y="2827699"/>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A suitable promotional strategy using blogs, social media content, and promotional offers allow the brand to get a hold of the </a:t>
          </a:r>
          <a:r>
            <a:rPr lang="en-US" sz="1600" b="1" i="0" kern="1200" dirty="0"/>
            <a:t>customer’s attention and build credibility.</a:t>
          </a:r>
          <a:endParaRPr lang="en-IN" sz="1600" b="1" kern="1200" dirty="0"/>
        </a:p>
      </dsp:txBody>
      <dsp:txXfrm>
        <a:off x="3754427" y="2907980"/>
        <a:ext cx="7773875" cy="481686"/>
      </dsp:txXfrm>
    </dsp:sp>
    <dsp:sp modelId="{462C38BD-EB2A-4633-BEBC-44A358B7FF7E}">
      <dsp:nvSpPr>
        <dsp:cNvPr id="0" name=""/>
        <dsp:cNvSpPr/>
      </dsp:nvSpPr>
      <dsp:spPr>
        <a:xfrm>
          <a:off x="159328" y="2827699"/>
          <a:ext cx="3595099" cy="642248"/>
        </a:xfrm>
        <a:prstGeom prst="roundRect">
          <a:avLst/>
        </a:prstGeom>
        <a:solidFill>
          <a:schemeClr val="accent6">
            <a:shade val="80000"/>
            <a:hueOff val="-37177"/>
            <a:satOff val="-6852"/>
            <a:lumOff val="157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Better Engagement</a:t>
          </a:r>
          <a:endParaRPr lang="en-IN" sz="2400" b="1" kern="1200" dirty="0"/>
        </a:p>
      </dsp:txBody>
      <dsp:txXfrm>
        <a:off x="190680" y="2859051"/>
        <a:ext cx="3532395" cy="579544"/>
      </dsp:txXfrm>
    </dsp:sp>
    <dsp:sp modelId="{296C2F33-51FD-4743-9A9F-FD34584493D7}">
      <dsp:nvSpPr>
        <dsp:cNvPr id="0" name=""/>
        <dsp:cNvSpPr/>
      </dsp:nvSpPr>
      <dsp:spPr>
        <a:xfrm>
          <a:off x="3754427" y="3534172"/>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The digital marketing methodology is easier to implement with a </a:t>
          </a:r>
          <a:r>
            <a:rPr lang="en-US" sz="1600" b="1" i="0" kern="1200" dirty="0"/>
            <a:t>limited budget </a:t>
          </a:r>
          <a:r>
            <a:rPr lang="en-US" sz="1600" b="0" i="0" kern="1200" dirty="0"/>
            <a:t>and infrastructure which is beneficial especially for </a:t>
          </a:r>
          <a:r>
            <a:rPr lang="en-US" sz="1600" b="1" i="0" kern="1200" dirty="0"/>
            <a:t>small businesses.</a:t>
          </a:r>
          <a:endParaRPr lang="en-IN" sz="1600" b="1" kern="1200" dirty="0"/>
        </a:p>
      </dsp:txBody>
      <dsp:txXfrm>
        <a:off x="3754427" y="3614453"/>
        <a:ext cx="7773875" cy="481686"/>
      </dsp:txXfrm>
    </dsp:sp>
    <dsp:sp modelId="{86820873-FA0D-4398-A80B-977DC22D2F89}">
      <dsp:nvSpPr>
        <dsp:cNvPr id="0" name=""/>
        <dsp:cNvSpPr/>
      </dsp:nvSpPr>
      <dsp:spPr>
        <a:xfrm>
          <a:off x="159328" y="3534172"/>
          <a:ext cx="3595099" cy="642248"/>
        </a:xfrm>
        <a:prstGeom prst="roundRect">
          <a:avLst/>
        </a:prstGeom>
        <a:solidFill>
          <a:schemeClr val="accent6">
            <a:shade val="80000"/>
            <a:hueOff val="-46471"/>
            <a:satOff val="-8565"/>
            <a:lumOff val="196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Lower Cost</a:t>
          </a:r>
          <a:endParaRPr lang="en-IN" sz="2400" b="1" kern="1200" dirty="0"/>
        </a:p>
      </dsp:txBody>
      <dsp:txXfrm>
        <a:off x="190680" y="3565524"/>
        <a:ext cx="3532395" cy="579544"/>
      </dsp:txXfrm>
    </dsp:sp>
    <dsp:sp modelId="{51EA8229-B10B-4E21-8599-2DE9DE20EC58}">
      <dsp:nvSpPr>
        <dsp:cNvPr id="0" name=""/>
        <dsp:cNvSpPr/>
      </dsp:nvSpPr>
      <dsp:spPr>
        <a:xfrm>
          <a:off x="3754427" y="4240645"/>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The digital analytical tools and other online metrics help to </a:t>
          </a:r>
          <a:r>
            <a:rPr lang="en-US" sz="1600" b="1" i="0" kern="1200" dirty="0"/>
            <a:t>track how effective the marketing campaign has been </a:t>
          </a:r>
          <a:r>
            <a:rPr lang="en-US" sz="1600" b="0" i="0" kern="1200" dirty="0"/>
            <a:t>in terms of customer reach and response.</a:t>
          </a:r>
          <a:endParaRPr lang="en-IN" sz="1600" kern="1200" dirty="0"/>
        </a:p>
      </dsp:txBody>
      <dsp:txXfrm>
        <a:off x="3754427" y="4320926"/>
        <a:ext cx="7773875" cy="481686"/>
      </dsp:txXfrm>
    </dsp:sp>
    <dsp:sp modelId="{0821461F-8B7C-4EDD-80F5-0BC98B27F171}">
      <dsp:nvSpPr>
        <dsp:cNvPr id="0" name=""/>
        <dsp:cNvSpPr/>
      </dsp:nvSpPr>
      <dsp:spPr>
        <a:xfrm>
          <a:off x="159328" y="4240645"/>
          <a:ext cx="3595099" cy="642248"/>
        </a:xfrm>
        <a:prstGeom prst="roundRect">
          <a:avLst/>
        </a:prstGeom>
        <a:solidFill>
          <a:schemeClr val="accent6">
            <a:shade val="80000"/>
            <a:hueOff val="-55765"/>
            <a:satOff val="-10278"/>
            <a:lumOff val="236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Track-able Results</a:t>
          </a:r>
          <a:endParaRPr lang="en-IN" sz="2400" b="1" kern="1200" dirty="0"/>
        </a:p>
      </dsp:txBody>
      <dsp:txXfrm>
        <a:off x="190680" y="4271997"/>
        <a:ext cx="3532395" cy="579544"/>
      </dsp:txXfrm>
    </dsp:sp>
    <dsp:sp modelId="{EA75DF1E-AA7C-42F6-A183-C24631A54F0B}">
      <dsp:nvSpPr>
        <dsp:cNvPr id="0" name=""/>
        <dsp:cNvSpPr/>
      </dsp:nvSpPr>
      <dsp:spPr>
        <a:xfrm>
          <a:off x="3754427" y="4947118"/>
          <a:ext cx="8014718" cy="642248"/>
        </a:xfrm>
        <a:prstGeom prst="rightArrow">
          <a:avLst>
            <a:gd name="adj1" fmla="val 75000"/>
            <a:gd name="adj2" fmla="val 50000"/>
          </a:avLst>
        </a:prstGeom>
        <a:solidFill>
          <a:schemeClr val="accent6">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Char char="•"/>
          </a:pPr>
          <a:r>
            <a:rPr lang="en-US" sz="1600" b="0" i="0" kern="1200" dirty="0"/>
            <a:t>The digital marketing process creates a </a:t>
          </a:r>
          <a:r>
            <a:rPr lang="en-US" sz="1600" b="1" i="0" kern="1200" dirty="0"/>
            <a:t>seamless and immediate connection </a:t>
          </a:r>
          <a:r>
            <a:rPr lang="en-US" sz="1600" b="0" i="0" kern="1200" dirty="0"/>
            <a:t>with potential customers with </a:t>
          </a:r>
          <a:r>
            <a:rPr lang="en-US" sz="1600" b="1" i="0" kern="1200" dirty="0"/>
            <a:t>the convenience of making a purchase </a:t>
          </a:r>
          <a:r>
            <a:rPr lang="en-US" sz="1600" b="0" i="0" kern="1200" dirty="0"/>
            <a:t>just with a few clicks on your website. </a:t>
          </a:r>
          <a:endParaRPr lang="en-IN" sz="1600" kern="1200" dirty="0"/>
        </a:p>
      </dsp:txBody>
      <dsp:txXfrm>
        <a:off x="3754427" y="5027399"/>
        <a:ext cx="7773875" cy="481686"/>
      </dsp:txXfrm>
    </dsp:sp>
    <dsp:sp modelId="{F24165A5-FF00-4A85-B7D3-3D8C2B47650B}">
      <dsp:nvSpPr>
        <dsp:cNvPr id="0" name=""/>
        <dsp:cNvSpPr/>
      </dsp:nvSpPr>
      <dsp:spPr>
        <a:xfrm>
          <a:off x="159328" y="4947118"/>
          <a:ext cx="3595099" cy="642248"/>
        </a:xfrm>
        <a:prstGeom prst="roundRect">
          <a:avLst/>
        </a:prstGeom>
        <a:solidFill>
          <a:schemeClr val="accent6">
            <a:shade val="80000"/>
            <a:hueOff val="-65059"/>
            <a:satOff val="-11991"/>
            <a:lumOff val="275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kern="1200" dirty="0"/>
            <a:t>Improved Conversion Rates</a:t>
          </a:r>
          <a:endParaRPr lang="en-IN" sz="2400" b="1" kern="1200" dirty="0"/>
        </a:p>
      </dsp:txBody>
      <dsp:txXfrm>
        <a:off x="190680" y="4978470"/>
        <a:ext cx="3532395" cy="5795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6FCD1-D613-49A0-AE7A-BEEAF6AA75EF}">
      <dsp:nvSpPr>
        <dsp:cNvPr id="0" name=""/>
        <dsp:cNvSpPr/>
      </dsp:nvSpPr>
      <dsp:spPr>
        <a:xfrm>
          <a:off x="0" y="0"/>
          <a:ext cx="11928475"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B2890D-74EB-4015-869D-F642D9DDB1DD}">
      <dsp:nvSpPr>
        <dsp:cNvPr id="0" name=""/>
        <dsp:cNvSpPr/>
      </dsp:nvSpPr>
      <dsp:spPr>
        <a:xfrm>
          <a:off x="0" y="0"/>
          <a:ext cx="11928475" cy="1397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rPr>
            <a:t>Skills Requirement:</a:t>
          </a:r>
          <a:r>
            <a:rPr lang="en-IN" sz="2400" kern="1200" dirty="0"/>
            <a:t> </a:t>
          </a:r>
          <a:r>
            <a:rPr lang="en-US" sz="2400" b="0" i="0" kern="1200" dirty="0"/>
            <a:t>With regular advancements in </a:t>
          </a:r>
          <a:r>
            <a:rPr lang="en-US" sz="2400" b="1" i="0" kern="1200" dirty="0"/>
            <a:t>technology,</a:t>
          </a:r>
          <a:r>
            <a:rPr lang="en-US" sz="2400" b="0" i="0" kern="1200" dirty="0"/>
            <a:t> it is essential to remain updated on tools, platforms, and methods to quickly respond to any changes.</a:t>
          </a:r>
          <a:endParaRPr lang="en-US" sz="2400" kern="1200" dirty="0"/>
        </a:p>
      </dsp:txBody>
      <dsp:txXfrm>
        <a:off x="0" y="0"/>
        <a:ext cx="11928475" cy="1397793"/>
      </dsp:txXfrm>
    </dsp:sp>
    <dsp:sp modelId="{89A43BE7-11BB-4CEA-B9FC-CEDBA10D0CB0}">
      <dsp:nvSpPr>
        <dsp:cNvPr id="0" name=""/>
        <dsp:cNvSpPr/>
      </dsp:nvSpPr>
      <dsp:spPr>
        <a:xfrm>
          <a:off x="0" y="1397793"/>
          <a:ext cx="11928475" cy="0"/>
        </a:xfrm>
        <a:prstGeom prst="line">
          <a:avLst/>
        </a:prstGeom>
        <a:solidFill>
          <a:schemeClr val="accent6">
            <a:alpha val="90000"/>
            <a:hueOff val="0"/>
            <a:satOff val="0"/>
            <a:lumOff val="0"/>
            <a:alphaOff val="-13333"/>
          </a:schemeClr>
        </a:solidFill>
        <a:ln w="12700" cap="flat" cmpd="sng" algn="ctr">
          <a:solidFill>
            <a:schemeClr val="accent6">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56CEDE-E675-4187-A28C-8677F69314D3}">
      <dsp:nvSpPr>
        <dsp:cNvPr id="0" name=""/>
        <dsp:cNvSpPr/>
      </dsp:nvSpPr>
      <dsp:spPr>
        <a:xfrm>
          <a:off x="0" y="1397793"/>
          <a:ext cx="11928475" cy="1397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latin typeface="Roboto Condensed"/>
              <a:ea typeface="+mn-ea"/>
              <a:cs typeface="+mn-cs"/>
            </a:rPr>
            <a:t>Time-consuming: </a:t>
          </a:r>
          <a:r>
            <a:rPr lang="en-US" sz="2400" b="0" i="0" kern="1200" dirty="0"/>
            <a:t>We need to plan and implement </a:t>
          </a:r>
          <a:r>
            <a:rPr lang="en-US" sz="2400" b="1" i="0" kern="1200" dirty="0"/>
            <a:t>various tasks </a:t>
          </a:r>
          <a:r>
            <a:rPr lang="en-US" sz="2400" b="0" i="0" kern="1200" dirty="0"/>
            <a:t>related to optimization of online advertising and creating suitable content for promotions that can take up a lot of time.</a:t>
          </a:r>
          <a:endParaRPr lang="en-US" sz="2400" kern="1200" dirty="0"/>
        </a:p>
      </dsp:txBody>
      <dsp:txXfrm>
        <a:off x="0" y="1397793"/>
        <a:ext cx="11928475" cy="1397793"/>
      </dsp:txXfrm>
    </dsp:sp>
    <dsp:sp modelId="{B9BC1190-58F9-48DB-9422-AC62C8D40FD9}">
      <dsp:nvSpPr>
        <dsp:cNvPr id="0" name=""/>
        <dsp:cNvSpPr/>
      </dsp:nvSpPr>
      <dsp:spPr>
        <a:xfrm>
          <a:off x="0" y="2795587"/>
          <a:ext cx="11928475" cy="0"/>
        </a:xfrm>
        <a:prstGeom prst="line">
          <a:avLst/>
        </a:prstGeom>
        <a:solidFill>
          <a:schemeClr val="accent6">
            <a:alpha val="90000"/>
            <a:hueOff val="0"/>
            <a:satOff val="0"/>
            <a:lumOff val="0"/>
            <a:alphaOff val="-26667"/>
          </a:schemeClr>
        </a:solidFill>
        <a:ln w="12700" cap="flat" cmpd="sng" algn="ctr">
          <a:solidFill>
            <a:schemeClr val="accent6">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9A0685-6252-46EE-A17B-8148E83707FF}">
      <dsp:nvSpPr>
        <dsp:cNvPr id="0" name=""/>
        <dsp:cNvSpPr/>
      </dsp:nvSpPr>
      <dsp:spPr>
        <a:xfrm>
          <a:off x="0" y="2795587"/>
          <a:ext cx="11928475" cy="1397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latin typeface="Roboto Condensed"/>
              <a:ea typeface="+mn-ea"/>
              <a:cs typeface="+mn-cs"/>
            </a:rPr>
            <a:t>High Competition: </a:t>
          </a:r>
          <a:r>
            <a:rPr lang="en-US" sz="2400" b="0" i="0" kern="1200" dirty="0"/>
            <a:t>A wider reach to the global audience with digital marketing also requires building capabilities to face </a:t>
          </a:r>
          <a:r>
            <a:rPr lang="en-US" sz="2400" b="1" i="0" kern="1200" dirty="0"/>
            <a:t>global competition. </a:t>
          </a:r>
          <a:endParaRPr lang="en-US" sz="2400" b="1" kern="1200" dirty="0"/>
        </a:p>
      </dsp:txBody>
      <dsp:txXfrm>
        <a:off x="0" y="2795587"/>
        <a:ext cx="11928475" cy="1397793"/>
      </dsp:txXfrm>
    </dsp:sp>
    <dsp:sp modelId="{23C6C63D-B771-4C11-B6D7-405652B335E0}">
      <dsp:nvSpPr>
        <dsp:cNvPr id="0" name=""/>
        <dsp:cNvSpPr/>
      </dsp:nvSpPr>
      <dsp:spPr>
        <a:xfrm>
          <a:off x="0" y="4193381"/>
          <a:ext cx="11928475"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8BC660-999D-41C0-A539-A8015F5FD0FF}">
      <dsp:nvSpPr>
        <dsp:cNvPr id="0" name=""/>
        <dsp:cNvSpPr/>
      </dsp:nvSpPr>
      <dsp:spPr>
        <a:xfrm>
          <a:off x="0" y="4193381"/>
          <a:ext cx="11928475" cy="1397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latin typeface="Roboto Condensed"/>
              <a:ea typeface="+mn-ea"/>
              <a:cs typeface="+mn-cs"/>
            </a:rPr>
            <a:t>Complaints and Feedback: </a:t>
          </a:r>
          <a:r>
            <a:rPr lang="en-US" sz="2400" b="0" i="0" kern="1200" dirty="0"/>
            <a:t>Any </a:t>
          </a:r>
          <a:r>
            <a:rPr lang="en-US" sz="2400" b="1" i="0" kern="1200" dirty="0"/>
            <a:t>negative review </a:t>
          </a:r>
          <a:r>
            <a:rPr lang="en-US" sz="2400" b="0" i="0" kern="1200" dirty="0"/>
            <a:t>can create an adverse impact on some part of your customers unless you have a strong foothold through brand loyalty and efficient customer service.</a:t>
          </a:r>
          <a:endParaRPr lang="en-US" sz="2400" kern="1200" dirty="0"/>
        </a:p>
      </dsp:txBody>
      <dsp:txXfrm>
        <a:off x="0" y="4193381"/>
        <a:ext cx="11928475" cy="13977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3971B-3539-45CB-BCEE-2BBA62A9869F}">
      <dsp:nvSpPr>
        <dsp:cNvPr id="0" name=""/>
        <dsp:cNvSpPr/>
      </dsp:nvSpPr>
      <dsp:spPr>
        <a:xfrm>
          <a:off x="0" y="0"/>
          <a:ext cx="119284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E01B31-EBEA-45BA-AF22-D98E3153BE46}">
      <dsp:nvSpPr>
        <dsp:cNvPr id="0" name=""/>
        <dsp:cNvSpPr/>
      </dsp:nvSpPr>
      <dsp:spPr>
        <a:xfrm>
          <a:off x="0" y="0"/>
          <a:ext cx="11928475" cy="2795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latin typeface="Roboto Condensed"/>
              <a:ea typeface="+mn-ea"/>
              <a:cs typeface="+mn-cs"/>
            </a:rPr>
            <a:t>Dependability on Technology: </a:t>
          </a:r>
          <a:r>
            <a:rPr lang="en-US" sz="2400" b="0" i="0" kern="1200" dirty="0"/>
            <a:t>There can be instances of failure when the links may not work, the website may not respond, and user may not be able to access website. </a:t>
          </a:r>
        </a:p>
        <a:p>
          <a:pPr marL="0" lvl="0" indent="0" algn="just" defTabSz="1066800">
            <a:lnSpc>
              <a:spcPct val="90000"/>
            </a:lnSpc>
            <a:spcBef>
              <a:spcPct val="0"/>
            </a:spcBef>
            <a:spcAft>
              <a:spcPct val="35000"/>
            </a:spcAft>
            <a:buNone/>
          </a:pPr>
          <a:r>
            <a:rPr lang="en-US" sz="2400" b="0" i="0" kern="1200" dirty="0"/>
            <a:t>This may create dissatisfaction among the prospective customers that forces them to switch to other brands.</a:t>
          </a:r>
          <a:endParaRPr lang="en-US" sz="2400" kern="1200" dirty="0"/>
        </a:p>
      </dsp:txBody>
      <dsp:txXfrm>
        <a:off x="0" y="0"/>
        <a:ext cx="11928475" cy="2795587"/>
      </dsp:txXfrm>
    </dsp:sp>
    <dsp:sp modelId="{DCF6AFE6-30D3-4D3C-B839-3588D57073DC}">
      <dsp:nvSpPr>
        <dsp:cNvPr id="0" name=""/>
        <dsp:cNvSpPr/>
      </dsp:nvSpPr>
      <dsp:spPr>
        <a:xfrm>
          <a:off x="0" y="2795587"/>
          <a:ext cx="1192847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01601-C422-4B11-89C2-61285BD73227}">
      <dsp:nvSpPr>
        <dsp:cNvPr id="0" name=""/>
        <dsp:cNvSpPr/>
      </dsp:nvSpPr>
      <dsp:spPr>
        <a:xfrm>
          <a:off x="0" y="2795587"/>
          <a:ext cx="11928475" cy="2795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just" defTabSz="1066800">
            <a:lnSpc>
              <a:spcPct val="90000"/>
            </a:lnSpc>
            <a:spcBef>
              <a:spcPct val="0"/>
            </a:spcBef>
            <a:spcAft>
              <a:spcPct val="35000"/>
            </a:spcAft>
            <a:buNone/>
          </a:pPr>
          <a:r>
            <a:rPr lang="en-IN" sz="2400" b="1" kern="1200" dirty="0">
              <a:solidFill>
                <a:srgbClr val="C00000"/>
              </a:solidFill>
              <a:latin typeface="Roboto Condensed"/>
              <a:ea typeface="+mn-ea"/>
              <a:cs typeface="+mn-cs"/>
            </a:rPr>
            <a:t>Security and Privacy Issues: </a:t>
          </a:r>
          <a:r>
            <a:rPr lang="en-US" sz="2400" b="0" i="0" kern="1200" dirty="0"/>
            <a:t>The more use of online platforms demands better security and website protection. </a:t>
          </a:r>
        </a:p>
        <a:p>
          <a:pPr marL="0" lvl="0" indent="0" algn="just" defTabSz="1066800">
            <a:lnSpc>
              <a:spcPct val="90000"/>
            </a:lnSpc>
            <a:spcBef>
              <a:spcPct val="0"/>
            </a:spcBef>
            <a:spcAft>
              <a:spcPct val="35000"/>
            </a:spcAft>
            <a:buNone/>
          </a:pPr>
          <a:r>
            <a:rPr lang="en-US" sz="2400" b="0" i="0" kern="1200" dirty="0"/>
            <a:t>For a digital marketer, securing and safeguarding the network connections by using firewalls and good antivirus is always desirable.</a:t>
          </a:r>
          <a:endParaRPr lang="en-US" sz="2400" kern="1200" dirty="0"/>
        </a:p>
      </dsp:txBody>
      <dsp:txXfrm>
        <a:off x="0" y="2795587"/>
        <a:ext cx="11928475" cy="27955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2368D-AE02-48D2-B0DC-AD4F7EC7F910}">
      <dsp:nvSpPr>
        <dsp:cNvPr id="0" name=""/>
        <dsp:cNvSpPr/>
      </dsp:nvSpPr>
      <dsp:spPr>
        <a:xfrm>
          <a:off x="212205" y="933"/>
          <a:ext cx="2794348" cy="167660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Communication Skills</a:t>
          </a:r>
          <a:endParaRPr lang="en-US" sz="2600" kern="1200"/>
        </a:p>
      </dsp:txBody>
      <dsp:txXfrm>
        <a:off x="212205" y="933"/>
        <a:ext cx="2794348" cy="1676609"/>
      </dsp:txXfrm>
    </dsp:sp>
    <dsp:sp modelId="{2C7D0A2C-D70F-4BA6-9034-94B8BB4942B3}">
      <dsp:nvSpPr>
        <dsp:cNvPr id="0" name=""/>
        <dsp:cNvSpPr/>
      </dsp:nvSpPr>
      <dsp:spPr>
        <a:xfrm>
          <a:off x="3285989" y="933"/>
          <a:ext cx="2794348" cy="16766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Content Creation Skills</a:t>
          </a:r>
          <a:endParaRPr lang="en-US" sz="2600" kern="1200"/>
        </a:p>
      </dsp:txBody>
      <dsp:txXfrm>
        <a:off x="3285989" y="933"/>
        <a:ext cx="2794348" cy="1676609"/>
      </dsp:txXfrm>
    </dsp:sp>
    <dsp:sp modelId="{D17B99F8-163F-44C9-AAD3-8542529645D0}">
      <dsp:nvSpPr>
        <dsp:cNvPr id="0" name=""/>
        <dsp:cNvSpPr/>
      </dsp:nvSpPr>
      <dsp:spPr>
        <a:xfrm>
          <a:off x="6359773" y="933"/>
          <a:ext cx="2794348" cy="167660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SEO Skills</a:t>
          </a:r>
          <a:endParaRPr lang="en-US" sz="2600" kern="1200"/>
        </a:p>
      </dsp:txBody>
      <dsp:txXfrm>
        <a:off x="6359773" y="933"/>
        <a:ext cx="2794348" cy="1676609"/>
      </dsp:txXfrm>
    </dsp:sp>
    <dsp:sp modelId="{6A926001-8C4D-4A13-A971-D206EF36688A}">
      <dsp:nvSpPr>
        <dsp:cNvPr id="0" name=""/>
        <dsp:cNvSpPr/>
      </dsp:nvSpPr>
      <dsp:spPr>
        <a:xfrm>
          <a:off x="212205" y="1956977"/>
          <a:ext cx="2794348" cy="16766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t>Social Media Management Skills</a:t>
          </a:r>
          <a:endParaRPr lang="en-US" sz="2600" kern="1200" dirty="0"/>
        </a:p>
      </dsp:txBody>
      <dsp:txXfrm>
        <a:off x="212205" y="1956977"/>
        <a:ext cx="2794348" cy="1676609"/>
      </dsp:txXfrm>
    </dsp:sp>
    <dsp:sp modelId="{167CAC4D-9D37-406E-8948-0FCE9CDB6ED5}">
      <dsp:nvSpPr>
        <dsp:cNvPr id="0" name=""/>
        <dsp:cNvSpPr/>
      </dsp:nvSpPr>
      <dsp:spPr>
        <a:xfrm>
          <a:off x="3285989" y="1956977"/>
          <a:ext cx="2794348" cy="16766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Data Analysis Skills</a:t>
          </a:r>
          <a:endParaRPr lang="en-US" sz="2600" kern="1200"/>
        </a:p>
      </dsp:txBody>
      <dsp:txXfrm>
        <a:off x="3285989" y="1956977"/>
        <a:ext cx="2794348" cy="1676609"/>
      </dsp:txXfrm>
    </dsp:sp>
    <dsp:sp modelId="{B35BA514-9915-4C31-BF57-EC98A19EFF13}">
      <dsp:nvSpPr>
        <dsp:cNvPr id="0" name=""/>
        <dsp:cNvSpPr/>
      </dsp:nvSpPr>
      <dsp:spPr>
        <a:xfrm>
          <a:off x="6359773" y="1956977"/>
          <a:ext cx="2794348" cy="167660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Creativity and Innovation</a:t>
          </a:r>
          <a:endParaRPr lang="en-US" sz="2600" kern="1200"/>
        </a:p>
      </dsp:txBody>
      <dsp:txXfrm>
        <a:off x="6359773" y="1956977"/>
        <a:ext cx="2794348" cy="1676609"/>
      </dsp:txXfrm>
    </dsp:sp>
    <dsp:sp modelId="{183720C7-FBC9-430A-B8DF-C0E572D03623}">
      <dsp:nvSpPr>
        <dsp:cNvPr id="0" name=""/>
        <dsp:cNvSpPr/>
      </dsp:nvSpPr>
      <dsp:spPr>
        <a:xfrm>
          <a:off x="212205" y="3913022"/>
          <a:ext cx="2794348" cy="16766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Email Marketing Skills</a:t>
          </a:r>
          <a:endParaRPr lang="en-US" sz="2600" kern="1200"/>
        </a:p>
      </dsp:txBody>
      <dsp:txXfrm>
        <a:off x="212205" y="3913022"/>
        <a:ext cx="2794348" cy="1676609"/>
      </dsp:txXfrm>
    </dsp:sp>
    <dsp:sp modelId="{2E92CCC9-2EA6-4953-9814-8201A2C20D39}">
      <dsp:nvSpPr>
        <dsp:cNvPr id="0" name=""/>
        <dsp:cNvSpPr/>
      </dsp:nvSpPr>
      <dsp:spPr>
        <a:xfrm>
          <a:off x="3285989" y="3913022"/>
          <a:ext cx="2794348" cy="167660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Advertising &amp; Campaign Management Skills</a:t>
          </a:r>
          <a:endParaRPr lang="en-US" sz="2600" kern="1200"/>
        </a:p>
      </dsp:txBody>
      <dsp:txXfrm>
        <a:off x="3285989" y="3913022"/>
        <a:ext cx="2794348" cy="1676609"/>
      </dsp:txXfrm>
    </dsp:sp>
    <dsp:sp modelId="{2A6ED8D5-F674-4213-9D05-7E18624D849B}">
      <dsp:nvSpPr>
        <dsp:cNvPr id="0" name=""/>
        <dsp:cNvSpPr/>
      </dsp:nvSpPr>
      <dsp:spPr>
        <a:xfrm>
          <a:off x="6359773" y="3913022"/>
          <a:ext cx="2794348" cy="16766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Adaptability and Continuous Learning Skills</a:t>
          </a:r>
          <a:endParaRPr lang="en-US" sz="2600" kern="1200"/>
        </a:p>
      </dsp:txBody>
      <dsp:txXfrm>
        <a:off x="6359773" y="3913022"/>
        <a:ext cx="2794348" cy="167660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9286F-8690-483E-B64E-5CEEED6CC482}">
      <dsp:nvSpPr>
        <dsp:cNvPr id="0" name=""/>
        <dsp:cNvSpPr/>
      </dsp:nvSpPr>
      <dsp:spPr>
        <a:xfrm>
          <a:off x="0" y="39067"/>
          <a:ext cx="11928475" cy="623610"/>
        </a:xfrm>
        <a:prstGeom prst="roundRect">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Process Infographics</a:t>
          </a:r>
          <a:endParaRPr lang="en-US" sz="2600" kern="1200" dirty="0"/>
        </a:p>
      </dsp:txBody>
      <dsp:txXfrm>
        <a:off x="30442" y="69509"/>
        <a:ext cx="11867591" cy="562726"/>
      </dsp:txXfrm>
    </dsp:sp>
    <dsp:sp modelId="{2C9AD620-1C60-4FFE-AB88-EAEE4FF6CF5D}">
      <dsp:nvSpPr>
        <dsp:cNvPr id="0" name=""/>
        <dsp:cNvSpPr/>
      </dsp:nvSpPr>
      <dsp:spPr>
        <a:xfrm>
          <a:off x="0" y="737557"/>
          <a:ext cx="11928475" cy="623610"/>
        </a:xfrm>
        <a:prstGeom prst="roundRect">
          <a:avLst/>
        </a:prstGeom>
        <a:solidFill>
          <a:schemeClr val="accent6">
            <a:shade val="80000"/>
            <a:hueOff val="-9294"/>
            <a:satOff val="-1713"/>
            <a:lumOff val="39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Statistical Infographics</a:t>
          </a:r>
          <a:endParaRPr lang="en-US" sz="2600" kern="1200" dirty="0"/>
        </a:p>
      </dsp:txBody>
      <dsp:txXfrm>
        <a:off x="30442" y="767999"/>
        <a:ext cx="11867591" cy="562726"/>
      </dsp:txXfrm>
    </dsp:sp>
    <dsp:sp modelId="{FC4AC079-F4C6-4E09-8673-8ACE3FFA05C7}">
      <dsp:nvSpPr>
        <dsp:cNvPr id="0" name=""/>
        <dsp:cNvSpPr/>
      </dsp:nvSpPr>
      <dsp:spPr>
        <a:xfrm>
          <a:off x="0" y="1436047"/>
          <a:ext cx="11928475" cy="623610"/>
        </a:xfrm>
        <a:prstGeom prst="roundRect">
          <a:avLst/>
        </a:prstGeom>
        <a:solidFill>
          <a:schemeClr val="accent6">
            <a:shade val="80000"/>
            <a:hueOff val="-18588"/>
            <a:satOff val="-3426"/>
            <a:lumOff val="7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Informational Infographics</a:t>
          </a:r>
          <a:endParaRPr lang="en-US" sz="2600" kern="1200" dirty="0"/>
        </a:p>
      </dsp:txBody>
      <dsp:txXfrm>
        <a:off x="30442" y="1466489"/>
        <a:ext cx="11867591" cy="562726"/>
      </dsp:txXfrm>
    </dsp:sp>
    <dsp:sp modelId="{D756CD92-E468-491C-AD26-CDE818372260}">
      <dsp:nvSpPr>
        <dsp:cNvPr id="0" name=""/>
        <dsp:cNvSpPr/>
      </dsp:nvSpPr>
      <dsp:spPr>
        <a:xfrm>
          <a:off x="0" y="2134537"/>
          <a:ext cx="11928475" cy="623610"/>
        </a:xfrm>
        <a:prstGeom prst="roundRect">
          <a:avLst/>
        </a:prstGeom>
        <a:solidFill>
          <a:schemeClr val="accent6">
            <a:shade val="80000"/>
            <a:hueOff val="-27882"/>
            <a:satOff val="-5139"/>
            <a:lumOff val="118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Timeline Infographics</a:t>
          </a:r>
          <a:endParaRPr lang="en-US" sz="2600" kern="1200" dirty="0"/>
        </a:p>
      </dsp:txBody>
      <dsp:txXfrm>
        <a:off x="30442" y="2164979"/>
        <a:ext cx="11867591" cy="562726"/>
      </dsp:txXfrm>
    </dsp:sp>
    <dsp:sp modelId="{D4A456BC-C7D1-4709-B31E-131746407444}">
      <dsp:nvSpPr>
        <dsp:cNvPr id="0" name=""/>
        <dsp:cNvSpPr/>
      </dsp:nvSpPr>
      <dsp:spPr>
        <a:xfrm>
          <a:off x="0" y="2833027"/>
          <a:ext cx="11928475" cy="623610"/>
        </a:xfrm>
        <a:prstGeom prst="roundRect">
          <a:avLst/>
        </a:prstGeom>
        <a:solidFill>
          <a:schemeClr val="accent6">
            <a:shade val="80000"/>
            <a:hueOff val="-37177"/>
            <a:satOff val="-6852"/>
            <a:lumOff val="157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Geographic Infographics</a:t>
          </a:r>
          <a:endParaRPr lang="en-US" sz="2600" kern="1200" dirty="0"/>
        </a:p>
      </dsp:txBody>
      <dsp:txXfrm>
        <a:off x="30442" y="2863469"/>
        <a:ext cx="11867591" cy="562726"/>
      </dsp:txXfrm>
    </dsp:sp>
    <dsp:sp modelId="{6EF6D743-CEDD-46CD-9C1D-69D4FA6B6356}">
      <dsp:nvSpPr>
        <dsp:cNvPr id="0" name=""/>
        <dsp:cNvSpPr/>
      </dsp:nvSpPr>
      <dsp:spPr>
        <a:xfrm>
          <a:off x="0" y="3531517"/>
          <a:ext cx="11928475" cy="623610"/>
        </a:xfrm>
        <a:prstGeom prst="roundRect">
          <a:avLst/>
        </a:prstGeom>
        <a:solidFill>
          <a:schemeClr val="accent6">
            <a:shade val="80000"/>
            <a:hueOff val="-46471"/>
            <a:satOff val="-8565"/>
            <a:lumOff val="196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Comparison Infographics</a:t>
          </a:r>
          <a:endParaRPr lang="en-US" sz="2600" kern="1200" dirty="0"/>
        </a:p>
      </dsp:txBody>
      <dsp:txXfrm>
        <a:off x="30442" y="3561959"/>
        <a:ext cx="11867591" cy="562726"/>
      </dsp:txXfrm>
    </dsp:sp>
    <dsp:sp modelId="{FD669AE0-EF3A-4E7E-BCDC-85AE4CA57823}">
      <dsp:nvSpPr>
        <dsp:cNvPr id="0" name=""/>
        <dsp:cNvSpPr/>
      </dsp:nvSpPr>
      <dsp:spPr>
        <a:xfrm>
          <a:off x="0" y="4230007"/>
          <a:ext cx="11928475" cy="623610"/>
        </a:xfrm>
        <a:prstGeom prst="roundRect">
          <a:avLst/>
        </a:prstGeom>
        <a:solidFill>
          <a:schemeClr val="accent6">
            <a:shade val="80000"/>
            <a:hueOff val="-55765"/>
            <a:satOff val="-10278"/>
            <a:lumOff val="236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Hierarchical Infographics</a:t>
          </a:r>
          <a:endParaRPr lang="en-US" sz="2600" kern="1200" dirty="0"/>
        </a:p>
      </dsp:txBody>
      <dsp:txXfrm>
        <a:off x="30442" y="4260449"/>
        <a:ext cx="11867591" cy="562726"/>
      </dsp:txXfrm>
    </dsp:sp>
    <dsp:sp modelId="{D7820115-2570-4E43-BE7A-EB5E11B61DA7}">
      <dsp:nvSpPr>
        <dsp:cNvPr id="0" name=""/>
        <dsp:cNvSpPr/>
      </dsp:nvSpPr>
      <dsp:spPr>
        <a:xfrm>
          <a:off x="0" y="4928497"/>
          <a:ext cx="11928475" cy="623610"/>
        </a:xfrm>
        <a:prstGeom prst="roundRect">
          <a:avLst/>
        </a:prstGeom>
        <a:solidFill>
          <a:schemeClr val="accent6">
            <a:shade val="80000"/>
            <a:hueOff val="-65059"/>
            <a:satOff val="-11991"/>
            <a:lumOff val="275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List Infographics</a:t>
          </a:r>
          <a:endParaRPr lang="en-US" sz="2600" kern="1200" dirty="0"/>
        </a:p>
      </dsp:txBody>
      <dsp:txXfrm>
        <a:off x="30442" y="4958939"/>
        <a:ext cx="11867591" cy="562726"/>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67497-6C63-3B9D-01ED-0ED2D567C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2346605-F242-407E-CD28-58546B9017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4DF528-62A2-A648-BB90-693EA07704A6}" type="datetimeFigureOut">
              <a:rPr lang="en-US" smtClean="0"/>
              <a:t>6/16/2026</a:t>
            </a:fld>
            <a:endParaRPr lang="en-US"/>
          </a:p>
        </p:txBody>
      </p:sp>
      <p:sp>
        <p:nvSpPr>
          <p:cNvPr id="4" name="Footer Placeholder 3">
            <a:extLst>
              <a:ext uri="{FF2B5EF4-FFF2-40B4-BE49-F238E27FC236}">
                <a16:creationId xmlns:a16="http://schemas.microsoft.com/office/drawing/2014/main" id="{C5490F15-0AF7-792D-6028-22E97290FA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D53349-F41C-DB6A-857A-395EB2E073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40CAEB-34EF-394E-B2B5-44CDCC70A0E7}" type="slidenum">
              <a:rPr lang="en-US" smtClean="0"/>
              <a:t>‹#›</a:t>
            </a:fld>
            <a:endParaRPr lang="en-US"/>
          </a:p>
        </p:txBody>
      </p:sp>
    </p:spTree>
    <p:extLst>
      <p:ext uri="{BB962C8B-B14F-4D97-AF65-F5344CB8AC3E}">
        <p14:creationId xmlns:p14="http://schemas.microsoft.com/office/powerpoint/2010/main" val="237548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 Id="rId9"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jpeg"/><Relationship Id="rId11" Type="http://schemas.openxmlformats.org/officeDocument/2006/relationships/image" Target="../media/image16.png"/><Relationship Id="rId5" Type="http://schemas.openxmlformats.org/officeDocument/2006/relationships/image" Target="../media/image11.png"/><Relationship Id="rId10" Type="http://schemas.microsoft.com/office/2007/relationships/hdphoto" Target="../media/hdphoto4.wdp"/><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6.png"/><Relationship Id="rId7" Type="http://schemas.microsoft.com/office/2007/relationships/hdphoto" Target="../media/hdphoto5.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Digital Marketing &amp; SEO</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16585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Digital Marketing &amp; SEO</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31179" y="6026765"/>
            <a:ext cx="1652177" cy="502240"/>
          </a:xfrm>
          <a:prstGeom prst="rect">
            <a:avLst/>
          </a:prstGeom>
        </p:spPr>
      </p:pic>
    </p:spTree>
    <p:extLst>
      <p:ext uri="{BB962C8B-B14F-4D97-AF65-F5344CB8AC3E}">
        <p14:creationId xmlns:p14="http://schemas.microsoft.com/office/powerpoint/2010/main" val="686068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406355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Digital Marketing &amp; SEO</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166935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379541" y="22128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5" name="Picture 2" descr="Best Digital Marketing Agency India | Top Digital Marketing Company India">
            <a:extLst>
              <a:ext uri="{FF2B5EF4-FFF2-40B4-BE49-F238E27FC236}">
                <a16:creationId xmlns:a16="http://schemas.microsoft.com/office/drawing/2014/main" id="{87B51A84-0CAF-0E79-6BD4-2B660E2FA0B6}"/>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361993"/>
            <a:ext cx="2429517" cy="2099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42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1447832" cy="338554"/>
          </a:xfrm>
          <a:prstGeom prst="rect">
            <a:avLst/>
          </a:prstGeom>
          <a:noFill/>
        </p:spPr>
        <p:txBody>
          <a:bodyPr wrap="none" rtlCol="0">
            <a:spAutoFit/>
          </a:bodyPr>
          <a:lstStyle/>
          <a:p>
            <a:r>
              <a:rPr lang="en-US" sz="1600" dirty="0"/>
              <a:t>Darshan,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2267670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6/16/2026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1528757233"/>
      </p:ext>
    </p:extLst>
  </p:cSld>
  <p:clrMap bg1="lt1" tx1="dk1" bg2="lt2" tx2="dk2" accent1="accent1" accent2="accent2" accent3="accent3" accent4="accent4" accent5="accent5" accent6="accent6" hlink="hlink" folHlink="folHlink"/>
  <p:sldLayoutIdLst>
    <p:sldLayoutId id="2147483695" r:id="rId1"/>
    <p:sldLayoutId id="2147483715" r:id="rId2"/>
    <p:sldLayoutId id="2147483697" r:id="rId3"/>
    <p:sldLayoutId id="2147483699" r:id="rId4"/>
    <p:sldLayoutId id="2147483712" r:id="rId5"/>
    <p:sldLayoutId id="214748371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6.gif"/><Relationship Id="rId7" Type="http://schemas.openxmlformats.org/officeDocument/2006/relationships/image" Target="../media/image30.jpg"/><Relationship Id="rId2" Type="http://schemas.openxmlformats.org/officeDocument/2006/relationships/image" Target="../media/image25.gif"/><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40.gif"/><Relationship Id="rId1" Type="http://schemas.openxmlformats.org/officeDocument/2006/relationships/slideLayout" Target="../slideLayouts/slideLayout1.xml"/><Relationship Id="rId5" Type="http://schemas.openxmlformats.org/officeDocument/2006/relationships/image" Target="../media/image43.gif"/><Relationship Id="rId4" Type="http://schemas.openxmlformats.org/officeDocument/2006/relationships/image" Target="../media/image42.gif"/></Relationships>
</file>

<file path=ppt/slides/_rels/slide28.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0.jpg"/><Relationship Id="rId7" Type="http://schemas.openxmlformats.org/officeDocument/2006/relationships/image" Target="../media/image54.png"/><Relationship Id="rId2" Type="http://schemas.openxmlformats.org/officeDocument/2006/relationships/image" Target="../media/image49.gif"/><Relationship Id="rId1" Type="http://schemas.openxmlformats.org/officeDocument/2006/relationships/slideLayout" Target="../slideLayouts/slideLayout1.xml"/><Relationship Id="rId6" Type="http://schemas.openxmlformats.org/officeDocument/2006/relationships/image" Target="../media/image53.jpg"/><Relationship Id="rId5" Type="http://schemas.openxmlformats.org/officeDocument/2006/relationships/image" Target="../media/image52.png"/><Relationship Id="rId4" Type="http://schemas.openxmlformats.org/officeDocument/2006/relationships/image" Target="../media/image51.gif"/></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58.gif"/><Relationship Id="rId3" Type="http://schemas.openxmlformats.org/officeDocument/2006/relationships/diagramLayout" Target="../diagrams/layout6.xml"/><Relationship Id="rId7" Type="http://schemas.openxmlformats.org/officeDocument/2006/relationships/image" Target="../media/image57.gif"/><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3.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image" Target="../media/image66.jp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9.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sv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svg"/></Relationships>
</file>

<file path=ppt/slides/_rels/slide7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7721599" cy="2578780"/>
          </a:xfrm>
        </p:spPr>
        <p:txBody>
          <a:bodyPr/>
          <a:lstStyle/>
          <a:p>
            <a:r>
              <a:rPr lang="en-US" sz="4800" b="0" dirty="0">
                <a:latin typeface="Roboto Condensed Light" panose="02000000000000000000" pitchFamily="2" charset="0"/>
                <a:ea typeface="Roboto Condensed Light" panose="02000000000000000000" pitchFamily="2" charset="0"/>
              </a:rPr>
              <a:t>Unit-1 </a:t>
            </a:r>
            <a:r>
              <a:rPr lang="en-US" dirty="0"/>
              <a:t> </a:t>
            </a:r>
            <a:br>
              <a:rPr lang="en-US" dirty="0"/>
            </a:br>
            <a:r>
              <a:rPr lang="en-US" sz="4800" dirty="0"/>
              <a:t>Introduction to Digital Marketing</a:t>
            </a:r>
            <a:br>
              <a:rPr lang="en-US" sz="4800" dirty="0"/>
            </a:br>
            <a:br>
              <a:rPr kumimoji="0" lang="en-US" sz="24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Roboto Condensed"/>
                <a:ea typeface="Segoe UI Black" panose="020B0A02040204020203" pitchFamily="34" charset="0"/>
                <a:cs typeface="+mn-cs"/>
              </a:rPr>
            </a:br>
            <a:r>
              <a:rPr kumimoji="0" lang="en-US" sz="2400" b="1" i="0" u="none" strike="noStrike" kern="1200" cap="none" spc="0" normalizeH="0" baseline="0" noProof="0" dirty="0">
                <a:ln>
                  <a:noFill/>
                </a:ln>
                <a:solidFill>
                  <a:srgbClr val="212121">
                    <a:lumMod val="90000"/>
                    <a:lumOff val="10000"/>
                  </a:srgbClr>
                </a:solidFill>
                <a:effectLst/>
                <a:uLnTx/>
                <a:uFillTx/>
                <a:latin typeface="Roboto Condensed"/>
                <a:ea typeface="Segoe UI Black" panose="020B0A02040204020203" pitchFamily="34" charset="0"/>
                <a:cs typeface="+mn-cs"/>
              </a:rPr>
              <a:t>CO1: </a:t>
            </a:r>
            <a:r>
              <a:rPr kumimoji="0" lang="en-US" sz="2400" b="0" i="0" u="none" strike="noStrike" kern="1200" cap="none" spc="0" normalizeH="0" baseline="0" noProof="0" dirty="0">
                <a:ln>
                  <a:noFill/>
                </a:ln>
                <a:solidFill>
                  <a:srgbClr val="212121">
                    <a:lumMod val="90000"/>
                    <a:lumOff val="10000"/>
                  </a:srgbClr>
                </a:solidFill>
                <a:effectLst/>
                <a:uLnTx/>
                <a:uFillTx/>
                <a:latin typeface="Roboto Condensed"/>
                <a:ea typeface="Segoe UI Black" panose="020B0A02040204020203" pitchFamily="34" charset="0"/>
                <a:cs typeface="+mn-cs"/>
              </a:rPr>
              <a:t>explain digital marketing fundamentals and the legal frameworks governing Indian cyberspace.</a:t>
            </a:r>
            <a:endParaRPr lang="en-US" sz="48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Prashant.parmar@darshan.ac.in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9586371604</a:t>
            </a:r>
          </a:p>
        </p:txBody>
      </p:sp>
      <p:sp>
        <p:nvSpPr>
          <p:cNvPr id="7" name="Text Placeholder 6"/>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2505CS313 </a:t>
            </a:r>
          </a:p>
        </p:txBody>
      </p:sp>
      <p:pic>
        <p:nvPicPr>
          <p:cNvPr id="9" name="Picture Placeholder 8">
            <a:extLst>
              <a:ext uri="{FF2B5EF4-FFF2-40B4-BE49-F238E27FC236}">
                <a16:creationId xmlns:a16="http://schemas.microsoft.com/office/drawing/2014/main" id="{584A57FF-19EF-43E1-91D9-088BF961053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Text Placeholder 14">
            <a:extLst>
              <a:ext uri="{FF2B5EF4-FFF2-40B4-BE49-F238E27FC236}">
                <a16:creationId xmlns:a16="http://schemas.microsoft.com/office/drawing/2014/main" id="{212E439E-AF22-4AAF-4C3A-2D32858B9C3E}"/>
              </a:ext>
            </a:extLst>
          </p:cNvPr>
          <p:cNvSpPr>
            <a:spLocks noGrp="1"/>
          </p:cNvSpPr>
          <p:nvPr>
            <p:ph type="body" sz="quarter" idx="13"/>
          </p:nvPr>
        </p:nvSpPr>
        <p:spPr/>
        <p:txBody>
          <a:bodyPr/>
          <a:lstStyle/>
          <a:p>
            <a:r>
              <a:rPr lang="en-US" dirty="0"/>
              <a:t>Darshan Institute of Management</a:t>
            </a:r>
          </a:p>
        </p:txBody>
      </p:sp>
      <p:sp>
        <p:nvSpPr>
          <p:cNvPr id="17" name="Text Placeholder 16">
            <a:extLst>
              <a:ext uri="{FF2B5EF4-FFF2-40B4-BE49-F238E27FC236}">
                <a16:creationId xmlns:a16="http://schemas.microsoft.com/office/drawing/2014/main" id="{748DDFB4-80CE-5831-5B54-23E2F30A4E8D}"/>
              </a:ext>
            </a:extLst>
          </p:cNvPr>
          <p:cNvSpPr>
            <a:spLocks noGrp="1"/>
          </p:cNvSpPr>
          <p:nvPr>
            <p:ph type="body" sz="quarter" idx="14"/>
          </p:nvPr>
        </p:nvSpPr>
        <p:spPr/>
        <p:txBody>
          <a:bodyPr/>
          <a:lstStyle/>
          <a:p>
            <a:r>
              <a:rPr lang="en-US" dirty="0"/>
              <a:t>Mr. Prashant Parmar</a:t>
            </a:r>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2592334" y="720132"/>
            <a:ext cx="7159652" cy="5032147"/>
          </a:xfrm>
          <a:prstGeom prst="rect">
            <a:avLst/>
          </a:prstGeom>
          <a:noFill/>
        </p:spPr>
        <p:txBody>
          <a:bodyPr wrap="none" rtlCol="0">
            <a:spAutoFit/>
          </a:bodyPr>
          <a:lstStyle/>
          <a:p>
            <a:pPr marL="1074738" lvl="2" indent="-514350" algn="just">
              <a:spcBef>
                <a:spcPts val="1000"/>
              </a:spcBef>
              <a:buClr>
                <a:schemeClr val="tx1"/>
              </a:buClr>
              <a:buFont typeface="Arial" panose="020B0604020202020204" pitchFamily="34" charset="0"/>
              <a:buChar char="•"/>
            </a:pPr>
            <a:r>
              <a:rPr lang="en-US" sz="1700" dirty="0"/>
              <a:t>Concept of Digital Marketing</a:t>
            </a:r>
          </a:p>
          <a:p>
            <a:pPr marL="1074738" lvl="2" indent="-514350" algn="just">
              <a:spcBef>
                <a:spcPts val="1000"/>
              </a:spcBef>
              <a:buClr>
                <a:schemeClr val="tx1"/>
              </a:buClr>
              <a:buFont typeface="Arial" panose="020B0604020202020204" pitchFamily="34" charset="0"/>
              <a:buChar char="•"/>
            </a:pPr>
            <a:r>
              <a:rPr lang="en-US" sz="1700" dirty="0"/>
              <a:t>Evolution of Digital Marketing from Traditional to Modern Era</a:t>
            </a:r>
          </a:p>
          <a:p>
            <a:pPr marL="1074738" lvl="2" indent="-514350" algn="just">
              <a:spcBef>
                <a:spcPts val="1000"/>
              </a:spcBef>
              <a:buClr>
                <a:schemeClr val="tx1"/>
              </a:buClr>
              <a:buFont typeface="Arial" panose="020B0604020202020204" pitchFamily="34" charset="0"/>
              <a:buChar char="•"/>
            </a:pPr>
            <a:r>
              <a:rPr lang="en-US" sz="1700" dirty="0"/>
              <a:t>Traditional Marketing vs. Digital Marketing</a:t>
            </a:r>
          </a:p>
          <a:p>
            <a:pPr marL="1074738" lvl="2" indent="-514350" algn="just">
              <a:spcBef>
                <a:spcPts val="1000"/>
              </a:spcBef>
              <a:buClr>
                <a:schemeClr val="tx1"/>
              </a:buClr>
              <a:buFont typeface="Arial" panose="020B0604020202020204" pitchFamily="34" charset="0"/>
              <a:buChar char="•"/>
            </a:pPr>
            <a:r>
              <a:rPr lang="en-US" sz="1700" dirty="0"/>
              <a:t>Penetration of Internet in India &amp; World</a:t>
            </a:r>
          </a:p>
          <a:p>
            <a:pPr marL="1074738" lvl="2" indent="-514350" algn="just">
              <a:spcBef>
                <a:spcPts val="1000"/>
              </a:spcBef>
              <a:buClr>
                <a:schemeClr val="tx1"/>
              </a:buClr>
              <a:buFont typeface="Arial" panose="020B0604020202020204" pitchFamily="34" charset="0"/>
              <a:buChar char="•"/>
            </a:pPr>
            <a:r>
              <a:rPr lang="en-US" sz="1700" dirty="0"/>
              <a:t>Understanding the Digital Customer Journey</a:t>
            </a:r>
          </a:p>
          <a:p>
            <a:pPr marL="1074738" lvl="2" indent="-514350" algn="just">
              <a:spcBef>
                <a:spcPts val="1000"/>
              </a:spcBef>
              <a:buClr>
                <a:schemeClr val="tx1"/>
              </a:buClr>
              <a:buFont typeface="Arial" panose="020B0604020202020204" pitchFamily="34" charset="0"/>
              <a:buChar char="•"/>
            </a:pPr>
            <a:r>
              <a:rPr lang="en-US" sz="1700" dirty="0"/>
              <a:t>Digital Marketing Components and Frameworks</a:t>
            </a:r>
          </a:p>
          <a:p>
            <a:pPr marL="1074738" lvl="2" indent="-514350" algn="just">
              <a:spcBef>
                <a:spcPts val="1000"/>
              </a:spcBef>
              <a:buClr>
                <a:schemeClr val="tx1"/>
              </a:buClr>
              <a:buFont typeface="Arial" panose="020B0604020202020204" pitchFamily="34" charset="0"/>
              <a:buChar char="•"/>
            </a:pPr>
            <a:r>
              <a:rPr lang="en-US" sz="1700" dirty="0"/>
              <a:t>Role of Internet in Digital Marketing</a:t>
            </a:r>
          </a:p>
          <a:p>
            <a:pPr marL="1074738" lvl="2" indent="-514350" algn="just">
              <a:spcBef>
                <a:spcPts val="1000"/>
              </a:spcBef>
              <a:buClr>
                <a:schemeClr val="tx1"/>
              </a:buClr>
              <a:buFont typeface="Arial" panose="020B0604020202020204" pitchFamily="34" charset="0"/>
              <a:buChar char="•"/>
            </a:pPr>
            <a:r>
              <a:rPr lang="en-US" sz="1700" dirty="0"/>
              <a:t>Advantages and Limitations of Digital Marketing</a:t>
            </a:r>
          </a:p>
          <a:p>
            <a:pPr marL="1074738" lvl="2" indent="-514350" algn="just">
              <a:spcBef>
                <a:spcPts val="1000"/>
              </a:spcBef>
              <a:buClr>
                <a:schemeClr val="tx1"/>
              </a:buClr>
              <a:buFont typeface="Arial" panose="020B0604020202020204" pitchFamily="34" charset="0"/>
              <a:buChar char="•"/>
            </a:pPr>
            <a:r>
              <a:rPr lang="en-US" sz="1700" dirty="0"/>
              <a:t>Skills Required in Digital Marketing</a:t>
            </a:r>
          </a:p>
          <a:p>
            <a:pPr marL="1074738" lvl="2" indent="-514350" algn="just">
              <a:spcBef>
                <a:spcPts val="1000"/>
              </a:spcBef>
              <a:buClr>
                <a:schemeClr val="tx1"/>
              </a:buClr>
              <a:buFont typeface="Arial" panose="020B0604020202020204" pitchFamily="34" charset="0"/>
              <a:buChar char="•"/>
            </a:pPr>
            <a:r>
              <a:rPr lang="en-US" sz="1700" dirty="0"/>
              <a:t>Implications for Business &amp; Society of Digital Marketing</a:t>
            </a:r>
          </a:p>
          <a:p>
            <a:pPr marL="1074738" lvl="2" indent="-514350" algn="just">
              <a:spcBef>
                <a:spcPts val="1000"/>
              </a:spcBef>
              <a:buClr>
                <a:schemeClr val="tx1"/>
              </a:buClr>
              <a:buFont typeface="Arial" panose="020B0604020202020204" pitchFamily="34" charset="0"/>
              <a:buChar char="•"/>
            </a:pPr>
            <a:r>
              <a:rPr lang="en-US" sz="1700" dirty="0"/>
              <a:t>Infographics: Introduction, Why Infographics? Types of Infographics</a:t>
            </a:r>
          </a:p>
          <a:p>
            <a:pPr marL="1074738" lvl="2" indent="-514350" algn="just">
              <a:spcBef>
                <a:spcPts val="1000"/>
              </a:spcBef>
              <a:buClr>
                <a:schemeClr val="tx1"/>
              </a:buClr>
              <a:buFont typeface="Arial" panose="020B0604020202020204" pitchFamily="34" charset="0"/>
              <a:buChar char="•"/>
            </a:pPr>
            <a:r>
              <a:rPr lang="en-US" sz="1700" dirty="0"/>
              <a:t>Ethical and Legal Framework of Digital Marketing: Laws Legal Issues</a:t>
            </a:r>
          </a:p>
          <a:p>
            <a:pPr marL="1074738" lvl="2" indent="-514350" algn="just">
              <a:spcBef>
                <a:spcPts val="1000"/>
              </a:spcBef>
              <a:buClr>
                <a:schemeClr val="tx1"/>
              </a:buClr>
              <a:buFont typeface="Arial" panose="020B0604020202020204" pitchFamily="34" charset="0"/>
              <a:buChar char="•"/>
            </a:pPr>
            <a:r>
              <a:rPr lang="en-US" sz="1700" dirty="0"/>
              <a:t>How Marketers can Prevent Ethical and Legal Infringements</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44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94915-8C85-452F-9331-1CACB1D44026}"/>
              </a:ext>
            </a:extLst>
          </p:cNvPr>
          <p:cNvSpPr>
            <a:spLocks noGrp="1"/>
          </p:cNvSpPr>
          <p:nvPr>
            <p:ph type="title"/>
          </p:nvPr>
        </p:nvSpPr>
        <p:spPr/>
        <p:txBody>
          <a:bodyPr/>
          <a:lstStyle/>
          <a:p>
            <a:r>
              <a:rPr lang="en-US" dirty="0"/>
              <a:t>Concept of Digital Marketing</a:t>
            </a:r>
          </a:p>
        </p:txBody>
      </p:sp>
      <p:sp>
        <p:nvSpPr>
          <p:cNvPr id="3" name="Text Placeholder 2">
            <a:extLst>
              <a:ext uri="{FF2B5EF4-FFF2-40B4-BE49-F238E27FC236}">
                <a16:creationId xmlns:a16="http://schemas.microsoft.com/office/drawing/2014/main" id="{1FE418F5-5FB5-42FC-A096-21F22E4303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1642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2FD3-4443-47FB-A95A-39B256FFA891}"/>
              </a:ext>
            </a:extLst>
          </p:cNvPr>
          <p:cNvSpPr>
            <a:spLocks noGrp="1"/>
          </p:cNvSpPr>
          <p:nvPr>
            <p:ph type="title"/>
          </p:nvPr>
        </p:nvSpPr>
        <p:spPr/>
        <p:txBody>
          <a:bodyPr/>
          <a:lstStyle/>
          <a:p>
            <a:r>
              <a:rPr lang="en-US" dirty="0"/>
              <a:t>Concept of Digital Marketing</a:t>
            </a:r>
          </a:p>
        </p:txBody>
      </p:sp>
      <p:sp>
        <p:nvSpPr>
          <p:cNvPr id="3" name="Content Placeholder 2">
            <a:extLst>
              <a:ext uri="{FF2B5EF4-FFF2-40B4-BE49-F238E27FC236}">
                <a16:creationId xmlns:a16="http://schemas.microsoft.com/office/drawing/2014/main" id="{F70A4645-0B68-4F09-8314-9CA5B85A35D8}"/>
              </a:ext>
            </a:extLst>
          </p:cNvPr>
          <p:cNvSpPr>
            <a:spLocks noGrp="1"/>
          </p:cNvSpPr>
          <p:nvPr>
            <p:ph idx="1"/>
          </p:nvPr>
        </p:nvSpPr>
        <p:spPr/>
        <p:txBody>
          <a:bodyPr/>
          <a:lstStyle/>
          <a:p>
            <a:r>
              <a:rPr lang="en-US" b="1" dirty="0"/>
              <a:t>The Big Change:</a:t>
            </a:r>
            <a:r>
              <a:rPr lang="en-US" dirty="0"/>
              <a:t> The internet gives businesses a </a:t>
            </a:r>
            <a:r>
              <a:rPr lang="en-US" b="1" dirty="0"/>
              <a:t>massive network</a:t>
            </a:r>
            <a:r>
              <a:rPr lang="en-US" dirty="0"/>
              <a:t> to </a:t>
            </a:r>
            <a:r>
              <a:rPr lang="en-US" b="1" dirty="0"/>
              <a:t>showcase products, find customers, and increase profits.</a:t>
            </a:r>
          </a:p>
          <a:p>
            <a:r>
              <a:rPr lang="en-US" b="1" dirty="0"/>
              <a:t>Fast &amp; Real-Time:</a:t>
            </a:r>
            <a:r>
              <a:rPr lang="en-US" dirty="0"/>
              <a:t> Because </a:t>
            </a:r>
            <a:r>
              <a:rPr lang="en-US" b="1" dirty="0"/>
              <a:t>data transmission </a:t>
            </a:r>
            <a:r>
              <a:rPr lang="en-US" dirty="0"/>
              <a:t>is fast and easy, companies can connect with users </a:t>
            </a:r>
            <a:r>
              <a:rPr lang="en-US" b="1" dirty="0"/>
              <a:t>instantly.</a:t>
            </a:r>
          </a:p>
          <a:p>
            <a:r>
              <a:rPr lang="en-US" b="1" dirty="0"/>
              <a:t>The Main Channels:</a:t>
            </a:r>
          </a:p>
          <a:p>
            <a:pPr lvl="1"/>
            <a:r>
              <a:rPr lang="en-US" dirty="0"/>
              <a:t>Websites &amp; Search Engines (Google)</a:t>
            </a:r>
          </a:p>
          <a:p>
            <a:pPr lvl="1"/>
            <a:r>
              <a:rPr lang="en-US" dirty="0"/>
              <a:t>Social Media (Instagram, LinkedIn)</a:t>
            </a:r>
          </a:p>
          <a:p>
            <a:pPr lvl="1"/>
            <a:r>
              <a:rPr lang="en-US" dirty="0"/>
              <a:t>Mobile Apps &amp; Devices</a:t>
            </a:r>
          </a:p>
        </p:txBody>
      </p:sp>
      <p:pic>
        <p:nvPicPr>
          <p:cNvPr id="5" name="Picture 4">
            <a:extLst>
              <a:ext uri="{FF2B5EF4-FFF2-40B4-BE49-F238E27FC236}">
                <a16:creationId xmlns:a16="http://schemas.microsoft.com/office/drawing/2014/main" id="{557DD4F4-C09F-444D-A6F4-1E46B9658D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187" y="4245551"/>
            <a:ext cx="1749005" cy="1749005"/>
          </a:xfrm>
          <a:prstGeom prst="rect">
            <a:avLst/>
          </a:prstGeom>
        </p:spPr>
      </p:pic>
      <p:pic>
        <p:nvPicPr>
          <p:cNvPr id="7" name="Picture 6">
            <a:extLst>
              <a:ext uri="{FF2B5EF4-FFF2-40B4-BE49-F238E27FC236}">
                <a16:creationId xmlns:a16="http://schemas.microsoft.com/office/drawing/2014/main" id="{5AF65836-A134-4318-AB1E-6B8056C718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7603" y="3960427"/>
            <a:ext cx="3477702" cy="2319251"/>
          </a:xfrm>
          <a:prstGeom prst="rect">
            <a:avLst/>
          </a:prstGeom>
        </p:spPr>
      </p:pic>
      <p:pic>
        <p:nvPicPr>
          <p:cNvPr id="9" name="Picture 8">
            <a:extLst>
              <a:ext uri="{FF2B5EF4-FFF2-40B4-BE49-F238E27FC236}">
                <a16:creationId xmlns:a16="http://schemas.microsoft.com/office/drawing/2014/main" id="{F69C3A5C-BF30-43A4-AF3F-41A8669EB0AC}"/>
              </a:ext>
            </a:extLst>
          </p:cNvPr>
          <p:cNvPicPr>
            <a:picLocks noChangeAspect="1"/>
          </p:cNvPicPr>
          <p:nvPr/>
        </p:nvPicPr>
        <p:blipFill rotWithShape="1">
          <a:blip r:embed="rId4">
            <a:extLst>
              <a:ext uri="{28A0092B-C50C-407E-A947-70E740481C1C}">
                <a14:useLocalDpi xmlns:a14="http://schemas.microsoft.com/office/drawing/2010/main" val="0"/>
              </a:ext>
            </a:extLst>
          </a:blip>
          <a:srcRect l="24290" r="25998"/>
          <a:stretch/>
        </p:blipFill>
        <p:spPr>
          <a:xfrm>
            <a:off x="9010996" y="3960427"/>
            <a:ext cx="2061557" cy="2451000"/>
          </a:xfrm>
          <a:prstGeom prst="rect">
            <a:avLst/>
          </a:prstGeom>
        </p:spPr>
      </p:pic>
    </p:spTree>
    <p:extLst>
      <p:ext uri="{BB962C8B-B14F-4D97-AF65-F5344CB8AC3E}">
        <p14:creationId xmlns:p14="http://schemas.microsoft.com/office/powerpoint/2010/main" val="383525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4F44E-FCC5-4AAE-A440-90A767320C58}"/>
              </a:ext>
            </a:extLst>
          </p:cNvPr>
          <p:cNvSpPr>
            <a:spLocks noGrp="1"/>
          </p:cNvSpPr>
          <p:nvPr>
            <p:ph type="title"/>
          </p:nvPr>
        </p:nvSpPr>
        <p:spPr/>
        <p:txBody>
          <a:bodyPr/>
          <a:lstStyle/>
          <a:p>
            <a:r>
              <a:rPr lang="en-US" dirty="0"/>
              <a:t>Concept of Digital Marketing </a:t>
            </a:r>
            <a:r>
              <a:rPr lang="en-US" sz="3600" dirty="0"/>
              <a:t>(Continue..)</a:t>
            </a:r>
            <a:endParaRPr lang="en-US" dirty="0"/>
          </a:p>
        </p:txBody>
      </p:sp>
      <p:sp>
        <p:nvSpPr>
          <p:cNvPr id="3" name="Content Placeholder 2">
            <a:extLst>
              <a:ext uri="{FF2B5EF4-FFF2-40B4-BE49-F238E27FC236}">
                <a16:creationId xmlns:a16="http://schemas.microsoft.com/office/drawing/2014/main" id="{25023044-29A5-41AA-B449-0175BDAD6BFC}"/>
              </a:ext>
            </a:extLst>
          </p:cNvPr>
          <p:cNvSpPr>
            <a:spLocks noGrp="1"/>
          </p:cNvSpPr>
          <p:nvPr>
            <p:ph idx="1"/>
          </p:nvPr>
        </p:nvSpPr>
        <p:spPr/>
        <p:txBody>
          <a:bodyPr/>
          <a:lstStyle/>
          <a:p>
            <a:r>
              <a:rPr lang="en-US" sz="2400" i="1" dirty="0">
                <a:solidFill>
                  <a:srgbClr val="C00000"/>
                </a:solidFill>
              </a:rPr>
              <a:t>“Digital marketing is the promotion and marketing of goods and services to consumers through digital channels and digital/electronic technologies.”</a:t>
            </a:r>
          </a:p>
          <a:p>
            <a:r>
              <a:rPr lang="en-US" b="1" dirty="0"/>
              <a:t>Example 1 (</a:t>
            </a:r>
            <a:r>
              <a:rPr lang="en-US" b="1" dirty="0" err="1"/>
              <a:t>Swiggy</a:t>
            </a:r>
            <a:r>
              <a:rPr lang="en-US" b="1" dirty="0"/>
              <a:t> / Zomato):</a:t>
            </a:r>
            <a:r>
              <a:rPr lang="en-US" dirty="0"/>
              <a:t> Push notification on your phone saying, </a:t>
            </a:r>
            <a:r>
              <a:rPr lang="en-US" i="1" dirty="0"/>
              <a:t>“Your Friend Ordered for you”</a:t>
            </a:r>
            <a:r>
              <a:rPr lang="en-US" dirty="0"/>
              <a:t> That is real-time, location-based digital marketing.</a:t>
            </a:r>
          </a:p>
          <a:p>
            <a:r>
              <a:rPr lang="en-US" b="1" dirty="0"/>
              <a:t>Example 2 (Amazon / Flipkart):</a:t>
            </a:r>
            <a:r>
              <a:rPr lang="en-US" dirty="0"/>
              <a:t> You search for a Grinder on Amazon but don't buy it. Ads for that exact same Grinder follow you everywhere—on YouTube, Instagram, and news websites.</a:t>
            </a:r>
            <a:endParaRPr lang="en-US" sz="2400" i="1" dirty="0">
              <a:solidFill>
                <a:srgbClr val="C00000"/>
              </a:solidFill>
            </a:endParaRPr>
          </a:p>
          <a:p>
            <a:endParaRPr lang="en-US" dirty="0"/>
          </a:p>
          <a:p>
            <a:endParaRPr lang="en-US" dirty="0"/>
          </a:p>
        </p:txBody>
      </p:sp>
      <p:pic>
        <p:nvPicPr>
          <p:cNvPr id="5" name="Picture 4">
            <a:extLst>
              <a:ext uri="{FF2B5EF4-FFF2-40B4-BE49-F238E27FC236}">
                <a16:creationId xmlns:a16="http://schemas.microsoft.com/office/drawing/2014/main" id="{16352905-651D-41DE-BDEB-1D59D2C569EE}"/>
              </a:ext>
            </a:extLst>
          </p:cNvPr>
          <p:cNvPicPr>
            <a:picLocks noChangeAspect="1"/>
          </p:cNvPicPr>
          <p:nvPr/>
        </p:nvPicPr>
        <p:blipFill rotWithShape="1">
          <a:blip r:embed="rId2">
            <a:extLst>
              <a:ext uri="{28A0092B-C50C-407E-A947-70E740481C1C}">
                <a14:useLocalDpi xmlns:a14="http://schemas.microsoft.com/office/drawing/2010/main" val="0"/>
              </a:ext>
            </a:extLst>
          </a:blip>
          <a:srcRect l="4145" t="14534" r="27171" b="15335"/>
          <a:stretch/>
        </p:blipFill>
        <p:spPr>
          <a:xfrm>
            <a:off x="7047124" y="3429000"/>
            <a:ext cx="4742907" cy="2385082"/>
          </a:xfrm>
          <a:prstGeom prst="rect">
            <a:avLst/>
          </a:prstGeom>
        </p:spPr>
      </p:pic>
      <p:pic>
        <p:nvPicPr>
          <p:cNvPr id="7" name="Picture 6">
            <a:extLst>
              <a:ext uri="{FF2B5EF4-FFF2-40B4-BE49-F238E27FC236}">
                <a16:creationId xmlns:a16="http://schemas.microsoft.com/office/drawing/2014/main" id="{BB4AB550-7CA9-4A1C-9B92-6BF66C3DB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78" y="3730972"/>
            <a:ext cx="5646949" cy="1781137"/>
          </a:xfrm>
          <a:prstGeom prst="rect">
            <a:avLst/>
          </a:prstGeom>
        </p:spPr>
      </p:pic>
    </p:spTree>
    <p:extLst>
      <p:ext uri="{BB962C8B-B14F-4D97-AF65-F5344CB8AC3E}">
        <p14:creationId xmlns:p14="http://schemas.microsoft.com/office/powerpoint/2010/main" val="128375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E185-44E8-424E-888F-65F50DEF497B}"/>
              </a:ext>
            </a:extLst>
          </p:cNvPr>
          <p:cNvSpPr>
            <a:spLocks noGrp="1"/>
          </p:cNvSpPr>
          <p:nvPr>
            <p:ph type="title"/>
          </p:nvPr>
        </p:nvSpPr>
        <p:spPr/>
        <p:txBody>
          <a:bodyPr/>
          <a:lstStyle/>
          <a:p>
            <a:r>
              <a:rPr lang="en-US" sz="6000" dirty="0"/>
              <a:t>Evolution of Digital Marketing from Traditional to Modern Era</a:t>
            </a:r>
            <a:endParaRPr lang="en-US" dirty="0"/>
          </a:p>
        </p:txBody>
      </p:sp>
      <p:sp>
        <p:nvSpPr>
          <p:cNvPr id="3" name="Text Placeholder 2">
            <a:extLst>
              <a:ext uri="{FF2B5EF4-FFF2-40B4-BE49-F238E27FC236}">
                <a16:creationId xmlns:a16="http://schemas.microsoft.com/office/drawing/2014/main" id="{D323F090-1691-4CDD-A002-24736DB3148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38865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67FFA-0E4B-48D6-B6CB-EF69D41F647C}"/>
              </a:ext>
            </a:extLst>
          </p:cNvPr>
          <p:cNvSpPr>
            <a:spLocks noGrp="1"/>
          </p:cNvSpPr>
          <p:nvPr>
            <p:ph type="title"/>
          </p:nvPr>
        </p:nvSpPr>
        <p:spPr/>
        <p:txBody>
          <a:bodyPr/>
          <a:lstStyle/>
          <a:p>
            <a:r>
              <a:rPr lang="en-US" sz="3600" dirty="0"/>
              <a:t>Evolution of Digital Marketing from Traditional to Modern Era</a:t>
            </a:r>
            <a:endParaRPr lang="en-US" dirty="0"/>
          </a:p>
        </p:txBody>
      </p:sp>
      <p:sp>
        <p:nvSpPr>
          <p:cNvPr id="3" name="Content Placeholder 2">
            <a:extLst>
              <a:ext uri="{FF2B5EF4-FFF2-40B4-BE49-F238E27FC236}">
                <a16:creationId xmlns:a16="http://schemas.microsoft.com/office/drawing/2014/main" id="{1BEEB9F3-F59D-42E7-B3F5-6A35336A6FA7}"/>
              </a:ext>
            </a:extLst>
          </p:cNvPr>
          <p:cNvSpPr>
            <a:spLocks noGrp="1"/>
          </p:cNvSpPr>
          <p:nvPr>
            <p:ph idx="1"/>
          </p:nvPr>
        </p:nvSpPr>
        <p:spPr>
          <a:xfrm>
            <a:off x="131181" y="863444"/>
            <a:ext cx="6774946" cy="5590565"/>
          </a:xfrm>
        </p:spPr>
        <p:txBody>
          <a:bodyPr/>
          <a:lstStyle/>
          <a:p>
            <a:r>
              <a:rPr lang="en-US" b="1" dirty="0"/>
              <a:t>The Traditional Era (1.0):</a:t>
            </a:r>
            <a:r>
              <a:rPr lang="en-US" dirty="0"/>
              <a:t> Before 1990 </a:t>
            </a:r>
          </a:p>
          <a:p>
            <a:pPr lvl="1"/>
            <a:r>
              <a:rPr lang="en-US" b="1" dirty="0"/>
              <a:t>One-way</a:t>
            </a:r>
            <a:r>
              <a:rPr lang="en-US" dirty="0"/>
              <a:t> broadcasting (TV, Radio, Newspapers, Billboards).</a:t>
            </a:r>
          </a:p>
          <a:p>
            <a:pPr lvl="1"/>
            <a:r>
              <a:rPr lang="en-US" dirty="0"/>
              <a:t>No tracking, no user data, and </a:t>
            </a:r>
            <a:r>
              <a:rPr lang="en-US" b="1" dirty="0"/>
              <a:t>zero interaction</a:t>
            </a:r>
            <a:r>
              <a:rPr lang="en-US" dirty="0"/>
              <a:t>.</a:t>
            </a:r>
          </a:p>
          <a:p>
            <a:pPr lvl="1"/>
            <a:endParaRPr lang="en-US" dirty="0"/>
          </a:p>
          <a:p>
            <a:r>
              <a:rPr lang="en-US" b="1" dirty="0"/>
              <a:t>The Early Digital Era (2.0): </a:t>
            </a:r>
            <a:r>
              <a:rPr lang="en-US" dirty="0"/>
              <a:t>1990s</a:t>
            </a:r>
          </a:p>
          <a:p>
            <a:pPr lvl="1"/>
            <a:r>
              <a:rPr lang="en-US" dirty="0"/>
              <a:t> The birth of the Internet, static websites, and basic emails.</a:t>
            </a:r>
          </a:p>
          <a:p>
            <a:pPr lvl="1"/>
            <a:r>
              <a:rPr lang="en-US" dirty="0"/>
              <a:t>Information shifted from paper to screens, but </a:t>
            </a:r>
            <a:r>
              <a:rPr lang="en-US" b="1" dirty="0"/>
              <a:t>users could only read </a:t>
            </a:r>
            <a:r>
              <a:rPr lang="en-US" dirty="0"/>
              <a:t>it.</a:t>
            </a:r>
          </a:p>
          <a:p>
            <a:pPr lvl="1"/>
            <a:endParaRPr lang="en-US" dirty="0"/>
          </a:p>
          <a:p>
            <a:r>
              <a:rPr lang="en-US" b="1" dirty="0"/>
              <a:t>The Modern Era (3.0): </a:t>
            </a:r>
            <a:r>
              <a:rPr lang="en-US" dirty="0"/>
              <a:t>2000s </a:t>
            </a:r>
          </a:p>
          <a:p>
            <a:pPr lvl="1"/>
            <a:r>
              <a:rPr lang="en-US" b="1" dirty="0"/>
              <a:t>Dynamic, real-time, and two-way </a:t>
            </a:r>
            <a:r>
              <a:rPr lang="en-US" dirty="0"/>
              <a:t>interaction (Social Media, AI, Apps).</a:t>
            </a:r>
          </a:p>
          <a:p>
            <a:pPr lvl="1"/>
            <a:r>
              <a:rPr lang="en-US" dirty="0"/>
              <a:t>Driven by data pipelines, user analytics, and hyper-targeted automation.</a:t>
            </a:r>
          </a:p>
        </p:txBody>
      </p:sp>
      <p:pic>
        <p:nvPicPr>
          <p:cNvPr id="4" name="Picture 4" descr="Wifi Internet Technology - Free GIF on Pixabay - Pixabay">
            <a:extLst>
              <a:ext uri="{FF2B5EF4-FFF2-40B4-BE49-F238E27FC236}">
                <a16:creationId xmlns:a16="http://schemas.microsoft.com/office/drawing/2014/main" id="{FCDF7EF0-94DD-4217-B99E-81BF32467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3301" y="2704127"/>
            <a:ext cx="1063191" cy="10631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A19B90F-DE43-41BF-9604-F544E20D8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1759" y="2705208"/>
            <a:ext cx="1343525" cy="1007644"/>
          </a:xfrm>
          <a:prstGeom prst="rect">
            <a:avLst/>
          </a:prstGeom>
        </p:spPr>
      </p:pic>
      <p:pic>
        <p:nvPicPr>
          <p:cNvPr id="7" name="Picture 6">
            <a:extLst>
              <a:ext uri="{FF2B5EF4-FFF2-40B4-BE49-F238E27FC236}">
                <a16:creationId xmlns:a16="http://schemas.microsoft.com/office/drawing/2014/main" id="{B187314E-6604-4EB8-9033-02FFFE2D3E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2507" y="4567716"/>
            <a:ext cx="2703194" cy="1566936"/>
          </a:xfrm>
          <a:prstGeom prst="rect">
            <a:avLst/>
          </a:prstGeom>
        </p:spPr>
      </p:pic>
      <p:pic>
        <p:nvPicPr>
          <p:cNvPr id="9" name="Picture 8">
            <a:extLst>
              <a:ext uri="{FF2B5EF4-FFF2-40B4-BE49-F238E27FC236}">
                <a16:creationId xmlns:a16="http://schemas.microsoft.com/office/drawing/2014/main" id="{48BAA038-DC4D-48F3-B931-712940AD57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40126" y="886226"/>
            <a:ext cx="2351874" cy="1566936"/>
          </a:xfrm>
          <a:prstGeom prst="rect">
            <a:avLst/>
          </a:prstGeom>
        </p:spPr>
      </p:pic>
      <p:pic>
        <p:nvPicPr>
          <p:cNvPr id="11" name="Picture 10">
            <a:extLst>
              <a:ext uri="{FF2B5EF4-FFF2-40B4-BE49-F238E27FC236}">
                <a16:creationId xmlns:a16="http://schemas.microsoft.com/office/drawing/2014/main" id="{FF84FD32-B14E-4726-BADC-DD88CD840E68}"/>
              </a:ext>
            </a:extLst>
          </p:cNvPr>
          <p:cNvPicPr>
            <a:picLocks noChangeAspect="1"/>
          </p:cNvPicPr>
          <p:nvPr/>
        </p:nvPicPr>
        <p:blipFill rotWithShape="1">
          <a:blip r:embed="rId6">
            <a:extLst>
              <a:ext uri="{28A0092B-C50C-407E-A947-70E740481C1C}">
                <a14:useLocalDpi xmlns:a14="http://schemas.microsoft.com/office/drawing/2010/main" val="0"/>
              </a:ext>
            </a:extLst>
          </a:blip>
          <a:srcRect t="10664" b="18914"/>
          <a:stretch/>
        </p:blipFill>
        <p:spPr>
          <a:xfrm>
            <a:off x="7265865" y="886225"/>
            <a:ext cx="2225053" cy="1566936"/>
          </a:xfrm>
          <a:prstGeom prst="rect">
            <a:avLst/>
          </a:prstGeom>
        </p:spPr>
      </p:pic>
      <p:pic>
        <p:nvPicPr>
          <p:cNvPr id="13" name="Picture 12">
            <a:extLst>
              <a:ext uri="{FF2B5EF4-FFF2-40B4-BE49-F238E27FC236}">
                <a16:creationId xmlns:a16="http://schemas.microsoft.com/office/drawing/2014/main" id="{0BFB4D8E-4161-47E9-AF4E-F29E5EDF65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80495" y="4655011"/>
            <a:ext cx="2090038" cy="1392345"/>
          </a:xfrm>
          <a:prstGeom prst="rect">
            <a:avLst/>
          </a:prstGeom>
        </p:spPr>
      </p:pic>
    </p:spTree>
    <p:extLst>
      <p:ext uri="{BB962C8B-B14F-4D97-AF65-F5344CB8AC3E}">
        <p14:creationId xmlns:p14="http://schemas.microsoft.com/office/powerpoint/2010/main" val="323057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9D6BD-44FE-4860-B3F4-648B43AD5D06}"/>
              </a:ext>
            </a:extLst>
          </p:cNvPr>
          <p:cNvSpPr>
            <a:spLocks noGrp="1"/>
          </p:cNvSpPr>
          <p:nvPr>
            <p:ph type="title"/>
          </p:nvPr>
        </p:nvSpPr>
        <p:spPr/>
        <p:txBody>
          <a:bodyPr/>
          <a:lstStyle/>
          <a:p>
            <a:r>
              <a:rPr lang="en-US" sz="6000" dirty="0"/>
              <a:t>Traditional Marketing vs. Digital Marketing</a:t>
            </a:r>
            <a:endParaRPr lang="en-US" dirty="0"/>
          </a:p>
        </p:txBody>
      </p:sp>
      <p:sp>
        <p:nvSpPr>
          <p:cNvPr id="3" name="Text Placeholder 2">
            <a:extLst>
              <a:ext uri="{FF2B5EF4-FFF2-40B4-BE49-F238E27FC236}">
                <a16:creationId xmlns:a16="http://schemas.microsoft.com/office/drawing/2014/main" id="{6930DDFC-ED7E-42AC-84B2-D858A9CFDE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75388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F16DF-4AB3-455E-B2F6-50A646E57B2B}"/>
              </a:ext>
            </a:extLst>
          </p:cNvPr>
          <p:cNvSpPr>
            <a:spLocks noGrp="1"/>
          </p:cNvSpPr>
          <p:nvPr>
            <p:ph type="title"/>
          </p:nvPr>
        </p:nvSpPr>
        <p:spPr/>
        <p:txBody>
          <a:bodyPr>
            <a:normAutofit/>
          </a:bodyPr>
          <a:lstStyle/>
          <a:p>
            <a:r>
              <a:rPr lang="en-US" dirty="0"/>
              <a:t>Traditional Marketing vs. Digital Marketing</a:t>
            </a:r>
          </a:p>
        </p:txBody>
      </p:sp>
      <p:graphicFrame>
        <p:nvGraphicFramePr>
          <p:cNvPr id="4" name="Table 4">
            <a:extLst>
              <a:ext uri="{FF2B5EF4-FFF2-40B4-BE49-F238E27FC236}">
                <a16:creationId xmlns:a16="http://schemas.microsoft.com/office/drawing/2014/main" id="{CCC53456-BA18-4EF6-871A-203319EC68B3}"/>
              </a:ext>
            </a:extLst>
          </p:cNvPr>
          <p:cNvGraphicFramePr>
            <a:graphicFrameLocks noGrp="1"/>
          </p:cNvGraphicFramePr>
          <p:nvPr>
            <p:ph idx="1"/>
            <p:extLst>
              <p:ext uri="{D42A27DB-BD31-4B8C-83A1-F6EECF244321}">
                <p14:modId xmlns:p14="http://schemas.microsoft.com/office/powerpoint/2010/main" val="3863114997"/>
              </p:ext>
            </p:extLst>
          </p:nvPr>
        </p:nvGraphicFramePr>
        <p:xfrm>
          <a:off x="182881" y="815791"/>
          <a:ext cx="11724187" cy="500279"/>
        </p:xfrm>
        <a:graphic>
          <a:graphicData uri="http://schemas.openxmlformats.org/drawingml/2006/table">
            <a:tbl>
              <a:tblPr firstRow="1" bandRow="1">
                <a:tableStyleId>{5C22544A-7EE6-4342-B048-85BDC9FD1C3A}</a:tableStyleId>
              </a:tblPr>
              <a:tblGrid>
                <a:gridCol w="1662544">
                  <a:extLst>
                    <a:ext uri="{9D8B030D-6E8A-4147-A177-3AD203B41FA5}">
                      <a16:colId xmlns:a16="http://schemas.microsoft.com/office/drawing/2014/main" val="1398171321"/>
                    </a:ext>
                  </a:extLst>
                </a:gridCol>
                <a:gridCol w="4887884">
                  <a:extLst>
                    <a:ext uri="{9D8B030D-6E8A-4147-A177-3AD203B41FA5}">
                      <a16:colId xmlns:a16="http://schemas.microsoft.com/office/drawing/2014/main" val="623293997"/>
                    </a:ext>
                  </a:extLst>
                </a:gridCol>
                <a:gridCol w="5173759">
                  <a:extLst>
                    <a:ext uri="{9D8B030D-6E8A-4147-A177-3AD203B41FA5}">
                      <a16:colId xmlns:a16="http://schemas.microsoft.com/office/drawing/2014/main" val="1208507622"/>
                    </a:ext>
                  </a:extLst>
                </a:gridCol>
              </a:tblGrid>
              <a:tr h="500279">
                <a:tc>
                  <a:txBody>
                    <a:bodyPr/>
                    <a:lstStyle/>
                    <a:p>
                      <a:pPr algn="ctr"/>
                      <a:r>
                        <a:rPr lang="en-US" dirty="0">
                          <a:solidFill>
                            <a:schemeClr val="tx1"/>
                          </a:solidFill>
                        </a:rPr>
                        <a:t>Point</a:t>
                      </a:r>
                    </a:p>
                  </a:txBody>
                  <a:tcPr>
                    <a:solidFill>
                      <a:schemeClr val="accent6">
                        <a:lumMod val="60000"/>
                        <a:lumOff val="40000"/>
                      </a:schemeClr>
                    </a:solidFill>
                  </a:tcPr>
                </a:tc>
                <a:tc>
                  <a:txBody>
                    <a:bodyPr/>
                    <a:lstStyle/>
                    <a:p>
                      <a:pPr algn="ctr"/>
                      <a:r>
                        <a:rPr lang="en-US" dirty="0">
                          <a:solidFill>
                            <a:schemeClr val="tx1"/>
                          </a:solidFill>
                        </a:rPr>
                        <a:t>Traditional Marketing</a:t>
                      </a:r>
                    </a:p>
                  </a:txBody>
                  <a:tcPr>
                    <a:solidFill>
                      <a:schemeClr val="accent6">
                        <a:lumMod val="60000"/>
                        <a:lumOff val="40000"/>
                      </a:schemeClr>
                    </a:solidFill>
                  </a:tcPr>
                </a:tc>
                <a:tc>
                  <a:txBody>
                    <a:bodyPr/>
                    <a:lstStyle/>
                    <a:p>
                      <a:pPr algn="ctr"/>
                      <a:r>
                        <a:rPr lang="en-US" dirty="0">
                          <a:solidFill>
                            <a:schemeClr val="tx1"/>
                          </a:solidFill>
                        </a:rPr>
                        <a:t>Digital Marketing</a:t>
                      </a:r>
                    </a:p>
                  </a:txBody>
                  <a:tcPr>
                    <a:solidFill>
                      <a:schemeClr val="accent6">
                        <a:lumMod val="60000"/>
                        <a:lumOff val="40000"/>
                      </a:schemeClr>
                    </a:solidFill>
                  </a:tcPr>
                </a:tc>
                <a:extLst>
                  <a:ext uri="{0D108BD9-81ED-4DB2-BD59-A6C34878D82A}">
                    <a16:rowId xmlns:a16="http://schemas.microsoft.com/office/drawing/2014/main" val="557638803"/>
                  </a:ext>
                </a:extLst>
              </a:tr>
            </a:tbl>
          </a:graphicData>
        </a:graphic>
      </p:graphicFrame>
      <p:graphicFrame>
        <p:nvGraphicFramePr>
          <p:cNvPr id="6" name="Table 5">
            <a:extLst>
              <a:ext uri="{FF2B5EF4-FFF2-40B4-BE49-F238E27FC236}">
                <a16:creationId xmlns:a16="http://schemas.microsoft.com/office/drawing/2014/main" id="{63AD6704-F0EB-443C-86AA-1234889F8251}"/>
              </a:ext>
            </a:extLst>
          </p:cNvPr>
          <p:cNvGraphicFramePr>
            <a:graphicFrameLocks noGrp="1"/>
          </p:cNvGraphicFramePr>
          <p:nvPr>
            <p:extLst>
              <p:ext uri="{D42A27DB-BD31-4B8C-83A1-F6EECF244321}">
                <p14:modId xmlns:p14="http://schemas.microsoft.com/office/powerpoint/2010/main" val="401035119"/>
              </p:ext>
            </p:extLst>
          </p:nvPr>
        </p:nvGraphicFramePr>
        <p:xfrm>
          <a:off x="179889" y="1316070"/>
          <a:ext cx="11727180" cy="1432560"/>
        </p:xfrm>
        <a:graphic>
          <a:graphicData uri="http://schemas.openxmlformats.org/drawingml/2006/table">
            <a:tbl>
              <a:tblPr firstRow="1" bandRow="1">
                <a:tableStyleId>{93296810-A885-4BE3-A3E7-6D5BEEA58F35}</a:tableStyleId>
              </a:tblPr>
              <a:tblGrid>
                <a:gridCol w="1668780">
                  <a:extLst>
                    <a:ext uri="{9D8B030D-6E8A-4147-A177-3AD203B41FA5}">
                      <a16:colId xmlns:a16="http://schemas.microsoft.com/office/drawing/2014/main" val="2199236221"/>
                    </a:ext>
                  </a:extLst>
                </a:gridCol>
                <a:gridCol w="4892040">
                  <a:extLst>
                    <a:ext uri="{9D8B030D-6E8A-4147-A177-3AD203B41FA5}">
                      <a16:colId xmlns:a16="http://schemas.microsoft.com/office/drawing/2014/main" val="1797124440"/>
                    </a:ext>
                  </a:extLst>
                </a:gridCol>
                <a:gridCol w="5166360">
                  <a:extLst>
                    <a:ext uri="{9D8B030D-6E8A-4147-A177-3AD203B41FA5}">
                      <a16:colId xmlns:a16="http://schemas.microsoft.com/office/drawing/2014/main" val="255270052"/>
                    </a:ext>
                  </a:extLst>
                </a:gridCol>
              </a:tblGrid>
              <a:tr h="1369846">
                <a:tc>
                  <a:txBody>
                    <a:bodyPr/>
                    <a:lstStyle/>
                    <a:p>
                      <a:pPr algn="ctr"/>
                      <a:r>
                        <a:rPr lang="en-US" sz="2200" b="1" dirty="0">
                          <a:solidFill>
                            <a:schemeClr val="tx1"/>
                          </a:solidFill>
                        </a:rPr>
                        <a:t>Meaning</a:t>
                      </a:r>
                    </a:p>
                  </a:txBody>
                  <a:tcPr anchor="ctr">
                    <a:solidFill>
                      <a:schemeClr val="accent6">
                        <a:lumMod val="40000"/>
                        <a:lumOff val="60000"/>
                      </a:schemeClr>
                    </a:solidFill>
                  </a:tcPr>
                </a:tc>
                <a:tc>
                  <a:txBody>
                    <a:bodyPr/>
                    <a:lstStyle/>
                    <a:p>
                      <a:pPr algn="just"/>
                      <a:r>
                        <a:rPr lang="en-US" sz="2200" b="0" dirty="0">
                          <a:solidFill>
                            <a:schemeClr val="tx1"/>
                          </a:solidFill>
                        </a:rPr>
                        <a:t>Traditional marketing is a promotional strategy that uses </a:t>
                      </a:r>
                      <a:r>
                        <a:rPr lang="en-US" sz="2200" b="1" dirty="0">
                          <a:solidFill>
                            <a:schemeClr val="tx1"/>
                          </a:solidFill>
                        </a:rPr>
                        <a:t>offline channels </a:t>
                      </a:r>
                      <a:r>
                        <a:rPr lang="en-US" sz="2200" b="0" dirty="0">
                          <a:solidFill>
                            <a:schemeClr val="tx1"/>
                          </a:solidFill>
                        </a:rPr>
                        <a:t>to reach a </a:t>
                      </a:r>
                      <a:r>
                        <a:rPr lang="en-US" sz="2200" b="1" dirty="0">
                          <a:solidFill>
                            <a:schemeClr val="tx1"/>
                          </a:solidFill>
                        </a:rPr>
                        <a:t>broad audience</a:t>
                      </a:r>
                      <a:r>
                        <a:rPr lang="en-US" sz="2200" b="0" dirty="0">
                          <a:solidFill>
                            <a:schemeClr val="tx1"/>
                          </a:solidFill>
                        </a:rPr>
                        <a:t> and promote products and services to consumers. </a:t>
                      </a:r>
                    </a:p>
                  </a:txBody>
                  <a:tcPr anchor="ctr">
                    <a:solidFill>
                      <a:schemeClr val="accent6">
                        <a:lumMod val="40000"/>
                        <a:lumOff val="60000"/>
                      </a:schemeClr>
                    </a:solidFill>
                  </a:tcPr>
                </a:tc>
                <a:tc>
                  <a:txBody>
                    <a:bodyPr/>
                    <a:lstStyle/>
                    <a:p>
                      <a:pPr algn="just"/>
                      <a:r>
                        <a:rPr lang="en-US" sz="2200" b="0" dirty="0">
                          <a:solidFill>
                            <a:schemeClr val="tx1"/>
                          </a:solidFill>
                        </a:rPr>
                        <a:t>Digital marketing is a way to promote brands to connect with </a:t>
                      </a:r>
                      <a:r>
                        <a:rPr lang="en-US" sz="2200" b="1" dirty="0">
                          <a:solidFill>
                            <a:schemeClr val="tx1"/>
                          </a:solidFill>
                        </a:rPr>
                        <a:t>potential customers</a:t>
                      </a:r>
                      <a:r>
                        <a:rPr lang="en-US" sz="2200" b="0" dirty="0">
                          <a:solidFill>
                            <a:schemeClr val="tx1"/>
                          </a:solidFill>
                        </a:rPr>
                        <a:t> using the</a:t>
                      </a:r>
                      <a:r>
                        <a:rPr lang="en-US" sz="2200" b="1" dirty="0">
                          <a:solidFill>
                            <a:schemeClr val="tx1"/>
                          </a:solidFill>
                        </a:rPr>
                        <a:t> internet and other digital communication channels.</a:t>
                      </a:r>
                    </a:p>
                  </a:txBody>
                  <a:tcPr anchor="ctr">
                    <a:solidFill>
                      <a:schemeClr val="accent6">
                        <a:lumMod val="40000"/>
                        <a:lumOff val="60000"/>
                      </a:schemeClr>
                    </a:solidFill>
                  </a:tcPr>
                </a:tc>
                <a:extLst>
                  <a:ext uri="{0D108BD9-81ED-4DB2-BD59-A6C34878D82A}">
                    <a16:rowId xmlns:a16="http://schemas.microsoft.com/office/drawing/2014/main" val="2505747797"/>
                  </a:ext>
                </a:extLst>
              </a:tr>
            </a:tbl>
          </a:graphicData>
        </a:graphic>
      </p:graphicFrame>
      <p:graphicFrame>
        <p:nvGraphicFramePr>
          <p:cNvPr id="7" name="Table 6">
            <a:extLst>
              <a:ext uri="{FF2B5EF4-FFF2-40B4-BE49-F238E27FC236}">
                <a16:creationId xmlns:a16="http://schemas.microsoft.com/office/drawing/2014/main" id="{53932388-C0C1-471E-A210-152AE8311CE0}"/>
              </a:ext>
            </a:extLst>
          </p:cNvPr>
          <p:cNvGraphicFramePr>
            <a:graphicFrameLocks noGrp="1"/>
          </p:cNvGraphicFramePr>
          <p:nvPr>
            <p:extLst>
              <p:ext uri="{D42A27DB-BD31-4B8C-83A1-F6EECF244321}">
                <p14:modId xmlns:p14="http://schemas.microsoft.com/office/powerpoint/2010/main" val="3226601925"/>
              </p:ext>
            </p:extLst>
          </p:nvPr>
        </p:nvGraphicFramePr>
        <p:xfrm>
          <a:off x="215153" y="2748630"/>
          <a:ext cx="11691916" cy="1268431"/>
        </p:xfrm>
        <a:graphic>
          <a:graphicData uri="http://schemas.openxmlformats.org/drawingml/2006/table">
            <a:tbl>
              <a:tblPr firstRow="1" bandRow="1">
                <a:tableStyleId>{93296810-A885-4BE3-A3E7-6D5BEEA58F35}</a:tableStyleId>
              </a:tblPr>
              <a:tblGrid>
                <a:gridCol w="1663762">
                  <a:extLst>
                    <a:ext uri="{9D8B030D-6E8A-4147-A177-3AD203B41FA5}">
                      <a16:colId xmlns:a16="http://schemas.microsoft.com/office/drawing/2014/main" val="1721679946"/>
                    </a:ext>
                  </a:extLst>
                </a:gridCol>
                <a:gridCol w="4877329">
                  <a:extLst>
                    <a:ext uri="{9D8B030D-6E8A-4147-A177-3AD203B41FA5}">
                      <a16:colId xmlns:a16="http://schemas.microsoft.com/office/drawing/2014/main" val="101525531"/>
                    </a:ext>
                  </a:extLst>
                </a:gridCol>
                <a:gridCol w="5150825">
                  <a:extLst>
                    <a:ext uri="{9D8B030D-6E8A-4147-A177-3AD203B41FA5}">
                      <a16:colId xmlns:a16="http://schemas.microsoft.com/office/drawing/2014/main" val="3627584717"/>
                    </a:ext>
                  </a:extLst>
                </a:gridCol>
              </a:tblGrid>
              <a:tr h="1268431">
                <a:tc>
                  <a:txBody>
                    <a:bodyPr/>
                    <a:lstStyle/>
                    <a:p>
                      <a:pPr algn="ctr"/>
                      <a:r>
                        <a:rPr lang="en-US" sz="2200" b="1" dirty="0">
                          <a:solidFill>
                            <a:schemeClr val="tx1"/>
                          </a:solidFill>
                        </a:rPr>
                        <a:t>Channels</a:t>
                      </a:r>
                    </a:p>
                  </a:txBody>
                  <a:tcPr anchor="ctr">
                    <a:solidFill>
                      <a:schemeClr val="accent6">
                        <a:lumMod val="60000"/>
                        <a:lumOff val="40000"/>
                      </a:schemeClr>
                    </a:solidFill>
                  </a:tcPr>
                </a:tc>
                <a:tc>
                  <a:txBody>
                    <a:bodyPr/>
                    <a:lstStyle/>
                    <a:p>
                      <a:pPr algn="just"/>
                      <a:r>
                        <a:rPr lang="en-US" sz="2200" b="0" dirty="0">
                          <a:solidFill>
                            <a:schemeClr val="tx1"/>
                          </a:solidFill>
                        </a:rPr>
                        <a:t>Uses offline channels like </a:t>
                      </a:r>
                      <a:r>
                        <a:rPr lang="en-US" sz="2200" b="1" dirty="0">
                          <a:solidFill>
                            <a:schemeClr val="tx1"/>
                          </a:solidFill>
                        </a:rPr>
                        <a:t>TV, radio, newspapers, magazines, billboards, and direct mail.</a:t>
                      </a:r>
                    </a:p>
                  </a:txBody>
                  <a:tcPr anchor="ctr">
                    <a:solidFill>
                      <a:schemeClr val="accent6">
                        <a:lumMod val="60000"/>
                        <a:lumOff val="40000"/>
                      </a:schemeClr>
                    </a:solidFill>
                  </a:tcPr>
                </a:tc>
                <a:tc>
                  <a:txBody>
                    <a:bodyPr/>
                    <a:lstStyle/>
                    <a:p>
                      <a:pPr algn="just"/>
                      <a:r>
                        <a:rPr lang="en-US" sz="2200" b="0" dirty="0">
                          <a:solidFill>
                            <a:schemeClr val="tx1"/>
                          </a:solidFill>
                        </a:rPr>
                        <a:t>Utilizes </a:t>
                      </a:r>
                      <a:r>
                        <a:rPr lang="en-US" sz="2200" b="1" dirty="0">
                          <a:solidFill>
                            <a:schemeClr val="tx1"/>
                          </a:solidFill>
                        </a:rPr>
                        <a:t>online channels </a:t>
                      </a:r>
                      <a:r>
                        <a:rPr lang="en-US" sz="2200" b="0" dirty="0">
                          <a:solidFill>
                            <a:schemeClr val="tx1"/>
                          </a:solidFill>
                        </a:rPr>
                        <a:t>like websites, social media, email, search engines, and online ads.</a:t>
                      </a:r>
                    </a:p>
                  </a:txBody>
                  <a:tcPr anchor="ctr">
                    <a:solidFill>
                      <a:schemeClr val="accent6">
                        <a:lumMod val="60000"/>
                        <a:lumOff val="40000"/>
                      </a:schemeClr>
                    </a:solidFill>
                  </a:tcPr>
                </a:tc>
                <a:extLst>
                  <a:ext uri="{0D108BD9-81ED-4DB2-BD59-A6C34878D82A}">
                    <a16:rowId xmlns:a16="http://schemas.microsoft.com/office/drawing/2014/main" val="606715803"/>
                  </a:ext>
                </a:extLst>
              </a:tr>
            </a:tbl>
          </a:graphicData>
        </a:graphic>
      </p:graphicFrame>
      <p:graphicFrame>
        <p:nvGraphicFramePr>
          <p:cNvPr id="8" name="Table 7">
            <a:extLst>
              <a:ext uri="{FF2B5EF4-FFF2-40B4-BE49-F238E27FC236}">
                <a16:creationId xmlns:a16="http://schemas.microsoft.com/office/drawing/2014/main" id="{543ABF6C-D039-4861-A918-BD841125AB7C}"/>
              </a:ext>
            </a:extLst>
          </p:cNvPr>
          <p:cNvGraphicFramePr>
            <a:graphicFrameLocks noGrp="1"/>
          </p:cNvGraphicFramePr>
          <p:nvPr>
            <p:extLst>
              <p:ext uri="{D42A27DB-BD31-4B8C-83A1-F6EECF244321}">
                <p14:modId xmlns:p14="http://schemas.microsoft.com/office/powerpoint/2010/main" val="2890889556"/>
              </p:ext>
            </p:extLst>
          </p:nvPr>
        </p:nvGraphicFramePr>
        <p:xfrm>
          <a:off x="215153" y="4025152"/>
          <a:ext cx="11691916" cy="1190169"/>
        </p:xfrm>
        <a:graphic>
          <a:graphicData uri="http://schemas.openxmlformats.org/drawingml/2006/table">
            <a:tbl>
              <a:tblPr firstRow="1" bandRow="1">
                <a:tableStyleId>{93296810-A885-4BE3-A3E7-6D5BEEA58F35}</a:tableStyleId>
              </a:tblPr>
              <a:tblGrid>
                <a:gridCol w="1663762">
                  <a:extLst>
                    <a:ext uri="{9D8B030D-6E8A-4147-A177-3AD203B41FA5}">
                      <a16:colId xmlns:a16="http://schemas.microsoft.com/office/drawing/2014/main" val="773529829"/>
                    </a:ext>
                  </a:extLst>
                </a:gridCol>
                <a:gridCol w="4877329">
                  <a:extLst>
                    <a:ext uri="{9D8B030D-6E8A-4147-A177-3AD203B41FA5}">
                      <a16:colId xmlns:a16="http://schemas.microsoft.com/office/drawing/2014/main" val="62932977"/>
                    </a:ext>
                  </a:extLst>
                </a:gridCol>
                <a:gridCol w="5150825">
                  <a:extLst>
                    <a:ext uri="{9D8B030D-6E8A-4147-A177-3AD203B41FA5}">
                      <a16:colId xmlns:a16="http://schemas.microsoft.com/office/drawing/2014/main" val="2236129526"/>
                    </a:ext>
                  </a:extLst>
                </a:gridCol>
              </a:tblGrid>
              <a:tr h="1190169">
                <a:tc>
                  <a:txBody>
                    <a:bodyPr/>
                    <a:lstStyle/>
                    <a:p>
                      <a:pPr algn="ctr"/>
                      <a:r>
                        <a:rPr lang="en-US" sz="2200" b="1" dirty="0">
                          <a:solidFill>
                            <a:schemeClr val="tx1"/>
                          </a:solidFill>
                        </a:rPr>
                        <a:t>Cost</a:t>
                      </a:r>
                    </a:p>
                  </a:txBody>
                  <a:tcPr anchor="ctr">
                    <a:solidFill>
                      <a:schemeClr val="accent6">
                        <a:lumMod val="40000"/>
                        <a:lumOff val="60000"/>
                      </a:schemeClr>
                    </a:solidFill>
                  </a:tcPr>
                </a:tc>
                <a:tc>
                  <a:txBody>
                    <a:bodyPr/>
                    <a:lstStyle/>
                    <a:p>
                      <a:pPr algn="just"/>
                      <a:r>
                        <a:rPr lang="en-US" sz="2200" b="0" dirty="0">
                          <a:solidFill>
                            <a:schemeClr val="tx1"/>
                          </a:solidFill>
                        </a:rPr>
                        <a:t>Often involves </a:t>
                      </a:r>
                      <a:r>
                        <a:rPr lang="en-US" sz="2200" b="1" dirty="0">
                          <a:solidFill>
                            <a:schemeClr val="tx1"/>
                          </a:solidFill>
                        </a:rPr>
                        <a:t>higher costs</a:t>
                      </a:r>
                      <a:r>
                        <a:rPr lang="en-US" sz="2200" b="0" dirty="0">
                          <a:solidFill>
                            <a:schemeClr val="tx1"/>
                          </a:solidFill>
                        </a:rPr>
                        <a:t> due to production and placement fees </a:t>
                      </a:r>
                    </a:p>
                    <a:p>
                      <a:pPr algn="just"/>
                      <a:r>
                        <a:rPr lang="en-US" sz="2200" b="0" dirty="0">
                          <a:solidFill>
                            <a:schemeClr val="tx1"/>
                          </a:solidFill>
                        </a:rPr>
                        <a:t>(e.g., TV commercials, print ads).</a:t>
                      </a:r>
                    </a:p>
                  </a:txBody>
                  <a:tcPr anchor="ctr">
                    <a:solidFill>
                      <a:schemeClr val="accent6">
                        <a:lumMod val="40000"/>
                        <a:lumOff val="60000"/>
                      </a:schemeClr>
                    </a:solidFill>
                  </a:tcPr>
                </a:tc>
                <a:tc>
                  <a:txBody>
                    <a:bodyPr/>
                    <a:lstStyle/>
                    <a:p>
                      <a:pPr algn="just"/>
                      <a:r>
                        <a:rPr lang="en-US" sz="2200" b="0" dirty="0">
                          <a:solidFill>
                            <a:schemeClr val="tx1"/>
                          </a:solidFill>
                        </a:rPr>
                        <a:t>Generally, more </a:t>
                      </a:r>
                      <a:r>
                        <a:rPr lang="en-US" sz="2200" b="1" dirty="0">
                          <a:solidFill>
                            <a:schemeClr val="tx1"/>
                          </a:solidFill>
                        </a:rPr>
                        <a:t>cost-effective</a:t>
                      </a:r>
                      <a:r>
                        <a:rPr lang="en-US" sz="2200" b="0" dirty="0">
                          <a:solidFill>
                            <a:schemeClr val="tx1"/>
                          </a:solidFill>
                        </a:rPr>
                        <a:t> with options for low-cost campaigns </a:t>
                      </a:r>
                    </a:p>
                    <a:p>
                      <a:pPr algn="just"/>
                      <a:r>
                        <a:rPr lang="en-US" sz="2200" b="0" dirty="0">
                          <a:solidFill>
                            <a:schemeClr val="tx1"/>
                          </a:solidFill>
                        </a:rPr>
                        <a:t>(e.g., social media ads, email marketing).</a:t>
                      </a:r>
                    </a:p>
                  </a:txBody>
                  <a:tcPr anchor="ctr">
                    <a:solidFill>
                      <a:schemeClr val="accent6">
                        <a:lumMod val="40000"/>
                        <a:lumOff val="60000"/>
                      </a:schemeClr>
                    </a:solidFill>
                  </a:tcPr>
                </a:tc>
                <a:extLst>
                  <a:ext uri="{0D108BD9-81ED-4DB2-BD59-A6C34878D82A}">
                    <a16:rowId xmlns:a16="http://schemas.microsoft.com/office/drawing/2014/main" val="522667107"/>
                  </a:ext>
                </a:extLst>
              </a:tr>
            </a:tbl>
          </a:graphicData>
        </a:graphic>
      </p:graphicFrame>
      <p:graphicFrame>
        <p:nvGraphicFramePr>
          <p:cNvPr id="9" name="Table 8">
            <a:extLst>
              <a:ext uri="{FF2B5EF4-FFF2-40B4-BE49-F238E27FC236}">
                <a16:creationId xmlns:a16="http://schemas.microsoft.com/office/drawing/2014/main" id="{E50ACF92-6701-46CA-B728-7DAFBEB8BB36}"/>
              </a:ext>
            </a:extLst>
          </p:cNvPr>
          <p:cNvGraphicFramePr>
            <a:graphicFrameLocks noGrp="1"/>
          </p:cNvGraphicFramePr>
          <p:nvPr>
            <p:extLst>
              <p:ext uri="{D42A27DB-BD31-4B8C-83A1-F6EECF244321}">
                <p14:modId xmlns:p14="http://schemas.microsoft.com/office/powerpoint/2010/main" val="4274212926"/>
              </p:ext>
            </p:extLst>
          </p:nvPr>
        </p:nvGraphicFramePr>
        <p:xfrm>
          <a:off x="224117" y="5253318"/>
          <a:ext cx="11682951" cy="1219674"/>
        </p:xfrm>
        <a:graphic>
          <a:graphicData uri="http://schemas.openxmlformats.org/drawingml/2006/table">
            <a:tbl>
              <a:tblPr firstRow="1" bandRow="1">
                <a:tableStyleId>{93296810-A885-4BE3-A3E7-6D5BEEA58F35}</a:tableStyleId>
              </a:tblPr>
              <a:tblGrid>
                <a:gridCol w="1662486">
                  <a:extLst>
                    <a:ext uri="{9D8B030D-6E8A-4147-A177-3AD203B41FA5}">
                      <a16:colId xmlns:a16="http://schemas.microsoft.com/office/drawing/2014/main" val="450580692"/>
                    </a:ext>
                  </a:extLst>
                </a:gridCol>
                <a:gridCol w="4873590">
                  <a:extLst>
                    <a:ext uri="{9D8B030D-6E8A-4147-A177-3AD203B41FA5}">
                      <a16:colId xmlns:a16="http://schemas.microsoft.com/office/drawing/2014/main" val="2934200856"/>
                    </a:ext>
                  </a:extLst>
                </a:gridCol>
                <a:gridCol w="5146875">
                  <a:extLst>
                    <a:ext uri="{9D8B030D-6E8A-4147-A177-3AD203B41FA5}">
                      <a16:colId xmlns:a16="http://schemas.microsoft.com/office/drawing/2014/main" val="3118221923"/>
                    </a:ext>
                  </a:extLst>
                </a:gridCol>
              </a:tblGrid>
              <a:tr h="1219674">
                <a:tc>
                  <a:txBody>
                    <a:bodyPr/>
                    <a:lstStyle/>
                    <a:p>
                      <a:pPr algn="ctr"/>
                      <a:r>
                        <a:rPr lang="en-US" sz="2200" b="1" dirty="0">
                          <a:solidFill>
                            <a:schemeClr val="tx1"/>
                          </a:solidFill>
                        </a:rPr>
                        <a:t>Reach</a:t>
                      </a:r>
                    </a:p>
                  </a:txBody>
                  <a:tcPr anchor="ctr">
                    <a:solidFill>
                      <a:schemeClr val="accent6">
                        <a:lumMod val="60000"/>
                        <a:lumOff val="40000"/>
                      </a:schemeClr>
                    </a:solidFill>
                  </a:tcPr>
                </a:tc>
                <a:tc>
                  <a:txBody>
                    <a:bodyPr/>
                    <a:lstStyle/>
                    <a:p>
                      <a:pPr algn="just"/>
                      <a:r>
                        <a:rPr lang="en-US" sz="2200" b="1" dirty="0">
                          <a:solidFill>
                            <a:schemeClr val="tx1"/>
                          </a:solidFill>
                        </a:rPr>
                        <a:t>Limited to specific geographic areas </a:t>
                      </a:r>
                      <a:r>
                        <a:rPr lang="en-US" sz="2200" b="0" dirty="0">
                          <a:solidFill>
                            <a:schemeClr val="tx1"/>
                          </a:solidFill>
                        </a:rPr>
                        <a:t>based on the chosen medium </a:t>
                      </a:r>
                    </a:p>
                    <a:p>
                      <a:pPr algn="just"/>
                      <a:r>
                        <a:rPr lang="en-US" sz="2200" b="0" dirty="0">
                          <a:solidFill>
                            <a:schemeClr val="tx1"/>
                          </a:solidFill>
                        </a:rPr>
                        <a:t>(e.g., local newspaper or TV channel).</a:t>
                      </a:r>
                    </a:p>
                  </a:txBody>
                  <a:tcPr anchor="ctr">
                    <a:solidFill>
                      <a:schemeClr val="accent6">
                        <a:lumMod val="60000"/>
                        <a:lumOff val="40000"/>
                      </a:schemeClr>
                    </a:solidFill>
                  </a:tcPr>
                </a:tc>
                <a:tc>
                  <a:txBody>
                    <a:bodyPr/>
                    <a:lstStyle/>
                    <a:p>
                      <a:pPr algn="just"/>
                      <a:r>
                        <a:rPr lang="en-US" sz="2200" b="0" dirty="0">
                          <a:solidFill>
                            <a:schemeClr val="tx1"/>
                          </a:solidFill>
                        </a:rPr>
                        <a:t>Can </a:t>
                      </a:r>
                      <a:r>
                        <a:rPr lang="en-US" sz="2200" b="1" dirty="0">
                          <a:solidFill>
                            <a:schemeClr val="tx1"/>
                          </a:solidFill>
                        </a:rPr>
                        <a:t>reach a global audience</a:t>
                      </a:r>
                      <a:r>
                        <a:rPr lang="en-US" sz="2200" b="0" dirty="0">
                          <a:solidFill>
                            <a:schemeClr val="tx1"/>
                          </a:solidFill>
                        </a:rPr>
                        <a:t> with no geographic limitations.</a:t>
                      </a:r>
                    </a:p>
                  </a:txBody>
                  <a:tcPr anchor="ctr">
                    <a:solidFill>
                      <a:schemeClr val="accent6">
                        <a:lumMod val="60000"/>
                        <a:lumOff val="40000"/>
                      </a:schemeClr>
                    </a:solidFill>
                  </a:tcPr>
                </a:tc>
                <a:extLst>
                  <a:ext uri="{0D108BD9-81ED-4DB2-BD59-A6C34878D82A}">
                    <a16:rowId xmlns:a16="http://schemas.microsoft.com/office/drawing/2014/main" val="3501093935"/>
                  </a:ext>
                </a:extLst>
              </a:tr>
            </a:tbl>
          </a:graphicData>
        </a:graphic>
      </p:graphicFrame>
    </p:spTree>
    <p:extLst>
      <p:ext uri="{BB962C8B-B14F-4D97-AF65-F5344CB8AC3E}">
        <p14:creationId xmlns:p14="http://schemas.microsoft.com/office/powerpoint/2010/main" val="342766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6D8F-0C2E-4CCB-9D95-FB00811351DB}"/>
              </a:ext>
            </a:extLst>
          </p:cNvPr>
          <p:cNvSpPr>
            <a:spLocks noGrp="1"/>
          </p:cNvSpPr>
          <p:nvPr>
            <p:ph type="title"/>
          </p:nvPr>
        </p:nvSpPr>
        <p:spPr/>
        <p:txBody>
          <a:bodyPr>
            <a:normAutofit/>
          </a:bodyPr>
          <a:lstStyle/>
          <a:p>
            <a:r>
              <a:rPr lang="en-US" dirty="0"/>
              <a:t>Traditional Marketing vs. Digital Marketing (Continue..)</a:t>
            </a:r>
            <a:endParaRPr lang="en-US" dirty="0">
              <a:solidFill>
                <a:schemeClr val="tx1"/>
              </a:solidFill>
            </a:endParaRPr>
          </a:p>
        </p:txBody>
      </p:sp>
      <p:graphicFrame>
        <p:nvGraphicFramePr>
          <p:cNvPr id="4" name="Content Placeholder 3">
            <a:extLst>
              <a:ext uri="{FF2B5EF4-FFF2-40B4-BE49-F238E27FC236}">
                <a16:creationId xmlns:a16="http://schemas.microsoft.com/office/drawing/2014/main" id="{6DC6A819-9C47-41AF-8312-2E79FA3093F5}"/>
              </a:ext>
            </a:extLst>
          </p:cNvPr>
          <p:cNvGraphicFramePr>
            <a:graphicFrameLocks noGrp="1"/>
          </p:cNvGraphicFramePr>
          <p:nvPr>
            <p:ph idx="1"/>
            <p:extLst>
              <p:ext uri="{D42A27DB-BD31-4B8C-83A1-F6EECF244321}">
                <p14:modId xmlns:p14="http://schemas.microsoft.com/office/powerpoint/2010/main" val="2261170267"/>
              </p:ext>
            </p:extLst>
          </p:nvPr>
        </p:nvGraphicFramePr>
        <p:xfrm>
          <a:off x="124609" y="868679"/>
          <a:ext cx="11752264" cy="365760"/>
        </p:xfrm>
        <a:graphic>
          <a:graphicData uri="http://schemas.openxmlformats.org/drawingml/2006/table">
            <a:tbl>
              <a:tblPr firstRow="1" bandRow="1">
                <a:tableStyleId>{5C22544A-7EE6-4342-B048-85BDC9FD1C3A}</a:tableStyleId>
              </a:tblPr>
              <a:tblGrid>
                <a:gridCol w="1967243">
                  <a:extLst>
                    <a:ext uri="{9D8B030D-6E8A-4147-A177-3AD203B41FA5}">
                      <a16:colId xmlns:a16="http://schemas.microsoft.com/office/drawing/2014/main" val="2806288518"/>
                    </a:ext>
                  </a:extLst>
                </a:gridCol>
                <a:gridCol w="4655294">
                  <a:extLst>
                    <a:ext uri="{9D8B030D-6E8A-4147-A177-3AD203B41FA5}">
                      <a16:colId xmlns:a16="http://schemas.microsoft.com/office/drawing/2014/main" val="3995048179"/>
                    </a:ext>
                  </a:extLst>
                </a:gridCol>
                <a:gridCol w="5129727">
                  <a:extLst>
                    <a:ext uri="{9D8B030D-6E8A-4147-A177-3AD203B41FA5}">
                      <a16:colId xmlns:a16="http://schemas.microsoft.com/office/drawing/2014/main" val="3882663668"/>
                    </a:ext>
                  </a:extLst>
                </a:gridCol>
              </a:tblGrid>
              <a:tr h="355899">
                <a:tc>
                  <a:txBody>
                    <a:bodyPr/>
                    <a:lstStyle/>
                    <a:p>
                      <a:pPr algn="ctr"/>
                      <a:r>
                        <a:rPr lang="en-US" dirty="0">
                          <a:solidFill>
                            <a:schemeClr val="tx1"/>
                          </a:solidFill>
                        </a:rPr>
                        <a:t>Point</a:t>
                      </a:r>
                    </a:p>
                  </a:txBody>
                  <a:tcPr>
                    <a:solidFill>
                      <a:schemeClr val="accent6">
                        <a:lumMod val="60000"/>
                        <a:lumOff val="40000"/>
                      </a:schemeClr>
                    </a:solidFill>
                  </a:tcPr>
                </a:tc>
                <a:tc>
                  <a:txBody>
                    <a:bodyPr/>
                    <a:lstStyle/>
                    <a:p>
                      <a:pPr algn="ctr"/>
                      <a:r>
                        <a:rPr lang="en-US" dirty="0">
                          <a:solidFill>
                            <a:schemeClr val="tx1"/>
                          </a:solidFill>
                        </a:rPr>
                        <a:t>Traditional Marketing</a:t>
                      </a:r>
                    </a:p>
                  </a:txBody>
                  <a:tcPr>
                    <a:solidFill>
                      <a:schemeClr val="accent6">
                        <a:lumMod val="60000"/>
                        <a:lumOff val="40000"/>
                      </a:schemeClr>
                    </a:solidFill>
                  </a:tcPr>
                </a:tc>
                <a:tc>
                  <a:txBody>
                    <a:bodyPr/>
                    <a:lstStyle/>
                    <a:p>
                      <a:pPr algn="ctr"/>
                      <a:r>
                        <a:rPr lang="en-US" dirty="0">
                          <a:solidFill>
                            <a:schemeClr val="tx1"/>
                          </a:solidFill>
                        </a:rPr>
                        <a:t>Digital Marketing</a:t>
                      </a:r>
                    </a:p>
                  </a:txBody>
                  <a:tcPr>
                    <a:solidFill>
                      <a:schemeClr val="accent6">
                        <a:lumMod val="60000"/>
                        <a:lumOff val="40000"/>
                      </a:schemeClr>
                    </a:solidFill>
                  </a:tcPr>
                </a:tc>
                <a:extLst>
                  <a:ext uri="{0D108BD9-81ED-4DB2-BD59-A6C34878D82A}">
                    <a16:rowId xmlns:a16="http://schemas.microsoft.com/office/drawing/2014/main" val="3079115327"/>
                  </a:ext>
                </a:extLst>
              </a:tr>
            </a:tbl>
          </a:graphicData>
        </a:graphic>
      </p:graphicFrame>
      <p:graphicFrame>
        <p:nvGraphicFramePr>
          <p:cNvPr id="5" name="Table 4">
            <a:extLst>
              <a:ext uri="{FF2B5EF4-FFF2-40B4-BE49-F238E27FC236}">
                <a16:creationId xmlns:a16="http://schemas.microsoft.com/office/drawing/2014/main" id="{A2208D6A-3BA9-4AB7-866D-AFD6D55E15E0}"/>
              </a:ext>
            </a:extLst>
          </p:cNvPr>
          <p:cNvGraphicFramePr>
            <a:graphicFrameLocks noGrp="1"/>
          </p:cNvGraphicFramePr>
          <p:nvPr>
            <p:extLst>
              <p:ext uri="{D42A27DB-BD31-4B8C-83A1-F6EECF244321}">
                <p14:modId xmlns:p14="http://schemas.microsoft.com/office/powerpoint/2010/main" val="501602094"/>
              </p:ext>
            </p:extLst>
          </p:nvPr>
        </p:nvGraphicFramePr>
        <p:xfrm>
          <a:off x="116541" y="1227111"/>
          <a:ext cx="11742403" cy="1241928"/>
        </p:xfrm>
        <a:graphic>
          <a:graphicData uri="http://schemas.openxmlformats.org/drawingml/2006/table">
            <a:tbl>
              <a:tblPr firstRow="1" bandRow="1">
                <a:tableStyleId>{93296810-A885-4BE3-A3E7-6D5BEEA58F35}</a:tableStyleId>
              </a:tblPr>
              <a:tblGrid>
                <a:gridCol w="1979957">
                  <a:extLst>
                    <a:ext uri="{9D8B030D-6E8A-4147-A177-3AD203B41FA5}">
                      <a16:colId xmlns:a16="http://schemas.microsoft.com/office/drawing/2014/main" val="1408247702"/>
                    </a:ext>
                  </a:extLst>
                </a:gridCol>
                <a:gridCol w="4646603">
                  <a:extLst>
                    <a:ext uri="{9D8B030D-6E8A-4147-A177-3AD203B41FA5}">
                      <a16:colId xmlns:a16="http://schemas.microsoft.com/office/drawing/2014/main" val="882955921"/>
                    </a:ext>
                  </a:extLst>
                </a:gridCol>
                <a:gridCol w="5115843">
                  <a:extLst>
                    <a:ext uri="{9D8B030D-6E8A-4147-A177-3AD203B41FA5}">
                      <a16:colId xmlns:a16="http://schemas.microsoft.com/office/drawing/2014/main" val="960418112"/>
                    </a:ext>
                  </a:extLst>
                </a:gridCol>
              </a:tblGrid>
              <a:tr h="1241928">
                <a:tc>
                  <a:txBody>
                    <a:bodyPr/>
                    <a:lstStyle/>
                    <a:p>
                      <a:pPr algn="ctr"/>
                      <a:r>
                        <a:rPr lang="en-US" sz="2200" b="0" dirty="0">
                          <a:solidFill>
                            <a:schemeClr val="tx1"/>
                          </a:solidFill>
                        </a:rPr>
                        <a:t>Interaction</a:t>
                      </a:r>
                    </a:p>
                  </a:txBody>
                  <a:tcPr anchor="ctr">
                    <a:solidFill>
                      <a:schemeClr val="accent6">
                        <a:lumMod val="40000"/>
                        <a:lumOff val="60000"/>
                      </a:schemeClr>
                    </a:solidFill>
                  </a:tcPr>
                </a:tc>
                <a:tc>
                  <a:txBody>
                    <a:bodyPr/>
                    <a:lstStyle/>
                    <a:p>
                      <a:pPr algn="just"/>
                      <a:r>
                        <a:rPr lang="en-US" sz="2200" b="0" dirty="0">
                          <a:solidFill>
                            <a:schemeClr val="tx1"/>
                          </a:solidFill>
                        </a:rPr>
                        <a:t>Mostly </a:t>
                      </a:r>
                      <a:r>
                        <a:rPr lang="en-US" sz="2200" b="1" dirty="0">
                          <a:solidFill>
                            <a:schemeClr val="tx1"/>
                          </a:solidFill>
                        </a:rPr>
                        <a:t>one-way</a:t>
                      </a:r>
                      <a:r>
                        <a:rPr lang="en-US" sz="2200" b="0" dirty="0">
                          <a:solidFill>
                            <a:schemeClr val="tx1"/>
                          </a:solidFill>
                        </a:rPr>
                        <a:t> communication with limited audience interaction.</a:t>
                      </a:r>
                    </a:p>
                  </a:txBody>
                  <a:tcPr anchor="ctr">
                    <a:solidFill>
                      <a:schemeClr val="accent6">
                        <a:lumMod val="40000"/>
                        <a:lumOff val="60000"/>
                      </a:schemeClr>
                    </a:solidFill>
                  </a:tcPr>
                </a:tc>
                <a:tc>
                  <a:txBody>
                    <a:bodyPr/>
                    <a:lstStyle/>
                    <a:p>
                      <a:pPr algn="just"/>
                      <a:r>
                        <a:rPr lang="en-US" sz="2200" b="0" dirty="0">
                          <a:solidFill>
                            <a:schemeClr val="tx1"/>
                          </a:solidFill>
                        </a:rPr>
                        <a:t>Allows for</a:t>
                      </a:r>
                      <a:r>
                        <a:rPr lang="en-US" sz="2200" b="1" dirty="0">
                          <a:solidFill>
                            <a:schemeClr val="tx1"/>
                          </a:solidFill>
                        </a:rPr>
                        <a:t> two-way </a:t>
                      </a:r>
                      <a:r>
                        <a:rPr lang="en-US" sz="2200" b="0" dirty="0">
                          <a:solidFill>
                            <a:schemeClr val="tx1"/>
                          </a:solidFill>
                        </a:rPr>
                        <a:t>communication and real-time interaction with the audience.</a:t>
                      </a:r>
                    </a:p>
                  </a:txBody>
                  <a:tcPr anchor="ctr">
                    <a:solidFill>
                      <a:schemeClr val="accent6">
                        <a:lumMod val="40000"/>
                        <a:lumOff val="60000"/>
                      </a:schemeClr>
                    </a:solidFill>
                  </a:tcPr>
                </a:tc>
                <a:extLst>
                  <a:ext uri="{0D108BD9-81ED-4DB2-BD59-A6C34878D82A}">
                    <a16:rowId xmlns:a16="http://schemas.microsoft.com/office/drawing/2014/main" val="3551141913"/>
                  </a:ext>
                </a:extLst>
              </a:tr>
            </a:tbl>
          </a:graphicData>
        </a:graphic>
      </p:graphicFrame>
      <p:graphicFrame>
        <p:nvGraphicFramePr>
          <p:cNvPr id="6" name="Table 5">
            <a:extLst>
              <a:ext uri="{FF2B5EF4-FFF2-40B4-BE49-F238E27FC236}">
                <a16:creationId xmlns:a16="http://schemas.microsoft.com/office/drawing/2014/main" id="{61B19098-23A7-4D96-9BBE-86CC78893B16}"/>
              </a:ext>
            </a:extLst>
          </p:cNvPr>
          <p:cNvGraphicFramePr>
            <a:graphicFrameLocks noGrp="1"/>
          </p:cNvGraphicFramePr>
          <p:nvPr>
            <p:extLst>
              <p:ext uri="{D42A27DB-BD31-4B8C-83A1-F6EECF244321}">
                <p14:modId xmlns:p14="http://schemas.microsoft.com/office/powerpoint/2010/main" val="2072547554"/>
              </p:ext>
            </p:extLst>
          </p:nvPr>
        </p:nvGraphicFramePr>
        <p:xfrm>
          <a:off x="106679" y="2474012"/>
          <a:ext cx="11752265" cy="1241928"/>
        </p:xfrm>
        <a:graphic>
          <a:graphicData uri="http://schemas.openxmlformats.org/drawingml/2006/table">
            <a:tbl>
              <a:tblPr firstRow="1" bandRow="1">
                <a:tableStyleId>{93296810-A885-4BE3-A3E7-6D5BEEA58F35}</a:tableStyleId>
              </a:tblPr>
              <a:tblGrid>
                <a:gridCol w="1981620">
                  <a:extLst>
                    <a:ext uri="{9D8B030D-6E8A-4147-A177-3AD203B41FA5}">
                      <a16:colId xmlns:a16="http://schemas.microsoft.com/office/drawing/2014/main" val="3347999331"/>
                    </a:ext>
                  </a:extLst>
                </a:gridCol>
                <a:gridCol w="4650506">
                  <a:extLst>
                    <a:ext uri="{9D8B030D-6E8A-4147-A177-3AD203B41FA5}">
                      <a16:colId xmlns:a16="http://schemas.microsoft.com/office/drawing/2014/main" val="2793623419"/>
                    </a:ext>
                  </a:extLst>
                </a:gridCol>
                <a:gridCol w="5120139">
                  <a:extLst>
                    <a:ext uri="{9D8B030D-6E8A-4147-A177-3AD203B41FA5}">
                      <a16:colId xmlns:a16="http://schemas.microsoft.com/office/drawing/2014/main" val="895493236"/>
                    </a:ext>
                  </a:extLst>
                </a:gridCol>
              </a:tblGrid>
              <a:tr h="1241928">
                <a:tc>
                  <a:txBody>
                    <a:bodyPr/>
                    <a:lstStyle/>
                    <a:p>
                      <a:pPr algn="ctr"/>
                      <a:r>
                        <a:rPr lang="en-US" sz="2200" b="0" dirty="0">
                          <a:solidFill>
                            <a:schemeClr val="tx1"/>
                          </a:solidFill>
                        </a:rPr>
                        <a:t>Measurement</a:t>
                      </a:r>
                    </a:p>
                  </a:txBody>
                  <a:tcPr anchor="ctr">
                    <a:solidFill>
                      <a:schemeClr val="accent6">
                        <a:lumMod val="60000"/>
                        <a:lumOff val="40000"/>
                      </a:schemeClr>
                    </a:solidFill>
                  </a:tcPr>
                </a:tc>
                <a:tc>
                  <a:txBody>
                    <a:bodyPr/>
                    <a:lstStyle/>
                    <a:p>
                      <a:pPr algn="just"/>
                      <a:r>
                        <a:rPr lang="en-US" sz="2200" b="1" dirty="0">
                          <a:solidFill>
                            <a:schemeClr val="tx1"/>
                          </a:solidFill>
                        </a:rPr>
                        <a:t>Difficult to measure </a:t>
                      </a:r>
                      <a:r>
                        <a:rPr lang="en-US" sz="2200" b="0" dirty="0">
                          <a:solidFill>
                            <a:schemeClr val="tx1"/>
                          </a:solidFill>
                        </a:rPr>
                        <a:t>and track the effectiveness of campaigns </a:t>
                      </a:r>
                    </a:p>
                    <a:p>
                      <a:pPr algn="just"/>
                      <a:r>
                        <a:rPr lang="en-US" sz="2200" b="0" dirty="0">
                          <a:solidFill>
                            <a:schemeClr val="tx1"/>
                          </a:solidFill>
                        </a:rPr>
                        <a:t>(e.g., estimating TV viewership).</a:t>
                      </a:r>
                    </a:p>
                  </a:txBody>
                  <a:tcPr anchor="ctr">
                    <a:solidFill>
                      <a:schemeClr val="accent6">
                        <a:lumMod val="60000"/>
                        <a:lumOff val="40000"/>
                      </a:schemeClr>
                    </a:solidFill>
                  </a:tcPr>
                </a:tc>
                <a:tc>
                  <a:txBody>
                    <a:bodyPr/>
                    <a:lstStyle/>
                    <a:p>
                      <a:pPr algn="just"/>
                      <a:r>
                        <a:rPr lang="en-US" sz="2200" b="1" dirty="0">
                          <a:solidFill>
                            <a:schemeClr val="tx1"/>
                          </a:solidFill>
                        </a:rPr>
                        <a:t>Easier to measure </a:t>
                      </a:r>
                      <a:r>
                        <a:rPr lang="en-US" sz="2200" b="0" dirty="0">
                          <a:solidFill>
                            <a:schemeClr val="tx1"/>
                          </a:solidFill>
                        </a:rPr>
                        <a:t>and analyze campaign performance with analytics tools </a:t>
                      </a:r>
                    </a:p>
                    <a:p>
                      <a:pPr algn="just"/>
                      <a:r>
                        <a:rPr lang="en-US" sz="2200" b="0" dirty="0">
                          <a:solidFill>
                            <a:schemeClr val="tx1"/>
                          </a:solidFill>
                        </a:rPr>
                        <a:t>(e.g., website traffic, conversion rates).</a:t>
                      </a:r>
                    </a:p>
                  </a:txBody>
                  <a:tcPr anchor="ctr">
                    <a:solidFill>
                      <a:schemeClr val="accent6">
                        <a:lumMod val="60000"/>
                        <a:lumOff val="40000"/>
                      </a:schemeClr>
                    </a:solidFill>
                  </a:tcPr>
                </a:tc>
                <a:extLst>
                  <a:ext uri="{0D108BD9-81ED-4DB2-BD59-A6C34878D82A}">
                    <a16:rowId xmlns:a16="http://schemas.microsoft.com/office/drawing/2014/main" val="39497356"/>
                  </a:ext>
                </a:extLst>
              </a:tr>
            </a:tbl>
          </a:graphicData>
        </a:graphic>
      </p:graphicFrame>
      <p:graphicFrame>
        <p:nvGraphicFramePr>
          <p:cNvPr id="7" name="Table 6">
            <a:extLst>
              <a:ext uri="{FF2B5EF4-FFF2-40B4-BE49-F238E27FC236}">
                <a16:creationId xmlns:a16="http://schemas.microsoft.com/office/drawing/2014/main" id="{2E80E0D4-E627-4B18-82EE-D3A0057E25E1}"/>
              </a:ext>
            </a:extLst>
          </p:cNvPr>
          <p:cNvGraphicFramePr>
            <a:graphicFrameLocks noGrp="1"/>
          </p:cNvGraphicFramePr>
          <p:nvPr>
            <p:extLst>
              <p:ext uri="{D42A27DB-BD31-4B8C-83A1-F6EECF244321}">
                <p14:modId xmlns:p14="http://schemas.microsoft.com/office/powerpoint/2010/main" val="1560841987"/>
              </p:ext>
            </p:extLst>
          </p:nvPr>
        </p:nvGraphicFramePr>
        <p:xfrm>
          <a:off x="134470" y="3737549"/>
          <a:ext cx="11724471" cy="1241928"/>
        </p:xfrm>
        <a:graphic>
          <a:graphicData uri="http://schemas.openxmlformats.org/drawingml/2006/table">
            <a:tbl>
              <a:tblPr firstRow="1" bandRow="1">
                <a:tableStyleId>{93296810-A885-4BE3-A3E7-6D5BEEA58F35}</a:tableStyleId>
              </a:tblPr>
              <a:tblGrid>
                <a:gridCol w="1976933">
                  <a:extLst>
                    <a:ext uri="{9D8B030D-6E8A-4147-A177-3AD203B41FA5}">
                      <a16:colId xmlns:a16="http://schemas.microsoft.com/office/drawing/2014/main" val="3128420626"/>
                    </a:ext>
                  </a:extLst>
                </a:gridCol>
                <a:gridCol w="4639508">
                  <a:extLst>
                    <a:ext uri="{9D8B030D-6E8A-4147-A177-3AD203B41FA5}">
                      <a16:colId xmlns:a16="http://schemas.microsoft.com/office/drawing/2014/main" val="1561082194"/>
                    </a:ext>
                  </a:extLst>
                </a:gridCol>
                <a:gridCol w="5108030">
                  <a:extLst>
                    <a:ext uri="{9D8B030D-6E8A-4147-A177-3AD203B41FA5}">
                      <a16:colId xmlns:a16="http://schemas.microsoft.com/office/drawing/2014/main" val="625363686"/>
                    </a:ext>
                  </a:extLst>
                </a:gridCol>
              </a:tblGrid>
              <a:tr h="1241928">
                <a:tc>
                  <a:txBody>
                    <a:bodyPr/>
                    <a:lstStyle/>
                    <a:p>
                      <a:pPr algn="ctr"/>
                      <a:r>
                        <a:rPr lang="en-US" sz="2200" b="0" dirty="0">
                          <a:solidFill>
                            <a:schemeClr val="tx1"/>
                          </a:solidFill>
                        </a:rPr>
                        <a:t>Personalization</a:t>
                      </a:r>
                    </a:p>
                  </a:txBody>
                  <a:tcPr anchor="ctr">
                    <a:solidFill>
                      <a:schemeClr val="accent6">
                        <a:lumMod val="40000"/>
                        <a:lumOff val="60000"/>
                      </a:schemeClr>
                    </a:solidFill>
                  </a:tcPr>
                </a:tc>
                <a:tc>
                  <a:txBody>
                    <a:bodyPr/>
                    <a:lstStyle/>
                    <a:p>
                      <a:pPr algn="just"/>
                      <a:r>
                        <a:rPr lang="en-US" sz="2200" b="1" dirty="0">
                          <a:solidFill>
                            <a:schemeClr val="tx1"/>
                          </a:solidFill>
                        </a:rPr>
                        <a:t>Limited personalization </a:t>
                      </a:r>
                      <a:r>
                        <a:rPr lang="en-US" sz="2200" b="0" dirty="0">
                          <a:solidFill>
                            <a:schemeClr val="tx1"/>
                          </a:solidFill>
                        </a:rPr>
                        <a:t>options, often relies on broad targeting </a:t>
                      </a:r>
                    </a:p>
                    <a:p>
                      <a:pPr algn="just"/>
                      <a:r>
                        <a:rPr lang="en-US" sz="2200" b="0" dirty="0">
                          <a:solidFill>
                            <a:schemeClr val="tx1"/>
                          </a:solidFill>
                        </a:rPr>
                        <a:t>(e.g., demographics).</a:t>
                      </a:r>
                    </a:p>
                  </a:txBody>
                  <a:tcPr anchor="ctr">
                    <a:solidFill>
                      <a:schemeClr val="accent6">
                        <a:lumMod val="40000"/>
                        <a:lumOff val="60000"/>
                      </a:schemeClr>
                    </a:solidFill>
                  </a:tcPr>
                </a:tc>
                <a:tc>
                  <a:txBody>
                    <a:bodyPr/>
                    <a:lstStyle/>
                    <a:p>
                      <a:pPr algn="just"/>
                      <a:r>
                        <a:rPr lang="en-US" sz="2200" b="1" dirty="0">
                          <a:solidFill>
                            <a:schemeClr val="tx1"/>
                          </a:solidFill>
                        </a:rPr>
                        <a:t>Highly customizable </a:t>
                      </a:r>
                      <a:r>
                        <a:rPr lang="en-US" sz="2200" b="0" dirty="0">
                          <a:solidFill>
                            <a:schemeClr val="tx1"/>
                          </a:solidFill>
                        </a:rPr>
                        <a:t>and can target specific audiences based on their behavior and preferences.</a:t>
                      </a:r>
                    </a:p>
                  </a:txBody>
                  <a:tcPr anchor="ctr">
                    <a:solidFill>
                      <a:schemeClr val="accent6">
                        <a:lumMod val="40000"/>
                        <a:lumOff val="60000"/>
                      </a:schemeClr>
                    </a:solidFill>
                  </a:tcPr>
                </a:tc>
                <a:extLst>
                  <a:ext uri="{0D108BD9-81ED-4DB2-BD59-A6C34878D82A}">
                    <a16:rowId xmlns:a16="http://schemas.microsoft.com/office/drawing/2014/main" val="2671858582"/>
                  </a:ext>
                </a:extLst>
              </a:tr>
            </a:tbl>
          </a:graphicData>
        </a:graphic>
      </p:graphicFrame>
      <p:graphicFrame>
        <p:nvGraphicFramePr>
          <p:cNvPr id="8" name="Table 7">
            <a:extLst>
              <a:ext uri="{FF2B5EF4-FFF2-40B4-BE49-F238E27FC236}">
                <a16:creationId xmlns:a16="http://schemas.microsoft.com/office/drawing/2014/main" id="{6D783E99-CABF-4CF2-9E6B-C2453BE419D6}"/>
              </a:ext>
            </a:extLst>
          </p:cNvPr>
          <p:cNvGraphicFramePr>
            <a:graphicFrameLocks noGrp="1"/>
          </p:cNvGraphicFramePr>
          <p:nvPr>
            <p:extLst>
              <p:ext uri="{D42A27DB-BD31-4B8C-83A1-F6EECF244321}">
                <p14:modId xmlns:p14="http://schemas.microsoft.com/office/powerpoint/2010/main" val="1793189983"/>
              </p:ext>
            </p:extLst>
          </p:nvPr>
        </p:nvGraphicFramePr>
        <p:xfrm>
          <a:off x="116541" y="4982229"/>
          <a:ext cx="11761254" cy="1241928"/>
        </p:xfrm>
        <a:graphic>
          <a:graphicData uri="http://schemas.openxmlformats.org/drawingml/2006/table">
            <a:tbl>
              <a:tblPr firstRow="1" bandRow="1">
                <a:tableStyleId>{93296810-A885-4BE3-A3E7-6D5BEEA58F35}</a:tableStyleId>
              </a:tblPr>
              <a:tblGrid>
                <a:gridCol w="1983135">
                  <a:extLst>
                    <a:ext uri="{9D8B030D-6E8A-4147-A177-3AD203B41FA5}">
                      <a16:colId xmlns:a16="http://schemas.microsoft.com/office/drawing/2014/main" val="2715613665"/>
                    </a:ext>
                  </a:extLst>
                </a:gridCol>
                <a:gridCol w="4654063">
                  <a:extLst>
                    <a:ext uri="{9D8B030D-6E8A-4147-A177-3AD203B41FA5}">
                      <a16:colId xmlns:a16="http://schemas.microsoft.com/office/drawing/2014/main" val="943094844"/>
                    </a:ext>
                  </a:extLst>
                </a:gridCol>
                <a:gridCol w="5124056">
                  <a:extLst>
                    <a:ext uri="{9D8B030D-6E8A-4147-A177-3AD203B41FA5}">
                      <a16:colId xmlns:a16="http://schemas.microsoft.com/office/drawing/2014/main" val="3132797410"/>
                    </a:ext>
                  </a:extLst>
                </a:gridCol>
              </a:tblGrid>
              <a:tr h="1241928">
                <a:tc>
                  <a:txBody>
                    <a:bodyPr/>
                    <a:lstStyle/>
                    <a:p>
                      <a:pPr algn="ctr"/>
                      <a:r>
                        <a:rPr lang="en-US" sz="2200" b="0" dirty="0">
                          <a:solidFill>
                            <a:schemeClr val="tx1"/>
                          </a:solidFill>
                        </a:rPr>
                        <a:t>Adaptability</a:t>
                      </a:r>
                    </a:p>
                  </a:txBody>
                  <a:tcPr anchor="ctr">
                    <a:solidFill>
                      <a:schemeClr val="accent6">
                        <a:lumMod val="60000"/>
                        <a:lumOff val="40000"/>
                      </a:schemeClr>
                    </a:solidFill>
                  </a:tcPr>
                </a:tc>
                <a:tc>
                  <a:txBody>
                    <a:bodyPr/>
                    <a:lstStyle/>
                    <a:p>
                      <a:pPr algn="just"/>
                      <a:r>
                        <a:rPr lang="en-US" sz="2200" b="1" dirty="0">
                          <a:solidFill>
                            <a:schemeClr val="tx1"/>
                          </a:solidFill>
                        </a:rPr>
                        <a:t>Less flexible</a:t>
                      </a:r>
                      <a:r>
                        <a:rPr lang="en-US" sz="2200" b="0" dirty="0">
                          <a:solidFill>
                            <a:schemeClr val="tx1"/>
                          </a:solidFill>
                        </a:rPr>
                        <a:t>; changes to campaigns can be time-consuming and costly </a:t>
                      </a:r>
                    </a:p>
                    <a:p>
                      <a:pPr algn="just"/>
                      <a:r>
                        <a:rPr lang="en-US" sz="2200" b="0" dirty="0">
                          <a:solidFill>
                            <a:schemeClr val="tx1"/>
                          </a:solidFill>
                        </a:rPr>
                        <a:t>(e.g., reprinting ads).</a:t>
                      </a:r>
                    </a:p>
                  </a:txBody>
                  <a:tcPr anchor="ctr">
                    <a:solidFill>
                      <a:schemeClr val="accent6">
                        <a:lumMod val="60000"/>
                        <a:lumOff val="40000"/>
                      </a:schemeClr>
                    </a:solidFill>
                  </a:tcPr>
                </a:tc>
                <a:tc>
                  <a:txBody>
                    <a:bodyPr/>
                    <a:lstStyle/>
                    <a:p>
                      <a:pPr algn="just"/>
                      <a:r>
                        <a:rPr lang="en-US" sz="2200" b="1" dirty="0">
                          <a:solidFill>
                            <a:schemeClr val="tx1"/>
                          </a:solidFill>
                        </a:rPr>
                        <a:t>Highly adaptable</a:t>
                      </a:r>
                      <a:r>
                        <a:rPr lang="en-US" sz="2200" b="0" dirty="0">
                          <a:solidFill>
                            <a:schemeClr val="tx1"/>
                          </a:solidFill>
                        </a:rPr>
                        <a:t>; campaigns can be adjusted quickly based on performance data.</a:t>
                      </a:r>
                    </a:p>
                  </a:txBody>
                  <a:tcPr anchor="ctr">
                    <a:solidFill>
                      <a:schemeClr val="accent6">
                        <a:lumMod val="60000"/>
                        <a:lumOff val="40000"/>
                      </a:schemeClr>
                    </a:solidFill>
                  </a:tcPr>
                </a:tc>
                <a:extLst>
                  <a:ext uri="{0D108BD9-81ED-4DB2-BD59-A6C34878D82A}">
                    <a16:rowId xmlns:a16="http://schemas.microsoft.com/office/drawing/2014/main" val="658105408"/>
                  </a:ext>
                </a:extLst>
              </a:tr>
            </a:tbl>
          </a:graphicData>
        </a:graphic>
      </p:graphicFrame>
    </p:spTree>
    <p:extLst>
      <p:ext uri="{BB962C8B-B14F-4D97-AF65-F5344CB8AC3E}">
        <p14:creationId xmlns:p14="http://schemas.microsoft.com/office/powerpoint/2010/main" val="182380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2ADE-D4F3-44D7-A344-AD3464B99E0B}"/>
              </a:ext>
            </a:extLst>
          </p:cNvPr>
          <p:cNvSpPr>
            <a:spLocks noGrp="1"/>
          </p:cNvSpPr>
          <p:nvPr>
            <p:ph type="title"/>
          </p:nvPr>
        </p:nvSpPr>
        <p:spPr/>
        <p:txBody>
          <a:bodyPr>
            <a:normAutofit/>
          </a:bodyPr>
          <a:lstStyle/>
          <a:p>
            <a:r>
              <a:rPr lang="en-US" dirty="0"/>
              <a:t>Traditional Marketing vs. Digital Marketing (Continue..)</a:t>
            </a:r>
          </a:p>
        </p:txBody>
      </p:sp>
      <p:graphicFrame>
        <p:nvGraphicFramePr>
          <p:cNvPr id="4" name="Content Placeholder 3">
            <a:extLst>
              <a:ext uri="{FF2B5EF4-FFF2-40B4-BE49-F238E27FC236}">
                <a16:creationId xmlns:a16="http://schemas.microsoft.com/office/drawing/2014/main" id="{3556FFF8-9151-4AA5-8162-9615AA3F5FFE}"/>
              </a:ext>
            </a:extLst>
          </p:cNvPr>
          <p:cNvGraphicFramePr>
            <a:graphicFrameLocks noGrp="1"/>
          </p:cNvGraphicFramePr>
          <p:nvPr>
            <p:ph idx="1"/>
            <p:extLst>
              <p:ext uri="{D42A27DB-BD31-4B8C-83A1-F6EECF244321}">
                <p14:modId xmlns:p14="http://schemas.microsoft.com/office/powerpoint/2010/main" val="344366981"/>
              </p:ext>
            </p:extLst>
          </p:nvPr>
        </p:nvGraphicFramePr>
        <p:xfrm>
          <a:off x="131763" y="863600"/>
          <a:ext cx="11647171" cy="370840"/>
        </p:xfrm>
        <a:graphic>
          <a:graphicData uri="http://schemas.openxmlformats.org/drawingml/2006/table">
            <a:tbl>
              <a:tblPr firstRow="1" bandRow="1">
                <a:tableStyleId>{5C22544A-7EE6-4342-B048-85BDC9FD1C3A}</a:tableStyleId>
              </a:tblPr>
              <a:tblGrid>
                <a:gridCol w="1949651">
                  <a:extLst>
                    <a:ext uri="{9D8B030D-6E8A-4147-A177-3AD203B41FA5}">
                      <a16:colId xmlns:a16="http://schemas.microsoft.com/office/drawing/2014/main" val="1537310264"/>
                    </a:ext>
                  </a:extLst>
                </a:gridCol>
                <a:gridCol w="4633151">
                  <a:extLst>
                    <a:ext uri="{9D8B030D-6E8A-4147-A177-3AD203B41FA5}">
                      <a16:colId xmlns:a16="http://schemas.microsoft.com/office/drawing/2014/main" val="3167177205"/>
                    </a:ext>
                  </a:extLst>
                </a:gridCol>
                <a:gridCol w="5064369">
                  <a:extLst>
                    <a:ext uri="{9D8B030D-6E8A-4147-A177-3AD203B41FA5}">
                      <a16:colId xmlns:a16="http://schemas.microsoft.com/office/drawing/2014/main" val="1846473453"/>
                    </a:ext>
                  </a:extLst>
                </a:gridCol>
              </a:tblGrid>
              <a:tr h="370840">
                <a:tc>
                  <a:txBody>
                    <a:bodyPr/>
                    <a:lstStyle/>
                    <a:p>
                      <a:pPr algn="ctr"/>
                      <a:r>
                        <a:rPr lang="en-US" dirty="0">
                          <a:solidFill>
                            <a:schemeClr val="tx1"/>
                          </a:solidFill>
                        </a:rPr>
                        <a:t>Point</a:t>
                      </a:r>
                    </a:p>
                  </a:txBody>
                  <a:tcPr>
                    <a:solidFill>
                      <a:schemeClr val="accent6">
                        <a:lumMod val="60000"/>
                        <a:lumOff val="40000"/>
                      </a:schemeClr>
                    </a:solidFill>
                  </a:tcPr>
                </a:tc>
                <a:tc>
                  <a:txBody>
                    <a:bodyPr/>
                    <a:lstStyle/>
                    <a:p>
                      <a:pPr algn="ctr"/>
                      <a:r>
                        <a:rPr lang="en-US" dirty="0">
                          <a:solidFill>
                            <a:schemeClr val="tx1"/>
                          </a:solidFill>
                        </a:rPr>
                        <a:t>Traditional Marketing</a:t>
                      </a:r>
                    </a:p>
                  </a:txBody>
                  <a:tcPr>
                    <a:solidFill>
                      <a:schemeClr val="accent6">
                        <a:lumMod val="60000"/>
                        <a:lumOff val="40000"/>
                      </a:schemeClr>
                    </a:solidFill>
                  </a:tcPr>
                </a:tc>
                <a:tc>
                  <a:txBody>
                    <a:bodyPr/>
                    <a:lstStyle/>
                    <a:p>
                      <a:pPr algn="ctr"/>
                      <a:r>
                        <a:rPr lang="en-US" dirty="0">
                          <a:solidFill>
                            <a:schemeClr val="tx1"/>
                          </a:solidFill>
                        </a:rPr>
                        <a:t>Digital Marketing</a:t>
                      </a:r>
                    </a:p>
                  </a:txBody>
                  <a:tcPr>
                    <a:solidFill>
                      <a:schemeClr val="accent6">
                        <a:lumMod val="60000"/>
                        <a:lumOff val="40000"/>
                      </a:schemeClr>
                    </a:solidFill>
                  </a:tcPr>
                </a:tc>
                <a:extLst>
                  <a:ext uri="{0D108BD9-81ED-4DB2-BD59-A6C34878D82A}">
                    <a16:rowId xmlns:a16="http://schemas.microsoft.com/office/drawing/2014/main" val="3533266897"/>
                  </a:ext>
                </a:extLst>
              </a:tr>
            </a:tbl>
          </a:graphicData>
        </a:graphic>
      </p:graphicFrame>
      <p:graphicFrame>
        <p:nvGraphicFramePr>
          <p:cNvPr id="5" name="Table 4">
            <a:extLst>
              <a:ext uri="{FF2B5EF4-FFF2-40B4-BE49-F238E27FC236}">
                <a16:creationId xmlns:a16="http://schemas.microsoft.com/office/drawing/2014/main" id="{B56750C2-DF47-4F33-8724-82FAEEBBA8EC}"/>
              </a:ext>
            </a:extLst>
          </p:cNvPr>
          <p:cNvGraphicFramePr>
            <a:graphicFrameLocks noGrp="1"/>
          </p:cNvGraphicFramePr>
          <p:nvPr>
            <p:extLst>
              <p:ext uri="{D42A27DB-BD31-4B8C-83A1-F6EECF244321}">
                <p14:modId xmlns:p14="http://schemas.microsoft.com/office/powerpoint/2010/main" val="417588985"/>
              </p:ext>
            </p:extLst>
          </p:nvPr>
        </p:nvGraphicFramePr>
        <p:xfrm>
          <a:off x="131763" y="1240275"/>
          <a:ext cx="11647170" cy="1383745"/>
        </p:xfrm>
        <a:graphic>
          <a:graphicData uri="http://schemas.openxmlformats.org/drawingml/2006/table">
            <a:tbl>
              <a:tblPr firstRow="1" bandRow="1">
                <a:tableStyleId>{93296810-A885-4BE3-A3E7-6D5BEEA58F35}</a:tableStyleId>
              </a:tblPr>
              <a:tblGrid>
                <a:gridCol w="1963899">
                  <a:extLst>
                    <a:ext uri="{9D8B030D-6E8A-4147-A177-3AD203B41FA5}">
                      <a16:colId xmlns:a16="http://schemas.microsoft.com/office/drawing/2014/main" val="2961389539"/>
                    </a:ext>
                  </a:extLst>
                </a:gridCol>
                <a:gridCol w="4608919">
                  <a:extLst>
                    <a:ext uri="{9D8B030D-6E8A-4147-A177-3AD203B41FA5}">
                      <a16:colId xmlns:a16="http://schemas.microsoft.com/office/drawing/2014/main" val="236653728"/>
                    </a:ext>
                  </a:extLst>
                </a:gridCol>
                <a:gridCol w="5074352">
                  <a:extLst>
                    <a:ext uri="{9D8B030D-6E8A-4147-A177-3AD203B41FA5}">
                      <a16:colId xmlns:a16="http://schemas.microsoft.com/office/drawing/2014/main" val="2839875083"/>
                    </a:ext>
                  </a:extLst>
                </a:gridCol>
              </a:tblGrid>
              <a:tr h="1383745">
                <a:tc>
                  <a:txBody>
                    <a:bodyPr/>
                    <a:lstStyle/>
                    <a:p>
                      <a:pPr algn="ctr"/>
                      <a:r>
                        <a:rPr lang="en-US" sz="2200" b="1" dirty="0">
                          <a:solidFill>
                            <a:schemeClr val="tx1"/>
                          </a:solidFill>
                        </a:rPr>
                        <a:t>Durability</a:t>
                      </a:r>
                    </a:p>
                  </a:txBody>
                  <a:tcPr anchor="ctr">
                    <a:solidFill>
                      <a:schemeClr val="accent6">
                        <a:lumMod val="40000"/>
                        <a:lumOff val="60000"/>
                      </a:schemeClr>
                    </a:solidFill>
                  </a:tcPr>
                </a:tc>
                <a:tc>
                  <a:txBody>
                    <a:bodyPr/>
                    <a:lstStyle/>
                    <a:p>
                      <a:pPr algn="just"/>
                      <a:r>
                        <a:rPr lang="en-US" sz="2200" b="0" dirty="0">
                          <a:solidFill>
                            <a:schemeClr val="tx1"/>
                          </a:solidFill>
                        </a:rPr>
                        <a:t>Ads have a </a:t>
                      </a:r>
                      <a:r>
                        <a:rPr lang="en-US" sz="2200" b="1" dirty="0">
                          <a:solidFill>
                            <a:schemeClr val="tx1"/>
                          </a:solidFill>
                        </a:rPr>
                        <a:t>fixed lifespan </a:t>
                      </a:r>
                    </a:p>
                    <a:p>
                      <a:pPr algn="just"/>
                      <a:r>
                        <a:rPr lang="en-US" sz="2200" b="0" dirty="0">
                          <a:solidFill>
                            <a:schemeClr val="tx1"/>
                          </a:solidFill>
                        </a:rPr>
                        <a:t>(e.g., a magazine issue or a billboard rental period).</a:t>
                      </a:r>
                    </a:p>
                  </a:txBody>
                  <a:tcPr anchor="ctr">
                    <a:solidFill>
                      <a:schemeClr val="accent6">
                        <a:lumMod val="40000"/>
                        <a:lumOff val="60000"/>
                      </a:schemeClr>
                    </a:solidFill>
                  </a:tcPr>
                </a:tc>
                <a:tc>
                  <a:txBody>
                    <a:bodyPr/>
                    <a:lstStyle/>
                    <a:p>
                      <a:pPr algn="just"/>
                      <a:r>
                        <a:rPr lang="en-US" sz="2200" b="0" dirty="0">
                          <a:solidFill>
                            <a:schemeClr val="tx1"/>
                          </a:solidFill>
                        </a:rPr>
                        <a:t>Content can have a </a:t>
                      </a:r>
                      <a:r>
                        <a:rPr lang="en-US" sz="2200" b="1" dirty="0">
                          <a:solidFill>
                            <a:schemeClr val="tx1"/>
                          </a:solidFill>
                        </a:rPr>
                        <a:t>longer lifespan </a:t>
                      </a:r>
                      <a:r>
                        <a:rPr lang="en-US" sz="2200" b="0" dirty="0">
                          <a:solidFill>
                            <a:schemeClr val="tx1"/>
                          </a:solidFill>
                        </a:rPr>
                        <a:t>and continuous visibility online (e.g., blog posts, social media updates).</a:t>
                      </a:r>
                    </a:p>
                  </a:txBody>
                  <a:tcPr anchor="ctr">
                    <a:solidFill>
                      <a:schemeClr val="accent6">
                        <a:lumMod val="40000"/>
                        <a:lumOff val="60000"/>
                      </a:schemeClr>
                    </a:solidFill>
                  </a:tcPr>
                </a:tc>
                <a:extLst>
                  <a:ext uri="{0D108BD9-81ED-4DB2-BD59-A6C34878D82A}">
                    <a16:rowId xmlns:a16="http://schemas.microsoft.com/office/drawing/2014/main" val="3407147813"/>
                  </a:ext>
                </a:extLst>
              </a:tr>
            </a:tbl>
          </a:graphicData>
        </a:graphic>
      </p:graphicFrame>
      <p:graphicFrame>
        <p:nvGraphicFramePr>
          <p:cNvPr id="6" name="Table 5">
            <a:extLst>
              <a:ext uri="{FF2B5EF4-FFF2-40B4-BE49-F238E27FC236}">
                <a16:creationId xmlns:a16="http://schemas.microsoft.com/office/drawing/2014/main" id="{348F665A-4EED-476B-9550-47B72121AB5E}"/>
              </a:ext>
            </a:extLst>
          </p:cNvPr>
          <p:cNvGraphicFramePr>
            <a:graphicFrameLocks noGrp="1"/>
          </p:cNvGraphicFramePr>
          <p:nvPr>
            <p:extLst>
              <p:ext uri="{D42A27DB-BD31-4B8C-83A1-F6EECF244321}">
                <p14:modId xmlns:p14="http://schemas.microsoft.com/office/powerpoint/2010/main" val="2038621987"/>
              </p:ext>
            </p:extLst>
          </p:nvPr>
        </p:nvGraphicFramePr>
        <p:xfrm>
          <a:off x="131763" y="2624020"/>
          <a:ext cx="11647170" cy="1464900"/>
        </p:xfrm>
        <a:graphic>
          <a:graphicData uri="http://schemas.openxmlformats.org/drawingml/2006/table">
            <a:tbl>
              <a:tblPr firstRow="1" bandRow="1">
                <a:tableStyleId>{93296810-A885-4BE3-A3E7-6D5BEEA58F35}</a:tableStyleId>
              </a:tblPr>
              <a:tblGrid>
                <a:gridCol w="1963899">
                  <a:extLst>
                    <a:ext uri="{9D8B030D-6E8A-4147-A177-3AD203B41FA5}">
                      <a16:colId xmlns:a16="http://schemas.microsoft.com/office/drawing/2014/main" val="2171711148"/>
                    </a:ext>
                  </a:extLst>
                </a:gridCol>
                <a:gridCol w="4608919">
                  <a:extLst>
                    <a:ext uri="{9D8B030D-6E8A-4147-A177-3AD203B41FA5}">
                      <a16:colId xmlns:a16="http://schemas.microsoft.com/office/drawing/2014/main" val="374645781"/>
                    </a:ext>
                  </a:extLst>
                </a:gridCol>
                <a:gridCol w="5074352">
                  <a:extLst>
                    <a:ext uri="{9D8B030D-6E8A-4147-A177-3AD203B41FA5}">
                      <a16:colId xmlns:a16="http://schemas.microsoft.com/office/drawing/2014/main" val="1294795343"/>
                    </a:ext>
                  </a:extLst>
                </a:gridCol>
              </a:tblGrid>
              <a:tr h="1464900">
                <a:tc>
                  <a:txBody>
                    <a:bodyPr/>
                    <a:lstStyle/>
                    <a:p>
                      <a:pPr marL="0" algn="ctr" defTabSz="914400" rtl="0" eaLnBrk="1" latinLnBrk="0" hangingPunct="1"/>
                      <a:r>
                        <a:rPr lang="en-US" sz="2200" b="1" kern="1200" dirty="0">
                          <a:solidFill>
                            <a:schemeClr val="dk1"/>
                          </a:solidFill>
                          <a:latin typeface="+mn-lt"/>
                          <a:ea typeface="+mn-ea"/>
                          <a:cs typeface="+mn-cs"/>
                        </a:rPr>
                        <a:t>Consumer Engagement</a:t>
                      </a:r>
                    </a:p>
                  </a:txBody>
                  <a:tcPr anchor="ctr">
                    <a:solidFill>
                      <a:schemeClr val="accent6">
                        <a:lumMod val="60000"/>
                        <a:lumOff val="40000"/>
                      </a:schemeClr>
                    </a:solidFill>
                  </a:tcPr>
                </a:tc>
                <a:tc>
                  <a:txBody>
                    <a:bodyPr/>
                    <a:lstStyle/>
                    <a:p>
                      <a:pPr marL="0" algn="just" defTabSz="914400" rtl="0" eaLnBrk="1" latinLnBrk="0" hangingPunct="1"/>
                      <a:r>
                        <a:rPr lang="en-US" sz="2200" b="1" kern="1200" dirty="0">
                          <a:solidFill>
                            <a:schemeClr val="dk1"/>
                          </a:solidFill>
                          <a:latin typeface="+mn-lt"/>
                          <a:ea typeface="+mn-ea"/>
                          <a:cs typeface="+mn-cs"/>
                        </a:rPr>
                        <a:t>Limited engagement </a:t>
                      </a:r>
                      <a:r>
                        <a:rPr lang="en-US" sz="2200" b="0" kern="1200" dirty="0">
                          <a:solidFill>
                            <a:schemeClr val="dk1"/>
                          </a:solidFill>
                          <a:latin typeface="+mn-lt"/>
                          <a:ea typeface="+mn-ea"/>
                          <a:cs typeface="+mn-cs"/>
                        </a:rPr>
                        <a:t>opportunities </a:t>
                      </a:r>
                    </a:p>
                    <a:p>
                      <a:pPr marL="0" algn="just" defTabSz="914400" rtl="0" eaLnBrk="1" latinLnBrk="0" hangingPunct="1"/>
                      <a:r>
                        <a:rPr lang="en-US" sz="2200" b="0" kern="1200" dirty="0">
                          <a:solidFill>
                            <a:schemeClr val="dk1"/>
                          </a:solidFill>
                          <a:latin typeface="+mn-lt"/>
                          <a:ea typeface="+mn-ea"/>
                          <a:cs typeface="+mn-cs"/>
                        </a:rPr>
                        <a:t>(e.g., passive viewing of a TV ad).</a:t>
                      </a:r>
                    </a:p>
                  </a:txBody>
                  <a:tcPr anchor="ctr">
                    <a:solidFill>
                      <a:schemeClr val="accent6">
                        <a:lumMod val="60000"/>
                        <a:lumOff val="40000"/>
                      </a:schemeClr>
                    </a:solidFill>
                  </a:tcPr>
                </a:tc>
                <a:tc>
                  <a:txBody>
                    <a:bodyPr/>
                    <a:lstStyle/>
                    <a:p>
                      <a:pPr marL="0" algn="just" defTabSz="914400" rtl="0" eaLnBrk="1" latinLnBrk="0" hangingPunct="1"/>
                      <a:r>
                        <a:rPr lang="en-US" sz="2200" b="1" kern="1200" dirty="0">
                          <a:solidFill>
                            <a:schemeClr val="dk1"/>
                          </a:solidFill>
                          <a:latin typeface="+mn-lt"/>
                          <a:ea typeface="+mn-ea"/>
                          <a:cs typeface="+mn-cs"/>
                        </a:rPr>
                        <a:t>High engagement </a:t>
                      </a:r>
                      <a:r>
                        <a:rPr lang="en-US" sz="2200" b="0" kern="1200" dirty="0">
                          <a:solidFill>
                            <a:schemeClr val="dk1"/>
                          </a:solidFill>
                          <a:latin typeface="+mn-lt"/>
                          <a:ea typeface="+mn-ea"/>
                          <a:cs typeface="+mn-cs"/>
                        </a:rPr>
                        <a:t>potential through interactive content </a:t>
                      </a:r>
                    </a:p>
                    <a:p>
                      <a:pPr marL="0" algn="just" defTabSz="914400" rtl="0" eaLnBrk="1" latinLnBrk="0" hangingPunct="1"/>
                      <a:r>
                        <a:rPr lang="en-US" sz="2200" b="0" kern="1200" dirty="0">
                          <a:solidFill>
                            <a:schemeClr val="dk1"/>
                          </a:solidFill>
                          <a:latin typeface="+mn-lt"/>
                          <a:ea typeface="+mn-ea"/>
                          <a:cs typeface="+mn-cs"/>
                        </a:rPr>
                        <a:t>(e.g., social media comments, live chats).</a:t>
                      </a:r>
                    </a:p>
                  </a:txBody>
                  <a:tcPr anchor="ctr">
                    <a:solidFill>
                      <a:schemeClr val="accent6">
                        <a:lumMod val="60000"/>
                        <a:lumOff val="40000"/>
                      </a:schemeClr>
                    </a:solidFill>
                  </a:tcPr>
                </a:tc>
                <a:extLst>
                  <a:ext uri="{0D108BD9-81ED-4DB2-BD59-A6C34878D82A}">
                    <a16:rowId xmlns:a16="http://schemas.microsoft.com/office/drawing/2014/main" val="965498325"/>
                  </a:ext>
                </a:extLst>
              </a:tr>
            </a:tbl>
          </a:graphicData>
        </a:graphic>
      </p:graphicFrame>
      <p:graphicFrame>
        <p:nvGraphicFramePr>
          <p:cNvPr id="7" name="Table 6">
            <a:extLst>
              <a:ext uri="{FF2B5EF4-FFF2-40B4-BE49-F238E27FC236}">
                <a16:creationId xmlns:a16="http://schemas.microsoft.com/office/drawing/2014/main" id="{3A4CE7A9-DD68-4D3F-8D2F-3B4A1C3E6315}"/>
              </a:ext>
            </a:extLst>
          </p:cNvPr>
          <p:cNvGraphicFramePr>
            <a:graphicFrameLocks noGrp="1"/>
          </p:cNvGraphicFramePr>
          <p:nvPr>
            <p:extLst>
              <p:ext uri="{D42A27DB-BD31-4B8C-83A1-F6EECF244321}">
                <p14:modId xmlns:p14="http://schemas.microsoft.com/office/powerpoint/2010/main" val="3461541939"/>
              </p:ext>
            </p:extLst>
          </p:nvPr>
        </p:nvGraphicFramePr>
        <p:xfrm>
          <a:off x="131763" y="4088920"/>
          <a:ext cx="11647170" cy="1383745"/>
        </p:xfrm>
        <a:graphic>
          <a:graphicData uri="http://schemas.openxmlformats.org/drawingml/2006/table">
            <a:tbl>
              <a:tblPr firstRow="1" bandRow="1">
                <a:tableStyleId>{93296810-A885-4BE3-A3E7-6D5BEEA58F35}</a:tableStyleId>
              </a:tblPr>
              <a:tblGrid>
                <a:gridCol w="1963899">
                  <a:extLst>
                    <a:ext uri="{9D8B030D-6E8A-4147-A177-3AD203B41FA5}">
                      <a16:colId xmlns:a16="http://schemas.microsoft.com/office/drawing/2014/main" val="2752276192"/>
                    </a:ext>
                  </a:extLst>
                </a:gridCol>
                <a:gridCol w="4608919">
                  <a:extLst>
                    <a:ext uri="{9D8B030D-6E8A-4147-A177-3AD203B41FA5}">
                      <a16:colId xmlns:a16="http://schemas.microsoft.com/office/drawing/2014/main" val="623031629"/>
                    </a:ext>
                  </a:extLst>
                </a:gridCol>
                <a:gridCol w="5074352">
                  <a:extLst>
                    <a:ext uri="{9D8B030D-6E8A-4147-A177-3AD203B41FA5}">
                      <a16:colId xmlns:a16="http://schemas.microsoft.com/office/drawing/2014/main" val="595999869"/>
                    </a:ext>
                  </a:extLst>
                </a:gridCol>
              </a:tblGrid>
              <a:tr h="1383745">
                <a:tc>
                  <a:txBody>
                    <a:bodyPr/>
                    <a:lstStyle/>
                    <a:p>
                      <a:pPr marL="0" algn="ctr" defTabSz="914400" rtl="0" eaLnBrk="1" latinLnBrk="0" hangingPunct="1"/>
                      <a:r>
                        <a:rPr lang="en-US" sz="2200" b="1" kern="1200" dirty="0">
                          <a:solidFill>
                            <a:schemeClr val="dk1"/>
                          </a:solidFill>
                          <a:latin typeface="+mn-lt"/>
                          <a:ea typeface="+mn-ea"/>
                          <a:cs typeface="+mn-cs"/>
                        </a:rPr>
                        <a:t>Examples</a:t>
                      </a:r>
                    </a:p>
                  </a:txBody>
                  <a:tcPr anchor="ctr">
                    <a:solidFill>
                      <a:schemeClr val="accent6">
                        <a:lumMod val="40000"/>
                        <a:lumOff val="60000"/>
                      </a:schemeClr>
                    </a:solidFill>
                  </a:tcPr>
                </a:tc>
                <a:tc>
                  <a:txBody>
                    <a:bodyPr/>
                    <a:lstStyle/>
                    <a:p>
                      <a:pPr marL="0" algn="just" defTabSz="914400" rtl="0" eaLnBrk="1" latinLnBrk="0" hangingPunct="1"/>
                      <a:r>
                        <a:rPr lang="en-US" sz="2200" b="0" kern="1200" dirty="0">
                          <a:solidFill>
                            <a:schemeClr val="dk1"/>
                          </a:solidFill>
                          <a:latin typeface="+mn-lt"/>
                          <a:ea typeface="+mn-ea"/>
                          <a:cs typeface="+mn-cs"/>
                        </a:rPr>
                        <a:t>TV commercials, radio spots, newspaper ads, billboards, direct mail campaigns.</a:t>
                      </a:r>
                    </a:p>
                  </a:txBody>
                  <a:tcPr anchor="ctr">
                    <a:solidFill>
                      <a:schemeClr val="accent6">
                        <a:lumMod val="40000"/>
                        <a:lumOff val="60000"/>
                      </a:schemeClr>
                    </a:solidFill>
                  </a:tcPr>
                </a:tc>
                <a:tc>
                  <a:txBody>
                    <a:bodyPr/>
                    <a:lstStyle/>
                    <a:p>
                      <a:pPr marL="0" algn="just" defTabSz="914400" rtl="0" eaLnBrk="1" latinLnBrk="0" hangingPunct="1"/>
                      <a:r>
                        <a:rPr lang="en-US" sz="2200" b="0" kern="1200" dirty="0">
                          <a:solidFill>
                            <a:schemeClr val="dk1"/>
                          </a:solidFill>
                          <a:latin typeface="+mn-lt"/>
                          <a:ea typeface="+mn-ea"/>
                          <a:cs typeface="+mn-cs"/>
                        </a:rPr>
                        <a:t>Social media ads, email newsletters, search engine marketing, content marketing, influencer collaborations.</a:t>
                      </a:r>
                    </a:p>
                  </a:txBody>
                  <a:tcPr anchor="ctr">
                    <a:solidFill>
                      <a:schemeClr val="accent6">
                        <a:lumMod val="40000"/>
                        <a:lumOff val="60000"/>
                      </a:schemeClr>
                    </a:solidFill>
                  </a:tcPr>
                </a:tc>
                <a:extLst>
                  <a:ext uri="{0D108BD9-81ED-4DB2-BD59-A6C34878D82A}">
                    <a16:rowId xmlns:a16="http://schemas.microsoft.com/office/drawing/2014/main" val="4001800631"/>
                  </a:ext>
                </a:extLst>
              </a:tr>
            </a:tbl>
          </a:graphicData>
        </a:graphic>
      </p:graphicFrame>
    </p:spTree>
    <p:extLst>
      <p:ext uri="{BB962C8B-B14F-4D97-AF65-F5344CB8AC3E}">
        <p14:creationId xmlns:p14="http://schemas.microsoft.com/office/powerpoint/2010/main" val="257907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FF80C-2423-43E2-ADF5-BC03A605B4D6}"/>
              </a:ext>
            </a:extLst>
          </p:cNvPr>
          <p:cNvSpPr>
            <a:spLocks noGrp="1"/>
          </p:cNvSpPr>
          <p:nvPr>
            <p:ph type="title"/>
          </p:nvPr>
        </p:nvSpPr>
        <p:spPr/>
        <p:txBody>
          <a:bodyPr/>
          <a:lstStyle/>
          <a:p>
            <a:r>
              <a:rPr lang="en-US" sz="6000" dirty="0"/>
              <a:t>Penetration of Internet in </a:t>
            </a:r>
            <a:br>
              <a:rPr lang="en-US" sz="6000" dirty="0"/>
            </a:br>
            <a:r>
              <a:rPr lang="en-US" sz="6000" dirty="0"/>
              <a:t>India &amp; World</a:t>
            </a:r>
            <a:endParaRPr lang="en-US" dirty="0"/>
          </a:p>
        </p:txBody>
      </p:sp>
      <p:sp>
        <p:nvSpPr>
          <p:cNvPr id="3" name="Text Placeholder 2">
            <a:extLst>
              <a:ext uri="{FF2B5EF4-FFF2-40B4-BE49-F238E27FC236}">
                <a16:creationId xmlns:a16="http://schemas.microsoft.com/office/drawing/2014/main" id="{C1E2B571-E031-448C-9D39-1D1A766A223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801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BF24-5D43-42D4-8AB5-2E6ECF20B81D}"/>
              </a:ext>
            </a:extLst>
          </p:cNvPr>
          <p:cNvSpPr>
            <a:spLocks noGrp="1"/>
          </p:cNvSpPr>
          <p:nvPr>
            <p:ph type="title"/>
          </p:nvPr>
        </p:nvSpPr>
        <p:spPr/>
        <p:txBody>
          <a:bodyPr>
            <a:normAutofit/>
          </a:bodyPr>
          <a:lstStyle/>
          <a:p>
            <a:r>
              <a:rPr lang="en-US" dirty="0"/>
              <a:t>Penetration of Internet in India &amp; World</a:t>
            </a:r>
          </a:p>
        </p:txBody>
      </p:sp>
      <p:graphicFrame>
        <p:nvGraphicFramePr>
          <p:cNvPr id="4" name="Content Placeholder 3">
            <a:extLst>
              <a:ext uri="{FF2B5EF4-FFF2-40B4-BE49-F238E27FC236}">
                <a16:creationId xmlns:a16="http://schemas.microsoft.com/office/drawing/2014/main" id="{E06EA369-7F1A-4153-BDCD-214462AC514B}"/>
              </a:ext>
            </a:extLst>
          </p:cNvPr>
          <p:cNvGraphicFramePr>
            <a:graphicFrameLocks noGrp="1"/>
          </p:cNvGraphicFramePr>
          <p:nvPr>
            <p:ph idx="1"/>
            <p:extLst>
              <p:ext uri="{D42A27DB-BD31-4B8C-83A1-F6EECF244321}">
                <p14:modId xmlns:p14="http://schemas.microsoft.com/office/powerpoint/2010/main" val="1825045226"/>
              </p:ext>
            </p:extLst>
          </p:nvPr>
        </p:nvGraphicFramePr>
        <p:xfrm>
          <a:off x="131763" y="782915"/>
          <a:ext cx="11647171" cy="457200"/>
        </p:xfrm>
        <a:graphic>
          <a:graphicData uri="http://schemas.openxmlformats.org/drawingml/2006/table">
            <a:tbl>
              <a:tblPr firstRow="1" bandRow="1">
                <a:tableStyleId>{5C22544A-7EE6-4342-B048-85BDC9FD1C3A}</a:tableStyleId>
              </a:tblPr>
              <a:tblGrid>
                <a:gridCol w="1965978">
                  <a:extLst>
                    <a:ext uri="{9D8B030D-6E8A-4147-A177-3AD203B41FA5}">
                      <a16:colId xmlns:a16="http://schemas.microsoft.com/office/drawing/2014/main" val="1771965669"/>
                    </a:ext>
                  </a:extLst>
                </a:gridCol>
                <a:gridCol w="4598894">
                  <a:extLst>
                    <a:ext uri="{9D8B030D-6E8A-4147-A177-3AD203B41FA5}">
                      <a16:colId xmlns:a16="http://schemas.microsoft.com/office/drawing/2014/main" val="1761901321"/>
                    </a:ext>
                  </a:extLst>
                </a:gridCol>
                <a:gridCol w="5082299">
                  <a:extLst>
                    <a:ext uri="{9D8B030D-6E8A-4147-A177-3AD203B41FA5}">
                      <a16:colId xmlns:a16="http://schemas.microsoft.com/office/drawing/2014/main" val="1550804324"/>
                    </a:ext>
                  </a:extLst>
                </a:gridCol>
              </a:tblGrid>
              <a:tr h="370840">
                <a:tc>
                  <a:txBody>
                    <a:bodyPr/>
                    <a:lstStyle/>
                    <a:p>
                      <a:pPr algn="ctr"/>
                      <a:r>
                        <a:rPr lang="en-US" sz="2400" dirty="0">
                          <a:solidFill>
                            <a:schemeClr val="tx1"/>
                          </a:solidFill>
                        </a:rPr>
                        <a:t>Point</a:t>
                      </a:r>
                    </a:p>
                  </a:txBody>
                  <a:tcPr>
                    <a:solidFill>
                      <a:schemeClr val="accent6">
                        <a:lumMod val="60000"/>
                        <a:lumOff val="40000"/>
                      </a:schemeClr>
                    </a:solidFill>
                  </a:tcPr>
                </a:tc>
                <a:tc>
                  <a:txBody>
                    <a:bodyPr/>
                    <a:lstStyle/>
                    <a:p>
                      <a:pPr algn="ctr"/>
                      <a:r>
                        <a:rPr lang="en-US" sz="2400">
                          <a:solidFill>
                            <a:schemeClr val="tx1"/>
                          </a:solidFill>
                        </a:rPr>
                        <a:t>India</a:t>
                      </a:r>
                      <a:endParaRPr lang="en-US" sz="2400" dirty="0">
                        <a:solidFill>
                          <a:schemeClr val="tx1"/>
                        </a:solidFill>
                      </a:endParaRPr>
                    </a:p>
                  </a:txBody>
                  <a:tcPr>
                    <a:solidFill>
                      <a:schemeClr val="accent6">
                        <a:lumMod val="60000"/>
                        <a:lumOff val="40000"/>
                      </a:schemeClr>
                    </a:solidFill>
                  </a:tcPr>
                </a:tc>
                <a:tc>
                  <a:txBody>
                    <a:bodyPr/>
                    <a:lstStyle/>
                    <a:p>
                      <a:pPr algn="ctr"/>
                      <a:r>
                        <a:rPr lang="en-US" sz="2400" dirty="0">
                          <a:solidFill>
                            <a:schemeClr val="tx1"/>
                          </a:solidFill>
                        </a:rPr>
                        <a:t>World</a:t>
                      </a:r>
                    </a:p>
                  </a:txBody>
                  <a:tcPr>
                    <a:solidFill>
                      <a:schemeClr val="accent6">
                        <a:lumMod val="60000"/>
                        <a:lumOff val="40000"/>
                      </a:schemeClr>
                    </a:solidFill>
                  </a:tcPr>
                </a:tc>
                <a:extLst>
                  <a:ext uri="{0D108BD9-81ED-4DB2-BD59-A6C34878D82A}">
                    <a16:rowId xmlns:a16="http://schemas.microsoft.com/office/drawing/2014/main" val="3469742215"/>
                  </a:ext>
                </a:extLst>
              </a:tr>
            </a:tbl>
          </a:graphicData>
        </a:graphic>
      </p:graphicFrame>
      <p:graphicFrame>
        <p:nvGraphicFramePr>
          <p:cNvPr id="5" name="Table 4">
            <a:extLst>
              <a:ext uri="{FF2B5EF4-FFF2-40B4-BE49-F238E27FC236}">
                <a16:creationId xmlns:a16="http://schemas.microsoft.com/office/drawing/2014/main" id="{437DFE67-187A-4030-930B-7EDD9B4A06DC}"/>
              </a:ext>
            </a:extLst>
          </p:cNvPr>
          <p:cNvGraphicFramePr>
            <a:graphicFrameLocks noGrp="1"/>
          </p:cNvGraphicFramePr>
          <p:nvPr>
            <p:extLst>
              <p:ext uri="{D42A27DB-BD31-4B8C-83A1-F6EECF244321}">
                <p14:modId xmlns:p14="http://schemas.microsoft.com/office/powerpoint/2010/main" val="188057474"/>
              </p:ext>
            </p:extLst>
          </p:nvPr>
        </p:nvGraphicFramePr>
        <p:xfrm>
          <a:off x="131760" y="1235167"/>
          <a:ext cx="11647170" cy="822960"/>
        </p:xfrm>
        <a:graphic>
          <a:graphicData uri="http://schemas.openxmlformats.org/drawingml/2006/table">
            <a:tbl>
              <a:tblPr firstRow="1" bandRow="1">
                <a:tableStyleId>{93296810-A885-4BE3-A3E7-6D5BEEA58F35}</a:tableStyleId>
              </a:tblPr>
              <a:tblGrid>
                <a:gridCol w="1963899">
                  <a:extLst>
                    <a:ext uri="{9D8B030D-6E8A-4147-A177-3AD203B41FA5}">
                      <a16:colId xmlns:a16="http://schemas.microsoft.com/office/drawing/2014/main" val="2409079804"/>
                    </a:ext>
                  </a:extLst>
                </a:gridCol>
                <a:gridCol w="4608919">
                  <a:extLst>
                    <a:ext uri="{9D8B030D-6E8A-4147-A177-3AD203B41FA5}">
                      <a16:colId xmlns:a16="http://schemas.microsoft.com/office/drawing/2014/main" val="4033939565"/>
                    </a:ext>
                  </a:extLst>
                </a:gridCol>
                <a:gridCol w="5074352">
                  <a:extLst>
                    <a:ext uri="{9D8B030D-6E8A-4147-A177-3AD203B41FA5}">
                      <a16:colId xmlns:a16="http://schemas.microsoft.com/office/drawing/2014/main" val="4128862500"/>
                    </a:ext>
                  </a:extLst>
                </a:gridCol>
              </a:tblGrid>
              <a:tr h="634312">
                <a:tc>
                  <a:txBody>
                    <a:bodyPr/>
                    <a:lstStyle/>
                    <a:p>
                      <a:pPr algn="ctr"/>
                      <a:r>
                        <a:rPr lang="en-US" sz="2400" b="1" dirty="0">
                          <a:solidFill>
                            <a:schemeClr val="tx1"/>
                          </a:solidFill>
                        </a:rPr>
                        <a:t>Total Internet Users</a:t>
                      </a:r>
                      <a:endParaRPr lang="en-US" sz="2200" b="1" dirty="0">
                        <a:solidFill>
                          <a:schemeClr val="tx1"/>
                        </a:solidFill>
                      </a:endParaRPr>
                    </a:p>
                  </a:txBody>
                  <a:tcPr anchor="ctr">
                    <a:solidFill>
                      <a:schemeClr val="accent6">
                        <a:lumMod val="40000"/>
                        <a:lumOff val="60000"/>
                      </a:schemeClr>
                    </a:solidFill>
                  </a:tcPr>
                </a:tc>
                <a:tc>
                  <a:txBody>
                    <a:bodyPr/>
                    <a:lstStyle/>
                    <a:p>
                      <a:pPr algn="just"/>
                      <a:r>
                        <a:rPr lang="en-US" sz="2400" b="0" dirty="0">
                          <a:solidFill>
                            <a:schemeClr val="tx1"/>
                          </a:solidFill>
                        </a:rPr>
                        <a:t>Over 900 Million to </a:t>
                      </a:r>
                      <a:r>
                        <a:rPr lang="en-US" sz="2400" b="1" dirty="0">
                          <a:solidFill>
                            <a:schemeClr val="tx1"/>
                          </a:solidFill>
                        </a:rPr>
                        <a:t>1 Billion</a:t>
                      </a:r>
                      <a:endParaRPr lang="en-US" sz="2200" b="1" dirty="0">
                        <a:solidFill>
                          <a:schemeClr val="tx1"/>
                        </a:solidFill>
                      </a:endParaRPr>
                    </a:p>
                  </a:txBody>
                  <a:tcPr anchor="ctr">
                    <a:solidFill>
                      <a:schemeClr val="accent6">
                        <a:lumMod val="40000"/>
                        <a:lumOff val="60000"/>
                      </a:schemeClr>
                    </a:solidFill>
                  </a:tcPr>
                </a:tc>
                <a:tc>
                  <a:txBody>
                    <a:bodyPr/>
                    <a:lstStyle/>
                    <a:p>
                      <a:pPr algn="just"/>
                      <a:r>
                        <a:rPr lang="en-US" sz="2400" b="0" dirty="0">
                          <a:solidFill>
                            <a:schemeClr val="tx1"/>
                          </a:solidFill>
                        </a:rPr>
                        <a:t>~</a:t>
                      </a:r>
                      <a:r>
                        <a:rPr lang="en-US" sz="2400" b="1" dirty="0">
                          <a:solidFill>
                            <a:schemeClr val="tx1"/>
                          </a:solidFill>
                        </a:rPr>
                        <a:t>6 Billion </a:t>
                      </a:r>
                      <a:r>
                        <a:rPr lang="en-US" sz="2400" b="0" dirty="0">
                          <a:solidFill>
                            <a:schemeClr val="tx1"/>
                          </a:solidFill>
                        </a:rPr>
                        <a:t>total users</a:t>
                      </a:r>
                      <a:endParaRPr lang="en-US" sz="2200" b="0" dirty="0">
                        <a:solidFill>
                          <a:schemeClr val="tx1"/>
                        </a:solidFill>
                      </a:endParaRPr>
                    </a:p>
                  </a:txBody>
                  <a:tcPr anchor="ctr">
                    <a:solidFill>
                      <a:schemeClr val="accent6">
                        <a:lumMod val="40000"/>
                        <a:lumOff val="60000"/>
                      </a:schemeClr>
                    </a:solidFill>
                  </a:tcPr>
                </a:tc>
                <a:extLst>
                  <a:ext uri="{0D108BD9-81ED-4DB2-BD59-A6C34878D82A}">
                    <a16:rowId xmlns:a16="http://schemas.microsoft.com/office/drawing/2014/main" val="3652513633"/>
                  </a:ext>
                </a:extLst>
              </a:tr>
            </a:tbl>
          </a:graphicData>
        </a:graphic>
      </p:graphicFrame>
      <p:graphicFrame>
        <p:nvGraphicFramePr>
          <p:cNvPr id="6" name="Table 5">
            <a:extLst>
              <a:ext uri="{FF2B5EF4-FFF2-40B4-BE49-F238E27FC236}">
                <a16:creationId xmlns:a16="http://schemas.microsoft.com/office/drawing/2014/main" id="{F8A152E1-36CE-4AD9-859C-90BEB57C0C7B}"/>
              </a:ext>
            </a:extLst>
          </p:cNvPr>
          <p:cNvGraphicFramePr>
            <a:graphicFrameLocks noGrp="1"/>
          </p:cNvGraphicFramePr>
          <p:nvPr>
            <p:extLst>
              <p:ext uri="{D42A27DB-BD31-4B8C-83A1-F6EECF244321}">
                <p14:modId xmlns:p14="http://schemas.microsoft.com/office/powerpoint/2010/main" val="1023400893"/>
              </p:ext>
            </p:extLst>
          </p:nvPr>
        </p:nvGraphicFramePr>
        <p:xfrm>
          <a:off x="113832" y="2055979"/>
          <a:ext cx="11674063" cy="1188720"/>
        </p:xfrm>
        <a:graphic>
          <a:graphicData uri="http://schemas.openxmlformats.org/drawingml/2006/table">
            <a:tbl>
              <a:tblPr firstRow="1" bandRow="1">
                <a:tableStyleId>{93296810-A885-4BE3-A3E7-6D5BEEA58F35}</a:tableStyleId>
              </a:tblPr>
              <a:tblGrid>
                <a:gridCol w="1968433">
                  <a:extLst>
                    <a:ext uri="{9D8B030D-6E8A-4147-A177-3AD203B41FA5}">
                      <a16:colId xmlns:a16="http://schemas.microsoft.com/office/drawing/2014/main" val="3341436723"/>
                    </a:ext>
                  </a:extLst>
                </a:gridCol>
                <a:gridCol w="4619561">
                  <a:extLst>
                    <a:ext uri="{9D8B030D-6E8A-4147-A177-3AD203B41FA5}">
                      <a16:colId xmlns:a16="http://schemas.microsoft.com/office/drawing/2014/main" val="3794820455"/>
                    </a:ext>
                  </a:extLst>
                </a:gridCol>
                <a:gridCol w="5086069">
                  <a:extLst>
                    <a:ext uri="{9D8B030D-6E8A-4147-A177-3AD203B41FA5}">
                      <a16:colId xmlns:a16="http://schemas.microsoft.com/office/drawing/2014/main" val="1525773954"/>
                    </a:ext>
                  </a:extLst>
                </a:gridCol>
              </a:tblGrid>
              <a:tr h="895949">
                <a:tc>
                  <a:txBody>
                    <a:bodyPr/>
                    <a:lstStyle/>
                    <a:p>
                      <a:pPr marL="0" algn="ctr" defTabSz="914400" rtl="0" eaLnBrk="1" latinLnBrk="0" hangingPunct="1"/>
                      <a:r>
                        <a:rPr lang="en-US" sz="2400" b="1" dirty="0">
                          <a:solidFill>
                            <a:schemeClr val="tx1"/>
                          </a:solidFill>
                        </a:rPr>
                        <a:t>Internet Penetration Rate</a:t>
                      </a:r>
                      <a:endParaRPr lang="en-US" sz="2200" b="1" kern="1200" dirty="0">
                        <a:solidFill>
                          <a:schemeClr val="tx1"/>
                        </a:solidFill>
                        <a:latin typeface="+mn-lt"/>
                        <a:ea typeface="+mn-ea"/>
                        <a:cs typeface="+mn-cs"/>
                      </a:endParaRPr>
                    </a:p>
                  </a:txBody>
                  <a:tcPr anchor="ctr">
                    <a:solidFill>
                      <a:schemeClr val="accent6">
                        <a:lumMod val="60000"/>
                        <a:lumOff val="40000"/>
                      </a:schemeClr>
                    </a:solidFill>
                  </a:tcPr>
                </a:tc>
                <a:tc>
                  <a:txBody>
                    <a:bodyPr/>
                    <a:lstStyle/>
                    <a:p>
                      <a:pPr marL="0" algn="just" defTabSz="914400" rtl="0" eaLnBrk="1" latinLnBrk="0" hangingPunct="1"/>
                      <a:r>
                        <a:rPr lang="en-US" sz="2400" b="0" dirty="0">
                          <a:solidFill>
                            <a:schemeClr val="tx1"/>
                          </a:solidFill>
                        </a:rPr>
                        <a:t>~</a:t>
                      </a:r>
                      <a:r>
                        <a:rPr lang="en-US" sz="2400" b="1" dirty="0">
                          <a:solidFill>
                            <a:schemeClr val="tx1"/>
                          </a:solidFill>
                        </a:rPr>
                        <a:t>62.5% </a:t>
                      </a:r>
                      <a:r>
                        <a:rPr lang="en-US" sz="2400" b="0" dirty="0">
                          <a:solidFill>
                            <a:schemeClr val="tx1"/>
                          </a:solidFill>
                        </a:rPr>
                        <a:t>of the population is online</a:t>
                      </a:r>
                      <a:endParaRPr lang="en-US" sz="2200" b="0" kern="1200" dirty="0">
                        <a:solidFill>
                          <a:schemeClr val="tx1"/>
                        </a:solidFill>
                        <a:latin typeface="+mn-lt"/>
                        <a:ea typeface="+mn-ea"/>
                        <a:cs typeface="+mn-cs"/>
                      </a:endParaRPr>
                    </a:p>
                  </a:txBody>
                  <a:tcPr anchor="ctr">
                    <a:solidFill>
                      <a:schemeClr val="accent6">
                        <a:lumMod val="60000"/>
                        <a:lumOff val="40000"/>
                      </a:schemeClr>
                    </a:solidFill>
                  </a:tcPr>
                </a:tc>
                <a:tc>
                  <a:txBody>
                    <a:bodyPr/>
                    <a:lstStyle/>
                    <a:p>
                      <a:pPr marL="0" algn="just" defTabSz="914400" rtl="0" eaLnBrk="1" latinLnBrk="0" hangingPunct="1"/>
                      <a:r>
                        <a:rPr lang="en-US" sz="2400" b="0" dirty="0">
                          <a:solidFill>
                            <a:schemeClr val="tx1"/>
                          </a:solidFill>
                        </a:rPr>
                        <a:t>~</a:t>
                      </a:r>
                      <a:r>
                        <a:rPr lang="en-US" sz="2400" b="1" dirty="0">
                          <a:solidFill>
                            <a:schemeClr val="tx1"/>
                          </a:solidFill>
                        </a:rPr>
                        <a:t>73% to 74% </a:t>
                      </a:r>
                      <a:r>
                        <a:rPr lang="en-US" sz="2400" b="0" dirty="0">
                          <a:solidFill>
                            <a:schemeClr val="tx1"/>
                          </a:solidFill>
                        </a:rPr>
                        <a:t>of the population is online</a:t>
                      </a:r>
                      <a:endParaRPr lang="en-US" sz="2200" b="0" kern="1200" dirty="0">
                        <a:solidFill>
                          <a:schemeClr val="tx1"/>
                        </a:solidFill>
                        <a:latin typeface="+mn-lt"/>
                        <a:ea typeface="+mn-ea"/>
                        <a:cs typeface="+mn-cs"/>
                      </a:endParaRPr>
                    </a:p>
                  </a:txBody>
                  <a:tcPr anchor="ctr">
                    <a:solidFill>
                      <a:schemeClr val="accent6">
                        <a:lumMod val="60000"/>
                        <a:lumOff val="40000"/>
                      </a:schemeClr>
                    </a:solidFill>
                  </a:tcPr>
                </a:tc>
                <a:extLst>
                  <a:ext uri="{0D108BD9-81ED-4DB2-BD59-A6C34878D82A}">
                    <a16:rowId xmlns:a16="http://schemas.microsoft.com/office/drawing/2014/main" val="1946308503"/>
                  </a:ext>
                </a:extLst>
              </a:tr>
            </a:tbl>
          </a:graphicData>
        </a:graphic>
      </p:graphicFrame>
      <p:graphicFrame>
        <p:nvGraphicFramePr>
          <p:cNvPr id="7" name="Table 6">
            <a:extLst>
              <a:ext uri="{FF2B5EF4-FFF2-40B4-BE49-F238E27FC236}">
                <a16:creationId xmlns:a16="http://schemas.microsoft.com/office/drawing/2014/main" id="{C8E09BEF-6A60-4390-96D7-DB8DD85B9829}"/>
              </a:ext>
            </a:extLst>
          </p:cNvPr>
          <p:cNvGraphicFramePr>
            <a:graphicFrameLocks noGrp="1"/>
          </p:cNvGraphicFramePr>
          <p:nvPr>
            <p:extLst>
              <p:ext uri="{D42A27DB-BD31-4B8C-83A1-F6EECF244321}">
                <p14:modId xmlns:p14="http://schemas.microsoft.com/office/powerpoint/2010/main" val="1912516428"/>
              </p:ext>
            </p:extLst>
          </p:nvPr>
        </p:nvGraphicFramePr>
        <p:xfrm>
          <a:off x="122795" y="3245374"/>
          <a:ext cx="11656134" cy="822961"/>
        </p:xfrm>
        <a:graphic>
          <a:graphicData uri="http://schemas.openxmlformats.org/drawingml/2006/table">
            <a:tbl>
              <a:tblPr firstRow="1" bandRow="1">
                <a:tableStyleId>{93296810-A885-4BE3-A3E7-6D5BEEA58F35}</a:tableStyleId>
              </a:tblPr>
              <a:tblGrid>
                <a:gridCol w="1965411">
                  <a:extLst>
                    <a:ext uri="{9D8B030D-6E8A-4147-A177-3AD203B41FA5}">
                      <a16:colId xmlns:a16="http://schemas.microsoft.com/office/drawing/2014/main" val="807603185"/>
                    </a:ext>
                  </a:extLst>
                </a:gridCol>
                <a:gridCol w="4612466">
                  <a:extLst>
                    <a:ext uri="{9D8B030D-6E8A-4147-A177-3AD203B41FA5}">
                      <a16:colId xmlns:a16="http://schemas.microsoft.com/office/drawing/2014/main" val="1873994364"/>
                    </a:ext>
                  </a:extLst>
                </a:gridCol>
                <a:gridCol w="5078257">
                  <a:extLst>
                    <a:ext uri="{9D8B030D-6E8A-4147-A177-3AD203B41FA5}">
                      <a16:colId xmlns:a16="http://schemas.microsoft.com/office/drawing/2014/main" val="2751316179"/>
                    </a:ext>
                  </a:extLst>
                </a:gridCol>
              </a:tblGrid>
              <a:tr h="822961">
                <a:tc>
                  <a:txBody>
                    <a:bodyPr/>
                    <a:lstStyle/>
                    <a:p>
                      <a:pPr algn="ctr"/>
                      <a:r>
                        <a:rPr lang="en-US" sz="2400" b="1" dirty="0">
                          <a:solidFill>
                            <a:schemeClr val="tx1"/>
                          </a:solidFill>
                        </a:rPr>
                        <a:t>Primary Access Device</a:t>
                      </a:r>
                      <a:endParaRPr lang="en-US" sz="2200" b="1" dirty="0">
                        <a:solidFill>
                          <a:schemeClr val="tx1"/>
                        </a:solidFill>
                      </a:endParaRPr>
                    </a:p>
                  </a:txBody>
                  <a:tcPr anchor="ctr">
                    <a:solidFill>
                      <a:schemeClr val="accent6">
                        <a:lumMod val="40000"/>
                        <a:lumOff val="60000"/>
                      </a:schemeClr>
                    </a:solidFill>
                  </a:tcPr>
                </a:tc>
                <a:tc>
                  <a:txBody>
                    <a:bodyPr/>
                    <a:lstStyle/>
                    <a:p>
                      <a:pPr algn="just"/>
                      <a:r>
                        <a:rPr lang="en-US" sz="2400" b="0" dirty="0">
                          <a:solidFill>
                            <a:schemeClr val="tx1"/>
                          </a:solidFill>
                        </a:rPr>
                        <a:t>Mobile Phones (Over 70%-80%) — highly mobile-dependent</a:t>
                      </a:r>
                      <a:endParaRPr lang="en-US" sz="2200" b="0" dirty="0">
                        <a:solidFill>
                          <a:schemeClr val="tx1"/>
                        </a:solidFill>
                      </a:endParaRPr>
                    </a:p>
                  </a:txBody>
                  <a:tcPr anchor="ctr">
                    <a:solidFill>
                      <a:schemeClr val="accent6">
                        <a:lumMod val="40000"/>
                        <a:lumOff val="60000"/>
                      </a:schemeClr>
                    </a:solidFill>
                  </a:tcPr>
                </a:tc>
                <a:tc>
                  <a:txBody>
                    <a:bodyPr/>
                    <a:lstStyle/>
                    <a:p>
                      <a:pPr algn="just"/>
                      <a:r>
                        <a:rPr lang="en-US" sz="2400" b="0" dirty="0">
                          <a:solidFill>
                            <a:schemeClr val="tx1"/>
                          </a:solidFill>
                        </a:rPr>
                        <a:t>Mix of Mobile (~52%-60%) and Desktop/Laptops</a:t>
                      </a:r>
                      <a:endParaRPr lang="en-US" sz="2200" b="0" dirty="0">
                        <a:solidFill>
                          <a:schemeClr val="tx1"/>
                        </a:solidFill>
                      </a:endParaRPr>
                    </a:p>
                  </a:txBody>
                  <a:tcPr anchor="ctr">
                    <a:solidFill>
                      <a:schemeClr val="accent6">
                        <a:lumMod val="40000"/>
                        <a:lumOff val="60000"/>
                      </a:schemeClr>
                    </a:solidFill>
                  </a:tcPr>
                </a:tc>
                <a:extLst>
                  <a:ext uri="{0D108BD9-81ED-4DB2-BD59-A6C34878D82A}">
                    <a16:rowId xmlns:a16="http://schemas.microsoft.com/office/drawing/2014/main" val="648314956"/>
                  </a:ext>
                </a:extLst>
              </a:tr>
            </a:tbl>
          </a:graphicData>
        </a:graphic>
      </p:graphicFrame>
      <p:graphicFrame>
        <p:nvGraphicFramePr>
          <p:cNvPr id="8" name="Table 7">
            <a:extLst>
              <a:ext uri="{FF2B5EF4-FFF2-40B4-BE49-F238E27FC236}">
                <a16:creationId xmlns:a16="http://schemas.microsoft.com/office/drawing/2014/main" id="{EB2EA30C-D860-4E8F-9CD6-E992DC279DFD}"/>
              </a:ext>
            </a:extLst>
          </p:cNvPr>
          <p:cNvGraphicFramePr>
            <a:graphicFrameLocks noGrp="1"/>
          </p:cNvGraphicFramePr>
          <p:nvPr>
            <p:extLst>
              <p:ext uri="{D42A27DB-BD31-4B8C-83A1-F6EECF244321}">
                <p14:modId xmlns:p14="http://schemas.microsoft.com/office/powerpoint/2010/main" val="1103555529"/>
              </p:ext>
            </p:extLst>
          </p:nvPr>
        </p:nvGraphicFramePr>
        <p:xfrm>
          <a:off x="121491" y="4054025"/>
          <a:ext cx="11674063" cy="895949"/>
        </p:xfrm>
        <a:graphic>
          <a:graphicData uri="http://schemas.openxmlformats.org/drawingml/2006/table">
            <a:tbl>
              <a:tblPr firstRow="1" bandRow="1">
                <a:tableStyleId>{93296810-A885-4BE3-A3E7-6D5BEEA58F35}</a:tableStyleId>
              </a:tblPr>
              <a:tblGrid>
                <a:gridCol w="1968433">
                  <a:extLst>
                    <a:ext uri="{9D8B030D-6E8A-4147-A177-3AD203B41FA5}">
                      <a16:colId xmlns:a16="http://schemas.microsoft.com/office/drawing/2014/main" val="390632833"/>
                    </a:ext>
                  </a:extLst>
                </a:gridCol>
                <a:gridCol w="4619561">
                  <a:extLst>
                    <a:ext uri="{9D8B030D-6E8A-4147-A177-3AD203B41FA5}">
                      <a16:colId xmlns:a16="http://schemas.microsoft.com/office/drawing/2014/main" val="1956951176"/>
                    </a:ext>
                  </a:extLst>
                </a:gridCol>
                <a:gridCol w="5086069">
                  <a:extLst>
                    <a:ext uri="{9D8B030D-6E8A-4147-A177-3AD203B41FA5}">
                      <a16:colId xmlns:a16="http://schemas.microsoft.com/office/drawing/2014/main" val="2913875185"/>
                    </a:ext>
                  </a:extLst>
                </a:gridCol>
              </a:tblGrid>
              <a:tr h="895949">
                <a:tc>
                  <a:txBody>
                    <a:bodyPr/>
                    <a:lstStyle/>
                    <a:p>
                      <a:pPr marL="0" algn="ctr" defTabSz="914400" rtl="0" eaLnBrk="1" latinLnBrk="0" hangingPunct="1"/>
                      <a:r>
                        <a:rPr lang="en-US" sz="2400" b="1" dirty="0">
                          <a:solidFill>
                            <a:schemeClr val="tx1"/>
                          </a:solidFill>
                        </a:rPr>
                        <a:t>Data Costs</a:t>
                      </a:r>
                      <a:endParaRPr lang="en-US" sz="2200" b="1" kern="1200" dirty="0">
                        <a:solidFill>
                          <a:schemeClr val="tx1"/>
                        </a:solidFill>
                        <a:latin typeface="+mn-lt"/>
                        <a:ea typeface="+mn-ea"/>
                        <a:cs typeface="+mn-cs"/>
                      </a:endParaRPr>
                    </a:p>
                  </a:txBody>
                  <a:tcPr anchor="ctr">
                    <a:solidFill>
                      <a:schemeClr val="accent6">
                        <a:lumMod val="60000"/>
                        <a:lumOff val="40000"/>
                      </a:schemeClr>
                    </a:solidFill>
                  </a:tcPr>
                </a:tc>
                <a:tc>
                  <a:txBody>
                    <a:bodyPr/>
                    <a:lstStyle/>
                    <a:p>
                      <a:pPr marL="0" algn="just" defTabSz="914400" rtl="0" eaLnBrk="1" latinLnBrk="0" hangingPunct="1"/>
                      <a:r>
                        <a:rPr lang="en-US" sz="2400" b="0" dirty="0">
                          <a:solidFill>
                            <a:schemeClr val="tx1"/>
                          </a:solidFill>
                        </a:rPr>
                        <a:t>Extremely Cheap: Among the lowest data pricing globally</a:t>
                      </a:r>
                      <a:endParaRPr lang="en-US" sz="2200" b="0" kern="1200" dirty="0">
                        <a:solidFill>
                          <a:schemeClr val="tx1"/>
                        </a:solidFill>
                        <a:latin typeface="+mn-lt"/>
                        <a:ea typeface="+mn-ea"/>
                        <a:cs typeface="+mn-cs"/>
                      </a:endParaRPr>
                    </a:p>
                  </a:txBody>
                  <a:tcPr anchor="ctr">
                    <a:solidFill>
                      <a:schemeClr val="accent6">
                        <a:lumMod val="60000"/>
                        <a:lumOff val="40000"/>
                      </a:schemeClr>
                    </a:solidFill>
                  </a:tcPr>
                </a:tc>
                <a:tc>
                  <a:txBody>
                    <a:bodyPr/>
                    <a:lstStyle/>
                    <a:p>
                      <a:pPr marL="0" algn="just" defTabSz="914400" rtl="0" eaLnBrk="1" latinLnBrk="0" hangingPunct="1"/>
                      <a:r>
                        <a:rPr lang="en-US" sz="2400" b="0" dirty="0">
                          <a:solidFill>
                            <a:schemeClr val="tx1"/>
                          </a:solidFill>
                        </a:rPr>
                        <a:t>Moderate to High cost per GB depending on the country</a:t>
                      </a:r>
                      <a:endParaRPr lang="en-US" sz="2200" b="0" kern="1200" dirty="0">
                        <a:solidFill>
                          <a:schemeClr val="tx1"/>
                        </a:solidFill>
                        <a:latin typeface="+mn-lt"/>
                        <a:ea typeface="+mn-ea"/>
                        <a:cs typeface="+mn-cs"/>
                      </a:endParaRPr>
                    </a:p>
                  </a:txBody>
                  <a:tcPr anchor="ctr">
                    <a:solidFill>
                      <a:schemeClr val="accent6">
                        <a:lumMod val="60000"/>
                        <a:lumOff val="40000"/>
                      </a:schemeClr>
                    </a:solidFill>
                  </a:tcPr>
                </a:tc>
                <a:extLst>
                  <a:ext uri="{0D108BD9-81ED-4DB2-BD59-A6C34878D82A}">
                    <a16:rowId xmlns:a16="http://schemas.microsoft.com/office/drawing/2014/main" val="2689567464"/>
                  </a:ext>
                </a:extLst>
              </a:tr>
            </a:tbl>
          </a:graphicData>
        </a:graphic>
      </p:graphicFrame>
    </p:spTree>
    <p:extLst>
      <p:ext uri="{BB962C8B-B14F-4D97-AF65-F5344CB8AC3E}">
        <p14:creationId xmlns:p14="http://schemas.microsoft.com/office/powerpoint/2010/main" val="152653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5E8F-F4F7-43D9-A8A6-E4A36206468D}"/>
              </a:ext>
            </a:extLst>
          </p:cNvPr>
          <p:cNvSpPr>
            <a:spLocks noGrp="1"/>
          </p:cNvSpPr>
          <p:nvPr>
            <p:ph type="title"/>
          </p:nvPr>
        </p:nvSpPr>
        <p:spPr/>
        <p:txBody>
          <a:bodyPr/>
          <a:lstStyle/>
          <a:p>
            <a:r>
              <a:rPr lang="en-US" sz="3200" dirty="0"/>
              <a:t>Penetration of Internet in India &amp; World (Continue…)</a:t>
            </a:r>
            <a:endParaRPr lang="en-US" dirty="0"/>
          </a:p>
        </p:txBody>
      </p:sp>
      <p:sp>
        <p:nvSpPr>
          <p:cNvPr id="3" name="Content Placeholder 2">
            <a:extLst>
              <a:ext uri="{FF2B5EF4-FFF2-40B4-BE49-F238E27FC236}">
                <a16:creationId xmlns:a16="http://schemas.microsoft.com/office/drawing/2014/main" id="{1C9FB3A4-01F6-4208-93D3-D82ED6DFA404}"/>
              </a:ext>
            </a:extLst>
          </p:cNvPr>
          <p:cNvSpPr>
            <a:spLocks noGrp="1"/>
          </p:cNvSpPr>
          <p:nvPr>
            <p:ph idx="1"/>
          </p:nvPr>
        </p:nvSpPr>
        <p:spPr/>
        <p:txBody>
          <a:bodyPr/>
          <a:lstStyle/>
          <a:p>
            <a:endParaRPr lang="en-US" dirty="0"/>
          </a:p>
        </p:txBody>
      </p:sp>
      <p:graphicFrame>
        <p:nvGraphicFramePr>
          <p:cNvPr id="4" name="Chart 3">
            <a:extLst>
              <a:ext uri="{FF2B5EF4-FFF2-40B4-BE49-F238E27FC236}">
                <a16:creationId xmlns:a16="http://schemas.microsoft.com/office/drawing/2014/main" id="{4D4CDE9D-6129-44EB-B509-0425FA412A83}"/>
              </a:ext>
            </a:extLst>
          </p:cNvPr>
          <p:cNvGraphicFramePr>
            <a:graphicFrameLocks/>
          </p:cNvGraphicFramePr>
          <p:nvPr>
            <p:extLst>
              <p:ext uri="{D42A27DB-BD31-4B8C-83A1-F6EECF244321}">
                <p14:modId xmlns:p14="http://schemas.microsoft.com/office/powerpoint/2010/main" val="1133658972"/>
              </p:ext>
            </p:extLst>
          </p:nvPr>
        </p:nvGraphicFramePr>
        <p:xfrm>
          <a:off x="146515" y="1162740"/>
          <a:ext cx="5949485" cy="4045754"/>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4">
            <a:extLst>
              <a:ext uri="{FF2B5EF4-FFF2-40B4-BE49-F238E27FC236}">
                <a16:creationId xmlns:a16="http://schemas.microsoft.com/office/drawing/2014/main" id="{46A2993B-4866-4F0C-8CFE-1683927A7C59}"/>
              </a:ext>
            </a:extLst>
          </p:cNvPr>
          <p:cNvSpPr txBox="1"/>
          <p:nvPr/>
        </p:nvSpPr>
        <p:spPr>
          <a:xfrm>
            <a:off x="175029" y="5140960"/>
            <a:ext cx="5329302" cy="830997"/>
          </a:xfrm>
          <a:prstGeom prst="rect">
            <a:avLst/>
          </a:prstGeom>
          <a:noFill/>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i="1" dirty="0"/>
              <a:t>Source: https://www.indiadigitalsummit.in/wp- content/uploads/2026/01/Internet-in-India-2025-Press-Release-Final.pdf</a:t>
            </a:r>
          </a:p>
        </p:txBody>
      </p:sp>
      <p:sp>
        <p:nvSpPr>
          <p:cNvPr id="7" name="TextBox 6">
            <a:extLst>
              <a:ext uri="{FF2B5EF4-FFF2-40B4-BE49-F238E27FC236}">
                <a16:creationId xmlns:a16="http://schemas.microsoft.com/office/drawing/2014/main" id="{44A57D0E-FA6A-4804-8603-1240331641A4}"/>
              </a:ext>
            </a:extLst>
          </p:cNvPr>
          <p:cNvSpPr txBox="1"/>
          <p:nvPr/>
        </p:nvSpPr>
        <p:spPr>
          <a:xfrm>
            <a:off x="5910348" y="5263859"/>
            <a:ext cx="6437630" cy="338554"/>
          </a:xfrm>
          <a:prstGeom prst="rect">
            <a:avLst/>
          </a:prstGeom>
          <a:noFill/>
        </p:spPr>
        <p:txBody>
          <a:bodyPr wrap="square">
            <a:spAutoFit/>
          </a:bodyPr>
          <a:lstStyle/>
          <a:p>
            <a:pPr algn="ctr"/>
            <a:r>
              <a:rPr lang="en-US" sz="1600" i="1" dirty="0"/>
              <a:t>Source: https://www.itu.int/en/ITU-D/Statistics/pages/stat/default.aspx</a:t>
            </a:r>
          </a:p>
        </p:txBody>
      </p:sp>
      <p:graphicFrame>
        <p:nvGraphicFramePr>
          <p:cNvPr id="8" name="Chart 7">
            <a:extLst>
              <a:ext uri="{FF2B5EF4-FFF2-40B4-BE49-F238E27FC236}">
                <a16:creationId xmlns:a16="http://schemas.microsoft.com/office/drawing/2014/main" id="{D194F43F-75A4-4004-924B-F45A4C7F4EFD}"/>
              </a:ext>
            </a:extLst>
          </p:cNvPr>
          <p:cNvGraphicFramePr>
            <a:graphicFrameLocks/>
          </p:cNvGraphicFramePr>
          <p:nvPr>
            <p:extLst>
              <p:ext uri="{D42A27DB-BD31-4B8C-83A1-F6EECF244321}">
                <p14:modId xmlns:p14="http://schemas.microsoft.com/office/powerpoint/2010/main" val="1455961564"/>
              </p:ext>
            </p:extLst>
          </p:nvPr>
        </p:nvGraphicFramePr>
        <p:xfrm>
          <a:off x="6398492" y="1407459"/>
          <a:ext cx="5646994" cy="38996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3172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fade">
                                      <p:cBhvr>
                                        <p:cTn id="7" dur="500"/>
                                        <p:tgtEl>
                                          <p:spTgt spid="4">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fade">
                                      <p:cBhvr>
                                        <p:cTn id="12" dur="500"/>
                                        <p:tgtEl>
                                          <p:spTgt spid="4">
                                            <p:graphicEl>
                                              <a:chart seriesIdx="-4" categoryIdx="0" bldStep="category"/>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fade">
                                      <p:cBhvr>
                                        <p:cTn id="17" dur="500"/>
                                        <p:tgtEl>
                                          <p:spTgt spid="4">
                                            <p:graphicEl>
                                              <a:chart seriesIdx="-4" categoryIdx="1"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fade">
                                      <p:cBhvr>
                                        <p:cTn id="22" dur="500"/>
                                        <p:tgtEl>
                                          <p:spTgt spid="4">
                                            <p:graphicEl>
                                              <a:chart seriesIdx="-4" categoryIdx="2"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fade">
                                      <p:cBhvr>
                                        <p:cTn id="27" dur="500"/>
                                        <p:tgtEl>
                                          <p:spTgt spid="4">
                                            <p:graphicEl>
                                              <a:chart seriesIdx="-4" categoryIdx="3" bldStep="category"/>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fade">
                                      <p:cBhvr>
                                        <p:cTn id="32" dur="500"/>
                                        <p:tgtEl>
                                          <p:spTgt spid="4">
                                            <p:graphicEl>
                                              <a:chart seriesIdx="-4" categoryIdx="4" bldStep="category"/>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fade">
                                      <p:cBhvr>
                                        <p:cTn id="37" dur="500"/>
                                        <p:tgtEl>
                                          <p:spTgt spid="4">
                                            <p:graphicEl>
                                              <a:chart seriesIdx="-4" categoryIdx="5" bldStep="category"/>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fade">
                                      <p:cBhvr>
                                        <p:cTn id="42" dur="500"/>
                                        <p:tgtEl>
                                          <p:spTgt spid="4">
                                            <p:graphicEl>
                                              <a:chart seriesIdx="-4" categoryIdx="6" bldStep="category"/>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graphicEl>
                                              <a:chart seriesIdx="-3" categoryIdx="-3" bldStep="gridLegend"/>
                                            </p:graphic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graphicEl>
                                              <a:chart seriesIdx="-4" categoryIdx="0" bldStep="category"/>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graphicEl>
                                              <a:chart seriesIdx="-4" categoryIdx="1" bldStep="category"/>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graphicEl>
                                              <a:chart seriesIdx="-4" categoryIdx="2" bldStep="category"/>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graphicEl>
                                              <a:chart seriesIdx="-4" categoryIdx="3" bldStep="category"/>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graphicEl>
                                              <a:chart seriesIdx="-4" categoryIdx="4" bldStep="category"/>
                                            </p:graphic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graphicEl>
                                              <a:chart seriesIdx="-4" categoryIdx="5" bldStep="category"/>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graphicEl>
                                              <a:chart seriesIdx="-4" categoryIdx="6" bldStep="category"/>
                                            </p:graphic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
                                            <p:graphicEl>
                                              <a:chart seriesIdx="-4" categoryIdx="7" bldStep="category"/>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category"/>
        </p:bldSub>
      </p:bldGraphic>
      <p:bldP spid="6" grpId="0"/>
      <p:bldP spid="7" grpId="0"/>
      <p:bldGraphic spid="8" grpId="0">
        <p:bldSub>
          <a:bldChart bld="category"/>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15781-2EC0-4676-9E68-6E2830F4D802}"/>
              </a:ext>
            </a:extLst>
          </p:cNvPr>
          <p:cNvSpPr>
            <a:spLocks noGrp="1"/>
          </p:cNvSpPr>
          <p:nvPr>
            <p:ph type="title"/>
          </p:nvPr>
        </p:nvSpPr>
        <p:spPr/>
        <p:txBody>
          <a:bodyPr/>
          <a:lstStyle/>
          <a:p>
            <a:r>
              <a:rPr lang="en-US" sz="6000" dirty="0"/>
              <a:t>Understanding the Digital Customer Journey</a:t>
            </a:r>
            <a:endParaRPr lang="en-US" dirty="0"/>
          </a:p>
        </p:txBody>
      </p:sp>
      <p:sp>
        <p:nvSpPr>
          <p:cNvPr id="3" name="Text Placeholder 2">
            <a:extLst>
              <a:ext uri="{FF2B5EF4-FFF2-40B4-BE49-F238E27FC236}">
                <a16:creationId xmlns:a16="http://schemas.microsoft.com/office/drawing/2014/main" id="{DC3A2AC4-D584-4DC3-AFF1-19093BBFE96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75559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FAD32-6C8E-43FF-831A-EA0F10BB07F8}"/>
              </a:ext>
            </a:extLst>
          </p:cNvPr>
          <p:cNvSpPr>
            <a:spLocks noGrp="1"/>
          </p:cNvSpPr>
          <p:nvPr>
            <p:ph type="title"/>
          </p:nvPr>
        </p:nvSpPr>
        <p:spPr/>
        <p:txBody>
          <a:bodyPr>
            <a:normAutofit/>
          </a:bodyPr>
          <a:lstStyle/>
          <a:p>
            <a:r>
              <a:rPr lang="en-US" dirty="0"/>
              <a:t>Understanding the Digital Customer Journey</a:t>
            </a:r>
          </a:p>
        </p:txBody>
      </p:sp>
      <p:sp>
        <p:nvSpPr>
          <p:cNvPr id="3" name="Content Placeholder 2">
            <a:extLst>
              <a:ext uri="{FF2B5EF4-FFF2-40B4-BE49-F238E27FC236}">
                <a16:creationId xmlns:a16="http://schemas.microsoft.com/office/drawing/2014/main" id="{224BF2D5-985E-4F5E-A226-0877D30F51B4}"/>
              </a:ext>
            </a:extLst>
          </p:cNvPr>
          <p:cNvSpPr>
            <a:spLocks noGrp="1"/>
          </p:cNvSpPr>
          <p:nvPr>
            <p:ph idx="1"/>
          </p:nvPr>
        </p:nvSpPr>
        <p:spPr/>
        <p:txBody>
          <a:bodyPr/>
          <a:lstStyle/>
          <a:p>
            <a:endParaRPr lang="en-US" dirty="0"/>
          </a:p>
        </p:txBody>
      </p:sp>
      <p:sp>
        <p:nvSpPr>
          <p:cNvPr id="5" name="Diamond 4">
            <a:extLst>
              <a:ext uri="{FF2B5EF4-FFF2-40B4-BE49-F238E27FC236}">
                <a16:creationId xmlns:a16="http://schemas.microsoft.com/office/drawing/2014/main" id="{48B85211-D966-4613-BACC-CAF11D8EDD1E}"/>
              </a:ext>
            </a:extLst>
          </p:cNvPr>
          <p:cNvSpPr/>
          <p:nvPr/>
        </p:nvSpPr>
        <p:spPr>
          <a:xfrm>
            <a:off x="134925" y="1079038"/>
            <a:ext cx="3079615" cy="2992815"/>
          </a:xfrm>
          <a:prstGeom prst="diamond">
            <a:avLst/>
          </a:prstGeom>
          <a:solidFill>
            <a:schemeClr val="accent6">
              <a:lumMod val="40000"/>
              <a:lumOff val="6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b="1" dirty="0"/>
          </a:p>
          <a:p>
            <a:pPr algn="ctr"/>
            <a:r>
              <a:rPr lang="en-US" sz="1600" b="1" dirty="0">
                <a:solidFill>
                  <a:schemeClr val="tx1"/>
                </a:solidFill>
              </a:rPr>
              <a:t>AWARENESS</a:t>
            </a:r>
          </a:p>
          <a:p>
            <a:pPr algn="ctr">
              <a:buFont typeface="Arial" panose="020B0604020202020204" pitchFamily="34" charset="0"/>
              <a:buChar char="•"/>
            </a:pPr>
            <a:r>
              <a:rPr lang="en-US" sz="1600" b="1" dirty="0">
                <a:solidFill>
                  <a:schemeClr val="tx1"/>
                </a:solidFill>
              </a:rPr>
              <a:t>Social Media</a:t>
            </a:r>
          </a:p>
          <a:p>
            <a:pPr algn="ctr">
              <a:buFont typeface="Arial" panose="020B0604020202020204" pitchFamily="34" charset="0"/>
              <a:buChar char="•"/>
            </a:pPr>
            <a:r>
              <a:rPr lang="en-US" sz="1600" b="1" dirty="0">
                <a:solidFill>
                  <a:schemeClr val="tx1"/>
                </a:solidFill>
              </a:rPr>
              <a:t>Web Sites</a:t>
            </a:r>
          </a:p>
          <a:p>
            <a:pPr algn="ctr">
              <a:buFont typeface="Arial" panose="020B0604020202020204" pitchFamily="34" charset="0"/>
              <a:buChar char="•"/>
            </a:pPr>
            <a:r>
              <a:rPr lang="en-US" sz="1600" b="1" dirty="0">
                <a:solidFill>
                  <a:schemeClr val="tx1"/>
                </a:solidFill>
              </a:rPr>
              <a:t>Search</a:t>
            </a:r>
          </a:p>
          <a:p>
            <a:pPr algn="ctr">
              <a:buFont typeface="Arial" panose="020B0604020202020204" pitchFamily="34" charset="0"/>
              <a:buChar char="•"/>
            </a:pPr>
            <a:r>
              <a:rPr lang="en-US" sz="1600" b="1" dirty="0">
                <a:solidFill>
                  <a:schemeClr val="tx1"/>
                </a:solidFill>
              </a:rPr>
              <a:t>Direct Mail</a:t>
            </a:r>
          </a:p>
          <a:p>
            <a:pPr algn="ctr">
              <a:buFont typeface="Arial" panose="020B0604020202020204" pitchFamily="34" charset="0"/>
              <a:buChar char="•"/>
            </a:pPr>
            <a:r>
              <a:rPr lang="en-US" sz="1600" b="1" dirty="0">
                <a:solidFill>
                  <a:schemeClr val="tx1"/>
                </a:solidFill>
              </a:rPr>
              <a:t>Word of Mouth</a:t>
            </a:r>
          </a:p>
          <a:p>
            <a:pPr algn="ctr">
              <a:buFont typeface="Arial" panose="020B0604020202020204" pitchFamily="34" charset="0"/>
              <a:buChar char="•"/>
            </a:pPr>
            <a:r>
              <a:rPr lang="en-US" sz="1600" b="1" dirty="0">
                <a:solidFill>
                  <a:schemeClr val="tx1"/>
                </a:solidFill>
              </a:rPr>
              <a:t>Radio TV Print Outdoor</a:t>
            </a:r>
          </a:p>
          <a:p>
            <a:pPr algn="ctr"/>
            <a:endParaRPr lang="en-US" sz="1600" b="1" dirty="0"/>
          </a:p>
        </p:txBody>
      </p:sp>
      <p:sp>
        <p:nvSpPr>
          <p:cNvPr id="6" name="Diamond 5">
            <a:extLst>
              <a:ext uri="{FF2B5EF4-FFF2-40B4-BE49-F238E27FC236}">
                <a16:creationId xmlns:a16="http://schemas.microsoft.com/office/drawing/2014/main" id="{0AC170A5-A129-4009-B5F5-185C8E9C2AC6}"/>
              </a:ext>
            </a:extLst>
          </p:cNvPr>
          <p:cNvSpPr/>
          <p:nvPr/>
        </p:nvSpPr>
        <p:spPr>
          <a:xfrm>
            <a:off x="2332942" y="3305335"/>
            <a:ext cx="3079615" cy="2992815"/>
          </a:xfrm>
          <a:prstGeom prst="diamond">
            <a:avLst/>
          </a:prstGeom>
          <a:solidFill>
            <a:schemeClr val="accent5">
              <a:lumMod val="60000"/>
              <a:lumOff val="40000"/>
            </a:schemeClr>
          </a:solidFill>
          <a:ln>
            <a:solidFill>
              <a:schemeClr val="accent5">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b="1" dirty="0">
                <a:solidFill>
                  <a:schemeClr val="tx1"/>
                </a:solidFill>
              </a:rPr>
              <a:t>INTEREST</a:t>
            </a:r>
          </a:p>
          <a:p>
            <a:pPr algn="ctr">
              <a:buFont typeface="Arial" panose="020B0604020202020204" pitchFamily="34" charset="0"/>
              <a:buChar char="•"/>
            </a:pPr>
            <a:r>
              <a:rPr lang="en-US" sz="1600" b="1" dirty="0">
                <a:solidFill>
                  <a:schemeClr val="tx1"/>
                </a:solidFill>
              </a:rPr>
              <a:t>Reviews</a:t>
            </a:r>
          </a:p>
          <a:p>
            <a:pPr algn="ctr">
              <a:buFont typeface="Arial" panose="020B0604020202020204" pitchFamily="34" charset="0"/>
              <a:buChar char="•"/>
            </a:pPr>
            <a:r>
              <a:rPr lang="en-US" sz="1600" b="1" dirty="0">
                <a:solidFill>
                  <a:schemeClr val="tx1"/>
                </a:solidFill>
              </a:rPr>
              <a:t>Blog</a:t>
            </a:r>
          </a:p>
          <a:p>
            <a:pPr algn="ctr">
              <a:buFont typeface="Arial" panose="020B0604020202020204" pitchFamily="34" charset="0"/>
              <a:buChar char="•"/>
            </a:pPr>
            <a:r>
              <a:rPr lang="en-US" sz="1600" b="1" dirty="0">
                <a:solidFill>
                  <a:schemeClr val="tx1"/>
                </a:solidFill>
              </a:rPr>
              <a:t>Media</a:t>
            </a:r>
          </a:p>
          <a:p>
            <a:pPr algn="ctr">
              <a:buFont typeface="Arial" panose="020B0604020202020204" pitchFamily="34" charset="0"/>
              <a:buChar char="•"/>
            </a:pPr>
            <a:r>
              <a:rPr lang="en-US" sz="1600" b="1" dirty="0">
                <a:solidFill>
                  <a:schemeClr val="tx1"/>
                </a:solidFill>
              </a:rPr>
              <a:t>Articles</a:t>
            </a:r>
          </a:p>
          <a:p>
            <a:pPr algn="ctr"/>
            <a:endParaRPr lang="en-US" sz="1600" dirty="0"/>
          </a:p>
        </p:txBody>
      </p:sp>
      <p:sp>
        <p:nvSpPr>
          <p:cNvPr id="7" name="Diamond 6">
            <a:extLst>
              <a:ext uri="{FF2B5EF4-FFF2-40B4-BE49-F238E27FC236}">
                <a16:creationId xmlns:a16="http://schemas.microsoft.com/office/drawing/2014/main" id="{4D26AC99-C90D-49C8-8C85-4DC9567B4728}"/>
              </a:ext>
            </a:extLst>
          </p:cNvPr>
          <p:cNvSpPr/>
          <p:nvPr/>
        </p:nvSpPr>
        <p:spPr>
          <a:xfrm>
            <a:off x="4583786" y="1079038"/>
            <a:ext cx="3079615" cy="2992815"/>
          </a:xfrm>
          <a:prstGeom prst="diamon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b="1" dirty="0">
                <a:solidFill>
                  <a:schemeClr val="tx1"/>
                </a:solidFill>
              </a:rPr>
              <a:t>PURCHASE</a:t>
            </a:r>
          </a:p>
          <a:p>
            <a:pPr algn="ctr">
              <a:buFont typeface="Arial" panose="020B0604020202020204" pitchFamily="34" charset="0"/>
              <a:buChar char="•"/>
            </a:pPr>
            <a:r>
              <a:rPr lang="en-US" sz="1600" b="1" dirty="0">
                <a:solidFill>
                  <a:schemeClr val="tx1"/>
                </a:solidFill>
              </a:rPr>
              <a:t>Website</a:t>
            </a:r>
          </a:p>
          <a:p>
            <a:pPr algn="ctr">
              <a:buFont typeface="Arial" panose="020B0604020202020204" pitchFamily="34" charset="0"/>
              <a:buChar char="•"/>
            </a:pPr>
            <a:r>
              <a:rPr lang="en-US" sz="1600" b="1" dirty="0">
                <a:solidFill>
                  <a:schemeClr val="tx1"/>
                </a:solidFill>
              </a:rPr>
              <a:t>Shop</a:t>
            </a:r>
          </a:p>
          <a:p>
            <a:pPr algn="ctr">
              <a:buFont typeface="Arial" panose="020B0604020202020204" pitchFamily="34" charset="0"/>
              <a:buChar char="•"/>
            </a:pPr>
            <a:r>
              <a:rPr lang="en-US" sz="1600" b="1" dirty="0">
                <a:solidFill>
                  <a:schemeClr val="tx1"/>
                </a:solidFill>
              </a:rPr>
              <a:t>Online Booking</a:t>
            </a:r>
          </a:p>
          <a:p>
            <a:pPr algn="ctr">
              <a:buFont typeface="Arial" panose="020B0604020202020204" pitchFamily="34" charset="0"/>
              <a:buChar char="•"/>
            </a:pPr>
            <a:r>
              <a:rPr lang="en-US" sz="1600" b="1" dirty="0">
                <a:solidFill>
                  <a:schemeClr val="tx1"/>
                </a:solidFill>
              </a:rPr>
              <a:t>Store</a:t>
            </a:r>
          </a:p>
          <a:p>
            <a:pPr algn="ctr">
              <a:buFont typeface="Arial" panose="020B0604020202020204" pitchFamily="34" charset="0"/>
              <a:buChar char="•"/>
            </a:pPr>
            <a:r>
              <a:rPr lang="en-US" sz="1600" b="1" dirty="0">
                <a:solidFill>
                  <a:schemeClr val="tx1"/>
                </a:solidFill>
              </a:rPr>
              <a:t>Salesperson</a:t>
            </a:r>
          </a:p>
          <a:p>
            <a:pPr algn="ctr"/>
            <a:endParaRPr lang="en-US" sz="1600" b="1" dirty="0">
              <a:solidFill>
                <a:schemeClr val="tx1"/>
              </a:solidFill>
            </a:endParaRPr>
          </a:p>
        </p:txBody>
      </p:sp>
      <p:sp>
        <p:nvSpPr>
          <p:cNvPr id="8" name="Diamond 7">
            <a:extLst>
              <a:ext uri="{FF2B5EF4-FFF2-40B4-BE49-F238E27FC236}">
                <a16:creationId xmlns:a16="http://schemas.microsoft.com/office/drawing/2014/main" id="{F8A2044A-EF7F-4230-8E82-6B2D71AC4116}"/>
              </a:ext>
            </a:extLst>
          </p:cNvPr>
          <p:cNvSpPr/>
          <p:nvPr/>
        </p:nvSpPr>
        <p:spPr>
          <a:xfrm>
            <a:off x="6781803" y="3305334"/>
            <a:ext cx="3079615" cy="2992815"/>
          </a:xfrm>
          <a:prstGeom prst="diamond">
            <a:avLst/>
          </a:prstGeom>
          <a:solidFill>
            <a:schemeClr val="accent2">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b="1" dirty="0">
                <a:solidFill>
                  <a:schemeClr val="tx1"/>
                </a:solidFill>
              </a:rPr>
              <a:t>RETENTION</a:t>
            </a:r>
          </a:p>
          <a:p>
            <a:pPr algn="ctr">
              <a:buFont typeface="Arial" panose="020B0604020202020204" pitchFamily="34" charset="0"/>
              <a:buChar char="•"/>
            </a:pPr>
            <a:r>
              <a:rPr lang="en-US" sz="1600" b="1" dirty="0">
                <a:solidFill>
                  <a:schemeClr val="tx1"/>
                </a:solidFill>
              </a:rPr>
              <a:t>Call Center</a:t>
            </a:r>
          </a:p>
          <a:p>
            <a:pPr algn="ctr">
              <a:buFont typeface="Arial" panose="020B0604020202020204" pitchFamily="34" charset="0"/>
              <a:buChar char="•"/>
            </a:pPr>
            <a:r>
              <a:rPr lang="en-US" sz="1600" b="1" dirty="0">
                <a:solidFill>
                  <a:schemeClr val="tx1"/>
                </a:solidFill>
              </a:rPr>
              <a:t>Chat</a:t>
            </a:r>
          </a:p>
          <a:p>
            <a:pPr algn="ctr">
              <a:buFont typeface="Arial" panose="020B0604020202020204" pitchFamily="34" charset="0"/>
              <a:buChar char="•"/>
            </a:pPr>
            <a:r>
              <a:rPr lang="en-US" sz="1600" b="1" dirty="0">
                <a:solidFill>
                  <a:schemeClr val="tx1"/>
                </a:solidFill>
              </a:rPr>
              <a:t>Social Media</a:t>
            </a:r>
          </a:p>
          <a:p>
            <a:pPr algn="ctr">
              <a:buFont typeface="Arial" panose="020B0604020202020204" pitchFamily="34" charset="0"/>
              <a:buChar char="•"/>
            </a:pPr>
            <a:r>
              <a:rPr lang="en-US" sz="1600" b="1" dirty="0">
                <a:solidFill>
                  <a:schemeClr val="tx1"/>
                </a:solidFill>
              </a:rPr>
              <a:t>Community</a:t>
            </a:r>
          </a:p>
          <a:p>
            <a:pPr algn="ctr">
              <a:buFont typeface="Arial" panose="020B0604020202020204" pitchFamily="34" charset="0"/>
              <a:buChar char="•"/>
            </a:pPr>
            <a:r>
              <a:rPr lang="en-US" sz="1600" b="1" dirty="0">
                <a:solidFill>
                  <a:schemeClr val="tx1"/>
                </a:solidFill>
              </a:rPr>
              <a:t>Blog</a:t>
            </a:r>
          </a:p>
          <a:p>
            <a:pPr algn="ctr">
              <a:buFont typeface="Arial" panose="020B0604020202020204" pitchFamily="34" charset="0"/>
              <a:buChar char="•"/>
            </a:pPr>
            <a:r>
              <a:rPr lang="en-US" sz="1600" b="1" dirty="0">
                <a:solidFill>
                  <a:schemeClr val="tx1"/>
                </a:solidFill>
              </a:rPr>
              <a:t>Newsletter</a:t>
            </a:r>
          </a:p>
          <a:p>
            <a:pPr algn="ctr"/>
            <a:endParaRPr lang="en-US" sz="1600" b="1" dirty="0">
              <a:solidFill>
                <a:schemeClr val="tx1"/>
              </a:solidFill>
            </a:endParaRPr>
          </a:p>
        </p:txBody>
      </p:sp>
      <p:sp>
        <p:nvSpPr>
          <p:cNvPr id="9" name="Diamond 8">
            <a:extLst>
              <a:ext uri="{FF2B5EF4-FFF2-40B4-BE49-F238E27FC236}">
                <a16:creationId xmlns:a16="http://schemas.microsoft.com/office/drawing/2014/main" id="{0CBBE1A5-4A25-46FD-9A01-C125A4203E3E}"/>
              </a:ext>
            </a:extLst>
          </p:cNvPr>
          <p:cNvSpPr/>
          <p:nvPr/>
        </p:nvSpPr>
        <p:spPr>
          <a:xfrm>
            <a:off x="9032647" y="1079038"/>
            <a:ext cx="3079615" cy="2992815"/>
          </a:xfrm>
          <a:prstGeom prst="diamond">
            <a:avLst/>
          </a:prstGeom>
          <a:solidFill>
            <a:schemeClr val="accent1">
              <a:lumMod val="40000"/>
              <a:lumOff val="6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b="1" dirty="0">
                <a:solidFill>
                  <a:schemeClr val="tx1"/>
                </a:solidFill>
              </a:rPr>
              <a:t>ADVOCACY</a:t>
            </a:r>
          </a:p>
          <a:p>
            <a:pPr algn="ctr">
              <a:buFont typeface="Arial" panose="020B0604020202020204" pitchFamily="34" charset="0"/>
              <a:buChar char="•"/>
            </a:pPr>
            <a:r>
              <a:rPr lang="en-US" sz="1600" b="1" dirty="0">
                <a:solidFill>
                  <a:schemeClr val="tx1"/>
                </a:solidFill>
              </a:rPr>
              <a:t>Social Post</a:t>
            </a:r>
          </a:p>
          <a:p>
            <a:pPr algn="ctr">
              <a:buFont typeface="Arial" panose="020B0604020202020204" pitchFamily="34" charset="0"/>
              <a:buChar char="•"/>
            </a:pPr>
            <a:r>
              <a:rPr lang="en-US" sz="1600" b="1" dirty="0">
                <a:solidFill>
                  <a:schemeClr val="tx1"/>
                </a:solidFill>
              </a:rPr>
              <a:t>Reviews</a:t>
            </a:r>
          </a:p>
          <a:p>
            <a:pPr algn="ctr">
              <a:buFont typeface="Arial" panose="020B0604020202020204" pitchFamily="34" charset="0"/>
              <a:buChar char="•"/>
            </a:pPr>
            <a:r>
              <a:rPr lang="en-US" sz="1600" b="1" dirty="0">
                <a:solidFill>
                  <a:schemeClr val="tx1"/>
                </a:solidFill>
              </a:rPr>
              <a:t>Blog</a:t>
            </a:r>
          </a:p>
          <a:p>
            <a:pPr algn="ctr">
              <a:buFont typeface="Arial" panose="020B0604020202020204" pitchFamily="34" charset="0"/>
              <a:buChar char="•"/>
            </a:pPr>
            <a:r>
              <a:rPr lang="en-US" sz="1600" b="1" dirty="0">
                <a:solidFill>
                  <a:schemeClr val="tx1"/>
                </a:solidFill>
              </a:rPr>
              <a:t>Word of Mouth</a:t>
            </a:r>
          </a:p>
          <a:p>
            <a:pPr algn="ctr">
              <a:buFont typeface="Arial" panose="020B0604020202020204" pitchFamily="34" charset="0"/>
              <a:buChar char="•"/>
            </a:pPr>
            <a:r>
              <a:rPr lang="en-US" sz="1600" b="1" dirty="0">
                <a:solidFill>
                  <a:schemeClr val="tx1"/>
                </a:solidFill>
              </a:rPr>
              <a:t>Engage</a:t>
            </a:r>
          </a:p>
          <a:p>
            <a:pPr algn="ctr">
              <a:buFont typeface="Arial" panose="020B0604020202020204" pitchFamily="34" charset="0"/>
              <a:buChar char="•"/>
            </a:pPr>
            <a:r>
              <a:rPr lang="en-US" sz="1600" b="1" dirty="0">
                <a:solidFill>
                  <a:schemeClr val="tx1"/>
                </a:solidFill>
              </a:rPr>
              <a:t>Recommend</a:t>
            </a:r>
          </a:p>
        </p:txBody>
      </p:sp>
      <p:sp>
        <p:nvSpPr>
          <p:cNvPr id="10" name="Arrow: Notched Right 9">
            <a:extLst>
              <a:ext uri="{FF2B5EF4-FFF2-40B4-BE49-F238E27FC236}">
                <a16:creationId xmlns:a16="http://schemas.microsoft.com/office/drawing/2014/main" id="{47219E3D-1227-4D69-90EF-E8D1FD5DA1DA}"/>
              </a:ext>
            </a:extLst>
          </p:cNvPr>
          <p:cNvSpPr/>
          <p:nvPr/>
        </p:nvSpPr>
        <p:spPr>
          <a:xfrm>
            <a:off x="2302301" y="3497344"/>
            <a:ext cx="883958" cy="55565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Notched Right 10">
            <a:extLst>
              <a:ext uri="{FF2B5EF4-FFF2-40B4-BE49-F238E27FC236}">
                <a16:creationId xmlns:a16="http://schemas.microsoft.com/office/drawing/2014/main" id="{2D7B8317-CE7E-4E55-B2BD-9B0D4775B65B}"/>
              </a:ext>
            </a:extLst>
          </p:cNvPr>
          <p:cNvSpPr/>
          <p:nvPr/>
        </p:nvSpPr>
        <p:spPr>
          <a:xfrm>
            <a:off x="4467132" y="3409624"/>
            <a:ext cx="883958" cy="55565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Notched Right 11">
            <a:extLst>
              <a:ext uri="{FF2B5EF4-FFF2-40B4-BE49-F238E27FC236}">
                <a16:creationId xmlns:a16="http://schemas.microsoft.com/office/drawing/2014/main" id="{B88FC91E-B30E-4596-A5DA-2351F27DC100}"/>
              </a:ext>
            </a:extLst>
          </p:cNvPr>
          <p:cNvSpPr/>
          <p:nvPr/>
        </p:nvSpPr>
        <p:spPr>
          <a:xfrm>
            <a:off x="6867716" y="3380750"/>
            <a:ext cx="883958" cy="55565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Notched Right 12">
            <a:extLst>
              <a:ext uri="{FF2B5EF4-FFF2-40B4-BE49-F238E27FC236}">
                <a16:creationId xmlns:a16="http://schemas.microsoft.com/office/drawing/2014/main" id="{B489339B-62A1-422D-8506-33C5DA6AD819}"/>
              </a:ext>
            </a:extLst>
          </p:cNvPr>
          <p:cNvSpPr/>
          <p:nvPr/>
        </p:nvSpPr>
        <p:spPr>
          <a:xfrm>
            <a:off x="8812399" y="3276078"/>
            <a:ext cx="883958" cy="55565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198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CA7F-E252-4783-A69C-D03D0EF11D17}"/>
              </a:ext>
            </a:extLst>
          </p:cNvPr>
          <p:cNvSpPr>
            <a:spLocks noGrp="1"/>
          </p:cNvSpPr>
          <p:nvPr>
            <p:ph type="title"/>
          </p:nvPr>
        </p:nvSpPr>
        <p:spPr/>
        <p:txBody>
          <a:bodyPr>
            <a:normAutofit/>
          </a:bodyPr>
          <a:lstStyle/>
          <a:p>
            <a:r>
              <a:rPr lang="en-US" dirty="0"/>
              <a:t>Understanding the Digital Customer Journey (Continue…)</a:t>
            </a:r>
          </a:p>
        </p:txBody>
      </p:sp>
      <p:sp>
        <p:nvSpPr>
          <p:cNvPr id="3" name="Content Placeholder 2">
            <a:extLst>
              <a:ext uri="{FF2B5EF4-FFF2-40B4-BE49-F238E27FC236}">
                <a16:creationId xmlns:a16="http://schemas.microsoft.com/office/drawing/2014/main" id="{03A2B7B2-6ABA-4780-BDD2-DA6013A3A97E}"/>
              </a:ext>
            </a:extLst>
          </p:cNvPr>
          <p:cNvSpPr>
            <a:spLocks noGrp="1"/>
          </p:cNvSpPr>
          <p:nvPr>
            <p:ph idx="1"/>
          </p:nvPr>
        </p:nvSpPr>
        <p:spPr/>
        <p:txBody>
          <a:bodyPr/>
          <a:lstStyle/>
          <a:p>
            <a:r>
              <a:rPr lang="en-US" b="1" dirty="0"/>
              <a:t>Awareness (Discovery Stage)</a:t>
            </a:r>
          </a:p>
          <a:p>
            <a:pPr lvl="1"/>
            <a:r>
              <a:rPr lang="en-US" b="1" dirty="0"/>
              <a:t>What happens:</a:t>
            </a:r>
            <a:r>
              <a:rPr lang="en-US" dirty="0"/>
              <a:t> The user realizes they have a problem or a need, and they </a:t>
            </a:r>
            <a:r>
              <a:rPr lang="en-US" b="1" dirty="0"/>
              <a:t>discover your brand online</a:t>
            </a:r>
            <a:r>
              <a:rPr lang="en-US" dirty="0"/>
              <a:t>.</a:t>
            </a:r>
          </a:p>
          <a:p>
            <a:pPr lvl="1"/>
            <a:r>
              <a:rPr lang="en-US" dirty="0"/>
              <a:t>When customer need something they search for it.</a:t>
            </a:r>
          </a:p>
          <a:p>
            <a:pPr lvl="1"/>
            <a:r>
              <a:rPr lang="en-US" b="1" dirty="0"/>
              <a:t>Example: </a:t>
            </a:r>
            <a:r>
              <a:rPr lang="en-US" dirty="0"/>
              <a:t>You realize that electric vehicle is pocket friendly, so you search on internet about electric vehicle. Here you will discover about different electric vehicle available in market.</a:t>
            </a:r>
          </a:p>
        </p:txBody>
      </p:sp>
      <p:pic>
        <p:nvPicPr>
          <p:cNvPr id="5" name="Picture 4">
            <a:extLst>
              <a:ext uri="{FF2B5EF4-FFF2-40B4-BE49-F238E27FC236}">
                <a16:creationId xmlns:a16="http://schemas.microsoft.com/office/drawing/2014/main" id="{CC29E48A-61B7-4CA4-A681-7691AA3E330C}"/>
              </a:ext>
            </a:extLst>
          </p:cNvPr>
          <p:cNvPicPr>
            <a:picLocks noChangeAspect="1"/>
          </p:cNvPicPr>
          <p:nvPr/>
        </p:nvPicPr>
        <p:blipFill>
          <a:blip r:embed="rId2"/>
          <a:stretch>
            <a:fillRect/>
          </a:stretch>
        </p:blipFill>
        <p:spPr>
          <a:xfrm>
            <a:off x="2299447" y="2567168"/>
            <a:ext cx="7593105" cy="4039084"/>
          </a:xfrm>
          <a:prstGeom prst="rect">
            <a:avLst/>
          </a:prstGeom>
        </p:spPr>
      </p:pic>
    </p:spTree>
    <p:extLst>
      <p:ext uri="{BB962C8B-B14F-4D97-AF65-F5344CB8AC3E}">
        <p14:creationId xmlns:p14="http://schemas.microsoft.com/office/powerpoint/2010/main" val="8662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80DA-12A3-4169-9ABF-E2FA515C9D70}"/>
              </a:ext>
            </a:extLst>
          </p:cNvPr>
          <p:cNvSpPr>
            <a:spLocks noGrp="1"/>
          </p:cNvSpPr>
          <p:nvPr>
            <p:ph type="title"/>
          </p:nvPr>
        </p:nvSpPr>
        <p:spPr/>
        <p:txBody>
          <a:bodyPr>
            <a:normAutofit/>
          </a:bodyPr>
          <a:lstStyle/>
          <a:p>
            <a:r>
              <a:rPr lang="en-US" dirty="0"/>
              <a:t>Understanding the Digital Customer Journey (Continue…)</a:t>
            </a:r>
          </a:p>
        </p:txBody>
      </p:sp>
      <p:sp>
        <p:nvSpPr>
          <p:cNvPr id="3" name="Content Placeholder 2">
            <a:extLst>
              <a:ext uri="{FF2B5EF4-FFF2-40B4-BE49-F238E27FC236}">
                <a16:creationId xmlns:a16="http://schemas.microsoft.com/office/drawing/2014/main" id="{7E0032B5-2A75-45FA-B9D5-389CEB962BFC}"/>
              </a:ext>
            </a:extLst>
          </p:cNvPr>
          <p:cNvSpPr>
            <a:spLocks noGrp="1"/>
          </p:cNvSpPr>
          <p:nvPr>
            <p:ph idx="1"/>
          </p:nvPr>
        </p:nvSpPr>
        <p:spPr/>
        <p:txBody>
          <a:bodyPr/>
          <a:lstStyle/>
          <a:p>
            <a:r>
              <a:rPr lang="en-US" b="1" dirty="0"/>
              <a:t>Interest (Evaluation Stage)</a:t>
            </a:r>
          </a:p>
          <a:p>
            <a:pPr lvl="1"/>
            <a:r>
              <a:rPr lang="en-US" b="1" dirty="0"/>
              <a:t>What happens:</a:t>
            </a:r>
            <a:r>
              <a:rPr lang="en-US" dirty="0"/>
              <a:t> The user </a:t>
            </a:r>
            <a:r>
              <a:rPr lang="en-US" b="1" dirty="0"/>
              <a:t>compares</a:t>
            </a:r>
            <a:r>
              <a:rPr lang="en-US" dirty="0"/>
              <a:t> your product with competitors. They read </a:t>
            </a:r>
            <a:r>
              <a:rPr lang="en-US" b="1" dirty="0"/>
              <a:t>reviews</a:t>
            </a:r>
            <a:r>
              <a:rPr lang="en-US" dirty="0"/>
              <a:t> and check features.</a:t>
            </a:r>
          </a:p>
          <a:p>
            <a:pPr lvl="1"/>
            <a:r>
              <a:rPr lang="en-US" dirty="0"/>
              <a:t>Customer check online reviews (Blogs, YouTube etc.), Compare products base on </a:t>
            </a:r>
          </a:p>
          <a:p>
            <a:pPr lvl="2"/>
            <a:r>
              <a:rPr lang="en-US" dirty="0"/>
              <a:t>Quality</a:t>
            </a:r>
          </a:p>
          <a:p>
            <a:pPr lvl="2"/>
            <a:r>
              <a:rPr lang="en-US" dirty="0"/>
              <a:t>Price</a:t>
            </a:r>
          </a:p>
          <a:p>
            <a:pPr lvl="2"/>
            <a:r>
              <a:rPr lang="en-US" dirty="0"/>
              <a:t>Quantity, etc.</a:t>
            </a:r>
          </a:p>
          <a:p>
            <a:r>
              <a:rPr lang="en-US" b="1" dirty="0"/>
              <a:t>Example: </a:t>
            </a:r>
            <a:r>
              <a:rPr lang="en-US" dirty="0"/>
              <a:t>You want to purchase a Scooter, you will compare, prices, Milage, Brand, After sales service, color &amp; other features of different scooter before deciding.</a:t>
            </a:r>
          </a:p>
        </p:txBody>
      </p:sp>
      <p:pic>
        <p:nvPicPr>
          <p:cNvPr id="5" name="Picture 4">
            <a:extLst>
              <a:ext uri="{FF2B5EF4-FFF2-40B4-BE49-F238E27FC236}">
                <a16:creationId xmlns:a16="http://schemas.microsoft.com/office/drawing/2014/main" id="{235097A1-1118-4747-9272-8132869CEBD8}"/>
              </a:ext>
            </a:extLst>
          </p:cNvPr>
          <p:cNvPicPr>
            <a:picLocks noChangeAspect="1"/>
          </p:cNvPicPr>
          <p:nvPr/>
        </p:nvPicPr>
        <p:blipFill>
          <a:blip r:embed="rId2"/>
          <a:stretch>
            <a:fillRect/>
          </a:stretch>
        </p:blipFill>
        <p:spPr>
          <a:xfrm>
            <a:off x="3472216" y="3689841"/>
            <a:ext cx="5247568" cy="2916411"/>
          </a:xfrm>
          <a:prstGeom prst="rect">
            <a:avLst/>
          </a:prstGeom>
        </p:spPr>
      </p:pic>
    </p:spTree>
    <p:extLst>
      <p:ext uri="{BB962C8B-B14F-4D97-AF65-F5344CB8AC3E}">
        <p14:creationId xmlns:p14="http://schemas.microsoft.com/office/powerpoint/2010/main" val="203262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E3384-2C35-489D-B6C2-305DF97A831A}"/>
              </a:ext>
            </a:extLst>
          </p:cNvPr>
          <p:cNvSpPr>
            <a:spLocks noGrp="1"/>
          </p:cNvSpPr>
          <p:nvPr>
            <p:ph type="title"/>
          </p:nvPr>
        </p:nvSpPr>
        <p:spPr/>
        <p:txBody>
          <a:bodyPr>
            <a:normAutofit/>
          </a:bodyPr>
          <a:lstStyle/>
          <a:p>
            <a:r>
              <a:rPr lang="en-US" dirty="0"/>
              <a:t>Understanding the Digital Customer Journey (Continue…)</a:t>
            </a:r>
          </a:p>
        </p:txBody>
      </p:sp>
      <p:sp>
        <p:nvSpPr>
          <p:cNvPr id="3" name="Content Placeholder 2">
            <a:extLst>
              <a:ext uri="{FF2B5EF4-FFF2-40B4-BE49-F238E27FC236}">
                <a16:creationId xmlns:a16="http://schemas.microsoft.com/office/drawing/2014/main" id="{E50732F6-4558-43FF-920D-0BC348147FCE}"/>
              </a:ext>
            </a:extLst>
          </p:cNvPr>
          <p:cNvSpPr>
            <a:spLocks noGrp="1"/>
          </p:cNvSpPr>
          <p:nvPr>
            <p:ph idx="1"/>
          </p:nvPr>
        </p:nvSpPr>
        <p:spPr/>
        <p:txBody>
          <a:bodyPr/>
          <a:lstStyle/>
          <a:p>
            <a:r>
              <a:rPr lang="en-US" b="1" dirty="0"/>
              <a:t>Purchase (Conversion Stage)</a:t>
            </a:r>
          </a:p>
          <a:p>
            <a:r>
              <a:rPr lang="en-US" b="1" dirty="0"/>
              <a:t>What happens:</a:t>
            </a:r>
            <a:r>
              <a:rPr lang="en-US" dirty="0"/>
              <a:t> The user decides to </a:t>
            </a:r>
            <a:r>
              <a:rPr lang="en-US" b="1" dirty="0"/>
              <a:t>buy</a:t>
            </a:r>
            <a:r>
              <a:rPr lang="en-US" dirty="0"/>
              <a:t> the product or sign up for the service.</a:t>
            </a:r>
            <a:endParaRPr lang="en-US" b="1" dirty="0"/>
          </a:p>
          <a:p>
            <a:pPr lvl="1"/>
            <a:r>
              <a:rPr lang="en-US" dirty="0"/>
              <a:t>Website checkout, mobile app payment gateway (UPI, Net banking).</a:t>
            </a:r>
          </a:p>
          <a:p>
            <a:r>
              <a:rPr lang="en-US" b="1" dirty="0"/>
              <a:t>Example: </a:t>
            </a:r>
            <a:r>
              <a:rPr lang="en-US" dirty="0"/>
              <a:t>Once you select electric scooter that you like, you will head to the official website to book the order to purchase.</a:t>
            </a:r>
            <a:endParaRPr lang="en-US" b="1" dirty="0"/>
          </a:p>
        </p:txBody>
      </p:sp>
      <p:pic>
        <p:nvPicPr>
          <p:cNvPr id="5" name="Picture 4">
            <a:extLst>
              <a:ext uri="{FF2B5EF4-FFF2-40B4-BE49-F238E27FC236}">
                <a16:creationId xmlns:a16="http://schemas.microsoft.com/office/drawing/2014/main" id="{4A04FF09-8AE1-4F99-87CC-8353EA0BEC98}"/>
              </a:ext>
            </a:extLst>
          </p:cNvPr>
          <p:cNvPicPr>
            <a:picLocks noChangeAspect="1"/>
          </p:cNvPicPr>
          <p:nvPr/>
        </p:nvPicPr>
        <p:blipFill>
          <a:blip r:embed="rId2"/>
          <a:stretch>
            <a:fillRect/>
          </a:stretch>
        </p:blipFill>
        <p:spPr>
          <a:xfrm>
            <a:off x="2126698" y="3192087"/>
            <a:ext cx="7938604" cy="3261922"/>
          </a:xfrm>
          <a:prstGeom prst="rect">
            <a:avLst/>
          </a:prstGeom>
        </p:spPr>
      </p:pic>
    </p:spTree>
    <p:extLst>
      <p:ext uri="{BB962C8B-B14F-4D97-AF65-F5344CB8AC3E}">
        <p14:creationId xmlns:p14="http://schemas.microsoft.com/office/powerpoint/2010/main" val="407076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8F25-0CA2-4D15-9697-44AC35939F18}"/>
              </a:ext>
            </a:extLst>
          </p:cNvPr>
          <p:cNvSpPr>
            <a:spLocks noGrp="1"/>
          </p:cNvSpPr>
          <p:nvPr>
            <p:ph type="title"/>
          </p:nvPr>
        </p:nvSpPr>
        <p:spPr/>
        <p:txBody>
          <a:bodyPr>
            <a:normAutofit/>
          </a:bodyPr>
          <a:lstStyle/>
          <a:p>
            <a:r>
              <a:rPr lang="en-US" dirty="0"/>
              <a:t>Understanding the Digital Customer Journey (Continue…)</a:t>
            </a:r>
          </a:p>
        </p:txBody>
      </p:sp>
      <p:sp>
        <p:nvSpPr>
          <p:cNvPr id="3" name="Content Placeholder 2">
            <a:extLst>
              <a:ext uri="{FF2B5EF4-FFF2-40B4-BE49-F238E27FC236}">
                <a16:creationId xmlns:a16="http://schemas.microsoft.com/office/drawing/2014/main" id="{BBB5E371-FA7A-4646-AB0B-D07CF1796C42}"/>
              </a:ext>
            </a:extLst>
          </p:cNvPr>
          <p:cNvSpPr>
            <a:spLocks noGrp="1"/>
          </p:cNvSpPr>
          <p:nvPr>
            <p:ph idx="1"/>
          </p:nvPr>
        </p:nvSpPr>
        <p:spPr/>
        <p:txBody>
          <a:bodyPr/>
          <a:lstStyle/>
          <a:p>
            <a:r>
              <a:rPr lang="en-US" b="1" dirty="0"/>
              <a:t>Retention (Engagement Stage)</a:t>
            </a:r>
          </a:p>
          <a:p>
            <a:r>
              <a:rPr lang="en-US" b="1" dirty="0"/>
              <a:t>What happens:</a:t>
            </a:r>
            <a:r>
              <a:rPr lang="en-US" dirty="0"/>
              <a:t> The customer uses the product. The business </a:t>
            </a:r>
            <a:r>
              <a:rPr lang="en-US" b="1" dirty="0"/>
              <a:t>sends updates </a:t>
            </a:r>
            <a:r>
              <a:rPr lang="en-US" dirty="0"/>
              <a:t>to make sure the user stays active.</a:t>
            </a:r>
          </a:p>
          <a:p>
            <a:r>
              <a:rPr lang="en-US" dirty="0"/>
              <a:t>Notifications, automated emails, </a:t>
            </a:r>
            <a:r>
              <a:rPr lang="en-US" b="1" dirty="0"/>
              <a:t>customer care</a:t>
            </a:r>
            <a:r>
              <a:rPr lang="en-US" dirty="0"/>
              <a:t> calls, after sales service.</a:t>
            </a:r>
          </a:p>
          <a:p>
            <a:r>
              <a:rPr lang="en-US" dirty="0"/>
              <a:t>Example: Ola Provides Next Generation Service so customer does not switch to other brands in future, this is retention of customer.</a:t>
            </a:r>
          </a:p>
          <a:p>
            <a:endParaRPr lang="en-US" dirty="0"/>
          </a:p>
        </p:txBody>
      </p:sp>
      <p:pic>
        <p:nvPicPr>
          <p:cNvPr id="5" name="Picture 4">
            <a:extLst>
              <a:ext uri="{FF2B5EF4-FFF2-40B4-BE49-F238E27FC236}">
                <a16:creationId xmlns:a16="http://schemas.microsoft.com/office/drawing/2014/main" id="{E0D555D3-72D4-4714-B08E-5BBF2B2ECD4F}"/>
              </a:ext>
            </a:extLst>
          </p:cNvPr>
          <p:cNvPicPr>
            <a:picLocks noChangeAspect="1"/>
          </p:cNvPicPr>
          <p:nvPr/>
        </p:nvPicPr>
        <p:blipFill>
          <a:blip r:embed="rId2"/>
          <a:stretch>
            <a:fillRect/>
          </a:stretch>
        </p:blipFill>
        <p:spPr>
          <a:xfrm>
            <a:off x="2252749" y="3391436"/>
            <a:ext cx="7686502" cy="3151753"/>
          </a:xfrm>
          <a:prstGeom prst="rect">
            <a:avLst/>
          </a:prstGeom>
        </p:spPr>
      </p:pic>
    </p:spTree>
    <p:extLst>
      <p:ext uri="{BB962C8B-B14F-4D97-AF65-F5344CB8AC3E}">
        <p14:creationId xmlns:p14="http://schemas.microsoft.com/office/powerpoint/2010/main" val="159175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140E-771E-4457-AFF6-92694A7F91E3}"/>
              </a:ext>
            </a:extLst>
          </p:cNvPr>
          <p:cNvSpPr>
            <a:spLocks noGrp="1"/>
          </p:cNvSpPr>
          <p:nvPr>
            <p:ph type="title"/>
          </p:nvPr>
        </p:nvSpPr>
        <p:spPr/>
        <p:txBody>
          <a:bodyPr>
            <a:normAutofit/>
          </a:bodyPr>
          <a:lstStyle/>
          <a:p>
            <a:r>
              <a:rPr lang="en-US" dirty="0"/>
              <a:t>Understanding the Digital Customer Journey (Continue…)</a:t>
            </a:r>
          </a:p>
        </p:txBody>
      </p:sp>
      <p:sp>
        <p:nvSpPr>
          <p:cNvPr id="3" name="Content Placeholder 2">
            <a:extLst>
              <a:ext uri="{FF2B5EF4-FFF2-40B4-BE49-F238E27FC236}">
                <a16:creationId xmlns:a16="http://schemas.microsoft.com/office/drawing/2014/main" id="{BCE30B5E-272C-47C3-8DF7-5BD948096C06}"/>
              </a:ext>
            </a:extLst>
          </p:cNvPr>
          <p:cNvSpPr>
            <a:spLocks noGrp="1"/>
          </p:cNvSpPr>
          <p:nvPr>
            <p:ph idx="1"/>
          </p:nvPr>
        </p:nvSpPr>
        <p:spPr/>
        <p:txBody>
          <a:bodyPr/>
          <a:lstStyle/>
          <a:p>
            <a:r>
              <a:rPr lang="en-US" b="1" dirty="0"/>
              <a:t>Advocacy (Loyalty Stage)</a:t>
            </a:r>
          </a:p>
          <a:p>
            <a:pPr lvl="1"/>
            <a:r>
              <a:rPr lang="en-US" b="1" dirty="0"/>
              <a:t>What happens:</a:t>
            </a:r>
            <a:r>
              <a:rPr lang="en-US" dirty="0"/>
              <a:t> The customer loves the product so much that they tell their friends and write </a:t>
            </a:r>
            <a:r>
              <a:rPr lang="en-US" b="1" dirty="0"/>
              <a:t>good reviews </a:t>
            </a:r>
            <a:r>
              <a:rPr lang="en-US" dirty="0"/>
              <a:t>online.</a:t>
            </a:r>
          </a:p>
          <a:p>
            <a:pPr lvl="1"/>
            <a:r>
              <a:rPr lang="en-US" dirty="0"/>
              <a:t>Posting on social media, writing reviews on Google.</a:t>
            </a:r>
          </a:p>
          <a:p>
            <a:r>
              <a:rPr lang="en-US" b="1" dirty="0"/>
              <a:t>Example: </a:t>
            </a:r>
            <a:r>
              <a:rPr lang="en-US" dirty="0"/>
              <a:t>You liked the Scooter very much that you start suggesting your relatives and friend to purchase Electric scooter. You share photos of your scooter on social media, and give positive feedback.</a:t>
            </a:r>
          </a:p>
          <a:p>
            <a:endParaRPr lang="en-US" dirty="0"/>
          </a:p>
          <a:p>
            <a:endParaRPr lang="en-US" b="1" dirty="0"/>
          </a:p>
          <a:p>
            <a:pPr marL="0" indent="0">
              <a:buNone/>
            </a:pPr>
            <a:endParaRPr lang="en-US" dirty="0"/>
          </a:p>
        </p:txBody>
      </p:sp>
      <p:pic>
        <p:nvPicPr>
          <p:cNvPr id="5" name="Picture 4">
            <a:extLst>
              <a:ext uri="{FF2B5EF4-FFF2-40B4-BE49-F238E27FC236}">
                <a16:creationId xmlns:a16="http://schemas.microsoft.com/office/drawing/2014/main" id="{709C0EE2-F8F6-41A4-919B-F7E4881FE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1453" y="3042458"/>
            <a:ext cx="1989094" cy="3563794"/>
          </a:xfrm>
          <a:prstGeom prst="rect">
            <a:avLst/>
          </a:prstGeom>
        </p:spPr>
      </p:pic>
    </p:spTree>
    <p:extLst>
      <p:ext uri="{BB962C8B-B14F-4D97-AF65-F5344CB8AC3E}">
        <p14:creationId xmlns:p14="http://schemas.microsoft.com/office/powerpoint/2010/main" val="251910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07EB-8412-43FB-8CBE-3812F5805636}"/>
              </a:ext>
            </a:extLst>
          </p:cNvPr>
          <p:cNvSpPr>
            <a:spLocks noGrp="1"/>
          </p:cNvSpPr>
          <p:nvPr>
            <p:ph type="title"/>
          </p:nvPr>
        </p:nvSpPr>
        <p:spPr/>
        <p:txBody>
          <a:bodyPr/>
          <a:lstStyle/>
          <a:p>
            <a:r>
              <a:rPr lang="en-US" sz="6000" dirty="0"/>
              <a:t>Digital Marketing Components and Frameworks</a:t>
            </a:r>
            <a:endParaRPr lang="en-US" dirty="0"/>
          </a:p>
        </p:txBody>
      </p:sp>
      <p:sp>
        <p:nvSpPr>
          <p:cNvPr id="3" name="Text Placeholder 2">
            <a:extLst>
              <a:ext uri="{FF2B5EF4-FFF2-40B4-BE49-F238E27FC236}">
                <a16:creationId xmlns:a16="http://schemas.microsoft.com/office/drawing/2014/main" id="{52C82B99-4CD6-4482-A8A9-C884DC04F0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27280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B427167-C041-4A66-B7EE-5BDE5B0E193B}"/>
              </a:ext>
            </a:extLst>
          </p:cNvPr>
          <p:cNvSpPr>
            <a:spLocks noGrp="1"/>
          </p:cNvSpPr>
          <p:nvPr>
            <p:ph idx="1"/>
          </p:nvPr>
        </p:nvSpPr>
        <p:spPr/>
        <p:txBody>
          <a:bodyPr/>
          <a:lstStyle/>
          <a:p>
            <a:r>
              <a:rPr lang="en-US" b="1" dirty="0">
                <a:solidFill>
                  <a:srgbClr val="C00000"/>
                </a:solidFill>
              </a:rPr>
              <a:t>Key Components of Digital Marketing:</a:t>
            </a:r>
          </a:p>
          <a:p>
            <a:endParaRPr lang="en-US" dirty="0"/>
          </a:p>
        </p:txBody>
      </p:sp>
      <p:sp>
        <p:nvSpPr>
          <p:cNvPr id="2" name="Title 1">
            <a:extLst>
              <a:ext uri="{FF2B5EF4-FFF2-40B4-BE49-F238E27FC236}">
                <a16:creationId xmlns:a16="http://schemas.microsoft.com/office/drawing/2014/main" id="{090711E4-1447-4C2A-BC73-CB5FC8B46CF7}"/>
              </a:ext>
            </a:extLst>
          </p:cNvPr>
          <p:cNvSpPr>
            <a:spLocks noGrp="1"/>
          </p:cNvSpPr>
          <p:nvPr>
            <p:ph type="title"/>
          </p:nvPr>
        </p:nvSpPr>
        <p:spPr/>
        <p:txBody>
          <a:bodyPr>
            <a:normAutofit/>
          </a:bodyPr>
          <a:lstStyle/>
          <a:p>
            <a:r>
              <a:rPr lang="en-US" dirty="0"/>
              <a:t>Digital Marketing Components and Frameworks</a:t>
            </a:r>
          </a:p>
        </p:txBody>
      </p:sp>
      <p:graphicFrame>
        <p:nvGraphicFramePr>
          <p:cNvPr id="6" name="Diagram 5">
            <a:extLst>
              <a:ext uri="{FF2B5EF4-FFF2-40B4-BE49-F238E27FC236}">
                <a16:creationId xmlns:a16="http://schemas.microsoft.com/office/drawing/2014/main" id="{388EB349-A082-4782-B6D7-8AF8D9FAFF68}"/>
              </a:ext>
            </a:extLst>
          </p:cNvPr>
          <p:cNvGraphicFramePr/>
          <p:nvPr>
            <p:extLst>
              <p:ext uri="{D42A27DB-BD31-4B8C-83A1-F6EECF244321}">
                <p14:modId xmlns:p14="http://schemas.microsoft.com/office/powerpoint/2010/main" val="2903526125"/>
              </p:ext>
            </p:extLst>
          </p:nvPr>
        </p:nvGraphicFramePr>
        <p:xfrm>
          <a:off x="864524" y="719666"/>
          <a:ext cx="10174263" cy="5880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6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0B357C4D-56A4-4922-8599-3669B981D66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E4F78CB9-DF12-412F-8CB3-A1DFD1C233B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3E8A39C0-DD73-4606-AC90-AF53D2E34056}"/>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5D253248-06E2-40AB-83A6-D98ECE886DE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E44355A0-BD21-4B96-BD2C-EC190D22175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01FC1486-A0D2-4417-A408-492C39760E06}"/>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graphicEl>
                                              <a:dgm id="{B76F2A0A-98B4-4173-87B9-D46BEB25B61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 1. Search Engine Optimization (SEO)</a:t>
            </a:r>
            <a:endParaRPr lang="en-US" dirty="0"/>
          </a:p>
          <a:p>
            <a:pPr lvl="1"/>
            <a:r>
              <a:rPr lang="en-US" dirty="0"/>
              <a:t>SEO is the process of improving a </a:t>
            </a:r>
            <a:r>
              <a:rPr lang="en-US" b="1" dirty="0"/>
              <a:t>website's ranking </a:t>
            </a:r>
            <a:r>
              <a:rPr lang="en-US" dirty="0"/>
              <a:t>on search engines like Google.</a:t>
            </a:r>
          </a:p>
          <a:p>
            <a:pPr lvl="1"/>
            <a:r>
              <a:rPr lang="en-US" dirty="0"/>
              <a:t>It helps businesses appear in </a:t>
            </a:r>
            <a:r>
              <a:rPr lang="en-US" b="1" dirty="0"/>
              <a:t>search results </a:t>
            </a:r>
            <a:r>
              <a:rPr lang="en-US" dirty="0"/>
              <a:t>when users look for </a:t>
            </a:r>
            <a:r>
              <a:rPr lang="en-US" b="1" dirty="0"/>
              <a:t>related products or services</a:t>
            </a:r>
            <a:r>
              <a:rPr lang="en-US" dirty="0"/>
              <a:t>.</a:t>
            </a:r>
          </a:p>
          <a:p>
            <a:pPr lvl="1"/>
            <a:r>
              <a:rPr lang="en-US" dirty="0"/>
              <a:t>Better rankings increase </a:t>
            </a:r>
            <a:r>
              <a:rPr lang="en-US" b="1" dirty="0"/>
              <a:t>website traffic and brand visibility</a:t>
            </a:r>
            <a:r>
              <a:rPr lang="en-US" dirty="0"/>
              <a:t>.</a:t>
            </a:r>
          </a:p>
          <a:p>
            <a:pPr lvl="1"/>
            <a:r>
              <a:rPr lang="en-US" b="1" dirty="0"/>
              <a:t>SEO focuse</a:t>
            </a:r>
            <a:r>
              <a:rPr lang="en-US" dirty="0"/>
              <a:t>s on keywords, content quality, and website performance.</a:t>
            </a:r>
          </a:p>
          <a:p>
            <a:pPr lvl="1"/>
            <a:r>
              <a:rPr lang="en-US" b="1" dirty="0"/>
              <a:t>Example: </a:t>
            </a:r>
            <a:r>
              <a:rPr lang="en-US" dirty="0"/>
              <a:t>Imagine a bakery that wants to sell more chocolate cakes. If their website just says "Welcome to our shop," they stay hidden on page 5 of Google. </a:t>
            </a:r>
          </a:p>
          <a:p>
            <a:pPr lvl="1"/>
            <a:r>
              <a:rPr lang="en-US" dirty="0"/>
              <a:t>But if they change their website title to "Best Chocolate Cakes in Rajkot" and make the page load fast, Google pushes them to the #1 spot so everyone hungry for cake finds them first.</a:t>
            </a:r>
          </a:p>
          <a:p>
            <a:endParaRPr lang="en-US" dirty="0"/>
          </a:p>
        </p:txBody>
      </p:sp>
      <p:pic>
        <p:nvPicPr>
          <p:cNvPr id="5" name="Picture 4">
            <a:extLst>
              <a:ext uri="{FF2B5EF4-FFF2-40B4-BE49-F238E27FC236}">
                <a16:creationId xmlns:a16="http://schemas.microsoft.com/office/drawing/2014/main" id="{18CE3016-1DEA-41AD-AC98-77B9E661AD68}"/>
              </a:ext>
            </a:extLst>
          </p:cNvPr>
          <p:cNvPicPr>
            <a:picLocks noChangeAspect="1"/>
          </p:cNvPicPr>
          <p:nvPr/>
        </p:nvPicPr>
        <p:blipFill rotWithShape="1">
          <a:blip r:embed="rId2">
            <a:extLst>
              <a:ext uri="{28A0092B-C50C-407E-A947-70E740481C1C}">
                <a14:useLocalDpi xmlns:a14="http://schemas.microsoft.com/office/drawing/2010/main" val="0"/>
              </a:ext>
            </a:extLst>
          </a:blip>
          <a:srcRect t="13514" b="7243"/>
          <a:stretch/>
        </p:blipFill>
        <p:spPr>
          <a:xfrm>
            <a:off x="3395175" y="3807229"/>
            <a:ext cx="5401650" cy="2799023"/>
          </a:xfrm>
          <a:prstGeom prst="rect">
            <a:avLst/>
          </a:prstGeom>
        </p:spPr>
      </p:pic>
    </p:spTree>
    <p:extLst>
      <p:ext uri="{BB962C8B-B14F-4D97-AF65-F5344CB8AC3E}">
        <p14:creationId xmlns:p14="http://schemas.microsoft.com/office/powerpoint/2010/main" val="7094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2. Content Marketing</a:t>
            </a:r>
          </a:p>
          <a:p>
            <a:pPr lvl="1"/>
            <a:r>
              <a:rPr lang="en-US" dirty="0"/>
              <a:t>Content marketing involves </a:t>
            </a:r>
            <a:r>
              <a:rPr lang="en-US" b="1" dirty="0"/>
              <a:t>creating and sharing </a:t>
            </a:r>
            <a:r>
              <a:rPr lang="en-US" dirty="0"/>
              <a:t>useful information for customers.</a:t>
            </a:r>
          </a:p>
          <a:p>
            <a:pPr lvl="1"/>
            <a:r>
              <a:rPr lang="en-US" dirty="0"/>
              <a:t>Common content formats include </a:t>
            </a:r>
            <a:r>
              <a:rPr lang="en-US" b="1" dirty="0"/>
              <a:t>blogs, videos, articles, infographics, and e-books.</a:t>
            </a:r>
          </a:p>
          <a:p>
            <a:pPr lvl="1"/>
            <a:r>
              <a:rPr lang="en-US" dirty="0"/>
              <a:t>It helps attract, educate, and engage potential customers.</a:t>
            </a:r>
          </a:p>
          <a:p>
            <a:pPr lvl="1"/>
            <a:r>
              <a:rPr lang="en-US" dirty="0"/>
              <a:t>Good content builds trust and strengthens the brand image.</a:t>
            </a:r>
          </a:p>
          <a:p>
            <a:endParaRPr lang="en-US" dirty="0"/>
          </a:p>
        </p:txBody>
      </p:sp>
      <p:pic>
        <p:nvPicPr>
          <p:cNvPr id="5" name="Picture 4">
            <a:extLst>
              <a:ext uri="{FF2B5EF4-FFF2-40B4-BE49-F238E27FC236}">
                <a16:creationId xmlns:a16="http://schemas.microsoft.com/office/drawing/2014/main" id="{A0410633-8DA9-4DB1-8A2F-D0EA4A5C79B3}"/>
              </a:ext>
            </a:extLst>
          </p:cNvPr>
          <p:cNvPicPr>
            <a:picLocks noChangeAspect="1"/>
          </p:cNvPicPr>
          <p:nvPr/>
        </p:nvPicPr>
        <p:blipFill rotWithShape="1">
          <a:blip r:embed="rId2">
            <a:extLst>
              <a:ext uri="{28A0092B-C50C-407E-A947-70E740481C1C}">
                <a14:useLocalDpi xmlns:a14="http://schemas.microsoft.com/office/drawing/2010/main" val="0"/>
              </a:ext>
            </a:extLst>
          </a:blip>
          <a:srcRect l="6374" t="19065" r="3624" b="5752"/>
          <a:stretch/>
        </p:blipFill>
        <p:spPr>
          <a:xfrm>
            <a:off x="3125585" y="2661481"/>
            <a:ext cx="6516964" cy="3944771"/>
          </a:xfrm>
          <a:prstGeom prst="rect">
            <a:avLst/>
          </a:prstGeom>
        </p:spPr>
      </p:pic>
    </p:spTree>
    <p:extLst>
      <p:ext uri="{BB962C8B-B14F-4D97-AF65-F5344CB8AC3E}">
        <p14:creationId xmlns:p14="http://schemas.microsoft.com/office/powerpoint/2010/main" val="155739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3. Email Marketing</a:t>
            </a:r>
            <a:endParaRPr lang="en-US" dirty="0"/>
          </a:p>
          <a:p>
            <a:pPr lvl="1"/>
            <a:r>
              <a:rPr lang="en-US" dirty="0"/>
              <a:t>Email marketing involves sending </a:t>
            </a:r>
            <a:r>
              <a:rPr lang="en-US" b="1" dirty="0"/>
              <a:t>promotional and informational emails </a:t>
            </a:r>
            <a:r>
              <a:rPr lang="en-US" dirty="0"/>
              <a:t>to customers.</a:t>
            </a:r>
          </a:p>
          <a:p>
            <a:pPr lvl="1"/>
            <a:r>
              <a:rPr lang="en-US" dirty="0"/>
              <a:t>It is used to share </a:t>
            </a:r>
            <a:r>
              <a:rPr lang="en-US" b="1" dirty="0"/>
              <a:t>offers, updates, newsletters, and announcements.</a:t>
            </a:r>
          </a:p>
          <a:p>
            <a:pPr lvl="1"/>
            <a:r>
              <a:rPr lang="en-US" dirty="0"/>
              <a:t>Businesses can maintain regular communication with their audience.</a:t>
            </a:r>
          </a:p>
          <a:p>
            <a:pPr lvl="1"/>
            <a:r>
              <a:rPr lang="en-US" dirty="0"/>
              <a:t>It helps improve customer relationships and encourage repeat purchases.</a:t>
            </a:r>
          </a:p>
          <a:p>
            <a:endParaRPr lang="en-US" dirty="0"/>
          </a:p>
        </p:txBody>
      </p:sp>
      <p:pic>
        <p:nvPicPr>
          <p:cNvPr id="5" name="Picture 4">
            <a:extLst>
              <a:ext uri="{FF2B5EF4-FFF2-40B4-BE49-F238E27FC236}">
                <a16:creationId xmlns:a16="http://schemas.microsoft.com/office/drawing/2014/main" id="{A28F7953-20A6-412A-A387-91E539F36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0885" y="1751907"/>
            <a:ext cx="2939935" cy="2204951"/>
          </a:xfrm>
          <a:prstGeom prst="rect">
            <a:avLst/>
          </a:prstGeom>
        </p:spPr>
      </p:pic>
      <p:pic>
        <p:nvPicPr>
          <p:cNvPr id="7" name="Picture 6">
            <a:extLst>
              <a:ext uri="{FF2B5EF4-FFF2-40B4-BE49-F238E27FC236}">
                <a16:creationId xmlns:a16="http://schemas.microsoft.com/office/drawing/2014/main" id="{606B4B7A-2165-44C6-9376-B9B6F9928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2793" y="2767317"/>
            <a:ext cx="6641968" cy="3838935"/>
          </a:xfrm>
          <a:prstGeom prst="rect">
            <a:avLst/>
          </a:prstGeom>
        </p:spPr>
      </p:pic>
    </p:spTree>
    <p:extLst>
      <p:ext uri="{BB962C8B-B14F-4D97-AF65-F5344CB8AC3E}">
        <p14:creationId xmlns:p14="http://schemas.microsoft.com/office/powerpoint/2010/main" val="305647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3. Social Media Marketing (SMM)</a:t>
            </a:r>
          </a:p>
          <a:p>
            <a:pPr lvl="1"/>
            <a:r>
              <a:rPr lang="en-US" dirty="0"/>
              <a:t>Social media marketing uses platforms such as </a:t>
            </a:r>
          </a:p>
          <a:p>
            <a:pPr lvl="2"/>
            <a:r>
              <a:rPr lang="en-US" dirty="0"/>
              <a:t>Facebook</a:t>
            </a:r>
          </a:p>
          <a:p>
            <a:pPr lvl="2"/>
            <a:r>
              <a:rPr lang="en-US" dirty="0"/>
              <a:t>Instagram </a:t>
            </a:r>
          </a:p>
          <a:p>
            <a:pPr lvl="2"/>
            <a:r>
              <a:rPr lang="en-US" dirty="0"/>
              <a:t>LinkedIn</a:t>
            </a:r>
          </a:p>
          <a:p>
            <a:pPr lvl="2"/>
            <a:r>
              <a:rPr lang="en-US" dirty="0"/>
              <a:t>X.</a:t>
            </a:r>
          </a:p>
          <a:p>
            <a:pPr lvl="1"/>
            <a:r>
              <a:rPr lang="en-US" dirty="0"/>
              <a:t>Businesses </a:t>
            </a:r>
            <a:r>
              <a:rPr lang="en-US" b="1" dirty="0"/>
              <a:t>share content, interact with customers, and promote products online.</a:t>
            </a:r>
          </a:p>
          <a:p>
            <a:pPr lvl="1"/>
            <a:r>
              <a:rPr lang="en-US" dirty="0"/>
              <a:t>It helps increase brand awareness and customer engagement.</a:t>
            </a:r>
          </a:p>
          <a:p>
            <a:pPr lvl="1"/>
            <a:r>
              <a:rPr lang="en-US" dirty="0"/>
              <a:t>Social media also allows businesses to run targeted advertisements.</a:t>
            </a:r>
          </a:p>
          <a:p>
            <a:endParaRPr lang="en-US" dirty="0"/>
          </a:p>
          <a:p>
            <a:endParaRPr lang="en-US" dirty="0"/>
          </a:p>
        </p:txBody>
      </p:sp>
      <p:pic>
        <p:nvPicPr>
          <p:cNvPr id="7" name="Picture 6">
            <a:extLst>
              <a:ext uri="{FF2B5EF4-FFF2-40B4-BE49-F238E27FC236}">
                <a16:creationId xmlns:a16="http://schemas.microsoft.com/office/drawing/2014/main" id="{5BD4CB54-312B-418C-A6B3-45B75E6E18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2580" y="3843998"/>
            <a:ext cx="2662286" cy="2662286"/>
          </a:xfrm>
          <a:prstGeom prst="rect">
            <a:avLst/>
          </a:prstGeom>
        </p:spPr>
      </p:pic>
      <p:pic>
        <p:nvPicPr>
          <p:cNvPr id="9" name="Picture 8">
            <a:extLst>
              <a:ext uri="{FF2B5EF4-FFF2-40B4-BE49-F238E27FC236}">
                <a16:creationId xmlns:a16="http://schemas.microsoft.com/office/drawing/2014/main" id="{187EAAF5-C3BD-4EFD-BDDB-BFD619059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6441" y="4133808"/>
            <a:ext cx="2225782" cy="1669337"/>
          </a:xfrm>
          <a:prstGeom prst="rect">
            <a:avLst/>
          </a:prstGeom>
        </p:spPr>
      </p:pic>
      <p:pic>
        <p:nvPicPr>
          <p:cNvPr id="11" name="Picture 10">
            <a:extLst>
              <a:ext uri="{FF2B5EF4-FFF2-40B4-BE49-F238E27FC236}">
                <a16:creationId xmlns:a16="http://schemas.microsoft.com/office/drawing/2014/main" id="{EF0DB912-AC8D-414E-8525-3806F5179A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6433" y="4133808"/>
            <a:ext cx="3158448" cy="2206419"/>
          </a:xfrm>
          <a:prstGeom prst="rect">
            <a:avLst/>
          </a:prstGeom>
        </p:spPr>
      </p:pic>
      <p:pic>
        <p:nvPicPr>
          <p:cNvPr id="13" name="Picture 12">
            <a:extLst>
              <a:ext uri="{FF2B5EF4-FFF2-40B4-BE49-F238E27FC236}">
                <a16:creationId xmlns:a16="http://schemas.microsoft.com/office/drawing/2014/main" id="{4E094219-92EF-4D4F-A2A5-D3DDC97C79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199" y="4126527"/>
            <a:ext cx="2961309" cy="2220982"/>
          </a:xfrm>
          <a:prstGeom prst="rect">
            <a:avLst/>
          </a:prstGeom>
        </p:spPr>
      </p:pic>
    </p:spTree>
    <p:extLst>
      <p:ext uri="{BB962C8B-B14F-4D97-AF65-F5344CB8AC3E}">
        <p14:creationId xmlns:p14="http://schemas.microsoft.com/office/powerpoint/2010/main" val="331229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5. Pay-Per-Click (PPC) Advertising</a:t>
            </a:r>
            <a:endParaRPr lang="en-US" dirty="0"/>
          </a:p>
          <a:p>
            <a:pPr lvl="1"/>
            <a:r>
              <a:rPr lang="en-US" dirty="0"/>
              <a:t>PPC is a form of online advertising where businesses </a:t>
            </a:r>
            <a:r>
              <a:rPr lang="en-US" b="1" dirty="0"/>
              <a:t>pay when users click on their ads.</a:t>
            </a:r>
          </a:p>
          <a:p>
            <a:pPr lvl="1"/>
            <a:r>
              <a:rPr lang="en-US" dirty="0"/>
              <a:t>These ads appear on search engines, websites, and social media platforms.</a:t>
            </a:r>
          </a:p>
          <a:p>
            <a:pPr lvl="1"/>
            <a:r>
              <a:rPr lang="en-US" dirty="0"/>
              <a:t>PPC helps generate quick traffic and leads.</a:t>
            </a:r>
          </a:p>
          <a:p>
            <a:pPr lvl="1"/>
            <a:r>
              <a:rPr lang="en-US" dirty="0"/>
              <a:t>It allows businesses to target specific audiences based on interests and demographics.</a:t>
            </a:r>
          </a:p>
          <a:p>
            <a:endParaRPr lang="en-US" dirty="0"/>
          </a:p>
        </p:txBody>
      </p:sp>
      <p:pic>
        <p:nvPicPr>
          <p:cNvPr id="5" name="Picture 4">
            <a:extLst>
              <a:ext uri="{FF2B5EF4-FFF2-40B4-BE49-F238E27FC236}">
                <a16:creationId xmlns:a16="http://schemas.microsoft.com/office/drawing/2014/main" id="{9BCFD50A-A4CE-40AB-968C-E67542F57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785" y="2700151"/>
            <a:ext cx="6550429" cy="3294405"/>
          </a:xfrm>
          <a:prstGeom prst="rect">
            <a:avLst/>
          </a:prstGeom>
        </p:spPr>
      </p:pic>
      <p:sp>
        <p:nvSpPr>
          <p:cNvPr id="6" name="TextBox 5">
            <a:extLst>
              <a:ext uri="{FF2B5EF4-FFF2-40B4-BE49-F238E27FC236}">
                <a16:creationId xmlns:a16="http://schemas.microsoft.com/office/drawing/2014/main" id="{4684ECA7-EB02-469E-B7A8-FB8933806E7E}"/>
              </a:ext>
            </a:extLst>
          </p:cNvPr>
          <p:cNvSpPr txBox="1"/>
          <p:nvPr/>
        </p:nvSpPr>
        <p:spPr>
          <a:xfrm>
            <a:off x="5137265" y="4139738"/>
            <a:ext cx="537327" cy="369332"/>
          </a:xfrm>
          <a:prstGeom prst="rect">
            <a:avLst/>
          </a:prstGeom>
          <a:noFill/>
        </p:spPr>
        <p:txBody>
          <a:bodyPr wrap="none" rtlCol="0">
            <a:spAutoFit/>
          </a:bodyPr>
          <a:lstStyle/>
          <a:p>
            <a:r>
              <a:rPr lang="en-US" dirty="0"/>
              <a:t>Ads</a:t>
            </a:r>
          </a:p>
        </p:txBody>
      </p:sp>
    </p:spTree>
    <p:extLst>
      <p:ext uri="{BB962C8B-B14F-4D97-AF65-F5344CB8AC3E}">
        <p14:creationId xmlns:p14="http://schemas.microsoft.com/office/powerpoint/2010/main" val="198875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6. Mobile Marketing</a:t>
            </a:r>
            <a:endParaRPr lang="en-US" dirty="0"/>
          </a:p>
          <a:p>
            <a:pPr lvl="1"/>
            <a:r>
              <a:rPr lang="en-US" dirty="0"/>
              <a:t>Mobile marketing focuses on reaching customers through </a:t>
            </a:r>
            <a:r>
              <a:rPr lang="en-US" b="1" dirty="0"/>
              <a:t>smartphones and tablets.</a:t>
            </a:r>
          </a:p>
          <a:p>
            <a:pPr lvl="1"/>
            <a:r>
              <a:rPr lang="en-US" dirty="0"/>
              <a:t>It includes </a:t>
            </a:r>
            <a:r>
              <a:rPr lang="en-US" b="1" dirty="0"/>
              <a:t>mobile apps, SMS marketing, mobile-friendly websites</a:t>
            </a:r>
            <a:r>
              <a:rPr lang="en-US" dirty="0"/>
              <a:t>.</a:t>
            </a:r>
          </a:p>
          <a:p>
            <a:pPr lvl="1"/>
            <a:r>
              <a:rPr lang="en-US" dirty="0"/>
              <a:t>Businesses can connect with customers anytime and anywhere.</a:t>
            </a:r>
          </a:p>
          <a:p>
            <a:pPr lvl="1"/>
            <a:r>
              <a:rPr lang="en-US" dirty="0"/>
              <a:t>It improves user experience and increases customer engagement.</a:t>
            </a:r>
          </a:p>
          <a:p>
            <a:endParaRPr lang="en-US" dirty="0"/>
          </a:p>
        </p:txBody>
      </p:sp>
      <p:pic>
        <p:nvPicPr>
          <p:cNvPr id="7" name="Picture 6">
            <a:extLst>
              <a:ext uri="{FF2B5EF4-FFF2-40B4-BE49-F238E27FC236}">
                <a16:creationId xmlns:a16="http://schemas.microsoft.com/office/drawing/2014/main" id="{7769AE2B-B5ED-4B5A-9945-C592AAD41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391" y="2728530"/>
            <a:ext cx="6562135" cy="3489389"/>
          </a:xfrm>
          <a:prstGeom prst="rect">
            <a:avLst/>
          </a:prstGeom>
        </p:spPr>
      </p:pic>
      <p:pic>
        <p:nvPicPr>
          <p:cNvPr id="9" name="Picture 8">
            <a:extLst>
              <a:ext uri="{FF2B5EF4-FFF2-40B4-BE49-F238E27FC236}">
                <a16:creationId xmlns:a16="http://schemas.microsoft.com/office/drawing/2014/main" id="{73660ADB-D62E-45BB-A7F4-C9AA0F610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7904" y="2728530"/>
            <a:ext cx="4692043" cy="3080490"/>
          </a:xfrm>
          <a:prstGeom prst="rect">
            <a:avLst/>
          </a:prstGeom>
        </p:spPr>
      </p:pic>
    </p:spTree>
    <p:extLst>
      <p:ext uri="{BB962C8B-B14F-4D97-AF65-F5344CB8AC3E}">
        <p14:creationId xmlns:p14="http://schemas.microsoft.com/office/powerpoint/2010/main" val="184990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a:xfrm>
            <a:off x="131180" y="863444"/>
            <a:ext cx="11929641" cy="5590565"/>
          </a:xfrm>
        </p:spPr>
        <p:txBody>
          <a:bodyPr/>
          <a:lstStyle/>
          <a:p>
            <a:r>
              <a:rPr lang="en-US" b="1" dirty="0">
                <a:solidFill>
                  <a:srgbClr val="C00000"/>
                </a:solidFill>
              </a:rPr>
              <a:t>Digital Marketing Framework – RACE Model:</a:t>
            </a:r>
          </a:p>
          <a:p>
            <a:endParaRPr lang="en-US" dirty="0"/>
          </a:p>
        </p:txBody>
      </p:sp>
      <p:graphicFrame>
        <p:nvGraphicFramePr>
          <p:cNvPr id="6" name="Diagram 5">
            <a:extLst>
              <a:ext uri="{FF2B5EF4-FFF2-40B4-BE49-F238E27FC236}">
                <a16:creationId xmlns:a16="http://schemas.microsoft.com/office/drawing/2014/main" id="{3509CDCE-CB21-4A59-ADE9-400204C3B460}"/>
              </a:ext>
            </a:extLst>
          </p:cNvPr>
          <p:cNvGraphicFramePr/>
          <p:nvPr>
            <p:extLst>
              <p:ext uri="{D42A27DB-BD31-4B8C-83A1-F6EECF244321}">
                <p14:modId xmlns:p14="http://schemas.microsoft.com/office/powerpoint/2010/main" val="1622426710"/>
              </p:ext>
            </p:extLst>
          </p:nvPr>
        </p:nvGraphicFramePr>
        <p:xfrm>
          <a:off x="267149" y="1398003"/>
          <a:ext cx="7290099" cy="36760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199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9976F1C9-BCC8-4E06-A667-C24836129E7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DFA5D6BA-AB79-434C-AC93-62394C726C8B}"/>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001D8DAB-DBB9-4C7A-829C-35F4ED2F5C8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3B4541DE-9CF2-4BD8-B875-99342E3A2861}"/>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EEBDFD2D-9B38-4B5E-BBD6-12ED988AC9F6}"/>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C3692202-CB0E-4752-893F-907E58FC98A9}"/>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graphicEl>
                                              <a:dgm id="{092C6D97-D386-4FC0-AA1C-C16D7AE6CF1D}"/>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graphicEl>
                                              <a:dgm id="{9BD554E2-AF92-467A-A2C2-4853F007B91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R – Reach</a:t>
            </a:r>
          </a:p>
          <a:p>
            <a:r>
              <a:rPr lang="en-US" dirty="0"/>
              <a:t>First step in attracting potential customers, </a:t>
            </a:r>
            <a:r>
              <a:rPr lang="en-US" b="1" dirty="0"/>
              <a:t>reach your customers</a:t>
            </a:r>
          </a:p>
          <a:p>
            <a:r>
              <a:rPr lang="en-US" b="1" dirty="0"/>
              <a:t>Increase Visibility </a:t>
            </a:r>
            <a:r>
              <a:rPr lang="en-US" dirty="0"/>
              <a:t>of your brand among potential customers.</a:t>
            </a:r>
          </a:p>
          <a:p>
            <a:r>
              <a:rPr lang="en-US" dirty="0"/>
              <a:t>It includes Publishing and promoting Digital content on Internet</a:t>
            </a:r>
          </a:p>
          <a:p>
            <a:r>
              <a:rPr lang="en-US" dirty="0"/>
              <a:t>Brand Uses</a:t>
            </a:r>
          </a:p>
          <a:p>
            <a:pPr lvl="1"/>
            <a:r>
              <a:rPr lang="en-US" dirty="0"/>
              <a:t>SEO</a:t>
            </a:r>
          </a:p>
          <a:p>
            <a:pPr lvl="1"/>
            <a:r>
              <a:rPr lang="en-US" dirty="0"/>
              <a:t>Social Media</a:t>
            </a:r>
          </a:p>
          <a:p>
            <a:pPr lvl="1"/>
            <a:r>
              <a:rPr lang="en-US" dirty="0"/>
              <a:t>Online Ads</a:t>
            </a:r>
          </a:p>
          <a:p>
            <a:pPr lvl="1"/>
            <a:r>
              <a:rPr lang="en-US" dirty="0"/>
              <a:t>Content Marketing</a:t>
            </a:r>
          </a:p>
          <a:p>
            <a:r>
              <a:rPr lang="en-US" dirty="0"/>
              <a:t>This attracts potential customers toward Brand</a:t>
            </a:r>
          </a:p>
        </p:txBody>
      </p:sp>
      <p:pic>
        <p:nvPicPr>
          <p:cNvPr id="5" name="Picture 4">
            <a:extLst>
              <a:ext uri="{FF2B5EF4-FFF2-40B4-BE49-F238E27FC236}">
                <a16:creationId xmlns:a16="http://schemas.microsoft.com/office/drawing/2014/main" id="{4732D588-07E9-4C4F-9D6E-7FD03918D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4136" y="2856323"/>
            <a:ext cx="5111748" cy="2507952"/>
          </a:xfrm>
          <a:prstGeom prst="rect">
            <a:avLst/>
          </a:prstGeom>
        </p:spPr>
      </p:pic>
      <p:sp>
        <p:nvSpPr>
          <p:cNvPr id="6" name="TextBox 5">
            <a:extLst>
              <a:ext uri="{FF2B5EF4-FFF2-40B4-BE49-F238E27FC236}">
                <a16:creationId xmlns:a16="http://schemas.microsoft.com/office/drawing/2014/main" id="{07CF580E-C047-41B2-AC3E-8DF70D5929E8}"/>
              </a:ext>
            </a:extLst>
          </p:cNvPr>
          <p:cNvSpPr txBox="1"/>
          <p:nvPr/>
        </p:nvSpPr>
        <p:spPr>
          <a:xfrm>
            <a:off x="8484124" y="4693389"/>
            <a:ext cx="976827" cy="369332"/>
          </a:xfrm>
          <a:prstGeom prst="rect">
            <a:avLst/>
          </a:prstGeom>
          <a:noFill/>
        </p:spPr>
        <p:txBody>
          <a:bodyPr wrap="square" rtlCol="0">
            <a:spAutoFit/>
          </a:bodyPr>
          <a:lstStyle/>
          <a:p>
            <a:r>
              <a:rPr lang="en-US" dirty="0"/>
              <a:t>Connect</a:t>
            </a:r>
          </a:p>
        </p:txBody>
      </p:sp>
    </p:spTree>
    <p:extLst>
      <p:ext uri="{BB962C8B-B14F-4D97-AF65-F5344CB8AC3E}">
        <p14:creationId xmlns:p14="http://schemas.microsoft.com/office/powerpoint/2010/main" val="231294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A – Act</a:t>
            </a:r>
          </a:p>
          <a:p>
            <a:r>
              <a:rPr lang="en-US" dirty="0"/>
              <a:t>Once connected with customers, You need to act, that is </a:t>
            </a:r>
            <a:r>
              <a:rPr lang="en-US" b="1" dirty="0"/>
              <a:t>Interaction</a:t>
            </a:r>
            <a:r>
              <a:rPr lang="en-US" dirty="0"/>
              <a:t> with your customers.</a:t>
            </a:r>
          </a:p>
          <a:p>
            <a:r>
              <a:rPr lang="en-US" dirty="0"/>
              <a:t>Customer may read your </a:t>
            </a:r>
            <a:r>
              <a:rPr lang="en-US" b="1" dirty="0"/>
              <a:t>blogs, watch video, visit you on social media.</a:t>
            </a:r>
          </a:p>
          <a:p>
            <a:r>
              <a:rPr lang="en-US" dirty="0"/>
              <a:t>Your goal is to generate interest in customer.</a:t>
            </a:r>
          </a:p>
          <a:p>
            <a:r>
              <a:rPr lang="en-US" dirty="0"/>
              <a:t>Customer should</a:t>
            </a:r>
          </a:p>
          <a:p>
            <a:pPr lvl="1"/>
            <a:r>
              <a:rPr lang="en-US" dirty="0"/>
              <a:t>Like</a:t>
            </a:r>
          </a:p>
          <a:p>
            <a:pPr lvl="1"/>
            <a:r>
              <a:rPr lang="en-US" dirty="0"/>
              <a:t>Share</a:t>
            </a:r>
          </a:p>
          <a:p>
            <a:pPr lvl="1"/>
            <a:r>
              <a:rPr lang="en-US" dirty="0"/>
              <a:t>Comment </a:t>
            </a:r>
          </a:p>
          <a:p>
            <a:r>
              <a:rPr lang="en-US" dirty="0"/>
              <a:t>Interested customer will engage and may purchase your product.</a:t>
            </a:r>
          </a:p>
        </p:txBody>
      </p:sp>
      <p:pic>
        <p:nvPicPr>
          <p:cNvPr id="5" name="Picture 4">
            <a:extLst>
              <a:ext uri="{FF2B5EF4-FFF2-40B4-BE49-F238E27FC236}">
                <a16:creationId xmlns:a16="http://schemas.microsoft.com/office/drawing/2014/main" id="{60B64DCE-6D44-4B60-AA1B-906EF167B42A}"/>
              </a:ext>
            </a:extLst>
          </p:cNvPr>
          <p:cNvPicPr>
            <a:picLocks noChangeAspect="1"/>
          </p:cNvPicPr>
          <p:nvPr/>
        </p:nvPicPr>
        <p:blipFill rotWithShape="1">
          <a:blip r:embed="rId2">
            <a:extLst>
              <a:ext uri="{28A0092B-C50C-407E-A947-70E740481C1C}">
                <a14:useLocalDpi xmlns:a14="http://schemas.microsoft.com/office/drawing/2010/main" val="0"/>
              </a:ext>
            </a:extLst>
          </a:blip>
          <a:srcRect t="20938" b="17314"/>
          <a:stretch/>
        </p:blipFill>
        <p:spPr>
          <a:xfrm>
            <a:off x="1213656" y="4738254"/>
            <a:ext cx="9110749" cy="1314858"/>
          </a:xfrm>
          <a:prstGeom prst="rect">
            <a:avLst/>
          </a:prstGeom>
        </p:spPr>
      </p:pic>
    </p:spTree>
    <p:extLst>
      <p:ext uri="{BB962C8B-B14F-4D97-AF65-F5344CB8AC3E}">
        <p14:creationId xmlns:p14="http://schemas.microsoft.com/office/powerpoint/2010/main" val="200716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C – Convert</a:t>
            </a:r>
          </a:p>
          <a:p>
            <a:r>
              <a:rPr lang="en-US" dirty="0"/>
              <a:t>Here potential customers are converted to paying customers.</a:t>
            </a:r>
          </a:p>
          <a:p>
            <a:r>
              <a:rPr lang="en-US" dirty="0"/>
              <a:t>Directly contribute to business revenue.</a:t>
            </a:r>
          </a:p>
          <a:p>
            <a:r>
              <a:rPr lang="en-US" dirty="0"/>
              <a:t>Make Customer </a:t>
            </a:r>
          </a:p>
          <a:p>
            <a:pPr lvl="1"/>
            <a:r>
              <a:rPr lang="en-US" dirty="0"/>
              <a:t>Purchase</a:t>
            </a:r>
          </a:p>
          <a:p>
            <a:pPr lvl="1"/>
            <a:r>
              <a:rPr lang="en-US" dirty="0"/>
              <a:t>Register</a:t>
            </a:r>
          </a:p>
          <a:p>
            <a:pPr lvl="1"/>
            <a:r>
              <a:rPr lang="en-US" dirty="0"/>
              <a:t>Subscribe to service</a:t>
            </a:r>
          </a:p>
          <a:p>
            <a:r>
              <a:rPr lang="en-US" dirty="0"/>
              <a:t>Use</a:t>
            </a:r>
          </a:p>
          <a:p>
            <a:pPr lvl="1"/>
            <a:r>
              <a:rPr lang="en-US" dirty="0"/>
              <a:t>Effective landing page</a:t>
            </a:r>
          </a:p>
          <a:p>
            <a:pPr lvl="1"/>
            <a:r>
              <a:rPr lang="en-US" dirty="0"/>
              <a:t>Call for action</a:t>
            </a:r>
          </a:p>
        </p:txBody>
      </p:sp>
      <p:pic>
        <p:nvPicPr>
          <p:cNvPr id="5" name="Picture 4">
            <a:extLst>
              <a:ext uri="{FF2B5EF4-FFF2-40B4-BE49-F238E27FC236}">
                <a16:creationId xmlns:a16="http://schemas.microsoft.com/office/drawing/2014/main" id="{7F41A445-E07F-4F25-BF70-A647BDF2C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3134" y="2587973"/>
            <a:ext cx="5522909" cy="3866036"/>
          </a:xfrm>
          <a:prstGeom prst="rect">
            <a:avLst/>
          </a:prstGeom>
        </p:spPr>
      </p:pic>
      <p:pic>
        <p:nvPicPr>
          <p:cNvPr id="7" name="Picture 6">
            <a:extLst>
              <a:ext uri="{FF2B5EF4-FFF2-40B4-BE49-F238E27FC236}">
                <a16:creationId xmlns:a16="http://schemas.microsoft.com/office/drawing/2014/main" id="{7EDD5646-9A8A-4F3A-887E-8CDF821EA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1656" y="5302599"/>
            <a:ext cx="1500218" cy="845193"/>
          </a:xfrm>
          <a:prstGeom prst="rect">
            <a:avLst/>
          </a:prstGeom>
        </p:spPr>
      </p:pic>
      <p:pic>
        <p:nvPicPr>
          <p:cNvPr id="9" name="Picture 8">
            <a:extLst>
              <a:ext uri="{FF2B5EF4-FFF2-40B4-BE49-F238E27FC236}">
                <a16:creationId xmlns:a16="http://schemas.microsoft.com/office/drawing/2014/main" id="{9CBE41E0-59F3-48C1-A0A9-FD2DABDD43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5565" y="2976450"/>
            <a:ext cx="1204217" cy="682276"/>
          </a:xfrm>
          <a:prstGeom prst="rect">
            <a:avLst/>
          </a:prstGeom>
        </p:spPr>
      </p:pic>
      <p:pic>
        <p:nvPicPr>
          <p:cNvPr id="11" name="Picture 10">
            <a:extLst>
              <a:ext uri="{FF2B5EF4-FFF2-40B4-BE49-F238E27FC236}">
                <a16:creationId xmlns:a16="http://schemas.microsoft.com/office/drawing/2014/main" id="{D3D90139-0C50-43A7-B0F6-B6BC18C927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4122" y="3429000"/>
            <a:ext cx="1545294" cy="1545294"/>
          </a:xfrm>
          <a:prstGeom prst="rect">
            <a:avLst/>
          </a:prstGeom>
        </p:spPr>
      </p:pic>
      <p:pic>
        <p:nvPicPr>
          <p:cNvPr id="13" name="Picture 12">
            <a:extLst>
              <a:ext uri="{FF2B5EF4-FFF2-40B4-BE49-F238E27FC236}">
                <a16:creationId xmlns:a16="http://schemas.microsoft.com/office/drawing/2014/main" id="{F71FAA25-C274-4D5B-923B-C6824EE6A5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75999" y="2080101"/>
            <a:ext cx="1351924" cy="1351924"/>
          </a:xfrm>
          <a:prstGeom prst="rect">
            <a:avLst/>
          </a:prstGeom>
        </p:spPr>
      </p:pic>
      <p:pic>
        <p:nvPicPr>
          <p:cNvPr id="15" name="Picture 14">
            <a:extLst>
              <a:ext uri="{FF2B5EF4-FFF2-40B4-BE49-F238E27FC236}">
                <a16:creationId xmlns:a16="http://schemas.microsoft.com/office/drawing/2014/main" id="{4C797C4F-6442-4EF4-B305-22EA2E0E8A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80011" y="2218259"/>
            <a:ext cx="1129095" cy="1129095"/>
          </a:xfrm>
          <a:prstGeom prst="rect">
            <a:avLst/>
          </a:prstGeom>
        </p:spPr>
      </p:pic>
    </p:spTree>
    <p:extLst>
      <p:ext uri="{BB962C8B-B14F-4D97-AF65-F5344CB8AC3E}">
        <p14:creationId xmlns:p14="http://schemas.microsoft.com/office/powerpoint/2010/main" val="229199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C31C0-D2E3-4086-A239-BDDDC244E972}"/>
              </a:ext>
            </a:extLst>
          </p:cNvPr>
          <p:cNvSpPr>
            <a:spLocks noGrp="1"/>
          </p:cNvSpPr>
          <p:nvPr>
            <p:ph type="title"/>
          </p:nvPr>
        </p:nvSpPr>
        <p:spPr/>
        <p:txBody>
          <a:bodyPr>
            <a:normAutofit/>
          </a:bodyPr>
          <a:lstStyle/>
          <a:p>
            <a:r>
              <a:rPr lang="en-US" dirty="0"/>
              <a:t>Digital Marketing Components and Frameworks (Continue…)</a:t>
            </a:r>
          </a:p>
        </p:txBody>
      </p:sp>
      <p:sp>
        <p:nvSpPr>
          <p:cNvPr id="3" name="Content Placeholder 2">
            <a:extLst>
              <a:ext uri="{FF2B5EF4-FFF2-40B4-BE49-F238E27FC236}">
                <a16:creationId xmlns:a16="http://schemas.microsoft.com/office/drawing/2014/main" id="{1FE18A59-C4B5-4BD6-89FE-4FE3B33D1AFE}"/>
              </a:ext>
            </a:extLst>
          </p:cNvPr>
          <p:cNvSpPr>
            <a:spLocks noGrp="1"/>
          </p:cNvSpPr>
          <p:nvPr>
            <p:ph idx="1"/>
          </p:nvPr>
        </p:nvSpPr>
        <p:spPr/>
        <p:txBody>
          <a:bodyPr/>
          <a:lstStyle/>
          <a:p>
            <a:r>
              <a:rPr lang="en-US" b="1" dirty="0"/>
              <a:t>E – Engage</a:t>
            </a:r>
          </a:p>
          <a:p>
            <a:r>
              <a:rPr lang="en-US" dirty="0"/>
              <a:t>Building </a:t>
            </a:r>
            <a:r>
              <a:rPr lang="en-US" b="1" dirty="0"/>
              <a:t>long term relation </a:t>
            </a:r>
            <a:r>
              <a:rPr lang="en-US" dirty="0"/>
              <a:t>with customers who has purchased from you.</a:t>
            </a:r>
          </a:p>
          <a:p>
            <a:r>
              <a:rPr lang="en-US" dirty="0"/>
              <a:t>It helps in improving </a:t>
            </a:r>
            <a:r>
              <a:rPr lang="en-US" b="1" dirty="0"/>
              <a:t>customer satisfaction</a:t>
            </a:r>
            <a:r>
              <a:rPr lang="en-US" dirty="0"/>
              <a:t>.</a:t>
            </a:r>
          </a:p>
          <a:p>
            <a:r>
              <a:rPr lang="en-US" dirty="0"/>
              <a:t>Stay in connection with your customers by</a:t>
            </a:r>
          </a:p>
          <a:p>
            <a:pPr lvl="1"/>
            <a:r>
              <a:rPr lang="en-US" dirty="0"/>
              <a:t>Regular mail</a:t>
            </a:r>
          </a:p>
          <a:p>
            <a:pPr lvl="1"/>
            <a:r>
              <a:rPr lang="en-US" dirty="0"/>
              <a:t>Social media </a:t>
            </a:r>
          </a:p>
          <a:p>
            <a:pPr lvl="1"/>
            <a:r>
              <a:rPr lang="en-US" dirty="0"/>
              <a:t>Customer support calls</a:t>
            </a:r>
          </a:p>
          <a:p>
            <a:r>
              <a:rPr lang="en-US" dirty="0"/>
              <a:t>It increase </a:t>
            </a:r>
            <a:r>
              <a:rPr lang="en-US" b="1" dirty="0"/>
              <a:t>repeat purchase </a:t>
            </a:r>
            <a:r>
              <a:rPr lang="en-US" dirty="0"/>
              <a:t>and </a:t>
            </a:r>
            <a:r>
              <a:rPr lang="en-US" b="1" dirty="0"/>
              <a:t>brand recommendation</a:t>
            </a:r>
            <a:r>
              <a:rPr lang="en-US" dirty="0"/>
              <a:t>.</a:t>
            </a:r>
          </a:p>
        </p:txBody>
      </p:sp>
      <p:pic>
        <p:nvPicPr>
          <p:cNvPr id="5" name="Picture 4">
            <a:extLst>
              <a:ext uri="{FF2B5EF4-FFF2-40B4-BE49-F238E27FC236}">
                <a16:creationId xmlns:a16="http://schemas.microsoft.com/office/drawing/2014/main" id="{89BB7FFF-A4F4-479D-97FA-685AF055A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0523" y="4111816"/>
            <a:ext cx="2660593" cy="2444561"/>
          </a:xfrm>
          <a:prstGeom prst="rect">
            <a:avLst/>
          </a:prstGeom>
        </p:spPr>
      </p:pic>
      <p:pic>
        <p:nvPicPr>
          <p:cNvPr id="7" name="Picture 6">
            <a:extLst>
              <a:ext uri="{FF2B5EF4-FFF2-40B4-BE49-F238E27FC236}">
                <a16:creationId xmlns:a16="http://schemas.microsoft.com/office/drawing/2014/main" id="{17545096-59A2-4227-9EBA-822FD2778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1478" y="1901998"/>
            <a:ext cx="4195527" cy="2359984"/>
          </a:xfrm>
          <a:prstGeom prst="rect">
            <a:avLst/>
          </a:prstGeom>
        </p:spPr>
      </p:pic>
      <p:sp>
        <p:nvSpPr>
          <p:cNvPr id="8" name="TextBox 7">
            <a:extLst>
              <a:ext uri="{FF2B5EF4-FFF2-40B4-BE49-F238E27FC236}">
                <a16:creationId xmlns:a16="http://schemas.microsoft.com/office/drawing/2014/main" id="{98F60CB4-214C-44B6-B263-8063451AE60B}"/>
              </a:ext>
            </a:extLst>
          </p:cNvPr>
          <p:cNvSpPr txBox="1"/>
          <p:nvPr/>
        </p:nvSpPr>
        <p:spPr>
          <a:xfrm>
            <a:off x="8179355" y="3642303"/>
            <a:ext cx="1015021" cy="369332"/>
          </a:xfrm>
          <a:prstGeom prst="rect">
            <a:avLst/>
          </a:prstGeom>
          <a:noFill/>
        </p:spPr>
        <p:txBody>
          <a:bodyPr wrap="none" rtlCol="0">
            <a:spAutoFit/>
          </a:bodyPr>
          <a:lstStyle/>
          <a:p>
            <a:r>
              <a:rPr lang="en-US" dirty="0"/>
              <a:t>Business</a:t>
            </a:r>
          </a:p>
        </p:txBody>
      </p:sp>
      <p:sp>
        <p:nvSpPr>
          <p:cNvPr id="9" name="TextBox 8">
            <a:extLst>
              <a:ext uri="{FF2B5EF4-FFF2-40B4-BE49-F238E27FC236}">
                <a16:creationId xmlns:a16="http://schemas.microsoft.com/office/drawing/2014/main" id="{BA82BE72-AB61-420C-8EE0-F2728E2B238D}"/>
              </a:ext>
            </a:extLst>
          </p:cNvPr>
          <p:cNvSpPr txBox="1"/>
          <p:nvPr/>
        </p:nvSpPr>
        <p:spPr>
          <a:xfrm>
            <a:off x="10889304" y="3629250"/>
            <a:ext cx="1071127" cy="369332"/>
          </a:xfrm>
          <a:prstGeom prst="rect">
            <a:avLst/>
          </a:prstGeom>
          <a:noFill/>
        </p:spPr>
        <p:txBody>
          <a:bodyPr wrap="none" rtlCol="0">
            <a:spAutoFit/>
          </a:bodyPr>
          <a:lstStyle/>
          <a:p>
            <a:r>
              <a:rPr lang="en-US" dirty="0"/>
              <a:t>Customer</a:t>
            </a:r>
          </a:p>
        </p:txBody>
      </p:sp>
    </p:spTree>
    <p:extLst>
      <p:ext uri="{BB962C8B-B14F-4D97-AF65-F5344CB8AC3E}">
        <p14:creationId xmlns:p14="http://schemas.microsoft.com/office/powerpoint/2010/main" val="328458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252E3-EA72-492C-BCC4-27F7BDEECE7C}"/>
              </a:ext>
            </a:extLst>
          </p:cNvPr>
          <p:cNvSpPr>
            <a:spLocks noGrp="1"/>
          </p:cNvSpPr>
          <p:nvPr>
            <p:ph type="title"/>
          </p:nvPr>
        </p:nvSpPr>
        <p:spPr/>
        <p:txBody>
          <a:bodyPr/>
          <a:lstStyle/>
          <a:p>
            <a:r>
              <a:rPr lang="en-US" sz="6000" dirty="0"/>
              <a:t>Role of Internet in Digital Marketing</a:t>
            </a:r>
            <a:endParaRPr lang="en-US" dirty="0"/>
          </a:p>
        </p:txBody>
      </p:sp>
      <p:sp>
        <p:nvSpPr>
          <p:cNvPr id="3" name="Text Placeholder 2">
            <a:extLst>
              <a:ext uri="{FF2B5EF4-FFF2-40B4-BE49-F238E27FC236}">
                <a16:creationId xmlns:a16="http://schemas.microsoft.com/office/drawing/2014/main" id="{C7540112-2415-4265-84AF-D3390C23911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399517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9EAB6-1D57-46F4-A241-68C59F2D9664}"/>
              </a:ext>
            </a:extLst>
          </p:cNvPr>
          <p:cNvSpPr>
            <a:spLocks noGrp="1"/>
          </p:cNvSpPr>
          <p:nvPr>
            <p:ph type="title"/>
          </p:nvPr>
        </p:nvSpPr>
        <p:spPr/>
        <p:txBody>
          <a:bodyPr>
            <a:normAutofit/>
          </a:bodyPr>
          <a:lstStyle/>
          <a:p>
            <a:r>
              <a:rPr lang="en-US" dirty="0"/>
              <a:t>Role of Internet in Digital Marketing</a:t>
            </a:r>
          </a:p>
        </p:txBody>
      </p:sp>
      <p:sp>
        <p:nvSpPr>
          <p:cNvPr id="3" name="Content Placeholder 2">
            <a:extLst>
              <a:ext uri="{FF2B5EF4-FFF2-40B4-BE49-F238E27FC236}">
                <a16:creationId xmlns:a16="http://schemas.microsoft.com/office/drawing/2014/main" id="{CEEC368A-2879-460C-B36C-8179C4E904E9}"/>
              </a:ext>
            </a:extLst>
          </p:cNvPr>
          <p:cNvSpPr>
            <a:spLocks noGrp="1"/>
          </p:cNvSpPr>
          <p:nvPr>
            <p:ph idx="1"/>
          </p:nvPr>
        </p:nvSpPr>
        <p:spPr/>
        <p:txBody>
          <a:bodyPr/>
          <a:lstStyle/>
          <a:p>
            <a:r>
              <a:rPr lang="en-US" dirty="0"/>
              <a:t>The internet acts as the foundation of modern digital marketing.</a:t>
            </a:r>
          </a:p>
          <a:p>
            <a:r>
              <a:rPr lang="en-US" dirty="0"/>
              <a:t>communication from one-way broadcasting to an interactive, 24/7 network at lower cost.</a:t>
            </a:r>
          </a:p>
          <a:p>
            <a:r>
              <a:rPr lang="en-US" b="1" dirty="0"/>
              <a:t>Global Reach:</a:t>
            </a:r>
            <a:r>
              <a:rPr lang="en-US" dirty="0"/>
              <a:t> Removes physical boundaries. Application or campaign can connect with a worldwide audience instantly.</a:t>
            </a:r>
          </a:p>
          <a:p>
            <a:r>
              <a:rPr lang="en-US" b="1" dirty="0"/>
              <a:t>Targeted Advertising:</a:t>
            </a:r>
            <a:r>
              <a:rPr lang="en-US" dirty="0"/>
              <a:t> Filter audiences by specific demographics, behaviors, and interests.</a:t>
            </a:r>
          </a:p>
          <a:p>
            <a:r>
              <a:rPr lang="en-US" b="1" dirty="0"/>
              <a:t>Measurable Analytics:</a:t>
            </a:r>
            <a:r>
              <a:rPr lang="en-US" dirty="0"/>
              <a:t> Enables real-time tracking of customers.</a:t>
            </a:r>
          </a:p>
          <a:p>
            <a:r>
              <a:rPr lang="en-US" b="1" dirty="0"/>
              <a:t>Two-Way Interaction:</a:t>
            </a:r>
            <a:r>
              <a:rPr lang="en-US" dirty="0"/>
              <a:t> social media and automated AI chatbots to create a direct feedback with users.</a:t>
            </a:r>
          </a:p>
          <a:p>
            <a:r>
              <a:rPr lang="en-US" b="1" dirty="0"/>
              <a:t>High ROI / Low Cost:</a:t>
            </a:r>
            <a:r>
              <a:rPr lang="en-US" dirty="0"/>
              <a:t> cost much less than traditional TV or print media.</a:t>
            </a:r>
          </a:p>
          <a:p>
            <a:r>
              <a:rPr lang="en-US" b="1" dirty="0"/>
              <a:t>24/7 High Availability:</a:t>
            </a:r>
            <a:r>
              <a:rPr lang="en-US" dirty="0"/>
              <a:t> digital marketing runs continuously.</a:t>
            </a:r>
          </a:p>
        </p:txBody>
      </p:sp>
    </p:spTree>
    <p:extLst>
      <p:ext uri="{BB962C8B-B14F-4D97-AF65-F5344CB8AC3E}">
        <p14:creationId xmlns:p14="http://schemas.microsoft.com/office/powerpoint/2010/main" val="226527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06F38-6165-4B5A-9A1E-6B3B3436150A}"/>
              </a:ext>
            </a:extLst>
          </p:cNvPr>
          <p:cNvSpPr>
            <a:spLocks noGrp="1"/>
          </p:cNvSpPr>
          <p:nvPr>
            <p:ph type="title"/>
          </p:nvPr>
        </p:nvSpPr>
        <p:spPr/>
        <p:txBody>
          <a:bodyPr/>
          <a:lstStyle/>
          <a:p>
            <a:r>
              <a:rPr lang="en-US" sz="6000" dirty="0"/>
              <a:t>Advantages and Limitations of Digital Marketing</a:t>
            </a:r>
            <a:endParaRPr lang="en-US" dirty="0"/>
          </a:p>
        </p:txBody>
      </p:sp>
      <p:sp>
        <p:nvSpPr>
          <p:cNvPr id="3" name="Text Placeholder 2">
            <a:extLst>
              <a:ext uri="{FF2B5EF4-FFF2-40B4-BE49-F238E27FC236}">
                <a16:creationId xmlns:a16="http://schemas.microsoft.com/office/drawing/2014/main" id="{D1FBE933-BFD5-4EE0-9A7E-51BFD2E60D7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87933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51ED2-3B12-4DE3-9557-8EA0EE417661}"/>
              </a:ext>
            </a:extLst>
          </p:cNvPr>
          <p:cNvSpPr>
            <a:spLocks noGrp="1"/>
          </p:cNvSpPr>
          <p:nvPr>
            <p:ph type="title"/>
          </p:nvPr>
        </p:nvSpPr>
        <p:spPr/>
        <p:txBody>
          <a:bodyPr/>
          <a:lstStyle/>
          <a:p>
            <a:r>
              <a:rPr lang="en-US" dirty="0"/>
              <a:t>Advantages of Digital Marketing</a:t>
            </a:r>
          </a:p>
        </p:txBody>
      </p:sp>
      <p:graphicFrame>
        <p:nvGraphicFramePr>
          <p:cNvPr id="4" name="Content Placeholder 5">
            <a:extLst>
              <a:ext uri="{FF2B5EF4-FFF2-40B4-BE49-F238E27FC236}">
                <a16:creationId xmlns:a16="http://schemas.microsoft.com/office/drawing/2014/main" id="{71BC17AD-DB74-493F-B16F-2577742803F3}"/>
              </a:ext>
            </a:extLst>
          </p:cNvPr>
          <p:cNvGraphicFramePr>
            <a:graphicFrameLocks noGrp="1"/>
          </p:cNvGraphicFramePr>
          <p:nvPr>
            <p:ph idx="1"/>
            <p:extLst>
              <p:ext uri="{D42A27DB-BD31-4B8C-83A1-F6EECF244321}">
                <p14:modId xmlns:p14="http://schemas.microsoft.com/office/powerpoint/2010/main" val="894281210"/>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678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29C125EA-172E-4678-A511-56A3C5C55820}"/>
                                            </p:graphicEl>
                                          </p:spTgt>
                                        </p:tgtEl>
                                        <p:attrNameLst>
                                          <p:attrName>style.visibility</p:attrName>
                                        </p:attrNameLst>
                                      </p:cBhvr>
                                      <p:to>
                                        <p:strVal val="visible"/>
                                      </p:to>
                                    </p:set>
                                    <p:anim calcmode="lin" valueType="num">
                                      <p:cBhvr additive="base">
                                        <p:cTn id="7" dur="500" fill="hold"/>
                                        <p:tgtEl>
                                          <p:spTgt spid="4">
                                            <p:graphicEl>
                                              <a:dgm id="{29C125EA-172E-4678-A511-56A3C5C5582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29C125EA-172E-4678-A511-56A3C5C55820}"/>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73F55F7F-47E0-4C9F-8C1A-A08F20CE5891}"/>
                                            </p:graphicEl>
                                          </p:spTgt>
                                        </p:tgtEl>
                                        <p:attrNameLst>
                                          <p:attrName>style.visibility</p:attrName>
                                        </p:attrNameLst>
                                      </p:cBhvr>
                                      <p:to>
                                        <p:strVal val="visible"/>
                                      </p:to>
                                    </p:set>
                                    <p:anim calcmode="lin" valueType="num">
                                      <p:cBhvr additive="base">
                                        <p:cTn id="13" dur="500" fill="hold"/>
                                        <p:tgtEl>
                                          <p:spTgt spid="4">
                                            <p:graphicEl>
                                              <a:dgm id="{73F55F7F-47E0-4C9F-8C1A-A08F20CE5891}"/>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73F55F7F-47E0-4C9F-8C1A-A08F20CE5891}"/>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82FC78B8-3845-4931-9D37-7695E8A84A4E}"/>
                                            </p:graphicEl>
                                          </p:spTgt>
                                        </p:tgtEl>
                                        <p:attrNameLst>
                                          <p:attrName>style.visibility</p:attrName>
                                        </p:attrNameLst>
                                      </p:cBhvr>
                                      <p:to>
                                        <p:strVal val="visible"/>
                                      </p:to>
                                    </p:set>
                                    <p:anim calcmode="lin" valueType="num">
                                      <p:cBhvr additive="base">
                                        <p:cTn id="19" dur="500" fill="hold"/>
                                        <p:tgtEl>
                                          <p:spTgt spid="4">
                                            <p:graphicEl>
                                              <a:dgm id="{82FC78B8-3845-4931-9D37-7695E8A84A4E}"/>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82FC78B8-3845-4931-9D37-7695E8A84A4E}"/>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DD0C4C7B-338D-4A92-8958-26FE0BE7A64F}"/>
                                            </p:graphicEl>
                                          </p:spTgt>
                                        </p:tgtEl>
                                        <p:attrNameLst>
                                          <p:attrName>style.visibility</p:attrName>
                                        </p:attrNameLst>
                                      </p:cBhvr>
                                      <p:to>
                                        <p:strVal val="visible"/>
                                      </p:to>
                                    </p:set>
                                    <p:anim calcmode="lin" valueType="num">
                                      <p:cBhvr additive="base">
                                        <p:cTn id="25" dur="500" fill="hold"/>
                                        <p:tgtEl>
                                          <p:spTgt spid="4">
                                            <p:graphicEl>
                                              <a:dgm id="{DD0C4C7B-338D-4A92-8958-26FE0BE7A64F}"/>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DD0C4C7B-338D-4A92-8958-26FE0BE7A64F}"/>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2C564FD7-A121-4E4E-AD91-07B362ABC854}"/>
                                            </p:graphicEl>
                                          </p:spTgt>
                                        </p:tgtEl>
                                        <p:attrNameLst>
                                          <p:attrName>style.visibility</p:attrName>
                                        </p:attrNameLst>
                                      </p:cBhvr>
                                      <p:to>
                                        <p:strVal val="visible"/>
                                      </p:to>
                                    </p:set>
                                    <p:anim calcmode="lin" valueType="num">
                                      <p:cBhvr additive="base">
                                        <p:cTn id="31" dur="500" fill="hold"/>
                                        <p:tgtEl>
                                          <p:spTgt spid="4">
                                            <p:graphicEl>
                                              <a:dgm id="{2C564FD7-A121-4E4E-AD91-07B362ABC854}"/>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2C564FD7-A121-4E4E-AD91-07B362ABC854}"/>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graphicEl>
                                              <a:dgm id="{C7CA6E80-DCC5-42DD-A0D6-C54E57EE28AD}"/>
                                            </p:graphicEl>
                                          </p:spTgt>
                                        </p:tgtEl>
                                        <p:attrNameLst>
                                          <p:attrName>style.visibility</p:attrName>
                                        </p:attrNameLst>
                                      </p:cBhvr>
                                      <p:to>
                                        <p:strVal val="visible"/>
                                      </p:to>
                                    </p:set>
                                    <p:anim calcmode="lin" valueType="num">
                                      <p:cBhvr additive="base">
                                        <p:cTn id="37" dur="500" fill="hold"/>
                                        <p:tgtEl>
                                          <p:spTgt spid="4">
                                            <p:graphicEl>
                                              <a:dgm id="{C7CA6E80-DCC5-42DD-A0D6-C54E57EE28AD}"/>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C7CA6E80-DCC5-42DD-A0D6-C54E57EE28AD}"/>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graphicEl>
                                              <a:dgm id="{D4D6ECCB-60A3-45F1-B3AD-465EFC7CC223}"/>
                                            </p:graphicEl>
                                          </p:spTgt>
                                        </p:tgtEl>
                                        <p:attrNameLst>
                                          <p:attrName>style.visibility</p:attrName>
                                        </p:attrNameLst>
                                      </p:cBhvr>
                                      <p:to>
                                        <p:strVal val="visible"/>
                                      </p:to>
                                    </p:set>
                                    <p:anim calcmode="lin" valueType="num">
                                      <p:cBhvr additive="base">
                                        <p:cTn id="43" dur="500" fill="hold"/>
                                        <p:tgtEl>
                                          <p:spTgt spid="4">
                                            <p:graphicEl>
                                              <a:dgm id="{D4D6ECCB-60A3-45F1-B3AD-465EFC7CC223}"/>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graphicEl>
                                              <a:dgm id="{D4D6ECCB-60A3-45F1-B3AD-465EFC7CC223}"/>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
                                            <p:graphicEl>
                                              <a:dgm id="{69C2DACB-176B-4C3F-A07C-BD6BE57A29BB}"/>
                                            </p:graphicEl>
                                          </p:spTgt>
                                        </p:tgtEl>
                                        <p:attrNameLst>
                                          <p:attrName>style.visibility</p:attrName>
                                        </p:attrNameLst>
                                      </p:cBhvr>
                                      <p:to>
                                        <p:strVal val="visible"/>
                                      </p:to>
                                    </p:set>
                                    <p:anim calcmode="lin" valueType="num">
                                      <p:cBhvr additive="base">
                                        <p:cTn id="49" dur="500" fill="hold"/>
                                        <p:tgtEl>
                                          <p:spTgt spid="4">
                                            <p:graphicEl>
                                              <a:dgm id="{69C2DACB-176B-4C3F-A07C-BD6BE57A29BB}"/>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
                                            <p:graphicEl>
                                              <a:dgm id="{69C2DACB-176B-4C3F-A07C-BD6BE57A29BB}"/>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
                                            <p:graphicEl>
                                              <a:dgm id="{462C38BD-EB2A-4633-BEBC-44A358B7FF7E}"/>
                                            </p:graphicEl>
                                          </p:spTgt>
                                        </p:tgtEl>
                                        <p:attrNameLst>
                                          <p:attrName>style.visibility</p:attrName>
                                        </p:attrNameLst>
                                      </p:cBhvr>
                                      <p:to>
                                        <p:strVal val="visible"/>
                                      </p:to>
                                    </p:set>
                                    <p:anim calcmode="lin" valueType="num">
                                      <p:cBhvr additive="base">
                                        <p:cTn id="55" dur="500" fill="hold"/>
                                        <p:tgtEl>
                                          <p:spTgt spid="4">
                                            <p:graphicEl>
                                              <a:dgm id="{462C38BD-EB2A-4633-BEBC-44A358B7FF7E}"/>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
                                            <p:graphicEl>
                                              <a:dgm id="{462C38BD-EB2A-4633-BEBC-44A358B7FF7E}"/>
                                            </p:graphic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
                                            <p:graphicEl>
                                              <a:dgm id="{8580EB9A-6B24-419B-8D00-2778ADE0B56A}"/>
                                            </p:graphicEl>
                                          </p:spTgt>
                                        </p:tgtEl>
                                        <p:attrNameLst>
                                          <p:attrName>style.visibility</p:attrName>
                                        </p:attrNameLst>
                                      </p:cBhvr>
                                      <p:to>
                                        <p:strVal val="visible"/>
                                      </p:to>
                                    </p:set>
                                    <p:anim calcmode="lin" valueType="num">
                                      <p:cBhvr additive="base">
                                        <p:cTn id="61" dur="500" fill="hold"/>
                                        <p:tgtEl>
                                          <p:spTgt spid="4">
                                            <p:graphicEl>
                                              <a:dgm id="{8580EB9A-6B24-419B-8D00-2778ADE0B56A}"/>
                                            </p:graphic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
                                            <p:graphicEl>
                                              <a:dgm id="{8580EB9A-6B24-419B-8D00-2778ADE0B56A}"/>
                                            </p:graphic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
                                            <p:graphicEl>
                                              <a:dgm id="{86820873-FA0D-4398-A80B-977DC22D2F89}"/>
                                            </p:graphicEl>
                                          </p:spTgt>
                                        </p:tgtEl>
                                        <p:attrNameLst>
                                          <p:attrName>style.visibility</p:attrName>
                                        </p:attrNameLst>
                                      </p:cBhvr>
                                      <p:to>
                                        <p:strVal val="visible"/>
                                      </p:to>
                                    </p:set>
                                    <p:anim calcmode="lin" valueType="num">
                                      <p:cBhvr additive="base">
                                        <p:cTn id="67" dur="500" fill="hold"/>
                                        <p:tgtEl>
                                          <p:spTgt spid="4">
                                            <p:graphicEl>
                                              <a:dgm id="{86820873-FA0D-4398-A80B-977DC22D2F89}"/>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graphicEl>
                                              <a:dgm id="{86820873-FA0D-4398-A80B-977DC22D2F89}"/>
                                            </p:graphic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
                                            <p:graphicEl>
                                              <a:dgm id="{296C2F33-51FD-4743-9A9F-FD34584493D7}"/>
                                            </p:graphicEl>
                                          </p:spTgt>
                                        </p:tgtEl>
                                        <p:attrNameLst>
                                          <p:attrName>style.visibility</p:attrName>
                                        </p:attrNameLst>
                                      </p:cBhvr>
                                      <p:to>
                                        <p:strVal val="visible"/>
                                      </p:to>
                                    </p:set>
                                    <p:anim calcmode="lin" valueType="num">
                                      <p:cBhvr additive="base">
                                        <p:cTn id="73" dur="500" fill="hold"/>
                                        <p:tgtEl>
                                          <p:spTgt spid="4">
                                            <p:graphicEl>
                                              <a:dgm id="{296C2F33-51FD-4743-9A9F-FD34584493D7}"/>
                                            </p:graphic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4">
                                            <p:graphicEl>
                                              <a:dgm id="{296C2F33-51FD-4743-9A9F-FD34584493D7}"/>
                                            </p:graphic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
                                            <p:graphicEl>
                                              <a:dgm id="{0821461F-8B7C-4EDD-80F5-0BC98B27F171}"/>
                                            </p:graphicEl>
                                          </p:spTgt>
                                        </p:tgtEl>
                                        <p:attrNameLst>
                                          <p:attrName>style.visibility</p:attrName>
                                        </p:attrNameLst>
                                      </p:cBhvr>
                                      <p:to>
                                        <p:strVal val="visible"/>
                                      </p:to>
                                    </p:set>
                                    <p:anim calcmode="lin" valueType="num">
                                      <p:cBhvr additive="base">
                                        <p:cTn id="79" dur="500" fill="hold"/>
                                        <p:tgtEl>
                                          <p:spTgt spid="4">
                                            <p:graphicEl>
                                              <a:dgm id="{0821461F-8B7C-4EDD-80F5-0BC98B27F171}"/>
                                            </p:graphic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
                                            <p:graphicEl>
                                              <a:dgm id="{0821461F-8B7C-4EDD-80F5-0BC98B27F171}"/>
                                            </p:graphic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
                                            <p:graphicEl>
                                              <a:dgm id="{51EA8229-B10B-4E21-8599-2DE9DE20EC58}"/>
                                            </p:graphicEl>
                                          </p:spTgt>
                                        </p:tgtEl>
                                        <p:attrNameLst>
                                          <p:attrName>style.visibility</p:attrName>
                                        </p:attrNameLst>
                                      </p:cBhvr>
                                      <p:to>
                                        <p:strVal val="visible"/>
                                      </p:to>
                                    </p:set>
                                    <p:anim calcmode="lin" valueType="num">
                                      <p:cBhvr additive="base">
                                        <p:cTn id="85" dur="500" fill="hold"/>
                                        <p:tgtEl>
                                          <p:spTgt spid="4">
                                            <p:graphicEl>
                                              <a:dgm id="{51EA8229-B10B-4E21-8599-2DE9DE20EC58}"/>
                                            </p:graphic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4">
                                            <p:graphicEl>
                                              <a:dgm id="{51EA8229-B10B-4E21-8599-2DE9DE20EC58}"/>
                                            </p:graphic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
                                            <p:graphicEl>
                                              <a:dgm id="{F24165A5-FF00-4A85-B7D3-3D8C2B47650B}"/>
                                            </p:graphicEl>
                                          </p:spTgt>
                                        </p:tgtEl>
                                        <p:attrNameLst>
                                          <p:attrName>style.visibility</p:attrName>
                                        </p:attrNameLst>
                                      </p:cBhvr>
                                      <p:to>
                                        <p:strVal val="visible"/>
                                      </p:to>
                                    </p:set>
                                    <p:anim calcmode="lin" valueType="num">
                                      <p:cBhvr additive="base">
                                        <p:cTn id="91" dur="500" fill="hold"/>
                                        <p:tgtEl>
                                          <p:spTgt spid="4">
                                            <p:graphicEl>
                                              <a:dgm id="{F24165A5-FF00-4A85-B7D3-3D8C2B47650B}"/>
                                            </p:graphic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4">
                                            <p:graphicEl>
                                              <a:dgm id="{F24165A5-FF00-4A85-B7D3-3D8C2B47650B}"/>
                                            </p:graphic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
                                            <p:graphicEl>
                                              <a:dgm id="{EA75DF1E-AA7C-42F6-A183-C24631A54F0B}"/>
                                            </p:graphicEl>
                                          </p:spTgt>
                                        </p:tgtEl>
                                        <p:attrNameLst>
                                          <p:attrName>style.visibility</p:attrName>
                                        </p:attrNameLst>
                                      </p:cBhvr>
                                      <p:to>
                                        <p:strVal val="visible"/>
                                      </p:to>
                                    </p:set>
                                    <p:anim calcmode="lin" valueType="num">
                                      <p:cBhvr additive="base">
                                        <p:cTn id="97" dur="500" fill="hold"/>
                                        <p:tgtEl>
                                          <p:spTgt spid="4">
                                            <p:graphicEl>
                                              <a:dgm id="{EA75DF1E-AA7C-42F6-A183-C24631A54F0B}"/>
                                            </p:graphic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4">
                                            <p:graphicEl>
                                              <a:dgm id="{EA75DF1E-AA7C-42F6-A183-C24631A54F0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BDE5-9A8E-4D68-A69E-FDD37A74A6EF}"/>
              </a:ext>
            </a:extLst>
          </p:cNvPr>
          <p:cNvSpPr>
            <a:spLocks noGrp="1"/>
          </p:cNvSpPr>
          <p:nvPr>
            <p:ph type="title"/>
          </p:nvPr>
        </p:nvSpPr>
        <p:spPr/>
        <p:txBody>
          <a:bodyPr/>
          <a:lstStyle/>
          <a:p>
            <a:r>
              <a:rPr lang="en-US" dirty="0"/>
              <a:t>Limitations of Digital Marketing</a:t>
            </a:r>
          </a:p>
        </p:txBody>
      </p:sp>
      <p:graphicFrame>
        <p:nvGraphicFramePr>
          <p:cNvPr id="5" name="Content Placeholder 7">
            <a:extLst>
              <a:ext uri="{FF2B5EF4-FFF2-40B4-BE49-F238E27FC236}">
                <a16:creationId xmlns:a16="http://schemas.microsoft.com/office/drawing/2014/main" id="{4B9F839A-CE2D-41AF-A604-742294C12CCF}"/>
              </a:ext>
            </a:extLst>
          </p:cNvPr>
          <p:cNvGraphicFramePr>
            <a:graphicFrameLocks noGrp="1"/>
          </p:cNvGraphicFramePr>
          <p:nvPr>
            <p:ph idx="1"/>
            <p:extLst>
              <p:ext uri="{D42A27DB-BD31-4B8C-83A1-F6EECF244321}">
                <p14:modId xmlns:p14="http://schemas.microsoft.com/office/powerpoint/2010/main" val="1985388439"/>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978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FF66FCD1-D613-49A0-AE7A-BEEAF6AA75EF}"/>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DFB2890D-74EB-4015-869D-F642D9DDB1DD}"/>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89A43BE7-11BB-4CEA-B9FC-CEDBA10D0CB0}"/>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0356CEDE-E675-4187-A28C-8677F69314D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B9BC1190-58F9-48DB-9422-AC62C8D40FD9}"/>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graphicEl>
                                              <a:dgm id="{FE9A0685-6252-46EE-A17B-8148E83707FF}"/>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23C6C63D-B771-4C11-B6D7-405652B335E0}"/>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6D8BC660-999D-41C0-A539-A8015F5FD0F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0A56B-AFF4-43F4-8478-7510838007D0}"/>
              </a:ext>
            </a:extLst>
          </p:cNvPr>
          <p:cNvSpPr>
            <a:spLocks noGrp="1"/>
          </p:cNvSpPr>
          <p:nvPr>
            <p:ph type="title"/>
          </p:nvPr>
        </p:nvSpPr>
        <p:spPr/>
        <p:txBody>
          <a:bodyPr/>
          <a:lstStyle/>
          <a:p>
            <a:r>
              <a:rPr lang="en-US" dirty="0"/>
              <a:t>Limitations of Digital Marketing</a:t>
            </a:r>
          </a:p>
        </p:txBody>
      </p:sp>
      <p:graphicFrame>
        <p:nvGraphicFramePr>
          <p:cNvPr id="5" name="Content Placeholder 3">
            <a:extLst>
              <a:ext uri="{FF2B5EF4-FFF2-40B4-BE49-F238E27FC236}">
                <a16:creationId xmlns:a16="http://schemas.microsoft.com/office/drawing/2014/main" id="{E3E0B28D-45DB-4647-A76F-32B0C66C2198}"/>
              </a:ext>
            </a:extLst>
          </p:cNvPr>
          <p:cNvGraphicFramePr>
            <a:graphicFrameLocks noGrp="1"/>
          </p:cNvGraphicFramePr>
          <p:nvPr>
            <p:ph idx="1"/>
            <p:extLst>
              <p:ext uri="{D42A27DB-BD31-4B8C-83A1-F6EECF244321}">
                <p14:modId xmlns:p14="http://schemas.microsoft.com/office/powerpoint/2010/main" val="3099904914"/>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713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4CF3971B-3539-45CB-BCEE-2BBA62A9869F}"/>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BAE01B31-EBEA-45BA-AF22-D98E3153BE46}"/>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DCF6AFE6-30D3-4D3C-B839-3588D57073DC}"/>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06901601-C422-4B11-89C2-61285BD7322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F5BF7-08A2-4A2C-8C97-016FA376FB69}"/>
              </a:ext>
            </a:extLst>
          </p:cNvPr>
          <p:cNvSpPr>
            <a:spLocks noGrp="1"/>
          </p:cNvSpPr>
          <p:nvPr>
            <p:ph type="title"/>
          </p:nvPr>
        </p:nvSpPr>
        <p:spPr/>
        <p:txBody>
          <a:bodyPr/>
          <a:lstStyle/>
          <a:p>
            <a:r>
              <a:rPr lang="en-US" sz="6000" dirty="0"/>
              <a:t>Skills Required in Digital Marketing</a:t>
            </a:r>
            <a:endParaRPr lang="en-US" dirty="0"/>
          </a:p>
        </p:txBody>
      </p:sp>
      <p:sp>
        <p:nvSpPr>
          <p:cNvPr id="3" name="Text Placeholder 2">
            <a:extLst>
              <a:ext uri="{FF2B5EF4-FFF2-40B4-BE49-F238E27FC236}">
                <a16:creationId xmlns:a16="http://schemas.microsoft.com/office/drawing/2014/main" id="{96E10657-85B9-4C1F-9308-163C811927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37458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F30C-F1F2-4D58-9177-19F761509D65}"/>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C3A2C088-1ED7-4D40-B622-4EA766E76E15}"/>
              </a:ext>
            </a:extLst>
          </p:cNvPr>
          <p:cNvSpPr>
            <a:spLocks noGrp="1"/>
          </p:cNvSpPr>
          <p:nvPr>
            <p:ph idx="1"/>
          </p:nvPr>
        </p:nvSpPr>
        <p:spPr/>
        <p:txBody>
          <a:bodyPr/>
          <a:lstStyle/>
          <a:p>
            <a:endParaRPr lang="en-US"/>
          </a:p>
        </p:txBody>
      </p:sp>
      <p:graphicFrame>
        <p:nvGraphicFramePr>
          <p:cNvPr id="4" name="Content Placeholder 4">
            <a:extLst>
              <a:ext uri="{FF2B5EF4-FFF2-40B4-BE49-F238E27FC236}">
                <a16:creationId xmlns:a16="http://schemas.microsoft.com/office/drawing/2014/main" id="{3D6B7F77-88C4-4054-8657-3AE13078FE29}"/>
              </a:ext>
            </a:extLst>
          </p:cNvPr>
          <p:cNvGraphicFramePr>
            <a:graphicFrameLocks/>
          </p:cNvGraphicFramePr>
          <p:nvPr>
            <p:extLst>
              <p:ext uri="{D42A27DB-BD31-4B8C-83A1-F6EECF244321}">
                <p14:modId xmlns:p14="http://schemas.microsoft.com/office/powerpoint/2010/main" val="3240219758"/>
              </p:ext>
            </p:extLst>
          </p:nvPr>
        </p:nvGraphicFramePr>
        <p:xfrm>
          <a:off x="18785" y="863444"/>
          <a:ext cx="9366328"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Digital Marketing 101: The Most Simple Guide Ever">
            <a:extLst>
              <a:ext uri="{FF2B5EF4-FFF2-40B4-BE49-F238E27FC236}">
                <a16:creationId xmlns:a16="http://schemas.microsoft.com/office/drawing/2014/main" id="{A743CC64-8BF2-4773-B04E-779E035F6A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5244" y="3747168"/>
            <a:ext cx="2665361" cy="19011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kills GIFs - Get the best gif on GIFER">
            <a:extLst>
              <a:ext uri="{FF2B5EF4-FFF2-40B4-BE49-F238E27FC236}">
                <a16:creationId xmlns:a16="http://schemas.microsoft.com/office/drawing/2014/main" id="{4497E1FC-D9E0-4E5F-9A26-C1DC1527E8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04018" y="1872648"/>
            <a:ext cx="2364952" cy="1711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0BC2368D-AE02-48D2-B0DC-AD4F7EC7F91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2C7D0A2C-D70F-4BA6-9034-94B8BB4942B3}"/>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D17B99F8-163F-44C9-AAD3-8542529645D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6A926001-8C4D-4A13-A971-D206EF36688A}"/>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167CAC4D-9D37-406E-8948-0FCE9CDB6ED5}"/>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B35BA514-9915-4C31-BF57-EC98A19EFF1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183720C7-FBC9-430A-B8DF-C0E572D03623}"/>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2E92CCC9-2EA6-4953-9814-8201A2C20D39}"/>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graphicEl>
                                              <a:dgm id="{2A6ED8D5-F674-4213-9D05-7E18624D849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CBCD7-D17C-4959-91F5-57FB4E266616}"/>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4183DA5B-789C-464D-BF6D-D79B42E87373}"/>
              </a:ext>
            </a:extLst>
          </p:cNvPr>
          <p:cNvSpPr>
            <a:spLocks noGrp="1"/>
          </p:cNvSpPr>
          <p:nvPr>
            <p:ph idx="1"/>
          </p:nvPr>
        </p:nvSpPr>
        <p:spPr/>
        <p:txBody>
          <a:bodyPr/>
          <a:lstStyle/>
          <a:p>
            <a:pPr marL="0" indent="0">
              <a:buNone/>
            </a:pPr>
            <a:r>
              <a:rPr lang="en-US" b="1" dirty="0">
                <a:solidFill>
                  <a:srgbClr val="C00000"/>
                </a:solidFill>
              </a:rPr>
              <a:t>Communication Skills</a:t>
            </a:r>
            <a:endParaRPr lang="en-US" dirty="0">
              <a:solidFill>
                <a:srgbClr val="C00000"/>
              </a:solidFill>
            </a:endParaRPr>
          </a:p>
          <a:p>
            <a:pPr lvl="1"/>
            <a:r>
              <a:rPr lang="en-US" dirty="0"/>
              <a:t>Digital marketers must </a:t>
            </a:r>
            <a:r>
              <a:rPr lang="en-US" b="1" dirty="0"/>
              <a:t>communicate ideas</a:t>
            </a:r>
            <a:r>
              <a:rPr lang="en-US" dirty="0"/>
              <a:t> clearly through advertisements, social media posts, emails, and website content.</a:t>
            </a:r>
          </a:p>
          <a:p>
            <a:pPr lvl="1"/>
            <a:r>
              <a:rPr lang="en-US" dirty="0"/>
              <a:t>Good communication helps </a:t>
            </a:r>
          </a:p>
          <a:p>
            <a:pPr lvl="2"/>
            <a:r>
              <a:rPr lang="en-US" dirty="0"/>
              <a:t>attract</a:t>
            </a:r>
          </a:p>
          <a:p>
            <a:pPr lvl="2"/>
            <a:r>
              <a:rPr lang="en-US" dirty="0"/>
              <a:t>Engage</a:t>
            </a:r>
          </a:p>
          <a:p>
            <a:pPr lvl="2"/>
            <a:r>
              <a:rPr lang="en-US" dirty="0"/>
              <a:t>retain customers</a:t>
            </a:r>
          </a:p>
          <a:p>
            <a:pPr lvl="1"/>
            <a:r>
              <a:rPr lang="en-US" dirty="0"/>
              <a:t>It also improves customer relationships and brand reputation.</a:t>
            </a:r>
          </a:p>
          <a:p>
            <a:pPr marL="457200" lvl="1" indent="0">
              <a:buNone/>
            </a:pPr>
            <a:endParaRPr lang="en-US" dirty="0"/>
          </a:p>
          <a:p>
            <a:pPr lvl="1"/>
            <a:r>
              <a:rPr lang="en-US" b="1" dirty="0"/>
              <a:t>Illustration:</a:t>
            </a:r>
            <a:r>
              <a:rPr lang="en-US" dirty="0"/>
              <a:t> </a:t>
            </a:r>
          </a:p>
          <a:p>
            <a:pPr lvl="2"/>
            <a:r>
              <a:rPr lang="en-US" dirty="0"/>
              <a:t>Writing an attractive Instagram caption to promote a new product launch.</a:t>
            </a:r>
          </a:p>
          <a:p>
            <a:pPr lvl="2"/>
            <a:r>
              <a:rPr lang="en-US" dirty="0"/>
              <a:t>Creating script for Ads, video and podcast.</a:t>
            </a:r>
          </a:p>
          <a:p>
            <a:endParaRPr lang="en-US" dirty="0"/>
          </a:p>
        </p:txBody>
      </p:sp>
      <p:pic>
        <p:nvPicPr>
          <p:cNvPr id="5" name="Picture 4">
            <a:extLst>
              <a:ext uri="{FF2B5EF4-FFF2-40B4-BE49-F238E27FC236}">
                <a16:creationId xmlns:a16="http://schemas.microsoft.com/office/drawing/2014/main" id="{7E31D61C-02B8-40DD-B99D-AB9A9220A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7966" y="1892444"/>
            <a:ext cx="3177213" cy="2114291"/>
          </a:xfrm>
          <a:prstGeom prst="rect">
            <a:avLst/>
          </a:prstGeom>
        </p:spPr>
      </p:pic>
    </p:spTree>
    <p:extLst>
      <p:ext uri="{BB962C8B-B14F-4D97-AF65-F5344CB8AC3E}">
        <p14:creationId xmlns:p14="http://schemas.microsoft.com/office/powerpoint/2010/main" val="250763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 Content Creation Skills</a:t>
            </a:r>
            <a:endParaRPr lang="en-US" dirty="0">
              <a:solidFill>
                <a:srgbClr val="C00000"/>
              </a:solidFill>
            </a:endParaRPr>
          </a:p>
          <a:p>
            <a:pPr lvl="1"/>
            <a:r>
              <a:rPr lang="en-US" dirty="0"/>
              <a:t>Creating </a:t>
            </a:r>
            <a:r>
              <a:rPr lang="en-US" b="1" dirty="0"/>
              <a:t>valuable and engaging content</a:t>
            </a:r>
            <a:r>
              <a:rPr lang="en-US" dirty="0"/>
              <a:t> is essential for digital marketing success.</a:t>
            </a:r>
          </a:p>
          <a:p>
            <a:pPr lvl="1"/>
            <a:r>
              <a:rPr lang="en-US" dirty="0"/>
              <a:t>Content can include </a:t>
            </a:r>
          </a:p>
          <a:p>
            <a:pPr lvl="2"/>
            <a:r>
              <a:rPr lang="en-US" dirty="0"/>
              <a:t>blogs, </a:t>
            </a:r>
          </a:p>
          <a:p>
            <a:pPr lvl="2"/>
            <a:r>
              <a:rPr lang="en-US" dirty="0"/>
              <a:t>videos, </a:t>
            </a:r>
          </a:p>
          <a:p>
            <a:pPr lvl="2"/>
            <a:r>
              <a:rPr lang="en-US" dirty="0"/>
              <a:t>social media posts, </a:t>
            </a:r>
          </a:p>
          <a:p>
            <a:pPr lvl="2"/>
            <a:r>
              <a:rPr lang="en-US" dirty="0"/>
              <a:t>infographics, </a:t>
            </a:r>
          </a:p>
          <a:p>
            <a:pPr lvl="2"/>
            <a:r>
              <a:rPr lang="en-US" dirty="0"/>
              <a:t>podcasts.</a:t>
            </a:r>
          </a:p>
          <a:p>
            <a:pPr lvl="1"/>
            <a:r>
              <a:rPr lang="en-US" dirty="0"/>
              <a:t>High-quality content helps educate customers and build trust.</a:t>
            </a:r>
          </a:p>
          <a:p>
            <a:pPr marL="457200" lvl="1" indent="0">
              <a:buNone/>
            </a:pPr>
            <a:endParaRPr lang="en-US" dirty="0"/>
          </a:p>
          <a:p>
            <a:pPr lvl="1"/>
            <a:r>
              <a:rPr lang="en-US" b="1" dirty="0"/>
              <a:t>Illustration:</a:t>
            </a:r>
            <a:r>
              <a:rPr lang="en-US" dirty="0"/>
              <a:t> Creating a video demonstration of your product </a:t>
            </a:r>
          </a:p>
          <a:p>
            <a:pPr lvl="2"/>
            <a:r>
              <a:rPr lang="en-US" dirty="0"/>
              <a:t> creating a poster of special discount for social media.</a:t>
            </a:r>
          </a:p>
        </p:txBody>
      </p:sp>
      <p:pic>
        <p:nvPicPr>
          <p:cNvPr id="5" name="Picture 4">
            <a:extLst>
              <a:ext uri="{FF2B5EF4-FFF2-40B4-BE49-F238E27FC236}">
                <a16:creationId xmlns:a16="http://schemas.microsoft.com/office/drawing/2014/main" id="{13DC1698-19B6-4726-8C5B-1E7F820C1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4148" y="1692766"/>
            <a:ext cx="4235289" cy="4235289"/>
          </a:xfrm>
          <a:prstGeom prst="rect">
            <a:avLst/>
          </a:prstGeom>
        </p:spPr>
      </p:pic>
    </p:spTree>
    <p:extLst>
      <p:ext uri="{BB962C8B-B14F-4D97-AF65-F5344CB8AC3E}">
        <p14:creationId xmlns:p14="http://schemas.microsoft.com/office/powerpoint/2010/main" val="66273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Search Engine Optimization (SEO) Skills</a:t>
            </a:r>
            <a:endParaRPr lang="en-US" dirty="0">
              <a:solidFill>
                <a:srgbClr val="C00000"/>
              </a:solidFill>
            </a:endParaRPr>
          </a:p>
          <a:p>
            <a:pPr lvl="1"/>
            <a:r>
              <a:rPr lang="en-US" dirty="0"/>
              <a:t>SEO skills help improve a </a:t>
            </a:r>
            <a:r>
              <a:rPr lang="en-US" b="1" dirty="0"/>
              <a:t>website's visibility</a:t>
            </a:r>
            <a:r>
              <a:rPr lang="en-US" dirty="0"/>
              <a:t> on search engines like Google.</a:t>
            </a:r>
          </a:p>
          <a:p>
            <a:pPr lvl="1"/>
            <a:r>
              <a:rPr lang="en-US" dirty="0"/>
              <a:t>Marketers must understand</a:t>
            </a:r>
          </a:p>
          <a:p>
            <a:pPr lvl="2"/>
            <a:r>
              <a:rPr lang="en-US" dirty="0"/>
              <a:t> keywords</a:t>
            </a:r>
          </a:p>
          <a:p>
            <a:pPr lvl="2"/>
            <a:r>
              <a:rPr lang="en-US" dirty="0"/>
              <a:t>Optimization of elements on web page</a:t>
            </a:r>
          </a:p>
          <a:p>
            <a:pPr lvl="2"/>
            <a:r>
              <a:rPr lang="en-US" dirty="0"/>
              <a:t>link building.</a:t>
            </a:r>
          </a:p>
          <a:p>
            <a:pPr lvl="1"/>
            <a:r>
              <a:rPr lang="en-US" dirty="0"/>
              <a:t>Better SEO leads to increased website traffic and brand awareness.</a:t>
            </a:r>
          </a:p>
          <a:p>
            <a:pPr marL="457200" lvl="1" indent="0">
              <a:buNone/>
            </a:pPr>
            <a:endParaRPr lang="en-US" dirty="0"/>
          </a:p>
          <a:p>
            <a:pPr lvl="1"/>
            <a:r>
              <a:rPr lang="en-US" b="1" dirty="0"/>
              <a:t>Illustration:</a:t>
            </a:r>
            <a:r>
              <a:rPr lang="en-US" dirty="0"/>
              <a:t> Optimizing a webpage using the keyword “best online shopping app.” So when someone search best online shopping app your app is visible.</a:t>
            </a:r>
          </a:p>
          <a:p>
            <a:endParaRPr lang="en-US" dirty="0"/>
          </a:p>
        </p:txBody>
      </p:sp>
      <p:pic>
        <p:nvPicPr>
          <p:cNvPr id="5" name="Picture 4">
            <a:extLst>
              <a:ext uri="{FF2B5EF4-FFF2-40B4-BE49-F238E27FC236}">
                <a16:creationId xmlns:a16="http://schemas.microsoft.com/office/drawing/2014/main" id="{1C05F059-6C8F-47AB-908A-61CAD8F80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4040" y="3748752"/>
            <a:ext cx="3810000" cy="2857500"/>
          </a:xfrm>
          <a:prstGeom prst="rect">
            <a:avLst/>
          </a:prstGeom>
        </p:spPr>
      </p:pic>
    </p:spTree>
    <p:extLst>
      <p:ext uri="{BB962C8B-B14F-4D97-AF65-F5344CB8AC3E}">
        <p14:creationId xmlns:p14="http://schemas.microsoft.com/office/powerpoint/2010/main" val="299643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Social Media Management Skills</a:t>
            </a:r>
            <a:endParaRPr lang="en-US" dirty="0">
              <a:solidFill>
                <a:srgbClr val="C00000"/>
              </a:solidFill>
            </a:endParaRPr>
          </a:p>
          <a:p>
            <a:pPr lvl="1"/>
            <a:r>
              <a:rPr lang="en-US" dirty="0"/>
              <a:t>Digital marketers should know how to </a:t>
            </a:r>
            <a:r>
              <a:rPr lang="en-US" b="1" dirty="0"/>
              <a:t>manage and promote brands </a:t>
            </a:r>
            <a:r>
              <a:rPr lang="en-US" dirty="0"/>
              <a:t>on social media platforms.</a:t>
            </a:r>
          </a:p>
          <a:p>
            <a:pPr lvl="1"/>
            <a:r>
              <a:rPr lang="en-US" dirty="0"/>
              <a:t>They must </a:t>
            </a:r>
          </a:p>
          <a:p>
            <a:pPr lvl="2"/>
            <a:r>
              <a:rPr lang="en-US" dirty="0"/>
              <a:t>create engaging posts</a:t>
            </a:r>
          </a:p>
          <a:p>
            <a:pPr lvl="2"/>
            <a:r>
              <a:rPr lang="en-US" dirty="0"/>
              <a:t>Understand Hashtag</a:t>
            </a:r>
          </a:p>
          <a:p>
            <a:pPr lvl="2"/>
            <a:r>
              <a:rPr lang="en-US" dirty="0"/>
              <a:t>Create attractive captions</a:t>
            </a:r>
          </a:p>
          <a:p>
            <a:pPr lvl="2"/>
            <a:r>
              <a:rPr lang="en-US" dirty="0"/>
              <a:t> interact with followers regularly.</a:t>
            </a:r>
          </a:p>
          <a:p>
            <a:pPr lvl="1"/>
            <a:r>
              <a:rPr lang="en-US" dirty="0"/>
              <a:t>Effective social media management increases customer engagement.</a:t>
            </a:r>
          </a:p>
          <a:p>
            <a:pPr lvl="1"/>
            <a:endParaRPr lang="en-US" dirty="0"/>
          </a:p>
          <a:p>
            <a:pPr lvl="1"/>
            <a:r>
              <a:rPr lang="en-US" b="1" dirty="0"/>
              <a:t>Illustration:</a:t>
            </a:r>
            <a:r>
              <a:rPr lang="en-US" dirty="0"/>
              <a:t> Running a Facebook campaign to promote a festive discount offer.</a:t>
            </a:r>
          </a:p>
          <a:p>
            <a:endParaRPr lang="en-US" dirty="0"/>
          </a:p>
        </p:txBody>
      </p:sp>
      <p:pic>
        <p:nvPicPr>
          <p:cNvPr id="5" name="Picture 4">
            <a:extLst>
              <a:ext uri="{FF2B5EF4-FFF2-40B4-BE49-F238E27FC236}">
                <a16:creationId xmlns:a16="http://schemas.microsoft.com/office/drawing/2014/main" id="{B9DE89BF-E720-4366-9D13-95C9BF54F063}"/>
              </a:ext>
            </a:extLst>
          </p:cNvPr>
          <p:cNvPicPr>
            <a:picLocks noChangeAspect="1"/>
          </p:cNvPicPr>
          <p:nvPr/>
        </p:nvPicPr>
        <p:blipFill rotWithShape="1">
          <a:blip r:embed="rId2">
            <a:extLst>
              <a:ext uri="{28A0092B-C50C-407E-A947-70E740481C1C}">
                <a14:useLocalDpi xmlns:a14="http://schemas.microsoft.com/office/drawing/2010/main" val="0"/>
              </a:ext>
            </a:extLst>
          </a:blip>
          <a:srcRect t="14359" b="16462"/>
          <a:stretch/>
        </p:blipFill>
        <p:spPr>
          <a:xfrm>
            <a:off x="1845425" y="4248266"/>
            <a:ext cx="8107787" cy="2205743"/>
          </a:xfrm>
          <a:prstGeom prst="rect">
            <a:avLst/>
          </a:prstGeom>
        </p:spPr>
      </p:pic>
    </p:spTree>
    <p:extLst>
      <p:ext uri="{BB962C8B-B14F-4D97-AF65-F5344CB8AC3E}">
        <p14:creationId xmlns:p14="http://schemas.microsoft.com/office/powerpoint/2010/main" val="106365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Data Analysis Skills</a:t>
            </a:r>
            <a:endParaRPr lang="en-US" dirty="0">
              <a:solidFill>
                <a:srgbClr val="C00000"/>
              </a:solidFill>
            </a:endParaRPr>
          </a:p>
          <a:p>
            <a:pPr lvl="1"/>
            <a:r>
              <a:rPr lang="en-US" dirty="0"/>
              <a:t>Basic Understanding of chart, graphs and numbers.</a:t>
            </a:r>
          </a:p>
          <a:p>
            <a:pPr lvl="1"/>
            <a:r>
              <a:rPr lang="en-US" dirty="0"/>
              <a:t>Data analysis helps marketers understand customer behavior and campaign performance.</a:t>
            </a:r>
          </a:p>
          <a:p>
            <a:pPr lvl="1"/>
            <a:r>
              <a:rPr lang="en-US" dirty="0"/>
              <a:t>Marketers analyze</a:t>
            </a:r>
          </a:p>
          <a:p>
            <a:pPr lvl="2"/>
            <a:r>
              <a:rPr lang="en-US" dirty="0"/>
              <a:t>Number of new customer reach</a:t>
            </a:r>
          </a:p>
          <a:p>
            <a:pPr lvl="2"/>
            <a:r>
              <a:rPr lang="en-US" dirty="0"/>
              <a:t>Web Traffic</a:t>
            </a:r>
          </a:p>
          <a:p>
            <a:pPr lvl="2"/>
            <a:r>
              <a:rPr lang="en-US" dirty="0"/>
              <a:t>Customer engagement</a:t>
            </a:r>
          </a:p>
          <a:p>
            <a:pPr lvl="2"/>
            <a:r>
              <a:rPr lang="en-US" dirty="0"/>
              <a:t>Return of Investment, etc.</a:t>
            </a:r>
          </a:p>
          <a:p>
            <a:pPr lvl="1"/>
            <a:r>
              <a:rPr lang="en-US" dirty="0"/>
              <a:t>Data-driven decisions improve marketing effectiveness.</a:t>
            </a:r>
          </a:p>
          <a:p>
            <a:pPr lvl="1"/>
            <a:endParaRPr lang="en-US" dirty="0"/>
          </a:p>
          <a:p>
            <a:pPr lvl="1"/>
            <a:r>
              <a:rPr lang="en-US" b="1" dirty="0"/>
              <a:t>Illustration:</a:t>
            </a:r>
            <a:r>
              <a:rPr lang="en-US" dirty="0"/>
              <a:t> Analyzing website traffic number of customers visiting a webpage to identify the most popular product pages on E-commerce site.</a:t>
            </a:r>
          </a:p>
          <a:p>
            <a:endParaRPr lang="en-US" dirty="0"/>
          </a:p>
        </p:txBody>
      </p:sp>
      <p:pic>
        <p:nvPicPr>
          <p:cNvPr id="5" name="Picture 4">
            <a:extLst>
              <a:ext uri="{FF2B5EF4-FFF2-40B4-BE49-F238E27FC236}">
                <a16:creationId xmlns:a16="http://schemas.microsoft.com/office/drawing/2014/main" id="{55267FEA-3659-4622-AEF0-462AE800F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5513" y="4596330"/>
            <a:ext cx="2955129" cy="2009922"/>
          </a:xfrm>
          <a:prstGeom prst="rect">
            <a:avLst/>
          </a:prstGeom>
        </p:spPr>
      </p:pic>
    </p:spTree>
    <p:extLst>
      <p:ext uri="{BB962C8B-B14F-4D97-AF65-F5344CB8AC3E}">
        <p14:creationId xmlns:p14="http://schemas.microsoft.com/office/powerpoint/2010/main" val="346461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Creativity and Innovation</a:t>
            </a:r>
            <a:endParaRPr lang="en-US" dirty="0">
              <a:solidFill>
                <a:srgbClr val="C00000"/>
              </a:solidFill>
            </a:endParaRPr>
          </a:p>
          <a:p>
            <a:pPr lvl="1"/>
            <a:r>
              <a:rPr lang="en-US" dirty="0"/>
              <a:t>Design </a:t>
            </a:r>
            <a:r>
              <a:rPr lang="en-US" b="1" dirty="0"/>
              <a:t>unique campaigns </a:t>
            </a:r>
            <a:r>
              <a:rPr lang="en-US" dirty="0"/>
              <a:t>that capture customer attention.</a:t>
            </a:r>
          </a:p>
          <a:p>
            <a:pPr lvl="1"/>
            <a:r>
              <a:rPr lang="en-US" dirty="0"/>
              <a:t>Innovative ideas make brands </a:t>
            </a:r>
            <a:r>
              <a:rPr lang="en-US" b="1" dirty="0"/>
              <a:t>stand out </a:t>
            </a:r>
            <a:r>
              <a:rPr lang="en-US" dirty="0"/>
              <a:t>from competitors.</a:t>
            </a:r>
          </a:p>
          <a:p>
            <a:pPr lvl="1"/>
            <a:r>
              <a:rPr lang="en-US" dirty="0"/>
              <a:t>It include</a:t>
            </a:r>
          </a:p>
          <a:p>
            <a:pPr lvl="2"/>
            <a:r>
              <a:rPr lang="en-US" dirty="0"/>
              <a:t>Mascot (Amul Girl, Duracell Rabbit)</a:t>
            </a:r>
          </a:p>
          <a:p>
            <a:pPr lvl="2"/>
            <a:r>
              <a:rPr lang="en-US" dirty="0"/>
              <a:t>Music or song</a:t>
            </a:r>
          </a:p>
          <a:p>
            <a:pPr lvl="2"/>
            <a:r>
              <a:rPr lang="en-US" dirty="0"/>
              <a:t>Color combinations</a:t>
            </a:r>
          </a:p>
          <a:p>
            <a:pPr lvl="2"/>
            <a:r>
              <a:rPr lang="en-US" dirty="0"/>
              <a:t>Attention grabbing content (Hook)</a:t>
            </a:r>
          </a:p>
          <a:p>
            <a:pPr lvl="2"/>
            <a:r>
              <a:rPr lang="en-US" dirty="0"/>
              <a:t>Viral content, etc.</a:t>
            </a:r>
          </a:p>
          <a:p>
            <a:pPr lvl="1"/>
            <a:r>
              <a:rPr lang="en-US" dirty="0"/>
              <a:t>Creative marketing improves audience engagement and brand recall.</a:t>
            </a:r>
          </a:p>
          <a:p>
            <a:pPr lvl="1"/>
            <a:endParaRPr lang="en-US" dirty="0"/>
          </a:p>
          <a:p>
            <a:pPr lvl="1"/>
            <a:r>
              <a:rPr lang="en-US" b="1" dirty="0"/>
              <a:t>Illustration:</a:t>
            </a:r>
            <a:r>
              <a:rPr lang="en-US" dirty="0"/>
              <a:t> Creating a viral social media challenge for a new product launch.</a:t>
            </a:r>
          </a:p>
          <a:p>
            <a:endParaRPr lang="en-US" dirty="0"/>
          </a:p>
        </p:txBody>
      </p:sp>
      <p:pic>
        <p:nvPicPr>
          <p:cNvPr id="5" name="Picture 4">
            <a:extLst>
              <a:ext uri="{FF2B5EF4-FFF2-40B4-BE49-F238E27FC236}">
                <a16:creationId xmlns:a16="http://schemas.microsoft.com/office/drawing/2014/main" id="{FCF37600-60F8-4A0C-8D17-14F213675BFD}"/>
              </a:ext>
            </a:extLst>
          </p:cNvPr>
          <p:cNvPicPr>
            <a:picLocks noChangeAspect="1"/>
          </p:cNvPicPr>
          <p:nvPr/>
        </p:nvPicPr>
        <p:blipFill rotWithShape="1">
          <a:blip r:embed="rId2">
            <a:extLst>
              <a:ext uri="{28A0092B-C50C-407E-A947-70E740481C1C}">
                <a14:useLocalDpi xmlns:a14="http://schemas.microsoft.com/office/drawing/2010/main" val="0"/>
              </a:ext>
            </a:extLst>
          </a:blip>
          <a:srcRect b="13733"/>
          <a:stretch/>
        </p:blipFill>
        <p:spPr>
          <a:xfrm>
            <a:off x="7225384" y="929667"/>
            <a:ext cx="4096207" cy="2499334"/>
          </a:xfrm>
          <a:prstGeom prst="rect">
            <a:avLst/>
          </a:prstGeom>
        </p:spPr>
      </p:pic>
    </p:spTree>
    <p:extLst>
      <p:ext uri="{BB962C8B-B14F-4D97-AF65-F5344CB8AC3E}">
        <p14:creationId xmlns:p14="http://schemas.microsoft.com/office/powerpoint/2010/main" val="281059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a:xfrm>
            <a:off x="131180" y="863444"/>
            <a:ext cx="6326181" cy="5590565"/>
          </a:xfrm>
        </p:spPr>
        <p:txBody>
          <a:bodyPr/>
          <a:lstStyle/>
          <a:p>
            <a:pPr marL="0" indent="0">
              <a:buNone/>
            </a:pPr>
            <a:r>
              <a:rPr lang="en-US" b="1" dirty="0">
                <a:solidFill>
                  <a:srgbClr val="C00000"/>
                </a:solidFill>
              </a:rPr>
              <a:t>Email Marketing Skills</a:t>
            </a:r>
          </a:p>
          <a:p>
            <a:pPr lvl="1"/>
            <a:r>
              <a:rPr lang="en-US" dirty="0"/>
              <a:t>Ability to create effective and personalized </a:t>
            </a:r>
            <a:r>
              <a:rPr lang="en-US" b="1" dirty="0"/>
              <a:t>email campaigns.</a:t>
            </a:r>
          </a:p>
          <a:p>
            <a:pPr lvl="1"/>
            <a:r>
              <a:rPr lang="en-US" dirty="0"/>
              <a:t>Marketers use emails to</a:t>
            </a:r>
          </a:p>
          <a:p>
            <a:pPr lvl="2"/>
            <a:r>
              <a:rPr lang="en-US" dirty="0"/>
              <a:t>Share offers </a:t>
            </a:r>
          </a:p>
          <a:p>
            <a:pPr lvl="2"/>
            <a:r>
              <a:rPr lang="en-US" dirty="0"/>
              <a:t>Updates</a:t>
            </a:r>
          </a:p>
          <a:p>
            <a:pPr lvl="2"/>
            <a:r>
              <a:rPr lang="en-US" dirty="0"/>
              <a:t>Important information.</a:t>
            </a:r>
          </a:p>
          <a:p>
            <a:pPr lvl="1"/>
            <a:r>
              <a:rPr lang="en-US" dirty="0"/>
              <a:t>Well-designed emails help increase customer engagement and sales.</a:t>
            </a:r>
          </a:p>
          <a:p>
            <a:pPr lvl="1"/>
            <a:endParaRPr lang="en-US" dirty="0"/>
          </a:p>
          <a:p>
            <a:pPr lvl="1"/>
            <a:r>
              <a:rPr lang="en-US" dirty="0"/>
              <a:t>Illustration: Sending personalized discount coupons to loyal customers through email.</a:t>
            </a:r>
          </a:p>
          <a:p>
            <a:endParaRPr lang="en-US" dirty="0"/>
          </a:p>
        </p:txBody>
      </p:sp>
      <p:pic>
        <p:nvPicPr>
          <p:cNvPr id="7" name="Picture 6">
            <a:extLst>
              <a:ext uri="{FF2B5EF4-FFF2-40B4-BE49-F238E27FC236}">
                <a16:creationId xmlns:a16="http://schemas.microsoft.com/office/drawing/2014/main" id="{5DF50525-40DA-4DA3-88F4-7AA0B57AF4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024" y="1822698"/>
            <a:ext cx="5660976" cy="3212603"/>
          </a:xfrm>
          <a:prstGeom prst="rect">
            <a:avLst/>
          </a:prstGeom>
        </p:spPr>
      </p:pic>
    </p:spTree>
    <p:extLst>
      <p:ext uri="{BB962C8B-B14F-4D97-AF65-F5344CB8AC3E}">
        <p14:creationId xmlns:p14="http://schemas.microsoft.com/office/powerpoint/2010/main" val="56965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53" presetClass="entr" presetSubtype="16"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p:cTn id="9" dur="500" fill="hold"/>
                                        <p:tgtEl>
                                          <p:spTgt spid="7"/>
                                        </p:tgtEl>
                                        <p:attrNameLst>
                                          <p:attrName>ppt_w</p:attrName>
                                        </p:attrNameLst>
                                      </p:cBhvr>
                                      <p:tavLst>
                                        <p:tav tm="0">
                                          <p:val>
                                            <p:fltVal val="0"/>
                                          </p:val>
                                        </p:tav>
                                        <p:tav tm="100000">
                                          <p:val>
                                            <p:strVal val="#ppt_w"/>
                                          </p:val>
                                        </p:tav>
                                      </p:tavLst>
                                    </p:anim>
                                    <p:anim calcmode="lin" valueType="num">
                                      <p:cBhvr>
                                        <p:cTn id="10" dur="500" fill="hold"/>
                                        <p:tgtEl>
                                          <p:spTgt spid="7"/>
                                        </p:tgtEl>
                                        <p:attrNameLst>
                                          <p:attrName>ppt_h</p:attrName>
                                        </p:attrNameLst>
                                      </p:cBhvr>
                                      <p:tavLst>
                                        <p:tav tm="0">
                                          <p:val>
                                            <p:fltVal val="0"/>
                                          </p:val>
                                        </p:tav>
                                        <p:tav tm="100000">
                                          <p:val>
                                            <p:strVal val="#ppt_h"/>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Advertising and Campaign Management Skills</a:t>
            </a:r>
            <a:endParaRPr lang="en-US" dirty="0">
              <a:solidFill>
                <a:srgbClr val="C00000"/>
              </a:solidFill>
            </a:endParaRPr>
          </a:p>
          <a:p>
            <a:pPr lvl="1"/>
            <a:r>
              <a:rPr lang="en-US" dirty="0"/>
              <a:t>How to create and manage online advertising campaigns.</a:t>
            </a:r>
          </a:p>
          <a:p>
            <a:pPr lvl="1"/>
            <a:r>
              <a:rPr lang="en-US" dirty="0"/>
              <a:t>They must </a:t>
            </a:r>
          </a:p>
          <a:p>
            <a:pPr lvl="2"/>
            <a:r>
              <a:rPr lang="en-US" dirty="0"/>
              <a:t>plan budgets</a:t>
            </a:r>
          </a:p>
          <a:p>
            <a:pPr lvl="2"/>
            <a:r>
              <a:rPr lang="en-US" dirty="0"/>
              <a:t>target audiences</a:t>
            </a:r>
          </a:p>
          <a:p>
            <a:pPr lvl="2"/>
            <a:r>
              <a:rPr lang="en-US" dirty="0"/>
              <a:t>monitor performance</a:t>
            </a:r>
          </a:p>
          <a:p>
            <a:pPr lvl="1"/>
            <a:r>
              <a:rPr lang="en-US" dirty="0"/>
              <a:t>Effective campaign management maximizes return on investment (ROI).</a:t>
            </a:r>
          </a:p>
          <a:p>
            <a:pPr lvl="1"/>
            <a:endParaRPr lang="en-US" dirty="0"/>
          </a:p>
          <a:p>
            <a:pPr lvl="1"/>
            <a:r>
              <a:rPr lang="en-US" b="1" dirty="0"/>
              <a:t>Illustration:</a:t>
            </a:r>
            <a:r>
              <a:rPr lang="en-US" dirty="0"/>
              <a:t> Running a Google Ads campaign for an online clothing store.</a:t>
            </a:r>
          </a:p>
          <a:p>
            <a:endParaRPr lang="en-US" dirty="0"/>
          </a:p>
        </p:txBody>
      </p:sp>
      <p:pic>
        <p:nvPicPr>
          <p:cNvPr id="5" name="Picture 4">
            <a:extLst>
              <a:ext uri="{FF2B5EF4-FFF2-40B4-BE49-F238E27FC236}">
                <a16:creationId xmlns:a16="http://schemas.microsoft.com/office/drawing/2014/main" id="{12A0797C-89D4-466D-AC54-066917C7F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301" y="4298622"/>
            <a:ext cx="2590406" cy="1554244"/>
          </a:xfrm>
          <a:prstGeom prst="rect">
            <a:avLst/>
          </a:prstGeom>
        </p:spPr>
      </p:pic>
      <p:pic>
        <p:nvPicPr>
          <p:cNvPr id="7" name="Picture 6">
            <a:extLst>
              <a:ext uri="{FF2B5EF4-FFF2-40B4-BE49-F238E27FC236}">
                <a16:creationId xmlns:a16="http://schemas.microsoft.com/office/drawing/2014/main" id="{F533FFC5-8D7D-45F3-A03C-7F9E52CF3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5161" y="4298622"/>
            <a:ext cx="2001678" cy="1554244"/>
          </a:xfrm>
          <a:prstGeom prst="rect">
            <a:avLst/>
          </a:prstGeom>
        </p:spPr>
      </p:pic>
      <p:pic>
        <p:nvPicPr>
          <p:cNvPr id="9" name="Picture 8">
            <a:extLst>
              <a:ext uri="{FF2B5EF4-FFF2-40B4-BE49-F238E27FC236}">
                <a16:creationId xmlns:a16="http://schemas.microsoft.com/office/drawing/2014/main" id="{3674E5B7-5EF4-498E-8B60-C5983C5923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6340" y="4298622"/>
            <a:ext cx="1879156" cy="1384264"/>
          </a:xfrm>
          <a:prstGeom prst="rect">
            <a:avLst/>
          </a:prstGeom>
        </p:spPr>
      </p:pic>
    </p:spTree>
    <p:extLst>
      <p:ext uri="{BB962C8B-B14F-4D97-AF65-F5344CB8AC3E}">
        <p14:creationId xmlns:p14="http://schemas.microsoft.com/office/powerpoint/2010/main" val="244919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0B7-2405-4DAC-9854-27A8ADAA2D92}"/>
              </a:ext>
            </a:extLst>
          </p:cNvPr>
          <p:cNvSpPr>
            <a:spLocks noGrp="1"/>
          </p:cNvSpPr>
          <p:nvPr>
            <p:ph type="title"/>
          </p:nvPr>
        </p:nvSpPr>
        <p:spPr/>
        <p:txBody>
          <a:bodyPr>
            <a:normAutofit/>
          </a:bodyPr>
          <a:lstStyle/>
          <a:p>
            <a:r>
              <a:rPr lang="en-US" dirty="0"/>
              <a:t>Skills Required in Digital Marketing</a:t>
            </a:r>
          </a:p>
        </p:txBody>
      </p:sp>
      <p:sp>
        <p:nvSpPr>
          <p:cNvPr id="3" name="Content Placeholder 2">
            <a:extLst>
              <a:ext uri="{FF2B5EF4-FFF2-40B4-BE49-F238E27FC236}">
                <a16:creationId xmlns:a16="http://schemas.microsoft.com/office/drawing/2014/main" id="{67D457E5-81DB-4213-8402-0DF9810B276A}"/>
              </a:ext>
            </a:extLst>
          </p:cNvPr>
          <p:cNvSpPr>
            <a:spLocks noGrp="1"/>
          </p:cNvSpPr>
          <p:nvPr>
            <p:ph idx="1"/>
          </p:nvPr>
        </p:nvSpPr>
        <p:spPr/>
        <p:txBody>
          <a:bodyPr/>
          <a:lstStyle/>
          <a:p>
            <a:pPr marL="0" indent="0">
              <a:buNone/>
            </a:pPr>
            <a:r>
              <a:rPr lang="en-US" b="1" dirty="0">
                <a:solidFill>
                  <a:srgbClr val="C00000"/>
                </a:solidFill>
              </a:rPr>
              <a:t>Adaptability and Continuous Learning</a:t>
            </a:r>
            <a:endParaRPr lang="en-US" dirty="0">
              <a:solidFill>
                <a:srgbClr val="C00000"/>
              </a:solidFill>
            </a:endParaRPr>
          </a:p>
          <a:p>
            <a:pPr lvl="1"/>
            <a:r>
              <a:rPr lang="en-US" dirty="0"/>
              <a:t>Digital marketing trends and </a:t>
            </a:r>
            <a:r>
              <a:rPr lang="en-US" b="1" dirty="0"/>
              <a:t>technologies change rapidly</a:t>
            </a:r>
            <a:r>
              <a:rPr lang="en-US" dirty="0"/>
              <a:t>.</a:t>
            </a:r>
          </a:p>
          <a:p>
            <a:pPr lvl="1"/>
            <a:r>
              <a:rPr lang="en-US" dirty="0"/>
              <a:t>Marketers must continuously update their knowledge and skills.</a:t>
            </a:r>
          </a:p>
          <a:p>
            <a:pPr lvl="1"/>
            <a:r>
              <a:rPr lang="en-US" dirty="0"/>
              <a:t>Staying updated helps businesses remain competitive in the digital world.</a:t>
            </a:r>
          </a:p>
          <a:p>
            <a:pPr marL="457200" lvl="1" indent="0">
              <a:buNone/>
            </a:pPr>
            <a:endParaRPr lang="en-US" dirty="0"/>
          </a:p>
          <a:p>
            <a:pPr lvl="1"/>
            <a:r>
              <a:rPr lang="en-US" b="1" dirty="0"/>
              <a:t>Illustration:</a:t>
            </a:r>
            <a:r>
              <a:rPr lang="en-US" dirty="0"/>
              <a:t> Learning to use new AI-powered marketing tools for content creation and analytics.</a:t>
            </a:r>
          </a:p>
          <a:p>
            <a:endParaRPr lang="en-US" dirty="0"/>
          </a:p>
        </p:txBody>
      </p:sp>
      <p:pic>
        <p:nvPicPr>
          <p:cNvPr id="5" name="Picture 4">
            <a:extLst>
              <a:ext uri="{FF2B5EF4-FFF2-40B4-BE49-F238E27FC236}">
                <a16:creationId xmlns:a16="http://schemas.microsoft.com/office/drawing/2014/main" id="{A409CF56-017D-46FB-A0E2-EDC062040EDD}"/>
              </a:ext>
            </a:extLst>
          </p:cNvPr>
          <p:cNvPicPr>
            <a:picLocks noChangeAspect="1"/>
          </p:cNvPicPr>
          <p:nvPr/>
        </p:nvPicPr>
        <p:blipFill rotWithShape="1">
          <a:blip r:embed="rId2">
            <a:extLst>
              <a:ext uri="{28A0092B-C50C-407E-A947-70E740481C1C}">
                <a14:useLocalDpi xmlns:a14="http://schemas.microsoft.com/office/drawing/2010/main" val="0"/>
              </a:ext>
            </a:extLst>
          </a:blip>
          <a:srcRect t="8869"/>
          <a:stretch/>
        </p:blipFill>
        <p:spPr>
          <a:xfrm>
            <a:off x="3979297" y="3429000"/>
            <a:ext cx="4233405" cy="3025009"/>
          </a:xfrm>
          <a:prstGeom prst="rect">
            <a:avLst/>
          </a:prstGeom>
        </p:spPr>
      </p:pic>
    </p:spTree>
    <p:extLst>
      <p:ext uri="{BB962C8B-B14F-4D97-AF65-F5344CB8AC3E}">
        <p14:creationId xmlns:p14="http://schemas.microsoft.com/office/powerpoint/2010/main" val="2119372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BEB89-0136-48D7-B6E4-827D8D16ECB6}"/>
              </a:ext>
            </a:extLst>
          </p:cNvPr>
          <p:cNvSpPr>
            <a:spLocks noGrp="1"/>
          </p:cNvSpPr>
          <p:nvPr>
            <p:ph type="title"/>
          </p:nvPr>
        </p:nvSpPr>
        <p:spPr/>
        <p:txBody>
          <a:bodyPr/>
          <a:lstStyle/>
          <a:p>
            <a:r>
              <a:rPr lang="en-US" sz="6000" dirty="0"/>
              <a:t>Implications for Business &amp; Society of Digital Marketing</a:t>
            </a:r>
            <a:endParaRPr lang="en-US" dirty="0"/>
          </a:p>
        </p:txBody>
      </p:sp>
      <p:sp>
        <p:nvSpPr>
          <p:cNvPr id="3" name="Text Placeholder 2">
            <a:extLst>
              <a:ext uri="{FF2B5EF4-FFF2-40B4-BE49-F238E27FC236}">
                <a16:creationId xmlns:a16="http://schemas.microsoft.com/office/drawing/2014/main" id="{E548C801-0E72-4A4C-ACB6-AAF9FEFF690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29373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1C52-B2E4-44C7-8C30-37AD8137C3E8}"/>
              </a:ext>
            </a:extLst>
          </p:cNvPr>
          <p:cNvSpPr>
            <a:spLocks noGrp="1"/>
          </p:cNvSpPr>
          <p:nvPr>
            <p:ph type="title"/>
          </p:nvPr>
        </p:nvSpPr>
        <p:spPr/>
        <p:txBody>
          <a:bodyPr/>
          <a:lstStyle/>
          <a:p>
            <a:r>
              <a:rPr lang="en-US" dirty="0"/>
              <a:t>Implication for business</a:t>
            </a:r>
          </a:p>
        </p:txBody>
      </p:sp>
      <p:sp>
        <p:nvSpPr>
          <p:cNvPr id="3" name="Content Placeholder 2">
            <a:extLst>
              <a:ext uri="{FF2B5EF4-FFF2-40B4-BE49-F238E27FC236}">
                <a16:creationId xmlns:a16="http://schemas.microsoft.com/office/drawing/2014/main" id="{F2DB9B10-2D45-4733-A28E-0C6B25C7E105}"/>
              </a:ext>
            </a:extLst>
          </p:cNvPr>
          <p:cNvSpPr>
            <a:spLocks noGrp="1"/>
          </p:cNvSpPr>
          <p:nvPr>
            <p:ph idx="1"/>
          </p:nvPr>
        </p:nvSpPr>
        <p:spPr/>
        <p:txBody>
          <a:bodyPr/>
          <a:lstStyle/>
          <a:p>
            <a:r>
              <a:rPr lang="en-US" b="1" dirty="0"/>
              <a:t>Global Reach:</a:t>
            </a:r>
            <a:r>
              <a:rPr lang="en-US" dirty="0"/>
              <a:t> Small shops can easily sell to customers anywhere in the world.</a:t>
            </a:r>
          </a:p>
          <a:p>
            <a:r>
              <a:rPr lang="en-US" b="1" dirty="0"/>
              <a:t>Smart Targeting:</a:t>
            </a:r>
            <a:r>
              <a:rPr lang="en-US" dirty="0"/>
              <a:t> Ads are shown only to people who are likely to buy (based on age, interests, or location).</a:t>
            </a:r>
          </a:p>
          <a:p>
            <a:r>
              <a:rPr lang="en-US" b="1" dirty="0"/>
              <a:t>Trackable Results:</a:t>
            </a:r>
            <a:r>
              <a:rPr lang="en-US" dirty="0"/>
              <a:t> Companies can see exactly how many people clicked an ad and what they bought.</a:t>
            </a:r>
          </a:p>
          <a:p>
            <a:r>
              <a:rPr lang="en-US" b="1" dirty="0"/>
              <a:t>Save Money:</a:t>
            </a:r>
            <a:r>
              <a:rPr lang="en-US" dirty="0"/>
              <a:t> Digital ads are much cheaper and more flexible than TV or billboard ads.</a:t>
            </a:r>
          </a:p>
          <a:p>
            <a:r>
              <a:rPr lang="en-US" b="1" dirty="0"/>
              <a:t>Trapped by Algorithms:</a:t>
            </a:r>
            <a:r>
              <a:rPr lang="en-US" dirty="0"/>
              <a:t> If Google or Instagram changes its rules, a business can lose its audience overnight.</a:t>
            </a:r>
          </a:p>
          <a:p>
            <a:r>
              <a:rPr lang="en-US" b="1" dirty="0"/>
              <a:t>Too Much Competition:</a:t>
            </a:r>
            <a:r>
              <a:rPr lang="en-US" dirty="0"/>
              <a:t> The internet is crowded. It is very hard for a brand to stand out.</a:t>
            </a:r>
          </a:p>
        </p:txBody>
      </p:sp>
    </p:spTree>
    <p:extLst>
      <p:ext uri="{BB962C8B-B14F-4D97-AF65-F5344CB8AC3E}">
        <p14:creationId xmlns:p14="http://schemas.microsoft.com/office/powerpoint/2010/main" val="145153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2C02C-9927-4731-AF69-2104D3073FBB}"/>
              </a:ext>
            </a:extLst>
          </p:cNvPr>
          <p:cNvSpPr>
            <a:spLocks noGrp="1"/>
          </p:cNvSpPr>
          <p:nvPr>
            <p:ph type="title"/>
          </p:nvPr>
        </p:nvSpPr>
        <p:spPr/>
        <p:txBody>
          <a:bodyPr/>
          <a:lstStyle/>
          <a:p>
            <a:r>
              <a:rPr lang="en-US" dirty="0"/>
              <a:t>Implication for Society</a:t>
            </a:r>
          </a:p>
        </p:txBody>
      </p:sp>
      <p:sp>
        <p:nvSpPr>
          <p:cNvPr id="3" name="Content Placeholder 2">
            <a:extLst>
              <a:ext uri="{FF2B5EF4-FFF2-40B4-BE49-F238E27FC236}">
                <a16:creationId xmlns:a16="http://schemas.microsoft.com/office/drawing/2014/main" id="{BB4E46AF-89B6-4A54-BE9D-B18CA918C329}"/>
              </a:ext>
            </a:extLst>
          </p:cNvPr>
          <p:cNvSpPr>
            <a:spLocks noGrp="1"/>
          </p:cNvSpPr>
          <p:nvPr>
            <p:ph idx="1"/>
          </p:nvPr>
        </p:nvSpPr>
        <p:spPr/>
        <p:txBody>
          <a:bodyPr/>
          <a:lstStyle/>
          <a:p>
            <a:r>
              <a:rPr lang="en-US" b="1" dirty="0"/>
              <a:t>Power to the Buyer:</a:t>
            </a:r>
            <a:r>
              <a:rPr lang="en-US" dirty="0"/>
              <a:t> Customers can read reviews and compare prices instantly before buying.</a:t>
            </a:r>
          </a:p>
          <a:p>
            <a:r>
              <a:rPr lang="en-US" b="1" dirty="0"/>
              <a:t>Demand for Honesty:</a:t>
            </a:r>
            <a:r>
              <a:rPr lang="en-US" dirty="0"/>
              <a:t> Fake or bad products are exposed quickly online, forcing brands to be more honest.</a:t>
            </a:r>
          </a:p>
          <a:p>
            <a:r>
              <a:rPr lang="en-US" b="1" dirty="0"/>
              <a:t>The Privacy Trade-off:</a:t>
            </a:r>
            <a:r>
              <a:rPr lang="en-US" dirty="0"/>
              <a:t> To get personalized ads and recommendations, we give up a lot of our private personal data.</a:t>
            </a:r>
          </a:p>
          <a:p>
            <a:r>
              <a:rPr lang="en-US" b="1" dirty="0"/>
              <a:t>Echo Chambers:</a:t>
            </a:r>
            <a:r>
              <a:rPr lang="en-US" dirty="0"/>
              <a:t> People are only shown ideas they already agree with, creating social division.</a:t>
            </a:r>
          </a:p>
          <a:p>
            <a:r>
              <a:rPr lang="en-US" b="1" dirty="0"/>
              <a:t>The Digital Divide:</a:t>
            </a:r>
            <a:r>
              <a:rPr lang="en-US" dirty="0"/>
              <a:t> One-third of the world is still offline, meaning they get left out of these economic opportunities.</a:t>
            </a:r>
          </a:p>
        </p:txBody>
      </p:sp>
    </p:spTree>
    <p:extLst>
      <p:ext uri="{BB962C8B-B14F-4D97-AF65-F5344CB8AC3E}">
        <p14:creationId xmlns:p14="http://schemas.microsoft.com/office/powerpoint/2010/main" val="28050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6E4A-5E07-4190-B9AE-9AFB7A8E50DF}"/>
              </a:ext>
            </a:extLst>
          </p:cNvPr>
          <p:cNvSpPr>
            <a:spLocks noGrp="1"/>
          </p:cNvSpPr>
          <p:nvPr>
            <p:ph type="title"/>
          </p:nvPr>
        </p:nvSpPr>
        <p:spPr/>
        <p:txBody>
          <a:bodyPr/>
          <a:lstStyle/>
          <a:p>
            <a:r>
              <a:rPr lang="en-US" sz="6000" dirty="0"/>
              <a:t>Infographics</a:t>
            </a:r>
            <a:endParaRPr lang="en-US" dirty="0"/>
          </a:p>
        </p:txBody>
      </p:sp>
      <p:sp>
        <p:nvSpPr>
          <p:cNvPr id="3" name="Text Placeholder 2">
            <a:extLst>
              <a:ext uri="{FF2B5EF4-FFF2-40B4-BE49-F238E27FC236}">
                <a16:creationId xmlns:a16="http://schemas.microsoft.com/office/drawing/2014/main" id="{A0A795E1-6592-40A3-B6E7-08D7DC55621E}"/>
              </a:ext>
            </a:extLst>
          </p:cNvPr>
          <p:cNvSpPr>
            <a:spLocks noGrp="1"/>
          </p:cNvSpPr>
          <p:nvPr>
            <p:ph type="body" idx="1"/>
          </p:nvPr>
        </p:nvSpPr>
        <p:spPr/>
        <p:txBody>
          <a:bodyPr/>
          <a:lstStyle/>
          <a:p>
            <a:pPr marL="342900" indent="-342900">
              <a:buFontTx/>
              <a:buChar char="-"/>
            </a:pPr>
            <a:r>
              <a:rPr lang="en-US" sz="2400" dirty="0"/>
              <a:t>Introduction</a:t>
            </a:r>
          </a:p>
          <a:p>
            <a:pPr marL="342900" indent="-342900">
              <a:buFontTx/>
              <a:buChar char="-"/>
            </a:pPr>
            <a:r>
              <a:rPr lang="en-US" sz="2400" dirty="0"/>
              <a:t>Why Infographics? </a:t>
            </a:r>
          </a:p>
          <a:p>
            <a:pPr marL="342900" indent="-342900">
              <a:buFontTx/>
              <a:buChar char="-"/>
            </a:pPr>
            <a:r>
              <a:rPr lang="en-US" sz="2400" dirty="0"/>
              <a:t>Types of Infographics</a:t>
            </a:r>
            <a:endParaRPr lang="en-IN" dirty="0"/>
          </a:p>
          <a:p>
            <a:endParaRPr lang="en-US" dirty="0"/>
          </a:p>
        </p:txBody>
      </p:sp>
    </p:spTree>
    <p:extLst>
      <p:ext uri="{BB962C8B-B14F-4D97-AF65-F5344CB8AC3E}">
        <p14:creationId xmlns:p14="http://schemas.microsoft.com/office/powerpoint/2010/main" val="31089316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77EE-1EDE-444A-A82A-5C12A9ECEF00}"/>
              </a:ext>
            </a:extLst>
          </p:cNvPr>
          <p:cNvSpPr>
            <a:spLocks noGrp="1"/>
          </p:cNvSpPr>
          <p:nvPr>
            <p:ph type="title"/>
          </p:nvPr>
        </p:nvSpPr>
        <p:spPr/>
        <p:txBody>
          <a:bodyPr>
            <a:normAutofit/>
          </a:bodyPr>
          <a:lstStyle/>
          <a:p>
            <a:r>
              <a:rPr lang="en-US" dirty="0"/>
              <a:t>Introduction of Infographics</a:t>
            </a:r>
          </a:p>
        </p:txBody>
      </p:sp>
      <p:sp>
        <p:nvSpPr>
          <p:cNvPr id="3" name="Content Placeholder 2">
            <a:extLst>
              <a:ext uri="{FF2B5EF4-FFF2-40B4-BE49-F238E27FC236}">
                <a16:creationId xmlns:a16="http://schemas.microsoft.com/office/drawing/2014/main" id="{FCBF2F54-5D81-480F-8409-72E8A91495B0}"/>
              </a:ext>
            </a:extLst>
          </p:cNvPr>
          <p:cNvSpPr>
            <a:spLocks noGrp="1"/>
          </p:cNvSpPr>
          <p:nvPr>
            <p:ph idx="1"/>
          </p:nvPr>
        </p:nvSpPr>
        <p:spPr>
          <a:xfrm>
            <a:off x="131181" y="863444"/>
            <a:ext cx="7619318" cy="5590565"/>
          </a:xfrm>
        </p:spPr>
        <p:txBody>
          <a:bodyPr/>
          <a:lstStyle/>
          <a:p>
            <a:pPr lvl="0"/>
            <a:r>
              <a:rPr lang="en-US" dirty="0"/>
              <a:t>An infographic is a </a:t>
            </a:r>
            <a:r>
              <a:rPr lang="en-US" b="1" dirty="0"/>
              <a:t>visual representation of information, data, or knowledge using graphics, icons, charts, and text.</a:t>
            </a:r>
          </a:p>
          <a:p>
            <a:pPr lvl="0"/>
            <a:r>
              <a:rPr lang="en-US" dirty="0"/>
              <a:t>It helps present complex information in a </a:t>
            </a:r>
            <a:r>
              <a:rPr lang="en-US" b="1" dirty="0"/>
              <a:t>simple and attractive format.</a:t>
            </a:r>
          </a:p>
          <a:p>
            <a:pPr lvl="0"/>
            <a:r>
              <a:rPr lang="en-US" dirty="0"/>
              <a:t>Infographics </a:t>
            </a:r>
            <a:r>
              <a:rPr lang="en-US" b="1" dirty="0"/>
              <a:t>improve understanding </a:t>
            </a:r>
            <a:r>
              <a:rPr lang="en-US" dirty="0"/>
              <a:t>and make content easier to remember.</a:t>
            </a:r>
          </a:p>
          <a:p>
            <a:pPr lvl="0"/>
            <a:r>
              <a:rPr lang="en-US" dirty="0"/>
              <a:t>They are widely used in </a:t>
            </a:r>
            <a:r>
              <a:rPr lang="en-US" b="1" dirty="0"/>
              <a:t>digital marketing, education, and business communication.</a:t>
            </a:r>
          </a:p>
          <a:p>
            <a:r>
              <a:rPr lang="en-US" b="1" dirty="0"/>
              <a:t>Illustration:</a:t>
            </a:r>
            <a:r>
              <a:rPr lang="en-US" dirty="0"/>
              <a:t> An infographic showing Save Environment.</a:t>
            </a:r>
          </a:p>
        </p:txBody>
      </p:sp>
      <p:pic>
        <p:nvPicPr>
          <p:cNvPr id="5" name="Picture 4">
            <a:extLst>
              <a:ext uri="{FF2B5EF4-FFF2-40B4-BE49-F238E27FC236}">
                <a16:creationId xmlns:a16="http://schemas.microsoft.com/office/drawing/2014/main" id="{77B7D4D9-01D2-439D-9646-DE8BE8FB6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680" y="711201"/>
            <a:ext cx="4179139" cy="5889104"/>
          </a:xfrm>
          <a:prstGeom prst="rect">
            <a:avLst/>
          </a:prstGeom>
        </p:spPr>
      </p:pic>
    </p:spTree>
    <p:extLst>
      <p:ext uri="{BB962C8B-B14F-4D97-AF65-F5344CB8AC3E}">
        <p14:creationId xmlns:p14="http://schemas.microsoft.com/office/powerpoint/2010/main" val="402630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2724-4EC7-4B38-8771-0D096126B073}"/>
              </a:ext>
            </a:extLst>
          </p:cNvPr>
          <p:cNvSpPr>
            <a:spLocks noGrp="1"/>
          </p:cNvSpPr>
          <p:nvPr>
            <p:ph type="title"/>
          </p:nvPr>
        </p:nvSpPr>
        <p:spPr/>
        <p:txBody>
          <a:bodyPr/>
          <a:lstStyle/>
          <a:p>
            <a:r>
              <a:rPr lang="en-US" dirty="0"/>
              <a:t>Why Infographics?</a:t>
            </a:r>
          </a:p>
        </p:txBody>
      </p:sp>
      <p:sp>
        <p:nvSpPr>
          <p:cNvPr id="3" name="Content Placeholder 2">
            <a:extLst>
              <a:ext uri="{FF2B5EF4-FFF2-40B4-BE49-F238E27FC236}">
                <a16:creationId xmlns:a16="http://schemas.microsoft.com/office/drawing/2014/main" id="{26B0A10C-472D-48D4-9067-E9DF1273D02A}"/>
              </a:ext>
            </a:extLst>
          </p:cNvPr>
          <p:cNvSpPr>
            <a:spLocks noGrp="1"/>
          </p:cNvSpPr>
          <p:nvPr>
            <p:ph idx="1"/>
          </p:nvPr>
        </p:nvSpPr>
        <p:spPr/>
        <p:txBody>
          <a:bodyPr/>
          <a:lstStyle/>
          <a:p>
            <a:r>
              <a:rPr lang="en-US" b="1" dirty="0"/>
              <a:t>Easy to Understand</a:t>
            </a:r>
            <a:endParaRPr lang="en-US" dirty="0"/>
          </a:p>
          <a:p>
            <a:pPr lvl="1"/>
            <a:r>
              <a:rPr lang="en-US" dirty="0"/>
              <a:t>Infographics convert lengthy and complex information into simple visual content.</a:t>
            </a:r>
          </a:p>
          <a:p>
            <a:pPr lvl="1"/>
            <a:r>
              <a:rPr lang="en-US" dirty="0"/>
              <a:t>They help users quickly grasp important concepts and key messages.</a:t>
            </a:r>
          </a:p>
          <a:p>
            <a:r>
              <a:rPr lang="en-US" b="1" dirty="0"/>
              <a:t>Increases Engagement</a:t>
            </a:r>
          </a:p>
          <a:p>
            <a:pPr lvl="1"/>
            <a:r>
              <a:rPr lang="en-US" dirty="0"/>
              <a:t>People are more likely to view and share visually appealing content.</a:t>
            </a:r>
          </a:p>
          <a:p>
            <a:pPr lvl="1"/>
            <a:r>
              <a:rPr lang="en-US" dirty="0"/>
              <a:t>Infographics attract attention on websites and social media platforms.</a:t>
            </a:r>
          </a:p>
          <a:p>
            <a:r>
              <a:rPr lang="en-US" b="1" dirty="0"/>
              <a:t>Improves Information Retention</a:t>
            </a:r>
            <a:endParaRPr lang="en-US" dirty="0"/>
          </a:p>
          <a:p>
            <a:pPr lvl="1"/>
            <a:r>
              <a:rPr lang="en-US" dirty="0"/>
              <a:t>Visual content is easier to remember than plain text.</a:t>
            </a:r>
          </a:p>
          <a:p>
            <a:pPr lvl="1"/>
            <a:r>
              <a:rPr lang="en-US" dirty="0"/>
              <a:t>Combining images, icons, and statistics helps users retain information longer.</a:t>
            </a:r>
          </a:p>
          <a:p>
            <a:r>
              <a:rPr lang="en-US" b="1" dirty="0"/>
              <a:t>Enhances Brand Awareness</a:t>
            </a:r>
            <a:endParaRPr lang="en-US" dirty="0"/>
          </a:p>
          <a:p>
            <a:pPr lvl="1"/>
            <a:r>
              <a:rPr lang="en-US" dirty="0"/>
              <a:t>Businesses can use branded infographics to communicate information professionally.</a:t>
            </a:r>
          </a:p>
          <a:p>
            <a:pPr lvl="1"/>
            <a:r>
              <a:rPr lang="en-US" dirty="0"/>
              <a:t>Consistent use of logos, colors, and design elements strengthens brand identity.</a:t>
            </a:r>
          </a:p>
          <a:p>
            <a:endParaRPr lang="en-US" b="1" dirty="0"/>
          </a:p>
          <a:p>
            <a:endParaRPr lang="en-US" dirty="0"/>
          </a:p>
          <a:p>
            <a:pPr marL="457200" lvl="1" indent="0">
              <a:buNone/>
            </a:pPr>
            <a:r>
              <a:rPr lang="en-US" dirty="0"/>
              <a:t>.</a:t>
            </a:r>
          </a:p>
          <a:p>
            <a:endParaRPr lang="en-US" dirty="0"/>
          </a:p>
        </p:txBody>
      </p:sp>
    </p:spTree>
    <p:extLst>
      <p:ext uri="{BB962C8B-B14F-4D97-AF65-F5344CB8AC3E}">
        <p14:creationId xmlns:p14="http://schemas.microsoft.com/office/powerpoint/2010/main" val="246580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64D1-B932-417E-88C0-9FC110C082B0}"/>
              </a:ext>
            </a:extLst>
          </p:cNvPr>
          <p:cNvSpPr>
            <a:spLocks noGrp="1"/>
          </p:cNvSpPr>
          <p:nvPr>
            <p:ph type="title"/>
          </p:nvPr>
        </p:nvSpPr>
        <p:spPr/>
        <p:txBody>
          <a:bodyPr/>
          <a:lstStyle/>
          <a:p>
            <a:r>
              <a:rPr lang="en-US" dirty="0"/>
              <a:t>Types of Infographics</a:t>
            </a:r>
          </a:p>
        </p:txBody>
      </p:sp>
      <p:graphicFrame>
        <p:nvGraphicFramePr>
          <p:cNvPr id="6" name="Content Placeholder 5">
            <a:extLst>
              <a:ext uri="{FF2B5EF4-FFF2-40B4-BE49-F238E27FC236}">
                <a16:creationId xmlns:a16="http://schemas.microsoft.com/office/drawing/2014/main" id="{DF5E87D1-07BD-4C33-BFD5-FBE72B13D630}"/>
              </a:ext>
            </a:extLst>
          </p:cNvPr>
          <p:cNvGraphicFramePr>
            <a:graphicFrameLocks noGrp="1"/>
          </p:cNvGraphicFramePr>
          <p:nvPr>
            <p:ph idx="1"/>
            <p:extLst>
              <p:ext uri="{D42A27DB-BD31-4B8C-83A1-F6EECF244321}">
                <p14:modId xmlns:p14="http://schemas.microsoft.com/office/powerpoint/2010/main" val="1752904390"/>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5746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3499286F-8690-483E-B64E-5CEEED6CC482}"/>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2C9AD620-1C60-4FFE-AB88-EAEE4FF6CF5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FC4AC079-F4C6-4E09-8673-8ACE3FFA05C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D756CD92-E468-491C-AD26-CDE818372260}"/>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D4A456BC-C7D1-4709-B31E-13174640744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EF6D743-CEDD-46CD-9C1D-69D4FA6B6356}"/>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FD669AE0-EF3A-4E7E-BCDC-85AE4CA57823}"/>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graphicEl>
                                              <a:dgm id="{D7820115-2570-4E43-BE7A-EB5E11B61DA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Process Infographics</a:t>
            </a:r>
          </a:p>
          <a:p>
            <a:pPr lvl="1"/>
            <a:r>
              <a:rPr lang="en-US" dirty="0"/>
              <a:t>Used to explain the </a:t>
            </a:r>
            <a:r>
              <a:rPr lang="en-US" b="1" dirty="0"/>
              <a:t>steps of a process </a:t>
            </a:r>
            <a:r>
              <a:rPr lang="en-US" dirty="0"/>
              <a:t>in a simple way.</a:t>
            </a:r>
          </a:p>
          <a:p>
            <a:pPr lvl="1"/>
            <a:r>
              <a:rPr lang="en-US" dirty="0"/>
              <a:t>Helps readers understand a </a:t>
            </a:r>
            <a:r>
              <a:rPr lang="en-US" b="1" dirty="0"/>
              <a:t>procedure </a:t>
            </a:r>
            <a:r>
              <a:rPr lang="en-US" dirty="0"/>
              <a:t>from start to finish.</a:t>
            </a:r>
          </a:p>
          <a:p>
            <a:pPr lvl="1"/>
            <a:r>
              <a:rPr lang="en-US" dirty="0"/>
              <a:t>Usually follows a </a:t>
            </a:r>
            <a:r>
              <a:rPr lang="en-US" b="1" dirty="0"/>
              <a:t>top-to-bottom or left-to-right flow</a:t>
            </a:r>
            <a:r>
              <a:rPr lang="en-US" dirty="0"/>
              <a:t>.</a:t>
            </a:r>
          </a:p>
          <a:p>
            <a:pPr lvl="1"/>
            <a:r>
              <a:rPr lang="en-US" dirty="0"/>
              <a:t>Numbering the steps makes the process easy to follow.</a:t>
            </a:r>
          </a:p>
          <a:p>
            <a:pPr lvl="1"/>
            <a:r>
              <a:rPr lang="en-US" b="1" dirty="0"/>
              <a:t>Example: </a:t>
            </a:r>
            <a:r>
              <a:rPr lang="en-US" dirty="0"/>
              <a:t>Steps involved in Online Shopping.</a:t>
            </a:r>
          </a:p>
          <a:p>
            <a:endParaRPr lang="en-US" dirty="0"/>
          </a:p>
        </p:txBody>
      </p:sp>
      <p:pic>
        <p:nvPicPr>
          <p:cNvPr id="7" name="Picture 6">
            <a:extLst>
              <a:ext uri="{FF2B5EF4-FFF2-40B4-BE49-F238E27FC236}">
                <a16:creationId xmlns:a16="http://schemas.microsoft.com/office/drawing/2014/main" id="{A63227A1-BB83-4D9C-9FC6-B5AE50487E68}"/>
              </a:ext>
            </a:extLst>
          </p:cNvPr>
          <p:cNvPicPr>
            <a:picLocks noChangeAspect="1"/>
          </p:cNvPicPr>
          <p:nvPr/>
        </p:nvPicPr>
        <p:blipFill rotWithShape="1">
          <a:blip r:embed="rId2">
            <a:extLst>
              <a:ext uri="{28A0092B-C50C-407E-A947-70E740481C1C}">
                <a14:useLocalDpi xmlns:a14="http://schemas.microsoft.com/office/drawing/2010/main" val="0"/>
              </a:ext>
            </a:extLst>
          </a:blip>
          <a:srcRect t="1361" b="1733"/>
          <a:stretch/>
        </p:blipFill>
        <p:spPr>
          <a:xfrm>
            <a:off x="6949440" y="711201"/>
            <a:ext cx="5242560" cy="5872479"/>
          </a:xfrm>
          <a:prstGeom prst="rect">
            <a:avLst/>
          </a:prstGeom>
        </p:spPr>
      </p:pic>
    </p:spTree>
    <p:extLst>
      <p:ext uri="{BB962C8B-B14F-4D97-AF65-F5344CB8AC3E}">
        <p14:creationId xmlns:p14="http://schemas.microsoft.com/office/powerpoint/2010/main" val="49282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a:xfrm>
            <a:off x="131180" y="863444"/>
            <a:ext cx="6419249" cy="5590565"/>
          </a:xfrm>
        </p:spPr>
        <p:txBody>
          <a:bodyPr/>
          <a:lstStyle/>
          <a:p>
            <a:r>
              <a:rPr lang="en-US" b="1" dirty="0"/>
              <a:t>Statistical Infographics</a:t>
            </a:r>
          </a:p>
          <a:p>
            <a:pPr lvl="1"/>
            <a:r>
              <a:rPr lang="en-US" dirty="0"/>
              <a:t>Used to </a:t>
            </a:r>
            <a:r>
              <a:rPr lang="en-US" b="1" dirty="0"/>
              <a:t>present data, facts, and survey results visually.</a:t>
            </a:r>
          </a:p>
          <a:p>
            <a:pPr lvl="1"/>
            <a:r>
              <a:rPr lang="en-US" dirty="0"/>
              <a:t>Helps explain the story behind </a:t>
            </a:r>
            <a:r>
              <a:rPr lang="en-US" b="1" dirty="0"/>
              <a:t>numbers and statistics.</a:t>
            </a:r>
          </a:p>
          <a:p>
            <a:pPr lvl="1"/>
            <a:r>
              <a:rPr lang="en-US" dirty="0"/>
              <a:t>Makes complex data easy to understand.</a:t>
            </a:r>
          </a:p>
          <a:p>
            <a:pPr lvl="1"/>
            <a:r>
              <a:rPr lang="en-US" dirty="0"/>
              <a:t>Uses charts, graphs, icons, and images to attract attention.</a:t>
            </a:r>
          </a:p>
          <a:p>
            <a:pPr lvl="1"/>
            <a:r>
              <a:rPr lang="en-US" b="1" dirty="0"/>
              <a:t>Example: </a:t>
            </a:r>
            <a:r>
              <a:rPr lang="en-US" dirty="0"/>
              <a:t>Use of Internet.</a:t>
            </a:r>
          </a:p>
          <a:p>
            <a:endParaRPr lang="en-US" dirty="0"/>
          </a:p>
        </p:txBody>
      </p:sp>
      <p:pic>
        <p:nvPicPr>
          <p:cNvPr id="5" name="Picture 4">
            <a:extLst>
              <a:ext uri="{FF2B5EF4-FFF2-40B4-BE49-F238E27FC236}">
                <a16:creationId xmlns:a16="http://schemas.microsoft.com/office/drawing/2014/main" id="{0AD01FC9-AA03-414C-9873-AAC6F93F4041}"/>
              </a:ext>
            </a:extLst>
          </p:cNvPr>
          <p:cNvPicPr>
            <a:picLocks noChangeAspect="1"/>
          </p:cNvPicPr>
          <p:nvPr/>
        </p:nvPicPr>
        <p:blipFill rotWithShape="1">
          <a:blip r:embed="rId2">
            <a:extLst>
              <a:ext uri="{28A0092B-C50C-407E-A947-70E740481C1C}">
                <a14:useLocalDpi xmlns:a14="http://schemas.microsoft.com/office/drawing/2010/main" val="0"/>
              </a:ext>
            </a:extLst>
          </a:blip>
          <a:srcRect b="14909"/>
          <a:stretch/>
        </p:blipFill>
        <p:spPr>
          <a:xfrm>
            <a:off x="6550429" y="711201"/>
            <a:ext cx="5641571" cy="4871829"/>
          </a:xfrm>
          <a:prstGeom prst="rect">
            <a:avLst/>
          </a:prstGeom>
        </p:spPr>
      </p:pic>
    </p:spTree>
    <p:extLst>
      <p:ext uri="{BB962C8B-B14F-4D97-AF65-F5344CB8AC3E}">
        <p14:creationId xmlns:p14="http://schemas.microsoft.com/office/powerpoint/2010/main" val="168356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Informational Infographics</a:t>
            </a:r>
          </a:p>
          <a:p>
            <a:pPr lvl="1"/>
            <a:r>
              <a:rPr lang="en-US" dirty="0"/>
              <a:t>Used to explain a </a:t>
            </a:r>
            <a:r>
              <a:rPr lang="en-US" b="1" dirty="0"/>
              <a:t>concept, topic, or idea clearly.</a:t>
            </a:r>
          </a:p>
          <a:p>
            <a:pPr lvl="1"/>
            <a:r>
              <a:rPr lang="en-US" dirty="0"/>
              <a:t>Provides an overview of a subject in a structured format.</a:t>
            </a:r>
          </a:p>
          <a:p>
            <a:pPr lvl="1"/>
            <a:r>
              <a:rPr lang="en-US" dirty="0"/>
              <a:t>Information is divided into sections with headings.</a:t>
            </a:r>
          </a:p>
          <a:p>
            <a:pPr lvl="1"/>
            <a:r>
              <a:rPr lang="en-US" dirty="0"/>
              <a:t>Easy to read and understand.</a:t>
            </a:r>
          </a:p>
          <a:p>
            <a:pPr lvl="1"/>
            <a:r>
              <a:rPr lang="en-US" b="1" dirty="0"/>
              <a:t>Example: </a:t>
            </a:r>
            <a:r>
              <a:rPr lang="en-US" dirty="0"/>
              <a:t>About Plastic Problem.</a:t>
            </a:r>
          </a:p>
          <a:p>
            <a:endParaRPr lang="en-US" dirty="0"/>
          </a:p>
        </p:txBody>
      </p:sp>
      <p:pic>
        <p:nvPicPr>
          <p:cNvPr id="5" name="Picture 4">
            <a:extLst>
              <a:ext uri="{FF2B5EF4-FFF2-40B4-BE49-F238E27FC236}">
                <a16:creationId xmlns:a16="http://schemas.microsoft.com/office/drawing/2014/main" id="{58037F8C-01F8-4FCA-9FBB-FA1CF055C3FE}"/>
              </a:ext>
            </a:extLst>
          </p:cNvPr>
          <p:cNvPicPr>
            <a:picLocks noChangeAspect="1"/>
          </p:cNvPicPr>
          <p:nvPr/>
        </p:nvPicPr>
        <p:blipFill rotWithShape="1">
          <a:blip r:embed="rId2">
            <a:extLst>
              <a:ext uri="{28A0092B-C50C-407E-A947-70E740481C1C}">
                <a14:useLocalDpi xmlns:a14="http://schemas.microsoft.com/office/drawing/2010/main" val="0"/>
              </a:ext>
            </a:extLst>
          </a:blip>
          <a:srcRect l="5422" t="8000" r="6568" b="7637"/>
          <a:stretch/>
        </p:blipFill>
        <p:spPr>
          <a:xfrm>
            <a:off x="4705005" y="2293844"/>
            <a:ext cx="7355816" cy="4160165"/>
          </a:xfrm>
          <a:prstGeom prst="rect">
            <a:avLst/>
          </a:prstGeom>
        </p:spPr>
      </p:pic>
    </p:spTree>
    <p:extLst>
      <p:ext uri="{BB962C8B-B14F-4D97-AF65-F5344CB8AC3E}">
        <p14:creationId xmlns:p14="http://schemas.microsoft.com/office/powerpoint/2010/main" val="266388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Timeline Infographics</a:t>
            </a:r>
          </a:p>
          <a:p>
            <a:pPr lvl="1"/>
            <a:r>
              <a:rPr lang="en-US" dirty="0"/>
              <a:t>Used to show events in </a:t>
            </a:r>
            <a:r>
              <a:rPr lang="en-US" b="1" dirty="0"/>
              <a:t>chronological order</a:t>
            </a:r>
            <a:r>
              <a:rPr lang="en-US" dirty="0"/>
              <a:t>.</a:t>
            </a:r>
          </a:p>
          <a:p>
            <a:pPr lvl="1"/>
            <a:r>
              <a:rPr lang="en-US" dirty="0"/>
              <a:t>Helps </a:t>
            </a:r>
            <a:r>
              <a:rPr lang="en-US" b="1" dirty="0"/>
              <a:t>visualize history, milestones, or project</a:t>
            </a:r>
            <a:r>
              <a:rPr lang="en-US" dirty="0"/>
              <a:t> schedules.</a:t>
            </a:r>
          </a:p>
          <a:p>
            <a:pPr lvl="1"/>
            <a:r>
              <a:rPr lang="en-US" dirty="0"/>
              <a:t>Important dates are highlighted using icons and visuals.</a:t>
            </a:r>
          </a:p>
          <a:p>
            <a:pPr lvl="1"/>
            <a:r>
              <a:rPr lang="en-US" dirty="0"/>
              <a:t>Makes time-based information easy to understand.</a:t>
            </a:r>
          </a:p>
          <a:p>
            <a:pPr lvl="1"/>
            <a:r>
              <a:rPr lang="en-US" b="1" dirty="0"/>
              <a:t>Example: </a:t>
            </a:r>
            <a:r>
              <a:rPr lang="en-US" dirty="0"/>
              <a:t>A brief History </a:t>
            </a:r>
            <a:r>
              <a:rPr lang="en-US"/>
              <a:t>of Social media.</a:t>
            </a:r>
            <a:endParaRPr lang="en-US" dirty="0"/>
          </a:p>
          <a:p>
            <a:endParaRPr lang="en-US" dirty="0"/>
          </a:p>
        </p:txBody>
      </p:sp>
      <p:pic>
        <p:nvPicPr>
          <p:cNvPr id="5" name="Picture 4">
            <a:extLst>
              <a:ext uri="{FF2B5EF4-FFF2-40B4-BE49-F238E27FC236}">
                <a16:creationId xmlns:a16="http://schemas.microsoft.com/office/drawing/2014/main" id="{0CDA6E22-2955-4429-811C-CE3C80ADB9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1884" y="740416"/>
            <a:ext cx="4510116" cy="5836620"/>
          </a:xfrm>
          <a:prstGeom prst="rect">
            <a:avLst/>
          </a:prstGeom>
        </p:spPr>
      </p:pic>
    </p:spTree>
    <p:extLst>
      <p:ext uri="{BB962C8B-B14F-4D97-AF65-F5344CB8AC3E}">
        <p14:creationId xmlns:p14="http://schemas.microsoft.com/office/powerpoint/2010/main" val="249598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Geographic Infographics</a:t>
            </a:r>
          </a:p>
          <a:p>
            <a:pPr lvl="1"/>
            <a:r>
              <a:rPr lang="en-US" dirty="0"/>
              <a:t>Used to present </a:t>
            </a:r>
            <a:r>
              <a:rPr lang="en-US" b="1" dirty="0"/>
              <a:t>location-based or regional data</a:t>
            </a:r>
            <a:r>
              <a:rPr lang="en-US" dirty="0"/>
              <a:t>.</a:t>
            </a:r>
          </a:p>
          <a:p>
            <a:pPr lvl="1"/>
            <a:r>
              <a:rPr lang="en-US" dirty="0"/>
              <a:t>Focuses on </a:t>
            </a:r>
            <a:r>
              <a:rPr lang="en-US" b="1" dirty="0"/>
              <a:t>maps</a:t>
            </a:r>
            <a:r>
              <a:rPr lang="en-US" dirty="0"/>
              <a:t> and </a:t>
            </a:r>
            <a:r>
              <a:rPr lang="en-US" b="1" dirty="0"/>
              <a:t>geographical information</a:t>
            </a:r>
            <a:r>
              <a:rPr lang="en-US" dirty="0"/>
              <a:t>.</a:t>
            </a:r>
          </a:p>
          <a:p>
            <a:pPr lvl="1"/>
            <a:r>
              <a:rPr lang="en-US" dirty="0"/>
              <a:t>Helps compare data across different areas.</a:t>
            </a:r>
          </a:p>
          <a:p>
            <a:pPr lvl="1"/>
            <a:r>
              <a:rPr lang="en-US" dirty="0"/>
              <a:t>Useful for demographic and population studies.</a:t>
            </a:r>
          </a:p>
          <a:p>
            <a:pPr lvl="1"/>
            <a:r>
              <a:rPr lang="en-US" b="1" dirty="0"/>
              <a:t>Example: </a:t>
            </a:r>
            <a:r>
              <a:rPr lang="en-US" dirty="0"/>
              <a:t>Oil Imports to the US.</a:t>
            </a:r>
          </a:p>
          <a:p>
            <a:endParaRPr lang="en-US" dirty="0"/>
          </a:p>
        </p:txBody>
      </p:sp>
      <p:pic>
        <p:nvPicPr>
          <p:cNvPr id="4" name="Picture 3">
            <a:extLst>
              <a:ext uri="{FF2B5EF4-FFF2-40B4-BE49-F238E27FC236}">
                <a16:creationId xmlns:a16="http://schemas.microsoft.com/office/drawing/2014/main" id="{5AB780A7-A7FC-4A27-93F6-82E4B6125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2673" y="1015486"/>
            <a:ext cx="6012177" cy="5264000"/>
          </a:xfrm>
          <a:prstGeom prst="rect">
            <a:avLst/>
          </a:prstGeom>
        </p:spPr>
      </p:pic>
    </p:spTree>
    <p:extLst>
      <p:ext uri="{BB962C8B-B14F-4D97-AF65-F5344CB8AC3E}">
        <p14:creationId xmlns:p14="http://schemas.microsoft.com/office/powerpoint/2010/main" val="116960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Comparison Infographics</a:t>
            </a:r>
          </a:p>
          <a:p>
            <a:pPr lvl="1"/>
            <a:r>
              <a:rPr lang="en-US" dirty="0"/>
              <a:t>Used to </a:t>
            </a:r>
            <a:r>
              <a:rPr lang="en-US" b="1" dirty="0"/>
              <a:t>compare two or more products</a:t>
            </a:r>
            <a:r>
              <a:rPr lang="en-US" dirty="0"/>
              <a:t>, services, or ideas.</a:t>
            </a:r>
          </a:p>
          <a:p>
            <a:pPr lvl="1"/>
            <a:r>
              <a:rPr lang="en-US" dirty="0"/>
              <a:t>Shows similarities and differences clearly.</a:t>
            </a:r>
          </a:p>
          <a:p>
            <a:pPr lvl="1"/>
            <a:r>
              <a:rPr lang="en-US" dirty="0"/>
              <a:t>Information is usually </a:t>
            </a:r>
            <a:r>
              <a:rPr lang="en-US" b="1" dirty="0"/>
              <a:t>displayed side-by-side</a:t>
            </a:r>
            <a:r>
              <a:rPr lang="en-US" dirty="0"/>
              <a:t>.</a:t>
            </a:r>
          </a:p>
          <a:p>
            <a:pPr lvl="1"/>
            <a:r>
              <a:rPr lang="en-US" dirty="0"/>
              <a:t>Helps users make better decisions.</a:t>
            </a:r>
          </a:p>
          <a:p>
            <a:pPr lvl="1"/>
            <a:r>
              <a:rPr lang="en-US" b="1" dirty="0"/>
              <a:t>Example: </a:t>
            </a:r>
            <a:r>
              <a:rPr lang="en-US" dirty="0"/>
              <a:t>Comparison iPhone 17 vs Samsung Galaxy S26.</a:t>
            </a:r>
          </a:p>
          <a:p>
            <a:endParaRPr lang="en-US" dirty="0"/>
          </a:p>
        </p:txBody>
      </p:sp>
      <p:pic>
        <p:nvPicPr>
          <p:cNvPr id="4" name="Picture 3">
            <a:extLst>
              <a:ext uri="{FF2B5EF4-FFF2-40B4-BE49-F238E27FC236}">
                <a16:creationId xmlns:a16="http://schemas.microsoft.com/office/drawing/2014/main" id="{3BA8479E-99B0-4988-8A65-4FB3EAC5916B}"/>
              </a:ext>
            </a:extLst>
          </p:cNvPr>
          <p:cNvPicPr>
            <a:picLocks noChangeAspect="1"/>
          </p:cNvPicPr>
          <p:nvPr/>
        </p:nvPicPr>
        <p:blipFill rotWithShape="1">
          <a:blip r:embed="rId2"/>
          <a:srcRect t="10518"/>
          <a:stretch/>
        </p:blipFill>
        <p:spPr>
          <a:xfrm>
            <a:off x="6795301" y="1015687"/>
            <a:ext cx="5265519" cy="5590565"/>
          </a:xfrm>
          <a:prstGeom prst="rect">
            <a:avLst/>
          </a:prstGeom>
        </p:spPr>
      </p:pic>
    </p:spTree>
    <p:extLst>
      <p:ext uri="{BB962C8B-B14F-4D97-AF65-F5344CB8AC3E}">
        <p14:creationId xmlns:p14="http://schemas.microsoft.com/office/powerpoint/2010/main" val="237959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Hierarchical Infographics</a:t>
            </a:r>
          </a:p>
          <a:p>
            <a:pPr lvl="1"/>
            <a:r>
              <a:rPr lang="en-US" dirty="0"/>
              <a:t>Used to organize information </a:t>
            </a:r>
            <a:r>
              <a:rPr lang="en-US" b="1" dirty="0"/>
              <a:t>from highest to lowest </a:t>
            </a:r>
            <a:r>
              <a:rPr lang="en-US" dirty="0"/>
              <a:t>importance.</a:t>
            </a:r>
          </a:p>
          <a:p>
            <a:pPr lvl="1"/>
            <a:r>
              <a:rPr lang="en-US" dirty="0"/>
              <a:t>Often displayed in a </a:t>
            </a:r>
            <a:r>
              <a:rPr lang="en-US" b="1" dirty="0"/>
              <a:t>pyramid or layered structure</a:t>
            </a:r>
            <a:r>
              <a:rPr lang="en-US" dirty="0"/>
              <a:t>.</a:t>
            </a:r>
          </a:p>
          <a:p>
            <a:pPr lvl="1"/>
            <a:r>
              <a:rPr lang="en-US" dirty="0"/>
              <a:t>Helps show ranking, levels, or priorities.</a:t>
            </a:r>
          </a:p>
          <a:p>
            <a:pPr lvl="1"/>
            <a:r>
              <a:rPr lang="en-US" dirty="0"/>
              <a:t>Makes relationships between levels easy to understand.</a:t>
            </a:r>
          </a:p>
          <a:p>
            <a:pPr lvl="1"/>
            <a:r>
              <a:rPr lang="en-US" b="1" dirty="0"/>
              <a:t>Example:</a:t>
            </a:r>
            <a:r>
              <a:rPr lang="en-US" dirty="0"/>
              <a:t> Maslow’s Hierarchy of Needs Pyramid.</a:t>
            </a:r>
          </a:p>
          <a:p>
            <a:endParaRPr lang="en-US" dirty="0"/>
          </a:p>
        </p:txBody>
      </p:sp>
      <p:pic>
        <p:nvPicPr>
          <p:cNvPr id="4" name="Picture 3" descr="Maslows Hierarchy Needs Stock Illustrations – 70 Maslows Hierarchy Needs  Stock Illustrations, Vectors &amp; Clipart - Dreamstime">
            <a:extLst>
              <a:ext uri="{FF2B5EF4-FFF2-40B4-BE49-F238E27FC236}">
                <a16:creationId xmlns:a16="http://schemas.microsoft.com/office/drawing/2014/main" id="{0EC21397-843B-46C0-90D7-D2781928511C}"/>
              </a:ext>
            </a:extLst>
          </p:cNvPr>
          <p:cNvPicPr>
            <a:picLocks noChangeAspect="1"/>
          </p:cNvPicPr>
          <p:nvPr/>
        </p:nvPicPr>
        <p:blipFill>
          <a:blip r:embed="rId2"/>
          <a:srcRect t="4035" b="6135"/>
          <a:stretch>
            <a:fillRect/>
          </a:stretch>
        </p:blipFill>
        <p:spPr>
          <a:xfrm>
            <a:off x="5966461" y="859790"/>
            <a:ext cx="6225540" cy="5590566"/>
          </a:xfrm>
          <a:prstGeom prst="rect">
            <a:avLst/>
          </a:prstGeom>
        </p:spPr>
      </p:pic>
    </p:spTree>
    <p:extLst>
      <p:ext uri="{BB962C8B-B14F-4D97-AF65-F5344CB8AC3E}">
        <p14:creationId xmlns:p14="http://schemas.microsoft.com/office/powerpoint/2010/main" val="387370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34FA-C0FA-444B-85B1-7609207428D6}"/>
              </a:ext>
            </a:extLst>
          </p:cNvPr>
          <p:cNvSpPr>
            <a:spLocks noGrp="1"/>
          </p:cNvSpPr>
          <p:nvPr>
            <p:ph type="title"/>
          </p:nvPr>
        </p:nvSpPr>
        <p:spPr/>
        <p:txBody>
          <a:bodyPr/>
          <a:lstStyle/>
          <a:p>
            <a:r>
              <a:rPr lang="en-US" dirty="0"/>
              <a:t>Types of Infographics (Continue…)</a:t>
            </a:r>
          </a:p>
        </p:txBody>
      </p:sp>
      <p:sp>
        <p:nvSpPr>
          <p:cNvPr id="3" name="Content Placeholder 2">
            <a:extLst>
              <a:ext uri="{FF2B5EF4-FFF2-40B4-BE49-F238E27FC236}">
                <a16:creationId xmlns:a16="http://schemas.microsoft.com/office/drawing/2014/main" id="{9CA7BA94-EC3A-4ACF-B53D-7D56E9DF9DBB}"/>
              </a:ext>
            </a:extLst>
          </p:cNvPr>
          <p:cNvSpPr>
            <a:spLocks noGrp="1"/>
          </p:cNvSpPr>
          <p:nvPr>
            <p:ph idx="1"/>
          </p:nvPr>
        </p:nvSpPr>
        <p:spPr/>
        <p:txBody>
          <a:bodyPr/>
          <a:lstStyle/>
          <a:p>
            <a:r>
              <a:rPr lang="en-US" b="1" dirty="0"/>
              <a:t>List Infographics</a:t>
            </a:r>
          </a:p>
          <a:p>
            <a:pPr lvl="1"/>
            <a:r>
              <a:rPr lang="en-US" dirty="0"/>
              <a:t>Used to present a collection of tips, ideas, or resources.</a:t>
            </a:r>
          </a:p>
          <a:p>
            <a:pPr lvl="1"/>
            <a:r>
              <a:rPr lang="en-US" dirty="0"/>
              <a:t>Makes </a:t>
            </a:r>
            <a:r>
              <a:rPr lang="en-US" b="1" dirty="0"/>
              <a:t>long lists </a:t>
            </a:r>
            <a:r>
              <a:rPr lang="en-US" dirty="0"/>
              <a:t>more attractive and engaging.</a:t>
            </a:r>
          </a:p>
          <a:p>
            <a:pPr lvl="1"/>
            <a:r>
              <a:rPr lang="en-US" dirty="0"/>
              <a:t>Uses icons, colors, and visuals instead of simple bullet points.</a:t>
            </a:r>
          </a:p>
          <a:p>
            <a:pPr lvl="1"/>
            <a:r>
              <a:rPr lang="en-US" dirty="0"/>
              <a:t>Easy to scan and remember.</a:t>
            </a:r>
          </a:p>
          <a:p>
            <a:pPr lvl="1"/>
            <a:r>
              <a:rPr lang="en-US" b="1" dirty="0"/>
              <a:t>Example: </a:t>
            </a:r>
            <a:r>
              <a:rPr lang="en-US" dirty="0"/>
              <a:t>4 Types of Cover Letters.</a:t>
            </a:r>
          </a:p>
          <a:p>
            <a:endParaRPr lang="en-US" dirty="0"/>
          </a:p>
        </p:txBody>
      </p:sp>
      <p:pic>
        <p:nvPicPr>
          <p:cNvPr id="4" name="Picture 3" descr="30+ Free Infographic Templates to Download for Free - Venngage 30+ Free  Infographic Templates to Download for Free">
            <a:extLst>
              <a:ext uri="{FF2B5EF4-FFF2-40B4-BE49-F238E27FC236}">
                <a16:creationId xmlns:a16="http://schemas.microsoft.com/office/drawing/2014/main" id="{86CB4AE2-9803-4351-9F43-A3BEA2865532}"/>
              </a:ext>
            </a:extLst>
          </p:cNvPr>
          <p:cNvPicPr>
            <a:picLocks noChangeAspect="1"/>
          </p:cNvPicPr>
          <p:nvPr/>
        </p:nvPicPr>
        <p:blipFill>
          <a:blip r:embed="rId2"/>
          <a:stretch>
            <a:fillRect/>
          </a:stretch>
        </p:blipFill>
        <p:spPr>
          <a:xfrm>
            <a:off x="7018218" y="711201"/>
            <a:ext cx="5056426" cy="5883910"/>
          </a:xfrm>
          <a:prstGeom prst="rect">
            <a:avLst/>
          </a:prstGeom>
        </p:spPr>
      </p:pic>
    </p:spTree>
    <p:extLst>
      <p:ext uri="{BB962C8B-B14F-4D97-AF65-F5344CB8AC3E}">
        <p14:creationId xmlns:p14="http://schemas.microsoft.com/office/powerpoint/2010/main" val="40555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A333-9D09-49B4-8A49-FD550D24CF44}"/>
              </a:ext>
            </a:extLst>
          </p:cNvPr>
          <p:cNvSpPr>
            <a:spLocks noGrp="1"/>
          </p:cNvSpPr>
          <p:nvPr>
            <p:ph type="title"/>
          </p:nvPr>
        </p:nvSpPr>
        <p:spPr/>
        <p:txBody>
          <a:bodyPr/>
          <a:lstStyle/>
          <a:p>
            <a:r>
              <a:rPr lang="en-US" sz="6000" dirty="0"/>
              <a:t>Ethical and Legal Framework of Digital Marketing</a:t>
            </a:r>
            <a:endParaRPr lang="en-US" dirty="0"/>
          </a:p>
        </p:txBody>
      </p:sp>
      <p:sp>
        <p:nvSpPr>
          <p:cNvPr id="3" name="Text Placeholder 2">
            <a:extLst>
              <a:ext uri="{FF2B5EF4-FFF2-40B4-BE49-F238E27FC236}">
                <a16:creationId xmlns:a16="http://schemas.microsoft.com/office/drawing/2014/main" id="{9C11DC4E-71B3-4995-9DB2-29E5562A84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83881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E1760-8A9C-48C1-9FC5-1895249212FD}"/>
              </a:ext>
            </a:extLst>
          </p:cNvPr>
          <p:cNvSpPr>
            <a:spLocks noGrp="1"/>
          </p:cNvSpPr>
          <p:nvPr>
            <p:ph type="title"/>
          </p:nvPr>
        </p:nvSpPr>
        <p:spPr/>
        <p:txBody>
          <a:bodyPr>
            <a:normAutofit/>
          </a:bodyPr>
          <a:lstStyle/>
          <a:p>
            <a:r>
              <a:rPr lang="en-US" dirty="0"/>
              <a:t>Ethical and Legal Framework of Digital Marketing</a:t>
            </a:r>
          </a:p>
        </p:txBody>
      </p:sp>
      <p:sp>
        <p:nvSpPr>
          <p:cNvPr id="3" name="Content Placeholder 2">
            <a:extLst>
              <a:ext uri="{FF2B5EF4-FFF2-40B4-BE49-F238E27FC236}">
                <a16:creationId xmlns:a16="http://schemas.microsoft.com/office/drawing/2014/main" id="{22641548-2D9B-4D79-8307-D82F00989EBC}"/>
              </a:ext>
            </a:extLst>
          </p:cNvPr>
          <p:cNvSpPr>
            <a:spLocks noGrp="1"/>
          </p:cNvSpPr>
          <p:nvPr>
            <p:ph idx="1"/>
          </p:nvPr>
        </p:nvSpPr>
        <p:spPr/>
        <p:txBody>
          <a:bodyPr/>
          <a:lstStyle/>
          <a:p>
            <a:r>
              <a:rPr lang="en-US" dirty="0"/>
              <a:t>It is Important for any company to </a:t>
            </a:r>
            <a:r>
              <a:rPr lang="en-US" b="1" dirty="0">
                <a:solidFill>
                  <a:srgbClr val="C00000"/>
                </a:solidFill>
              </a:rPr>
              <a:t>function within the ethical and legal framework </a:t>
            </a:r>
            <a:endParaRPr lang="en-US" dirty="0"/>
          </a:p>
          <a:p>
            <a:r>
              <a:rPr lang="en-US" dirty="0"/>
              <a:t>It is challenging in the digital marketing domain as laws for this area are still evolving.</a:t>
            </a:r>
          </a:p>
          <a:p>
            <a:r>
              <a:rPr lang="en-US" dirty="0"/>
              <a:t>Often, </a:t>
            </a:r>
            <a:r>
              <a:rPr lang="en-US" b="1" dirty="0">
                <a:solidFill>
                  <a:srgbClr val="C00000"/>
                </a:solidFill>
              </a:rPr>
              <a:t>companies rely on ethics </a:t>
            </a:r>
          </a:p>
          <a:p>
            <a:r>
              <a:rPr lang="en-US" b="1" dirty="0">
                <a:solidFill>
                  <a:srgbClr val="C00000"/>
                </a:solidFill>
              </a:rPr>
              <a:t>For example, </a:t>
            </a:r>
            <a:r>
              <a:rPr lang="en-US" dirty="0"/>
              <a:t>laws regarding digital piracy came into force in 2019 only after millions of music albums were stolen and the damage was already done.</a:t>
            </a:r>
          </a:p>
          <a:p>
            <a:endParaRPr lang="en-US" dirty="0"/>
          </a:p>
        </p:txBody>
      </p:sp>
    </p:spTree>
    <p:extLst>
      <p:ext uri="{BB962C8B-B14F-4D97-AF65-F5344CB8AC3E}">
        <p14:creationId xmlns:p14="http://schemas.microsoft.com/office/powerpoint/2010/main" val="37135283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E2451-2139-4F41-AC8E-82F4DEDBE339}"/>
              </a:ext>
            </a:extLst>
          </p:cNvPr>
          <p:cNvSpPr>
            <a:spLocks noGrp="1"/>
          </p:cNvSpPr>
          <p:nvPr>
            <p:ph type="title"/>
          </p:nvPr>
        </p:nvSpPr>
        <p:spPr/>
        <p:txBody>
          <a:bodyPr/>
          <a:lstStyle/>
          <a:p>
            <a:r>
              <a:rPr lang="en-US" dirty="0"/>
              <a:t>Law</a:t>
            </a:r>
          </a:p>
        </p:txBody>
      </p:sp>
      <p:sp>
        <p:nvSpPr>
          <p:cNvPr id="3" name="Content Placeholder 2">
            <a:extLst>
              <a:ext uri="{FF2B5EF4-FFF2-40B4-BE49-F238E27FC236}">
                <a16:creationId xmlns:a16="http://schemas.microsoft.com/office/drawing/2014/main" id="{EF5688CF-B394-41E6-909F-FFE93CEEF445}"/>
              </a:ext>
            </a:extLst>
          </p:cNvPr>
          <p:cNvSpPr>
            <a:spLocks noGrp="1"/>
          </p:cNvSpPr>
          <p:nvPr>
            <p:ph idx="1"/>
          </p:nvPr>
        </p:nvSpPr>
        <p:spPr/>
        <p:txBody>
          <a:bodyPr/>
          <a:lstStyle/>
          <a:p>
            <a:endParaRPr lang="en-US" dirty="0"/>
          </a:p>
        </p:txBody>
      </p:sp>
      <p:grpSp>
        <p:nvGrpSpPr>
          <p:cNvPr id="4" name="Google Shape;710;p33">
            <a:extLst>
              <a:ext uri="{FF2B5EF4-FFF2-40B4-BE49-F238E27FC236}">
                <a16:creationId xmlns:a16="http://schemas.microsoft.com/office/drawing/2014/main" id="{E7E56966-DE18-4E08-8AD1-FDD030333D2F}"/>
              </a:ext>
            </a:extLst>
          </p:cNvPr>
          <p:cNvGrpSpPr/>
          <p:nvPr/>
        </p:nvGrpSpPr>
        <p:grpSpPr>
          <a:xfrm>
            <a:off x="2968177" y="1487993"/>
            <a:ext cx="5932913" cy="4237089"/>
            <a:chOff x="1074048" y="2781"/>
            <a:chExt cx="5932913" cy="4237089"/>
          </a:xfrm>
        </p:grpSpPr>
        <p:sp>
          <p:nvSpPr>
            <p:cNvPr id="5" name="Google Shape;711;p33">
              <a:extLst>
                <a:ext uri="{FF2B5EF4-FFF2-40B4-BE49-F238E27FC236}">
                  <a16:creationId xmlns:a16="http://schemas.microsoft.com/office/drawing/2014/main" id="{7D6547FA-1574-4373-9D79-0116112017A6}"/>
                </a:ext>
              </a:extLst>
            </p:cNvPr>
            <p:cNvSpPr/>
            <p:nvPr/>
          </p:nvSpPr>
          <p:spPr>
            <a:xfrm>
              <a:off x="3899245" y="1617381"/>
              <a:ext cx="1553858" cy="739495"/>
            </a:xfrm>
            <a:custGeom>
              <a:avLst/>
              <a:gdLst/>
              <a:ahLst/>
              <a:cxnLst/>
              <a:rect l="l" t="t" r="r" b="b"/>
              <a:pathLst>
                <a:path w="120000" h="120000" extrusionOk="0">
                  <a:moveTo>
                    <a:pt x="0" y="0"/>
                  </a:moveTo>
                  <a:lnTo>
                    <a:pt x="0" y="81776"/>
                  </a:lnTo>
                  <a:lnTo>
                    <a:pt x="120000" y="81776"/>
                  </a:lnTo>
                  <a:lnTo>
                    <a:pt x="120000" y="120000"/>
                  </a:lnTo>
                </a:path>
              </a:pathLst>
            </a:custGeom>
            <a:noFill/>
            <a:ln w="12700" cap="flat" cmpd="sng">
              <a:solidFill>
                <a:srgbClr val="1A9A76"/>
              </a:solidFill>
              <a:prstDash val="solid"/>
              <a:miter lim="800000"/>
              <a:headEnd type="none" w="sm" len="sm"/>
              <a:tailEnd type="none" w="sm" len="sm"/>
            </a:ln>
          </p:spPr>
        </p:sp>
        <p:sp>
          <p:nvSpPr>
            <p:cNvPr id="6" name="Google Shape;712;p33">
              <a:extLst>
                <a:ext uri="{FF2B5EF4-FFF2-40B4-BE49-F238E27FC236}">
                  <a16:creationId xmlns:a16="http://schemas.microsoft.com/office/drawing/2014/main" id="{5F2ED541-986A-449D-8C8A-ABB4B2FA8E0C}"/>
                </a:ext>
              </a:extLst>
            </p:cNvPr>
            <p:cNvSpPr/>
            <p:nvPr/>
          </p:nvSpPr>
          <p:spPr>
            <a:xfrm>
              <a:off x="2345386" y="1617381"/>
              <a:ext cx="1553858" cy="739495"/>
            </a:xfrm>
            <a:custGeom>
              <a:avLst/>
              <a:gdLst/>
              <a:ahLst/>
              <a:cxnLst/>
              <a:rect l="l" t="t" r="r" b="b"/>
              <a:pathLst>
                <a:path w="120000" h="120000" extrusionOk="0">
                  <a:moveTo>
                    <a:pt x="120000" y="0"/>
                  </a:moveTo>
                  <a:lnTo>
                    <a:pt x="120000" y="81776"/>
                  </a:lnTo>
                  <a:lnTo>
                    <a:pt x="0" y="81776"/>
                  </a:lnTo>
                  <a:lnTo>
                    <a:pt x="0" y="120000"/>
                  </a:lnTo>
                </a:path>
              </a:pathLst>
            </a:custGeom>
            <a:noFill/>
            <a:ln w="12700" cap="flat" cmpd="sng">
              <a:solidFill>
                <a:srgbClr val="1A9A76"/>
              </a:solidFill>
              <a:prstDash val="solid"/>
              <a:miter lim="800000"/>
              <a:headEnd type="none" w="sm" len="sm"/>
              <a:tailEnd type="none" w="sm" len="sm"/>
            </a:ln>
          </p:spPr>
        </p:sp>
        <p:sp>
          <p:nvSpPr>
            <p:cNvPr id="7" name="Google Shape;713;p33">
              <a:extLst>
                <a:ext uri="{FF2B5EF4-FFF2-40B4-BE49-F238E27FC236}">
                  <a16:creationId xmlns:a16="http://schemas.microsoft.com/office/drawing/2014/main" id="{99A4C8BE-9428-4F87-BE04-851210D6BC39}"/>
                </a:ext>
              </a:extLst>
            </p:cNvPr>
            <p:cNvSpPr/>
            <p:nvPr/>
          </p:nvSpPr>
          <p:spPr>
            <a:xfrm>
              <a:off x="2627906" y="2781"/>
              <a:ext cx="2542677" cy="1614600"/>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14;p33">
              <a:extLst>
                <a:ext uri="{FF2B5EF4-FFF2-40B4-BE49-F238E27FC236}">
                  <a16:creationId xmlns:a16="http://schemas.microsoft.com/office/drawing/2014/main" id="{525D13CD-08BD-4DC7-B9AE-5104395E475D}"/>
                </a:ext>
              </a:extLst>
            </p:cNvPr>
            <p:cNvSpPr/>
            <p:nvPr/>
          </p:nvSpPr>
          <p:spPr>
            <a:xfrm>
              <a:off x="2910426" y="271175"/>
              <a:ext cx="2542677" cy="1614600"/>
            </a:xfrm>
            <a:prstGeom prst="roundRect">
              <a:avLst>
                <a:gd name="adj" fmla="val 10000"/>
              </a:avLst>
            </a:prstGeom>
            <a:solidFill>
              <a:schemeClr val="lt1">
                <a:alpha val="90196"/>
              </a:schemeClr>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15;p33">
              <a:extLst>
                <a:ext uri="{FF2B5EF4-FFF2-40B4-BE49-F238E27FC236}">
                  <a16:creationId xmlns:a16="http://schemas.microsoft.com/office/drawing/2014/main" id="{6B03D887-CA58-4801-A9C0-AD09D80C83F2}"/>
                </a:ext>
              </a:extLst>
            </p:cNvPr>
            <p:cNvSpPr txBox="1"/>
            <p:nvPr/>
          </p:nvSpPr>
          <p:spPr>
            <a:xfrm>
              <a:off x="2957716" y="318465"/>
              <a:ext cx="2448097" cy="1520020"/>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chemeClr val="dk1"/>
                </a:buClr>
                <a:buSzPts val="2800"/>
                <a:buFont typeface="Roboto Condensed"/>
                <a:buNone/>
              </a:pPr>
              <a:r>
                <a:rPr lang="en-US" sz="2800" b="1" dirty="0">
                  <a:solidFill>
                    <a:schemeClr val="dk1"/>
                  </a:solidFill>
                  <a:latin typeface="Roboto Condensed"/>
                  <a:ea typeface="Roboto Condensed"/>
                  <a:cs typeface="Roboto Condensed"/>
                  <a:sym typeface="Roboto Condensed"/>
                </a:rPr>
                <a:t>Laws</a:t>
              </a:r>
              <a:endParaRPr sz="2200" b="1" dirty="0">
                <a:solidFill>
                  <a:schemeClr val="dk1"/>
                </a:solidFill>
                <a:latin typeface="Roboto Condensed"/>
                <a:ea typeface="Roboto Condensed"/>
                <a:cs typeface="Roboto Condensed"/>
                <a:sym typeface="Roboto Condensed"/>
              </a:endParaRPr>
            </a:p>
          </p:txBody>
        </p:sp>
        <p:sp>
          <p:nvSpPr>
            <p:cNvPr id="10" name="Google Shape;716;p33">
              <a:extLst>
                <a:ext uri="{FF2B5EF4-FFF2-40B4-BE49-F238E27FC236}">
                  <a16:creationId xmlns:a16="http://schemas.microsoft.com/office/drawing/2014/main" id="{35CD2576-FEAB-4C15-829C-C1F5B7E20FEF}"/>
                </a:ext>
              </a:extLst>
            </p:cNvPr>
            <p:cNvSpPr/>
            <p:nvPr/>
          </p:nvSpPr>
          <p:spPr>
            <a:xfrm>
              <a:off x="1074048" y="2356876"/>
              <a:ext cx="2542677" cy="1614600"/>
            </a:xfrm>
            <a:prstGeom prst="roundRect">
              <a:avLst>
                <a:gd name="adj" fmla="val 10000"/>
              </a:avLst>
            </a:prstGeom>
            <a:solidFill>
              <a:srgbClr val="1A9A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17;p33">
              <a:extLst>
                <a:ext uri="{FF2B5EF4-FFF2-40B4-BE49-F238E27FC236}">
                  <a16:creationId xmlns:a16="http://schemas.microsoft.com/office/drawing/2014/main" id="{04ED054B-CEEA-444C-A005-3DC899020F23}"/>
                </a:ext>
              </a:extLst>
            </p:cNvPr>
            <p:cNvSpPr/>
            <p:nvPr/>
          </p:nvSpPr>
          <p:spPr>
            <a:xfrm>
              <a:off x="1356567" y="2625270"/>
              <a:ext cx="2542677" cy="1614600"/>
            </a:xfrm>
            <a:prstGeom prst="roundRect">
              <a:avLst>
                <a:gd name="adj" fmla="val 10000"/>
              </a:avLst>
            </a:prstGeom>
            <a:solidFill>
              <a:schemeClr val="lt1">
                <a:alpha val="90196"/>
              </a:schemeClr>
            </a:solidFill>
            <a:ln w="12700" cap="flat" cmpd="sng">
              <a:solidFill>
                <a:srgbClr val="1A9A7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18;p33">
              <a:extLst>
                <a:ext uri="{FF2B5EF4-FFF2-40B4-BE49-F238E27FC236}">
                  <a16:creationId xmlns:a16="http://schemas.microsoft.com/office/drawing/2014/main" id="{5CB61062-D357-49EC-AC23-9C4CA84460D1}"/>
                </a:ext>
              </a:extLst>
            </p:cNvPr>
            <p:cNvSpPr txBox="1"/>
            <p:nvPr/>
          </p:nvSpPr>
          <p:spPr>
            <a:xfrm>
              <a:off x="1403857" y="2672560"/>
              <a:ext cx="2448097" cy="1520020"/>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dk1"/>
                </a:buClr>
                <a:buSzPts val="2200"/>
                <a:buFont typeface="Roboto Condensed"/>
                <a:buNone/>
              </a:pPr>
              <a:r>
                <a:rPr lang="en-US" sz="2200" b="1">
                  <a:solidFill>
                    <a:schemeClr val="dk1"/>
                  </a:solidFill>
                  <a:latin typeface="Roboto Condensed"/>
                  <a:ea typeface="Roboto Condensed"/>
                  <a:cs typeface="Roboto Condensed"/>
                  <a:sym typeface="Roboto Condensed"/>
                </a:rPr>
                <a:t>IT ACT 2000</a:t>
              </a:r>
              <a:endParaRPr/>
            </a:p>
            <a:p>
              <a:pPr marL="0" marR="0" lvl="0" indent="0" algn="ctr" rtl="0">
                <a:lnSpc>
                  <a:spcPct val="90000"/>
                </a:lnSpc>
                <a:spcBef>
                  <a:spcPts val="770"/>
                </a:spcBef>
                <a:spcAft>
                  <a:spcPts val="0"/>
                </a:spcAft>
                <a:buClr>
                  <a:schemeClr val="dk1"/>
                </a:buClr>
                <a:buSzPts val="2200"/>
                <a:buFont typeface="Roboto Condensed"/>
                <a:buNone/>
              </a:pPr>
              <a:r>
                <a:rPr lang="en-US" sz="2200" b="0">
                  <a:solidFill>
                    <a:schemeClr val="dk1"/>
                  </a:solidFill>
                  <a:latin typeface="Roboto Condensed"/>
                  <a:ea typeface="Roboto Condensed"/>
                  <a:cs typeface="Roboto Condensed"/>
                  <a:sym typeface="Roboto Condensed"/>
                </a:rPr>
                <a:t>(Information Technology Act)</a:t>
              </a:r>
              <a:endParaRPr/>
            </a:p>
          </p:txBody>
        </p:sp>
        <p:sp>
          <p:nvSpPr>
            <p:cNvPr id="13" name="Google Shape;719;p33">
              <a:extLst>
                <a:ext uri="{FF2B5EF4-FFF2-40B4-BE49-F238E27FC236}">
                  <a16:creationId xmlns:a16="http://schemas.microsoft.com/office/drawing/2014/main" id="{6801DF14-A363-4D8F-A023-1BBF05D4E267}"/>
                </a:ext>
              </a:extLst>
            </p:cNvPr>
            <p:cNvSpPr/>
            <p:nvPr/>
          </p:nvSpPr>
          <p:spPr>
            <a:xfrm>
              <a:off x="4181764" y="2356876"/>
              <a:ext cx="2542677" cy="1614600"/>
            </a:xfrm>
            <a:prstGeom prst="roundRect">
              <a:avLst>
                <a:gd name="adj" fmla="val 10000"/>
              </a:avLst>
            </a:prstGeom>
            <a:solidFill>
              <a:srgbClr val="1A9A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20;p33">
              <a:extLst>
                <a:ext uri="{FF2B5EF4-FFF2-40B4-BE49-F238E27FC236}">
                  <a16:creationId xmlns:a16="http://schemas.microsoft.com/office/drawing/2014/main" id="{1BE74DEA-5B8A-4C7F-A7BB-54DFC53C71FC}"/>
                </a:ext>
              </a:extLst>
            </p:cNvPr>
            <p:cNvSpPr/>
            <p:nvPr/>
          </p:nvSpPr>
          <p:spPr>
            <a:xfrm>
              <a:off x="4464284" y="2625270"/>
              <a:ext cx="2542677" cy="1614600"/>
            </a:xfrm>
            <a:prstGeom prst="roundRect">
              <a:avLst>
                <a:gd name="adj" fmla="val 10000"/>
              </a:avLst>
            </a:prstGeom>
            <a:solidFill>
              <a:schemeClr val="lt1">
                <a:alpha val="90196"/>
              </a:schemeClr>
            </a:solidFill>
            <a:ln w="12700" cap="flat" cmpd="sng">
              <a:solidFill>
                <a:srgbClr val="1A9A7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21;p33">
              <a:extLst>
                <a:ext uri="{FF2B5EF4-FFF2-40B4-BE49-F238E27FC236}">
                  <a16:creationId xmlns:a16="http://schemas.microsoft.com/office/drawing/2014/main" id="{9E5A1139-EFA4-4143-92C6-CD21925478D3}"/>
                </a:ext>
              </a:extLst>
            </p:cNvPr>
            <p:cNvSpPr txBox="1"/>
            <p:nvPr/>
          </p:nvSpPr>
          <p:spPr>
            <a:xfrm>
              <a:off x="4511574" y="2672560"/>
              <a:ext cx="2448097" cy="1520020"/>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dk1"/>
                </a:buClr>
                <a:buSzPts val="2200"/>
                <a:buFont typeface="Roboto Condensed"/>
                <a:buNone/>
              </a:pPr>
              <a:r>
                <a:rPr lang="en-US" sz="2200" b="1">
                  <a:solidFill>
                    <a:schemeClr val="dk1"/>
                  </a:solidFill>
                  <a:latin typeface="Roboto Condensed"/>
                  <a:ea typeface="Roboto Condensed"/>
                  <a:cs typeface="Roboto Condensed"/>
                  <a:sym typeface="Roboto Condensed"/>
                </a:rPr>
                <a:t>TRAI</a:t>
              </a:r>
              <a:endParaRPr/>
            </a:p>
            <a:p>
              <a:pPr marL="0" marR="0" lvl="0" indent="0" algn="ctr" rtl="0">
                <a:lnSpc>
                  <a:spcPct val="90000"/>
                </a:lnSpc>
                <a:spcBef>
                  <a:spcPts val="770"/>
                </a:spcBef>
                <a:spcAft>
                  <a:spcPts val="0"/>
                </a:spcAft>
                <a:buClr>
                  <a:schemeClr val="dk1"/>
                </a:buClr>
                <a:buSzPts val="2200"/>
                <a:buFont typeface="Roboto Condensed"/>
                <a:buNone/>
              </a:pPr>
              <a:r>
                <a:rPr lang="en-US" sz="2200" b="0">
                  <a:solidFill>
                    <a:schemeClr val="dk1"/>
                  </a:solidFill>
                  <a:latin typeface="Roboto Condensed"/>
                  <a:ea typeface="Roboto Condensed"/>
                  <a:cs typeface="Roboto Condensed"/>
                  <a:sym typeface="Roboto Condensed"/>
                </a:rPr>
                <a:t>(Telecom Regulatory Authority of India) </a:t>
              </a:r>
              <a:endParaRPr/>
            </a:p>
          </p:txBody>
        </p:sp>
      </p:grpSp>
    </p:spTree>
    <p:extLst>
      <p:ext uri="{BB962C8B-B14F-4D97-AF65-F5344CB8AC3E}">
        <p14:creationId xmlns:p14="http://schemas.microsoft.com/office/powerpoint/2010/main" val="190742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9D8D-FA72-476C-A68C-22F799FD9C97}"/>
              </a:ext>
            </a:extLst>
          </p:cNvPr>
          <p:cNvSpPr>
            <a:spLocks noGrp="1"/>
          </p:cNvSpPr>
          <p:nvPr>
            <p:ph type="title"/>
          </p:nvPr>
        </p:nvSpPr>
        <p:spPr/>
        <p:txBody>
          <a:bodyPr/>
          <a:lstStyle/>
          <a:p>
            <a:r>
              <a:rPr lang="en-US" dirty="0"/>
              <a:t>The IT Act 2000</a:t>
            </a:r>
          </a:p>
        </p:txBody>
      </p:sp>
      <p:sp>
        <p:nvSpPr>
          <p:cNvPr id="3" name="Content Placeholder 2">
            <a:extLst>
              <a:ext uri="{FF2B5EF4-FFF2-40B4-BE49-F238E27FC236}">
                <a16:creationId xmlns:a16="http://schemas.microsoft.com/office/drawing/2014/main" id="{0A37A3D0-6035-4551-8243-37E855743500}"/>
              </a:ext>
            </a:extLst>
          </p:cNvPr>
          <p:cNvSpPr>
            <a:spLocks noGrp="1"/>
          </p:cNvSpPr>
          <p:nvPr>
            <p:ph idx="1"/>
          </p:nvPr>
        </p:nvSpPr>
        <p:spPr/>
        <p:txBody>
          <a:bodyPr/>
          <a:lstStyle/>
          <a:p>
            <a:r>
              <a:rPr lang="en-US" dirty="0"/>
              <a:t>India's primary law dealing with cybercrime and e-commerce.</a:t>
            </a:r>
          </a:p>
          <a:p>
            <a:r>
              <a:rPr lang="en-US" dirty="0"/>
              <a:t>It give legal recognition to electronic records, digital signatures, and online transactions.</a:t>
            </a:r>
          </a:p>
          <a:p>
            <a:r>
              <a:rPr lang="en-US" dirty="0"/>
              <a:t>If it happens online (ads, emails, data collection, social media), this law governs it.</a:t>
            </a:r>
          </a:p>
        </p:txBody>
      </p:sp>
      <p:pic>
        <p:nvPicPr>
          <p:cNvPr id="5" name="Graphic 4">
            <a:extLst>
              <a:ext uri="{FF2B5EF4-FFF2-40B4-BE49-F238E27FC236}">
                <a16:creationId xmlns:a16="http://schemas.microsoft.com/office/drawing/2014/main" id="{C5FEAB4C-C328-415B-A857-EAAAE86D41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30332" y="2106453"/>
            <a:ext cx="4272165" cy="4347556"/>
          </a:xfrm>
          <a:prstGeom prst="rect">
            <a:avLst/>
          </a:prstGeom>
        </p:spPr>
      </p:pic>
      <p:pic>
        <p:nvPicPr>
          <p:cNvPr id="9" name="Graphic 8">
            <a:extLst>
              <a:ext uri="{FF2B5EF4-FFF2-40B4-BE49-F238E27FC236}">
                <a16:creationId xmlns:a16="http://schemas.microsoft.com/office/drawing/2014/main" id="{36F467CC-5A4F-4D47-9ABA-2240E037EC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16830" y="4153287"/>
            <a:ext cx="1069571" cy="1069571"/>
          </a:xfrm>
          <a:prstGeom prst="rect">
            <a:avLst/>
          </a:prstGeom>
        </p:spPr>
      </p:pic>
      <p:pic>
        <p:nvPicPr>
          <p:cNvPr id="11" name="Graphic 10">
            <a:extLst>
              <a:ext uri="{FF2B5EF4-FFF2-40B4-BE49-F238E27FC236}">
                <a16:creationId xmlns:a16="http://schemas.microsoft.com/office/drawing/2014/main" id="{0CD36E51-8236-4C56-8731-236401602E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46710" y="4153287"/>
            <a:ext cx="889172" cy="889172"/>
          </a:xfrm>
          <a:prstGeom prst="rect">
            <a:avLst/>
          </a:prstGeom>
        </p:spPr>
      </p:pic>
      <p:pic>
        <p:nvPicPr>
          <p:cNvPr id="13" name="Graphic 12">
            <a:extLst>
              <a:ext uri="{FF2B5EF4-FFF2-40B4-BE49-F238E27FC236}">
                <a16:creationId xmlns:a16="http://schemas.microsoft.com/office/drawing/2014/main" id="{7D4A67A6-5EC3-4DC6-8964-BEB7D70BC5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65942" y="4355868"/>
            <a:ext cx="866989" cy="866989"/>
          </a:xfrm>
          <a:prstGeom prst="rect">
            <a:avLst/>
          </a:prstGeom>
        </p:spPr>
      </p:pic>
      <p:pic>
        <p:nvPicPr>
          <p:cNvPr id="15" name="Picture 14">
            <a:extLst>
              <a:ext uri="{FF2B5EF4-FFF2-40B4-BE49-F238E27FC236}">
                <a16:creationId xmlns:a16="http://schemas.microsoft.com/office/drawing/2014/main" id="{F33D2BB1-C0E2-49C4-B019-182C6B163D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75033" y="4306985"/>
            <a:ext cx="762173" cy="762173"/>
          </a:xfrm>
          <a:prstGeom prst="rect">
            <a:avLst/>
          </a:prstGeom>
        </p:spPr>
      </p:pic>
    </p:spTree>
    <p:extLst>
      <p:ext uri="{BB962C8B-B14F-4D97-AF65-F5344CB8AC3E}">
        <p14:creationId xmlns:p14="http://schemas.microsoft.com/office/powerpoint/2010/main" val="317072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A533B-9844-4146-A90F-9670CE4C7AEC}"/>
              </a:ext>
            </a:extLst>
          </p:cNvPr>
          <p:cNvSpPr>
            <a:spLocks noGrp="1"/>
          </p:cNvSpPr>
          <p:nvPr>
            <p:ph type="title"/>
          </p:nvPr>
        </p:nvSpPr>
        <p:spPr/>
        <p:txBody>
          <a:bodyPr/>
          <a:lstStyle/>
          <a:p>
            <a:r>
              <a:rPr lang="en-US" dirty="0"/>
              <a:t>The IT Act 2000 (Continue)</a:t>
            </a:r>
          </a:p>
        </p:txBody>
      </p:sp>
      <p:sp>
        <p:nvSpPr>
          <p:cNvPr id="3" name="Content Placeholder 2">
            <a:extLst>
              <a:ext uri="{FF2B5EF4-FFF2-40B4-BE49-F238E27FC236}">
                <a16:creationId xmlns:a16="http://schemas.microsoft.com/office/drawing/2014/main" id="{7B554A92-5018-4227-90F9-1EBC4DEFC0FB}"/>
              </a:ext>
            </a:extLst>
          </p:cNvPr>
          <p:cNvSpPr>
            <a:spLocks noGrp="1"/>
          </p:cNvSpPr>
          <p:nvPr>
            <p:ph idx="1"/>
          </p:nvPr>
        </p:nvSpPr>
        <p:spPr/>
        <p:txBody>
          <a:bodyPr/>
          <a:lstStyle/>
          <a:p>
            <a:r>
              <a:rPr lang="en-US" b="1" dirty="0"/>
              <a:t>Customer Data is Sacred (Section 43A)</a:t>
            </a:r>
          </a:p>
          <a:p>
            <a:pPr lvl="1"/>
            <a:r>
              <a:rPr lang="en-US" dirty="0"/>
              <a:t>Companies must use "reasonable security practices" to protect sensitive personal data (passwords, financial info, health data).</a:t>
            </a:r>
          </a:p>
          <a:p>
            <a:endParaRPr lang="en-US" dirty="0"/>
          </a:p>
        </p:txBody>
      </p:sp>
      <p:pic>
        <p:nvPicPr>
          <p:cNvPr id="5" name="Picture 4">
            <a:extLst>
              <a:ext uri="{FF2B5EF4-FFF2-40B4-BE49-F238E27FC236}">
                <a16:creationId xmlns:a16="http://schemas.microsoft.com/office/drawing/2014/main" id="{80C89F92-96F2-44F0-884F-7C6DAA35D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4223" y="2978869"/>
            <a:ext cx="4840626" cy="2480821"/>
          </a:xfrm>
          <a:prstGeom prst="rect">
            <a:avLst/>
          </a:prstGeom>
        </p:spPr>
      </p:pic>
    </p:spTree>
    <p:extLst>
      <p:ext uri="{BB962C8B-B14F-4D97-AF65-F5344CB8AC3E}">
        <p14:creationId xmlns:p14="http://schemas.microsoft.com/office/powerpoint/2010/main" val="58645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0F8C-8207-47ED-B298-AB2AE21A5B87}"/>
              </a:ext>
            </a:extLst>
          </p:cNvPr>
          <p:cNvSpPr>
            <a:spLocks noGrp="1"/>
          </p:cNvSpPr>
          <p:nvPr>
            <p:ph type="title"/>
          </p:nvPr>
        </p:nvSpPr>
        <p:spPr/>
        <p:txBody>
          <a:bodyPr/>
          <a:lstStyle/>
          <a:p>
            <a:r>
              <a:rPr lang="en-US" dirty="0"/>
              <a:t>The IT Act 2000 (Continue)</a:t>
            </a:r>
          </a:p>
        </p:txBody>
      </p:sp>
      <p:sp>
        <p:nvSpPr>
          <p:cNvPr id="3" name="Content Placeholder 2">
            <a:extLst>
              <a:ext uri="{FF2B5EF4-FFF2-40B4-BE49-F238E27FC236}">
                <a16:creationId xmlns:a16="http://schemas.microsoft.com/office/drawing/2014/main" id="{68F1A968-9A67-434F-AAC5-5C753DA8FEA5}"/>
              </a:ext>
            </a:extLst>
          </p:cNvPr>
          <p:cNvSpPr>
            <a:spLocks noGrp="1"/>
          </p:cNvSpPr>
          <p:nvPr>
            <p:ph idx="1"/>
          </p:nvPr>
        </p:nvSpPr>
        <p:spPr/>
        <p:txBody>
          <a:bodyPr/>
          <a:lstStyle/>
          <a:p>
            <a:r>
              <a:rPr lang="en-US" b="1" dirty="0"/>
              <a:t>Watch What You Publish! (Sections 66A, 67, 67A)</a:t>
            </a:r>
          </a:p>
          <a:p>
            <a:pPr lvl="1"/>
            <a:r>
              <a:rPr lang="en-US" dirty="0"/>
              <a:t>Publishing or transmitting obscene material online is a major criminal offense.</a:t>
            </a:r>
          </a:p>
          <a:p>
            <a:pPr lvl="1"/>
            <a:r>
              <a:rPr lang="en-US" dirty="0"/>
              <a:t>Spreading false information or intentionally damaging a competitor's reputation online can lead to jail time.</a:t>
            </a:r>
          </a:p>
          <a:p>
            <a:pPr lvl="1"/>
            <a:r>
              <a:rPr lang="en-US" dirty="0"/>
              <a:t>Memes, ads, and social copy must be respectful and verified.</a:t>
            </a:r>
          </a:p>
        </p:txBody>
      </p:sp>
      <p:pic>
        <p:nvPicPr>
          <p:cNvPr id="5" name="Picture 4">
            <a:extLst>
              <a:ext uri="{FF2B5EF4-FFF2-40B4-BE49-F238E27FC236}">
                <a16:creationId xmlns:a16="http://schemas.microsoft.com/office/drawing/2014/main" id="{DEEE37C7-71AF-467A-8B07-390FF1D77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973" y="2828040"/>
            <a:ext cx="4929787" cy="3285241"/>
          </a:xfrm>
          <a:prstGeom prst="rect">
            <a:avLst/>
          </a:prstGeom>
        </p:spPr>
      </p:pic>
    </p:spTree>
    <p:extLst>
      <p:ext uri="{BB962C8B-B14F-4D97-AF65-F5344CB8AC3E}">
        <p14:creationId xmlns:p14="http://schemas.microsoft.com/office/powerpoint/2010/main" val="349010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E7B8-AD91-4982-8B7A-C3C1FE73BF1D}"/>
              </a:ext>
            </a:extLst>
          </p:cNvPr>
          <p:cNvSpPr>
            <a:spLocks noGrp="1"/>
          </p:cNvSpPr>
          <p:nvPr>
            <p:ph type="title"/>
          </p:nvPr>
        </p:nvSpPr>
        <p:spPr/>
        <p:txBody>
          <a:bodyPr/>
          <a:lstStyle/>
          <a:p>
            <a:r>
              <a:rPr lang="en-US" dirty="0"/>
              <a:t>The IT Act 2000 (Continue)</a:t>
            </a:r>
          </a:p>
        </p:txBody>
      </p:sp>
      <p:sp>
        <p:nvSpPr>
          <p:cNvPr id="3" name="Content Placeholder 2">
            <a:extLst>
              <a:ext uri="{FF2B5EF4-FFF2-40B4-BE49-F238E27FC236}">
                <a16:creationId xmlns:a16="http://schemas.microsoft.com/office/drawing/2014/main" id="{2B3E436C-E444-41DE-8D19-41D416A8AC8C}"/>
              </a:ext>
            </a:extLst>
          </p:cNvPr>
          <p:cNvSpPr>
            <a:spLocks noGrp="1"/>
          </p:cNvSpPr>
          <p:nvPr>
            <p:ph idx="1"/>
          </p:nvPr>
        </p:nvSpPr>
        <p:spPr/>
        <p:txBody>
          <a:bodyPr/>
          <a:lstStyle/>
          <a:p>
            <a:r>
              <a:rPr lang="en-US" b="1" dirty="0"/>
              <a:t>Intermediary Liability (Section 79)</a:t>
            </a:r>
          </a:p>
          <a:p>
            <a:r>
              <a:rPr lang="en-US" dirty="0"/>
              <a:t>Platforms like Facebook, Instagram, or even your brand's website if it allows user comments.</a:t>
            </a:r>
          </a:p>
          <a:p>
            <a:r>
              <a:rPr lang="en-US" dirty="0"/>
              <a:t>Platforms aren't liable for what users post, </a:t>
            </a:r>
            <a:r>
              <a:rPr lang="en-US" i="1" dirty="0"/>
              <a:t>provided</a:t>
            </a:r>
            <a:r>
              <a:rPr lang="en-US" dirty="0"/>
              <a:t> they follow government rules and take down illegal content quickly when notified.</a:t>
            </a:r>
          </a:p>
          <a:p>
            <a:r>
              <a:rPr lang="en-US" dirty="0"/>
              <a:t>Moderating user-generated content (UGC) on brand pages is a must.</a:t>
            </a:r>
          </a:p>
        </p:txBody>
      </p:sp>
    </p:spTree>
    <p:extLst>
      <p:ext uri="{BB962C8B-B14F-4D97-AF65-F5344CB8AC3E}">
        <p14:creationId xmlns:p14="http://schemas.microsoft.com/office/powerpoint/2010/main" val="127498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Telecom Regulatory Authority of India (TRAI)</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The Role of TRAI in Marketing</a:t>
            </a:r>
          </a:p>
          <a:p>
            <a:pPr lvl="1"/>
            <a:r>
              <a:rPr lang="en-US" dirty="0"/>
              <a:t>TRAI supervises all electronic and mobile marketing in India based on laws passed by Parliament.</a:t>
            </a:r>
            <a:endParaRPr lang="en-US" b="1" dirty="0"/>
          </a:p>
          <a:p>
            <a:pPr lvl="1"/>
            <a:r>
              <a:rPr lang="en-US" dirty="0"/>
              <a:t>Anyone doing mobile marketing (telemarketers) must register with TRAI. They cannot bypass this step.</a:t>
            </a:r>
            <a:endParaRPr lang="en-US" b="1" dirty="0"/>
          </a:p>
          <a:p>
            <a:pPr lvl="1"/>
            <a:r>
              <a:rPr lang="en-US" dirty="0"/>
              <a:t>Marketers are blocked from contacting any user listed on the </a:t>
            </a:r>
            <a:r>
              <a:rPr lang="en-US" b="1" dirty="0"/>
              <a:t>Do-Not-Call / Do-Not-Disturb (DND)</a:t>
            </a:r>
            <a:r>
              <a:rPr lang="en-US" dirty="0"/>
              <a:t> registry.</a:t>
            </a:r>
            <a:endParaRPr lang="en-US" b="1" dirty="0"/>
          </a:p>
          <a:p>
            <a:pPr lvl="1"/>
            <a:r>
              <a:rPr lang="en-US" dirty="0"/>
              <a:t>TRAI limits how many transactional text messages a normal, unregistered user can send per day to prevent spam algorithms.</a:t>
            </a:r>
            <a:endParaRPr lang="en-US" b="1" dirty="0"/>
          </a:p>
          <a:p>
            <a:pPr lvl="1"/>
            <a:r>
              <a:rPr lang="en-US" dirty="0"/>
              <a:t>Telemarketers cannot use regular, personal phone lines. They must buy </a:t>
            </a:r>
            <a:r>
              <a:rPr lang="en-US" b="1" dirty="0"/>
              <a:t>separate, dedicated telecom services</a:t>
            </a:r>
            <a:r>
              <a:rPr lang="en-US" dirty="0"/>
              <a:t> explicitly meant for marketing.</a:t>
            </a:r>
            <a:endParaRPr lang="en-US" b="1" dirty="0"/>
          </a:p>
        </p:txBody>
      </p:sp>
      <p:pic>
        <p:nvPicPr>
          <p:cNvPr id="5" name="Picture 4">
            <a:extLst>
              <a:ext uri="{FF2B5EF4-FFF2-40B4-BE49-F238E27FC236}">
                <a16:creationId xmlns:a16="http://schemas.microsoft.com/office/drawing/2014/main" id="{0335D2FE-6039-4A53-B65B-B8907631DB4F}"/>
              </a:ext>
            </a:extLst>
          </p:cNvPr>
          <p:cNvPicPr>
            <a:picLocks noChangeAspect="1"/>
          </p:cNvPicPr>
          <p:nvPr/>
        </p:nvPicPr>
        <p:blipFill rotWithShape="1">
          <a:blip r:embed="rId2">
            <a:extLst>
              <a:ext uri="{28A0092B-C50C-407E-A947-70E740481C1C}">
                <a14:useLocalDpi xmlns:a14="http://schemas.microsoft.com/office/drawing/2010/main" val="0"/>
              </a:ext>
            </a:extLst>
          </a:blip>
          <a:srcRect t="18486" b="14506"/>
          <a:stretch/>
        </p:blipFill>
        <p:spPr>
          <a:xfrm>
            <a:off x="3343230" y="3921551"/>
            <a:ext cx="5505540" cy="2460396"/>
          </a:xfrm>
          <a:prstGeom prst="rect">
            <a:avLst/>
          </a:prstGeom>
        </p:spPr>
      </p:pic>
    </p:spTree>
    <p:extLst>
      <p:ext uri="{BB962C8B-B14F-4D97-AF65-F5344CB8AC3E}">
        <p14:creationId xmlns:p14="http://schemas.microsoft.com/office/powerpoint/2010/main" val="363305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Issues</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Privacy and Data Collection</a:t>
            </a:r>
          </a:p>
          <a:p>
            <a:r>
              <a:rPr lang="en-US" dirty="0"/>
              <a:t>Companies have a strict legal duty to tell users when, how, and why their data is being collected.</a:t>
            </a:r>
          </a:p>
          <a:p>
            <a:r>
              <a:rPr lang="en-US" b="1" dirty="0"/>
              <a:t>First-Party vs. Third-Party Cookies</a:t>
            </a:r>
          </a:p>
          <a:p>
            <a:pPr lvl="1"/>
            <a:r>
              <a:rPr lang="en-US" b="1" dirty="0"/>
              <a:t>First-Party Cookies (Safe/Preferred):</a:t>
            </a:r>
            <a:r>
              <a:rPr lang="en-US" dirty="0"/>
              <a:t> * Small text files stored locally by the website you are directly visiting.</a:t>
            </a:r>
          </a:p>
          <a:p>
            <a:pPr lvl="2"/>
            <a:r>
              <a:rPr lang="en-US" dirty="0"/>
              <a:t>Only the browser and that specific website can read them. Used for basic session management (like keeping a user logged in).</a:t>
            </a:r>
          </a:p>
          <a:p>
            <a:pPr lvl="1"/>
            <a:r>
              <a:rPr lang="en-US" b="1" dirty="0"/>
              <a:t>Third-Party Cookies (Regulated/High-Risk):</a:t>
            </a:r>
            <a:r>
              <a:rPr lang="en-US" dirty="0"/>
              <a:t> * Placed by outside domains (like ad networks) to track a user's behavior across completely different websites.</a:t>
            </a:r>
          </a:p>
          <a:p>
            <a:pPr lvl="2"/>
            <a:r>
              <a:rPr lang="en-US" dirty="0"/>
              <a:t>Tracking users across multiple domains and using that data for profit without explicit consent is a cyber crime.</a:t>
            </a:r>
          </a:p>
        </p:txBody>
      </p:sp>
      <p:pic>
        <p:nvPicPr>
          <p:cNvPr id="7" name="Picture 6">
            <a:extLst>
              <a:ext uri="{FF2B5EF4-FFF2-40B4-BE49-F238E27FC236}">
                <a16:creationId xmlns:a16="http://schemas.microsoft.com/office/drawing/2014/main" id="{F8F76C17-ACA2-46B4-91C7-4C318477C6A7}"/>
              </a:ext>
            </a:extLst>
          </p:cNvPr>
          <p:cNvPicPr>
            <a:picLocks noChangeAspect="1"/>
          </p:cNvPicPr>
          <p:nvPr/>
        </p:nvPicPr>
        <p:blipFill rotWithShape="1">
          <a:blip r:embed="rId2">
            <a:extLst>
              <a:ext uri="{28A0092B-C50C-407E-A947-70E740481C1C}">
                <a14:useLocalDpi xmlns:a14="http://schemas.microsoft.com/office/drawing/2010/main" val="0"/>
              </a:ext>
            </a:extLst>
          </a:blip>
          <a:srcRect l="8257" t="13649" r="7673" b="17094"/>
          <a:stretch/>
        </p:blipFill>
        <p:spPr>
          <a:xfrm>
            <a:off x="3928299" y="4289196"/>
            <a:ext cx="4335401" cy="2232215"/>
          </a:xfrm>
          <a:prstGeom prst="rect">
            <a:avLst/>
          </a:prstGeom>
        </p:spPr>
      </p:pic>
    </p:spTree>
    <p:extLst>
      <p:ext uri="{BB962C8B-B14F-4D97-AF65-F5344CB8AC3E}">
        <p14:creationId xmlns:p14="http://schemas.microsoft.com/office/powerpoint/2010/main" val="64144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Data Storage</a:t>
            </a:r>
          </a:p>
          <a:p>
            <a:pPr lvl="1"/>
            <a:r>
              <a:rPr lang="en-US" dirty="0"/>
              <a:t>It is necessary for the customers to know that the </a:t>
            </a:r>
            <a:r>
              <a:rPr lang="en-US" b="1" dirty="0"/>
              <a:t>collected customer information is protected. </a:t>
            </a:r>
          </a:p>
          <a:p>
            <a:pPr lvl="1"/>
            <a:r>
              <a:rPr lang="en-US" dirty="0"/>
              <a:t>There should be a </a:t>
            </a:r>
            <a:r>
              <a:rPr lang="en-US" b="1" dirty="0"/>
              <a:t>Secure Sockets Layer Certificate </a:t>
            </a:r>
            <a:r>
              <a:rPr lang="en-US" dirty="0"/>
              <a:t>for security of data. </a:t>
            </a:r>
          </a:p>
          <a:p>
            <a:pPr lvl="1"/>
            <a:r>
              <a:rPr lang="en-US" dirty="0"/>
              <a:t>Companies must let the customers know that </a:t>
            </a:r>
            <a:r>
              <a:rPr lang="en-US" b="1" dirty="0"/>
              <a:t>they have protocols to secure</a:t>
            </a:r>
            <a:r>
              <a:rPr lang="en-US" dirty="0"/>
              <a:t> important customer information such as </a:t>
            </a:r>
            <a:r>
              <a:rPr lang="en-US" b="1" dirty="0"/>
              <a:t>credit card details, personal details etc.</a:t>
            </a:r>
          </a:p>
          <a:p>
            <a:endParaRPr lang="en-US" dirty="0"/>
          </a:p>
        </p:txBody>
      </p:sp>
      <p:pic>
        <p:nvPicPr>
          <p:cNvPr id="7" name="Picture 6">
            <a:extLst>
              <a:ext uri="{FF2B5EF4-FFF2-40B4-BE49-F238E27FC236}">
                <a16:creationId xmlns:a16="http://schemas.microsoft.com/office/drawing/2014/main" id="{412C9431-0B6E-4788-A98C-3AFAB4AF2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2264" y="2979165"/>
            <a:ext cx="5659061" cy="2139590"/>
          </a:xfrm>
          <a:prstGeom prst="rect">
            <a:avLst/>
          </a:prstGeom>
        </p:spPr>
      </p:pic>
    </p:spTree>
    <p:extLst>
      <p:ext uri="{BB962C8B-B14F-4D97-AF65-F5344CB8AC3E}">
        <p14:creationId xmlns:p14="http://schemas.microsoft.com/office/powerpoint/2010/main" val="226412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Intellectual Property and Copyright Infringement</a:t>
            </a:r>
          </a:p>
          <a:p>
            <a:r>
              <a:rPr lang="en-US" dirty="0"/>
              <a:t>Marketers must protect their unique digital assets—such as logos, content, brand names, and creative assets.</a:t>
            </a:r>
          </a:p>
          <a:p>
            <a:r>
              <a:rPr lang="en-US" dirty="0"/>
              <a:t>Prevents competitors from copying, stealing, or using a brand's hard work for their own profit without permission.</a:t>
            </a:r>
          </a:p>
          <a:p>
            <a:r>
              <a:rPr lang="en-US" dirty="0"/>
              <a:t>How </a:t>
            </a:r>
          </a:p>
          <a:p>
            <a:pPr lvl="1"/>
            <a:r>
              <a:rPr lang="en-US" b="1" dirty="0"/>
              <a:t>Copyrights</a:t>
            </a:r>
          </a:p>
          <a:p>
            <a:pPr lvl="1"/>
            <a:r>
              <a:rPr lang="en-US" b="1" dirty="0"/>
              <a:t>Trademarks</a:t>
            </a:r>
            <a:endParaRPr lang="en-US" dirty="0"/>
          </a:p>
        </p:txBody>
      </p:sp>
      <p:pic>
        <p:nvPicPr>
          <p:cNvPr id="6" name="Picture 5">
            <a:extLst>
              <a:ext uri="{FF2B5EF4-FFF2-40B4-BE49-F238E27FC236}">
                <a16:creationId xmlns:a16="http://schemas.microsoft.com/office/drawing/2014/main" id="{49BF77B3-4178-4535-A1BF-11A5033CE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6025" y="2652754"/>
            <a:ext cx="5044606" cy="3341802"/>
          </a:xfrm>
          <a:prstGeom prst="rect">
            <a:avLst/>
          </a:prstGeom>
        </p:spPr>
      </p:pic>
    </p:spTree>
    <p:extLst>
      <p:ext uri="{BB962C8B-B14F-4D97-AF65-F5344CB8AC3E}">
        <p14:creationId xmlns:p14="http://schemas.microsoft.com/office/powerpoint/2010/main" val="60236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Copyright</a:t>
            </a:r>
          </a:p>
          <a:p>
            <a:r>
              <a:rPr lang="en-US" dirty="0"/>
              <a:t>Automatically protects original creations, such as books, music, films, photographs, and paintings. </a:t>
            </a:r>
          </a:p>
          <a:p>
            <a:r>
              <a:rPr lang="en-US" dirty="0"/>
              <a:t>You do not have to write a script to register it; protection is granted to the creator the moment the work is created. </a:t>
            </a:r>
          </a:p>
          <a:p>
            <a:r>
              <a:rPr lang="en-US" dirty="0"/>
              <a:t>Lasts for the creator's </a:t>
            </a:r>
            <a:r>
              <a:rPr lang="en-US" b="1" dirty="0"/>
              <a:t>entire lifetime</a:t>
            </a:r>
            <a:r>
              <a:rPr lang="en-US" dirty="0"/>
              <a:t>. </a:t>
            </a:r>
          </a:p>
          <a:p>
            <a:r>
              <a:rPr lang="en-US" dirty="0"/>
              <a:t>Continues for an </a:t>
            </a:r>
            <a:r>
              <a:rPr lang="en-US" b="1" dirty="0"/>
              <a:t>additional 60 years</a:t>
            </a:r>
            <a:r>
              <a:rPr lang="en-US" dirty="0"/>
              <a:t> after the creator passes away.</a:t>
            </a:r>
          </a:p>
        </p:txBody>
      </p:sp>
    </p:spTree>
    <p:extLst>
      <p:ext uri="{BB962C8B-B14F-4D97-AF65-F5344CB8AC3E}">
        <p14:creationId xmlns:p14="http://schemas.microsoft.com/office/powerpoint/2010/main" val="179288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Trademark</a:t>
            </a:r>
          </a:p>
          <a:p>
            <a:r>
              <a:rPr lang="en-US" dirty="0"/>
              <a:t>Protects a brand or product's </a:t>
            </a:r>
            <a:r>
              <a:rPr lang="en-US" b="1" dirty="0"/>
              <a:t>unique visual identity</a:t>
            </a:r>
            <a:r>
              <a:rPr lang="en-US" dirty="0"/>
              <a:t>, including logos, symbols, brand names, or catchy slogans.</a:t>
            </a:r>
            <a:endParaRPr lang="en-US" b="1" dirty="0"/>
          </a:p>
          <a:p>
            <a:r>
              <a:rPr lang="en-US" dirty="0"/>
              <a:t>Can be claimed simply through </a:t>
            </a:r>
            <a:r>
              <a:rPr lang="en-US" b="1" dirty="0"/>
              <a:t>common use</a:t>
            </a:r>
            <a:r>
              <a:rPr lang="en-US" dirty="0"/>
              <a:t> in everyday business operations, but formal registration grants maximum legal ownership. </a:t>
            </a:r>
            <a:endParaRPr lang="en-US" b="1" dirty="0"/>
          </a:p>
          <a:p>
            <a:r>
              <a:rPr lang="en-US" dirty="0"/>
              <a:t>Coca Cola MacDonald classic trademark example—it legally protects distinctive visual signs tied explicitly to their goods and services.</a:t>
            </a:r>
            <a:endParaRPr lang="en-US" b="1" dirty="0"/>
          </a:p>
        </p:txBody>
      </p:sp>
      <p:pic>
        <p:nvPicPr>
          <p:cNvPr id="5" name="Picture 4">
            <a:extLst>
              <a:ext uri="{FF2B5EF4-FFF2-40B4-BE49-F238E27FC236}">
                <a16:creationId xmlns:a16="http://schemas.microsoft.com/office/drawing/2014/main" id="{0C0F6BF3-CBE1-4F0B-ACD6-5D76F327610D}"/>
              </a:ext>
            </a:extLst>
          </p:cNvPr>
          <p:cNvPicPr>
            <a:picLocks noChangeAspect="1"/>
          </p:cNvPicPr>
          <p:nvPr/>
        </p:nvPicPr>
        <p:blipFill rotWithShape="1">
          <a:blip r:embed="rId2">
            <a:extLst>
              <a:ext uri="{28A0092B-C50C-407E-A947-70E740481C1C}">
                <a14:useLocalDpi xmlns:a14="http://schemas.microsoft.com/office/drawing/2010/main" val="0"/>
              </a:ext>
            </a:extLst>
          </a:blip>
          <a:srcRect b="21250"/>
          <a:stretch/>
        </p:blipFill>
        <p:spPr>
          <a:xfrm>
            <a:off x="3388744" y="3685880"/>
            <a:ext cx="6217169" cy="2686604"/>
          </a:xfrm>
          <a:prstGeom prst="rect">
            <a:avLst/>
          </a:prstGeom>
        </p:spPr>
      </p:pic>
    </p:spTree>
    <p:extLst>
      <p:ext uri="{BB962C8B-B14F-4D97-AF65-F5344CB8AC3E}">
        <p14:creationId xmlns:p14="http://schemas.microsoft.com/office/powerpoint/2010/main" val="409701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Legal Issue</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b="1" dirty="0"/>
              <a:t>DMCA and Copyright Infringement</a:t>
            </a:r>
          </a:p>
          <a:p>
            <a:r>
              <a:rPr lang="en-US" dirty="0"/>
              <a:t>Under the </a:t>
            </a:r>
            <a:r>
              <a:rPr lang="en-US" b="1" dirty="0"/>
              <a:t>Digital Millennium Copyright Act (DMCA)</a:t>
            </a:r>
            <a:r>
              <a:rPr lang="en-US" dirty="0"/>
              <a:t>, businesses are legally banned from using another company's copyrighted material in their marketing campaigns.</a:t>
            </a:r>
            <a:endParaRPr lang="en-US" b="1" dirty="0"/>
          </a:p>
          <a:p>
            <a:r>
              <a:rPr lang="en-US" dirty="0"/>
              <a:t>Stealing digital media leads to direct </a:t>
            </a:r>
            <a:r>
              <a:rPr lang="en-US" b="1" dirty="0"/>
              <a:t>copyright infringement charges</a:t>
            </a:r>
            <a:r>
              <a:rPr lang="en-US" dirty="0"/>
              <a:t>, which can result in massive financial lawsuits and heavy fines.</a:t>
            </a:r>
            <a:endParaRPr lang="en-US" b="1" dirty="0"/>
          </a:p>
          <a:p>
            <a:r>
              <a:rPr lang="en-US" dirty="0"/>
              <a:t>Copyright violations stand as the </a:t>
            </a:r>
            <a:r>
              <a:rPr lang="en-US" b="1" dirty="0"/>
              <a:t>most common ethical and legal crisis</a:t>
            </a:r>
            <a:r>
              <a:rPr lang="en-US" dirty="0"/>
              <a:t> in modern digital marketing.</a:t>
            </a:r>
            <a:endParaRPr lang="en-US" b="1" dirty="0"/>
          </a:p>
          <a:p>
            <a:r>
              <a:rPr lang="en-US" dirty="0"/>
              <a:t>Moving forward, digital marketers must prioritize automated and manual </a:t>
            </a:r>
            <a:r>
              <a:rPr lang="en-US" b="1" dirty="0"/>
              <a:t>preventive measures</a:t>
            </a:r>
            <a:r>
              <a:rPr lang="en-US" dirty="0"/>
              <a:t> to block these legal risks entirely.</a:t>
            </a:r>
            <a:endParaRPr lang="en-US" b="1" dirty="0"/>
          </a:p>
        </p:txBody>
      </p:sp>
    </p:spTree>
    <p:extLst>
      <p:ext uri="{BB962C8B-B14F-4D97-AF65-F5344CB8AC3E}">
        <p14:creationId xmlns:p14="http://schemas.microsoft.com/office/powerpoint/2010/main" val="230102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6EB2-C3EF-4737-9583-26CE2065EC9F}"/>
              </a:ext>
            </a:extLst>
          </p:cNvPr>
          <p:cNvSpPr>
            <a:spLocks noGrp="1"/>
          </p:cNvSpPr>
          <p:nvPr>
            <p:ph type="title"/>
          </p:nvPr>
        </p:nvSpPr>
        <p:spPr/>
        <p:txBody>
          <a:bodyPr/>
          <a:lstStyle/>
          <a:p>
            <a:r>
              <a:rPr lang="en-US" dirty="0"/>
              <a:t>How Marketers Can Prevent Ethical and Legal Infringements</a:t>
            </a:r>
          </a:p>
        </p:txBody>
      </p:sp>
      <p:sp>
        <p:nvSpPr>
          <p:cNvPr id="3" name="Content Placeholder 2">
            <a:extLst>
              <a:ext uri="{FF2B5EF4-FFF2-40B4-BE49-F238E27FC236}">
                <a16:creationId xmlns:a16="http://schemas.microsoft.com/office/drawing/2014/main" id="{3B39D54A-B7BC-4440-895C-F2D60448A5EA}"/>
              </a:ext>
            </a:extLst>
          </p:cNvPr>
          <p:cNvSpPr>
            <a:spLocks noGrp="1"/>
          </p:cNvSpPr>
          <p:nvPr>
            <p:ph idx="1"/>
          </p:nvPr>
        </p:nvSpPr>
        <p:spPr/>
        <p:txBody>
          <a:bodyPr/>
          <a:lstStyle/>
          <a:p>
            <a:r>
              <a:rPr lang="en-US" dirty="0"/>
              <a:t>Build your own creative assets, or use open-source media with correct license attributes.</a:t>
            </a:r>
          </a:p>
          <a:p>
            <a:r>
              <a:rPr lang="en-US" dirty="0"/>
              <a:t>Read the documentation for stock assets to confirm they allow commercial distribution.</a:t>
            </a:r>
          </a:p>
          <a:p>
            <a:r>
              <a:rPr lang="en-US" dirty="0"/>
              <a:t>Implement clear opt-in frameworks before collecting tracking data or cookies.</a:t>
            </a:r>
          </a:p>
          <a:p>
            <a:r>
              <a:rPr lang="en-US" dirty="0"/>
              <a:t>Periodically scan all active campaigns to catch and update expiring tracking scripts or media rights.</a:t>
            </a:r>
          </a:p>
          <a:p>
            <a:r>
              <a:rPr lang="en-US" dirty="0"/>
              <a:t>If a company pays an influencer or partner network to promote a product, that relationship must be completely transparent.</a:t>
            </a:r>
          </a:p>
          <a:p>
            <a:r>
              <a:rPr lang="en-US" dirty="0"/>
              <a:t>When training automated algorithms or targeting systems, prevent bias that can accidentally isolate or discriminate against demographics. </a:t>
            </a:r>
          </a:p>
        </p:txBody>
      </p:sp>
    </p:spTree>
    <p:extLst>
      <p:ext uri="{BB962C8B-B14F-4D97-AF65-F5344CB8AC3E}">
        <p14:creationId xmlns:p14="http://schemas.microsoft.com/office/powerpoint/2010/main" val="254121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Prashant.parmar@darshan.ac.in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9586371604</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35998" cy="290081"/>
          </a:xfrm>
        </p:spPr>
        <p:txBody>
          <a:bodyPr/>
          <a:lstStyle/>
          <a:p>
            <a:r>
              <a:rPr lang="en-US" dirty="0"/>
              <a:t>Darshan Institute of Management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Mr. Prashant Parmar</a:t>
            </a:r>
          </a:p>
        </p:txBody>
      </p:sp>
      <p:sp>
        <p:nvSpPr>
          <p:cNvPr id="2" name="Text Placeholder 6">
            <a:extLst>
              <a:ext uri="{FF2B5EF4-FFF2-40B4-BE49-F238E27FC236}">
                <a16:creationId xmlns:a16="http://schemas.microsoft.com/office/drawing/2014/main" id="{C66A088E-6A21-9D52-EC85-F8EBD1B825F4}"/>
              </a:ext>
            </a:extLst>
          </p:cNvPr>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2504MN313 </a:t>
            </a:r>
          </a:p>
        </p:txBody>
      </p:sp>
      <p:pic>
        <p:nvPicPr>
          <p:cNvPr id="6" name="Picture Placeholder 5">
            <a:extLst>
              <a:ext uri="{FF2B5EF4-FFF2-40B4-BE49-F238E27FC236}">
                <a16:creationId xmlns:a16="http://schemas.microsoft.com/office/drawing/2014/main" id="{1EF6C89B-D841-4C17-8305-CF22BD75825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Tree>
    <p:extLst>
      <p:ext uri="{BB962C8B-B14F-4D97-AF65-F5344CB8AC3E}">
        <p14:creationId xmlns:p14="http://schemas.microsoft.com/office/powerpoint/2010/main" val="3967651000"/>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2105CS412_CN_Unit_1_Basics of Computer Network</Template>
  <TotalTime>13021</TotalTime>
  <Words>5165</Words>
  <Application>Microsoft Office PowerPoint</Application>
  <PresentationFormat>Widescreen</PresentationFormat>
  <Paragraphs>633</Paragraphs>
  <Slides>82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Roboto Condensed Light</vt:lpstr>
      <vt:lpstr>Wingdings 3</vt:lpstr>
      <vt:lpstr>Roboto Condensed</vt:lpstr>
      <vt:lpstr>Wingdings</vt:lpstr>
      <vt:lpstr>Calibri</vt:lpstr>
      <vt:lpstr>Arial</vt:lpstr>
      <vt:lpstr>VIdeo Lecture 16x9 Light Template</vt:lpstr>
      <vt:lpstr>Unit-1   Introduction to Digital Marketing  CO1: explain digital marketing fundamentals and the legal frameworks governing Indian cyberspace.</vt:lpstr>
      <vt:lpstr>PowerPoint Presentation</vt:lpstr>
      <vt:lpstr>Concept of Digital Marketing</vt:lpstr>
      <vt:lpstr>Concept of Digital Marketing</vt:lpstr>
      <vt:lpstr>Concept of Digital Marketing (Continue..)</vt:lpstr>
      <vt:lpstr>Evolution of Digital Marketing from Traditional to Modern Era</vt:lpstr>
      <vt:lpstr>Evolution of Digital Marketing from Traditional to Modern Era</vt:lpstr>
      <vt:lpstr>Traditional Marketing vs. Digital Marketing</vt:lpstr>
      <vt:lpstr>Traditional Marketing vs. Digital Marketing</vt:lpstr>
      <vt:lpstr>Traditional Marketing vs. Digital Marketing (Continue..)</vt:lpstr>
      <vt:lpstr>Traditional Marketing vs. Digital Marketing (Continue..)</vt:lpstr>
      <vt:lpstr>Penetration of Internet in  India &amp; World</vt:lpstr>
      <vt:lpstr>Penetration of Internet in India &amp; World</vt:lpstr>
      <vt:lpstr>Penetration of Internet in India &amp; World (Continue…)</vt:lpstr>
      <vt:lpstr>Understanding the Digital Customer Journey</vt:lpstr>
      <vt:lpstr>Understanding the Digital Customer Journey</vt:lpstr>
      <vt:lpstr>Understanding the Digital Customer Journey (Continue…)</vt:lpstr>
      <vt:lpstr>Understanding the Digital Customer Journey (Continue…)</vt:lpstr>
      <vt:lpstr>Understanding the Digital Customer Journey (Continue…)</vt:lpstr>
      <vt:lpstr>Understanding the Digital Customer Journey (Continue…)</vt:lpstr>
      <vt:lpstr>Understanding the Digital Customer Journey (Continue…)</vt:lpstr>
      <vt:lpstr>Digital Marketing Components and Frameworks</vt:lpstr>
      <vt:lpstr>Digital Marketing Components and Frameworks</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Digital Marketing Components and Frameworks (Continue…)</vt:lpstr>
      <vt:lpstr>Role of Internet in Digital Marketing</vt:lpstr>
      <vt:lpstr>Role of Internet in Digital Marketing</vt:lpstr>
      <vt:lpstr>Advantages and Limitations of Digital Marketing</vt:lpstr>
      <vt:lpstr>Advantages of Digital Marketing</vt:lpstr>
      <vt:lpstr>Limitations of Digital Marketing</vt:lpstr>
      <vt:lpstr>Limitations of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Skills Required in Digital Marketing</vt:lpstr>
      <vt:lpstr>Implications for Business &amp; Society of Digital Marketing</vt:lpstr>
      <vt:lpstr>Implication for business</vt:lpstr>
      <vt:lpstr>Implication for Society</vt:lpstr>
      <vt:lpstr>Infographics</vt:lpstr>
      <vt:lpstr>Introduction of Infographics</vt:lpstr>
      <vt:lpstr>Why Infographics?</vt:lpstr>
      <vt:lpstr>Types of Infographics</vt:lpstr>
      <vt:lpstr>Types of Infographics (Continue…)</vt:lpstr>
      <vt:lpstr>Types of Infographics (Continue…)</vt:lpstr>
      <vt:lpstr>Types of Infographics (Continue…)</vt:lpstr>
      <vt:lpstr>Types of Infographics (Continue…)</vt:lpstr>
      <vt:lpstr>Types of Infographics (Continue…)</vt:lpstr>
      <vt:lpstr>Types of Infographics (Continue…)</vt:lpstr>
      <vt:lpstr>Types of Infographics (Continue…)</vt:lpstr>
      <vt:lpstr>Types of Infographics (Continue…)</vt:lpstr>
      <vt:lpstr>Ethical and Legal Framework of Digital Marketing</vt:lpstr>
      <vt:lpstr>Ethical and Legal Framework of Digital Marketing</vt:lpstr>
      <vt:lpstr>Law</vt:lpstr>
      <vt:lpstr>The IT Act 2000</vt:lpstr>
      <vt:lpstr>The IT Act 2000 (Continue)</vt:lpstr>
      <vt:lpstr>The IT Act 2000 (Continue)</vt:lpstr>
      <vt:lpstr>The IT Act 2000 (Continue)</vt:lpstr>
      <vt:lpstr>Telecom Regulatory Authority of India (TRAI)</vt:lpstr>
      <vt:lpstr>Legal Issues</vt:lpstr>
      <vt:lpstr>Legal Issue</vt:lpstr>
      <vt:lpstr>Legal Issue</vt:lpstr>
      <vt:lpstr>Legal Issue</vt:lpstr>
      <vt:lpstr>Legal Issue</vt:lpstr>
      <vt:lpstr>Legal Issue</vt:lpstr>
      <vt:lpstr>How Marketers Can Prevent Ethical and Legal Infringements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Parmar</dc:creator>
  <cp:lastModifiedBy>prashant parmar</cp:lastModifiedBy>
  <cp:revision>470</cp:revision>
  <dcterms:created xsi:type="dcterms:W3CDTF">2020-05-01T05:09:15Z</dcterms:created>
  <dcterms:modified xsi:type="dcterms:W3CDTF">2026-06-16T07:12:27Z</dcterms:modified>
</cp:coreProperties>
</file>