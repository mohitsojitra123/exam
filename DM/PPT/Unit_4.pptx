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2" r:id="rId1"/>
  </p:sldMasterIdLst>
  <p:notesMasterIdLst>
    <p:notesMasterId r:id="rId101"/>
  </p:notesMasterIdLst>
  <p:handoutMasterIdLst>
    <p:handoutMasterId r:id="rId102"/>
  </p:handoutMasterIdLst>
  <p:sldIdLst>
    <p:sldId id="283" r:id="rId2"/>
    <p:sldId id="447" r:id="rId3"/>
    <p:sldId id="448" r:id="rId4"/>
    <p:sldId id="449" r:id="rId5"/>
    <p:sldId id="2096" r:id="rId6"/>
    <p:sldId id="2097" r:id="rId7"/>
    <p:sldId id="2098" r:id="rId8"/>
    <p:sldId id="2099" r:id="rId9"/>
    <p:sldId id="2100" r:id="rId10"/>
    <p:sldId id="2101" r:id="rId11"/>
    <p:sldId id="2102" r:id="rId12"/>
    <p:sldId id="2105" r:id="rId13"/>
    <p:sldId id="2103" r:id="rId14"/>
    <p:sldId id="2106" r:id="rId15"/>
    <p:sldId id="2107" r:id="rId16"/>
    <p:sldId id="2108" r:id="rId17"/>
    <p:sldId id="2109" r:id="rId18"/>
    <p:sldId id="2110" r:id="rId19"/>
    <p:sldId id="2111" r:id="rId20"/>
    <p:sldId id="2112" r:id="rId21"/>
    <p:sldId id="2113" r:id="rId22"/>
    <p:sldId id="2114" r:id="rId23"/>
    <p:sldId id="2115" r:id="rId24"/>
    <p:sldId id="2116" r:id="rId25"/>
    <p:sldId id="2118" r:id="rId26"/>
    <p:sldId id="2119" r:id="rId27"/>
    <p:sldId id="2120" r:id="rId28"/>
    <p:sldId id="2121" r:id="rId29"/>
    <p:sldId id="2122" r:id="rId30"/>
    <p:sldId id="2123" r:id="rId31"/>
    <p:sldId id="2124" r:id="rId32"/>
    <p:sldId id="2125" r:id="rId33"/>
    <p:sldId id="2126" r:id="rId34"/>
    <p:sldId id="2127" r:id="rId35"/>
    <p:sldId id="2128" r:id="rId36"/>
    <p:sldId id="2129" r:id="rId37"/>
    <p:sldId id="2130" r:id="rId38"/>
    <p:sldId id="2131" r:id="rId39"/>
    <p:sldId id="2132" r:id="rId40"/>
    <p:sldId id="2133" r:id="rId41"/>
    <p:sldId id="2134" r:id="rId42"/>
    <p:sldId id="2138" r:id="rId43"/>
    <p:sldId id="2135" r:id="rId44"/>
    <p:sldId id="2136" r:id="rId45"/>
    <p:sldId id="2137" r:id="rId46"/>
    <p:sldId id="516" r:id="rId47"/>
    <p:sldId id="487" r:id="rId48"/>
    <p:sldId id="488" r:id="rId49"/>
    <p:sldId id="489" r:id="rId50"/>
    <p:sldId id="490" r:id="rId51"/>
    <p:sldId id="491" r:id="rId52"/>
    <p:sldId id="263" r:id="rId53"/>
    <p:sldId id="492" r:id="rId54"/>
    <p:sldId id="493" r:id="rId55"/>
    <p:sldId id="494" r:id="rId56"/>
    <p:sldId id="2139" r:id="rId57"/>
    <p:sldId id="2140" r:id="rId58"/>
    <p:sldId id="2141" r:id="rId59"/>
    <p:sldId id="2142" r:id="rId60"/>
    <p:sldId id="2143" r:id="rId61"/>
    <p:sldId id="2145" r:id="rId62"/>
    <p:sldId id="2146" r:id="rId63"/>
    <p:sldId id="2147" r:id="rId64"/>
    <p:sldId id="2148" r:id="rId65"/>
    <p:sldId id="2149" r:id="rId66"/>
    <p:sldId id="2150" r:id="rId67"/>
    <p:sldId id="2151" r:id="rId68"/>
    <p:sldId id="2152" r:id="rId69"/>
    <p:sldId id="2153" r:id="rId70"/>
    <p:sldId id="2154" r:id="rId71"/>
    <p:sldId id="2155" r:id="rId72"/>
    <p:sldId id="2156" r:id="rId73"/>
    <p:sldId id="2157" r:id="rId74"/>
    <p:sldId id="2158" r:id="rId75"/>
    <p:sldId id="2159" r:id="rId76"/>
    <p:sldId id="2160" r:id="rId77"/>
    <p:sldId id="2162" r:id="rId78"/>
    <p:sldId id="2161" r:id="rId79"/>
    <p:sldId id="2163" r:id="rId80"/>
    <p:sldId id="2164" r:id="rId81"/>
    <p:sldId id="2165" r:id="rId82"/>
    <p:sldId id="2166" r:id="rId83"/>
    <p:sldId id="2167" r:id="rId84"/>
    <p:sldId id="2170" r:id="rId85"/>
    <p:sldId id="2171" r:id="rId86"/>
    <p:sldId id="2172" r:id="rId87"/>
    <p:sldId id="2173" r:id="rId88"/>
    <p:sldId id="2174" r:id="rId89"/>
    <p:sldId id="2175" r:id="rId90"/>
    <p:sldId id="2176" r:id="rId91"/>
    <p:sldId id="2177" r:id="rId92"/>
    <p:sldId id="2178" r:id="rId93"/>
    <p:sldId id="2169" r:id="rId94"/>
    <p:sldId id="270" r:id="rId95"/>
    <p:sldId id="271" r:id="rId96"/>
    <p:sldId id="507" r:id="rId97"/>
    <p:sldId id="521" r:id="rId98"/>
    <p:sldId id="508" r:id="rId99"/>
    <p:sldId id="345" r:id="rId100"/>
  </p:sldIdLst>
  <p:sldSz cx="12192000" cy="6858000"/>
  <p:notesSz cx="6858000" cy="9144000"/>
  <p:embeddedFontLst>
    <p:embeddedFont>
      <p:font typeface="Calibri" panose="020F0502020204030204" pitchFamily="34" charset="0"/>
      <p:regular r:id="rId103"/>
      <p:bold r:id="rId104"/>
      <p:italic r:id="rId105"/>
      <p:boldItalic r:id="rId106"/>
    </p:embeddedFont>
    <p:embeddedFont>
      <p:font typeface="Roboto Condensed" panose="02000000000000000000" pitchFamily="2" charset="0"/>
      <p:regular r:id="rId107"/>
      <p:bold r:id="rId108"/>
      <p:italic r:id="rId109"/>
      <p:boldItalic r:id="rId110"/>
    </p:embeddedFont>
    <p:embeddedFont>
      <p:font typeface="Roboto Condensed Light" panose="02000000000000000000" pitchFamily="2" charset="0"/>
      <p:regular r:id="rId111"/>
      <p:bold r:id="rId112"/>
      <p:italic r:id="rId113"/>
      <p:boldItalic r:id="rId114"/>
    </p:embeddedFont>
    <p:embeddedFont>
      <p:font typeface="Wingdings 3" panose="05040102010807070707" pitchFamily="18" charset="2"/>
      <p:regular r:id="rId1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01A032-DF04-D542-AF03-FB576A7ADED9}">
          <p14:sldIdLst>
            <p14:sldId id="283"/>
            <p14:sldId id="447"/>
            <p14:sldId id="448"/>
            <p14:sldId id="449"/>
            <p14:sldId id="2096"/>
            <p14:sldId id="2097"/>
            <p14:sldId id="2098"/>
            <p14:sldId id="2099"/>
            <p14:sldId id="2100"/>
            <p14:sldId id="2101"/>
            <p14:sldId id="2102"/>
            <p14:sldId id="2105"/>
            <p14:sldId id="2103"/>
            <p14:sldId id="2106"/>
            <p14:sldId id="2107"/>
            <p14:sldId id="2108"/>
            <p14:sldId id="2109"/>
            <p14:sldId id="2110"/>
            <p14:sldId id="2111"/>
            <p14:sldId id="2112"/>
            <p14:sldId id="2113"/>
            <p14:sldId id="2114"/>
            <p14:sldId id="2115"/>
            <p14:sldId id="2116"/>
            <p14:sldId id="2118"/>
            <p14:sldId id="2119"/>
            <p14:sldId id="2120"/>
            <p14:sldId id="2121"/>
            <p14:sldId id="2122"/>
            <p14:sldId id="2123"/>
            <p14:sldId id="2124"/>
            <p14:sldId id="2125"/>
            <p14:sldId id="2126"/>
            <p14:sldId id="2127"/>
            <p14:sldId id="2128"/>
            <p14:sldId id="2129"/>
            <p14:sldId id="2130"/>
            <p14:sldId id="2131"/>
            <p14:sldId id="2132"/>
            <p14:sldId id="2133"/>
            <p14:sldId id="2134"/>
            <p14:sldId id="2138"/>
            <p14:sldId id="2135"/>
            <p14:sldId id="2136"/>
            <p14:sldId id="2137"/>
            <p14:sldId id="516"/>
            <p14:sldId id="487"/>
            <p14:sldId id="488"/>
            <p14:sldId id="489"/>
            <p14:sldId id="490"/>
            <p14:sldId id="491"/>
            <p14:sldId id="263"/>
            <p14:sldId id="492"/>
            <p14:sldId id="493"/>
            <p14:sldId id="494"/>
            <p14:sldId id="2139"/>
            <p14:sldId id="2140"/>
            <p14:sldId id="2141"/>
            <p14:sldId id="2142"/>
            <p14:sldId id="2143"/>
            <p14:sldId id="2145"/>
            <p14:sldId id="2146"/>
            <p14:sldId id="2147"/>
            <p14:sldId id="2148"/>
            <p14:sldId id="2149"/>
            <p14:sldId id="2150"/>
            <p14:sldId id="2151"/>
            <p14:sldId id="2152"/>
            <p14:sldId id="2153"/>
            <p14:sldId id="2154"/>
            <p14:sldId id="2155"/>
            <p14:sldId id="2156"/>
            <p14:sldId id="2157"/>
            <p14:sldId id="2158"/>
            <p14:sldId id="2159"/>
            <p14:sldId id="2160"/>
            <p14:sldId id="2162"/>
            <p14:sldId id="2161"/>
            <p14:sldId id="2163"/>
            <p14:sldId id="2164"/>
            <p14:sldId id="2165"/>
            <p14:sldId id="2166"/>
            <p14:sldId id="2167"/>
            <p14:sldId id="2170"/>
            <p14:sldId id="2171"/>
            <p14:sldId id="2172"/>
            <p14:sldId id="2173"/>
            <p14:sldId id="2174"/>
            <p14:sldId id="2175"/>
            <p14:sldId id="2176"/>
            <p14:sldId id="2177"/>
            <p14:sldId id="2178"/>
            <p14:sldId id="2169"/>
            <p14:sldId id="270"/>
            <p14:sldId id="271"/>
            <p14:sldId id="507"/>
            <p14:sldId id="521"/>
            <p14:sldId id="508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CFF"/>
    <a:srgbClr val="EDF0FC"/>
    <a:srgbClr val="3399FF"/>
    <a:srgbClr val="301B92"/>
    <a:srgbClr val="673BB7"/>
    <a:srgbClr val="607D8B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0.fntdata"/><Relationship Id="rId16" Type="http://schemas.openxmlformats.org/officeDocument/2006/relationships/slide" Target="slides/slide15.xml"/><Relationship Id="rId107" Type="http://schemas.openxmlformats.org/officeDocument/2006/relationships/font" Target="fonts/font5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1.fntdata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.fntdata"/><Relationship Id="rId108" Type="http://schemas.openxmlformats.org/officeDocument/2006/relationships/font" Target="fonts/font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2.fntdata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7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8.fntdata"/><Relationship Id="rId115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67497-6C63-3B9D-01ED-0ED2D567C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6605-F242-407E-CD28-58546B9017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DF528-62A2-A648-BB90-693EA07704A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90F15-0AF7-792D-6028-22E97290FA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53349-F41C-DB6A-857A-395EB2E07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0CAEB-34EF-394E-B2B5-44CDCC70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8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microsoft.com/office/2007/relationships/hdphoto" Target="../media/hdphoto4.wdp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6.png"/><Relationship Id="rId7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Promotions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5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Promotions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9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6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5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Mr. Prashant Parmar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/>
              <a:t>‹#›</a:t>
            </a:fld>
            <a:endParaRPr lang="en-US" b="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#2505CS313 (DM &amp; SEO)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/>
              <a:t>Digital Promotions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93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541" y="22128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5" name="Picture 2" descr="Best Digital Marketing Agency India | Top Digital Marketing Company India">
            <a:extLst>
              <a:ext uri="{FF2B5EF4-FFF2-40B4-BE49-F238E27FC236}">
                <a16:creationId xmlns:a16="http://schemas.microsoft.com/office/drawing/2014/main" id="{87B51A84-0CAF-0E79-6BD4-2B660E2FA0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361993"/>
            <a:ext cx="2429517" cy="209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4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1447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7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5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15" r:id="rId2"/>
    <p:sldLayoutId id="2147483697" r:id="rId3"/>
    <p:sldLayoutId id="2147483699" r:id="rId4"/>
    <p:sldLayoutId id="2147483712" r:id="rId5"/>
    <p:sldLayoutId id="214748371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engaiodigital.com/youtube-advertising/" TargetMode="Externa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721599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4800" dirty="0"/>
              <a:t>Unit 4: Digital Promotions</a:t>
            </a:r>
            <a:br>
              <a:rPr lang="en-US" sz="4800" dirty="0"/>
            </a:br>
            <a:br>
              <a:rPr lang="en-US" sz="4800" dirty="0"/>
            </a:b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Roboto Condensed"/>
                <a:ea typeface="Segoe UI Black" panose="020B0A02040204020203" pitchFamily="34" charset="0"/>
                <a:cs typeface="+mn-cs"/>
              </a:rPr>
            </a:br>
            <a:r>
              <a:rPr lang="en-US" sz="2400" dirty="0">
                <a:latin typeface="+mn-lt"/>
              </a:rPr>
              <a:t>CO 4: execute promotional strategies using Google Ads, YouTube, and specialized professional platforms. </a:t>
            </a:r>
            <a:br>
              <a:rPr lang="en-US" sz="2400" dirty="0">
                <a:latin typeface="+mn-lt"/>
              </a:rPr>
            </a:br>
            <a:b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Segoe UI Black" panose="020B0A02040204020203" pitchFamily="34" charset="0"/>
                <a:cs typeface="+mn-cs"/>
              </a:rPr>
            </a:b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prashant.parmar@darshan.ac.in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9586371604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2622014" y="16125"/>
            <a:ext cx="4796701" cy="734653"/>
          </a:xfrm>
        </p:spPr>
        <p:txBody>
          <a:bodyPr/>
          <a:lstStyle/>
          <a:p>
            <a:r>
              <a:rPr lang="en-US" b="1" dirty="0"/>
              <a:t>Digital Marketing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&amp; SEO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2505CS313 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84A57FF-19EF-43E1-91D9-088BF96105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7" b="13457"/>
          <a:stretch>
            <a:fillRect/>
          </a:stretch>
        </p:blipFill>
        <p:spPr/>
      </p:pic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12E439E-AF22-4AAF-4C3A-2D32858B9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Darshan Institute of Management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48DDFB4-80CE-5831-5B54-23E2F30A4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Mr. Prashant Parmar</a:t>
            </a:r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4EC5A7-E618-43A1-BC52-AA43122F9287}"/>
              </a:ext>
            </a:extLst>
          </p:cNvPr>
          <p:cNvSpPr txBox="1"/>
          <p:nvPr/>
        </p:nvSpPr>
        <p:spPr>
          <a:xfrm>
            <a:off x="1191446" y="341453"/>
            <a:ext cx="1040828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Google Ads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Types of Google ads campaigns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Google ads extensions/assets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Video Marketing &amp; YouTube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Email Marketing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Social Media Marketing (LinkedIn, X, Snapchat)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WhatsApp for Business</a:t>
            </a:r>
          </a:p>
        </p:txBody>
      </p:sp>
    </p:spTree>
    <p:extLst>
      <p:ext uri="{BB962C8B-B14F-4D97-AF65-F5344CB8AC3E}">
        <p14:creationId xmlns:p14="http://schemas.microsoft.com/office/powerpoint/2010/main" val="14564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1C48-80CA-4225-9506-AFA65ED2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78C31-CE4C-40D3-990E-B9B6F611F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204FE-8459-4722-AF98-10E64F85D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3" y="1418665"/>
            <a:ext cx="2221166" cy="12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8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D37B-1CBF-4D0A-9A0A-EE20FB36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Google 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E681D-FBF8-44CF-BD1F-0DD1382C1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986589"/>
            <a:ext cx="11929641" cy="5590565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b="1" dirty="0">
                <a:solidFill>
                  <a:srgbClr val="C00000"/>
                </a:solidFill>
              </a:rPr>
              <a:t>Google Ads</a:t>
            </a:r>
            <a:r>
              <a:rPr lang="en-US" b="1" dirty="0"/>
              <a:t>?</a:t>
            </a:r>
          </a:p>
          <a:p>
            <a:pPr lvl="1"/>
            <a:r>
              <a:rPr lang="en-US" dirty="0"/>
              <a:t>Formerly known as Google AdWords, it is an </a:t>
            </a:r>
            <a:r>
              <a:rPr lang="en-US" b="1" dirty="0"/>
              <a:t>Online Advertising Platform</a:t>
            </a:r>
            <a:r>
              <a:rPr lang="en-US" dirty="0"/>
              <a:t> developed by Google.</a:t>
            </a:r>
          </a:p>
          <a:p>
            <a:pPr lvl="1"/>
            <a:r>
              <a:rPr lang="en-US" dirty="0"/>
              <a:t>Unlike Social Media ads (which are "Interruption-based"), Google Ads are </a:t>
            </a:r>
            <a:r>
              <a:rPr lang="en-US" b="1" dirty="0"/>
              <a:t>"Intent-based."</a:t>
            </a:r>
            <a:r>
              <a:rPr lang="en-US" dirty="0"/>
              <a:t> Users are actively searching for a solution, making them high-value leads.</a:t>
            </a:r>
          </a:p>
          <a:p>
            <a:pPr lvl="1"/>
            <a:endParaRPr lang="en-US" dirty="0"/>
          </a:p>
          <a:p>
            <a:r>
              <a:rPr lang="en-US" dirty="0"/>
              <a:t>Ecosystem Reach</a:t>
            </a:r>
          </a:p>
          <a:p>
            <a:pPr lvl="1"/>
            <a:r>
              <a:rPr lang="en-US" b="1" dirty="0"/>
              <a:t>Google Search: </a:t>
            </a:r>
            <a:r>
              <a:rPr lang="en-US" dirty="0"/>
              <a:t>Ads on the SERP (Search Engine Results Page).</a:t>
            </a:r>
          </a:p>
          <a:p>
            <a:pPr lvl="1"/>
            <a:r>
              <a:rPr lang="en-US" b="1" dirty="0"/>
              <a:t>Google Display Network: </a:t>
            </a:r>
            <a:r>
              <a:rPr lang="en-US" dirty="0"/>
              <a:t>2 million+ websites and apps.</a:t>
            </a:r>
          </a:p>
          <a:p>
            <a:pPr lvl="1"/>
            <a:r>
              <a:rPr lang="en-US" b="1" dirty="0"/>
              <a:t>YouTube &amp; Gmail: </a:t>
            </a:r>
            <a:r>
              <a:rPr lang="en-US" dirty="0"/>
              <a:t>Integrated placements across Google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4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7E82-19A1-4907-B9CD-CAE00828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Google Ads Screenshots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E5E0-C81E-4201-BCF8-917528085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E2A327A-84F0-4D71-BA40-30F4E6643B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b="10291"/>
          <a:stretch/>
        </p:blipFill>
        <p:spPr>
          <a:xfrm>
            <a:off x="5925824" y="795169"/>
            <a:ext cx="6266176" cy="2763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11AE65-5319-4DB7-BEA4-C1ED2FAD81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2" r="2681" b="16179"/>
          <a:stretch/>
        </p:blipFill>
        <p:spPr>
          <a:xfrm>
            <a:off x="259976" y="866887"/>
            <a:ext cx="5387155" cy="2539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4EB4C-850F-4248-A82E-7F9BC449BC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5" b="13310"/>
          <a:stretch/>
        </p:blipFill>
        <p:spPr>
          <a:xfrm>
            <a:off x="98767" y="3696825"/>
            <a:ext cx="6194457" cy="2670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F176F4-8A56-4636-8477-EC1EF6F965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r="7642" b="17687"/>
          <a:stretch/>
        </p:blipFill>
        <p:spPr>
          <a:xfrm>
            <a:off x="6384875" y="4016876"/>
            <a:ext cx="5836179" cy="18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91AF-0B60-4781-99FF-E2A78660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8F01-E587-46A0-8B99-CA8B82AE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32E10-0C17-4B4A-B3C3-DE49A4D7ACCA}"/>
              </a:ext>
            </a:extLst>
          </p:cNvPr>
          <p:cNvSpPr/>
          <p:nvPr/>
        </p:nvSpPr>
        <p:spPr>
          <a:xfrm>
            <a:off x="466161" y="1562884"/>
            <a:ext cx="4774902" cy="5026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Search Campaigns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C792F-41B2-4692-BEE6-C7F537B1C037}"/>
              </a:ext>
            </a:extLst>
          </p:cNvPr>
          <p:cNvSpPr/>
          <p:nvPr/>
        </p:nvSpPr>
        <p:spPr>
          <a:xfrm>
            <a:off x="6388545" y="1562884"/>
            <a:ext cx="4774899" cy="5026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Performance Max (</a:t>
            </a:r>
            <a:r>
              <a:rPr lang="en-US" sz="2000" b="1" dirty="0" err="1">
                <a:solidFill>
                  <a:schemeClr val="tx1"/>
                </a:solidFill>
              </a:rPr>
              <a:t>PMax</a:t>
            </a:r>
            <a:r>
              <a:rPr lang="en-US" sz="2000" b="1" dirty="0">
                <a:solidFill>
                  <a:schemeClr val="tx1"/>
                </a:solidFill>
              </a:rPr>
              <a:t>) Campaigns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93B653-E956-4D3D-B751-D204FB2D8F16}"/>
              </a:ext>
            </a:extLst>
          </p:cNvPr>
          <p:cNvSpPr/>
          <p:nvPr/>
        </p:nvSpPr>
        <p:spPr>
          <a:xfrm>
            <a:off x="466165" y="2819262"/>
            <a:ext cx="4774898" cy="507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Display Campaigns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F12901-1AE0-4832-A8E6-E059EA57682A}"/>
              </a:ext>
            </a:extLst>
          </p:cNvPr>
          <p:cNvSpPr/>
          <p:nvPr/>
        </p:nvSpPr>
        <p:spPr>
          <a:xfrm>
            <a:off x="6388545" y="2816209"/>
            <a:ext cx="4774898" cy="50265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Video Campaigns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E6E766-1C54-42B5-9DD5-22689202344C}"/>
              </a:ext>
            </a:extLst>
          </p:cNvPr>
          <p:cNvSpPr/>
          <p:nvPr/>
        </p:nvSpPr>
        <p:spPr>
          <a:xfrm>
            <a:off x="466160" y="4034365"/>
            <a:ext cx="4774899" cy="4853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Shopping Campaigns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AC064-E2CD-4BB7-B65E-0C874EC6BD3C}"/>
              </a:ext>
            </a:extLst>
          </p:cNvPr>
          <p:cNvSpPr/>
          <p:nvPr/>
        </p:nvSpPr>
        <p:spPr>
          <a:xfrm>
            <a:off x="6388545" y="4025697"/>
            <a:ext cx="4774898" cy="5026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App Campaigns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712A-CDBA-4383-9006-D8B879517D97}"/>
              </a:ext>
            </a:extLst>
          </p:cNvPr>
          <p:cNvSpPr/>
          <p:nvPr/>
        </p:nvSpPr>
        <p:spPr>
          <a:xfrm>
            <a:off x="3708551" y="5259098"/>
            <a:ext cx="4774898" cy="472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Demand Gen Campaigns</a:t>
            </a:r>
          </a:p>
        </p:txBody>
      </p:sp>
    </p:spTree>
    <p:extLst>
      <p:ext uri="{BB962C8B-B14F-4D97-AF65-F5344CB8AC3E}">
        <p14:creationId xmlns:p14="http://schemas.microsoft.com/office/powerpoint/2010/main" val="375142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534-8662-4066-B204-50BDA8B8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</a:t>
            </a:r>
            <a:r>
              <a:rPr lang="en-US" sz="3200" b="1" dirty="0">
                <a:solidFill>
                  <a:schemeClr val="tx1"/>
                </a:solidFill>
              </a:rPr>
              <a:t>Search Campaigns</a:t>
            </a:r>
            <a:r>
              <a:rPr lang="en-US" sz="3200" b="1" dirty="0"/>
              <a:t>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10A2-1E1D-43F4-8CBE-5AE2314D4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Text-based ads that appear directly on the Google Search engine results page (SERP) when users actively query specific keywords.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Capture high-intent users at the exact moment they are actively looking for your specific product, service, or immediate solution.</a:t>
            </a:r>
          </a:p>
          <a:p>
            <a:pPr lvl="1"/>
            <a:r>
              <a:rPr lang="en-US" dirty="0"/>
              <a:t>Research high-intent commercial keywords, organize them into tight ad groups, </a:t>
            </a:r>
          </a:p>
          <a:p>
            <a:pPr lvl="1"/>
            <a:r>
              <a:rPr lang="en-US" dirty="0"/>
              <a:t>set match types (Exact, Phrase, Broad), </a:t>
            </a:r>
          </a:p>
          <a:p>
            <a:pPr lvl="1"/>
            <a:r>
              <a:rPr lang="en-US" dirty="0"/>
              <a:t>write compelling Responsive Search Ads (RSAs), and attach assets (sitelinks, callouts, lead forms). </a:t>
            </a:r>
          </a:p>
          <a:p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An emergency plumbing service bids on the keyword "burst pipe repair near me". </a:t>
            </a:r>
          </a:p>
          <a:p>
            <a:pPr lvl="1"/>
            <a:r>
              <a:rPr lang="en-US" dirty="0"/>
              <a:t>When a homeowner types this into Google, a text ad appears at the top with a direct click-to-call button.</a:t>
            </a:r>
          </a:p>
        </p:txBody>
      </p:sp>
    </p:spTree>
    <p:extLst>
      <p:ext uri="{BB962C8B-B14F-4D97-AF65-F5344CB8AC3E}">
        <p14:creationId xmlns:p14="http://schemas.microsoft.com/office/powerpoint/2010/main" val="267899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(Performance Max (</a:t>
            </a:r>
            <a:r>
              <a:rPr lang="en-US" sz="3200" b="1" dirty="0" err="1"/>
              <a:t>PMax</a:t>
            </a:r>
            <a:r>
              <a:rPr lang="en-US" sz="3200" b="1" dirty="0"/>
              <a:t>) Campaigns)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A goal-based, automated campaign type that uses AI to serve ads across all Google inventory (Search, YouTube, Display, Discover, Gmail, Maps) from a single setup.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Maximize total conversion volume or revenue across Google’s entire advertising inventory from a single automated setup.</a:t>
            </a:r>
            <a:endParaRPr lang="en-US" b="1" dirty="0"/>
          </a:p>
          <a:p>
            <a:pPr lvl="1"/>
            <a:r>
              <a:rPr lang="en-US" dirty="0"/>
              <a:t>Define a conversion goal (leads or sales)</a:t>
            </a:r>
          </a:p>
          <a:p>
            <a:pPr lvl="1"/>
            <a:r>
              <a:rPr lang="en-US" dirty="0"/>
              <a:t>Upload a comprehensive asset group (headlines, descriptions, high-res images, videos, logos), </a:t>
            </a:r>
          </a:p>
          <a:p>
            <a:pPr lvl="1"/>
            <a:r>
              <a:rPr lang="en-US" dirty="0"/>
              <a:t>Set audience signals to guide machine learning, use Smart Bidding (Target CPA or Target ROAS).</a:t>
            </a:r>
          </a:p>
          <a:p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An online mattress brand provides Google with product images, video reviews, and customer purchase lists. </a:t>
            </a:r>
          </a:p>
          <a:p>
            <a:pPr lvl="1"/>
            <a:r>
              <a:rPr lang="en-US" dirty="0"/>
              <a:t>Google automatically identifies high-potential buyers across YouTube, Gmail, and Search to drive maximum checkout revenue.</a:t>
            </a:r>
          </a:p>
        </p:txBody>
      </p:sp>
    </p:spTree>
    <p:extLst>
      <p:ext uri="{BB962C8B-B14F-4D97-AF65-F5344CB8AC3E}">
        <p14:creationId xmlns:p14="http://schemas.microsoft.com/office/powerpoint/2010/main" val="303556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(Display Campaigns)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Visual banner and rich-media ads placed across the Google Display Network (GDN), reaching users while they browse millions of third-party websites, apps, and news portals.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Build broad brand awareness and cost-effectively retarget past website visitors across millions of third-party websites and apps.</a:t>
            </a:r>
            <a:endParaRPr lang="en-US" b="1" dirty="0"/>
          </a:p>
          <a:p>
            <a:pPr lvl="1"/>
            <a:r>
              <a:rPr lang="en-US" dirty="0"/>
              <a:t>Upload responsive display banner assets (images, brand logo, concise copy) and target audiences using </a:t>
            </a:r>
          </a:p>
          <a:p>
            <a:pPr lvl="1"/>
            <a:r>
              <a:rPr lang="en-US" dirty="0"/>
              <a:t>Custom segments, </a:t>
            </a:r>
          </a:p>
          <a:p>
            <a:pPr lvl="1"/>
            <a:r>
              <a:rPr lang="en-US" dirty="0"/>
              <a:t>In-market categories</a:t>
            </a:r>
          </a:p>
          <a:p>
            <a:pPr lvl="1"/>
            <a:r>
              <a:rPr lang="en-US" dirty="0"/>
              <a:t>Remarketing lists (users who visited your site but didn't convert).</a:t>
            </a:r>
          </a:p>
          <a:p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An airline runs banner ads on travel blog websites and retargets users who searched for flights to Paris with a 15% discount banner to encourage booking completion.</a:t>
            </a:r>
          </a:p>
        </p:txBody>
      </p:sp>
    </p:spTree>
    <p:extLst>
      <p:ext uri="{BB962C8B-B14F-4D97-AF65-F5344CB8AC3E}">
        <p14:creationId xmlns:p14="http://schemas.microsoft.com/office/powerpoint/2010/main" val="330180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(Video Campaigns)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Video ads delivered across YouTube and Google video partner networks designed to build brand awareness, convey complex stories, and drive action.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Drive emotional engagement, brand recall, and product education through visual storytelling on YouTube and video partner networks.</a:t>
            </a:r>
          </a:p>
          <a:p>
            <a:pPr lvl="1"/>
            <a:r>
              <a:rPr lang="en-US" dirty="0"/>
              <a:t>Host video creatives on YouTube, select an ad format (Skippable in-stream, Non-skippable 15s, or 6-second Bumper ads), </a:t>
            </a:r>
          </a:p>
          <a:p>
            <a:pPr lvl="1"/>
            <a:r>
              <a:rPr lang="en-US" dirty="0"/>
              <a:t>Set bidding (Target CPM or CPV), </a:t>
            </a:r>
          </a:p>
          <a:p>
            <a:pPr lvl="1"/>
            <a:r>
              <a:rPr lang="en-US" dirty="0"/>
              <a:t>Target specific viewer demographics, interests, or relevant YouTube channels.</a:t>
            </a:r>
          </a:p>
          <a:p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Facebook runs a 30-second skippable demo video on YouTube targeting viewers watching YouTube influencer.</a:t>
            </a:r>
          </a:p>
        </p:txBody>
      </p:sp>
    </p:spTree>
    <p:extLst>
      <p:ext uri="{BB962C8B-B14F-4D97-AF65-F5344CB8AC3E}">
        <p14:creationId xmlns:p14="http://schemas.microsoft.com/office/powerpoint/2010/main" val="238460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(Shopping Campaigns)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Product-focused listings showing an image, title, price, store name, and ratings directly on Google Search and the dedicated Shopping tab.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Showcase physical retail products directly with images, pricing, and ratings to capture users comparing items before a purchase.</a:t>
            </a:r>
            <a:endParaRPr lang="en-US" b="1" dirty="0"/>
          </a:p>
          <a:p>
            <a:pPr lvl="1"/>
            <a:r>
              <a:rPr lang="en-US" dirty="0"/>
              <a:t>Link a Google Merchant Center product data feed to Google Ads, </a:t>
            </a:r>
          </a:p>
          <a:p>
            <a:pPr lvl="1"/>
            <a:r>
              <a:rPr lang="en-US" dirty="0"/>
              <a:t>organize products into custom product groups (by brand, category, or margin), </a:t>
            </a:r>
          </a:p>
          <a:p>
            <a:pPr lvl="1"/>
            <a:r>
              <a:rPr lang="en-US" dirty="0"/>
              <a:t>optimize product feed titles and attributes for search queries. </a:t>
            </a:r>
          </a:p>
          <a:p>
            <a:pPr lvl="1"/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shoe retailer sells running shoes. When a user searches "waterproof trail running shoes size 10“.</a:t>
            </a:r>
          </a:p>
          <a:p>
            <a:pPr lvl="1"/>
            <a:r>
              <a:rPr lang="en-US" dirty="0"/>
              <a:t>Google pulls the product photo, INR 1300 price tag, and 4.8-star rating into a visual card at the top of the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16139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(App Campaigns)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Automated campaigns specifically designed to drive mobile application installs and post-install in-app events across Search, Google Play, YouTube, and Display.</a:t>
            </a:r>
          </a:p>
          <a:p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Scale mobile application installs and drive post-install in-app engagements.</a:t>
            </a:r>
            <a:endParaRPr lang="en-US" b="1" dirty="0"/>
          </a:p>
          <a:p>
            <a:pPr lvl="1"/>
            <a:r>
              <a:rPr lang="en-US" dirty="0"/>
              <a:t>Link your Google Play Console or Apple App Store listing, set your optimization target (Cost per Install - CPI or Cost per Action - CPA).</a:t>
            </a:r>
          </a:p>
          <a:p>
            <a:pPr lvl="1"/>
            <a:r>
              <a:rPr lang="en-US" dirty="0"/>
              <a:t>Provide short text ideas and media assets.</a:t>
            </a:r>
          </a:p>
          <a:p>
            <a:pPr lvl="1"/>
            <a:r>
              <a:rPr lang="en-US" dirty="0"/>
              <a:t>Let Google generate and test placement combinations.</a:t>
            </a:r>
          </a:p>
          <a:p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A food delivery app runs a campaign targeting Android users searching for "dinner delivery" on Google Play and watching food recipe videos on YouTube.</a:t>
            </a:r>
          </a:p>
          <a:p>
            <a:pPr lvl="1"/>
            <a:r>
              <a:rPr lang="en-US" dirty="0"/>
              <a:t>Optimizing for first-order completions.</a:t>
            </a:r>
          </a:p>
        </p:txBody>
      </p:sp>
    </p:spTree>
    <p:extLst>
      <p:ext uri="{BB962C8B-B14F-4D97-AF65-F5344CB8AC3E}">
        <p14:creationId xmlns:p14="http://schemas.microsoft.com/office/powerpoint/2010/main" val="367445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F148-0E21-42E9-8B85-A327C06C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Types of Google Ads Campaigns (Demand Gen)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7DF8-EAD9-41B7-8806-695626FD8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Meaning: </a:t>
            </a:r>
            <a:r>
              <a:rPr lang="en-US" dirty="0"/>
              <a:t>AI-driven, highly visual and immersive campaigns running on Google's top feed surfaces.</a:t>
            </a:r>
          </a:p>
          <a:p>
            <a:pPr lvl="2"/>
            <a:r>
              <a:rPr lang="en-US" dirty="0"/>
              <a:t>YouTube (including Shorts)</a:t>
            </a:r>
          </a:p>
          <a:p>
            <a:pPr lvl="2"/>
            <a:r>
              <a:rPr lang="en-US" dirty="0"/>
              <a:t>Discover </a:t>
            </a:r>
          </a:p>
          <a:p>
            <a:pPr lvl="2"/>
            <a:r>
              <a:rPr lang="en-US" dirty="0"/>
              <a:t>Gmail</a:t>
            </a:r>
          </a:p>
          <a:p>
            <a:pPr lvl="1"/>
            <a:r>
              <a:rPr lang="en-US" dirty="0"/>
              <a:t>Capture mid-funnel interest before users search.</a:t>
            </a:r>
          </a:p>
          <a:p>
            <a:pPr lvl="1"/>
            <a:endParaRPr lang="en-US" dirty="0"/>
          </a:p>
          <a:p>
            <a:r>
              <a:rPr lang="en-US" b="1" dirty="0"/>
              <a:t>How to Use: </a:t>
            </a:r>
          </a:p>
          <a:p>
            <a:pPr lvl="1"/>
            <a:r>
              <a:rPr lang="en-US" dirty="0"/>
              <a:t>Upload high-impact visual creatives (vertical 9:16 Shorts videos, standard landscape videos, and image carousels).</a:t>
            </a:r>
          </a:p>
          <a:p>
            <a:pPr lvl="1"/>
            <a:r>
              <a:rPr lang="en-US" dirty="0"/>
              <a:t>Pair them with first-party Customer Match data, and build Lookalike segments to find new prospects.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Example: </a:t>
            </a:r>
          </a:p>
          <a:p>
            <a:pPr lvl="1"/>
            <a:r>
              <a:rPr lang="en-US" dirty="0"/>
              <a:t>A direct-to-consumer skincare brand uploads vertical user-generated review videos and carousel images to target lookalike segments of past buyers browsing YouTube Shorts and the Google Discover feed.</a:t>
            </a:r>
          </a:p>
        </p:txBody>
      </p:sp>
    </p:spTree>
    <p:extLst>
      <p:ext uri="{BB962C8B-B14F-4D97-AF65-F5344CB8AC3E}">
        <p14:creationId xmlns:p14="http://schemas.microsoft.com/office/powerpoint/2010/main" val="152067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CD92-421E-475D-8E83-5CA0AFF5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ads Image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7366-74D5-406B-983E-E6EC21CC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3278398" cy="5590565"/>
          </a:xfrm>
        </p:spPr>
        <p:txBody>
          <a:bodyPr/>
          <a:lstStyle/>
          <a:p>
            <a:r>
              <a:rPr lang="en-US" dirty="0"/>
              <a:t>Identify the type of ad.</a:t>
            </a:r>
          </a:p>
          <a:p>
            <a:r>
              <a:rPr lang="en-US" dirty="0"/>
              <a:t>Search 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42004-2952-4809-A682-4510E99B4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578" y="863444"/>
            <a:ext cx="8321762" cy="52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9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CD92-421E-475D-8E83-5CA0AFF5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ads Image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7366-74D5-406B-983E-E6EC21CC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3278398" cy="5590565"/>
          </a:xfrm>
        </p:spPr>
        <p:txBody>
          <a:bodyPr/>
          <a:lstStyle/>
          <a:p>
            <a:r>
              <a:rPr lang="en-US" dirty="0"/>
              <a:t>Identify the type of ad.</a:t>
            </a:r>
          </a:p>
          <a:p>
            <a:r>
              <a:rPr lang="en-US" dirty="0"/>
              <a:t>Display ads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D0AC57-4CAC-4F83-9490-5DAD616C9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90" y="2069432"/>
            <a:ext cx="10903308" cy="34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0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CD92-421E-475D-8E83-5CA0AFF5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ads Image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7366-74D5-406B-983E-E6EC21CC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3278398" cy="5590565"/>
          </a:xfrm>
        </p:spPr>
        <p:txBody>
          <a:bodyPr/>
          <a:lstStyle/>
          <a:p>
            <a:r>
              <a:rPr lang="en-US" dirty="0"/>
              <a:t>Identify the type of ad.</a:t>
            </a:r>
          </a:p>
          <a:p>
            <a:r>
              <a:rPr lang="en-US" dirty="0"/>
              <a:t>Shopping 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6D577-1A7B-428E-BDC3-9F48BE42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579" y="863444"/>
            <a:ext cx="7270889" cy="512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0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CD92-421E-475D-8E83-5CA0AFF5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ads Image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7366-74D5-406B-983E-E6EC21CC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3278398" cy="5590565"/>
          </a:xfrm>
        </p:spPr>
        <p:txBody>
          <a:bodyPr/>
          <a:lstStyle/>
          <a:p>
            <a:r>
              <a:rPr lang="en-US" dirty="0"/>
              <a:t>Identify the type of ad.</a:t>
            </a:r>
          </a:p>
          <a:p>
            <a:r>
              <a:rPr lang="en-US" dirty="0"/>
              <a:t>App Install ads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FB020C-7526-424B-94BA-3521585C1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247" y="1739438"/>
            <a:ext cx="85248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4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D88F-C694-40B9-A31C-BBC0DA31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extensions/asset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F9B3-66C2-48E2-A7F1-0710C8ED3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Google ads extension </a:t>
            </a:r>
            <a:r>
              <a:rPr lang="en-US" dirty="0"/>
              <a:t>is also known as </a:t>
            </a:r>
            <a:r>
              <a:rPr lang="en-US" b="1" dirty="0">
                <a:solidFill>
                  <a:srgbClr val="C00000"/>
                </a:solidFill>
              </a:rPr>
              <a:t>assets</a:t>
            </a:r>
            <a:r>
              <a:rPr lang="en-US" dirty="0"/>
              <a:t> are additional pieces of information added to your Google Ads to make them more useful and attractive. </a:t>
            </a:r>
          </a:p>
          <a:p>
            <a:r>
              <a:rPr lang="en-US" dirty="0"/>
              <a:t>They can include:</a:t>
            </a:r>
          </a:p>
          <a:p>
            <a:pPr lvl="1"/>
            <a:r>
              <a:rPr lang="en-US" dirty="0"/>
              <a:t>Headlines</a:t>
            </a:r>
          </a:p>
          <a:p>
            <a:pPr lvl="1"/>
            <a:r>
              <a:rPr lang="en-US" dirty="0"/>
              <a:t>Descriptions</a:t>
            </a:r>
          </a:p>
          <a:p>
            <a:pPr lvl="1"/>
            <a:r>
              <a:rPr lang="en-US" dirty="0"/>
              <a:t>Website links (Sitelinks)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Call buttons</a:t>
            </a:r>
          </a:p>
          <a:p>
            <a:pPr lvl="1"/>
            <a:r>
              <a:rPr lang="en-US" dirty="0"/>
              <a:t>Location information</a:t>
            </a:r>
          </a:p>
          <a:p>
            <a:pPr lvl="1"/>
            <a:r>
              <a:rPr lang="en-US" dirty="0"/>
              <a:t>App links and other business information</a:t>
            </a:r>
          </a:p>
          <a:p>
            <a:r>
              <a:rPr lang="en-US" dirty="0"/>
              <a:t>They give customers more reasons and ways to interact with your business.</a:t>
            </a:r>
          </a:p>
        </p:txBody>
      </p:sp>
    </p:spTree>
    <p:extLst>
      <p:ext uri="{BB962C8B-B14F-4D97-AF65-F5344CB8AC3E}">
        <p14:creationId xmlns:p14="http://schemas.microsoft.com/office/powerpoint/2010/main" val="344469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239B-7F3A-4078-AFB3-E0CAD652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Do Assets Work?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4C93D-62C6-4B6C-AD3E-1FA7567A0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Ads automatically selects the most relevant assets for each user's search.</a:t>
            </a:r>
          </a:p>
          <a:p>
            <a:r>
              <a:rPr lang="en-US" dirty="0"/>
              <a:t>Different combinations may appear for different people and searches.</a:t>
            </a:r>
          </a:p>
          <a:p>
            <a:r>
              <a:rPr lang="en-US" dirty="0"/>
              <a:t>More relevant assets can make your ad larger, more visible, and more engaging.</a:t>
            </a:r>
          </a:p>
          <a:p>
            <a:r>
              <a:rPr lang="en-US" dirty="0"/>
              <a:t>Assets can help increase clicks, calls, website visits, and conversions.</a:t>
            </a:r>
          </a:p>
          <a:p>
            <a:r>
              <a:rPr lang="en-US" dirty="0"/>
              <a:t>Some assets require manual setup, while others can be automatically created by Google.</a:t>
            </a:r>
          </a:p>
        </p:txBody>
      </p:sp>
    </p:spTree>
    <p:extLst>
      <p:ext uri="{BB962C8B-B14F-4D97-AF65-F5344CB8AC3E}">
        <p14:creationId xmlns:p14="http://schemas.microsoft.com/office/powerpoint/2010/main" val="420921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114B-D81F-40D4-AAEC-E33A6FA8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Google Ads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664B7-A648-4816-9416-FFA1DE6C8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Headline Assets</a:t>
            </a:r>
          </a:p>
          <a:p>
            <a:pPr lvl="1"/>
            <a:r>
              <a:rPr lang="en-US" dirty="0"/>
              <a:t>Headlines are the main titles of your advertisement. They grab the customer's attention.</a:t>
            </a:r>
          </a:p>
          <a:p>
            <a:pPr lvl="1"/>
            <a:r>
              <a:rPr lang="en-US" dirty="0"/>
              <a:t>Example: Learn Digital Marketing from Experts</a:t>
            </a:r>
          </a:p>
          <a:p>
            <a:pPr lvl="1"/>
            <a:endParaRPr lang="en-US" dirty="0"/>
          </a:p>
          <a:p>
            <a:r>
              <a:rPr lang="en-US" b="1" dirty="0"/>
              <a:t>Description Assets</a:t>
            </a:r>
          </a:p>
          <a:p>
            <a:pPr lvl="1"/>
            <a:r>
              <a:rPr lang="en-US" dirty="0"/>
              <a:t>Descriptions provide more information about your product, service, or offer.</a:t>
            </a:r>
          </a:p>
          <a:p>
            <a:pPr lvl="1"/>
            <a:r>
              <a:rPr lang="en-US" dirty="0"/>
              <a:t>Example: Join practical classes and gain industry-ready skills.</a:t>
            </a:r>
          </a:p>
          <a:p>
            <a:pPr lvl="1"/>
            <a:endParaRPr lang="en-US" dirty="0"/>
          </a:p>
          <a:p>
            <a:r>
              <a:rPr lang="en-US" b="1" dirty="0"/>
              <a:t>Sitelink Assets</a:t>
            </a:r>
          </a:p>
          <a:p>
            <a:pPr lvl="1"/>
            <a:r>
              <a:rPr lang="en-US" dirty="0"/>
              <a:t>Sitelinks provide additional links to specific pages of your website.</a:t>
            </a:r>
          </a:p>
          <a:p>
            <a:pPr lvl="1"/>
            <a:r>
              <a:rPr lang="en-US" dirty="0"/>
              <a:t>Example: Courses | Fees Structure | Contact Us | Apply Now</a:t>
            </a:r>
          </a:p>
        </p:txBody>
      </p:sp>
    </p:spTree>
    <p:extLst>
      <p:ext uri="{BB962C8B-B14F-4D97-AF65-F5344CB8AC3E}">
        <p14:creationId xmlns:p14="http://schemas.microsoft.com/office/powerpoint/2010/main" val="208243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7D8E-B325-4754-9531-B4D03182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Google Ads Assets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6CAC-3CD7-4483-B1AE-148F22BAA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Callout Assets</a:t>
            </a:r>
          </a:p>
          <a:p>
            <a:pPr lvl="1"/>
            <a:r>
              <a:rPr lang="en-US" dirty="0"/>
              <a:t>Callouts highlight important benefits or unique features of your business.</a:t>
            </a:r>
          </a:p>
          <a:p>
            <a:pPr lvl="1"/>
            <a:r>
              <a:rPr lang="en-US" dirty="0"/>
              <a:t>Example: Free Demo | Certified Trainers | Placement Support</a:t>
            </a:r>
          </a:p>
          <a:p>
            <a:pPr lvl="1"/>
            <a:endParaRPr lang="en-US" dirty="0"/>
          </a:p>
          <a:p>
            <a:r>
              <a:rPr lang="en-US" b="1" dirty="0"/>
              <a:t>Call Assets</a:t>
            </a:r>
          </a:p>
          <a:p>
            <a:pPr lvl="1"/>
            <a:r>
              <a:rPr lang="en-US" dirty="0"/>
              <a:t>Call assets allow customers to call your business directly from the advertisement.</a:t>
            </a:r>
          </a:p>
          <a:p>
            <a:pPr lvl="1"/>
            <a:r>
              <a:rPr lang="en-US" dirty="0"/>
              <a:t>Example: Call Now: +91 XXXXX </a:t>
            </a:r>
            <a:r>
              <a:rPr lang="en-US" dirty="0" err="1"/>
              <a:t>XXXXX</a:t>
            </a: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Location Assets</a:t>
            </a:r>
          </a:p>
          <a:p>
            <a:pPr lvl="1"/>
            <a:r>
              <a:rPr lang="en-US" dirty="0"/>
              <a:t>Location assets show your business address and help customers find your physical location.</a:t>
            </a:r>
          </a:p>
          <a:p>
            <a:pPr lvl="1"/>
            <a:r>
              <a:rPr lang="en-US" dirty="0"/>
              <a:t> Example: Visit Our Training Centre in Rajkot</a:t>
            </a:r>
          </a:p>
        </p:txBody>
      </p:sp>
    </p:spTree>
    <p:extLst>
      <p:ext uri="{BB962C8B-B14F-4D97-AF65-F5344CB8AC3E}">
        <p14:creationId xmlns:p14="http://schemas.microsoft.com/office/powerpoint/2010/main" val="302432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E6C8-BA76-4322-87C7-A6BFADB7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Google Ads Assets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099D-5FBD-4169-918B-29F2FC049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Image Assets</a:t>
            </a:r>
          </a:p>
          <a:p>
            <a:pPr lvl="1"/>
            <a:r>
              <a:rPr lang="en-US" dirty="0"/>
              <a:t>Image assets add relevant pictures to make your advertisement more attractive and informative.</a:t>
            </a:r>
          </a:p>
          <a:p>
            <a:pPr lvl="1"/>
            <a:r>
              <a:rPr lang="en-US" dirty="0"/>
              <a:t>Example: Photo of students attending a digital marketing workshop</a:t>
            </a:r>
          </a:p>
          <a:p>
            <a:pPr lvl="1"/>
            <a:endParaRPr lang="en-US" dirty="0"/>
          </a:p>
          <a:p>
            <a:r>
              <a:rPr lang="en-US" b="1" dirty="0"/>
              <a:t>Price Assets</a:t>
            </a:r>
          </a:p>
          <a:p>
            <a:pPr lvl="1"/>
            <a:r>
              <a:rPr lang="en-US" dirty="0"/>
              <a:t>Price assets display the prices of your products or services directly in the ad.</a:t>
            </a:r>
          </a:p>
          <a:p>
            <a:pPr lvl="1"/>
            <a:r>
              <a:rPr lang="en-US" dirty="0"/>
              <a:t>Example: SEO Course – ₹8,000</a:t>
            </a:r>
          </a:p>
          <a:p>
            <a:pPr lvl="1"/>
            <a:endParaRPr lang="en-US" dirty="0"/>
          </a:p>
          <a:p>
            <a:r>
              <a:rPr lang="en-US" b="1" dirty="0"/>
              <a:t>Promotion Assets</a:t>
            </a:r>
          </a:p>
          <a:p>
            <a:pPr lvl="1"/>
            <a:r>
              <a:rPr lang="en-US" dirty="0"/>
              <a:t>Promotion assets highlight special discounts, sales, or limited-time offers.</a:t>
            </a:r>
          </a:p>
          <a:p>
            <a:pPr lvl="1"/>
            <a:r>
              <a:rPr lang="en-US" dirty="0"/>
              <a:t>Example: Get 20% Off on Course Registration</a:t>
            </a:r>
          </a:p>
        </p:txBody>
      </p:sp>
    </p:spTree>
    <p:extLst>
      <p:ext uri="{BB962C8B-B14F-4D97-AF65-F5344CB8AC3E}">
        <p14:creationId xmlns:p14="http://schemas.microsoft.com/office/powerpoint/2010/main" val="395722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E6C8-BA76-4322-87C7-A6BFADB7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Google Ads Assets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099D-5FBD-4169-918B-29F2FC049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Structured Snippet Assets</a:t>
            </a:r>
          </a:p>
          <a:p>
            <a:pPr lvl="1"/>
            <a:r>
              <a:rPr lang="en-US" dirty="0"/>
              <a:t>These assets show a list of specific products, services, brands, or categories offered by a business. </a:t>
            </a:r>
          </a:p>
          <a:p>
            <a:pPr lvl="1"/>
            <a:r>
              <a:rPr lang="en-US" dirty="0"/>
              <a:t>Example: Services: SEO, Google Ads, Social Media Marketing</a:t>
            </a:r>
          </a:p>
          <a:p>
            <a:pPr lvl="1"/>
            <a:endParaRPr lang="en-US" dirty="0"/>
          </a:p>
          <a:p>
            <a:r>
              <a:rPr lang="en-US" b="1" dirty="0"/>
              <a:t>App Assets</a:t>
            </a:r>
          </a:p>
          <a:p>
            <a:pPr lvl="1"/>
            <a:r>
              <a:rPr lang="en-US" dirty="0"/>
              <a:t>App assets encourage customers to download your mobile application.</a:t>
            </a:r>
          </a:p>
          <a:p>
            <a:pPr lvl="1"/>
            <a:r>
              <a:rPr lang="en-US" dirty="0"/>
              <a:t>Example: Download Our Learning App</a:t>
            </a:r>
          </a:p>
          <a:p>
            <a:pPr lvl="1"/>
            <a:endParaRPr lang="en-US" dirty="0"/>
          </a:p>
          <a:p>
            <a:r>
              <a:rPr lang="en-US" b="1" dirty="0"/>
              <a:t>Lead Form Assets</a:t>
            </a:r>
          </a:p>
          <a:p>
            <a:pPr lvl="1"/>
            <a:r>
              <a:rPr lang="en-US" dirty="0"/>
              <a:t>Lead form assets allow interested customers to submit their details directly through the advertisement.</a:t>
            </a:r>
          </a:p>
          <a:p>
            <a:pPr lvl="1"/>
            <a:r>
              <a:rPr lang="en-US" dirty="0"/>
              <a:t>Example: Fill the form to get a Free Career Consultation.</a:t>
            </a:r>
          </a:p>
        </p:txBody>
      </p:sp>
    </p:spTree>
    <p:extLst>
      <p:ext uri="{BB962C8B-B14F-4D97-AF65-F5344CB8AC3E}">
        <p14:creationId xmlns:p14="http://schemas.microsoft.com/office/powerpoint/2010/main" val="113599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1D50-CC36-42B8-87D9-83EF552B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Identify Google Ads Assets (Continue…)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7F6FA-49EE-4369-B172-8F3AEB858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944694"/>
            <a:ext cx="4873374" cy="498524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396A40-32FE-4755-AC89-1B7D3E58C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264" y="833515"/>
            <a:ext cx="4235124" cy="5190969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73BE5B-0237-4F17-88C0-86834989A46C}"/>
              </a:ext>
            </a:extLst>
          </p:cNvPr>
          <p:cNvSpPr/>
          <p:nvPr/>
        </p:nvSpPr>
        <p:spPr>
          <a:xfrm>
            <a:off x="548640" y="3437315"/>
            <a:ext cx="4663062" cy="10563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6FDA66-E25F-476E-AA82-9EB4F8497247}"/>
              </a:ext>
            </a:extLst>
          </p:cNvPr>
          <p:cNvSpPr/>
          <p:nvPr/>
        </p:nvSpPr>
        <p:spPr>
          <a:xfrm>
            <a:off x="5586694" y="3065916"/>
            <a:ext cx="4663062" cy="30808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3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1D50-CC36-42B8-87D9-83EF552B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Identify Google Ads Assets (Continue…)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0D71BA-50CF-441F-BF7F-8E275AA93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94" y="1335235"/>
            <a:ext cx="5508022" cy="4402037"/>
          </a:xfr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CEC5253-41EE-4173-A8AB-ECCBFA1A8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367" y="2366681"/>
            <a:ext cx="5508022" cy="23391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FD9FBF0-6255-4941-8057-2F9BA95A9905}"/>
              </a:ext>
            </a:extLst>
          </p:cNvPr>
          <p:cNvSpPr/>
          <p:nvPr/>
        </p:nvSpPr>
        <p:spPr>
          <a:xfrm>
            <a:off x="6096000" y="4025145"/>
            <a:ext cx="4663062" cy="5468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C00230-D5BC-47B6-9DDB-598941364107}"/>
              </a:ext>
            </a:extLst>
          </p:cNvPr>
          <p:cNvSpPr/>
          <p:nvPr/>
        </p:nvSpPr>
        <p:spPr>
          <a:xfrm>
            <a:off x="444137" y="4175227"/>
            <a:ext cx="5203979" cy="1441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84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1D50-CC36-42B8-87D9-83EF552B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Identify Google Ads Assets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30C7B72-BBD0-43F6-90A8-A10ECD3A6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712" y="2676701"/>
            <a:ext cx="7539318" cy="2376136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576290-8FE9-4C1A-ADAA-E6A54FDE8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99" y="711201"/>
            <a:ext cx="4128114" cy="554258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145FE17-4037-461A-8006-D09F35453E77}"/>
              </a:ext>
            </a:extLst>
          </p:cNvPr>
          <p:cNvSpPr/>
          <p:nvPr/>
        </p:nvSpPr>
        <p:spPr>
          <a:xfrm>
            <a:off x="151299" y="5682343"/>
            <a:ext cx="4028815" cy="5714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64A140-FF9A-4333-830C-98D1AA950566}"/>
              </a:ext>
            </a:extLst>
          </p:cNvPr>
          <p:cNvSpPr/>
          <p:nvPr/>
        </p:nvSpPr>
        <p:spPr>
          <a:xfrm>
            <a:off x="4572001" y="4481391"/>
            <a:ext cx="2312126" cy="44330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88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1D50-CC36-42B8-87D9-83EF552B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Identify Google Ads Assets (Continue…)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71B787-5D13-41DB-801D-EE0299938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65" y="1038092"/>
            <a:ext cx="5727725" cy="5190751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7A0CD9-87AA-4A01-9208-84784D546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38" y="2255325"/>
            <a:ext cx="5598097" cy="27562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F340E4-83FE-4029-92A0-5B93E8A301A3}"/>
              </a:ext>
            </a:extLst>
          </p:cNvPr>
          <p:cNvSpPr/>
          <p:nvPr/>
        </p:nvSpPr>
        <p:spPr>
          <a:xfrm>
            <a:off x="10175966" y="3143275"/>
            <a:ext cx="1790269" cy="18683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29731-51A0-4848-AD2D-93A047919144}"/>
              </a:ext>
            </a:extLst>
          </p:cNvPr>
          <p:cNvSpPr/>
          <p:nvPr/>
        </p:nvSpPr>
        <p:spPr>
          <a:xfrm>
            <a:off x="395582" y="5512526"/>
            <a:ext cx="5025504" cy="7215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17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7C98-BFA3-47D6-9628-113B40E0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130231" cy="5590565"/>
          </a:xfrm>
        </p:spPr>
        <p:txBody>
          <a:bodyPr/>
          <a:lstStyle/>
          <a:p>
            <a:r>
              <a:rPr lang="en-US" dirty="0"/>
              <a:t>Business Name: Enter the optional business/brand name in the top input box.  </a:t>
            </a:r>
          </a:p>
          <a:p>
            <a:r>
              <a:rPr lang="en-US" dirty="0"/>
              <a:t>Destination URL: Select where users will land after clicking the ad (website URL, business phone number, or app download page).  </a:t>
            </a:r>
          </a:p>
          <a:p>
            <a:r>
              <a:rPr lang="en-US" dirty="0"/>
              <a:t>Input Website URL: Enter the landing page URL ([https://academicfrenzy.blogspot.com/] to allow Google to scan the site for asset generation and ad relevancy.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EB95B-3D73-4DDD-84A7-5B5A20CA6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753" y="709924"/>
            <a:ext cx="4509247" cy="58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6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97EB6D-6BD3-4FAB-B1EE-EA5268F11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3434" y="697754"/>
            <a:ext cx="5058566" cy="5296802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5FCAD6-C318-4C31-848D-78DFA6BDCDB1}"/>
              </a:ext>
            </a:extLst>
          </p:cNvPr>
          <p:cNvSpPr txBox="1">
            <a:spLocks/>
          </p:cNvSpPr>
          <p:nvPr/>
        </p:nvSpPr>
        <p:spPr>
          <a:xfrm>
            <a:off x="131181" y="863444"/>
            <a:ext cx="700225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Business Description &amp; Category Tagging</a:t>
            </a:r>
          </a:p>
          <a:p>
            <a:r>
              <a:rPr lang="en-US" dirty="0"/>
              <a:t>Describe Business Uniqueness: Provide a detailed description of the brand's offerings, value proposition, and purpose (e.g., modern marketing education, value co-creation) to assist Google AI in targeting.  </a:t>
            </a:r>
          </a:p>
          <a:p>
            <a:r>
              <a:rPr lang="en-US" dirty="0"/>
              <a:t>Select Categories: Tag specific products and services being promoted (e.g., Advertising &amp; Marketing, Education &amp; Training, Reference Materials &amp; Resources, Academic Conferences &amp; Publications, Internet Marketing).  </a:t>
            </a:r>
          </a:p>
          <a:p>
            <a:r>
              <a:rPr lang="en-US" dirty="0"/>
              <a:t>Select Source Pages: Confirm the website URL to pull image assets directly from the site. </a:t>
            </a:r>
          </a:p>
        </p:txBody>
      </p:sp>
    </p:spTree>
    <p:extLst>
      <p:ext uri="{BB962C8B-B14F-4D97-AF65-F5344CB8AC3E}">
        <p14:creationId xmlns:p14="http://schemas.microsoft.com/office/powerpoint/2010/main" val="69241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634D90-3E0A-48EF-8FB6-F6B12B13F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7228844" cy="5590565"/>
          </a:xfrm>
        </p:spPr>
        <p:txBody>
          <a:bodyPr/>
          <a:lstStyle/>
          <a:p>
            <a:r>
              <a:rPr lang="en-US" dirty="0"/>
              <a:t>Link Associated </a:t>
            </a:r>
            <a:r>
              <a:rPr lang="en-US" dirty="0" err="1"/>
              <a:t>AccountsGoogle</a:t>
            </a:r>
            <a:r>
              <a:rPr lang="en-US" dirty="0"/>
              <a:t> Business Profile: Link a Google Business profile to show physical location extensions and drive local visits.  </a:t>
            </a:r>
          </a:p>
          <a:p>
            <a:r>
              <a:rPr lang="en-US" dirty="0"/>
              <a:t>YouTube Channel: Connect a YouTube channel (prashant Parmar) to leverage video engagement data and run targeted video-based promotions.  </a:t>
            </a:r>
          </a:p>
          <a:p>
            <a:r>
              <a:rPr lang="en-US" dirty="0"/>
              <a:t>Call Extensions: Add a regional phone number to enable direct click-to-call functionality.  Mobile App: Link an app store listing if promoting an Android or iOS application.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D4F495-D167-47D0-90EF-7CB8A8E0D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635" y="766260"/>
            <a:ext cx="4422277" cy="56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6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7C98-BFA3-47D6-9628-113B40E0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318491" cy="5590565"/>
          </a:xfrm>
        </p:spPr>
        <p:txBody>
          <a:bodyPr/>
          <a:lstStyle/>
          <a:p>
            <a:r>
              <a:rPr lang="en-US" dirty="0"/>
              <a:t>Campaign Conversion </a:t>
            </a:r>
            <a:r>
              <a:rPr lang="en-US" dirty="0" err="1"/>
              <a:t>GoalSelect</a:t>
            </a:r>
            <a:r>
              <a:rPr lang="en-US" dirty="0"/>
              <a:t> Objective: Choose the conversion goal for the campaign (options include Purchases, Submit lead form, Phone call leads, Page views, or Brand awareness).  </a:t>
            </a:r>
          </a:p>
          <a:p>
            <a:r>
              <a:rPr lang="en-US" dirty="0"/>
              <a:t>Configure Page Views: In this setup, select Page views as the primary conversion goal.  </a:t>
            </a:r>
          </a:p>
          <a:p>
            <a:r>
              <a:rPr lang="en-US" dirty="0"/>
              <a:t>Measurement Tracking: Choose Enter the URL for the page that you want people to visit and confirm the target URL to track visits without immediate manual tag implementation.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56CBB-02B6-413F-83ED-61B64595F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83" y="711201"/>
            <a:ext cx="4373664" cy="59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3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7C98-BFA3-47D6-9628-113B40E06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332373" cy="5590565"/>
          </a:xfrm>
        </p:spPr>
        <p:txBody>
          <a:bodyPr/>
          <a:lstStyle/>
          <a:p>
            <a:r>
              <a:rPr lang="en-US" dirty="0"/>
              <a:t> Audience Targeting (Themes, Location, &amp; Language)</a:t>
            </a:r>
          </a:p>
          <a:p>
            <a:r>
              <a:rPr lang="en-US" dirty="0"/>
              <a:t>Search Themes: Enter relevant search keywords and queries representing user intent (e.g., "Skin care product good or not?").  </a:t>
            </a:r>
          </a:p>
          <a:p>
            <a:r>
              <a:rPr lang="en-US" dirty="0"/>
              <a:t>Geographic Locations: Define the target countries/regions where ads will be served (set to India).  Target Languages: Set the audience language preference (set to English).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49871-103C-4A77-9E8F-B74436499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07" y="711201"/>
            <a:ext cx="5513294" cy="593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6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D01A-955B-408A-A249-5FD94C23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AE4659-02CC-4ED5-863B-D3925ED30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6348" y="1552129"/>
            <a:ext cx="4265652" cy="499927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87DC1B-3161-4454-91BC-F78C9B971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072" y="711201"/>
            <a:ext cx="4082928" cy="84092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2C9193-9134-40BA-9900-688266F8922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633237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Landing Page Confirmation &amp; Short Headlines</a:t>
            </a:r>
          </a:p>
          <a:p>
            <a:r>
              <a:rPr lang="en-US" dirty="0"/>
              <a:t>Final URL Verification: Confirm the destination link </a:t>
            </a:r>
          </a:p>
          <a:p>
            <a:r>
              <a:rPr lang="en-US" dirty="0"/>
              <a:t>Short Headlines: Provide multiple concise headlines (up to 30 characters each) highlighting core benefits for Google's responsive ad rotation.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8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DF38-5414-46CF-B28F-2B9163A2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1C75E-9BE7-4D18-AE85-99D91007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735785" cy="5590565"/>
          </a:xfrm>
        </p:spPr>
        <p:txBody>
          <a:bodyPr/>
          <a:lstStyle/>
          <a:p>
            <a:r>
              <a:rPr lang="en-US" dirty="0"/>
              <a:t>Long Headlines Asset Creation</a:t>
            </a:r>
          </a:p>
          <a:p>
            <a:r>
              <a:rPr lang="en-US" dirty="0"/>
              <a:t>Long Headlines: Provide expanded headline variations (up to 90 characters each) to appear on larger ad placements and cross-network formats.  </a:t>
            </a:r>
          </a:p>
          <a:p>
            <a:r>
              <a:rPr lang="en-US" dirty="0"/>
              <a:t>Key Messaging: Emphasize modern marketing insights, shifting from product-first to people-first mindsets, and academic publications.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5AF00-FC89-4D3D-915A-97929F917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116" y="863444"/>
            <a:ext cx="5128704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0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C167-ADE6-4B08-AFFE-61298EDA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28CE3-E36E-43B8-9259-119BE9930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4710" y="988655"/>
            <a:ext cx="5197290" cy="3924640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7FEE7-30EE-438B-BB28-C0388ECA5C2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673578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Ad Descriptions Setup </a:t>
            </a:r>
          </a:p>
          <a:p>
            <a:r>
              <a:rPr lang="en-US" dirty="0"/>
              <a:t>Detailed Descriptions: Add informative description lines (up to 90 characters each) elaborating on specific topics, courses, or article reviews.  </a:t>
            </a:r>
          </a:p>
          <a:p>
            <a:r>
              <a:rPr lang="en-US" dirty="0"/>
              <a:t>Content Alignment: Mix general marketing themes (e.g., moving beyond the 4Ps) and targeted post topics (e.g., cosmetic reviews, skin health analyses). </a:t>
            </a:r>
          </a:p>
        </p:txBody>
      </p:sp>
    </p:spTree>
    <p:extLst>
      <p:ext uri="{BB962C8B-B14F-4D97-AF65-F5344CB8AC3E}">
        <p14:creationId xmlns:p14="http://schemas.microsoft.com/office/powerpoint/2010/main" val="402916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9021-6315-4D8E-AEAE-9591C991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CEC4B-C026-4C3A-B8BA-E568099E7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323408" cy="5590565"/>
          </a:xfrm>
        </p:spPr>
        <p:txBody>
          <a:bodyPr/>
          <a:lstStyle/>
          <a:p>
            <a:r>
              <a:rPr lang="en-US" dirty="0"/>
              <a:t> Visual Assets (Images)</a:t>
            </a:r>
          </a:p>
          <a:p>
            <a:r>
              <a:rPr lang="en-US" dirty="0"/>
              <a:t>Image Selection: Add up to 20 marketing images to accompany responsive ads.  </a:t>
            </a:r>
          </a:p>
          <a:p>
            <a:r>
              <a:rPr lang="en-US" dirty="0"/>
              <a:t>Source Options: Review and select from free stock images or AI-extracted graphics sourced directly from the website.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4E268-1F27-4D59-AA3B-44A6F828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840" y="1017544"/>
            <a:ext cx="5303980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7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2FD-D0B8-4ABE-A58A-2C8D488A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campaign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0F80E-6BD3-447B-8CA5-50777B2C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941972" cy="5590565"/>
          </a:xfrm>
        </p:spPr>
        <p:txBody>
          <a:bodyPr/>
          <a:lstStyle/>
          <a:p>
            <a:r>
              <a:rPr lang="en-US" dirty="0"/>
              <a:t>Branding &amp; Ad Extensions (Assets)</a:t>
            </a:r>
          </a:p>
          <a:p>
            <a:r>
              <a:rPr lang="en-US" dirty="0"/>
              <a:t>Logos: Upload at least one square brand logo (required).  </a:t>
            </a:r>
          </a:p>
          <a:p>
            <a:r>
              <a:rPr lang="en-US" dirty="0"/>
              <a:t>Business Name: Fill in the verified public business name (up to 25 characters).  </a:t>
            </a:r>
          </a:p>
          <a:p>
            <a:r>
              <a:rPr lang="en-US" dirty="0"/>
              <a:t>Videos: Upload video assets or allow Google to automatically generate video variations.  Sitelinks: Add sitelink extensions to direct users to specific sub-pages on the website to improve click-through rates.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96E2D-9705-4535-98D2-750E17E3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929" y="711201"/>
            <a:ext cx="4554071" cy="526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3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0D16-55F4-4A64-B8B5-5F5AF526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Bidding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575A-49F7-4723-8C95-A72EA233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b="1" dirty="0">
                <a:solidFill>
                  <a:srgbClr val="C00000"/>
                </a:solidFill>
              </a:rPr>
              <a:t>Google Ads Bidding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An automated auction system where advertisers compete for ad placement on Google Search, YouTube, Display, and partner sites.</a:t>
            </a:r>
          </a:p>
          <a:p>
            <a:r>
              <a:rPr lang="en-US" dirty="0"/>
              <a:t>How It Works: </a:t>
            </a:r>
          </a:p>
          <a:p>
            <a:pPr lvl="1"/>
            <a:r>
              <a:rPr lang="en-US" dirty="0"/>
              <a:t>Every search triggers an auction. Your ad rank depends on your bid, ad quality (Quality Score), and expected impact of ad assets.</a:t>
            </a:r>
          </a:p>
          <a:p>
            <a:r>
              <a:rPr lang="en-US" dirty="0"/>
              <a:t>You don’t just pay to win; you pay for performance and relevance.</a:t>
            </a:r>
          </a:p>
        </p:txBody>
      </p:sp>
    </p:spTree>
    <p:extLst>
      <p:ext uri="{BB962C8B-B14F-4D97-AF65-F5344CB8AC3E}">
        <p14:creationId xmlns:p14="http://schemas.microsoft.com/office/powerpoint/2010/main" val="208621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0D16-55F4-4A64-B8B5-5F5AF526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Bidding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575A-49F7-4723-8C95-A72EA233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Manual vs. Smart Bidding</a:t>
            </a:r>
          </a:p>
          <a:p>
            <a:r>
              <a:rPr lang="en-US" dirty="0"/>
              <a:t>Manual CPC (Cost-Per-Click): </a:t>
            </a:r>
          </a:p>
          <a:p>
            <a:pPr lvl="1"/>
            <a:r>
              <a:rPr lang="en-US" dirty="0"/>
              <a:t>You set maximum bids per keyword. Offers full control but requires constant monitoring and manual adjustment.</a:t>
            </a:r>
          </a:p>
          <a:p>
            <a:r>
              <a:rPr lang="en-US" dirty="0"/>
              <a:t>Smart Bidding (Automated): </a:t>
            </a:r>
          </a:p>
          <a:p>
            <a:pPr lvl="1"/>
            <a:r>
              <a:rPr lang="en-US" dirty="0"/>
              <a:t>Uses machine learning to optimize bids in real time at the exact moment of an auction.</a:t>
            </a:r>
          </a:p>
          <a:p>
            <a:r>
              <a:rPr lang="en-US" dirty="0"/>
              <a:t>Auction-Time Signals: </a:t>
            </a:r>
          </a:p>
          <a:p>
            <a:pPr lvl="1"/>
            <a:r>
              <a:rPr lang="en-US" dirty="0"/>
              <a:t>Smart Bidding evaluates device, location, time of day, browser, and user intent for every query.</a:t>
            </a:r>
          </a:p>
        </p:txBody>
      </p:sp>
    </p:spTree>
    <p:extLst>
      <p:ext uri="{BB962C8B-B14F-4D97-AF65-F5344CB8AC3E}">
        <p14:creationId xmlns:p14="http://schemas.microsoft.com/office/powerpoint/2010/main" val="92775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0D16-55F4-4A64-B8B5-5F5AF526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Google Ads Bidding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575A-49F7-4723-8C95-A72EA2336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Smart Bidding Strategies</a:t>
            </a:r>
          </a:p>
          <a:p>
            <a:r>
              <a:rPr lang="en-US" dirty="0"/>
              <a:t>Maximize Clicks: </a:t>
            </a:r>
          </a:p>
          <a:p>
            <a:pPr lvl="1"/>
            <a:r>
              <a:rPr lang="en-US" dirty="0"/>
              <a:t>Drives the highest possible traffic within a set daily budget (best for brand awareness).</a:t>
            </a:r>
          </a:p>
          <a:p>
            <a:r>
              <a:rPr lang="en-US" dirty="0"/>
              <a:t>Maximize Conversions: </a:t>
            </a:r>
          </a:p>
          <a:p>
            <a:pPr lvl="1"/>
            <a:r>
              <a:rPr lang="en-US" dirty="0"/>
              <a:t>Focuses on getting the highest volume of leads or sales without exceeding your budget.</a:t>
            </a:r>
          </a:p>
          <a:p>
            <a:r>
              <a:rPr lang="en-US" dirty="0"/>
              <a:t>Target CPA (Cost Per Acquisition): </a:t>
            </a:r>
          </a:p>
          <a:p>
            <a:pPr lvl="1"/>
            <a:r>
              <a:rPr lang="en-US" dirty="0"/>
              <a:t>Automatically bids to hit a specific cost per lead or conversion.</a:t>
            </a:r>
          </a:p>
          <a:p>
            <a:r>
              <a:rPr lang="en-US" dirty="0"/>
              <a:t>Target ROAS (Return on Ad Spend): </a:t>
            </a:r>
          </a:p>
          <a:p>
            <a:pPr lvl="1"/>
            <a:r>
              <a:rPr lang="en-US" dirty="0"/>
              <a:t>Bids to achieve a specific revenue-to-spend ratio (ideal for e-commerce).</a:t>
            </a:r>
          </a:p>
        </p:txBody>
      </p:sp>
    </p:spTree>
    <p:extLst>
      <p:ext uri="{BB962C8B-B14F-4D97-AF65-F5344CB8AC3E}">
        <p14:creationId xmlns:p14="http://schemas.microsoft.com/office/powerpoint/2010/main" val="263110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0D16-55F4-4A64-B8B5-5F5AF526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Choosing the Right Strategy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788CB2-A90C-4C9E-9BD7-2B88D9414B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575835"/>
              </p:ext>
            </p:extLst>
          </p:nvPr>
        </p:nvGraphicFramePr>
        <p:xfrm>
          <a:off x="469230" y="1050206"/>
          <a:ext cx="11450052" cy="451640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772991">
                  <a:extLst>
                    <a:ext uri="{9D8B030D-6E8A-4147-A177-3AD203B41FA5}">
                      <a16:colId xmlns:a16="http://schemas.microsoft.com/office/drawing/2014/main" val="3405251648"/>
                    </a:ext>
                  </a:extLst>
                </a:gridCol>
                <a:gridCol w="4331980">
                  <a:extLst>
                    <a:ext uri="{9D8B030D-6E8A-4147-A177-3AD203B41FA5}">
                      <a16:colId xmlns:a16="http://schemas.microsoft.com/office/drawing/2014/main" val="3574890431"/>
                    </a:ext>
                  </a:extLst>
                </a:gridCol>
                <a:gridCol w="4345081">
                  <a:extLst>
                    <a:ext uri="{9D8B030D-6E8A-4147-A177-3AD203B41FA5}">
                      <a16:colId xmlns:a16="http://schemas.microsoft.com/office/drawing/2014/main" val="3160436437"/>
                    </a:ext>
                  </a:extLst>
                </a:gridCol>
              </a:tblGrid>
              <a:tr h="793423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Goal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Recommended Bid Strategy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Metric to Track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30845"/>
                  </a:ext>
                </a:extLst>
              </a:tr>
              <a:tr h="793423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Site Traffic / Awareness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Maximize Clicks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CTR, Impressions, CPC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736205"/>
                  </a:ext>
                </a:extLst>
              </a:tr>
              <a:tr h="793423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Lead Generation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Target CPA / Max Conversions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Cost/Lead, Conversion Rate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08847"/>
                  </a:ext>
                </a:extLst>
              </a:tr>
              <a:tr h="1342714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E-Commerce Revenue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Target ROAS / Max Conversion Value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ROAS, Total Revenue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618838"/>
                  </a:ext>
                </a:extLst>
              </a:tr>
              <a:tr h="793423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Brand Protection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Target Impression Share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Absolute Top Impression %</a:t>
                      </a:r>
                      <a:endParaRPr lang="en-US" sz="2000" dirty="0">
                        <a:effectLst/>
                        <a:latin typeface="Roboto Condensed" panose="02000000000000000000" pitchFamily="2" charset="0"/>
                      </a:endParaRPr>
                    </a:p>
                  </a:txBody>
                  <a:tcPr marT="60960" marB="6096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383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09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0EEE-9534-495E-8D55-8F28A044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Marketing (YouTube)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04DD0-5958-4C57-A284-97825C147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939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973B-2B80-44D6-A89E-8116E5B7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Video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13D1-392F-4A64-8767-644A655D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marketing is the strategic use of video content to promote</a:t>
            </a:r>
          </a:p>
          <a:p>
            <a:pPr lvl="1"/>
            <a:r>
              <a:rPr lang="en-US" dirty="0"/>
              <a:t>Brand</a:t>
            </a:r>
          </a:p>
          <a:p>
            <a:pPr lvl="1"/>
            <a:r>
              <a:rPr lang="en-US" dirty="0"/>
              <a:t>Product &amp; Service</a:t>
            </a:r>
          </a:p>
          <a:p>
            <a:pPr lvl="1"/>
            <a:r>
              <a:rPr lang="en-US" dirty="0"/>
              <a:t>Engage with a target audience</a:t>
            </a:r>
          </a:p>
          <a:p>
            <a:pPr lvl="1"/>
            <a:r>
              <a:rPr lang="en-US" dirty="0"/>
              <a:t>Drive measurable conversions.</a:t>
            </a:r>
          </a:p>
          <a:p>
            <a:r>
              <a:rPr lang="en-US" dirty="0"/>
              <a:t>Unlike text, video combines visual, auditory, and kinetic elements, allowing for higher information retention and emotional connection.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B0796-40D0-4791-A2B6-4386DE92B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87" y="3019619"/>
            <a:ext cx="2852738" cy="285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9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3951B-33FA-470F-8F0A-75B4C1F5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Importance of Video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884FC-66A0-4D90-A970-317D23F3F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Higher Engagement</a:t>
            </a:r>
          </a:p>
          <a:p>
            <a:pPr lvl="1"/>
            <a:r>
              <a:rPr lang="en-US" dirty="0"/>
              <a:t>Video content attracts more attention &amp; generates higher Engagement compared to text or images.</a:t>
            </a:r>
          </a:p>
          <a:p>
            <a:r>
              <a:rPr lang="en-US" b="1" dirty="0"/>
              <a:t>Better Product Understanding </a:t>
            </a:r>
          </a:p>
          <a:p>
            <a:pPr lvl="1"/>
            <a:r>
              <a:rPr lang="en-US" dirty="0"/>
              <a:t>Demonstrates products/services clearly through visuals, making it easier for customers to understand.</a:t>
            </a:r>
          </a:p>
          <a:p>
            <a:r>
              <a:rPr lang="en-US" b="1" dirty="0"/>
              <a:t>Increased Conversion Rates </a:t>
            </a:r>
          </a:p>
          <a:p>
            <a:pPr lvl="1"/>
            <a:r>
              <a:rPr lang="en-US" dirty="0"/>
              <a:t>Videos influence purchase decisions and help convert viewers into customers.</a:t>
            </a:r>
          </a:p>
          <a:p>
            <a:r>
              <a:rPr lang="en-US" b="1" dirty="0"/>
              <a:t>Boosts SEO Ranking </a:t>
            </a:r>
          </a:p>
          <a:p>
            <a:pPr lvl="1"/>
            <a:r>
              <a:rPr lang="en-US" dirty="0"/>
              <a:t>Websites with video content rank higher on search engines, increasing visibility.</a:t>
            </a:r>
          </a:p>
          <a:p>
            <a:r>
              <a:rPr lang="en-US" b="1" dirty="0"/>
              <a:t>Strong Brand Awareness </a:t>
            </a:r>
          </a:p>
          <a:p>
            <a:pPr lvl="1"/>
            <a:r>
              <a:rPr lang="en-US" dirty="0"/>
              <a:t>Videos create emotional connections and improve brand recall.</a:t>
            </a:r>
          </a:p>
          <a:p>
            <a:r>
              <a:rPr lang="en-US" b="1" dirty="0"/>
              <a:t>Highly Shareable Content </a:t>
            </a:r>
          </a:p>
          <a:p>
            <a:pPr lvl="1"/>
            <a:r>
              <a:rPr lang="en-US" dirty="0"/>
              <a:t>Easy to share across platforms, increasing reach and potential virality.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8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97FE-E0AA-47EA-AD25-C311303F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Advertising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C1DA-3E21-4979-B60C-94156EB89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YouTube provides a diverse array of advertisement formats tailored to specific marketing objectives, </a:t>
            </a:r>
          </a:p>
          <a:p>
            <a:r>
              <a:rPr lang="en-US" dirty="0"/>
              <a:t>Top-of-funnel brand awareness </a:t>
            </a:r>
          </a:p>
          <a:p>
            <a:r>
              <a:rPr lang="en-US" dirty="0"/>
              <a:t>Bottom-of-funnel conversions. </a:t>
            </a:r>
          </a:p>
          <a:p>
            <a:pPr lvl="1"/>
            <a:r>
              <a:rPr lang="en-US" b="1" dirty="0"/>
              <a:t>In-Stream:</a:t>
            </a:r>
            <a:r>
              <a:rPr lang="en-US" dirty="0"/>
              <a:t> Ads that play within the video player (before, during, or after the main content). </a:t>
            </a:r>
          </a:p>
          <a:p>
            <a:pPr lvl="1"/>
            <a:r>
              <a:rPr lang="en-US" b="1" dirty="0"/>
              <a:t>In-Feed:</a:t>
            </a:r>
            <a:r>
              <a:rPr lang="en-US" dirty="0"/>
              <a:t> Ads that appear in places of discovery, such as search results or the "watch next" sidebar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B5CCB-D802-4B81-BE89-246A67007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418" y="1704473"/>
            <a:ext cx="5173582" cy="344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9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E11C9F-73A3-45BF-ACB7-59F25B5B6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84" y="863600"/>
            <a:ext cx="10018025" cy="4739341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684236B-D43A-4062-AC31-9775C224C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93378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Condensed" panose="02000000000000000000" pitchFamily="2" charset="0"/>
              </a:rPr>
              <a:t>In-Feed: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 Condensed" panose="02000000000000000000" pitchFamily="2" charset="0"/>
              </a:rPr>
              <a:t> Ads that appear in places of discovery, such as search results or the "watch next" sidebar.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Condensed" panose="02000000000000000000" pitchFamily="2" charset="0"/>
            </a:endParaRP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B8797ED0-3791-4803-A2B4-50BAC4B047B5}"/>
              </a:ext>
            </a:extLst>
          </p:cNvPr>
          <p:cNvSpPr/>
          <p:nvPr/>
        </p:nvSpPr>
        <p:spPr>
          <a:xfrm>
            <a:off x="3379694" y="4831976"/>
            <a:ext cx="143435" cy="1048871"/>
          </a:xfrm>
          <a:prstGeom prst="upArrow">
            <a:avLst/>
          </a:prstGeom>
          <a:solidFill>
            <a:srgbClr val="FF0000"/>
          </a:solidFill>
          <a:ln>
            <a:solidFill>
              <a:srgbClr val="B71B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E367B-CF5D-4A1D-9978-E21A33D502CF}"/>
              </a:ext>
            </a:extLst>
          </p:cNvPr>
          <p:cNvSpPr txBox="1"/>
          <p:nvPr/>
        </p:nvSpPr>
        <p:spPr>
          <a:xfrm>
            <a:off x="2919053" y="588084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In-Stream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4133EAE9-11EE-4CCA-8CC7-536BCA2E403E}"/>
              </a:ext>
            </a:extLst>
          </p:cNvPr>
          <p:cNvSpPr/>
          <p:nvPr/>
        </p:nvSpPr>
        <p:spPr>
          <a:xfrm rot="16627014">
            <a:off x="10058400" y="2844975"/>
            <a:ext cx="143435" cy="1048871"/>
          </a:xfrm>
          <a:prstGeom prst="upArrow">
            <a:avLst/>
          </a:prstGeom>
          <a:solidFill>
            <a:srgbClr val="FF0000"/>
          </a:solidFill>
          <a:ln>
            <a:solidFill>
              <a:srgbClr val="B71B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AA3AE-B0AA-4D6D-806D-B83D6CF8EC4E}"/>
              </a:ext>
            </a:extLst>
          </p:cNvPr>
          <p:cNvSpPr txBox="1"/>
          <p:nvPr/>
        </p:nvSpPr>
        <p:spPr>
          <a:xfrm>
            <a:off x="10659398" y="336941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In-Feed</a:t>
            </a:r>
          </a:p>
        </p:txBody>
      </p:sp>
    </p:spTree>
    <p:extLst>
      <p:ext uri="{BB962C8B-B14F-4D97-AF65-F5344CB8AC3E}">
        <p14:creationId xmlns:p14="http://schemas.microsoft.com/office/powerpoint/2010/main" val="1975735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Skippable In-Stream Ads</a:t>
            </a:r>
          </a:p>
          <a:p>
            <a:pPr lvl="1"/>
            <a:r>
              <a:rPr lang="en-US" dirty="0"/>
              <a:t>These advertisements play before, during, or after other videos. After 5 seconds, the viewer is provided with the option to "Skip.“</a:t>
            </a:r>
          </a:p>
          <a:p>
            <a:pPr lvl="1"/>
            <a:r>
              <a:rPr lang="en-US" dirty="0"/>
              <a:t>Advertisers are charged only when a viewer watches 30 seconds of the video (or the full duration if it is shorter than 30s) or interacts with the ad (e.g., clicking a Call-to-Action).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3E7CF7-5F9F-4DA5-8898-EB5EE25D3C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3"/>
          <a:stretch/>
        </p:blipFill>
        <p:spPr>
          <a:xfrm>
            <a:off x="3622134" y="2898451"/>
            <a:ext cx="4616432" cy="355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9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Non-Skippable In-Stream Ads</a:t>
            </a:r>
          </a:p>
          <a:p>
            <a:pPr lvl="1"/>
            <a:r>
              <a:rPr lang="en-US" dirty="0"/>
              <a:t>These ads must be viewed in their entirety before the main video content can be accessed. They do not provide a skip option.</a:t>
            </a:r>
          </a:p>
          <a:p>
            <a:pPr lvl="1"/>
            <a:r>
              <a:rPr lang="en-US" dirty="0"/>
              <a:t>Advertisers pay based on impressions (Target CPM), focusing on reaching a specific number of viewers rather than active clicks or full views.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CE7B1-00FD-44DE-A779-ABC6EF7FF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797" y="2852114"/>
            <a:ext cx="62769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Bumper Ads</a:t>
            </a:r>
          </a:p>
          <a:p>
            <a:pPr lvl="1"/>
            <a:r>
              <a:rPr lang="en-US" dirty="0"/>
              <a:t>Short, non-skippable video advertisements with a mandatory maximum duration of </a:t>
            </a:r>
            <a:r>
              <a:rPr lang="en-US" b="1" dirty="0"/>
              <a:t>6 seconds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Similar to non-skippable ads, Bumper ads use Target CPM bidding to maximize reach and frequency.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A12E2-FD46-4637-ADE0-BECD27495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88" y="2924779"/>
            <a:ext cx="7494494" cy="337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0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833640" cy="5590565"/>
          </a:xfrm>
        </p:spPr>
        <p:txBody>
          <a:bodyPr/>
          <a:lstStyle/>
          <a:p>
            <a:r>
              <a:rPr lang="en-US" dirty="0"/>
              <a:t>In-Feed Video Ads </a:t>
            </a:r>
          </a:p>
          <a:p>
            <a:pPr lvl="1"/>
            <a:r>
              <a:rPr lang="en-US" dirty="0"/>
              <a:t>These ads consist of a thumbnail image and text. They appear in locations where users are actively searching for or browsing content, such as</a:t>
            </a:r>
          </a:p>
          <a:p>
            <a:pPr lvl="2"/>
            <a:r>
              <a:rPr lang="en-US" dirty="0"/>
              <a:t>YouTube Search Results.</a:t>
            </a:r>
          </a:p>
          <a:p>
            <a:pPr lvl="2"/>
            <a:r>
              <a:rPr lang="en-US" dirty="0"/>
              <a:t>The "Up Next" / Recommended sidebar.</a:t>
            </a:r>
          </a:p>
          <a:p>
            <a:pPr lvl="2"/>
            <a:r>
              <a:rPr lang="en-US" dirty="0"/>
              <a:t>The YouTube Home mobile feed</a:t>
            </a:r>
          </a:p>
          <a:p>
            <a:pPr lvl="1"/>
            <a:r>
              <a:rPr lang="en-US" dirty="0"/>
              <a:t>Advertisers are charged only when a user actively clicks on the thumbnail to initiate the video playback (CPC/CPV).</a:t>
            </a:r>
          </a:p>
          <a:p>
            <a:pPr lvl="1"/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AB675-487B-4882-A04F-678A6F6D9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181" y="2214282"/>
            <a:ext cx="5964819" cy="323625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39F9432-D300-4205-BF9E-2DD255E505F2}"/>
              </a:ext>
            </a:extLst>
          </p:cNvPr>
          <p:cNvSpPr/>
          <p:nvPr/>
        </p:nvSpPr>
        <p:spPr>
          <a:xfrm>
            <a:off x="5374341" y="4576481"/>
            <a:ext cx="1443317" cy="161365"/>
          </a:xfrm>
          <a:prstGeom prst="rightArrow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A35FA-02AB-4831-996F-5DD5AC84073C}"/>
              </a:ext>
            </a:extLst>
          </p:cNvPr>
          <p:cNvSpPr txBox="1"/>
          <p:nvPr/>
        </p:nvSpPr>
        <p:spPr>
          <a:xfrm>
            <a:off x="3686058" y="4368514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In-fed Video Ads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66003B-9DB4-458F-9F12-9E2A8B6DCC7B}"/>
              </a:ext>
            </a:extLst>
          </p:cNvPr>
          <p:cNvSpPr/>
          <p:nvPr/>
        </p:nvSpPr>
        <p:spPr>
          <a:xfrm>
            <a:off x="8719822" y="3769658"/>
            <a:ext cx="1775012" cy="2913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0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YouTube Ads (Continue…)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E9B632-5DBB-4367-A555-6E3819D589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5557" y="898071"/>
          <a:ext cx="11430000" cy="4914900"/>
        </p:xfrm>
        <a:graphic>
          <a:graphicData uri="http://schemas.openxmlformats.org/drawingml/2006/table">
            <a:tbl>
              <a:tblPr/>
              <a:tblGrid>
                <a:gridCol w="2023009">
                  <a:extLst>
                    <a:ext uri="{9D8B030D-6E8A-4147-A177-3AD203B41FA5}">
                      <a16:colId xmlns:a16="http://schemas.microsoft.com/office/drawing/2014/main" val="3071259940"/>
                    </a:ext>
                  </a:extLst>
                </a:gridCol>
                <a:gridCol w="2023009">
                  <a:extLst>
                    <a:ext uri="{9D8B030D-6E8A-4147-A177-3AD203B41FA5}">
                      <a16:colId xmlns:a16="http://schemas.microsoft.com/office/drawing/2014/main" val="4097752796"/>
                    </a:ext>
                  </a:extLst>
                </a:gridCol>
                <a:gridCol w="2665025">
                  <a:extLst>
                    <a:ext uri="{9D8B030D-6E8A-4147-A177-3AD203B41FA5}">
                      <a16:colId xmlns:a16="http://schemas.microsoft.com/office/drawing/2014/main" val="3870002339"/>
                    </a:ext>
                  </a:extLst>
                </a:gridCol>
                <a:gridCol w="1724904">
                  <a:extLst>
                    <a:ext uri="{9D8B030D-6E8A-4147-A177-3AD203B41FA5}">
                      <a16:colId xmlns:a16="http://schemas.microsoft.com/office/drawing/2014/main" val="2755162858"/>
                    </a:ext>
                  </a:extLst>
                </a:gridCol>
                <a:gridCol w="2994053">
                  <a:extLst>
                    <a:ext uri="{9D8B030D-6E8A-4147-A177-3AD203B41FA5}">
                      <a16:colId xmlns:a16="http://schemas.microsoft.com/office/drawing/2014/main" val="1957265112"/>
                    </a:ext>
                  </a:extLst>
                </a:gridCol>
              </a:tblGrid>
              <a:tr h="765435"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b="1" dirty="0">
                          <a:effectLst/>
                        </a:rPr>
                        <a:t>Format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b="1">
                          <a:effectLst/>
                        </a:rPr>
                        <a:t>Placement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b="1">
                          <a:effectLst/>
                        </a:rPr>
                        <a:t>Length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b="1">
                          <a:effectLst/>
                        </a:rPr>
                        <a:t>Bidding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b="1" dirty="0">
                          <a:effectLst/>
                        </a:rPr>
                        <a:t>Primary Goal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24991"/>
                  </a:ext>
                </a:extLst>
              </a:tr>
              <a:tr h="1128010"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Skippable In-Stream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dirty="0">
                          <a:effectLst/>
                        </a:rPr>
                        <a:t>Inside Video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No Max (15s+ rec)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dirty="0">
                          <a:effectLst/>
                        </a:rPr>
                        <a:t>CPV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Awareness / Leads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33223"/>
                  </a:ext>
                </a:extLst>
              </a:tr>
              <a:tr h="1128010"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Non-Skippable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dirty="0">
                          <a:effectLst/>
                        </a:rPr>
                        <a:t>Inside Video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15–20 Seconds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dirty="0">
                          <a:effectLst/>
                        </a:rPr>
                        <a:t>CPM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High Impact Awareness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353005"/>
                  </a:ext>
                </a:extLst>
              </a:tr>
              <a:tr h="1128010"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Bumper Ads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Inside Video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6 Seconds (Max)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CPM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Reach &amp; Frequency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544319"/>
                  </a:ext>
                </a:extLst>
              </a:tr>
              <a:tr h="765435"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In-Feed Ads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Search / Feed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No Max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>
                          <a:effectLst/>
                        </a:rPr>
                        <a:t>CPC/CPV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600" dirty="0">
                          <a:effectLst/>
                        </a:rPr>
                        <a:t>Consideration / SEO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82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640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D62D-57D3-4AA1-9FCE-3901375E2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73" y="711201"/>
            <a:ext cx="11672047" cy="59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38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Setup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Audience Targeting Parameters</a:t>
            </a:r>
          </a:p>
          <a:p>
            <a:pPr lvl="1"/>
            <a:r>
              <a:rPr lang="en-US" dirty="0"/>
              <a:t>Filtering audiences based on quantifiable characteristics such as Age, Gender, Parental Status, and Household Income.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Interest-Based Segments</a:t>
            </a:r>
          </a:p>
          <a:p>
            <a:pPr lvl="2"/>
            <a:r>
              <a:rPr lang="en-US" dirty="0"/>
              <a:t>Affinity Segments: Reaching users based on their long-term habits and lifestyle interests (e.g., "Tech Enthusiasts").</a:t>
            </a:r>
          </a:p>
          <a:p>
            <a:pPr lvl="2"/>
            <a:r>
              <a:rPr lang="en-US" dirty="0"/>
              <a:t>In-Market Segments: Targeting users who are actively researching or intending to purchase a specific product or service.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Content-Based Targeting</a:t>
            </a:r>
          </a:p>
          <a:p>
            <a:pPr lvl="2"/>
            <a:r>
              <a:rPr lang="en-US" dirty="0"/>
              <a:t>Keywords: Aligning ads with specific search terms used on YouTube or Google.</a:t>
            </a:r>
          </a:p>
          <a:p>
            <a:pPr lvl="2"/>
            <a:r>
              <a:rPr lang="en-US" dirty="0"/>
              <a:t>Topics &amp; Placements: Restricting ads to appear on specific video categories</a:t>
            </a:r>
          </a:p>
        </p:txBody>
      </p:sp>
    </p:spTree>
    <p:extLst>
      <p:ext uri="{BB962C8B-B14F-4D97-AF65-F5344CB8AC3E}">
        <p14:creationId xmlns:p14="http://schemas.microsoft.com/office/powerpoint/2010/main" val="374936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YouTube Analytics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Watch Time </a:t>
            </a:r>
            <a:r>
              <a:rPr lang="en-US" dirty="0"/>
              <a:t>The total amount of time (measured in hours) viewers have spent watching the video ad. This is a primary signal for the YouTube recommendation algorithm.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Average View Duration </a:t>
            </a:r>
            <a:r>
              <a:rPr lang="en-US" dirty="0"/>
              <a:t>The estimated average minutes watched per view for a selected video and date range. It indicates the video's ability to maintain viewer interest.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Impression Click-Through Rate </a:t>
            </a:r>
            <a:r>
              <a:rPr lang="en-US" dirty="0"/>
              <a:t>The percentage of users who clicked on the video ad after seeing the thumbnail.</a:t>
            </a:r>
          </a:p>
          <a:p>
            <a:pPr lvl="2"/>
            <a:r>
              <a:rPr lang="en-US" dirty="0"/>
              <a:t>Formula- CTR = (Clicks/Impressions)x100 </a:t>
            </a:r>
          </a:p>
          <a:p>
            <a:pPr lvl="2"/>
            <a:endParaRPr lang="en-US" b="1" dirty="0"/>
          </a:p>
          <a:p>
            <a:pPr lvl="1"/>
            <a:r>
              <a:rPr lang="en-US" b="1" dirty="0"/>
              <a:t>Views vs. Engaged Views </a:t>
            </a:r>
            <a:r>
              <a:rPr lang="en-US" dirty="0"/>
              <a:t>A "view" is typically counted at the 30-second mark, while Engaged Views track users who watch at least 10 seconds and then engage with the ad. </a:t>
            </a:r>
          </a:p>
        </p:txBody>
      </p:sp>
    </p:spTree>
    <p:extLst>
      <p:ext uri="{BB962C8B-B14F-4D97-AF65-F5344CB8AC3E}">
        <p14:creationId xmlns:p14="http://schemas.microsoft.com/office/powerpoint/2010/main" val="318703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YouTube Analytics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Advanced Retention and Conversion Tracking</a:t>
            </a:r>
          </a:p>
          <a:p>
            <a:endParaRPr lang="en-US" b="1" dirty="0"/>
          </a:p>
          <a:p>
            <a:pPr lvl="1"/>
            <a:r>
              <a:rPr lang="en-US" b="1" dirty="0"/>
              <a:t>Audience Retention Curve:</a:t>
            </a:r>
            <a:r>
              <a:rPr lang="en-US" dirty="0"/>
              <a:t> A visual representation of how many viewers stayed for every second of the video.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Conversion Tracking:</a:t>
            </a:r>
            <a:r>
              <a:rPr lang="en-US" dirty="0"/>
              <a:t> The process of using a </a:t>
            </a:r>
            <a:r>
              <a:rPr lang="en-US" b="1" dirty="0"/>
              <a:t>Google Tag</a:t>
            </a:r>
            <a:r>
              <a:rPr lang="en-US" dirty="0"/>
              <a:t> or API integration to track actions taken after the ad view, such as a product purchase or a form submission.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View-Through Conversions (VTC):</a:t>
            </a:r>
            <a:r>
              <a:rPr lang="en-US" dirty="0"/>
              <a:t> Measures a conversion that occurs when a customer sees an ad but does not click it, yet completes a conversion on the site later.</a:t>
            </a:r>
          </a:p>
        </p:txBody>
      </p:sp>
    </p:spTree>
    <p:extLst>
      <p:ext uri="{BB962C8B-B14F-4D97-AF65-F5344CB8AC3E}">
        <p14:creationId xmlns:p14="http://schemas.microsoft.com/office/powerpoint/2010/main" val="229074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59DF-F8D0-4855-AA83-BB36AB92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YouTube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9D76-E023-43BF-BEDA-C15A6D80E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Long-Lasting Traffic: </a:t>
            </a:r>
            <a:r>
              <a:rPr lang="en-US" dirty="0"/>
              <a:t>Videos stay searchable on Google and YouTube for years, unlike social media posts that vanish in days.</a:t>
            </a:r>
          </a:p>
          <a:p>
            <a:r>
              <a:rPr lang="en-US" b="1" dirty="0"/>
              <a:t>Builds Trust Fast: </a:t>
            </a:r>
            <a:r>
              <a:rPr lang="en-US" dirty="0"/>
              <a:t>In-depth tutorials, demos, and reviews show proof, making customers much more confident to buy.</a:t>
            </a:r>
          </a:p>
          <a:p>
            <a:r>
              <a:rPr lang="en-US" b="1" dirty="0"/>
              <a:t>Smart Targeting: </a:t>
            </a:r>
            <a:r>
              <a:rPr lang="en-US" dirty="0"/>
              <a:t>Powered by Google Ads data, you can target viewers based on what they actually search for online.</a:t>
            </a:r>
          </a:p>
          <a:p>
            <a:r>
              <a:rPr lang="en-US" b="1" dirty="0"/>
              <a:t>All-in-One Formats: </a:t>
            </a:r>
            <a:r>
              <a:rPr lang="en-US" dirty="0"/>
              <a:t>Use Shorts for quick awareness, long videos for detailed explanations, and live streams to launch products.</a:t>
            </a:r>
          </a:p>
          <a:p>
            <a:r>
              <a:rPr lang="en-US" b="1" dirty="0"/>
              <a:t>Free Hosting &amp; Deep Analytics: </a:t>
            </a:r>
            <a:r>
              <a:rPr lang="en-US" dirty="0"/>
              <a:t>Zero hosting costs, plus precise data on exactly when viewers watch or click away.</a:t>
            </a:r>
          </a:p>
        </p:txBody>
      </p:sp>
    </p:spTree>
    <p:extLst>
      <p:ext uri="{BB962C8B-B14F-4D97-AF65-F5344CB8AC3E}">
        <p14:creationId xmlns:p14="http://schemas.microsoft.com/office/powerpoint/2010/main" val="89638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54B7-C982-469D-8774-0CB1CD21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YouTube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114D-3062-4F12-BA5B-E44BBD36E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Effort &amp; Cost: </a:t>
            </a:r>
            <a:r>
              <a:rPr lang="en-US" dirty="0"/>
              <a:t>Requires good cameras, mics, lighting, scripts, and editing to look professional.</a:t>
            </a:r>
          </a:p>
          <a:p>
            <a:r>
              <a:rPr lang="en-US" b="1" dirty="0"/>
              <a:t>Slow Growth: </a:t>
            </a:r>
            <a:r>
              <a:rPr lang="en-US" dirty="0"/>
              <a:t>Extremely crowded platform; building an organic following usually takes months of consistent uploads.</a:t>
            </a:r>
          </a:p>
          <a:p>
            <a:r>
              <a:rPr lang="en-US" b="1" dirty="0"/>
              <a:t>Constant Distractions: </a:t>
            </a:r>
            <a:r>
              <a:rPr lang="en-US" dirty="0"/>
              <a:t>YouTube constantly recommends competitor videos and entertaining content next to yours.</a:t>
            </a:r>
          </a:p>
          <a:p>
            <a:r>
              <a:rPr lang="en-US" b="1" dirty="0"/>
              <a:t>Easy to Skip: </a:t>
            </a:r>
            <a:r>
              <a:rPr lang="en-US" dirty="0"/>
              <a:t>Viewers skip ads after 5 seconds or use ad blockers, meaning bad hooks waste your budget immediately.</a:t>
            </a:r>
          </a:p>
          <a:p>
            <a:r>
              <a:rPr lang="en-US" b="1" dirty="0"/>
              <a:t>Placement Risks: </a:t>
            </a:r>
            <a:r>
              <a:rPr lang="en-US" dirty="0"/>
              <a:t>Automated ad spots might place your brand next to controversial or low-quality content.</a:t>
            </a:r>
          </a:p>
        </p:txBody>
      </p:sp>
    </p:spTree>
    <p:extLst>
      <p:ext uri="{BB962C8B-B14F-4D97-AF65-F5344CB8AC3E}">
        <p14:creationId xmlns:p14="http://schemas.microsoft.com/office/powerpoint/2010/main" val="294245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7D83-0197-4C73-9849-E0D6B3A4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YouTube Marketing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C2175-01EA-47F8-A368-CBF9901D9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TV Screen Viewing: </a:t>
            </a:r>
            <a:r>
              <a:rPr lang="en-US" dirty="0"/>
              <a:t>More people watch YouTube on Smart TVs, driving brands to make cinematic, living-room-quality ads.</a:t>
            </a:r>
          </a:p>
          <a:p>
            <a:r>
              <a:rPr lang="en-US" b="1" dirty="0"/>
              <a:t>Shoppable Videos: </a:t>
            </a:r>
            <a:r>
              <a:rPr lang="en-US" dirty="0"/>
              <a:t>Viewers can click and buy products tagged directly inside Shorts, regular videos, and live streams.</a:t>
            </a:r>
          </a:p>
          <a:p>
            <a:r>
              <a:rPr lang="en-US" b="1" dirty="0"/>
              <a:t>AI Dubbing &amp; Testing: </a:t>
            </a:r>
            <a:r>
              <a:rPr lang="en-US" dirty="0"/>
              <a:t>Brands use AI to test video thumbnails automatically and translate voiceovers into multiple languages instantly.</a:t>
            </a:r>
          </a:p>
          <a:p>
            <a:r>
              <a:rPr lang="en-US" b="1" dirty="0"/>
              <a:t>Fast-Paced Editing: </a:t>
            </a:r>
            <a:r>
              <a:rPr lang="en-US" dirty="0"/>
              <a:t>No long intros; top creators cut straight to the point in the first 3 seconds to keep viewer attention.</a:t>
            </a:r>
          </a:p>
          <a:p>
            <a:r>
              <a:rPr lang="en-US" b="1" dirty="0"/>
              <a:t>Video Podcasts (Vodcasts): </a:t>
            </a:r>
            <a:r>
              <a:rPr lang="en-US" dirty="0"/>
              <a:t>Businesses use recorded studio interviews with chapter markers and bite-sized Shorts to pull in high-value leads.</a:t>
            </a:r>
          </a:p>
        </p:txBody>
      </p:sp>
    </p:spTree>
    <p:extLst>
      <p:ext uri="{BB962C8B-B14F-4D97-AF65-F5344CB8AC3E}">
        <p14:creationId xmlns:p14="http://schemas.microsoft.com/office/powerpoint/2010/main" val="212949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3F22-6916-4A5D-AF85-49373783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57F29-CEDF-4B57-82DF-D873BA1B4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read by students.</a:t>
            </a:r>
          </a:p>
          <a:p>
            <a:pPr lvl="1"/>
            <a:r>
              <a:rPr lang="en-US" dirty="0">
                <a:hlinkClick r:id="rId2"/>
              </a:rPr>
              <a:t>https://engaiodigital.com/youtube-advertising/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35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C466-7E94-43C0-85C5-D941D7AA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Marketing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4E7C7-6C74-4CDB-8426-4A4E13432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FCBA2-325F-4741-92DE-AA70E85B5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21" y="908797"/>
            <a:ext cx="55245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355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AFA0-C3F0-42CD-BAA3-7E79CFE8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53924-25E8-47F6-9097-8607924BE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Email marketing </a:t>
            </a:r>
            <a:r>
              <a:rPr lang="en-US" dirty="0"/>
              <a:t>is a direct digital marketing channel</a:t>
            </a:r>
          </a:p>
          <a:p>
            <a:r>
              <a:rPr lang="en-US" dirty="0"/>
              <a:t> Businesses send targeted commercial and informational messages to a specific list of subscribers.</a:t>
            </a:r>
          </a:p>
          <a:p>
            <a:r>
              <a:rPr lang="en-US" dirty="0"/>
              <a:t>Unlike broadcast media or rented social feeds, email establishes a direct, permission-based line of communication to a customer’s personal inbox.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4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EA6B-D9EF-46BB-9C83-F0F09CB9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01A15-7CA1-429B-9EC2-89535E63A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Commercial Value &amp; Efficiency</a:t>
            </a:r>
          </a:p>
          <a:p>
            <a:pPr lvl="1"/>
            <a:r>
              <a:rPr lang="en-US" dirty="0"/>
              <a:t>Exceptional Return on Investment (ROI): Email regularly generates returns of roughly $36 to $40 for every $1 spent</a:t>
            </a:r>
          </a:p>
          <a:p>
            <a:pPr lvl="1"/>
            <a:r>
              <a:rPr lang="en-US" dirty="0"/>
              <a:t>High Conversion Efficiency: Subscribers on an email list have already shown interest in the brand.</a:t>
            </a:r>
          </a:p>
          <a:p>
            <a:pPr lvl="1"/>
            <a:r>
              <a:rPr lang="en-US" dirty="0"/>
              <a:t>Cost-Effective Scalability: Sending a campaign to 50,000 subscribers takes virtually the same operational effort as sending it to 500.</a:t>
            </a:r>
          </a:p>
          <a:p>
            <a:r>
              <a:rPr lang="en-US" b="1" dirty="0"/>
              <a:t>Audience Ownership &amp; Channel Security</a:t>
            </a:r>
          </a:p>
          <a:p>
            <a:pPr lvl="1"/>
            <a:r>
              <a:rPr lang="en-US" dirty="0"/>
              <a:t>Email guarantees direct delivery straight to the recipient's mailbox.</a:t>
            </a:r>
          </a:p>
          <a:p>
            <a:pPr lvl="1"/>
            <a:r>
              <a:rPr lang="en-US" dirty="0"/>
              <a:t>Platform Independence: An email list represents owned digital real estate, the customer contact base remains intact.</a:t>
            </a:r>
          </a:p>
          <a:p>
            <a:pPr lvl="1"/>
            <a:r>
              <a:rPr lang="en-US" dirty="0"/>
              <a:t>Stable Identity Tracking: Email addresses remain the primary anchor for professional and personal identity over decades.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56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9C65-98D2-4DA6-A744-109B83C0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01C4A-58E8-421E-A449-FBE30CE5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Workflow Execution</a:t>
            </a:r>
          </a:p>
          <a:p>
            <a:pPr lvl="1"/>
            <a:r>
              <a:rPr lang="en-US" dirty="0"/>
              <a:t>24/7 Lead Nurturing: Automated systems work continuously in the background</a:t>
            </a:r>
          </a:p>
          <a:p>
            <a:pPr lvl="1"/>
            <a:r>
              <a:rPr lang="en-US" dirty="0"/>
              <a:t>Revenue Recovery Workflows: High-impact automations like abandoned-cart sequences automatically remind shoppers to complete their orders.</a:t>
            </a:r>
          </a:p>
          <a:p>
            <a:pPr lvl="1"/>
            <a:r>
              <a:rPr lang="en-US" dirty="0"/>
              <a:t>Subscriber Re-engagement: Automated re-engagement loops can flag inactive subscribers.</a:t>
            </a:r>
          </a:p>
          <a:p>
            <a:r>
              <a:rPr lang="en-US" b="1" dirty="0"/>
              <a:t>Transparent Measurement &amp; Optimization</a:t>
            </a:r>
          </a:p>
          <a:p>
            <a:pPr lvl="1"/>
            <a:r>
              <a:rPr lang="en-US" dirty="0"/>
              <a:t>Clear Diagnostic Metrics: Core metrics—including open rate, click-through rate (CTR), conversion rate, bounce rate, and unsubscribe rate—offer clear visibility into campaign health.</a:t>
            </a:r>
          </a:p>
          <a:p>
            <a:pPr lvl="1"/>
            <a:r>
              <a:rPr lang="en-US" dirty="0"/>
              <a:t>Systematic A/B Testing: Marketers can readily test different variables.</a:t>
            </a:r>
          </a:p>
          <a:p>
            <a:pPr lvl="1"/>
            <a:r>
              <a:rPr lang="en-US" dirty="0"/>
              <a:t>Direct Revenue Attribution: E-commerce integrations enable brands to track transactions directly back to specific campaigns.</a:t>
            </a:r>
          </a:p>
        </p:txBody>
      </p:sp>
    </p:spTree>
    <p:extLst>
      <p:ext uri="{BB962C8B-B14F-4D97-AF65-F5344CB8AC3E}">
        <p14:creationId xmlns:p14="http://schemas.microsoft.com/office/powerpoint/2010/main" val="33638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AAFB-A4DC-44BE-9B31-27D9A88B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ABD2B-4826-45C1-96D9-C25774EA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274538" cy="5590565"/>
          </a:xfrm>
        </p:spPr>
        <p:txBody>
          <a:bodyPr/>
          <a:lstStyle/>
          <a:p>
            <a:r>
              <a:rPr lang="en-US" dirty="0"/>
              <a:t>Promotional Emails</a:t>
            </a:r>
          </a:p>
          <a:p>
            <a:pPr lvl="1"/>
            <a:r>
              <a:rPr lang="en-US" dirty="0"/>
              <a:t>Sales and Discounts</a:t>
            </a:r>
          </a:p>
          <a:p>
            <a:pPr lvl="1"/>
            <a:r>
              <a:rPr lang="en-US" dirty="0"/>
              <a:t>Product Launches</a:t>
            </a:r>
          </a:p>
          <a:p>
            <a:pPr lvl="1"/>
            <a:r>
              <a:rPr lang="en-US" dirty="0"/>
              <a:t>Event Invitations</a:t>
            </a:r>
          </a:p>
          <a:p>
            <a:pPr lvl="1"/>
            <a:endParaRPr lang="en-US" dirty="0"/>
          </a:p>
          <a:p>
            <a:r>
              <a:rPr lang="en-US" dirty="0"/>
              <a:t>Informational &amp; Content-Driven Emails</a:t>
            </a:r>
          </a:p>
          <a:p>
            <a:pPr lvl="1"/>
            <a:r>
              <a:rPr lang="en-US" dirty="0"/>
              <a:t>Email Newsletters</a:t>
            </a:r>
          </a:p>
          <a:p>
            <a:pPr lvl="1"/>
            <a:r>
              <a:rPr lang="en-US" dirty="0"/>
              <a:t>Company Announcements</a:t>
            </a:r>
          </a:p>
          <a:p>
            <a:pPr lvl="1"/>
            <a:endParaRPr lang="en-US" dirty="0"/>
          </a:p>
          <a:p>
            <a:r>
              <a:rPr lang="en-US" dirty="0"/>
              <a:t>Automated Lifecycle (Drip) Campaigns</a:t>
            </a:r>
          </a:p>
          <a:p>
            <a:pPr lvl="1"/>
            <a:r>
              <a:rPr lang="en-US" dirty="0"/>
              <a:t>Welcome Sequences</a:t>
            </a:r>
          </a:p>
          <a:p>
            <a:pPr lvl="1"/>
            <a:r>
              <a:rPr lang="en-US" dirty="0"/>
              <a:t>Onboarding Series</a:t>
            </a:r>
          </a:p>
          <a:p>
            <a:pPr lvl="1"/>
            <a:r>
              <a:rPr lang="en-US" dirty="0"/>
              <a:t>Lead Nurturing Sequences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238B1F-21CF-45DF-B1D1-8984BD9ABB7C}"/>
              </a:ext>
            </a:extLst>
          </p:cNvPr>
          <p:cNvSpPr txBox="1">
            <a:spLocks/>
          </p:cNvSpPr>
          <p:nvPr/>
        </p:nvSpPr>
        <p:spPr>
          <a:xfrm>
            <a:off x="5477438" y="863443"/>
            <a:ext cx="527453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Behavioral &amp; Triggered Emails</a:t>
            </a:r>
          </a:p>
          <a:p>
            <a:pPr lvl="1"/>
            <a:r>
              <a:rPr lang="en-US" dirty="0"/>
              <a:t>Cart Abandonment Emails</a:t>
            </a:r>
          </a:p>
          <a:p>
            <a:pPr lvl="1"/>
            <a:r>
              <a:rPr lang="en-US" dirty="0"/>
              <a:t>Browse Abandonment Emails</a:t>
            </a:r>
          </a:p>
          <a:p>
            <a:pPr lvl="1"/>
            <a:r>
              <a:rPr lang="en-US" dirty="0"/>
              <a:t>Re-engagement (Win-Back) Campaigns</a:t>
            </a:r>
          </a:p>
          <a:p>
            <a:pPr lvl="1"/>
            <a:endParaRPr lang="en-US" dirty="0"/>
          </a:p>
          <a:p>
            <a:r>
              <a:rPr lang="en-US" dirty="0"/>
              <a:t>Transactional Emails</a:t>
            </a:r>
          </a:p>
          <a:p>
            <a:pPr lvl="1"/>
            <a:r>
              <a:rPr lang="en-US" dirty="0"/>
              <a:t>Order and Shipping Confirmations</a:t>
            </a:r>
          </a:p>
          <a:p>
            <a:pPr lvl="1"/>
            <a:r>
              <a:rPr lang="en-US" dirty="0"/>
              <a:t>Account Alerts &amp; Security</a:t>
            </a:r>
          </a:p>
          <a:p>
            <a:pPr lvl="1"/>
            <a:r>
              <a:rPr lang="en-US" dirty="0"/>
              <a:t>Billing and Invoice Notices</a:t>
            </a:r>
          </a:p>
          <a:p>
            <a:pPr lvl="1"/>
            <a:endParaRPr lang="en-US" dirty="0"/>
          </a:p>
          <a:p>
            <a:r>
              <a:rPr lang="en-US" dirty="0"/>
              <a:t>Feedback and Review Requests</a:t>
            </a:r>
          </a:p>
          <a:p>
            <a:pPr lvl="1"/>
            <a:r>
              <a:rPr lang="en-US" dirty="0"/>
              <a:t>Customer Satisfaction Surveys</a:t>
            </a:r>
          </a:p>
          <a:p>
            <a:pPr lvl="1"/>
            <a:r>
              <a:rPr lang="en-US" dirty="0"/>
              <a:t>Product Review Invitations.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4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1836-AABC-4632-B14C-6853D48D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Marketing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58C7B-C428-4FD5-B99C-BD3BDB9A6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 Setting:</a:t>
            </a:r>
            <a:r>
              <a:rPr lang="en-US" dirty="0"/>
              <a:t> Define what you want to achieve (e.g., welcome new users, announce a product, or recover abandoned carts).</a:t>
            </a:r>
          </a:p>
          <a:p>
            <a:r>
              <a:rPr lang="en-US" b="1" dirty="0"/>
              <a:t>Audience Segmentation:</a:t>
            </a:r>
            <a:r>
              <a:rPr lang="en-US" dirty="0"/>
              <a:t> Group subscribers by location, purchase history, or interests to send relevant messages.</a:t>
            </a:r>
          </a:p>
          <a:p>
            <a:r>
              <a:rPr lang="en-US" b="1" dirty="0"/>
              <a:t>Compelling Copy &amp; Subject Line:</a:t>
            </a:r>
            <a:r>
              <a:rPr lang="en-US" dirty="0"/>
              <a:t> Write a short, punchy subject line to boost open rates and clear copy with a single Call to Action (CTA).</a:t>
            </a:r>
          </a:p>
          <a:p>
            <a:r>
              <a:rPr lang="en-US" b="1" dirty="0"/>
              <a:t>Responsive Design:</a:t>
            </a:r>
            <a:r>
              <a:rPr lang="en-US" dirty="0"/>
              <a:t> Ensure emails look clean and load quickly on both mobile devices and desktop screens.</a:t>
            </a:r>
          </a:p>
          <a:p>
            <a:r>
              <a:rPr lang="en-US" b="1" dirty="0"/>
              <a:t>A/B Testing:</a:t>
            </a:r>
            <a:r>
              <a:rPr lang="en-US" dirty="0"/>
              <a:t> Test two variations of subject lines, send times, or button colors to see which performs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9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C287-428D-4D1B-B005-4993BC17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Marketing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AFD0-6C5A-4D2E-BEDD-3CC05956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 Rate:</a:t>
            </a:r>
            <a:r>
              <a:rPr lang="en-US" dirty="0"/>
              <a:t> Percentage of delivered emails opened by recipients; measures subject line effectiveness.</a:t>
            </a:r>
          </a:p>
          <a:p>
            <a:r>
              <a:rPr lang="en-US" b="1" dirty="0"/>
              <a:t>Click-Through Rate (CTR):</a:t>
            </a:r>
            <a:r>
              <a:rPr lang="en-US" dirty="0"/>
              <a:t> Percentage of recipients who clicked a link inside your email; measures content engagement.</a:t>
            </a:r>
          </a:p>
          <a:p>
            <a:r>
              <a:rPr lang="en-US" b="1" dirty="0"/>
              <a:t>Conversion Rate:</a:t>
            </a:r>
            <a:r>
              <a:rPr lang="en-US" dirty="0"/>
              <a:t> Percentage of people who completed the intended action (e.g., bought a product or downloaded a guide).</a:t>
            </a:r>
          </a:p>
          <a:p>
            <a:r>
              <a:rPr lang="en-US" b="1" dirty="0"/>
              <a:t>Bounce Rate:</a:t>
            </a:r>
            <a:r>
              <a:rPr lang="en-US" dirty="0"/>
              <a:t> The rate of undelivered emails (soft bounce = temporary inbox issue; hard bounce = invalid email address).</a:t>
            </a:r>
          </a:p>
          <a:p>
            <a:r>
              <a:rPr lang="en-US" b="1" dirty="0"/>
              <a:t>Unsubscribe Rate:</a:t>
            </a:r>
            <a:r>
              <a:rPr lang="en-US" dirty="0"/>
              <a:t> Percentage of users opting out of your list; helps gauge content relevance and send frequency.</a:t>
            </a:r>
          </a:p>
        </p:txBody>
      </p:sp>
    </p:spTree>
    <p:extLst>
      <p:ext uri="{BB962C8B-B14F-4D97-AF65-F5344CB8AC3E}">
        <p14:creationId xmlns:p14="http://schemas.microsoft.com/office/powerpoint/2010/main" val="65809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DC37-49AA-4F92-8E3E-28395F57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187EB-8B06-470B-BEB6-E0574FEC0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682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AA05-1B18-4F0F-8737-0B69E74B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LinkedIn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86AB-9707-46D5-822C-A522787E2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world’s largest professional network, designed for B2B relationship-building, career growth, and business branding.</a:t>
            </a:r>
          </a:p>
          <a:p>
            <a:r>
              <a:rPr lang="en-US" dirty="0"/>
              <a:t>Put your company or personal brand in front of industry professionals and key decision-makers.</a:t>
            </a:r>
          </a:p>
          <a:p>
            <a:r>
              <a:rPr lang="en-US" dirty="0"/>
              <a:t>Attract high-intent B2B leads by showcasing solutions to professional challenges.</a:t>
            </a:r>
          </a:p>
          <a:p>
            <a:r>
              <a:rPr lang="en-US" dirty="0"/>
              <a:t>Recruit top talent by highlighting company culture, job openings, and workplace values.</a:t>
            </a:r>
          </a:p>
          <a:p>
            <a:r>
              <a:rPr lang="en-US" dirty="0"/>
              <a:t>Establish authority by sharing valuable industry trends, insights, and case studies.</a:t>
            </a:r>
          </a:p>
        </p:txBody>
      </p:sp>
    </p:spTree>
    <p:extLst>
      <p:ext uri="{BB962C8B-B14F-4D97-AF65-F5344CB8AC3E}">
        <p14:creationId xmlns:p14="http://schemas.microsoft.com/office/powerpoint/2010/main" val="383628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CB36-53F7-4078-9B9A-EB08DE89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EF1E-AEE9-4B6B-B655-011371A89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Awareness</a:t>
            </a:r>
          </a:p>
          <a:p>
            <a:pPr lvl="1"/>
            <a:r>
              <a:rPr lang="en-US" b="1" dirty="0"/>
              <a:t>Brand Awareness:</a:t>
            </a:r>
            <a:r>
              <a:rPr lang="en-US" dirty="0"/>
              <a:t> Maximize impressions to put your business, products, or personal profile in front of relevant industry professionals.</a:t>
            </a:r>
            <a:endParaRPr lang="en-US" b="1" dirty="0"/>
          </a:p>
          <a:p>
            <a:r>
              <a:rPr lang="en-US" b="1" dirty="0"/>
              <a:t>Consideration</a:t>
            </a:r>
          </a:p>
          <a:p>
            <a:pPr lvl="1"/>
            <a:r>
              <a:rPr lang="en-US" b="1" dirty="0"/>
              <a:t>Website Visits:</a:t>
            </a:r>
            <a:r>
              <a:rPr lang="en-US" dirty="0"/>
              <a:t> Drive qualified traffic from LinkedIn feeds directly to your landing pages, blog posts, or product pages.</a:t>
            </a:r>
          </a:p>
          <a:p>
            <a:pPr lvl="1"/>
            <a:r>
              <a:rPr lang="en-US" b="1" dirty="0"/>
              <a:t>Engagement:</a:t>
            </a:r>
            <a:r>
              <a:rPr lang="en-US" dirty="0"/>
              <a:t> Encourage interactions such as likes, comments, shares, video views, and company page follows.</a:t>
            </a:r>
          </a:p>
          <a:p>
            <a:pPr lvl="1"/>
            <a:r>
              <a:rPr lang="en-US" b="1" dirty="0"/>
              <a:t>Video Views:</a:t>
            </a:r>
            <a:r>
              <a:rPr lang="en-US" dirty="0"/>
              <a:t> Expose high-value video content to an audience likely to watch.</a:t>
            </a:r>
          </a:p>
          <a:p>
            <a:r>
              <a:rPr lang="en-US" b="1" dirty="0"/>
              <a:t>Conversions</a:t>
            </a:r>
          </a:p>
          <a:p>
            <a:pPr lvl="1"/>
            <a:r>
              <a:rPr lang="en-US" b="1" dirty="0"/>
              <a:t>Lead Generation:</a:t>
            </a:r>
            <a:r>
              <a:rPr lang="en-US" dirty="0"/>
              <a:t> Capture verified user information using native </a:t>
            </a:r>
            <a:r>
              <a:rPr lang="en-US" b="1" dirty="0"/>
              <a:t>Lead Gen Forms</a:t>
            </a:r>
            <a:r>
              <a:rPr lang="en-US" dirty="0"/>
              <a:t> pre-filled with LinkedIn profile data.</a:t>
            </a:r>
          </a:p>
          <a:p>
            <a:pPr lvl="1"/>
            <a:r>
              <a:rPr lang="en-US" b="1" dirty="0"/>
              <a:t>Website Conversions:</a:t>
            </a:r>
            <a:r>
              <a:rPr lang="en-US" dirty="0"/>
              <a:t> Track and optimize for key actions on your external site, such as demo bookings, purchases, or whitepaper downloads.</a:t>
            </a:r>
            <a:endParaRPr lang="en-US" b="1" dirty="0"/>
          </a:p>
          <a:p>
            <a:pPr lvl="1"/>
            <a:r>
              <a:rPr lang="en-US" b="1" dirty="0"/>
              <a:t>Job Applicants:</a:t>
            </a:r>
            <a:r>
              <a:rPr lang="en-US" dirty="0"/>
              <a:t> Promote open roles to qualified candidates to drive direct applications.</a:t>
            </a: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45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A6516-870A-46AE-8241-0B828DA6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Optimization &amp; Content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6552-C6F7-4EDF-B527-6E988D1C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High-Impact Visuals:</a:t>
            </a:r>
            <a:r>
              <a:rPr lang="en-US" dirty="0"/>
              <a:t> Use a professional headshot and a custom banner image stating your value proposition clearly.</a:t>
            </a:r>
          </a:p>
          <a:p>
            <a:r>
              <a:rPr lang="en-US" b="1" dirty="0"/>
              <a:t>Action-Oriented Headline:</a:t>
            </a:r>
            <a:r>
              <a:rPr lang="en-US" dirty="0"/>
              <a:t> Replace simple job titles with what you actually achieve (e.g., "Helping SaaS companies scale organic traffic").</a:t>
            </a:r>
          </a:p>
          <a:p>
            <a:r>
              <a:rPr lang="en-US" b="1" dirty="0"/>
              <a:t>About Section Hook:</a:t>
            </a:r>
            <a:r>
              <a:rPr lang="en-US" dirty="0"/>
              <a:t> Write a concise summary focusing on problems you solve, notable achievements, and how to reach you.</a:t>
            </a:r>
          </a:p>
          <a:p>
            <a:r>
              <a:rPr lang="en-US" b="1" dirty="0"/>
              <a:t>Content Formats:</a:t>
            </a:r>
            <a:r>
              <a:rPr lang="en-US" dirty="0"/>
              <a:t> Mix single-image posts, text-only insights, native video, and multi-page PDF carousels (ideal for step-by-step guides).</a:t>
            </a:r>
          </a:p>
          <a:p>
            <a:r>
              <a:rPr lang="en-US" b="1" dirty="0"/>
              <a:t>Consistent Schedule:</a:t>
            </a:r>
            <a:r>
              <a:rPr lang="en-US" dirty="0"/>
              <a:t> Post 2–4 times weekly and actively reply to comments within the first hour to boost algorithmic reach.</a:t>
            </a:r>
          </a:p>
        </p:txBody>
      </p:sp>
    </p:spTree>
    <p:extLst>
      <p:ext uri="{BB962C8B-B14F-4D97-AF65-F5344CB8AC3E}">
        <p14:creationId xmlns:p14="http://schemas.microsoft.com/office/powerpoint/2010/main" val="129669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F443-47D7-4873-9110-9A3360E4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</a:t>
            </a:r>
            <a:r>
              <a:rPr lang="en-US" b="1" dirty="0"/>
              <a:t>Sponsored Content 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D722-BB7D-40E1-9C3A-E495A65AA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Image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A traditional post featuring a single static image, headline, text copy, and a link/CTA button.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Promoting blog posts, events, product launches, or simple announcements.</a:t>
            </a:r>
          </a:p>
          <a:p>
            <a:pPr lvl="1"/>
            <a:r>
              <a:rPr lang="en-US" b="1" dirty="0"/>
              <a:t>Key tip:</a:t>
            </a:r>
            <a:r>
              <a:rPr lang="en-US" dirty="0"/>
              <a:t> Use clean visuals with minimal text on the image; let your copy and headline do the work.</a:t>
            </a:r>
          </a:p>
          <a:p>
            <a:pPr lvl="1"/>
            <a:endParaRPr lang="en-US" dirty="0"/>
          </a:p>
          <a:p>
            <a:r>
              <a:rPr lang="en-US" b="1" dirty="0"/>
              <a:t>Video Ads: 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</a:t>
            </a:r>
            <a:r>
              <a:rPr lang="en-US" dirty="0" err="1"/>
              <a:t>Autoplaying</a:t>
            </a:r>
            <a:r>
              <a:rPr lang="en-US" dirty="0"/>
              <a:t> in-feed videos.</a:t>
            </a:r>
            <a:endParaRPr lang="en-US" b="1" dirty="0"/>
          </a:p>
          <a:p>
            <a:pPr lvl="1"/>
            <a:r>
              <a:rPr lang="en-US" b="1" dirty="0"/>
              <a:t>Best for:</a:t>
            </a:r>
            <a:r>
              <a:rPr lang="en-US" dirty="0"/>
              <a:t> Product demos, customer testimonials, thought leadership interviews, and storytelling.</a:t>
            </a:r>
            <a:endParaRPr lang="en-US" b="1" dirty="0"/>
          </a:p>
          <a:p>
            <a:pPr lvl="1"/>
            <a:r>
              <a:rPr lang="en-US" b="1" dirty="0"/>
              <a:t>Key tip:</a:t>
            </a:r>
            <a:r>
              <a:rPr lang="en-US" dirty="0"/>
              <a:t> Add captions/subtitles (over 70% of professionals watch feed videos on mute). Keep the hook within the first 3 seconds.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118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DBEB-C6BE-4379-87F4-2B0D3391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</a:t>
            </a:r>
            <a:r>
              <a:rPr lang="en-US" b="1" dirty="0"/>
              <a:t>Sponsored Content ) Continue…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74DB-8AB5-4BF1-B807-95AAAC2B9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Carousel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A </a:t>
            </a:r>
            <a:r>
              <a:rPr lang="en-US" dirty="0" err="1"/>
              <a:t>swipeable</a:t>
            </a:r>
            <a:r>
              <a:rPr lang="en-US" dirty="0"/>
              <a:t> series of 2 to 10 visual cards with individual links and descriptions.</a:t>
            </a:r>
            <a:endParaRPr lang="en-US" b="1" dirty="0"/>
          </a:p>
          <a:p>
            <a:pPr lvl="1"/>
            <a:r>
              <a:rPr lang="en-US" b="1" dirty="0"/>
              <a:t>Best for:</a:t>
            </a:r>
            <a:r>
              <a:rPr lang="en-US" dirty="0"/>
              <a:t> Telling a sequential story, showcasing multiple product features, or breaking down a case study step-by-step.</a:t>
            </a:r>
            <a:endParaRPr lang="en-US" b="1" dirty="0"/>
          </a:p>
          <a:p>
            <a:pPr lvl="1"/>
            <a:r>
              <a:rPr lang="en-US" b="1" dirty="0"/>
              <a:t>Key tip:</a:t>
            </a:r>
            <a:r>
              <a:rPr lang="en-US" dirty="0"/>
              <a:t> Use continuous visual designs across slides to encourage users to swipe through to the end.</a:t>
            </a:r>
          </a:p>
          <a:p>
            <a:pPr lvl="1"/>
            <a:endParaRPr lang="en-US" dirty="0"/>
          </a:p>
          <a:p>
            <a:r>
              <a:rPr lang="en-US" b="1" dirty="0"/>
              <a:t>Document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In-feed promotional posts allowing members to read and download multi-page documents (PDFs, slide decks, whitepapers) directly within the feed.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Gating or </a:t>
            </a:r>
            <a:r>
              <a:rPr lang="en-US" dirty="0" err="1"/>
              <a:t>ungating</a:t>
            </a:r>
            <a:r>
              <a:rPr lang="en-US" dirty="0"/>
              <a:t> long-form B2B research, e-books, and reports.</a:t>
            </a:r>
          </a:p>
          <a:p>
            <a:pPr lvl="1"/>
            <a:r>
              <a:rPr lang="en-US" b="1" dirty="0"/>
              <a:t>Key tip:</a:t>
            </a:r>
            <a:r>
              <a:rPr lang="en-US" dirty="0"/>
              <a:t> You can choose to gate the document behind a Lead Gen Form after the user previews the first few pages.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280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6834-AB6F-4379-99DA-9C74E1C5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</a:t>
            </a:r>
            <a:r>
              <a:rPr lang="en-US" b="1" dirty="0"/>
              <a:t>Sponsored Content ) Continue…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AF9F-5FD4-455F-9A9D-D207BC46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Event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Feed ads that pull details directly from a LinkedIn Event page (date, time, host, format).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Driving registrations for webinars, panel discussions, and in-person summits.</a:t>
            </a:r>
          </a:p>
          <a:p>
            <a:pPr lvl="1"/>
            <a:endParaRPr lang="en-US" dirty="0"/>
          </a:p>
          <a:p>
            <a:r>
              <a:rPr lang="en-US" b="1" dirty="0"/>
              <a:t>Thought Leader Ads (Boosted Personal Posts):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Promotes a post published by an individual executive or employee rather than the official company page.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Leveraging personal authenticity, founder branding, and higher organic trust.</a:t>
            </a:r>
          </a:p>
        </p:txBody>
      </p:sp>
    </p:spTree>
    <p:extLst>
      <p:ext uri="{BB962C8B-B14F-4D97-AF65-F5344CB8AC3E}">
        <p14:creationId xmlns:p14="http://schemas.microsoft.com/office/powerpoint/2010/main" val="70147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0A3A-05D0-4395-AD9C-8EE27CB61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</a:t>
            </a:r>
            <a:r>
              <a:rPr lang="en-US" b="1" dirty="0"/>
              <a:t>Sponsored Message)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3783-F6A9-44C8-ABC8-AD6480649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Message Ads (formerly Sponsored InMail):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A targeted, personalized direct message from an individual sender with a clear subject line and a single CTA button.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Direct invitations to VIP events, personalized product pitches, or exclusive content downloads.</a:t>
            </a:r>
          </a:p>
          <a:p>
            <a:pPr lvl="1"/>
            <a:endParaRPr lang="en-US" dirty="0"/>
          </a:p>
          <a:p>
            <a:r>
              <a:rPr lang="en-US" b="1" dirty="0"/>
              <a:t>Conversation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Interactive "choose-your-own-path" automated chat experiences featuring multiple branching clickable response buttons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Qualifying leads, guiding users based on their specific intent, and boosting response rates.</a:t>
            </a:r>
          </a:p>
        </p:txBody>
      </p:sp>
    </p:spTree>
    <p:extLst>
      <p:ext uri="{BB962C8B-B14F-4D97-AF65-F5344CB8AC3E}">
        <p14:creationId xmlns:p14="http://schemas.microsoft.com/office/powerpoint/2010/main" val="334290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F17C-B44A-405E-8BFF-8A751AE7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(Dynamic &amp; Sidebar Ads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77EB-D78D-424A-83DA-CF0E9AEEB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Spotlight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Tailored ads showing the member's profile photo next to your company logo, directing them to a landing page or product.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Driving clicks to high-intent conversion pages.</a:t>
            </a:r>
          </a:p>
          <a:p>
            <a:r>
              <a:rPr lang="en-US" b="1" dirty="0"/>
              <a:t>Follower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Similar personalized design, but with an instant "Follow" button.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Quickly building an organic follower base for your LinkedIn Company Page.</a:t>
            </a:r>
          </a:p>
          <a:p>
            <a:r>
              <a:rPr lang="en-US" b="1" dirty="0"/>
              <a:t>Text Ads:</a:t>
            </a:r>
          </a:p>
          <a:p>
            <a:pPr lvl="1"/>
            <a:r>
              <a:rPr lang="en-US" b="1" dirty="0"/>
              <a:t>What it is:</a:t>
            </a:r>
            <a:r>
              <a:rPr lang="en-US" dirty="0"/>
              <a:t> Compact text-based ads with a small square thumbnail, a 25-character headline, and a 75-character description.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Low-cost brand visibility, steady impressions, and pay-per-click (PPC) traffic on desktop.</a:t>
            </a:r>
          </a:p>
        </p:txBody>
      </p:sp>
    </p:spTree>
    <p:extLst>
      <p:ext uri="{BB962C8B-B14F-4D97-AF65-F5344CB8AC3E}">
        <p14:creationId xmlns:p14="http://schemas.microsoft.com/office/powerpoint/2010/main" val="71364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25A3-B080-41E2-9BFB-E152864C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LinkedIn Ads Formats &amp; Analytics (Lead Gen Forms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9B987-5AFE-44D8-975D-8FB7B021F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Lead form</a:t>
            </a:r>
          </a:p>
          <a:p>
            <a:pPr lvl="1"/>
            <a:r>
              <a:rPr lang="en-US" b="1" dirty="0"/>
              <a:t>How it works:</a:t>
            </a:r>
            <a:r>
              <a:rPr lang="en-US" dirty="0"/>
              <a:t> When a user clicks your CTA, a form opens inside LinkedIn with their verified profile data (name, email, job title, company, seniority) already filled in.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High-converting B2B lead generation with minimal user effort</a:t>
            </a:r>
          </a:p>
        </p:txBody>
      </p:sp>
    </p:spTree>
    <p:extLst>
      <p:ext uri="{BB962C8B-B14F-4D97-AF65-F5344CB8AC3E}">
        <p14:creationId xmlns:p14="http://schemas.microsoft.com/office/powerpoint/2010/main" val="223877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A244-C0BA-47A0-8A82-7BD598A4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Snapchat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E32A-2410-4D23-A862-C148E18EF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106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E86F-4577-4371-9F6A-666B162C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Snapchat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292A-FEFC-460D-AB88-E976AA8E1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Snapchat marketing </a:t>
            </a:r>
            <a:r>
              <a:rPr lang="en-US" dirty="0"/>
              <a:t>refers to using Snapchat’s camera-first, visual communication platform.</a:t>
            </a:r>
          </a:p>
          <a:p>
            <a:r>
              <a:rPr lang="en-US" dirty="0"/>
              <a:t> It’s used to build brand awareness, drive engagement, and generate sales through organic content and paid campaigns.</a:t>
            </a:r>
          </a:p>
          <a:p>
            <a:r>
              <a:rPr lang="en-US" dirty="0"/>
              <a:t>Snapchat emphasizes direct, peer-to-peer sharing, short-lived content, and interactive augmented reality </a:t>
            </a:r>
          </a:p>
          <a:p>
            <a:endParaRPr lang="en-US" dirty="0"/>
          </a:p>
          <a:p>
            <a:r>
              <a:rPr lang="en-US" dirty="0"/>
              <a:t>Core demography</a:t>
            </a:r>
          </a:p>
          <a:p>
            <a:pPr lvl="1"/>
            <a:r>
              <a:rPr lang="en-US" dirty="0"/>
              <a:t>Young Audience</a:t>
            </a:r>
          </a:p>
          <a:p>
            <a:pPr lvl="1"/>
            <a:r>
              <a:rPr lang="en-US" dirty="0"/>
              <a:t>High Frequency</a:t>
            </a:r>
          </a:p>
          <a:p>
            <a:pPr lvl="1"/>
            <a:r>
              <a:rPr lang="en-US" dirty="0"/>
              <a:t>Global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44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BF9D-D9E0-4771-9248-524CA19B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 chat ads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B8701-BD95-44E3-AF15-FD2D5564E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Snapchat Business Account</a:t>
            </a:r>
            <a:r>
              <a:rPr lang="en-US" dirty="0"/>
              <a:t> is the central hub for managing your brand’s organic presence, team permissions, and paid ad campaigns on Snapchat.</a:t>
            </a:r>
          </a:p>
          <a:p>
            <a:r>
              <a:rPr lang="en-US" dirty="0"/>
              <a:t>Core Features</a:t>
            </a:r>
          </a:p>
          <a:p>
            <a:r>
              <a:rPr lang="en-US" dirty="0"/>
              <a:t>Snap Ads Manager</a:t>
            </a:r>
          </a:p>
          <a:p>
            <a:r>
              <a:rPr lang="en-US" dirty="0"/>
              <a:t>Public Profile for Business</a:t>
            </a:r>
          </a:p>
          <a:p>
            <a:r>
              <a:rPr lang="en-US" dirty="0"/>
              <a:t>Multi-User Access &amp; Roles:</a:t>
            </a:r>
          </a:p>
          <a:p>
            <a:r>
              <a:rPr lang="en-US" dirty="0"/>
              <a:t>Snap Pixel &amp; Events Manager</a:t>
            </a:r>
          </a:p>
          <a:p>
            <a:r>
              <a:rPr lang="en-US" dirty="0"/>
              <a:t>Product Catalog</a:t>
            </a:r>
          </a:p>
          <a:p>
            <a:r>
              <a:rPr lang="en-US" dirty="0"/>
              <a:t>AR Lens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AAC38-F93F-44BE-BDDF-9624805A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22" y="1598785"/>
            <a:ext cx="3785936" cy="5007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60DB8-A26F-48EC-ADB3-E8C8E220C3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6" t="14393" r="17514"/>
          <a:stretch/>
        </p:blipFill>
        <p:spPr>
          <a:xfrm>
            <a:off x="7921957" y="2775284"/>
            <a:ext cx="4184578" cy="174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8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5887-7861-44FE-AD82-1CE72682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Story 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5D61-1E38-4318-85D1-8AFC34167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Story Ads allow you to reach </a:t>
            </a:r>
            <a:r>
              <a:rPr lang="en-US" dirty="0" err="1"/>
              <a:t>Snapchatters</a:t>
            </a:r>
            <a:r>
              <a:rPr lang="en-US" dirty="0"/>
              <a:t> by placing a branded tile in Snapchat’s Discover section that opens into a collection of 1 - 10 images or videos.</a:t>
            </a:r>
          </a:p>
          <a:p>
            <a:r>
              <a:rPr lang="en-US" b="0" i="0" dirty="0">
                <a:solidFill>
                  <a:srgbClr val="16191C"/>
                </a:solidFill>
                <a:effectLst/>
                <a:latin typeface="Roboto Condensed" panose="02000000000000000000" pitchFamily="2" charset="0"/>
              </a:rPr>
              <a:t>Story Ads are a great way to get your brand’s message across in an easily consumable fashion, whether that’s showing off a suite of products, releasing a movie, or always-on branding.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6A368-B4A1-45EA-9A22-01CF11D55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188" y="2774404"/>
            <a:ext cx="5475956" cy="303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4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DCAF-A896-4F47-AB87-D060B13B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Snapchat 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4DEA4-103F-4D3A-A760-03B94D41D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007557" cy="5590565"/>
          </a:xfrm>
        </p:spPr>
        <p:txBody>
          <a:bodyPr/>
          <a:lstStyle/>
          <a:p>
            <a:r>
              <a:rPr lang="en-US" dirty="0"/>
              <a:t>There are three formats represent the foundational advertising units that defined Snapchat's ads.</a:t>
            </a:r>
          </a:p>
          <a:p>
            <a:endParaRPr lang="en-US" dirty="0"/>
          </a:p>
          <a:p>
            <a:r>
              <a:rPr lang="en-US" dirty="0"/>
              <a:t>1. Snapchat Sponsored </a:t>
            </a:r>
            <a:r>
              <a:rPr lang="en-US" dirty="0" err="1"/>
              <a:t>Geofilters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What it is:</a:t>
            </a:r>
            <a:r>
              <a:rPr lang="en-US" dirty="0"/>
              <a:t> Static graphic overlays that users can apply to their photos or videos after capturing a Snap.</a:t>
            </a:r>
          </a:p>
          <a:p>
            <a:pPr lvl="1"/>
            <a:r>
              <a:rPr lang="en-US" b="1" dirty="0"/>
              <a:t>How it works:</a:t>
            </a:r>
            <a:r>
              <a:rPr lang="en-US" dirty="0"/>
              <a:t> They are tied to a specific geographic fence. When users take a Snap within that boundary and swipe left or right, your branded frame or illustration appears. 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Local retail foot traffic, event activations (concerts, sports events, festivals), conferences, and regional brand awareness.</a:t>
            </a:r>
          </a:p>
          <a:p>
            <a:pPr lvl="1"/>
            <a:r>
              <a:rPr lang="en-US" b="1" dirty="0"/>
              <a:t>Key advantage:</a:t>
            </a:r>
            <a:r>
              <a:rPr lang="en-US" dirty="0"/>
              <a:t> High organic reach; when users send a filtered Snap to friends or post it to their Story, your brand gets shared peer-to-peer.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123C-D915-45FF-8307-C061E9728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074" y="2253163"/>
            <a:ext cx="4924926" cy="27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8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4302-B1BA-4D23-B925-6AE07650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Snapchat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A380-8B03-4E86-8645-5081B6561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574420" cy="5590565"/>
          </a:xfrm>
        </p:spPr>
        <p:txBody>
          <a:bodyPr/>
          <a:lstStyle/>
          <a:p>
            <a:r>
              <a:rPr lang="en-US" dirty="0"/>
              <a:t>2. Snapchat Sponsored Lenses</a:t>
            </a:r>
          </a:p>
          <a:p>
            <a:endParaRPr lang="en-US" dirty="0"/>
          </a:p>
          <a:p>
            <a:pPr lvl="1"/>
            <a:r>
              <a:rPr lang="en-US" b="1" dirty="0"/>
              <a:t>What it is:</a:t>
            </a:r>
            <a:r>
              <a:rPr lang="en-US" dirty="0"/>
              <a:t> Interactive, real-time Augmented Reality (AR) experiences that modify a user’s face or environment via the camera.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Face Lenses:</a:t>
            </a:r>
            <a:r>
              <a:rPr lang="en-US" dirty="0"/>
              <a:t> Track facial features to add 3D objects, makeup, character transformations, or interactive prompts .</a:t>
            </a:r>
          </a:p>
          <a:p>
            <a:pPr lvl="1"/>
            <a:r>
              <a:rPr lang="en-US" i="1" dirty="0"/>
              <a:t>World Lenses:</a:t>
            </a:r>
            <a:r>
              <a:rPr lang="en-US" dirty="0"/>
              <a:t> Use the rear camera to project 3D branded objects, mascots, or virtual products directly into the user’s physical surroundings.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Best for:</a:t>
            </a:r>
            <a:r>
              <a:rPr lang="en-US" dirty="0"/>
              <a:t> Virtual product try-ons, massive cultural brand moments, and movie/game launches.</a:t>
            </a:r>
          </a:p>
          <a:p>
            <a:pPr lvl="1"/>
            <a:r>
              <a:rPr lang="en-US" b="1" dirty="0"/>
              <a:t>Key advantage:</a:t>
            </a:r>
            <a:r>
              <a:rPr lang="en-US" dirty="0"/>
              <a:t> Massive engagement time; users actively play with Lenses rather than passively watching an ad.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C251F-5334-4034-A216-FE97ABF0E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88" y="2691919"/>
            <a:ext cx="5261811" cy="295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7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3EB3-A61E-4020-9EF0-5EF96F71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Snapchat Ads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0D89-B6E5-4E84-8FEE-D00405FA9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569031" cy="5590565"/>
          </a:xfrm>
        </p:spPr>
        <p:txBody>
          <a:bodyPr/>
          <a:lstStyle/>
          <a:p>
            <a:r>
              <a:rPr lang="en-US" dirty="0"/>
              <a:t>3. Snap Ads (Now often called Single Image/Video Ads)</a:t>
            </a:r>
          </a:p>
          <a:p>
            <a:endParaRPr lang="en-US" dirty="0"/>
          </a:p>
          <a:p>
            <a:pPr lvl="1"/>
            <a:r>
              <a:rPr lang="en-US" b="1" dirty="0"/>
              <a:t>What it is:</a:t>
            </a:r>
            <a:r>
              <a:rPr lang="en-US" dirty="0"/>
              <a:t> Full-screen, vertical (9:16) video or image ads that play with sound between organic user Stories and publisher content.</a:t>
            </a:r>
          </a:p>
          <a:p>
            <a:pPr lvl="1"/>
            <a:r>
              <a:rPr lang="en-US" b="1" dirty="0"/>
              <a:t>How it works:</a:t>
            </a:r>
            <a:r>
              <a:rPr lang="en-US" dirty="0"/>
              <a:t> Typically 3 to 180 seconds long (usually optimized under 10 seconds). They include a swipe-up Call to Action (CTA) at the bottom.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Web View:</a:t>
            </a:r>
            <a:r>
              <a:rPr lang="en-US" dirty="0"/>
              <a:t> Opens a mobile webpage directly inside the app for browsing or e-commerce purchases. </a:t>
            </a:r>
          </a:p>
          <a:p>
            <a:pPr lvl="1"/>
            <a:r>
              <a:rPr lang="en-US" i="1" dirty="0"/>
              <a:t>App Install:</a:t>
            </a:r>
            <a:r>
              <a:rPr lang="en-US" dirty="0"/>
              <a:t> Promotes app downloads with a direct link to Google Play or the App Store.</a:t>
            </a:r>
          </a:p>
          <a:p>
            <a:pPr lvl="1"/>
            <a:r>
              <a:rPr lang="en-US" i="1" dirty="0"/>
              <a:t>Long-Form Video:</a:t>
            </a:r>
            <a:r>
              <a:rPr lang="en-US" dirty="0"/>
              <a:t> Teases a 10-second hook that swipes up into a full-length trailer or video.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Best for:</a:t>
            </a:r>
            <a:r>
              <a:rPr lang="en-US" dirty="0"/>
              <a:t> Direct-response marketing, lead generation, website traffic, and performance campaigns.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2463D-FABB-4BE5-A83E-010616A6AD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4" t="18965" r="22632"/>
          <a:stretch/>
        </p:blipFill>
        <p:spPr>
          <a:xfrm>
            <a:off x="7694526" y="962858"/>
            <a:ext cx="4366294" cy="31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3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7765-3874-454B-9AF1-346A8987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(Formally Twitter)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A3AA4-B4BA-4400-A42E-856F0F0B3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042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814D-F5FA-4A07-8837-3E0A426C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X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5F69-A3A3-4C12-B051-B817B01ED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X marketing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refers to using X (formerly Twitter) to promote a brand, product, service, person, or organization.</a:t>
            </a:r>
          </a:p>
          <a:p>
            <a:r>
              <a:rPr lang="en-US" dirty="0"/>
              <a:t>X is a </a:t>
            </a:r>
            <a:r>
              <a:rPr lang="en-US" b="1" dirty="0"/>
              <a:t>real-time, conversation-driven social media platform</a:t>
            </a:r>
            <a:r>
              <a:rPr lang="en-US" dirty="0"/>
              <a:t> where users share short posts, news, opinions, images, videos, links, and other content.</a:t>
            </a:r>
          </a:p>
          <a:p>
            <a:r>
              <a:rPr lang="en-US" dirty="0"/>
              <a:t>Unlike platforms that primarily focus on visual discovery, X is strongly centered around </a:t>
            </a:r>
            <a:r>
              <a:rPr lang="en-US" b="1" dirty="0"/>
              <a:t>conversations, trends, opinions, and timely information</a:t>
            </a:r>
            <a:r>
              <a:rPr lang="en-US" dirty="0"/>
              <a:t>.</a:t>
            </a:r>
          </a:p>
          <a:p>
            <a:r>
              <a:rPr lang="en-US" dirty="0"/>
              <a:t>Businesses can use X through:</a:t>
            </a:r>
          </a:p>
          <a:p>
            <a:pPr lvl="1"/>
            <a:r>
              <a:rPr lang="en-US" b="1" dirty="0"/>
              <a:t>Organic marketing</a:t>
            </a:r>
            <a:r>
              <a:rPr lang="en-US" dirty="0"/>
              <a:t> – unpaid posts and engagement.</a:t>
            </a:r>
          </a:p>
          <a:p>
            <a:pPr lvl="1"/>
            <a:r>
              <a:rPr lang="en-US" b="1" dirty="0"/>
              <a:t>Paid advertising</a:t>
            </a:r>
            <a:r>
              <a:rPr lang="en-US" dirty="0"/>
              <a:t> – promoted content and X 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3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324F-35C2-4492-94AE-6F7102A8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X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9E4C-60FC-4075-A68D-F92D6E97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Brand Awareness: Increase visibility and recognition of the brand.</a:t>
            </a:r>
          </a:p>
          <a:p>
            <a:r>
              <a:rPr lang="en-US" dirty="0"/>
              <a:t>Engagement: Encourage likes, replies, reposts, quotes, and conversations.</a:t>
            </a:r>
          </a:p>
          <a:p>
            <a:r>
              <a:rPr lang="en-US" dirty="0"/>
              <a:t>Website Traffic: Drive users to websites, blogs, landing pages, or online stores.</a:t>
            </a:r>
          </a:p>
          <a:p>
            <a:r>
              <a:rPr lang="en-US" dirty="0"/>
              <a:t>Lead Generation: Generate potential customer inquiries and prospects.</a:t>
            </a:r>
          </a:p>
          <a:p>
            <a:r>
              <a:rPr lang="en-US" dirty="0"/>
              <a:t>Sales: Promote products, services, offers, and launches.</a:t>
            </a:r>
          </a:p>
          <a:p>
            <a:r>
              <a:rPr lang="en-US" dirty="0"/>
              <a:t>Customer Service: Respond to customer questions and complaints quickly.</a:t>
            </a:r>
          </a:p>
          <a:p>
            <a:r>
              <a:rPr lang="en-US" dirty="0"/>
              <a:t>Thought Leadership: Establish expertise in a particular industry or subject.</a:t>
            </a:r>
          </a:p>
          <a:p>
            <a:r>
              <a:rPr lang="en-US" dirty="0"/>
              <a:t>Community Building: Develop an active community around a brand or topic.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A92F-5658-4D80-A3A7-7BBE9F70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Marketing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BDC11-0B0A-4F8F-96CA-5024BE0EC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Define Marketing Objectives</a:t>
            </a:r>
          </a:p>
          <a:p>
            <a:r>
              <a:rPr lang="en-US" dirty="0"/>
              <a:t>Clearly determine what the organization wants to achieve.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Increase followers</a:t>
            </a:r>
          </a:p>
          <a:p>
            <a:pPr lvl="1"/>
            <a:r>
              <a:rPr lang="en-US" dirty="0"/>
              <a:t>Generate website visits</a:t>
            </a:r>
          </a:p>
          <a:p>
            <a:pPr lvl="1"/>
            <a:r>
              <a:rPr lang="en-US" dirty="0"/>
              <a:t>Increase product awareness</a:t>
            </a:r>
          </a:p>
          <a:p>
            <a:pPr lvl="1"/>
            <a:r>
              <a:rPr lang="en-US" dirty="0"/>
              <a:t>Generate leads</a:t>
            </a:r>
          </a:p>
          <a:p>
            <a:pPr lvl="1"/>
            <a:r>
              <a:rPr lang="en-US" dirty="0"/>
              <a:t>Improve customer engagement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2. Identify Target Audience</a:t>
            </a:r>
          </a:p>
          <a:p>
            <a:pPr lvl="1"/>
            <a:r>
              <a:rPr lang="en-US" dirty="0"/>
              <a:t>Identify: Age, Location, Interests, Profession, </a:t>
            </a:r>
            <a:r>
              <a:rPr lang="en-US" dirty="0" err="1"/>
              <a:t>Behaviour</a:t>
            </a:r>
            <a:r>
              <a:rPr lang="en-US" dirty="0"/>
              <a:t>, Needs, Problems.</a:t>
            </a:r>
          </a:p>
          <a:p>
            <a:pPr lvl="1"/>
            <a:r>
              <a:rPr lang="en-US" dirty="0"/>
              <a:t>Understand what type of content the audience consumes and shares.</a:t>
            </a:r>
          </a:p>
        </p:txBody>
      </p:sp>
    </p:spTree>
    <p:extLst>
      <p:ext uri="{BB962C8B-B14F-4D97-AF65-F5344CB8AC3E}">
        <p14:creationId xmlns:p14="http://schemas.microsoft.com/office/powerpoint/2010/main" val="67296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54E8-2ED0-40F7-966E-8740F493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Marketing Strategy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1E859-B019-4A9A-8CC0-EA1BF8EE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Optimize the X Profile</a:t>
            </a:r>
          </a:p>
          <a:p>
            <a:r>
              <a:rPr lang="en-US" dirty="0"/>
              <a:t>An effective business profile should include</a:t>
            </a:r>
          </a:p>
          <a:p>
            <a:pPr lvl="1"/>
            <a:r>
              <a:rPr lang="en-US" dirty="0"/>
              <a:t>Recognizable profile photo/logo</a:t>
            </a:r>
          </a:p>
          <a:p>
            <a:pPr lvl="1"/>
            <a:r>
              <a:rPr lang="en-US" dirty="0"/>
              <a:t>Professional banner image</a:t>
            </a:r>
          </a:p>
          <a:p>
            <a:pPr lvl="1"/>
            <a:r>
              <a:rPr lang="en-US" dirty="0"/>
              <a:t>Clear username</a:t>
            </a:r>
          </a:p>
          <a:p>
            <a:pPr lvl="1"/>
            <a:r>
              <a:rPr lang="en-US" dirty="0"/>
              <a:t>Concise bio</a:t>
            </a:r>
          </a:p>
          <a:p>
            <a:pPr lvl="1"/>
            <a:r>
              <a:rPr lang="en-US" dirty="0"/>
              <a:t>Website link</a:t>
            </a:r>
          </a:p>
          <a:p>
            <a:pPr lvl="1"/>
            <a:r>
              <a:rPr lang="en-US" dirty="0"/>
              <a:t>Location, where relevant</a:t>
            </a:r>
          </a:p>
          <a:p>
            <a:pPr lvl="1"/>
            <a:r>
              <a:rPr lang="en-US" dirty="0"/>
              <a:t>Relevant keywords</a:t>
            </a:r>
          </a:p>
          <a:p>
            <a:pPr lvl="1"/>
            <a:r>
              <a:rPr lang="en-US" dirty="0"/>
              <a:t>Consistent brand identity</a:t>
            </a:r>
          </a:p>
        </p:txBody>
      </p:sp>
    </p:spTree>
    <p:extLst>
      <p:ext uri="{BB962C8B-B14F-4D97-AF65-F5344CB8AC3E}">
        <p14:creationId xmlns:p14="http://schemas.microsoft.com/office/powerpoint/2010/main" val="90636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C2D4-0B7A-42DF-BB97-80E28474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Marketing Strategy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3987-E66B-4E7E-9258-BC9EA102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Develop Content Strategy</a:t>
            </a:r>
          </a:p>
          <a:p>
            <a:r>
              <a:rPr lang="en-US" dirty="0"/>
              <a:t>Create different types of posts:</a:t>
            </a:r>
          </a:p>
          <a:p>
            <a:pPr lvl="1"/>
            <a:r>
              <a:rPr lang="en-US" dirty="0"/>
              <a:t>Educational content</a:t>
            </a:r>
          </a:p>
          <a:p>
            <a:pPr lvl="1"/>
            <a:r>
              <a:rPr lang="en-US" dirty="0"/>
              <a:t>Industry news</a:t>
            </a:r>
          </a:p>
          <a:p>
            <a:pPr lvl="1"/>
            <a:r>
              <a:rPr lang="en-US" dirty="0"/>
              <a:t>Product updates</a:t>
            </a:r>
          </a:p>
          <a:p>
            <a:pPr lvl="1"/>
            <a:r>
              <a:rPr lang="en-US" dirty="0"/>
              <a:t>Promotional content</a:t>
            </a:r>
          </a:p>
          <a:p>
            <a:pPr lvl="1"/>
            <a:r>
              <a:rPr lang="en-US" dirty="0"/>
              <a:t>Threads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5. Engage With the Audience</a:t>
            </a:r>
          </a:p>
          <a:p>
            <a:pPr lvl="1"/>
            <a:r>
              <a:rPr lang="en-US" dirty="0"/>
              <a:t>Reply to comments.</a:t>
            </a:r>
          </a:p>
          <a:p>
            <a:pPr lvl="1"/>
            <a:r>
              <a:rPr lang="en-US" dirty="0"/>
              <a:t>Answer questions</a:t>
            </a:r>
          </a:p>
          <a:p>
            <a:pPr lvl="1"/>
            <a:r>
              <a:rPr lang="en-US" dirty="0"/>
              <a:t>Quote relevant posts.</a:t>
            </a:r>
          </a:p>
          <a:p>
            <a:pPr lvl="1"/>
            <a:r>
              <a:rPr lang="en-US" dirty="0"/>
              <a:t>Monitor brand mentions.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1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C2D4-0B7A-42DF-BB97-80E28474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Marketing Strategy (Continue…)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3987-E66B-4E7E-9258-BC9EA102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6. Use Hashtags</a:t>
            </a:r>
          </a:p>
          <a:p>
            <a:pPr lvl="1"/>
            <a:r>
              <a:rPr lang="en-US" dirty="0"/>
              <a:t>Use relevant hashtags to improve content discovery.</a:t>
            </a:r>
          </a:p>
          <a:p>
            <a:pPr lvl="1"/>
            <a:r>
              <a:rPr lang="en-US" dirty="0"/>
              <a:t>Avoid using irrelevant or excessive hashtags.</a:t>
            </a:r>
          </a:p>
          <a:p>
            <a:pPr lvl="1"/>
            <a:r>
              <a:rPr lang="en-US" dirty="0"/>
              <a:t>Create a branded hashtag when appropriate.</a:t>
            </a:r>
          </a:p>
          <a:p>
            <a:pPr lvl="1"/>
            <a:r>
              <a:rPr lang="en-US" dirty="0"/>
              <a:t>Monitor trending hashtags before participating.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7. Monitor Performance</a:t>
            </a:r>
          </a:p>
          <a:p>
            <a:r>
              <a:rPr lang="en-US" dirty="0"/>
              <a:t>Important metrics include</a:t>
            </a:r>
          </a:p>
          <a:p>
            <a:pPr lvl="1"/>
            <a:r>
              <a:rPr lang="en-US" dirty="0"/>
              <a:t>Impressions</a:t>
            </a:r>
          </a:p>
          <a:p>
            <a:pPr lvl="1"/>
            <a:r>
              <a:rPr lang="en-US" dirty="0"/>
              <a:t>Engagements</a:t>
            </a:r>
          </a:p>
          <a:p>
            <a:pPr lvl="1"/>
            <a:r>
              <a:rPr lang="en-US" dirty="0"/>
              <a:t>Link clicks</a:t>
            </a:r>
          </a:p>
          <a:p>
            <a:pPr lvl="1"/>
            <a:r>
              <a:rPr lang="en-US" dirty="0"/>
              <a:t>Video views</a:t>
            </a:r>
          </a:p>
          <a:p>
            <a:pPr lvl="1"/>
            <a:r>
              <a:rPr lang="en-US" dirty="0"/>
              <a:t>Profile visits</a:t>
            </a:r>
          </a:p>
          <a:p>
            <a:pPr lvl="1"/>
            <a:r>
              <a:rPr lang="en-US" dirty="0"/>
              <a:t>Followers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8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C2D4-0B7A-42DF-BB97-80E28474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Advertising / Twitter 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3987-E66B-4E7E-9258-BC9EA102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X Ads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paid promotional activities used to reach a selected audience beyond organic content.</a:t>
            </a:r>
          </a:p>
          <a:p>
            <a:r>
              <a:rPr lang="en-US" dirty="0"/>
              <a:t>Businesses can use advertising to achieve objectives such as:</a:t>
            </a:r>
          </a:p>
          <a:p>
            <a:pPr lvl="1"/>
            <a:r>
              <a:rPr lang="en-US" dirty="0"/>
              <a:t>Awareness</a:t>
            </a:r>
          </a:p>
          <a:p>
            <a:pPr lvl="1"/>
            <a:r>
              <a:rPr lang="en-US" dirty="0"/>
              <a:t>Website traffic</a:t>
            </a:r>
          </a:p>
          <a:p>
            <a:pPr lvl="1"/>
            <a:r>
              <a:rPr lang="en-US" dirty="0"/>
              <a:t>Engagement</a:t>
            </a:r>
          </a:p>
          <a:p>
            <a:pPr lvl="1"/>
            <a:r>
              <a:rPr lang="en-US" dirty="0"/>
              <a:t>Video views</a:t>
            </a:r>
          </a:p>
          <a:p>
            <a:pPr lvl="1"/>
            <a:r>
              <a:rPr lang="en-US" dirty="0"/>
              <a:t>App promotion</a:t>
            </a:r>
          </a:p>
          <a:p>
            <a:pPr lvl="1"/>
            <a:r>
              <a:rPr lang="en-US" dirty="0"/>
              <a:t>Leads/conversions</a:t>
            </a:r>
          </a:p>
        </p:txBody>
      </p:sp>
    </p:spTree>
    <p:extLst>
      <p:ext uri="{BB962C8B-B14F-4D97-AF65-F5344CB8AC3E}">
        <p14:creationId xmlns:p14="http://schemas.microsoft.com/office/powerpoint/2010/main" val="1159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8C6F-B2D0-42BB-8F58-AA37591D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X Advertising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BCC9-3CD6-4E18-9560-0A53590D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Create/Access an X Ads Account</a:t>
            </a:r>
          </a:p>
          <a:p>
            <a:pPr lvl="1"/>
            <a:r>
              <a:rPr lang="en-US" dirty="0"/>
              <a:t>Log in to the organization's X account.</a:t>
            </a:r>
          </a:p>
          <a:p>
            <a:pPr lvl="1"/>
            <a:r>
              <a:rPr lang="en-US" dirty="0"/>
              <a:t>Access the advertising interface.</a:t>
            </a:r>
          </a:p>
          <a:p>
            <a:pPr lvl="1"/>
            <a:r>
              <a:rPr lang="en-US" dirty="0"/>
              <a:t>Provide required business and billing information.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2. Define Campaign Objective</a:t>
            </a:r>
          </a:p>
          <a:p>
            <a:pPr lvl="1"/>
            <a:r>
              <a:rPr lang="en-US" dirty="0"/>
              <a:t>Select the objective according to the desired outcome.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3. Select Target Audience</a:t>
            </a:r>
          </a:p>
          <a:p>
            <a:r>
              <a:rPr lang="en-US" dirty="0"/>
              <a:t>Audience targeting can be based on factors such as:</a:t>
            </a:r>
          </a:p>
          <a:p>
            <a:pPr lvl="1"/>
            <a:r>
              <a:rPr lang="en-US" dirty="0"/>
              <a:t>Demographic Targeting</a:t>
            </a:r>
          </a:p>
          <a:p>
            <a:pPr lvl="1"/>
            <a:r>
              <a:rPr lang="en-US" dirty="0"/>
              <a:t>Interest-Based Targeting</a:t>
            </a:r>
          </a:p>
          <a:p>
            <a:pPr lvl="1"/>
            <a:r>
              <a:rPr lang="en-US" dirty="0"/>
              <a:t>Behavior/Intent-Based Targeting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0368-9FE0-4B53-8FDD-A127695C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WhatsApp for Business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51536-E25D-4967-88A2-5F412252F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307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WhatsApp</a:t>
            </a:r>
            <a:r>
              <a:rPr lang="en-US" dirty="0"/>
              <a:t> is a popular messaging application that allows people to communicate instantly over the internet. It was launched in 2009 and is now owned by Meta Platforms.</a:t>
            </a:r>
          </a:p>
          <a:p>
            <a:r>
              <a:rPr lang="en-US" dirty="0"/>
              <a:t>It enables users to send </a:t>
            </a:r>
            <a:r>
              <a:rPr lang="en-US" b="1" dirty="0"/>
              <a:t>text messages, voice notes, images, videos, documents</a:t>
            </a:r>
            <a:r>
              <a:rPr lang="en-US" dirty="0"/>
              <a:t>, and even make </a:t>
            </a:r>
            <a:r>
              <a:rPr lang="en-US" b="1" dirty="0"/>
              <a:t>voice and video calls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B6538-A189-4F0D-804A-3D61E094F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9" b="19758"/>
          <a:stretch/>
        </p:blipFill>
        <p:spPr>
          <a:xfrm>
            <a:off x="3797560" y="2966590"/>
            <a:ext cx="4794521" cy="3331573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0F86C232-FBE7-4E9D-8F8E-FE108F534AAD}"/>
              </a:ext>
            </a:extLst>
          </p:cNvPr>
          <p:cNvSpPr/>
          <p:nvPr/>
        </p:nvSpPr>
        <p:spPr>
          <a:xfrm rot="5400000">
            <a:off x="4217438" y="3438332"/>
            <a:ext cx="219268" cy="244928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D45ED-4576-43CE-9466-7F5C7CFAD870}"/>
              </a:ext>
            </a:extLst>
          </p:cNvPr>
          <p:cNvSpPr txBox="1"/>
          <p:nvPr/>
        </p:nvSpPr>
        <p:spPr>
          <a:xfrm>
            <a:off x="487610" y="4449444"/>
            <a:ext cx="2614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Company Business profile </a:t>
            </a:r>
          </a:p>
          <a:p>
            <a:r>
              <a:rPr lang="en-US" dirty="0"/>
              <a:t>on WhatsApp</a:t>
            </a:r>
          </a:p>
        </p:txBody>
      </p:sp>
    </p:spTree>
    <p:extLst>
      <p:ext uri="{BB962C8B-B14F-4D97-AF65-F5344CB8AC3E}">
        <p14:creationId xmlns:p14="http://schemas.microsoft.com/office/powerpoint/2010/main" val="40432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WhatsApp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WhatsApp ecosystem is bifurcated into three distinct tiers, each engineered for a specific scale of interaction and technical complexity.</a:t>
            </a:r>
          </a:p>
          <a:p>
            <a:pPr lvl="1"/>
            <a:r>
              <a:rPr lang="en-US" b="1" dirty="0"/>
              <a:t>WhatsApp (Personal):</a:t>
            </a:r>
            <a:r>
              <a:rPr lang="en-US" dirty="0"/>
              <a:t> A consumer-facing application designed for private, one-to-one communication. It lacks professional branding, automation, or analytics, making it unsuitable for commercial operations. </a:t>
            </a:r>
          </a:p>
          <a:p>
            <a:pPr lvl="1"/>
            <a:r>
              <a:rPr lang="en-US" b="1" dirty="0"/>
              <a:t>WhatsApp Business App (SMBs):</a:t>
            </a:r>
            <a:r>
              <a:rPr lang="en-US" dirty="0"/>
              <a:t> A free-to-use mobile application tailored for micro and small businesses. It allows for a basic business profile, manual product catalogs, and simple automation tools like "Quick Replies.“</a:t>
            </a:r>
          </a:p>
          <a:p>
            <a:pPr lvl="1"/>
            <a:r>
              <a:rPr lang="en-US" b="1" dirty="0"/>
              <a:t>WhatsApp Business API / Platform (Enterprise):</a:t>
            </a:r>
            <a:r>
              <a:rPr lang="en-US" dirty="0"/>
              <a:t> A programmable, cloud-based interface designed for medium to large enterprises. It is not a standalone app but a backend solution that requires integration with a CRM or a third-party dashboard. It supports high-volume messaging, advanced AI chatbots, and multi-agent support. </a:t>
            </a:r>
          </a:p>
        </p:txBody>
      </p:sp>
    </p:spTree>
    <p:extLst>
      <p:ext uri="{BB962C8B-B14F-4D97-AF65-F5344CB8AC3E}">
        <p14:creationId xmlns:p14="http://schemas.microsoft.com/office/powerpoint/2010/main" val="60927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Catalog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Catalog Management is a core feature that transforms a chat interface into a functional e-commerce storefront.</a:t>
            </a:r>
          </a:p>
          <a:p>
            <a:pPr lvl="1"/>
            <a:r>
              <a:rPr lang="en-US" b="1" dirty="0"/>
              <a:t>Product Showcasing:</a:t>
            </a:r>
            <a:r>
              <a:rPr lang="en-US" dirty="0"/>
              <a:t> Businesses can upload up to 500 products or services. Each entry includes a title, price, description, website link, and unique product code.</a:t>
            </a:r>
          </a:p>
          <a:p>
            <a:pPr lvl="1"/>
            <a:r>
              <a:rPr lang="en-US" b="1" dirty="0"/>
              <a:t>Media Assets:</a:t>
            </a:r>
            <a:r>
              <a:rPr lang="en-US" dirty="0"/>
              <a:t> Supports up to 10 high-definition images or videos per product, allowing for a comprehensive visual demonstration.</a:t>
            </a:r>
          </a:p>
          <a:p>
            <a:pPr lvl="1"/>
            <a:r>
              <a:rPr lang="en-US" b="1" dirty="0"/>
              <a:t>Collections:</a:t>
            </a:r>
            <a:r>
              <a:rPr lang="en-US" dirty="0"/>
              <a:t> Organizations can categorize products into specific "Collections" (e.g., "New Arrivals," "Best Sellers") to simplify user navigation.</a:t>
            </a:r>
          </a:p>
          <a:p>
            <a:pPr lvl="1"/>
            <a:r>
              <a:rPr lang="en-US" b="1" dirty="0"/>
              <a:t>Technical Constraint (Compliance):</a:t>
            </a:r>
            <a:r>
              <a:rPr lang="en-US" dirty="0"/>
              <a:t> Every item is subject to the </a:t>
            </a:r>
            <a:r>
              <a:rPr lang="en-US" b="1" dirty="0"/>
              <a:t>WhatsApp Commerce Policy</a:t>
            </a:r>
            <a:r>
              <a:rPr lang="en-US" dirty="0"/>
              <a:t>. Products are only visible to customers once they pass an automated review by Meta’s safety systems.</a:t>
            </a:r>
          </a:p>
        </p:txBody>
      </p:sp>
    </p:spTree>
    <p:extLst>
      <p:ext uri="{BB962C8B-B14F-4D97-AF65-F5344CB8AC3E}">
        <p14:creationId xmlns:p14="http://schemas.microsoft.com/office/powerpoint/2010/main" val="43635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F064A2-D16A-458B-9CF3-BD27A4DC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WhatsApp Product Catalog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406A2D-16B5-4FA5-8A71-5E67F0DB6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72" y="863601"/>
            <a:ext cx="9816246" cy="5153530"/>
          </a:xfrm>
        </p:spPr>
      </p:pic>
    </p:spTree>
    <p:extLst>
      <p:ext uri="{BB962C8B-B14F-4D97-AF65-F5344CB8AC3E}">
        <p14:creationId xmlns:p14="http://schemas.microsoft.com/office/powerpoint/2010/main" val="32509646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C2E-83E4-47A3-BD8E-BDD5E96AD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Seamless Shopping and Conversational ROI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E3EC-169F-401A-A020-5F72AA64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In-Chat Browsing:</a:t>
            </a:r>
            <a:r>
              <a:rPr lang="en-US" dirty="0"/>
              <a:t> Customers can browse the entire inventory without leaving the application. This "one-stop" experience reduces the "drop-off" rate often seen when redirecting users to external websites.</a:t>
            </a:r>
          </a:p>
          <a:p>
            <a:endParaRPr lang="en-US" dirty="0"/>
          </a:p>
          <a:p>
            <a:r>
              <a:rPr lang="en-US" b="1" dirty="0"/>
              <a:t>Cart Functionality:</a:t>
            </a:r>
            <a:r>
              <a:rPr lang="en-US" dirty="0"/>
              <a:t> Users can select multiple items from the catalog, add them to a "Cart," and send the entire order as a single message to the business. </a:t>
            </a:r>
          </a:p>
        </p:txBody>
      </p:sp>
    </p:spTree>
    <p:extLst>
      <p:ext uri="{BB962C8B-B14F-4D97-AF65-F5344CB8AC3E}">
        <p14:creationId xmlns:p14="http://schemas.microsoft.com/office/powerpoint/2010/main" val="116016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prashant.parmar@darshan.ac.in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9586371604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/>
          <a:lstStyle/>
          <a:p>
            <a:r>
              <a:rPr lang="en-US" dirty="0"/>
              <a:t>Darshan Institute of Management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Mr. Prashant Parmar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66A088E-6A21-9D52-EC85-F8EBD1B825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22014" y="16125"/>
            <a:ext cx="4796701" cy="734653"/>
          </a:xfrm>
        </p:spPr>
        <p:txBody>
          <a:bodyPr/>
          <a:lstStyle/>
          <a:p>
            <a:r>
              <a:rPr lang="en-US" b="1" dirty="0"/>
              <a:t>Digital Marketing </a:t>
            </a:r>
            <a:r>
              <a:rPr lang="en-US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&amp; SEO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2504MN313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EF6C89B-D841-4C17-8305-CF22BD7582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57" b="134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67651000"/>
      </p:ext>
    </p:extLst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2105CS412_CN_Unit_1_Basics of Computer Network</Template>
  <TotalTime>17059</TotalTime>
  <Words>7008</Words>
  <Application>Microsoft Office PowerPoint</Application>
  <PresentationFormat>Widescreen</PresentationFormat>
  <Paragraphs>721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6" baseType="lpstr">
      <vt:lpstr>Wingdings 3</vt:lpstr>
      <vt:lpstr>Roboto Condensed</vt:lpstr>
      <vt:lpstr>Wingdings</vt:lpstr>
      <vt:lpstr>Calibri</vt:lpstr>
      <vt:lpstr>Roboto Condensed Light</vt:lpstr>
      <vt:lpstr>Arial</vt:lpstr>
      <vt:lpstr>VIdeo Lecture 16x9 Light Template</vt:lpstr>
      <vt:lpstr> Unit 4: Digital Promotions   CO 4: execute promotional strategies using Google Ads, YouTube, and specialized professional platforms.   </vt:lpstr>
      <vt:lpstr>PowerPoint Presentation</vt:lpstr>
      <vt:lpstr>Google Ads</vt:lpstr>
      <vt:lpstr>Introduction to Google Ads</vt:lpstr>
      <vt:lpstr>Google Ads Screenshots</vt:lpstr>
      <vt:lpstr>Types of Google Ads Campaigns</vt:lpstr>
      <vt:lpstr>Types of Google Ads Campaigns (Search Campaigns)</vt:lpstr>
      <vt:lpstr>Types of Google Ads Campaigns (Performance Max (PMax) Campaigns)</vt:lpstr>
      <vt:lpstr>Types of Google Ads Campaigns (Display Campaigns)</vt:lpstr>
      <vt:lpstr>Types of Google Ads Campaigns (Video Campaigns)</vt:lpstr>
      <vt:lpstr>Types of Google Ads Campaigns (Shopping Campaigns)</vt:lpstr>
      <vt:lpstr>Types of Google Ads Campaigns (App Campaigns)</vt:lpstr>
      <vt:lpstr>Types of Google Ads Campaigns (Demand Gen)</vt:lpstr>
      <vt:lpstr>Types of ads Image (Continue…)</vt:lpstr>
      <vt:lpstr>Types of ads Image (Continue…)</vt:lpstr>
      <vt:lpstr>Types of ads Image (Continue…)</vt:lpstr>
      <vt:lpstr>Types of ads Image (Continue…)</vt:lpstr>
      <vt:lpstr>Google ads extensions/asset</vt:lpstr>
      <vt:lpstr>How Do Assets Work? </vt:lpstr>
      <vt:lpstr>Types of Google Ads Assets</vt:lpstr>
      <vt:lpstr>Types of Google Ads Assets (Continue…)</vt:lpstr>
      <vt:lpstr>Types of Google Ads Assets (Continue…)</vt:lpstr>
      <vt:lpstr>Types of Google Ads Assets (Continue…)</vt:lpstr>
      <vt:lpstr>Identify Google Ads Assets (Continue…)</vt:lpstr>
      <vt:lpstr>Identify Google Ads Assets (Continue…)</vt:lpstr>
      <vt:lpstr>Identify Google Ads Assets</vt:lpstr>
      <vt:lpstr>Identify Google Ads Assets (Continue…)</vt:lpstr>
      <vt:lpstr>Google ads campaign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campaign (Continue…)</vt:lpstr>
      <vt:lpstr>Google Ads Bidding</vt:lpstr>
      <vt:lpstr>Google Ads Bidding (Continue…)</vt:lpstr>
      <vt:lpstr>Google Ads Bidding (Continue…)</vt:lpstr>
      <vt:lpstr>Choosing the Right Strategy</vt:lpstr>
      <vt:lpstr>Video Marketing (YouTube)</vt:lpstr>
      <vt:lpstr>Introduction to Video Marketing</vt:lpstr>
      <vt:lpstr>Importance of Video Marketing</vt:lpstr>
      <vt:lpstr>YouTube Advertising Formats</vt:lpstr>
      <vt:lpstr>Types of YouTube Ads (Continue…)</vt:lpstr>
      <vt:lpstr>Types of YouTube Ads (Continue…)</vt:lpstr>
      <vt:lpstr>Types of YouTube Ads (Continue…)</vt:lpstr>
      <vt:lpstr>Types of YouTube Ads (Continue…)</vt:lpstr>
      <vt:lpstr>Types of YouTube Ads (Continue…)</vt:lpstr>
      <vt:lpstr>Types of YouTube Ads (Continue…)</vt:lpstr>
      <vt:lpstr>YouTube Setup</vt:lpstr>
      <vt:lpstr>YouTube Setup (Continue…)</vt:lpstr>
      <vt:lpstr>YouTube Analytics</vt:lpstr>
      <vt:lpstr>YouTube Analytics (Continue…)</vt:lpstr>
      <vt:lpstr>Advantage of YouTube marketing</vt:lpstr>
      <vt:lpstr>Disadvantages of YouTube Marketing</vt:lpstr>
      <vt:lpstr>Top YouTube Marketing Trends</vt:lpstr>
      <vt:lpstr>Reference links </vt:lpstr>
      <vt:lpstr>Email Marketing</vt:lpstr>
      <vt:lpstr>Introduction to Email Marketing</vt:lpstr>
      <vt:lpstr>Importance of Email Marketing</vt:lpstr>
      <vt:lpstr>Importance of Email Marketing</vt:lpstr>
      <vt:lpstr>Types of Email marketing</vt:lpstr>
      <vt:lpstr>Email Marketing Campaign</vt:lpstr>
      <vt:lpstr>Email Marketing Analytics</vt:lpstr>
      <vt:lpstr>LinkedIn</vt:lpstr>
      <vt:lpstr>Introduction to LinkedIn</vt:lpstr>
      <vt:lpstr>LinkedIn objective</vt:lpstr>
      <vt:lpstr>Profile Optimization &amp; Content Strategy</vt:lpstr>
      <vt:lpstr>LinkedIn Ads Formats &amp; Analytics (Sponsored Content )</vt:lpstr>
      <vt:lpstr>LinkedIn Ads Formats &amp; Analytics (Sponsored Content ) Continue…</vt:lpstr>
      <vt:lpstr>LinkedIn Ads Formats &amp; Analytics (Sponsored Content ) Continue…</vt:lpstr>
      <vt:lpstr>LinkedIn Ads Formats &amp; Analytics (Sponsored Message)</vt:lpstr>
      <vt:lpstr>LinkedIn Ads Formats &amp; Analytics (Dynamic &amp; Sidebar Ads)</vt:lpstr>
      <vt:lpstr>LinkedIn Ads Formats &amp; Analytics (Lead Gen Forms)</vt:lpstr>
      <vt:lpstr>Snapchat</vt:lpstr>
      <vt:lpstr>Introduction to Snapchat Marketing</vt:lpstr>
      <vt:lpstr>Snap chat ads manager</vt:lpstr>
      <vt:lpstr>Story Ads</vt:lpstr>
      <vt:lpstr>Snapchat Ads</vt:lpstr>
      <vt:lpstr>Snapchat Ads (Continue…)</vt:lpstr>
      <vt:lpstr>Snapchat Ads (Continue…)</vt:lpstr>
      <vt:lpstr>X (Formally Twitter)</vt:lpstr>
      <vt:lpstr>Introduction to X Marketing</vt:lpstr>
      <vt:lpstr>Objectives of X Marketing</vt:lpstr>
      <vt:lpstr>X Marketing Strategy</vt:lpstr>
      <vt:lpstr>X Marketing Strategy (Continue…)</vt:lpstr>
      <vt:lpstr>X Marketing Strategy (Continue…)</vt:lpstr>
      <vt:lpstr>X Marketing Strategy (Continue…)</vt:lpstr>
      <vt:lpstr>X Advertising / Twitter Ads</vt:lpstr>
      <vt:lpstr>Basic X Advertising Process</vt:lpstr>
      <vt:lpstr>WhatsApp for Business</vt:lpstr>
      <vt:lpstr>WhatsApp</vt:lpstr>
      <vt:lpstr>WhatsApp Versions</vt:lpstr>
      <vt:lpstr>Product Catalog Management</vt:lpstr>
      <vt:lpstr>WhatsApp Product Catalog </vt:lpstr>
      <vt:lpstr>Seamless Shopping and Conversational ROI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prashant parmar</cp:lastModifiedBy>
  <cp:revision>644</cp:revision>
  <dcterms:created xsi:type="dcterms:W3CDTF">2020-05-01T05:09:15Z</dcterms:created>
  <dcterms:modified xsi:type="dcterms:W3CDTF">2026-09-21T05:55:25Z</dcterms:modified>
</cp:coreProperties>
</file>