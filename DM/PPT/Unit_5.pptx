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2" r:id="rId1"/>
  </p:sldMasterIdLst>
  <p:notesMasterIdLst>
    <p:notesMasterId r:id="rId28"/>
  </p:notesMasterIdLst>
  <p:handoutMasterIdLst>
    <p:handoutMasterId r:id="rId29"/>
  </p:handoutMasterIdLst>
  <p:sldIdLst>
    <p:sldId id="283" r:id="rId2"/>
    <p:sldId id="447" r:id="rId3"/>
    <p:sldId id="467" r:id="rId4"/>
    <p:sldId id="258" r:id="rId5"/>
    <p:sldId id="479" r:id="rId6"/>
    <p:sldId id="480" r:id="rId7"/>
    <p:sldId id="481" r:id="rId8"/>
    <p:sldId id="482" r:id="rId9"/>
    <p:sldId id="483" r:id="rId10"/>
    <p:sldId id="484" r:id="rId11"/>
    <p:sldId id="473" r:id="rId12"/>
    <p:sldId id="485" r:id="rId13"/>
    <p:sldId id="486" r:id="rId14"/>
    <p:sldId id="487" r:id="rId15"/>
    <p:sldId id="476" r:id="rId16"/>
    <p:sldId id="488" r:id="rId17"/>
    <p:sldId id="474" r:id="rId18"/>
    <p:sldId id="477" r:id="rId19"/>
    <p:sldId id="489" r:id="rId20"/>
    <p:sldId id="490" r:id="rId21"/>
    <p:sldId id="491" r:id="rId22"/>
    <p:sldId id="475" r:id="rId23"/>
    <p:sldId id="492" r:id="rId24"/>
    <p:sldId id="493" r:id="rId25"/>
    <p:sldId id="494" r:id="rId26"/>
    <p:sldId id="345" r:id="rId27"/>
  </p:sldIdLst>
  <p:sldSz cx="12192000" cy="6858000"/>
  <p:notesSz cx="6858000" cy="9144000"/>
  <p:embeddedFontLst>
    <p:embeddedFont>
      <p:font typeface="Calibri" panose="020F0502020204030204" pitchFamily="34" charset="0"/>
      <p:regular r:id="rId30"/>
      <p:bold r:id="rId31"/>
      <p:italic r:id="rId32"/>
      <p:boldItalic r:id="rId33"/>
    </p:embeddedFont>
    <p:embeddedFont>
      <p:font typeface="Roboto Condensed" panose="02000000000000000000" pitchFamily="2" charset="0"/>
      <p:regular r:id="rId34"/>
      <p:bold r:id="rId35"/>
      <p:italic r:id="rId36"/>
      <p:boldItalic r:id="rId37"/>
    </p:embeddedFont>
    <p:embeddedFont>
      <p:font typeface="Roboto Condensed Light" panose="02000000000000000000" pitchFamily="2" charset="0"/>
      <p:regular r:id="rId38"/>
      <p:bold r:id="rId39"/>
      <p:italic r:id="rId40"/>
      <p:boldItalic r:id="rId41"/>
    </p:embeddedFont>
    <p:embeddedFont>
      <p:font typeface="Wingdings 3" panose="05040102010807070707" pitchFamily="18" charset="2"/>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801A032-DF04-D542-AF03-FB576A7ADED9}">
          <p14:sldIdLst>
            <p14:sldId id="283"/>
            <p14:sldId id="447"/>
            <p14:sldId id="467"/>
            <p14:sldId id="258"/>
            <p14:sldId id="479"/>
            <p14:sldId id="480"/>
            <p14:sldId id="481"/>
            <p14:sldId id="482"/>
            <p14:sldId id="483"/>
            <p14:sldId id="484"/>
            <p14:sldId id="473"/>
            <p14:sldId id="485"/>
            <p14:sldId id="486"/>
            <p14:sldId id="487"/>
            <p14:sldId id="476"/>
            <p14:sldId id="488"/>
            <p14:sldId id="474"/>
            <p14:sldId id="477"/>
            <p14:sldId id="489"/>
            <p14:sldId id="490"/>
            <p14:sldId id="491"/>
            <p14:sldId id="475"/>
            <p14:sldId id="492"/>
            <p14:sldId id="493"/>
            <p14:sldId id="494"/>
            <p14:sldId id="34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CFF"/>
    <a:srgbClr val="EDF0FC"/>
    <a:srgbClr val="3399FF"/>
    <a:srgbClr val="301B92"/>
    <a:srgbClr val="673BB7"/>
    <a:srgbClr val="607D8B"/>
    <a:srgbClr val="ED524F"/>
    <a:srgbClr val="B71B1C"/>
    <a:srgbClr val="F54337"/>
    <a:srgbClr val="D81A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notesViewPr>
    <p:cSldViewPr snapToGrid="0">
      <p:cViewPr varScale="1">
        <p:scale>
          <a:sx n="97" d="100"/>
          <a:sy n="97" d="100"/>
        </p:scale>
        <p:origin x="3688"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167497-6C63-3B9D-01ED-0ED2D567C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2346605-F242-407E-CD28-58546B9017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4DF528-62A2-A648-BB90-693EA07704A6}" type="datetimeFigureOut">
              <a:rPr lang="en-US" smtClean="0"/>
              <a:t>9/21/2026</a:t>
            </a:fld>
            <a:endParaRPr lang="en-US"/>
          </a:p>
        </p:txBody>
      </p:sp>
      <p:sp>
        <p:nvSpPr>
          <p:cNvPr id="4" name="Footer Placeholder 3">
            <a:extLst>
              <a:ext uri="{FF2B5EF4-FFF2-40B4-BE49-F238E27FC236}">
                <a16:creationId xmlns:a16="http://schemas.microsoft.com/office/drawing/2014/main" id="{C5490F15-0AF7-792D-6028-22E97290FA6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5D53349-F41C-DB6A-857A-395EB2E073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40CAEB-34EF-394E-B2B5-44CDCC70A0E7}" type="slidenum">
              <a:rPr lang="en-US" smtClean="0"/>
              <a:t>‹#›</a:t>
            </a:fld>
            <a:endParaRPr lang="en-US"/>
          </a:p>
        </p:txBody>
      </p:sp>
    </p:spTree>
    <p:extLst>
      <p:ext uri="{BB962C8B-B14F-4D97-AF65-F5344CB8AC3E}">
        <p14:creationId xmlns:p14="http://schemas.microsoft.com/office/powerpoint/2010/main" val="2375487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9/21/2026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Gif</a:t>
            </a:r>
            <a:r>
              <a:rPr lang="en-US" baseline="0" dirty="0"/>
              <a:t> Reference: https://encrypted-tbn0.gstatic.com/images?q=tbn:ANd9GcSAgZS4gjlCFFF0V6V5onMupHdGRdFzYKQ20eUOjLXQ&amp;s</a:t>
            </a:r>
            <a:endParaRPr lang="en-IN" dirty="0"/>
          </a:p>
          <a:p>
            <a:endParaRPr lang="en-IN" dirty="0"/>
          </a:p>
        </p:txBody>
      </p:sp>
      <p:sp>
        <p:nvSpPr>
          <p:cNvPr id="4" name="Slide Number Placeholder 3"/>
          <p:cNvSpPr>
            <a:spLocks noGrp="1"/>
          </p:cNvSpPr>
          <p:nvPr>
            <p:ph type="sldNum" sz="quarter" idx="10"/>
          </p:nvPr>
        </p:nvSpPr>
        <p:spPr/>
        <p:txBody>
          <a:bodyPr/>
          <a:lstStyle/>
          <a:p>
            <a:fld id="{EFBE1D88-AA76-442E-88A9-1A7935C108D4}" type="slidenum">
              <a:rPr lang="en-IN" smtClean="0"/>
              <a:t>3</a:t>
            </a:fld>
            <a:endParaRPr lang="en-IN"/>
          </a:p>
        </p:txBody>
      </p:sp>
    </p:spTree>
    <p:extLst>
      <p:ext uri="{BB962C8B-B14F-4D97-AF65-F5344CB8AC3E}">
        <p14:creationId xmlns:p14="http://schemas.microsoft.com/office/powerpoint/2010/main" val="31067975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Gif</a:t>
            </a:r>
            <a:r>
              <a:rPr lang="en-US" baseline="0" dirty="0"/>
              <a:t> Reference: https://encrypted-tbn0.gstatic.com/images?q=tbn:ANd9GcSAgZS4gjlCFFF0V6V5onMupHdGRdFzYKQ20eUOjLXQ&amp;s</a:t>
            </a:r>
            <a:endParaRPr lang="en-IN" dirty="0"/>
          </a:p>
          <a:p>
            <a:endParaRPr lang="en-IN" dirty="0"/>
          </a:p>
        </p:txBody>
      </p:sp>
      <p:sp>
        <p:nvSpPr>
          <p:cNvPr id="4" name="Slide Number Placeholder 3"/>
          <p:cNvSpPr>
            <a:spLocks noGrp="1"/>
          </p:cNvSpPr>
          <p:nvPr>
            <p:ph type="sldNum" sz="quarter" idx="10"/>
          </p:nvPr>
        </p:nvSpPr>
        <p:spPr/>
        <p:txBody>
          <a:bodyPr/>
          <a:lstStyle/>
          <a:p>
            <a:fld id="{EFBE1D88-AA76-442E-88A9-1A7935C108D4}" type="slidenum">
              <a:rPr lang="en-IN" smtClean="0"/>
              <a:t>11</a:t>
            </a:fld>
            <a:endParaRPr lang="en-IN"/>
          </a:p>
        </p:txBody>
      </p:sp>
    </p:spTree>
    <p:extLst>
      <p:ext uri="{BB962C8B-B14F-4D97-AF65-F5344CB8AC3E}">
        <p14:creationId xmlns:p14="http://schemas.microsoft.com/office/powerpoint/2010/main" val="11445035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Gif</a:t>
            </a:r>
            <a:r>
              <a:rPr lang="en-US" baseline="0" dirty="0"/>
              <a:t> Reference: https://encrypted-tbn0.gstatic.com/images?q=tbn:ANd9GcSAgZS4gjlCFFF0V6V5onMupHdGRdFzYKQ20eUOjLXQ&amp;s</a:t>
            </a:r>
            <a:endParaRPr lang="en-IN" dirty="0"/>
          </a:p>
          <a:p>
            <a:endParaRPr lang="en-IN" dirty="0"/>
          </a:p>
        </p:txBody>
      </p:sp>
      <p:sp>
        <p:nvSpPr>
          <p:cNvPr id="4" name="Slide Number Placeholder 3"/>
          <p:cNvSpPr>
            <a:spLocks noGrp="1"/>
          </p:cNvSpPr>
          <p:nvPr>
            <p:ph type="sldNum" sz="quarter" idx="10"/>
          </p:nvPr>
        </p:nvSpPr>
        <p:spPr/>
        <p:txBody>
          <a:bodyPr/>
          <a:lstStyle/>
          <a:p>
            <a:fld id="{EFBE1D88-AA76-442E-88A9-1A7935C108D4}" type="slidenum">
              <a:rPr lang="en-IN" smtClean="0"/>
              <a:t>17</a:t>
            </a:fld>
            <a:endParaRPr lang="en-IN"/>
          </a:p>
        </p:txBody>
      </p:sp>
    </p:spTree>
    <p:extLst>
      <p:ext uri="{BB962C8B-B14F-4D97-AF65-F5344CB8AC3E}">
        <p14:creationId xmlns:p14="http://schemas.microsoft.com/office/powerpoint/2010/main" val="1473434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Gif</a:t>
            </a:r>
            <a:r>
              <a:rPr lang="en-US" baseline="0" dirty="0"/>
              <a:t> Reference: https://encrypted-tbn0.gstatic.com/images?q=tbn:ANd9GcSAgZS4gjlCFFF0V6V5onMupHdGRdFzYKQ20eUOjLXQ&amp;s</a:t>
            </a:r>
            <a:endParaRPr lang="en-IN" dirty="0"/>
          </a:p>
          <a:p>
            <a:endParaRPr lang="en-IN" dirty="0"/>
          </a:p>
        </p:txBody>
      </p:sp>
      <p:sp>
        <p:nvSpPr>
          <p:cNvPr id="4" name="Slide Number Placeholder 3"/>
          <p:cNvSpPr>
            <a:spLocks noGrp="1"/>
          </p:cNvSpPr>
          <p:nvPr>
            <p:ph type="sldNum" sz="quarter" idx="10"/>
          </p:nvPr>
        </p:nvSpPr>
        <p:spPr/>
        <p:txBody>
          <a:bodyPr/>
          <a:lstStyle/>
          <a:p>
            <a:fld id="{EFBE1D88-AA76-442E-88A9-1A7935C108D4}" type="slidenum">
              <a:rPr lang="en-IN" smtClean="0"/>
              <a:t>22</a:t>
            </a:fld>
            <a:endParaRPr lang="en-IN"/>
          </a:p>
        </p:txBody>
      </p:sp>
    </p:spTree>
    <p:extLst>
      <p:ext uri="{BB962C8B-B14F-4D97-AF65-F5344CB8AC3E}">
        <p14:creationId xmlns:p14="http://schemas.microsoft.com/office/powerpoint/2010/main" val="26553030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2.wdp"/><Relationship Id="rId9" Type="http://schemas.microsoft.com/office/2007/relationships/hdphoto" Target="../media/hdphoto1.wdp"/></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jpeg"/><Relationship Id="rId11" Type="http://schemas.openxmlformats.org/officeDocument/2006/relationships/image" Target="../media/image16.png"/><Relationship Id="rId5" Type="http://schemas.openxmlformats.org/officeDocument/2006/relationships/image" Target="../media/image11.png"/><Relationship Id="rId10" Type="http://schemas.microsoft.com/office/2007/relationships/hdphoto" Target="../media/hdphoto4.wdp"/><Relationship Id="rId4" Type="http://schemas.openxmlformats.org/officeDocument/2006/relationships/image" Target="../media/image10.png"/><Relationship Id="rId9"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6.png"/><Relationship Id="rId7" Type="http://schemas.microsoft.com/office/2007/relationships/hdphoto" Target="../media/hdphoto5.wdp"/><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Maulik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D. Trivedi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#2105CS412(CN)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of Computer Network</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Rectangle: Rounded Corners 16">
            <a:extLst>
              <a:ext uri="{FF2B5EF4-FFF2-40B4-BE49-F238E27FC236}">
                <a16:creationId xmlns:a16="http://schemas.microsoft.com/office/drawing/2014/main" id="{A0E5757A-626F-9E90-EB72-AEFA31AC574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1">
            <a:extLst>
              <a:ext uri="{FF2B5EF4-FFF2-40B4-BE49-F238E27FC236}">
                <a16:creationId xmlns:a16="http://schemas.microsoft.com/office/drawing/2014/main" id="{8A52970D-1B8D-45B2-FED4-AA035898E9F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Mr. Prashant Parmar</a:t>
            </a:r>
          </a:p>
        </p:txBody>
      </p:sp>
      <p:sp>
        <p:nvSpPr>
          <p:cNvPr id="6" name="Footer Placeholder 2">
            <a:extLst>
              <a:ext uri="{FF2B5EF4-FFF2-40B4-BE49-F238E27FC236}">
                <a16:creationId xmlns:a16="http://schemas.microsoft.com/office/drawing/2014/main" id="{8E6A207D-27E7-9773-4C8C-30A9C4104890}"/>
              </a:ext>
            </a:extLst>
          </p:cNvPr>
          <p:cNvSpPr txBox="1">
            <a:spLocks/>
          </p:cNvSpPr>
          <p:nvPr userDrawn="1"/>
        </p:nvSpPr>
        <p:spPr>
          <a:xfrm>
            <a:off x="4038599" y="6604000"/>
            <a:ext cx="5406615"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#2505CS313 (DM &amp; SEO)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dirty="0"/>
              <a:t>Search Engine Optimization (SEO) </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7" name="Slide Number Placeholder 3">
            <a:extLst>
              <a:ext uri="{FF2B5EF4-FFF2-40B4-BE49-F238E27FC236}">
                <a16:creationId xmlns:a16="http://schemas.microsoft.com/office/drawing/2014/main" id="{5C3F630E-0737-1001-153E-EBCFAD739007}"/>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bg2">
                    <a:lumMod val="50000"/>
                  </a:schemeClr>
                </a:solidFill>
                <a:latin typeface="+mn-lt"/>
              </a:rPr>
              <a:pPr/>
              <a:t>‹#›</a:t>
            </a:fld>
            <a:endParaRPr lang="en-US" b="0" dirty="0">
              <a:solidFill>
                <a:schemeClr val="bg2">
                  <a:lumMod val="50000"/>
                </a:schemeClr>
              </a:solidFill>
              <a:latin typeface="+mn-lt"/>
            </a:endParaRPr>
          </a:p>
        </p:txBody>
      </p:sp>
      <p:pic>
        <p:nvPicPr>
          <p:cNvPr id="8" name="Shape 56">
            <a:extLst>
              <a:ext uri="{FF2B5EF4-FFF2-40B4-BE49-F238E27FC236}">
                <a16:creationId xmlns:a16="http://schemas.microsoft.com/office/drawing/2014/main" id="{528A20EE-6320-A145-2D8C-D1665FC0099E}"/>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9" name="Straight Connector 8">
            <a:extLst>
              <a:ext uri="{FF2B5EF4-FFF2-40B4-BE49-F238E27FC236}">
                <a16:creationId xmlns:a16="http://schemas.microsoft.com/office/drawing/2014/main" id="{CC816A36-57ED-3600-A522-E042E8EE539E}"/>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9DA6401-5849-8984-FC24-478D5C973CD1}"/>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2238328-08EA-AB24-DB03-4BFDC7A6035C}"/>
              </a:ext>
            </a:extLst>
          </p:cNvPr>
          <p:cNvPicPr>
            <a:picLocks noChangeAspect="1"/>
          </p:cNvPicPr>
          <p:nvPr userDrawn="1"/>
        </p:nvPicPr>
        <p:blipFill>
          <a:blip r:embed="rId4" cstate="hqprint">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0408644" y="6026765"/>
            <a:ext cx="1652177" cy="502240"/>
          </a:xfrm>
          <a:prstGeom prst="rect">
            <a:avLst/>
          </a:prstGeom>
        </p:spPr>
      </p:pic>
    </p:spTree>
    <p:extLst>
      <p:ext uri="{BB962C8B-B14F-4D97-AF65-F5344CB8AC3E}">
        <p14:creationId xmlns:p14="http://schemas.microsoft.com/office/powerpoint/2010/main" val="1165859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Maulik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D. Trivedi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#2105CS412(CN)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of Computer Network</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Rectangle: Rounded Corners 16">
            <a:extLst>
              <a:ext uri="{FF2B5EF4-FFF2-40B4-BE49-F238E27FC236}">
                <a16:creationId xmlns:a16="http://schemas.microsoft.com/office/drawing/2014/main" id="{A0E5757A-626F-9E90-EB72-AEFA31AC574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1">
            <a:extLst>
              <a:ext uri="{FF2B5EF4-FFF2-40B4-BE49-F238E27FC236}">
                <a16:creationId xmlns:a16="http://schemas.microsoft.com/office/drawing/2014/main" id="{8A52970D-1B8D-45B2-FED4-AA035898E9F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Mr. Prashant Parmar</a:t>
            </a:r>
          </a:p>
        </p:txBody>
      </p:sp>
      <p:sp>
        <p:nvSpPr>
          <p:cNvPr id="6" name="Footer Placeholder 2">
            <a:extLst>
              <a:ext uri="{FF2B5EF4-FFF2-40B4-BE49-F238E27FC236}">
                <a16:creationId xmlns:a16="http://schemas.microsoft.com/office/drawing/2014/main" id="{8E6A207D-27E7-9773-4C8C-30A9C4104890}"/>
              </a:ext>
            </a:extLst>
          </p:cNvPr>
          <p:cNvSpPr txBox="1">
            <a:spLocks/>
          </p:cNvSpPr>
          <p:nvPr userDrawn="1"/>
        </p:nvSpPr>
        <p:spPr>
          <a:xfrm>
            <a:off x="4038599" y="6604000"/>
            <a:ext cx="5406615"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#2505CS313 (DM &amp; SEO)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dirty="0"/>
              <a:t>Digital Promotions</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7" name="Slide Number Placeholder 3">
            <a:extLst>
              <a:ext uri="{FF2B5EF4-FFF2-40B4-BE49-F238E27FC236}">
                <a16:creationId xmlns:a16="http://schemas.microsoft.com/office/drawing/2014/main" id="{5C3F630E-0737-1001-153E-EBCFAD739007}"/>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bg2">
                    <a:lumMod val="50000"/>
                  </a:schemeClr>
                </a:solidFill>
                <a:latin typeface="+mn-lt"/>
              </a:rPr>
              <a:pPr/>
              <a:t>‹#›</a:t>
            </a:fld>
            <a:endParaRPr lang="en-US" b="0" dirty="0">
              <a:solidFill>
                <a:schemeClr val="bg2">
                  <a:lumMod val="50000"/>
                </a:schemeClr>
              </a:solidFill>
              <a:latin typeface="+mn-lt"/>
            </a:endParaRPr>
          </a:p>
        </p:txBody>
      </p:sp>
      <p:pic>
        <p:nvPicPr>
          <p:cNvPr id="8" name="Shape 56">
            <a:extLst>
              <a:ext uri="{FF2B5EF4-FFF2-40B4-BE49-F238E27FC236}">
                <a16:creationId xmlns:a16="http://schemas.microsoft.com/office/drawing/2014/main" id="{528A20EE-6320-A145-2D8C-D1665FC0099E}"/>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9" name="Straight Connector 8">
            <a:extLst>
              <a:ext uri="{FF2B5EF4-FFF2-40B4-BE49-F238E27FC236}">
                <a16:creationId xmlns:a16="http://schemas.microsoft.com/office/drawing/2014/main" id="{CC816A36-57ED-3600-A522-E042E8EE539E}"/>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9DA6401-5849-8984-FC24-478D5C973CD1}"/>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2238328-08EA-AB24-DB03-4BFDC7A6035C}"/>
              </a:ext>
            </a:extLst>
          </p:cNvPr>
          <p:cNvPicPr>
            <a:picLocks noChangeAspect="1"/>
          </p:cNvPicPr>
          <p:nvPr userDrawn="1"/>
        </p:nvPicPr>
        <p:blipFill>
          <a:blip r:embed="rId4" cstate="hqprint">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31179" y="6026765"/>
            <a:ext cx="1652177" cy="502240"/>
          </a:xfrm>
          <a:prstGeom prst="rect">
            <a:avLst/>
          </a:prstGeom>
        </p:spPr>
      </p:pic>
    </p:spTree>
    <p:extLst>
      <p:ext uri="{BB962C8B-B14F-4D97-AF65-F5344CB8AC3E}">
        <p14:creationId xmlns:p14="http://schemas.microsoft.com/office/powerpoint/2010/main" val="686068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rc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a:noFill/>
        </p:spPr>
        <p:txBody>
          <a:bodyPr anchor="b">
            <a:normAutofit/>
          </a:bodyPr>
          <a:lstStyle>
            <a:lvl1pPr>
              <a:defRPr lang="en-US" sz="60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5"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4" name="Picture 3">
            <a:extLst>
              <a:ext uri="{FF2B5EF4-FFF2-40B4-BE49-F238E27FC236}">
                <a16:creationId xmlns:a16="http://schemas.microsoft.com/office/drawing/2014/main" id="{C6AEF3D5-CEE3-174A-C4FB-8DD8AF8D1FBB}"/>
              </a:ext>
            </a:extLst>
          </p:cNvPr>
          <p:cNvPicPr>
            <a:picLocks noChangeAspect="1"/>
          </p:cNvPicPr>
          <p:nvPr userDrawn="1"/>
        </p:nvPicPr>
        <p:blipFill rotWithShape="1">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5" name="Picture 4">
            <a:extLst>
              <a:ext uri="{FF2B5EF4-FFF2-40B4-BE49-F238E27FC236}">
                <a16:creationId xmlns:a16="http://schemas.microsoft.com/office/drawing/2014/main" id="{39DD5D89-BABA-FF4D-D627-40AE8B25CAC9}"/>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pic>
        <p:nvPicPr>
          <p:cNvPr id="7" name="Picture 6">
            <a:extLst>
              <a:ext uri="{FF2B5EF4-FFF2-40B4-BE49-F238E27FC236}">
                <a16:creationId xmlns:a16="http://schemas.microsoft.com/office/drawing/2014/main" id="{F8285B94-643E-B844-456B-FD4303B79844}"/>
              </a:ext>
            </a:extLst>
          </p:cNvPr>
          <p:cNvPicPr>
            <a:picLocks noChangeAspect="1"/>
          </p:cNvPicPr>
          <p:nvPr userDrawn="1"/>
        </p:nvPicPr>
        <p:blipFill>
          <a:blip r:embed="rId8" cstate="hqprint">
            <a:extLst>
              <a:ext uri="{BEBA8EAE-BF5A-486C-A8C5-ECC9F3942E4B}">
                <a14:imgProps xmlns:a14="http://schemas.microsoft.com/office/drawing/2010/main">
                  <a14:imgLayer r:embed="rId9">
                    <a14:imgEffect>
                      <a14:artisticPhotocopy/>
                    </a14:imgEffect>
                  </a14:imgLayer>
                </a14:imgProps>
              </a:ext>
              <a:ext uri="{28A0092B-C50C-407E-A947-70E740481C1C}">
                <a14:useLocalDpi xmlns:a14="http://schemas.microsoft.com/office/drawing/2010/main" val="0"/>
              </a:ext>
            </a:extLst>
          </a:blip>
          <a:stretch>
            <a:fillRect/>
          </a:stretch>
        </p:blipFill>
        <p:spPr>
          <a:xfrm>
            <a:off x="10331370" y="6194192"/>
            <a:ext cx="1652177" cy="502240"/>
          </a:xfrm>
          <a:prstGeom prst="rect">
            <a:avLst/>
          </a:prstGeom>
        </p:spPr>
      </p:pic>
    </p:spTree>
    <p:extLst>
      <p:ext uri="{BB962C8B-B14F-4D97-AF65-F5344CB8AC3E}">
        <p14:creationId xmlns:p14="http://schemas.microsoft.com/office/powerpoint/2010/main" val="4063555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 name="Rectangle: Rounded Corners 10">
            <a:extLst>
              <a:ext uri="{FF2B5EF4-FFF2-40B4-BE49-F238E27FC236}">
                <a16:creationId xmlns:a16="http://schemas.microsoft.com/office/drawing/2014/main" id="{6ACFA91B-F553-200F-0073-5444ABFE0475}"/>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1">
            <a:extLst>
              <a:ext uri="{FF2B5EF4-FFF2-40B4-BE49-F238E27FC236}">
                <a16:creationId xmlns:a16="http://schemas.microsoft.com/office/drawing/2014/main" id="{86B422CE-C616-7E33-D063-9FFF0DEB3B7A}"/>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Mr. Prashant Parmar</a:t>
            </a:r>
          </a:p>
        </p:txBody>
      </p:sp>
      <p:sp>
        <p:nvSpPr>
          <p:cNvPr id="4" name="Slide Number Placeholder 3">
            <a:extLst>
              <a:ext uri="{FF2B5EF4-FFF2-40B4-BE49-F238E27FC236}">
                <a16:creationId xmlns:a16="http://schemas.microsoft.com/office/drawing/2014/main" id="{C1026564-E7BB-67DB-5DFF-A2BA8FDE12D4}"/>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bg2">
                    <a:lumMod val="50000"/>
                  </a:schemeClr>
                </a:solidFill>
                <a:latin typeface="+mn-lt"/>
              </a:rPr>
              <a:pPr/>
              <a:t>‹#›</a:t>
            </a:fld>
            <a:endParaRPr lang="en-US" b="0" dirty="0">
              <a:solidFill>
                <a:schemeClr val="bg2">
                  <a:lumMod val="50000"/>
                </a:schemeClr>
              </a:solidFill>
              <a:latin typeface="+mn-lt"/>
            </a:endParaRPr>
          </a:p>
        </p:txBody>
      </p:sp>
      <p:cxnSp>
        <p:nvCxnSpPr>
          <p:cNvPr id="5" name="Straight Connector 4">
            <a:extLst>
              <a:ext uri="{FF2B5EF4-FFF2-40B4-BE49-F238E27FC236}">
                <a16:creationId xmlns:a16="http://schemas.microsoft.com/office/drawing/2014/main" id="{B24C1DD5-F381-005B-0FC3-D09599906A7C}"/>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F34E65D-34E2-B986-E813-9E82CFF88956}"/>
              </a:ext>
            </a:extLst>
          </p:cNvPr>
          <p:cNvPicPr>
            <a:picLocks noChangeAspect="1"/>
          </p:cNvPicPr>
          <p:nvPr userDrawn="1"/>
        </p:nvPicPr>
        <p:blipFill>
          <a:blip r:embed="rId2" cstate="hqprint">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0408644" y="6026765"/>
            <a:ext cx="1652177" cy="502240"/>
          </a:xfrm>
          <a:prstGeom prst="rect">
            <a:avLst/>
          </a:prstGeom>
        </p:spPr>
      </p:pic>
      <p:sp>
        <p:nvSpPr>
          <p:cNvPr id="7" name="Footer Placeholder 2">
            <a:extLst>
              <a:ext uri="{FF2B5EF4-FFF2-40B4-BE49-F238E27FC236}">
                <a16:creationId xmlns:a16="http://schemas.microsoft.com/office/drawing/2014/main" id="{2683CD5F-BAC8-CACA-13AA-AEE36B1226C9}"/>
              </a:ext>
            </a:extLst>
          </p:cNvPr>
          <p:cNvSpPr txBox="1">
            <a:spLocks/>
          </p:cNvSpPr>
          <p:nvPr userDrawn="1"/>
        </p:nvSpPr>
        <p:spPr>
          <a:xfrm>
            <a:off x="4038599" y="6604000"/>
            <a:ext cx="5352827"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#2505CS313 (DM &amp; SEO)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dirty="0"/>
              <a:t>Search Engine Optimization (SEO) </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166935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GB" dirty="0"/>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p:nvPicPr>
        <p:blipFill>
          <a:blip r:embed="rId7"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GB" dirty="0"/>
              <a:t>Click icon to add picture</a:t>
            </a:r>
            <a:endParaRPr lang="en-US" dirty="0"/>
          </a:p>
        </p:txBody>
      </p:sp>
      <p:pic>
        <p:nvPicPr>
          <p:cNvPr id="4" name="Picture 3">
            <a:extLst>
              <a:ext uri="{FF2B5EF4-FFF2-40B4-BE49-F238E27FC236}">
                <a16:creationId xmlns:a16="http://schemas.microsoft.com/office/drawing/2014/main" id="{DC31E58F-1F16-7113-98CC-E351FD2C4EF3}"/>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379541" y="221286"/>
            <a:ext cx="2429517" cy="738541"/>
          </a:xfrm>
          <a:prstGeom prst="rect">
            <a:avLst/>
          </a:prstGeom>
        </p:spPr>
      </p:pic>
      <p:pic>
        <p:nvPicPr>
          <p:cNvPr id="6" name="Picture 5">
            <a:extLst>
              <a:ext uri="{FF2B5EF4-FFF2-40B4-BE49-F238E27FC236}">
                <a16:creationId xmlns:a16="http://schemas.microsoft.com/office/drawing/2014/main" id="{51B8F677-2BEE-E410-A927-6BBF62BB8A76}"/>
              </a:ext>
            </a:extLst>
          </p:cNvPr>
          <p:cNvPicPr>
            <a:picLocks noChangeAspect="1"/>
          </p:cNvPicPr>
          <p:nvPr userDrawn="1"/>
        </p:nvPicPr>
        <p:blipFill rotWithShape="1">
          <a:blip r:embed="rId9" cstate="print">
            <a:extLst>
              <a:ext uri="{BEBA8EAE-BF5A-486C-A8C5-ECC9F3942E4B}">
                <a14:imgProps xmlns:a14="http://schemas.microsoft.com/office/drawing/2010/main">
                  <a14:imgLayer r:embed="rId10">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pic>
        <p:nvPicPr>
          <p:cNvPr id="5" name="Picture 2" descr="Best Digital Marketing Agency India | Top Digital Marketing Company India">
            <a:extLst>
              <a:ext uri="{FF2B5EF4-FFF2-40B4-BE49-F238E27FC236}">
                <a16:creationId xmlns:a16="http://schemas.microsoft.com/office/drawing/2014/main" id="{87B51A84-0CAF-0E79-6BD4-2B660E2FA0B6}"/>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8808334" y="1361993"/>
            <a:ext cx="2429517" cy="2099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342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1447832" cy="338554"/>
          </a:xfrm>
          <a:prstGeom prst="rect">
            <a:avLst/>
          </a:prstGeom>
          <a:noFill/>
        </p:spPr>
        <p:txBody>
          <a:bodyPr wrap="none" rtlCol="0">
            <a:spAutoFit/>
          </a:bodyPr>
          <a:lstStyle/>
          <a:p>
            <a:r>
              <a:rPr lang="en-US" sz="1600" dirty="0"/>
              <a:t>Darshan,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42" name="Rectangle 41"/>
          <p:cNvSpPr/>
          <p:nvPr userDrawn="1"/>
        </p:nvSpPr>
        <p:spPr>
          <a:xfrm>
            <a:off x="0" y="2221532"/>
            <a:ext cx="4402106"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pic>
        <p:nvPicPr>
          <p:cNvPr id="2" name="Picture 1">
            <a:extLst>
              <a:ext uri="{FF2B5EF4-FFF2-40B4-BE49-F238E27FC236}">
                <a16:creationId xmlns:a16="http://schemas.microsoft.com/office/drawing/2014/main" id="{9F28A54A-6576-43EC-B296-5FCA8F873C3B}"/>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9401577" y="322336"/>
            <a:ext cx="2429517" cy="738541"/>
          </a:xfrm>
          <a:prstGeom prst="rect">
            <a:avLst/>
          </a:prstGeom>
        </p:spPr>
      </p:pic>
    </p:spTree>
    <p:extLst>
      <p:ext uri="{BB962C8B-B14F-4D97-AF65-F5344CB8AC3E}">
        <p14:creationId xmlns:p14="http://schemas.microsoft.com/office/powerpoint/2010/main" val="22676706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9/21/2026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1528757233"/>
      </p:ext>
    </p:extLst>
  </p:cSld>
  <p:clrMap bg1="lt1" tx1="dk1" bg2="lt2" tx2="dk2" accent1="accent1" accent2="accent2" accent3="accent3" accent4="accent4" accent5="accent5" accent6="accent6" hlink="hlink" folHlink="folHlink"/>
  <p:sldLayoutIdLst>
    <p:sldLayoutId id="2147483695" r:id="rId1"/>
    <p:sldLayoutId id="2147483715" r:id="rId2"/>
    <p:sldLayoutId id="2147483697" r:id="rId3"/>
    <p:sldLayoutId id="2147483699" r:id="rId4"/>
    <p:sldLayoutId id="2147483712" r:id="rId5"/>
    <p:sldLayoutId id="214748371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hyperlink" Target="https://www.geeksforgeeks.org/techtips/difference-between-seo-and-se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89" y="1122364"/>
            <a:ext cx="7721599" cy="2578780"/>
          </a:xfrm>
        </p:spPr>
        <p:txBody>
          <a:bodyPr/>
          <a:lstStyle/>
          <a:p>
            <a:r>
              <a:rPr lang="en-US" sz="4800" b="0" dirty="0">
                <a:latin typeface="Roboto Condensed Light" panose="02000000000000000000" pitchFamily="2" charset="0"/>
                <a:ea typeface="Roboto Condensed Light" panose="02000000000000000000" pitchFamily="2" charset="0"/>
              </a:rPr>
              <a:t> </a:t>
            </a:r>
            <a:r>
              <a:rPr lang="en-US" sz="4800" dirty="0"/>
              <a:t>Unit 5: Search Engine Optimization (SEO) </a:t>
            </a:r>
            <a:br>
              <a:rPr lang="en-US" sz="4800" dirty="0"/>
            </a:br>
            <a:br>
              <a:rPr lang="en-US" sz="4800" dirty="0"/>
            </a:br>
            <a:br>
              <a:rPr kumimoji="0" lang="en-US" sz="2400" b="1"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Roboto Condensed"/>
                <a:ea typeface="Segoe UI Black" panose="020B0A02040204020203" pitchFamily="34" charset="0"/>
                <a:cs typeface="+mn-cs"/>
              </a:rPr>
            </a:br>
            <a:r>
              <a:rPr lang="en-US" sz="2400" dirty="0">
                <a:latin typeface="+mn-lt"/>
              </a:rPr>
              <a:t>CO 5: </a:t>
            </a:r>
            <a:r>
              <a:rPr lang="en-US" sz="2400" dirty="0"/>
              <a:t>apply SEO tactics and strategic marketing models to improve organic search rankings. </a:t>
            </a:r>
            <a:br>
              <a:rPr lang="en-US" sz="2400" dirty="0">
                <a:latin typeface="+mn-lt"/>
              </a:rPr>
            </a:br>
            <a:br>
              <a:rPr lang="en-US" sz="2400" dirty="0">
                <a:latin typeface="+mn-lt"/>
              </a:rPr>
            </a:br>
            <a:br>
              <a:rPr kumimoji="0" lang="en-US" sz="2400" i="0" u="none" strike="noStrike" kern="1200" cap="none" spc="0" normalizeH="0" baseline="0" noProof="0" dirty="0">
                <a:ln>
                  <a:noFill/>
                </a:ln>
                <a:solidFill>
                  <a:srgbClr val="212121">
                    <a:lumMod val="90000"/>
                    <a:lumOff val="10000"/>
                  </a:srgbClr>
                </a:solidFill>
                <a:effectLst/>
                <a:uLnTx/>
                <a:uFillTx/>
                <a:latin typeface="Roboto Condensed"/>
                <a:ea typeface="Segoe UI Black" panose="020B0A02040204020203" pitchFamily="34" charset="0"/>
                <a:cs typeface="+mn-cs"/>
              </a:rPr>
            </a:br>
            <a:endParaRPr lang="en-US" sz="4800" dirty="0"/>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prashant.parmar@darshan.ac.in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9586371604</a:t>
            </a:r>
          </a:p>
        </p:txBody>
      </p:sp>
      <p:sp>
        <p:nvSpPr>
          <p:cNvPr id="7" name="Text Placeholder 6"/>
          <p:cNvSpPr>
            <a:spLocks noGrp="1"/>
          </p:cNvSpPr>
          <p:nvPr>
            <p:ph type="body" sz="quarter" idx="16"/>
          </p:nvPr>
        </p:nvSpPr>
        <p:spPr>
          <a:xfrm>
            <a:off x="2622014" y="16125"/>
            <a:ext cx="4796701" cy="734653"/>
          </a:xfrm>
        </p:spPr>
        <p:txBody>
          <a:bodyPr/>
          <a:lstStyle/>
          <a:p>
            <a:r>
              <a:rPr lang="en-US" b="1" dirty="0"/>
              <a:t>Digital Marketing </a:t>
            </a:r>
            <a:r>
              <a:rPr lang="en-US" b="1" dirty="0">
                <a:latin typeface="Roboto Condensed Light" panose="02000000000000000000" pitchFamily="2" charset="0"/>
                <a:ea typeface="Roboto Condensed Light" panose="02000000000000000000" pitchFamily="2" charset="0"/>
              </a:rPr>
              <a:t>&amp; SEO</a:t>
            </a:r>
            <a:endParaRPr lang="en-US" dirty="0">
              <a:latin typeface="Roboto Condensed Light" panose="02000000000000000000" pitchFamily="2" charset="0"/>
              <a:ea typeface="Roboto Condensed Light" panose="02000000000000000000" pitchFamily="2" charset="0"/>
            </a:endParaRPr>
          </a:p>
          <a:p>
            <a:r>
              <a:rPr lang="en-US" dirty="0">
                <a:latin typeface="Roboto Condensed Light" panose="02000000000000000000" pitchFamily="2" charset="0"/>
                <a:ea typeface="Roboto Condensed Light" panose="02000000000000000000" pitchFamily="2" charset="0"/>
              </a:rPr>
              <a:t>2505CS313 </a:t>
            </a:r>
          </a:p>
        </p:txBody>
      </p:sp>
      <p:pic>
        <p:nvPicPr>
          <p:cNvPr id="9" name="Picture Placeholder 8">
            <a:extLst>
              <a:ext uri="{FF2B5EF4-FFF2-40B4-BE49-F238E27FC236}">
                <a16:creationId xmlns:a16="http://schemas.microsoft.com/office/drawing/2014/main" id="{584A57FF-19EF-43E1-91D9-088BF9610532}"/>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457" b="13457"/>
          <a:stretch>
            <a:fillRect/>
          </a:stretch>
        </p:blipFill>
        <p:spPr/>
      </p:pic>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Text Placeholder 14">
            <a:extLst>
              <a:ext uri="{FF2B5EF4-FFF2-40B4-BE49-F238E27FC236}">
                <a16:creationId xmlns:a16="http://schemas.microsoft.com/office/drawing/2014/main" id="{212E439E-AF22-4AAF-4C3A-2D32858B9C3E}"/>
              </a:ext>
            </a:extLst>
          </p:cNvPr>
          <p:cNvSpPr>
            <a:spLocks noGrp="1"/>
          </p:cNvSpPr>
          <p:nvPr>
            <p:ph type="body" sz="quarter" idx="13"/>
          </p:nvPr>
        </p:nvSpPr>
        <p:spPr/>
        <p:txBody>
          <a:bodyPr/>
          <a:lstStyle/>
          <a:p>
            <a:r>
              <a:rPr lang="en-US" dirty="0"/>
              <a:t>Darshan Institute of Management</a:t>
            </a:r>
          </a:p>
        </p:txBody>
      </p:sp>
      <p:sp>
        <p:nvSpPr>
          <p:cNvPr id="17" name="Text Placeholder 16">
            <a:extLst>
              <a:ext uri="{FF2B5EF4-FFF2-40B4-BE49-F238E27FC236}">
                <a16:creationId xmlns:a16="http://schemas.microsoft.com/office/drawing/2014/main" id="{748DDFB4-80CE-5831-5B54-23E2F30A4E8D}"/>
              </a:ext>
            </a:extLst>
          </p:cNvPr>
          <p:cNvSpPr>
            <a:spLocks noGrp="1"/>
          </p:cNvSpPr>
          <p:nvPr>
            <p:ph type="body" sz="quarter" idx="14"/>
          </p:nvPr>
        </p:nvSpPr>
        <p:spPr/>
        <p:txBody>
          <a:bodyPr/>
          <a:lstStyle/>
          <a:p>
            <a:r>
              <a:rPr lang="en-US" dirty="0"/>
              <a:t>Mr. Prashant Parmar</a:t>
            </a:r>
          </a:p>
        </p:txBody>
      </p:sp>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E4EC5A7-E618-43A1-BC52-AA43122F9287}"/>
              </a:ext>
            </a:extLst>
          </p:cNvPr>
          <p:cNvSpPr txBox="1"/>
          <p:nvPr/>
        </p:nvSpPr>
        <p:spPr>
          <a:xfrm>
            <a:off x="1191446" y="341453"/>
            <a:ext cx="10408280" cy="3108543"/>
          </a:xfrm>
          <a:prstGeom prst="rect">
            <a:avLst/>
          </a:prstGeom>
          <a:noFill/>
        </p:spPr>
        <p:txBody>
          <a:bodyPr wrap="square" rtlCol="0">
            <a:spAutoFit/>
          </a:bodyPr>
          <a:lstStyle/>
          <a:p>
            <a:r>
              <a:rPr lang="en-US" sz="2000" b="1" dirty="0"/>
              <a:t>Outline</a:t>
            </a:r>
          </a:p>
          <a:p>
            <a:pPr marL="742950" lvl="1" indent="-285750">
              <a:lnSpc>
                <a:spcPct val="150000"/>
              </a:lnSpc>
              <a:buFont typeface="Arial" panose="020B0604020202020204" pitchFamily="34" charset="0"/>
              <a:buChar char="•"/>
            </a:pPr>
            <a:r>
              <a:rPr lang="en-US" sz="2400" b="1" dirty="0"/>
              <a:t>Foundations of SEO</a:t>
            </a:r>
            <a:endParaRPr lang="en-US" sz="2400" dirty="0"/>
          </a:p>
          <a:p>
            <a:pPr marL="742950" lvl="1" indent="-285750">
              <a:lnSpc>
                <a:spcPct val="150000"/>
              </a:lnSpc>
              <a:buFont typeface="Arial" panose="020B0604020202020204" pitchFamily="34" charset="0"/>
              <a:buChar char="•"/>
            </a:pPr>
            <a:r>
              <a:rPr lang="en-US" sz="2400" b="1" dirty="0"/>
              <a:t>Tactics, Ethics, and Optimization</a:t>
            </a:r>
          </a:p>
          <a:p>
            <a:pPr marL="742950" lvl="1" indent="-285750">
              <a:lnSpc>
                <a:spcPct val="150000"/>
              </a:lnSpc>
              <a:buFont typeface="Arial" panose="020B0604020202020204" pitchFamily="34" charset="0"/>
              <a:buChar char="•"/>
            </a:pPr>
            <a:r>
              <a:rPr lang="en-US" sz="2400" b="1" dirty="0"/>
              <a:t>Ranking and the SERP Process</a:t>
            </a:r>
          </a:p>
          <a:p>
            <a:pPr marL="742950" lvl="1" indent="-285750">
              <a:lnSpc>
                <a:spcPct val="150000"/>
              </a:lnSpc>
              <a:buFont typeface="Arial" panose="020B0604020202020204" pitchFamily="34" charset="0"/>
              <a:buChar char="•"/>
            </a:pPr>
            <a:r>
              <a:rPr lang="en-US" sz="2400" b="1" dirty="0"/>
              <a:t>Industry Standard SEO Tools</a:t>
            </a:r>
            <a:endParaRPr lang="en-US" sz="2400" dirty="0"/>
          </a:p>
          <a:p>
            <a:pPr marL="742950" lvl="1" indent="-285750">
              <a:lnSpc>
                <a:spcPct val="150000"/>
              </a:lnSpc>
              <a:buFont typeface="Arial" panose="020B0604020202020204" pitchFamily="34" charset="0"/>
              <a:buChar char="•"/>
            </a:pPr>
            <a:endParaRPr lang="en-US" sz="2400" dirty="0"/>
          </a:p>
        </p:txBody>
      </p:sp>
    </p:spTree>
    <p:extLst>
      <p:ext uri="{BB962C8B-B14F-4D97-AF65-F5344CB8AC3E}">
        <p14:creationId xmlns:p14="http://schemas.microsoft.com/office/powerpoint/2010/main" val="145644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up)">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Foundations of SEO</a:t>
            </a:r>
          </a:p>
        </p:txBody>
      </p:sp>
      <p:sp>
        <p:nvSpPr>
          <p:cNvPr id="3" name="Text Placeholder 2"/>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4C25B7AD-CAFE-4A07-9501-B07DEA817F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8282" y="1882636"/>
            <a:ext cx="3913654" cy="2506939"/>
          </a:xfrm>
          <a:prstGeom prst="rect">
            <a:avLst/>
          </a:prstGeom>
        </p:spPr>
      </p:pic>
    </p:spTree>
    <p:extLst>
      <p:ext uri="{BB962C8B-B14F-4D97-AF65-F5344CB8AC3E}">
        <p14:creationId xmlns:p14="http://schemas.microsoft.com/office/powerpoint/2010/main" val="1354999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Introduction to Search Engine Optimization (SEO)</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Search Engine Optimization (SEO) is the systematic process of improving a website's technical configuration, content relevance, and link popularity so its pages become easily findable, more relevant, and popular toward user search queries.</a:t>
            </a:r>
          </a:p>
          <a:p>
            <a:r>
              <a:rPr lang="en-US" b="1" dirty="0"/>
              <a:t>The Concept of "Organic" Traffic:</a:t>
            </a:r>
            <a:r>
              <a:rPr lang="en-US" dirty="0"/>
              <a:t> SEO focuses exclusively on </a:t>
            </a:r>
            <a:r>
              <a:rPr lang="en-US" b="1" dirty="0"/>
              <a:t>unpaid</a:t>
            </a:r>
            <a:r>
              <a:rPr lang="en-US" dirty="0"/>
              <a:t> rankings. Unlike paid advertising, which provides temporary visibility, SEO builds a sustainable, long-term digital asset.</a:t>
            </a:r>
          </a:p>
        </p:txBody>
      </p:sp>
    </p:spTree>
    <p:extLst>
      <p:ext uri="{BB962C8B-B14F-4D97-AF65-F5344CB8AC3E}">
        <p14:creationId xmlns:p14="http://schemas.microsoft.com/office/powerpoint/2010/main" val="262687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Difference Between SEO and SEM</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SEO is the act of improving the visibility of a website's outcomes on specific search engines through unpaid forms of online advertising. It is used to increase traffic to a website by improving its rank on the search engine pages. </a:t>
            </a:r>
          </a:p>
          <a:p>
            <a:endParaRPr lang="en-US" dirty="0"/>
          </a:p>
          <a:p>
            <a:r>
              <a:rPr lang="en-US" dirty="0"/>
              <a:t>SEM is the act of improving the visibility of a website outcomes on specific search engines through paid advertisements. It includes Search Engine Optimization, contextual advertising, AdSense, social networking, pay-per-click (PPC), AdWords, and so on. </a:t>
            </a:r>
          </a:p>
          <a:p>
            <a:endParaRPr lang="en-US" dirty="0"/>
          </a:p>
          <a:p>
            <a:pPr marL="0" indent="0">
              <a:buNone/>
            </a:pPr>
            <a:endParaRPr lang="en-US" dirty="0"/>
          </a:p>
          <a:p>
            <a:endParaRPr lang="en-US" dirty="0"/>
          </a:p>
          <a:p>
            <a:pPr marL="0" indent="0" algn="l">
              <a:buNone/>
            </a:pPr>
            <a:r>
              <a:rPr lang="en-US" sz="2400" dirty="0"/>
              <a:t>Reference: </a:t>
            </a:r>
            <a:r>
              <a:rPr lang="en-US" sz="2400" dirty="0">
                <a:hlinkClick r:id="rId2"/>
              </a:rPr>
              <a:t>https://www.geeksforgeeks.org/techtips/difference-between-seo-and-sem/</a:t>
            </a:r>
            <a:endParaRPr lang="en-US" sz="2400" dirty="0"/>
          </a:p>
          <a:p>
            <a:pPr marL="0" indent="0" algn="l">
              <a:buNone/>
            </a:pPr>
            <a:endParaRPr lang="en-US" sz="2400" dirty="0">
              <a:solidFill>
                <a:srgbClr val="0070C0"/>
              </a:solidFill>
            </a:endParaRPr>
          </a:p>
        </p:txBody>
      </p:sp>
    </p:spTree>
    <p:extLst>
      <p:ext uri="{BB962C8B-B14F-4D97-AF65-F5344CB8AC3E}">
        <p14:creationId xmlns:p14="http://schemas.microsoft.com/office/powerpoint/2010/main" val="4262546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The Critical Need for SEO in Modern Business</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b="1" dirty="0"/>
              <a:t>Visibility and Brand Authority:</a:t>
            </a:r>
            <a:r>
              <a:rPr lang="en-US" dirty="0"/>
              <a:t> High rankings on the Search Engine Results Page (SERP) serve as a psychological endorsement. Users perceive top-ranking sites as more trustworthy and authoritative in their respective industries</a:t>
            </a:r>
          </a:p>
          <a:p>
            <a:r>
              <a:rPr lang="en-US" b="1" dirty="0"/>
              <a:t>Sustainable ROI (Return on Investment):</a:t>
            </a:r>
            <a:r>
              <a:rPr lang="en-US" dirty="0"/>
              <a:t> While SEO requires an initial investment in time and resources, it does not have a "Cost-Per-Click." Once a page ranks high, it continues to drive traffic 24/7 without additional media spend.</a:t>
            </a:r>
          </a:p>
          <a:p>
            <a:r>
              <a:rPr lang="en-US" b="1" dirty="0"/>
              <a:t>User Experience (UX) Enhancement:</a:t>
            </a:r>
            <a:r>
              <a:rPr lang="en-US" dirty="0"/>
              <a:t> Google’s ranking factors—such as page load speed, mobile responsiveness, and intuitive navigation—are synonymous with a high-quality user experience. Optimizing for SEO is, by extension, optimizing for the customer.</a:t>
            </a:r>
          </a:p>
          <a:p>
            <a:r>
              <a:rPr lang="en-US" b="1" dirty="0"/>
              <a:t>The "First Page" Imperative:</a:t>
            </a:r>
            <a:r>
              <a:rPr lang="en-US" dirty="0"/>
              <a:t> Data indicates that approximately </a:t>
            </a:r>
            <a:r>
              <a:rPr lang="en-US" b="1" dirty="0"/>
              <a:t>75% of users</a:t>
            </a:r>
            <a:r>
              <a:rPr lang="en-US" dirty="0"/>
              <a:t> do not click past the first page of search results. In a competitive digital economy, if a business is not on Page 1, it is essentially invisible to its target audience.</a:t>
            </a:r>
          </a:p>
        </p:txBody>
      </p:sp>
    </p:spTree>
    <p:extLst>
      <p:ext uri="{BB962C8B-B14F-4D97-AF65-F5344CB8AC3E}">
        <p14:creationId xmlns:p14="http://schemas.microsoft.com/office/powerpoint/2010/main" val="2489382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The Three-Stage Process SEO</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Crawling (Discovery)</a:t>
            </a:r>
          </a:p>
          <a:p>
            <a:r>
              <a:rPr lang="en-US" dirty="0"/>
              <a:t>Indexing (Storage)</a:t>
            </a:r>
          </a:p>
          <a:p>
            <a:r>
              <a:rPr lang="en-US" dirty="0"/>
              <a:t>Ranking (Retrieval)</a:t>
            </a:r>
          </a:p>
        </p:txBody>
      </p:sp>
      <p:pic>
        <p:nvPicPr>
          <p:cNvPr id="6" name="Picture 5">
            <a:extLst>
              <a:ext uri="{FF2B5EF4-FFF2-40B4-BE49-F238E27FC236}">
                <a16:creationId xmlns:a16="http://schemas.microsoft.com/office/drawing/2014/main" id="{3B961AD0-6987-4C85-A4AF-EDAA5C77ED74}"/>
              </a:ext>
            </a:extLst>
          </p:cNvPr>
          <p:cNvPicPr>
            <a:picLocks noChangeAspect="1"/>
          </p:cNvPicPr>
          <p:nvPr/>
        </p:nvPicPr>
        <p:blipFill rotWithShape="1">
          <a:blip r:embed="rId2">
            <a:extLst>
              <a:ext uri="{28A0092B-C50C-407E-A947-70E740481C1C}">
                <a14:useLocalDpi xmlns:a14="http://schemas.microsoft.com/office/drawing/2010/main" val="0"/>
              </a:ext>
            </a:extLst>
          </a:blip>
          <a:srcRect l="3554" t="21722" r="4233" b="7298"/>
          <a:stretch/>
        </p:blipFill>
        <p:spPr>
          <a:xfrm>
            <a:off x="3216727" y="1314064"/>
            <a:ext cx="8826217" cy="4270307"/>
          </a:xfrm>
          <a:prstGeom prst="rect">
            <a:avLst/>
          </a:prstGeom>
        </p:spPr>
      </p:pic>
    </p:spTree>
    <p:extLst>
      <p:ext uri="{BB962C8B-B14F-4D97-AF65-F5344CB8AC3E}">
        <p14:creationId xmlns:p14="http://schemas.microsoft.com/office/powerpoint/2010/main" val="276583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Crawling</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Crawling is the first step where search engine bots explore the web by following links between pages. These bots continuously scan billions of websites to discover new content and updates. Website owners can guide crawler behavior using the robots.txt file, which restricts or allows access to certain pages.</a:t>
            </a:r>
          </a:p>
          <a:p>
            <a:r>
              <a:rPr lang="en-US" dirty="0"/>
              <a:t>Uses bots (spiders/crawlers) to scan websites</a:t>
            </a:r>
          </a:p>
          <a:p>
            <a:r>
              <a:rPr lang="en-US" dirty="0"/>
              <a:t>Follows links from one page to another</a:t>
            </a:r>
          </a:p>
          <a:p>
            <a:r>
              <a:rPr lang="en-US" dirty="0"/>
              <a:t>Identifies new and updated content</a:t>
            </a:r>
          </a:p>
        </p:txBody>
      </p:sp>
      <p:pic>
        <p:nvPicPr>
          <p:cNvPr id="5" name="Picture 4">
            <a:extLst>
              <a:ext uri="{FF2B5EF4-FFF2-40B4-BE49-F238E27FC236}">
                <a16:creationId xmlns:a16="http://schemas.microsoft.com/office/drawing/2014/main" id="{BF849F9B-278C-4ADC-91DD-96D27DB06522}"/>
              </a:ext>
            </a:extLst>
          </p:cNvPr>
          <p:cNvPicPr>
            <a:picLocks noChangeAspect="1"/>
          </p:cNvPicPr>
          <p:nvPr/>
        </p:nvPicPr>
        <p:blipFill rotWithShape="1">
          <a:blip r:embed="rId2">
            <a:extLst>
              <a:ext uri="{28A0092B-C50C-407E-A947-70E740481C1C}">
                <a14:useLocalDpi xmlns:a14="http://schemas.microsoft.com/office/drawing/2010/main" val="0"/>
              </a:ext>
            </a:extLst>
          </a:blip>
          <a:srcRect l="4793" t="5247" r="12384" b="3478"/>
          <a:stretch/>
        </p:blipFill>
        <p:spPr>
          <a:xfrm>
            <a:off x="7351059" y="2437507"/>
            <a:ext cx="4294094" cy="3568471"/>
          </a:xfrm>
          <a:prstGeom prst="rect">
            <a:avLst/>
          </a:prstGeom>
        </p:spPr>
      </p:pic>
    </p:spTree>
    <p:extLst>
      <p:ext uri="{BB962C8B-B14F-4D97-AF65-F5344CB8AC3E}">
        <p14:creationId xmlns:p14="http://schemas.microsoft.com/office/powerpoint/2010/main" val="488576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Indexing</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After crawling, search engines process and store the information in a structured database called the search index. During indexing, the system analyzes page content, keywords, images, and metadata to understand the topic of the page. If a webpage is not indexed, it will not be visible in search results.</a:t>
            </a:r>
          </a:p>
          <a:p>
            <a:r>
              <a:rPr lang="en-US" dirty="0"/>
              <a:t>Analyzes content (text, images, metadata)</a:t>
            </a:r>
          </a:p>
          <a:p>
            <a:r>
              <a:rPr lang="en-US" dirty="0"/>
              <a:t>Stores data in a search index database</a:t>
            </a:r>
          </a:p>
          <a:p>
            <a:r>
              <a:rPr lang="en-US" dirty="0"/>
              <a:t>Uses keyword extraction and categorization</a:t>
            </a:r>
          </a:p>
          <a:p>
            <a:r>
              <a:rPr lang="en-US" dirty="0"/>
              <a:t>Only indexed pages appear in results</a:t>
            </a:r>
          </a:p>
        </p:txBody>
      </p:sp>
    </p:spTree>
    <p:extLst>
      <p:ext uri="{BB962C8B-B14F-4D97-AF65-F5344CB8AC3E}">
        <p14:creationId xmlns:p14="http://schemas.microsoft.com/office/powerpoint/2010/main" val="4145666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Ranking</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Ranking is the final stage where the search engine decides the order of results shown to users. When a query is entered, the algorithm evaluates hundreds of factors to determine relevance and quality. The goal is to present the most useful and accurate information at the top of the results page.</a:t>
            </a:r>
          </a:p>
          <a:p>
            <a:r>
              <a:rPr lang="en-US" dirty="0"/>
              <a:t>Matches user query with indexed data</a:t>
            </a:r>
          </a:p>
          <a:p>
            <a:r>
              <a:rPr lang="en-US" dirty="0"/>
              <a:t>Uses algorithms to rank results</a:t>
            </a:r>
          </a:p>
          <a:p>
            <a:r>
              <a:rPr lang="en-US" dirty="0"/>
              <a:t>Considers multiple factors:</a:t>
            </a:r>
          </a:p>
          <a:p>
            <a:pPr lvl="1"/>
            <a:r>
              <a:rPr lang="en-US" dirty="0"/>
              <a:t>Keywords </a:t>
            </a:r>
          </a:p>
          <a:p>
            <a:pPr lvl="1"/>
            <a:r>
              <a:rPr lang="en-US" dirty="0"/>
              <a:t>Backlinks </a:t>
            </a:r>
          </a:p>
          <a:p>
            <a:pPr lvl="1"/>
            <a:r>
              <a:rPr lang="en-US" dirty="0"/>
              <a:t>Page speed </a:t>
            </a:r>
          </a:p>
          <a:p>
            <a:pPr lvl="1"/>
            <a:r>
              <a:rPr lang="en-US" dirty="0"/>
              <a:t>User experience </a:t>
            </a:r>
          </a:p>
          <a:p>
            <a:pPr lvl="1"/>
            <a:r>
              <a:rPr lang="en-US" dirty="0"/>
              <a:t>Location</a:t>
            </a:r>
          </a:p>
          <a:p>
            <a:endParaRPr lang="en-US" dirty="0"/>
          </a:p>
        </p:txBody>
      </p:sp>
    </p:spTree>
    <p:extLst>
      <p:ext uri="{BB962C8B-B14F-4D97-AF65-F5344CB8AC3E}">
        <p14:creationId xmlns:p14="http://schemas.microsoft.com/office/powerpoint/2010/main" val="933599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Tactics, Ethics, and Optimization</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967224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SEO Tactics &amp; Methods</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White Hat SEO (Ethical/Sustainable)</a:t>
            </a:r>
          </a:p>
          <a:p>
            <a:pPr lvl="1"/>
            <a:r>
              <a:rPr lang="en-US" dirty="0"/>
              <a:t>White Hat SEO refers to ethical optimization techniques that prioritize user satisfaction over search engine manipulation. These methods ensure that content is valuable, accessible, and relevant. Although results may take time, they provide long-term stability and build trust with both users and search engines.</a:t>
            </a:r>
          </a:p>
          <a:p>
            <a:pPr lvl="1"/>
            <a:r>
              <a:rPr lang="en-US" dirty="0"/>
              <a:t>Key methods: High-quality content creation, Site speed optimization, Mobile-friendly design, Organic link building</a:t>
            </a:r>
          </a:p>
          <a:p>
            <a:pPr lvl="1"/>
            <a:r>
              <a:rPr lang="en-US" dirty="0"/>
              <a:t>Outcome: Long-term, stable rankings, No risk of penalties, Strong brand credibility.</a:t>
            </a:r>
          </a:p>
        </p:txBody>
      </p:sp>
    </p:spTree>
    <p:extLst>
      <p:ext uri="{BB962C8B-B14F-4D97-AF65-F5344CB8AC3E}">
        <p14:creationId xmlns:p14="http://schemas.microsoft.com/office/powerpoint/2010/main" val="348435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SEO Tactics &amp; Methods</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Black Hat SEO</a:t>
            </a:r>
          </a:p>
          <a:p>
            <a:pPr lvl="1"/>
            <a:r>
              <a:rPr lang="en-US" dirty="0"/>
              <a:t>Black Hat SEO involves unethical practices designed to trick search engines into ranking a website higher. These techniques exploit loopholes in algorithms but do not provide real value to users. While they may deliver quick results, they are highly risky and often lead to severe consequences.</a:t>
            </a:r>
          </a:p>
          <a:p>
            <a:pPr lvl="1"/>
            <a:r>
              <a:rPr lang="en-US" dirty="0"/>
              <a:t> Common techniques: Keyword stuffing, Cloaking, Private Blog Networks</a:t>
            </a:r>
          </a:p>
          <a:p>
            <a:pPr lvl="1"/>
            <a:r>
              <a:rPr lang="en-US" dirty="0"/>
              <a:t>Outcome: Fast but temporary results, High risk of penalties, Possible permanent removal </a:t>
            </a:r>
          </a:p>
        </p:txBody>
      </p:sp>
    </p:spTree>
    <p:extLst>
      <p:ext uri="{BB962C8B-B14F-4D97-AF65-F5344CB8AC3E}">
        <p14:creationId xmlns:p14="http://schemas.microsoft.com/office/powerpoint/2010/main" val="25922245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SEO Tactics &amp; Methods</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Grey Hat SEO</a:t>
            </a:r>
          </a:p>
          <a:p>
            <a:pPr lvl="1"/>
            <a:r>
              <a:rPr lang="en-US" dirty="0"/>
              <a:t>Grey Hat SEO includes practices that operate in a legal but ethically uncertain space. These techniques may work temporarily but carry potential risks, especially as search engine algorithms evolve. What is acceptable today may become penalized in the future.</a:t>
            </a:r>
          </a:p>
          <a:p>
            <a:pPr lvl="1"/>
            <a:r>
              <a:rPr lang="en-US" dirty="0"/>
              <a:t>Examples: Buying expired domains, Redirecting authority, Aggressive automation</a:t>
            </a:r>
          </a:p>
          <a:p>
            <a:pPr lvl="1"/>
            <a:r>
              <a:rPr lang="en-US" dirty="0"/>
              <a:t>Outcome: Moderate risk, Uncertain long-term sustainability, May turn into Black Hat over time.</a:t>
            </a:r>
          </a:p>
        </p:txBody>
      </p:sp>
    </p:spTree>
    <p:extLst>
      <p:ext uri="{BB962C8B-B14F-4D97-AF65-F5344CB8AC3E}">
        <p14:creationId xmlns:p14="http://schemas.microsoft.com/office/powerpoint/2010/main" val="142380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SEO Tactics &amp; Methods</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On-Page Optimization </a:t>
            </a:r>
          </a:p>
          <a:p>
            <a:pPr lvl="1"/>
            <a:r>
              <a:rPr lang="en-US" dirty="0"/>
              <a:t>On-page SEO refers to the elements you control directly on your website to help search engines understand your content.</a:t>
            </a:r>
          </a:p>
          <a:p>
            <a:pPr lvl="1"/>
            <a:r>
              <a:rPr lang="en-US" dirty="0"/>
              <a:t>HTML Elements (Structural Tags)</a:t>
            </a:r>
          </a:p>
          <a:p>
            <a:pPr lvl="2"/>
            <a:r>
              <a:rPr lang="en-US" b="1" dirty="0"/>
              <a:t>Title Tags:</a:t>
            </a:r>
            <a:r>
              <a:rPr lang="en-US" dirty="0"/>
              <a:t> The most important on-page element. It should be less then 60 characters and include the primary keyword.</a:t>
            </a:r>
          </a:p>
          <a:p>
            <a:pPr lvl="2"/>
            <a:r>
              <a:rPr lang="en-US" b="1" dirty="0"/>
              <a:t>Meta Descriptions:</a:t>
            </a:r>
            <a:r>
              <a:rPr lang="en-US" dirty="0"/>
              <a:t> A brief summary of the page shown on the SERP. While not a direct ranking factor, it heavily influences Click-Through Rate (CTR).</a:t>
            </a:r>
          </a:p>
          <a:p>
            <a:pPr lvl="2"/>
            <a:r>
              <a:rPr lang="en-US" b="1" dirty="0"/>
              <a:t>Header Tags (H1-H6):</a:t>
            </a:r>
            <a:r>
              <a:rPr lang="en-US" dirty="0"/>
              <a:t> Organizing content hierarchically. H1 is for the main title, H2 for sub headers, etc.</a:t>
            </a:r>
          </a:p>
          <a:p>
            <a:pPr lvl="1"/>
            <a:r>
              <a:rPr lang="en-US" b="1" dirty="0"/>
              <a:t>URL Structure:</a:t>
            </a:r>
            <a:r>
              <a:rPr lang="en-US" dirty="0"/>
              <a:t> URLs should be "Slug-based" and human-readable.</a:t>
            </a:r>
          </a:p>
          <a:p>
            <a:pPr lvl="1"/>
            <a:r>
              <a:rPr lang="en-US" b="1" dirty="0"/>
              <a:t>Image Alt-Text:</a:t>
            </a:r>
            <a:r>
              <a:rPr lang="en-US" dirty="0"/>
              <a:t> Textual descriptions of images.</a:t>
            </a:r>
          </a:p>
          <a:p>
            <a:pPr lvl="2"/>
            <a:r>
              <a:rPr lang="en-US" dirty="0"/>
              <a:t>Technical value: Help bots see the image</a:t>
            </a:r>
          </a:p>
          <a:p>
            <a:pPr lvl="2"/>
            <a:r>
              <a:rPr lang="en-US" dirty="0"/>
              <a:t>Accessibility: Allows scree readers to describe the image.</a:t>
            </a:r>
          </a:p>
          <a:p>
            <a:pPr lvl="1"/>
            <a:endParaRPr lang="en-US" dirty="0"/>
          </a:p>
        </p:txBody>
      </p:sp>
      <p:sp>
        <p:nvSpPr>
          <p:cNvPr id="4" name="Rectangle 1">
            <a:extLst>
              <a:ext uri="{FF2B5EF4-FFF2-40B4-BE49-F238E27FC236}">
                <a16:creationId xmlns:a16="http://schemas.microsoft.com/office/drawing/2014/main" id="{0C5B238E-0F74-482C-8AC3-168BA84F0E9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Content Relevance:</a:t>
            </a:r>
            <a:r>
              <a:rPr kumimoji="0" lang="en-US" altLang="en-US" sz="1800" b="0" i="0" u="none" strike="noStrike" cap="none" normalizeH="0" baseline="0">
                <a:ln>
                  <a:noFill/>
                </a:ln>
                <a:solidFill>
                  <a:schemeClr val="tx1"/>
                </a:solidFill>
                <a:effectLst/>
                <a:latin typeface="Arial" panose="020B0604020202020204" pitchFamily="34" charset="0"/>
              </a:rPr>
              <a:t> The cornerstone of SEO. Content must satisfy the user’s "Search Intent" and be comprehensive, original, and updated.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03976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SEO Tactics &amp; Methods</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Off-Page Optimization</a:t>
            </a:r>
          </a:p>
          <a:p>
            <a:pPr lvl="1"/>
            <a:r>
              <a:rPr lang="en-US" dirty="0"/>
              <a:t>Off-page SEO involves activities taken outside of your own website to impact your rankings within search engine results pages.</a:t>
            </a:r>
          </a:p>
          <a:p>
            <a:pPr lvl="1"/>
            <a:r>
              <a:rPr lang="en-US" dirty="0"/>
              <a:t>Backlinks (The Vote of Confidence)</a:t>
            </a:r>
          </a:p>
          <a:p>
            <a:pPr lvl="2"/>
            <a:r>
              <a:rPr lang="en-US" dirty="0"/>
              <a:t>Links from one website to another. Google views these as "votes" of authority.</a:t>
            </a:r>
          </a:p>
          <a:p>
            <a:pPr lvl="2"/>
            <a:r>
              <a:rPr lang="en-US" dirty="0"/>
              <a:t>A single link from a high-authority site (like an educational or a major news outlet) is worth more than hundreds of low-quality links.</a:t>
            </a:r>
          </a:p>
          <a:p>
            <a:pPr lvl="2"/>
            <a:r>
              <a:rPr lang="en-US" dirty="0"/>
              <a:t>Anchor Text: The clickable text in a hyperlink; it helps search engines understand the context of the linked page.</a:t>
            </a:r>
          </a:p>
          <a:p>
            <a:pPr lvl="1"/>
            <a:r>
              <a:rPr lang="en-US" b="1" dirty="0"/>
              <a:t>Social Signals:</a:t>
            </a:r>
            <a:r>
              <a:rPr lang="en-US" dirty="0"/>
              <a:t> While not a direct ranking factor, frequent shares and mentions on platforms like LinkedIn or X (Twitter) indicate content relevancy and drive traffic, which indirectly boosts SEO.</a:t>
            </a:r>
          </a:p>
          <a:p>
            <a:pPr lvl="1"/>
            <a:r>
              <a:rPr lang="en-US" dirty="0"/>
              <a:t>Local SEO (Geo-Targeting) Google Business Profile Essential for local businesses to appear in the Map Pack.</a:t>
            </a:r>
          </a:p>
          <a:p>
            <a:pPr marL="914400" lvl="2" indent="0">
              <a:buNone/>
            </a:pPr>
            <a:endParaRPr lang="en-US" dirty="0"/>
          </a:p>
        </p:txBody>
      </p:sp>
      <p:sp>
        <p:nvSpPr>
          <p:cNvPr id="4" name="Rectangle 1">
            <a:extLst>
              <a:ext uri="{FF2B5EF4-FFF2-40B4-BE49-F238E27FC236}">
                <a16:creationId xmlns:a16="http://schemas.microsoft.com/office/drawing/2014/main" id="{0C5B238E-0F74-482C-8AC3-168BA84F0E9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Content Relevance:</a:t>
            </a:r>
            <a:r>
              <a:rPr kumimoji="0" lang="en-US" altLang="en-US" sz="1800" b="0" i="0" u="none" strike="noStrike" cap="none" normalizeH="0" baseline="0">
                <a:ln>
                  <a:noFill/>
                </a:ln>
                <a:solidFill>
                  <a:schemeClr val="tx1"/>
                </a:solidFill>
                <a:effectLst/>
                <a:latin typeface="Arial" panose="020B0604020202020204" pitchFamily="34" charset="0"/>
              </a:rPr>
              <a:t> The cornerstone of SEO. Content must satisfy the user’s "Search Intent" and be comprehensive, original, and updated.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1231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Ranking and the SERP </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3073009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Understanding SEO Ranking &amp; Factors</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In the context of SEO, ranking refers to the specific position a URL occupies on the Search Engine Results Page (SERP) for a given query. A "Number 1" ranking implies that the page is the first organic result displayed after the advertisements and SERP features.</a:t>
            </a:r>
          </a:p>
          <a:p>
            <a:endParaRPr lang="en-US" dirty="0"/>
          </a:p>
          <a:p>
            <a:r>
              <a:rPr lang="en-US" dirty="0"/>
              <a:t>The Primary Ranking Pillar: Relevance</a:t>
            </a:r>
          </a:p>
          <a:p>
            <a:pPr lvl="1"/>
            <a:r>
              <a:rPr lang="en-US" dirty="0"/>
              <a:t>Google’s algorithm analyzes whether the content provides a direct and comprehensive solution to the user’s query. </a:t>
            </a:r>
          </a:p>
          <a:p>
            <a:pPr lvl="1"/>
            <a:r>
              <a:rPr lang="en-US" dirty="0"/>
              <a:t>Modern search engines do not just match keywords; they use Natural Language Processing (NLP) to understand the context and relationships between concepts.</a:t>
            </a:r>
          </a:p>
        </p:txBody>
      </p:sp>
    </p:spTree>
    <p:extLst>
      <p:ext uri="{BB962C8B-B14F-4D97-AF65-F5344CB8AC3E}">
        <p14:creationId xmlns:p14="http://schemas.microsoft.com/office/powerpoint/2010/main" val="137002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Understanding SEO Ranking &amp; Factors</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The Authority Pillar: Domain Authority (DA) &amp; Backlinks</a:t>
            </a:r>
          </a:p>
          <a:p>
            <a:pPr lvl="1"/>
            <a:r>
              <a:rPr lang="en-US" b="1" dirty="0"/>
              <a:t>Backlink Profile:</a:t>
            </a:r>
            <a:r>
              <a:rPr lang="en-US" dirty="0"/>
              <a:t> Authority is largely determined by the "Link Equity" passed from other reputable websites.</a:t>
            </a:r>
          </a:p>
          <a:p>
            <a:pPr lvl="1"/>
            <a:r>
              <a:rPr lang="en-US" b="1" dirty="0"/>
              <a:t>Domain Authority (</a:t>
            </a:r>
            <a:r>
              <a:rPr lang="en-US" b="1" dirty="0" err="1"/>
              <a:t>Moz</a:t>
            </a:r>
            <a:r>
              <a:rPr lang="en-US" b="1" dirty="0"/>
              <a:t>):</a:t>
            </a:r>
            <a:r>
              <a:rPr lang="en-US" dirty="0"/>
              <a:t> A predictive score (1–100) that estimates a website's ability to rank based on its cumulative link strength and historical trustworthiness.</a:t>
            </a:r>
          </a:p>
          <a:p>
            <a:r>
              <a:rPr lang="en-US" dirty="0"/>
              <a:t>The Infrastructure Pillar: Technical Health &amp; Core Web Vitals</a:t>
            </a:r>
          </a:p>
          <a:p>
            <a:pPr lvl="1"/>
            <a:r>
              <a:rPr lang="en-US" b="1" dirty="0"/>
              <a:t>Core Web Vitals:</a:t>
            </a:r>
            <a:r>
              <a:rPr lang="en-US" dirty="0"/>
              <a:t> A set of specific factors that Google considers important in a webpage's overall user experience.</a:t>
            </a:r>
          </a:p>
          <a:p>
            <a:pPr lvl="2"/>
            <a:r>
              <a:rPr lang="en-US" dirty="0"/>
              <a:t>LCP (Largest </a:t>
            </a:r>
            <a:r>
              <a:rPr lang="en-US" dirty="0" err="1"/>
              <a:t>Contentful</a:t>
            </a:r>
            <a:r>
              <a:rPr lang="en-US" dirty="0"/>
              <a:t> Paint): Measures loading performance (Target: less then 2.5 seconds).</a:t>
            </a:r>
          </a:p>
          <a:p>
            <a:pPr lvl="2"/>
            <a:r>
              <a:rPr lang="en-US" dirty="0"/>
              <a:t>INP (Interaction to Next Paint): Replaced FID in 2024 to measure responsiveness to user actions (Target: less then 200 </a:t>
            </a:r>
            <a:r>
              <a:rPr lang="en-US" dirty="0" err="1"/>
              <a:t>ms</a:t>
            </a:r>
            <a:r>
              <a:rPr lang="en-US" dirty="0"/>
              <a:t>).</a:t>
            </a:r>
          </a:p>
          <a:p>
            <a:pPr lvl="2"/>
            <a:r>
              <a:rPr lang="en-US" dirty="0"/>
              <a:t>CLS (Cumulative Layout Shift): Measures visual stability (Target: score &lt; 0.1)</a:t>
            </a:r>
          </a:p>
          <a:p>
            <a:pPr lvl="1"/>
            <a:r>
              <a:rPr lang="en-US" dirty="0"/>
              <a:t>Mandatory use of HTTPS to protect User data.</a:t>
            </a:r>
          </a:p>
        </p:txBody>
      </p:sp>
    </p:spTree>
    <p:extLst>
      <p:ext uri="{BB962C8B-B14F-4D97-AF65-F5344CB8AC3E}">
        <p14:creationId xmlns:p14="http://schemas.microsoft.com/office/powerpoint/2010/main" val="370343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Search Engine Result page (SERP)</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Query Analysis &amp; Classification</a:t>
            </a:r>
          </a:p>
          <a:p>
            <a:pPr lvl="1"/>
            <a:r>
              <a:rPr lang="en-US" dirty="0"/>
              <a:t>The search engine first classifies the user's "Search Intent" to determine what type of content to display.</a:t>
            </a:r>
          </a:p>
          <a:p>
            <a:pPr lvl="2"/>
            <a:r>
              <a:rPr lang="en-US" b="1" dirty="0"/>
              <a:t>Informational (Know):</a:t>
            </a:r>
            <a:r>
              <a:rPr lang="en-US" dirty="0"/>
              <a:t> The user is looking for knowledge or an answer to a question (e.g., "What is the green transition?").</a:t>
            </a:r>
          </a:p>
          <a:p>
            <a:pPr lvl="2"/>
            <a:r>
              <a:rPr lang="en-US" b="1" dirty="0"/>
              <a:t>Navigational (Go):</a:t>
            </a:r>
            <a:r>
              <a:rPr lang="en-US" dirty="0"/>
              <a:t> The user wants to reach a specific website or physical location (e.g., "Darshan University login").</a:t>
            </a:r>
          </a:p>
          <a:p>
            <a:pPr lvl="2"/>
            <a:r>
              <a:rPr lang="en-US" b="1" dirty="0"/>
              <a:t>Transactional (Do/Buy):</a:t>
            </a:r>
            <a:r>
              <a:rPr lang="en-US" dirty="0"/>
              <a:t> The user is ready to make a purchase or complete a task (e.g., "Buy SEMrush subscription"). </a:t>
            </a:r>
          </a:p>
        </p:txBody>
      </p:sp>
    </p:spTree>
    <p:extLst>
      <p:ext uri="{BB962C8B-B14F-4D97-AF65-F5344CB8AC3E}">
        <p14:creationId xmlns:p14="http://schemas.microsoft.com/office/powerpoint/2010/main" val="2941394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Search Engine Result Page (SERP)</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The Modern SERP Landscape</a:t>
            </a:r>
          </a:p>
          <a:p>
            <a:pPr lvl="1"/>
            <a:r>
              <a:rPr lang="en-US" dirty="0"/>
              <a:t>Key SERP Features</a:t>
            </a:r>
          </a:p>
          <a:p>
            <a:pPr lvl="2"/>
            <a:r>
              <a:rPr lang="en-US" b="1" dirty="0"/>
              <a:t>Featured Snippets ("Position Zero"):</a:t>
            </a:r>
            <a:r>
              <a:rPr lang="en-US" dirty="0"/>
              <a:t> A direct answer extracted from a webpage and displayed at the very top. It is designed to provide immediate utility for informational queries.</a:t>
            </a:r>
          </a:p>
          <a:p>
            <a:pPr lvl="2"/>
            <a:r>
              <a:rPr lang="en-US" b="1" dirty="0"/>
              <a:t>Knowledge Panels:</a:t>
            </a:r>
            <a:r>
              <a:rPr lang="en-US" dirty="0"/>
              <a:t> Information boxes that appear on the right side of the screen for entities (people, places, organizations). The data is pulled from the </a:t>
            </a:r>
            <a:r>
              <a:rPr lang="en-US" b="1" dirty="0"/>
              <a:t>Knowledge Graph</a:t>
            </a:r>
            <a:r>
              <a:rPr lang="en-US" dirty="0"/>
              <a:t>, not just a single website.</a:t>
            </a:r>
          </a:p>
          <a:p>
            <a:pPr lvl="2"/>
            <a:r>
              <a:rPr lang="en-US" b="1" dirty="0"/>
              <a:t>Local Pack:</a:t>
            </a:r>
            <a:r>
              <a:rPr lang="en-US" dirty="0"/>
              <a:t> A localized feature displaying a map and a list of three businesses relevant to the user’s location. This is critical for driving physical footfall.</a:t>
            </a:r>
          </a:p>
          <a:p>
            <a:pPr lvl="2"/>
            <a:r>
              <a:rPr lang="en-US" b="1" dirty="0"/>
              <a:t>AI Overviews (2026):</a:t>
            </a:r>
            <a:r>
              <a:rPr lang="en-US" dirty="0"/>
              <a:t> Algorithmic summaries generated by AI that synthesize information from multiple top-ranking sources into a single, cohesive response at the top of the SERP.</a:t>
            </a:r>
          </a:p>
        </p:txBody>
      </p:sp>
    </p:spTree>
    <p:extLst>
      <p:ext uri="{BB962C8B-B14F-4D97-AF65-F5344CB8AC3E}">
        <p14:creationId xmlns:p14="http://schemas.microsoft.com/office/powerpoint/2010/main" val="3467833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Industry Standard SEO Tools</a:t>
            </a:r>
          </a:p>
        </p:txBody>
      </p:sp>
      <p:sp>
        <p:nvSpPr>
          <p:cNvPr id="3" name="Text Placeholder 2"/>
          <p:cNvSpPr>
            <a:spLocks noGrp="1"/>
          </p:cNvSpPr>
          <p:nvPr>
            <p:ph type="body" idx="1"/>
          </p:nvPr>
        </p:nvSpPr>
        <p:spPr/>
        <p:txBody>
          <a:bodyPr/>
          <a:lstStyle/>
          <a:p>
            <a:endParaRPr lang="en-IN"/>
          </a:p>
        </p:txBody>
      </p:sp>
    </p:spTree>
    <p:extLst>
      <p:ext uri="{BB962C8B-B14F-4D97-AF65-F5344CB8AC3E}">
        <p14:creationId xmlns:p14="http://schemas.microsoft.com/office/powerpoint/2010/main" val="20849751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a:t>SEMrush Keyword Research</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a:t>SEMrush facilitates the identification of high-value search terms by providing data on </a:t>
            </a:r>
            <a:r>
              <a:rPr lang="en-US" b="1" dirty="0"/>
              <a:t>Monthly Search Volume (MSV)</a:t>
            </a:r>
            <a:r>
              <a:rPr lang="en-US" dirty="0"/>
              <a:t> and </a:t>
            </a:r>
            <a:r>
              <a:rPr lang="en-US" b="1" dirty="0"/>
              <a:t>Keyword Difficulty (KD%)</a:t>
            </a:r>
            <a:r>
              <a:rPr lang="en-US" dirty="0"/>
              <a:t>.</a:t>
            </a:r>
          </a:p>
          <a:p>
            <a:r>
              <a:rPr lang="en-US" dirty="0"/>
              <a:t>Competitor Analysis</a:t>
            </a:r>
          </a:p>
          <a:p>
            <a:pPr lvl="1"/>
            <a:r>
              <a:rPr lang="en-US" dirty="0"/>
              <a:t>Allows marketers to view the exact keywords for which competitors are ranking.</a:t>
            </a:r>
          </a:p>
          <a:p>
            <a:pPr lvl="1"/>
            <a:r>
              <a:rPr lang="en-US" dirty="0"/>
              <a:t>Provides estimates of organic traffic and the monetary value of that traffic.</a:t>
            </a:r>
          </a:p>
          <a:p>
            <a:r>
              <a:rPr lang="en-US" dirty="0"/>
              <a:t>Site Audit (Technical Health Check)</a:t>
            </a:r>
          </a:p>
          <a:p>
            <a:pPr lvl="1"/>
            <a:r>
              <a:rPr lang="en-US" dirty="0"/>
              <a:t>Automatically scans websites to identify "Crawl Errors," such as broken links (404s).</a:t>
            </a:r>
          </a:p>
          <a:p>
            <a:pPr lvl="1"/>
            <a:r>
              <a:rPr lang="en-US" dirty="0"/>
              <a:t>Detects performance issues like slow-loading pages and duplicate content that may trigger search engine penalties.</a:t>
            </a:r>
          </a:p>
        </p:txBody>
      </p:sp>
    </p:spTree>
    <p:extLst>
      <p:ext uri="{BB962C8B-B14F-4D97-AF65-F5344CB8AC3E}">
        <p14:creationId xmlns:p14="http://schemas.microsoft.com/office/powerpoint/2010/main" val="2502458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err="1"/>
              <a:t>Moz</a:t>
            </a:r>
            <a:r>
              <a:rPr lang="en-US" dirty="0"/>
              <a:t> (The Authority Benchmark)</a:t>
            </a:r>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err="1"/>
              <a:t>Moz</a:t>
            </a:r>
            <a:r>
              <a:rPr lang="en-US" dirty="0"/>
              <a:t> Domain Authority (DA) is a search engine ranking score developed by </a:t>
            </a:r>
            <a:r>
              <a:rPr lang="en-US" dirty="0" err="1"/>
              <a:t>Moz</a:t>
            </a:r>
            <a:r>
              <a:rPr lang="en-US" dirty="0"/>
              <a:t> that predicts how likely a website is to rank in search engine results pages (SERPs). Ranging from 1 to 100, a higher DA score indicates a greater ability to rank. It is a comparative metric, not a direct Google ranking factor, based on link data</a:t>
            </a:r>
          </a:p>
          <a:p>
            <a:r>
              <a:rPr lang="en-US" dirty="0"/>
              <a:t>DA is calculated by evaluating multiple factors, primarily the number of linking root domains, total backlinks, and </a:t>
            </a:r>
            <a:r>
              <a:rPr lang="en-US" dirty="0" err="1"/>
              <a:t>Moz's</a:t>
            </a:r>
            <a:r>
              <a:rPr lang="en-US" dirty="0"/>
              <a:t> Spam Score.</a:t>
            </a:r>
          </a:p>
          <a:p>
            <a:r>
              <a:rPr lang="en-US" dirty="0"/>
              <a:t>It uses a logarithmic scale (1–100). It is much easier to increase your score from 10 to 20 than from 70 to 80.</a:t>
            </a:r>
          </a:p>
          <a:p>
            <a:r>
              <a:rPr lang="en-US" dirty="0"/>
              <a:t>It is designed to be a competitive metric to compare your website's strength against competitors.</a:t>
            </a:r>
          </a:p>
        </p:txBody>
      </p:sp>
    </p:spTree>
    <p:extLst>
      <p:ext uri="{BB962C8B-B14F-4D97-AF65-F5344CB8AC3E}">
        <p14:creationId xmlns:p14="http://schemas.microsoft.com/office/powerpoint/2010/main" val="2412469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FEC2E-83E4-47A3-BD8E-BDD5E96AD376}"/>
              </a:ext>
            </a:extLst>
          </p:cNvPr>
          <p:cNvSpPr>
            <a:spLocks noGrp="1"/>
          </p:cNvSpPr>
          <p:nvPr>
            <p:ph type="title"/>
          </p:nvPr>
        </p:nvSpPr>
        <p:spPr/>
        <p:txBody>
          <a:bodyPr>
            <a:normAutofit/>
          </a:bodyPr>
          <a:lstStyle/>
          <a:p>
            <a:r>
              <a:rPr lang="en-US" dirty="0" err="1"/>
              <a:t>Ahrefs</a:t>
            </a:r>
            <a:endParaRPr lang="en-US" dirty="0"/>
          </a:p>
        </p:txBody>
      </p:sp>
      <p:sp>
        <p:nvSpPr>
          <p:cNvPr id="3" name="Content Placeholder 2">
            <a:extLst>
              <a:ext uri="{FF2B5EF4-FFF2-40B4-BE49-F238E27FC236}">
                <a16:creationId xmlns:a16="http://schemas.microsoft.com/office/drawing/2014/main" id="{7D56E3EC-169F-401A-A020-5F72AA6441CE}"/>
              </a:ext>
            </a:extLst>
          </p:cNvPr>
          <p:cNvSpPr>
            <a:spLocks noGrp="1"/>
          </p:cNvSpPr>
          <p:nvPr>
            <p:ph idx="1"/>
          </p:nvPr>
        </p:nvSpPr>
        <p:spPr/>
        <p:txBody>
          <a:bodyPr/>
          <a:lstStyle/>
          <a:p>
            <a:r>
              <a:rPr lang="en-US" dirty="0" err="1"/>
              <a:t>Ahrefs</a:t>
            </a:r>
            <a:r>
              <a:rPr lang="en-US" dirty="0"/>
              <a:t> is a comprehensive, subscription-based SEO and digital marketing platform used for competitor research, backlink analysis, keyword research, and website audits. It boasts one of the largest web crawlers, providing real-time data to help users improve organic search rankings, analyze traffic, and plan marketing strategies.</a:t>
            </a:r>
          </a:p>
          <a:p>
            <a:r>
              <a:rPr lang="en-US" b="1" dirty="0"/>
              <a:t>Site Explorer:</a:t>
            </a:r>
            <a:r>
              <a:rPr lang="en-US" dirty="0"/>
              <a:t> Allows in-depth analysis of any website’s organic traffic, paid search ads (PPC), and backlink profile.</a:t>
            </a:r>
          </a:p>
          <a:p>
            <a:r>
              <a:rPr lang="en-US" b="1" dirty="0"/>
              <a:t>Keywords Explorer:</a:t>
            </a:r>
            <a:r>
              <a:rPr lang="en-US" dirty="0"/>
              <a:t> Provides extensive data on search volume, keyword difficulty, and ranking ideas across multiple search engines.</a:t>
            </a:r>
          </a:p>
          <a:p>
            <a:r>
              <a:rPr lang="en-US" b="1" dirty="0"/>
              <a:t>Content Gap Analysis:</a:t>
            </a:r>
            <a:r>
              <a:rPr lang="en-US" dirty="0"/>
              <a:t> A strategic tool that identifies specific topics or keywords where competitors are gaining traffic, but the user's website is currently missing content.</a:t>
            </a:r>
          </a:p>
        </p:txBody>
      </p:sp>
    </p:spTree>
    <p:extLst>
      <p:ext uri="{BB962C8B-B14F-4D97-AF65-F5344CB8AC3E}">
        <p14:creationId xmlns:p14="http://schemas.microsoft.com/office/powerpoint/2010/main" val="2457005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a:xfrm>
            <a:off x="2180943" y="6175935"/>
            <a:ext cx="3735998" cy="290081"/>
          </a:xfrm>
        </p:spPr>
        <p:txBody>
          <a:bodyPr/>
          <a:lstStyle/>
          <a:p>
            <a:r>
              <a:rPr lang="en-US" dirty="0"/>
              <a:t>prashant.parmar@darshan.ac.in</a:t>
            </a:r>
          </a:p>
        </p:txBody>
      </p:sp>
      <p:sp>
        <p:nvSpPr>
          <p:cNvPr id="29"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a:xfrm>
            <a:off x="2183874" y="6460218"/>
            <a:ext cx="3735998" cy="290081"/>
          </a:xfrm>
        </p:spPr>
        <p:txBody>
          <a:bodyPr/>
          <a:lstStyle/>
          <a:p>
            <a:r>
              <a:rPr lang="en-US" dirty="0"/>
              <a:t>9586371604</a:t>
            </a:r>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35998" cy="290081"/>
          </a:xfrm>
        </p:spPr>
        <p:txBody>
          <a:bodyPr/>
          <a:lstStyle/>
          <a:p>
            <a:r>
              <a:rPr lang="en-US" dirty="0"/>
              <a:t>Darshan Institute of Management</a:t>
            </a:r>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a:xfrm>
            <a:off x="1837677" y="5273332"/>
            <a:ext cx="5581039" cy="290081"/>
          </a:xfrm>
        </p:spPr>
        <p:txBody>
          <a:bodyPr/>
          <a:lstStyle/>
          <a:p>
            <a:r>
              <a:rPr lang="en-US" dirty="0"/>
              <a:t>Mr. Prashant Parmar</a:t>
            </a:r>
          </a:p>
        </p:txBody>
      </p:sp>
      <p:sp>
        <p:nvSpPr>
          <p:cNvPr id="2" name="Text Placeholder 6">
            <a:extLst>
              <a:ext uri="{FF2B5EF4-FFF2-40B4-BE49-F238E27FC236}">
                <a16:creationId xmlns:a16="http://schemas.microsoft.com/office/drawing/2014/main" id="{C66A088E-6A21-9D52-EC85-F8EBD1B825F4}"/>
              </a:ext>
            </a:extLst>
          </p:cNvPr>
          <p:cNvSpPr>
            <a:spLocks noGrp="1"/>
          </p:cNvSpPr>
          <p:nvPr>
            <p:ph type="body" sz="quarter" idx="16"/>
          </p:nvPr>
        </p:nvSpPr>
        <p:spPr>
          <a:xfrm>
            <a:off x="2622014" y="16125"/>
            <a:ext cx="4796701" cy="734653"/>
          </a:xfrm>
        </p:spPr>
        <p:txBody>
          <a:bodyPr/>
          <a:lstStyle/>
          <a:p>
            <a:r>
              <a:rPr lang="en-US" b="1" dirty="0"/>
              <a:t>Digital Marketing </a:t>
            </a:r>
            <a:r>
              <a:rPr lang="en-US" b="1" dirty="0">
                <a:latin typeface="Roboto Condensed Light" panose="02000000000000000000" pitchFamily="2" charset="0"/>
                <a:ea typeface="Roboto Condensed Light" panose="02000000000000000000" pitchFamily="2" charset="0"/>
              </a:rPr>
              <a:t>&amp; SEO</a:t>
            </a:r>
            <a:endParaRPr lang="en-US" dirty="0">
              <a:latin typeface="Roboto Condensed Light" panose="02000000000000000000" pitchFamily="2" charset="0"/>
              <a:ea typeface="Roboto Condensed Light" panose="02000000000000000000" pitchFamily="2" charset="0"/>
            </a:endParaRPr>
          </a:p>
          <a:p>
            <a:r>
              <a:rPr lang="en-US" dirty="0">
                <a:latin typeface="Roboto Condensed Light" panose="02000000000000000000" pitchFamily="2" charset="0"/>
                <a:ea typeface="Roboto Condensed Light" panose="02000000000000000000" pitchFamily="2" charset="0"/>
              </a:rPr>
              <a:t>2504MN313 </a:t>
            </a:r>
          </a:p>
        </p:txBody>
      </p:sp>
      <p:pic>
        <p:nvPicPr>
          <p:cNvPr id="6" name="Picture Placeholder 5">
            <a:extLst>
              <a:ext uri="{FF2B5EF4-FFF2-40B4-BE49-F238E27FC236}">
                <a16:creationId xmlns:a16="http://schemas.microsoft.com/office/drawing/2014/main" id="{1EF6C89B-D841-4C17-8305-CF22BD75825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457" b="13457"/>
          <a:stretch>
            <a:fillRect/>
          </a:stretch>
        </p:blipFill>
        <p:spPr/>
      </p:pic>
    </p:spTree>
    <p:extLst>
      <p:ext uri="{BB962C8B-B14F-4D97-AF65-F5344CB8AC3E}">
        <p14:creationId xmlns:p14="http://schemas.microsoft.com/office/powerpoint/2010/main" val="3967651000"/>
      </p:ext>
    </p:extLst>
  </p:cSld>
  <p:clrMapOvr>
    <a:masterClrMapping/>
  </p:clrMapOvr>
</p:sld>
</file>

<file path=ppt/theme/theme1.xml><?xml version="1.0" encoding="utf-8"?>
<a:theme xmlns:a="http://schemas.openxmlformats.org/drawingml/2006/main" name="VIdeo Lecture 16x9 Light Templat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105CS412_CN_Unit_1_Basics of Computer Network" id="{776EB90B-736E-8E44-8980-C02A1963589B}" vid="{79FC096B-B13D-F047-BC14-878782FE5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2105CS412_CN_Unit_1_Basics of Computer Network</Template>
  <TotalTime>17051</TotalTime>
  <Words>2306</Words>
  <Application>Microsoft Office PowerPoint</Application>
  <PresentationFormat>Widescreen</PresentationFormat>
  <Paragraphs>156</Paragraphs>
  <Slides>26</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Roboto Condensed</vt:lpstr>
      <vt:lpstr>Wingdings 3</vt:lpstr>
      <vt:lpstr>Wingdings</vt:lpstr>
      <vt:lpstr>Calibri</vt:lpstr>
      <vt:lpstr>Roboto Condensed Light</vt:lpstr>
      <vt:lpstr>Arial</vt:lpstr>
      <vt:lpstr>VIdeo Lecture 16x9 Light Template</vt:lpstr>
      <vt:lpstr> Unit 5: Search Engine Optimization (SEO)    CO 5: apply SEO tactics and strategic marketing models to improve organic search rankings.    </vt:lpstr>
      <vt:lpstr>PowerPoint Presentation</vt:lpstr>
      <vt:lpstr>Foundations of SEO</vt:lpstr>
      <vt:lpstr>Introduction to Search Engine Optimization (SEO)</vt:lpstr>
      <vt:lpstr>Difference Between SEO and SEM</vt:lpstr>
      <vt:lpstr>The Critical Need for SEO in Modern Business</vt:lpstr>
      <vt:lpstr>The Three-Stage Process SEO</vt:lpstr>
      <vt:lpstr>Crawling</vt:lpstr>
      <vt:lpstr>Indexing</vt:lpstr>
      <vt:lpstr>Ranking</vt:lpstr>
      <vt:lpstr>Tactics, Ethics, and Optimization</vt:lpstr>
      <vt:lpstr>SEO Tactics &amp; Methods</vt:lpstr>
      <vt:lpstr>SEO Tactics &amp; Methods</vt:lpstr>
      <vt:lpstr>SEO Tactics &amp; Methods</vt:lpstr>
      <vt:lpstr>SEO Tactics &amp; Methods</vt:lpstr>
      <vt:lpstr>SEO Tactics &amp; Methods</vt:lpstr>
      <vt:lpstr>Ranking and the SERP </vt:lpstr>
      <vt:lpstr>Understanding SEO Ranking &amp; Factors</vt:lpstr>
      <vt:lpstr>Understanding SEO Ranking &amp; Factors</vt:lpstr>
      <vt:lpstr>Search Engine Result page (SERP)</vt:lpstr>
      <vt:lpstr>Search Engine Result Page (SERP)</vt:lpstr>
      <vt:lpstr>Industry Standard SEO Tools</vt:lpstr>
      <vt:lpstr>SEMrush Keyword Research</vt:lpstr>
      <vt:lpstr>Moz (The Authority Benchmark)</vt:lpstr>
      <vt:lpstr>Ahrefs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prashant parmar</cp:lastModifiedBy>
  <cp:revision>644</cp:revision>
  <dcterms:created xsi:type="dcterms:W3CDTF">2020-05-01T05:09:15Z</dcterms:created>
  <dcterms:modified xsi:type="dcterms:W3CDTF">2026-09-21T04:48:00Z</dcterms:modified>
</cp:coreProperties>
</file>