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2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92" r:id="rId1"/>
  </p:sldMasterIdLst>
  <p:notesMasterIdLst>
    <p:notesMasterId r:id="rId163"/>
  </p:notesMasterIdLst>
  <p:handoutMasterIdLst>
    <p:handoutMasterId r:id="rId164"/>
  </p:handoutMasterIdLst>
  <p:sldIdLst>
    <p:sldId id="283" r:id="rId2"/>
    <p:sldId id="447" r:id="rId3"/>
    <p:sldId id="2024" r:id="rId4"/>
    <p:sldId id="2025" r:id="rId5"/>
    <p:sldId id="2026" r:id="rId6"/>
    <p:sldId id="2027" r:id="rId7"/>
    <p:sldId id="2028" r:id="rId8"/>
    <p:sldId id="2029" r:id="rId9"/>
    <p:sldId id="2030" r:id="rId10"/>
    <p:sldId id="2031" r:id="rId11"/>
    <p:sldId id="2032" r:id="rId12"/>
    <p:sldId id="2033" r:id="rId13"/>
    <p:sldId id="2034" r:id="rId14"/>
    <p:sldId id="2035" r:id="rId15"/>
    <p:sldId id="2036" r:id="rId16"/>
    <p:sldId id="2037" r:id="rId17"/>
    <p:sldId id="2038" r:id="rId18"/>
    <p:sldId id="2039" r:id="rId19"/>
    <p:sldId id="2040" r:id="rId20"/>
    <p:sldId id="2041" r:id="rId21"/>
    <p:sldId id="2042" r:id="rId22"/>
    <p:sldId id="2043" r:id="rId23"/>
    <p:sldId id="2044" r:id="rId24"/>
    <p:sldId id="2045" r:id="rId25"/>
    <p:sldId id="2046" r:id="rId26"/>
    <p:sldId id="2047" r:id="rId27"/>
    <p:sldId id="2048" r:id="rId28"/>
    <p:sldId id="2049" r:id="rId29"/>
    <p:sldId id="2050" r:id="rId30"/>
    <p:sldId id="2051" r:id="rId31"/>
    <p:sldId id="2052" r:id="rId32"/>
    <p:sldId id="2053" r:id="rId33"/>
    <p:sldId id="2054" r:id="rId34"/>
    <p:sldId id="2055" r:id="rId35"/>
    <p:sldId id="2056" r:id="rId36"/>
    <p:sldId id="2057" r:id="rId37"/>
    <p:sldId id="2058" r:id="rId38"/>
    <p:sldId id="2059" r:id="rId39"/>
    <p:sldId id="2060" r:id="rId40"/>
    <p:sldId id="2061" r:id="rId41"/>
    <p:sldId id="2062" r:id="rId42"/>
    <p:sldId id="2063" r:id="rId43"/>
    <p:sldId id="2064" r:id="rId44"/>
    <p:sldId id="2065" r:id="rId45"/>
    <p:sldId id="2066" r:id="rId46"/>
    <p:sldId id="2067" r:id="rId47"/>
    <p:sldId id="2068" r:id="rId48"/>
    <p:sldId id="2069" r:id="rId49"/>
    <p:sldId id="2070" r:id="rId50"/>
    <p:sldId id="2071" r:id="rId51"/>
    <p:sldId id="2072" r:id="rId52"/>
    <p:sldId id="2073" r:id="rId53"/>
    <p:sldId id="2074" r:id="rId54"/>
    <p:sldId id="2075" r:id="rId55"/>
    <p:sldId id="2076" r:id="rId56"/>
    <p:sldId id="2077" r:id="rId57"/>
    <p:sldId id="2078" r:id="rId58"/>
    <p:sldId id="2079" r:id="rId59"/>
    <p:sldId id="2080" r:id="rId60"/>
    <p:sldId id="2081" r:id="rId61"/>
    <p:sldId id="2082" r:id="rId62"/>
    <p:sldId id="2083" r:id="rId63"/>
    <p:sldId id="2084" r:id="rId64"/>
    <p:sldId id="2085" r:id="rId65"/>
    <p:sldId id="2086" r:id="rId66"/>
    <p:sldId id="2087" r:id="rId67"/>
    <p:sldId id="2088" r:id="rId68"/>
    <p:sldId id="2089" r:id="rId69"/>
    <p:sldId id="2090" r:id="rId70"/>
    <p:sldId id="2091" r:id="rId71"/>
    <p:sldId id="2092" r:id="rId72"/>
    <p:sldId id="2093" r:id="rId73"/>
    <p:sldId id="2094" r:id="rId74"/>
    <p:sldId id="2095" r:id="rId75"/>
    <p:sldId id="2096" r:id="rId76"/>
    <p:sldId id="2097" r:id="rId77"/>
    <p:sldId id="2098" r:id="rId78"/>
    <p:sldId id="2099" r:id="rId79"/>
    <p:sldId id="2100" r:id="rId80"/>
    <p:sldId id="2101" r:id="rId81"/>
    <p:sldId id="2102" r:id="rId82"/>
    <p:sldId id="2103" r:id="rId83"/>
    <p:sldId id="2104" r:id="rId84"/>
    <p:sldId id="2105" r:id="rId85"/>
    <p:sldId id="2106" r:id="rId86"/>
    <p:sldId id="2107" r:id="rId87"/>
    <p:sldId id="2108" r:id="rId88"/>
    <p:sldId id="2109" r:id="rId89"/>
    <p:sldId id="2110" r:id="rId90"/>
    <p:sldId id="2111" r:id="rId91"/>
    <p:sldId id="2112" r:id="rId92"/>
    <p:sldId id="2113" r:id="rId93"/>
    <p:sldId id="2114" r:id="rId94"/>
    <p:sldId id="2115" r:id="rId95"/>
    <p:sldId id="2116" r:id="rId96"/>
    <p:sldId id="2117" r:id="rId97"/>
    <p:sldId id="2118" r:id="rId98"/>
    <p:sldId id="2119" r:id="rId99"/>
    <p:sldId id="2120" r:id="rId100"/>
    <p:sldId id="2121" r:id="rId101"/>
    <p:sldId id="2122" r:id="rId102"/>
    <p:sldId id="2123" r:id="rId103"/>
    <p:sldId id="2124" r:id="rId104"/>
    <p:sldId id="2125" r:id="rId105"/>
    <p:sldId id="2126" r:id="rId106"/>
    <p:sldId id="2132" r:id="rId107"/>
    <p:sldId id="2127" r:id="rId108"/>
    <p:sldId id="2128" r:id="rId109"/>
    <p:sldId id="2129" r:id="rId110"/>
    <p:sldId id="2130" r:id="rId111"/>
    <p:sldId id="2131" r:id="rId112"/>
    <p:sldId id="2133" r:id="rId113"/>
    <p:sldId id="2134" r:id="rId114"/>
    <p:sldId id="2135" r:id="rId115"/>
    <p:sldId id="2136" r:id="rId116"/>
    <p:sldId id="2137" r:id="rId117"/>
    <p:sldId id="2138" r:id="rId118"/>
    <p:sldId id="2139" r:id="rId119"/>
    <p:sldId id="2140" r:id="rId120"/>
    <p:sldId id="2141" r:id="rId121"/>
    <p:sldId id="2142" r:id="rId122"/>
    <p:sldId id="2143" r:id="rId123"/>
    <p:sldId id="2144" r:id="rId124"/>
    <p:sldId id="2145" r:id="rId125"/>
    <p:sldId id="2146" r:id="rId126"/>
    <p:sldId id="2147" r:id="rId127"/>
    <p:sldId id="2148" r:id="rId128"/>
    <p:sldId id="2149" r:id="rId129"/>
    <p:sldId id="2150" r:id="rId130"/>
    <p:sldId id="2151" r:id="rId131"/>
    <p:sldId id="2152" r:id="rId132"/>
    <p:sldId id="2153" r:id="rId133"/>
    <p:sldId id="2156" r:id="rId134"/>
    <p:sldId id="2154" r:id="rId135"/>
    <p:sldId id="2155" r:id="rId136"/>
    <p:sldId id="2157" r:id="rId137"/>
    <p:sldId id="2159" r:id="rId138"/>
    <p:sldId id="2158" r:id="rId139"/>
    <p:sldId id="2160" r:id="rId140"/>
    <p:sldId id="2162" r:id="rId141"/>
    <p:sldId id="2161" r:id="rId142"/>
    <p:sldId id="2163" r:id="rId143"/>
    <p:sldId id="2164" r:id="rId144"/>
    <p:sldId id="2165" r:id="rId145"/>
    <p:sldId id="2166" r:id="rId146"/>
    <p:sldId id="2167" r:id="rId147"/>
    <p:sldId id="2169" r:id="rId148"/>
    <p:sldId id="2170" r:id="rId149"/>
    <p:sldId id="2183" r:id="rId150"/>
    <p:sldId id="2171" r:id="rId151"/>
    <p:sldId id="2172" r:id="rId152"/>
    <p:sldId id="2173" r:id="rId153"/>
    <p:sldId id="2182" r:id="rId154"/>
    <p:sldId id="2175" r:id="rId155"/>
    <p:sldId id="2176" r:id="rId156"/>
    <p:sldId id="2177" r:id="rId157"/>
    <p:sldId id="2178" r:id="rId158"/>
    <p:sldId id="2179" r:id="rId159"/>
    <p:sldId id="2180" r:id="rId160"/>
    <p:sldId id="2181" r:id="rId161"/>
    <p:sldId id="345" r:id="rId162"/>
  </p:sldIdLst>
  <p:sldSz cx="12192000" cy="6858000"/>
  <p:notesSz cx="6858000" cy="9144000"/>
  <p:embeddedFontLst>
    <p:embeddedFont>
      <p:font typeface="Calibri" panose="020F0502020204030204" pitchFamily="34" charset="0"/>
      <p:regular r:id="rId165"/>
      <p:bold r:id="rId166"/>
      <p:italic r:id="rId167"/>
      <p:boldItalic r:id="rId168"/>
    </p:embeddedFont>
    <p:embeddedFont>
      <p:font typeface="Roboto Condensed" panose="02000000000000000000" pitchFamily="2" charset="0"/>
      <p:regular r:id="rId169"/>
      <p:bold r:id="rId170"/>
      <p:italic r:id="rId171"/>
      <p:boldItalic r:id="rId172"/>
    </p:embeddedFont>
    <p:embeddedFont>
      <p:font typeface="Roboto Condensed Light" panose="02000000000000000000" pitchFamily="2" charset="0"/>
      <p:regular r:id="rId173"/>
      <p:bold r:id="rId174"/>
      <p:italic r:id="rId175"/>
      <p:boldItalic r:id="rId176"/>
    </p:embeddedFont>
    <p:embeddedFont>
      <p:font typeface="Wingdings 3" panose="05040102010807070707" pitchFamily="18" charset="2"/>
      <p:regular r:id="rId17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4801A032-DF04-D542-AF03-FB576A7ADED9}">
          <p14:sldIdLst>
            <p14:sldId id="283"/>
            <p14:sldId id="447"/>
            <p14:sldId id="2024"/>
            <p14:sldId id="2025"/>
            <p14:sldId id="2026"/>
            <p14:sldId id="2027"/>
            <p14:sldId id="2028"/>
            <p14:sldId id="2029"/>
            <p14:sldId id="2030"/>
            <p14:sldId id="2031"/>
            <p14:sldId id="2032"/>
            <p14:sldId id="2033"/>
            <p14:sldId id="2034"/>
            <p14:sldId id="2035"/>
            <p14:sldId id="2036"/>
            <p14:sldId id="2037"/>
            <p14:sldId id="2038"/>
            <p14:sldId id="2039"/>
            <p14:sldId id="2040"/>
            <p14:sldId id="2041"/>
            <p14:sldId id="2042"/>
            <p14:sldId id="2043"/>
            <p14:sldId id="2044"/>
            <p14:sldId id="2045"/>
            <p14:sldId id="2046"/>
            <p14:sldId id="2047"/>
            <p14:sldId id="2048"/>
            <p14:sldId id="2049"/>
            <p14:sldId id="2050"/>
            <p14:sldId id="2051"/>
            <p14:sldId id="2052"/>
            <p14:sldId id="2053"/>
            <p14:sldId id="2054"/>
            <p14:sldId id="2055"/>
            <p14:sldId id="2056"/>
            <p14:sldId id="2057"/>
            <p14:sldId id="2058"/>
            <p14:sldId id="2059"/>
            <p14:sldId id="2060"/>
            <p14:sldId id="2061"/>
            <p14:sldId id="2062"/>
            <p14:sldId id="2063"/>
            <p14:sldId id="2064"/>
            <p14:sldId id="2065"/>
            <p14:sldId id="2066"/>
            <p14:sldId id="2067"/>
            <p14:sldId id="2068"/>
            <p14:sldId id="2069"/>
            <p14:sldId id="2070"/>
            <p14:sldId id="2071"/>
            <p14:sldId id="2072"/>
            <p14:sldId id="2073"/>
            <p14:sldId id="2074"/>
            <p14:sldId id="2075"/>
            <p14:sldId id="2076"/>
            <p14:sldId id="2077"/>
            <p14:sldId id="2078"/>
            <p14:sldId id="2079"/>
            <p14:sldId id="2080"/>
            <p14:sldId id="2081"/>
            <p14:sldId id="2082"/>
            <p14:sldId id="2083"/>
            <p14:sldId id="2084"/>
            <p14:sldId id="2085"/>
            <p14:sldId id="2086"/>
            <p14:sldId id="2087"/>
            <p14:sldId id="2088"/>
            <p14:sldId id="2089"/>
            <p14:sldId id="2090"/>
            <p14:sldId id="2091"/>
            <p14:sldId id="2092"/>
            <p14:sldId id="2093"/>
            <p14:sldId id="2094"/>
            <p14:sldId id="2095"/>
            <p14:sldId id="2096"/>
            <p14:sldId id="2097"/>
            <p14:sldId id="2098"/>
            <p14:sldId id="2099"/>
            <p14:sldId id="2100"/>
            <p14:sldId id="2101"/>
            <p14:sldId id="2102"/>
            <p14:sldId id="2103"/>
            <p14:sldId id="2104"/>
            <p14:sldId id="2105"/>
            <p14:sldId id="2106"/>
            <p14:sldId id="2107"/>
            <p14:sldId id="2108"/>
            <p14:sldId id="2109"/>
            <p14:sldId id="2110"/>
            <p14:sldId id="2111"/>
            <p14:sldId id="2112"/>
            <p14:sldId id="2113"/>
            <p14:sldId id="2114"/>
            <p14:sldId id="2115"/>
            <p14:sldId id="2116"/>
            <p14:sldId id="2117"/>
            <p14:sldId id="2118"/>
            <p14:sldId id="2119"/>
            <p14:sldId id="2120"/>
            <p14:sldId id="2121"/>
            <p14:sldId id="2122"/>
            <p14:sldId id="2123"/>
            <p14:sldId id="2124"/>
            <p14:sldId id="2125"/>
            <p14:sldId id="2126"/>
            <p14:sldId id="2132"/>
            <p14:sldId id="2127"/>
            <p14:sldId id="2128"/>
            <p14:sldId id="2129"/>
            <p14:sldId id="2130"/>
            <p14:sldId id="2131"/>
            <p14:sldId id="2133"/>
            <p14:sldId id="2134"/>
            <p14:sldId id="2135"/>
            <p14:sldId id="2136"/>
            <p14:sldId id="2137"/>
            <p14:sldId id="2138"/>
            <p14:sldId id="2139"/>
            <p14:sldId id="2140"/>
            <p14:sldId id="2141"/>
            <p14:sldId id="2142"/>
            <p14:sldId id="2143"/>
            <p14:sldId id="2144"/>
            <p14:sldId id="2145"/>
            <p14:sldId id="2146"/>
            <p14:sldId id="2147"/>
            <p14:sldId id="2148"/>
            <p14:sldId id="2149"/>
            <p14:sldId id="2150"/>
            <p14:sldId id="2151"/>
            <p14:sldId id="2152"/>
            <p14:sldId id="2153"/>
            <p14:sldId id="2156"/>
            <p14:sldId id="2154"/>
            <p14:sldId id="2155"/>
            <p14:sldId id="2157"/>
            <p14:sldId id="2159"/>
            <p14:sldId id="2158"/>
            <p14:sldId id="2160"/>
            <p14:sldId id="2162"/>
            <p14:sldId id="2161"/>
            <p14:sldId id="2163"/>
            <p14:sldId id="2164"/>
            <p14:sldId id="2165"/>
            <p14:sldId id="2166"/>
            <p14:sldId id="2167"/>
            <p14:sldId id="2169"/>
            <p14:sldId id="2170"/>
            <p14:sldId id="2183"/>
            <p14:sldId id="2171"/>
            <p14:sldId id="2172"/>
            <p14:sldId id="2173"/>
            <p14:sldId id="2182"/>
            <p14:sldId id="2175"/>
            <p14:sldId id="2176"/>
            <p14:sldId id="2177"/>
            <p14:sldId id="2178"/>
            <p14:sldId id="2179"/>
            <p14:sldId id="2180"/>
            <p14:sldId id="2181"/>
            <p14:sldId id="345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AFCFF"/>
    <a:srgbClr val="EDF0FC"/>
    <a:srgbClr val="3399FF"/>
    <a:srgbClr val="301B92"/>
    <a:srgbClr val="673BB7"/>
    <a:srgbClr val="607D8B"/>
    <a:srgbClr val="ED524F"/>
    <a:srgbClr val="B71B1C"/>
    <a:srgbClr val="F54337"/>
    <a:srgbClr val="D81A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FABFCF23-3B69-468F-B69F-88F6DE6A72F2}" styleName="Medium Style 1 –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6D9F66E-5EB9-4882-86FB-DCBF35E3C3E4}" styleName="Medium Style 4 –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E8B1032C-EA38-4F05-BA0D-38AFFFC7BED3}" styleName="Light Style 3 –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93296810-A885-4BE3-A3E7-6D5BEEA58F35}" styleName="Medium Style 2 –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0A1B5D5-9B99-4C35-A422-299274C87663}" styleName="Medium Style 1 –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7" d="100"/>
          <a:sy n="97" d="100"/>
        </p:scale>
        <p:origin x="3688" y="2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59" Type="http://schemas.openxmlformats.org/officeDocument/2006/relationships/slide" Target="slides/slide158.xml"/><Relationship Id="rId170" Type="http://schemas.openxmlformats.org/officeDocument/2006/relationships/font" Target="fonts/font6.fntdata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149" Type="http://schemas.openxmlformats.org/officeDocument/2006/relationships/slide" Target="slides/slide148.xml"/><Relationship Id="rId5" Type="http://schemas.openxmlformats.org/officeDocument/2006/relationships/slide" Target="slides/slide4.xml"/><Relationship Id="rId95" Type="http://schemas.openxmlformats.org/officeDocument/2006/relationships/slide" Target="slides/slide94.xml"/><Relationship Id="rId160" Type="http://schemas.openxmlformats.org/officeDocument/2006/relationships/slide" Target="slides/slide159.xml"/><Relationship Id="rId181" Type="http://schemas.openxmlformats.org/officeDocument/2006/relationships/tableStyles" Target="tableStyles.xml"/><Relationship Id="rId22" Type="http://schemas.openxmlformats.org/officeDocument/2006/relationships/slide" Target="slides/slide21.xml"/><Relationship Id="rId43" Type="http://schemas.openxmlformats.org/officeDocument/2006/relationships/slide" Target="slides/slide42.xml"/><Relationship Id="rId64" Type="http://schemas.openxmlformats.org/officeDocument/2006/relationships/slide" Target="slides/slide63.xml"/><Relationship Id="rId118" Type="http://schemas.openxmlformats.org/officeDocument/2006/relationships/slide" Target="slides/slide117.xml"/><Relationship Id="rId139" Type="http://schemas.openxmlformats.org/officeDocument/2006/relationships/slide" Target="slides/slide138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171" Type="http://schemas.openxmlformats.org/officeDocument/2006/relationships/font" Target="fonts/font7.fntdata"/><Relationship Id="rId12" Type="http://schemas.openxmlformats.org/officeDocument/2006/relationships/slide" Target="slides/slide11.xml"/><Relationship Id="rId33" Type="http://schemas.openxmlformats.org/officeDocument/2006/relationships/slide" Target="slides/slide32.xml"/><Relationship Id="rId108" Type="http://schemas.openxmlformats.org/officeDocument/2006/relationships/slide" Target="slides/slide107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5" Type="http://schemas.openxmlformats.org/officeDocument/2006/relationships/slide" Target="slides/slide74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61" Type="http://schemas.openxmlformats.org/officeDocument/2006/relationships/slide" Target="slides/slide160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35" Type="http://schemas.openxmlformats.org/officeDocument/2006/relationships/slide" Target="slides/slide134.xml"/><Relationship Id="rId151" Type="http://schemas.openxmlformats.org/officeDocument/2006/relationships/slide" Target="slides/slide150.xml"/><Relationship Id="rId156" Type="http://schemas.openxmlformats.org/officeDocument/2006/relationships/slide" Target="slides/slide155.xml"/><Relationship Id="rId177" Type="http://schemas.openxmlformats.org/officeDocument/2006/relationships/font" Target="fonts/font13.fntdata"/><Relationship Id="rId172" Type="http://schemas.openxmlformats.org/officeDocument/2006/relationships/font" Target="fonts/font8.fntdata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141" Type="http://schemas.openxmlformats.org/officeDocument/2006/relationships/slide" Target="slides/slide140.xml"/><Relationship Id="rId146" Type="http://schemas.openxmlformats.org/officeDocument/2006/relationships/slide" Target="slides/slide145.xml"/><Relationship Id="rId167" Type="http://schemas.openxmlformats.org/officeDocument/2006/relationships/font" Target="fonts/font3.fntdata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162" Type="http://schemas.openxmlformats.org/officeDocument/2006/relationships/slide" Target="slides/slide16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157" Type="http://schemas.openxmlformats.org/officeDocument/2006/relationships/slide" Target="slides/slide156.xml"/><Relationship Id="rId178" Type="http://schemas.openxmlformats.org/officeDocument/2006/relationships/presProps" Target="presProp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52" Type="http://schemas.openxmlformats.org/officeDocument/2006/relationships/slide" Target="slides/slide151.xml"/><Relationship Id="rId173" Type="http://schemas.openxmlformats.org/officeDocument/2006/relationships/font" Target="fonts/font9.fntdata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168" Type="http://schemas.openxmlformats.org/officeDocument/2006/relationships/font" Target="fonts/font4.fntdata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16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158" Type="http://schemas.openxmlformats.org/officeDocument/2006/relationships/slide" Target="slides/slide157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3" Type="http://schemas.openxmlformats.org/officeDocument/2006/relationships/slide" Target="slides/slide152.xml"/><Relationship Id="rId174" Type="http://schemas.openxmlformats.org/officeDocument/2006/relationships/font" Target="fonts/font10.fntdata"/><Relationship Id="rId179" Type="http://schemas.openxmlformats.org/officeDocument/2006/relationships/viewProps" Target="viewProps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48" Type="http://schemas.openxmlformats.org/officeDocument/2006/relationships/slide" Target="slides/slide147.xml"/><Relationship Id="rId164" Type="http://schemas.openxmlformats.org/officeDocument/2006/relationships/handoutMaster" Target="handoutMasters/handoutMaster1.xml"/><Relationship Id="rId16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80" Type="http://schemas.openxmlformats.org/officeDocument/2006/relationships/theme" Target="theme/theme1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54" Type="http://schemas.openxmlformats.org/officeDocument/2006/relationships/slide" Target="slides/slide153.xml"/><Relationship Id="rId175" Type="http://schemas.openxmlformats.org/officeDocument/2006/relationships/font" Target="fonts/font11.fntdata"/><Relationship Id="rId16" Type="http://schemas.openxmlformats.org/officeDocument/2006/relationships/slide" Target="slides/slide15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slide" Target="slides/slide143.xml"/><Relationship Id="rId90" Type="http://schemas.openxmlformats.org/officeDocument/2006/relationships/slide" Target="slides/slide89.xml"/><Relationship Id="rId165" Type="http://schemas.openxmlformats.org/officeDocument/2006/relationships/font" Target="fonts/font1.fntdata"/><Relationship Id="rId27" Type="http://schemas.openxmlformats.org/officeDocument/2006/relationships/slide" Target="slides/slide26.xml"/><Relationship Id="rId48" Type="http://schemas.openxmlformats.org/officeDocument/2006/relationships/slide" Target="slides/slide47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34" Type="http://schemas.openxmlformats.org/officeDocument/2006/relationships/slide" Target="slides/slide133.xml"/><Relationship Id="rId80" Type="http://schemas.openxmlformats.org/officeDocument/2006/relationships/slide" Target="slides/slide79.xml"/><Relationship Id="rId155" Type="http://schemas.openxmlformats.org/officeDocument/2006/relationships/slide" Target="slides/slide154.xml"/><Relationship Id="rId176" Type="http://schemas.openxmlformats.org/officeDocument/2006/relationships/font" Target="fonts/font12.fntdata"/><Relationship Id="rId17" Type="http://schemas.openxmlformats.org/officeDocument/2006/relationships/slide" Target="slides/slide16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24" Type="http://schemas.openxmlformats.org/officeDocument/2006/relationships/slide" Target="slides/slide123.xml"/><Relationship Id="rId70" Type="http://schemas.openxmlformats.org/officeDocument/2006/relationships/slide" Target="slides/slide69.xml"/><Relationship Id="rId91" Type="http://schemas.openxmlformats.org/officeDocument/2006/relationships/slide" Target="slides/slide90.xml"/><Relationship Id="rId145" Type="http://schemas.openxmlformats.org/officeDocument/2006/relationships/slide" Target="slides/slide144.xml"/><Relationship Id="rId166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2">
  <dgm:title val=""/>
  <dgm:desc val=""/>
  <dgm:catLst>
    <dgm:cat type="mainScheme" pri="10200"/>
  </dgm:catLst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6_2">
  <dgm:title val=""/>
  <dgm:desc val=""/>
  <dgm:catLst>
    <dgm:cat type="accent6" pri="11200"/>
  </dgm:catLst>
  <dgm:styleLbl name="node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ln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E25B762-CA6B-4667-A86A-D4089CA67F1D}" type="doc">
      <dgm:prSet loTypeId="urn:microsoft.com/office/officeart/2024/layout/BulletTimelineInverted" loCatId="process" qsTypeId="urn:microsoft.com/office/officeart/2005/8/quickstyle/simple1" qsCatId="simple" csTypeId="urn:microsoft.com/office/officeart/2005/8/colors/accent0_2" csCatId="mainScheme" phldr="1"/>
      <dgm:spPr/>
      <dgm:t>
        <a:bodyPr/>
        <a:lstStyle/>
        <a:p>
          <a:endParaRPr lang="en-US"/>
        </a:p>
      </dgm:t>
    </dgm:pt>
    <dgm:pt modelId="{8469B9A6-3515-4B94-B8C2-ACEC23DEC699}">
      <dgm:prSet custT="1"/>
      <dgm:spPr/>
      <dgm:t>
        <a:bodyPr/>
        <a:lstStyle/>
        <a:p>
          <a:pPr>
            <a:defRPr b="1"/>
          </a:pPr>
          <a:r>
            <a:rPr lang="en-US" sz="2000" b="1" dirty="0"/>
            <a:t>Situation Analysis</a:t>
          </a:r>
        </a:p>
      </dgm:t>
    </dgm:pt>
    <dgm:pt modelId="{B6F27ADE-A511-46DC-8B07-4DD102FC4660}" type="parTrans" cxnId="{187F8B50-80E0-40AE-97E1-FF6E8E1ED862}">
      <dgm:prSet/>
      <dgm:spPr/>
      <dgm:t>
        <a:bodyPr/>
        <a:lstStyle/>
        <a:p>
          <a:endParaRPr lang="en-US" sz="2800" b="1"/>
        </a:p>
      </dgm:t>
    </dgm:pt>
    <dgm:pt modelId="{B5231E89-6CF6-4D5A-976A-2E914AD12550}" type="sibTrans" cxnId="{187F8B50-80E0-40AE-97E1-FF6E8E1ED862}">
      <dgm:prSet/>
      <dgm:spPr/>
      <dgm:t>
        <a:bodyPr/>
        <a:lstStyle/>
        <a:p>
          <a:endParaRPr lang="en-US" sz="2800" b="1"/>
        </a:p>
      </dgm:t>
    </dgm:pt>
    <dgm:pt modelId="{19382F31-5CEE-44D6-B5DE-1B60F9AAFEF3}">
      <dgm:prSet custT="1"/>
      <dgm:spPr/>
      <dgm:t>
        <a:bodyPr/>
        <a:lstStyle/>
        <a:p>
          <a:pPr>
            <a:defRPr b="1"/>
          </a:pPr>
          <a:r>
            <a:rPr lang="en-US" sz="2000" b="1"/>
            <a:t>Set Marketing Objectives</a:t>
          </a:r>
        </a:p>
      </dgm:t>
    </dgm:pt>
    <dgm:pt modelId="{B94EA497-AA15-488B-B4D8-E93EECE4A684}" type="parTrans" cxnId="{0CA54190-BD8E-4C89-9BD6-83C0B0E13B62}">
      <dgm:prSet/>
      <dgm:spPr/>
      <dgm:t>
        <a:bodyPr/>
        <a:lstStyle/>
        <a:p>
          <a:endParaRPr lang="en-US" sz="2800" b="1"/>
        </a:p>
      </dgm:t>
    </dgm:pt>
    <dgm:pt modelId="{ABB33C11-21AD-4870-930C-C16756D2710C}" type="sibTrans" cxnId="{0CA54190-BD8E-4C89-9BD6-83C0B0E13B62}">
      <dgm:prSet/>
      <dgm:spPr/>
      <dgm:t>
        <a:bodyPr/>
        <a:lstStyle/>
        <a:p>
          <a:endParaRPr lang="en-US" sz="2800" b="1"/>
        </a:p>
      </dgm:t>
    </dgm:pt>
    <dgm:pt modelId="{CCB16A78-22D4-4FFD-9BAD-115029AEC7DE}">
      <dgm:prSet custT="1"/>
      <dgm:spPr/>
      <dgm:t>
        <a:bodyPr/>
        <a:lstStyle/>
        <a:p>
          <a:pPr>
            <a:defRPr b="1"/>
          </a:pPr>
          <a:r>
            <a:rPr lang="en-US" sz="2000" b="1" dirty="0"/>
            <a:t>Identify Target Audience</a:t>
          </a:r>
        </a:p>
      </dgm:t>
    </dgm:pt>
    <dgm:pt modelId="{9D8A3862-53D2-4A33-90CB-915F297CF1C5}" type="parTrans" cxnId="{9DC3B39D-B643-48E9-A81B-27414CCD8B24}">
      <dgm:prSet/>
      <dgm:spPr/>
      <dgm:t>
        <a:bodyPr/>
        <a:lstStyle/>
        <a:p>
          <a:endParaRPr lang="en-US" sz="2800" b="1"/>
        </a:p>
      </dgm:t>
    </dgm:pt>
    <dgm:pt modelId="{2C4CE6FE-B9E9-44EC-9D40-CB53E0077BF6}" type="sibTrans" cxnId="{9DC3B39D-B643-48E9-A81B-27414CCD8B24}">
      <dgm:prSet/>
      <dgm:spPr/>
      <dgm:t>
        <a:bodyPr/>
        <a:lstStyle/>
        <a:p>
          <a:endParaRPr lang="en-US" sz="2800" b="1"/>
        </a:p>
      </dgm:t>
    </dgm:pt>
    <dgm:pt modelId="{593C4D15-9BD7-4149-AC91-B1D4C91A982C}">
      <dgm:prSet custT="1"/>
      <dgm:spPr/>
      <dgm:t>
        <a:bodyPr/>
        <a:lstStyle/>
        <a:p>
          <a:pPr>
            <a:defRPr b="1"/>
          </a:pPr>
          <a:r>
            <a:rPr lang="en-US" sz="2000" b="1"/>
            <a:t>Competitor Analysis</a:t>
          </a:r>
        </a:p>
      </dgm:t>
    </dgm:pt>
    <dgm:pt modelId="{FB30A588-6B27-4916-BF38-B0591431FE2E}" type="parTrans" cxnId="{49E5FECA-CE50-4F1F-8E44-FC2210CBEABF}">
      <dgm:prSet/>
      <dgm:spPr/>
      <dgm:t>
        <a:bodyPr/>
        <a:lstStyle/>
        <a:p>
          <a:endParaRPr lang="en-US" sz="2800" b="1"/>
        </a:p>
      </dgm:t>
    </dgm:pt>
    <dgm:pt modelId="{51B114F0-079C-4E90-86AE-782A7E933704}" type="sibTrans" cxnId="{49E5FECA-CE50-4F1F-8E44-FC2210CBEABF}">
      <dgm:prSet/>
      <dgm:spPr/>
      <dgm:t>
        <a:bodyPr/>
        <a:lstStyle/>
        <a:p>
          <a:endParaRPr lang="en-US" sz="2800" b="1"/>
        </a:p>
      </dgm:t>
    </dgm:pt>
    <dgm:pt modelId="{4F3CD333-73F9-45BD-9823-219FFA1CFA0C}">
      <dgm:prSet custT="1"/>
      <dgm:spPr/>
      <dgm:t>
        <a:bodyPr/>
        <a:lstStyle/>
        <a:p>
          <a:pPr>
            <a:defRPr b="1"/>
          </a:pPr>
          <a:r>
            <a:rPr lang="en-US" sz="2000" b="1"/>
            <a:t>Select Digital Marketing Channels</a:t>
          </a:r>
        </a:p>
      </dgm:t>
    </dgm:pt>
    <dgm:pt modelId="{83DEC0DA-1B4A-436C-943A-0EA36E8815BD}" type="parTrans" cxnId="{1C8D177F-1DC4-4694-80FF-2DB05E8719B7}">
      <dgm:prSet/>
      <dgm:spPr/>
      <dgm:t>
        <a:bodyPr/>
        <a:lstStyle/>
        <a:p>
          <a:endParaRPr lang="en-US" sz="2800" b="1"/>
        </a:p>
      </dgm:t>
    </dgm:pt>
    <dgm:pt modelId="{5C565953-4DD5-45FD-BEA2-8AF4D2087840}" type="sibTrans" cxnId="{1C8D177F-1DC4-4694-80FF-2DB05E8719B7}">
      <dgm:prSet/>
      <dgm:spPr/>
      <dgm:t>
        <a:bodyPr/>
        <a:lstStyle/>
        <a:p>
          <a:endParaRPr lang="en-US" sz="2800" b="1"/>
        </a:p>
      </dgm:t>
    </dgm:pt>
    <dgm:pt modelId="{C9B0B70A-CA69-470F-B755-F3A8277E8B88}">
      <dgm:prSet custT="1"/>
      <dgm:spPr/>
      <dgm:t>
        <a:bodyPr/>
        <a:lstStyle/>
        <a:p>
          <a:pPr>
            <a:defRPr b="1"/>
          </a:pPr>
          <a:r>
            <a:rPr lang="en-US" sz="2000" b="1"/>
            <a:t>Develop Content Strategy</a:t>
          </a:r>
        </a:p>
      </dgm:t>
    </dgm:pt>
    <dgm:pt modelId="{8CD3A4AF-19AF-4ACC-8260-4E2DCD90DEC5}" type="parTrans" cxnId="{226D2B28-AFA4-40A1-9C6D-BBD2E5825B9A}">
      <dgm:prSet/>
      <dgm:spPr/>
      <dgm:t>
        <a:bodyPr/>
        <a:lstStyle/>
        <a:p>
          <a:endParaRPr lang="en-US" sz="2800" b="1"/>
        </a:p>
      </dgm:t>
    </dgm:pt>
    <dgm:pt modelId="{CA5E58AF-D00E-4AC1-AD90-0D5E83BB3F73}" type="sibTrans" cxnId="{226D2B28-AFA4-40A1-9C6D-BBD2E5825B9A}">
      <dgm:prSet/>
      <dgm:spPr/>
      <dgm:t>
        <a:bodyPr/>
        <a:lstStyle/>
        <a:p>
          <a:endParaRPr lang="en-US" sz="2800" b="1"/>
        </a:p>
      </dgm:t>
    </dgm:pt>
    <dgm:pt modelId="{3FA55948-8B98-402E-9974-558654D783F9}">
      <dgm:prSet custT="1"/>
      <dgm:spPr/>
      <dgm:t>
        <a:bodyPr/>
        <a:lstStyle/>
        <a:p>
          <a:pPr>
            <a:defRPr b="1"/>
          </a:pPr>
          <a:r>
            <a:rPr lang="en-US" sz="2000" b="1" dirty="0"/>
            <a:t>Allocate Budget &amp; Resources</a:t>
          </a:r>
        </a:p>
      </dgm:t>
    </dgm:pt>
    <dgm:pt modelId="{5E8912A1-8C00-4ED6-846B-240645EA3C5F}" type="parTrans" cxnId="{9965940F-1FCC-4801-8961-13A4536AD2A9}">
      <dgm:prSet/>
      <dgm:spPr/>
      <dgm:t>
        <a:bodyPr/>
        <a:lstStyle/>
        <a:p>
          <a:endParaRPr lang="en-US" sz="2800" b="1"/>
        </a:p>
      </dgm:t>
    </dgm:pt>
    <dgm:pt modelId="{7237A5B3-6CDA-461B-A7D2-0518C0563718}" type="sibTrans" cxnId="{9965940F-1FCC-4801-8961-13A4536AD2A9}">
      <dgm:prSet/>
      <dgm:spPr/>
      <dgm:t>
        <a:bodyPr/>
        <a:lstStyle/>
        <a:p>
          <a:endParaRPr lang="en-US" sz="2800" b="1"/>
        </a:p>
      </dgm:t>
    </dgm:pt>
    <dgm:pt modelId="{1F18929F-9B04-4C9D-A369-A01D3ABBA6BD}">
      <dgm:prSet custT="1"/>
      <dgm:spPr/>
      <dgm:t>
        <a:bodyPr/>
        <a:lstStyle/>
        <a:p>
          <a:pPr>
            <a:defRPr b="1"/>
          </a:pPr>
          <a:r>
            <a:rPr lang="en-US" sz="2000" b="1"/>
            <a:t>Execute Campaign</a:t>
          </a:r>
        </a:p>
      </dgm:t>
    </dgm:pt>
    <dgm:pt modelId="{9F11169E-9602-4BBD-BCFC-E7EED1C7A4EE}" type="parTrans" cxnId="{8317FD58-6AC2-412E-902B-16C2AAE871A0}">
      <dgm:prSet/>
      <dgm:spPr/>
      <dgm:t>
        <a:bodyPr/>
        <a:lstStyle/>
        <a:p>
          <a:endParaRPr lang="en-US" sz="2800" b="1"/>
        </a:p>
      </dgm:t>
    </dgm:pt>
    <dgm:pt modelId="{A30A15FF-4089-46B5-AEFE-AB0BCB470377}" type="sibTrans" cxnId="{8317FD58-6AC2-412E-902B-16C2AAE871A0}">
      <dgm:prSet/>
      <dgm:spPr/>
      <dgm:t>
        <a:bodyPr/>
        <a:lstStyle/>
        <a:p>
          <a:endParaRPr lang="en-US" sz="2800" b="1"/>
        </a:p>
      </dgm:t>
    </dgm:pt>
    <dgm:pt modelId="{6BE19809-2346-4F3F-9C72-31391AEBFC98}">
      <dgm:prSet custT="1"/>
      <dgm:spPr/>
      <dgm:t>
        <a:bodyPr/>
        <a:lstStyle/>
        <a:p>
          <a:pPr>
            <a:defRPr b="1"/>
          </a:pPr>
          <a:r>
            <a:rPr lang="en-US" sz="2000" b="1" dirty="0"/>
            <a:t>Monitor &amp; Measure Performance</a:t>
          </a:r>
        </a:p>
      </dgm:t>
    </dgm:pt>
    <dgm:pt modelId="{F56D35F9-EB5A-4E5B-BC0F-94F92003B4A6}" type="parTrans" cxnId="{A04881FB-2BB7-43B2-B057-3BE5755383F9}">
      <dgm:prSet/>
      <dgm:spPr/>
      <dgm:t>
        <a:bodyPr/>
        <a:lstStyle/>
        <a:p>
          <a:endParaRPr lang="en-US" sz="2800" b="1"/>
        </a:p>
      </dgm:t>
    </dgm:pt>
    <dgm:pt modelId="{C4FE776C-C043-4334-AA6F-72EB2DDC566F}" type="sibTrans" cxnId="{A04881FB-2BB7-43B2-B057-3BE5755383F9}">
      <dgm:prSet/>
      <dgm:spPr/>
      <dgm:t>
        <a:bodyPr/>
        <a:lstStyle/>
        <a:p>
          <a:endParaRPr lang="en-US" sz="2800" b="1"/>
        </a:p>
      </dgm:t>
    </dgm:pt>
    <dgm:pt modelId="{208D9967-2ED4-4E6E-BEDB-B4D025A7F894}">
      <dgm:prSet custT="1"/>
      <dgm:spPr/>
      <dgm:t>
        <a:bodyPr/>
        <a:lstStyle/>
        <a:p>
          <a:pPr>
            <a:defRPr b="1"/>
          </a:pPr>
          <a:r>
            <a:rPr lang="en-US" sz="2000" b="1"/>
            <a:t>Review &amp; Optimize</a:t>
          </a:r>
        </a:p>
      </dgm:t>
    </dgm:pt>
    <dgm:pt modelId="{21A93B2A-58ED-4D9C-ADE5-47AAB1F75451}" type="parTrans" cxnId="{8B5D524A-7EC1-4BB2-AA95-EF3619325581}">
      <dgm:prSet/>
      <dgm:spPr/>
      <dgm:t>
        <a:bodyPr/>
        <a:lstStyle/>
        <a:p>
          <a:endParaRPr lang="en-US" sz="2800" b="1"/>
        </a:p>
      </dgm:t>
    </dgm:pt>
    <dgm:pt modelId="{C31B51CB-F673-4627-8FE9-5238BDB7CAEE}" type="sibTrans" cxnId="{8B5D524A-7EC1-4BB2-AA95-EF3619325581}">
      <dgm:prSet/>
      <dgm:spPr/>
      <dgm:t>
        <a:bodyPr/>
        <a:lstStyle/>
        <a:p>
          <a:endParaRPr lang="en-US" sz="2800" b="1"/>
        </a:p>
      </dgm:t>
    </dgm:pt>
    <dgm:pt modelId="{F3FCB5C6-1590-49DE-A3BC-7C0ED337D5E2}" type="pres">
      <dgm:prSet presAssocID="{CE25B762-CA6B-4667-A86A-D4089CA67F1D}" presName="root" presStyleCnt="0">
        <dgm:presLayoutVars>
          <dgm:dir/>
          <dgm:animLvl val="lvl"/>
        </dgm:presLayoutVars>
      </dgm:prSet>
      <dgm:spPr/>
    </dgm:pt>
    <dgm:pt modelId="{7FB8599E-2C11-4DF8-89D2-209F48FD72AB}" type="pres">
      <dgm:prSet presAssocID="{CE25B762-CA6B-4667-A86A-D4089CA67F1D}" presName="divider" presStyleCnt="0"/>
      <dgm:spPr/>
    </dgm:pt>
    <dgm:pt modelId="{BC86A260-5C32-4668-9B50-E817C817415B}" type="pres">
      <dgm:prSet presAssocID="{CE25B762-CA6B-4667-A86A-D4089CA67F1D}" presName="rectBar" presStyleLbl="dkBgShp" presStyleIdx="0" presStyleCnt="12"/>
      <dgm:spPr>
        <a:gradFill rotWithShape="0">
          <a:gsLst>
            <a:gs pos="0">
              <a:schemeClr val="dk2">
                <a:tint val="76000"/>
              </a:schemeClr>
            </a:gs>
            <a:gs pos="100000">
              <a:schemeClr val="dk2">
                <a:tint val="76000"/>
              </a:schemeClr>
            </a:gs>
          </a:gsLst>
          <a:lin ang="0" scaled="0"/>
        </a:gradFill>
        <a:ln>
          <a:noFill/>
        </a:ln>
        <a:effectLst/>
      </dgm:spPr>
    </dgm:pt>
    <dgm:pt modelId="{FCD90E13-C0C1-4923-9859-1944297F749C}" type="pres">
      <dgm:prSet presAssocID="{CE25B762-CA6B-4667-A86A-D4089CA67F1D}" presName="chevronArrow" presStyleLbl="dkBgShp" presStyleIdx="1" presStyleCnt="12"/>
      <dgm:spPr>
        <a:gradFill rotWithShape="0">
          <a:gsLst>
            <a:gs pos="0">
              <a:schemeClr val="dk2">
                <a:tint val="76000"/>
              </a:schemeClr>
            </a:gs>
            <a:gs pos="100000">
              <a:schemeClr val="dk2">
                <a:tint val="76000"/>
              </a:schemeClr>
            </a:gs>
          </a:gsLst>
          <a:lin ang="0" scaled="0"/>
        </a:gradFill>
        <a:ln>
          <a:noFill/>
        </a:ln>
        <a:effectLst/>
      </dgm:spPr>
    </dgm:pt>
    <dgm:pt modelId="{5562D97B-8DB6-478F-8AEA-E31CEF2B9D4A}" type="pres">
      <dgm:prSet presAssocID="{CE25B762-CA6B-4667-A86A-D4089CA67F1D}" presName="nodes" presStyleCnt="0">
        <dgm:presLayoutVars>
          <dgm:chMax/>
          <dgm:chPref/>
          <dgm:animLvl val="lvl"/>
        </dgm:presLayoutVars>
      </dgm:prSet>
      <dgm:spPr/>
    </dgm:pt>
    <dgm:pt modelId="{FC2D0D0C-6A99-4380-A521-CF1310AF7FEB}" type="pres">
      <dgm:prSet presAssocID="{8469B9A6-3515-4B94-B8C2-ACEC23DEC699}" presName="composite" presStyleCnt="0"/>
      <dgm:spPr/>
    </dgm:pt>
    <dgm:pt modelId="{7AD117BC-6B0B-42BF-A785-9EBB1F697E67}" type="pres">
      <dgm:prSet presAssocID="{8469B9A6-3515-4B94-B8C2-ACEC23DEC699}" presName="DropPinPlaceHolder" presStyleCnt="0"/>
      <dgm:spPr/>
    </dgm:pt>
    <dgm:pt modelId="{A3C95C9D-EF79-450F-87BF-0734319D0103}" type="pres">
      <dgm:prSet presAssocID="{8469B9A6-3515-4B94-B8C2-ACEC23DEC699}" presName="DropPin" presStyleLbl="alignNode1" presStyleIdx="0" presStyleCnt="10"/>
      <dgm:spPr/>
    </dgm:pt>
    <dgm:pt modelId="{41CA95A2-AE1D-4EC8-9548-9A8194A32EFB}" type="pres">
      <dgm:prSet presAssocID="{8469B9A6-3515-4B94-B8C2-ACEC23DEC699}" presName="Ellipse" presStyleLbl="fgAcc1" presStyleIdx="0" presStyleCnt="10"/>
      <dgm:spPr/>
    </dgm:pt>
    <dgm:pt modelId="{BAC3F0DE-EF35-4ED6-9FB7-D1B13AAFC910}" type="pres">
      <dgm:prSet presAssocID="{8469B9A6-3515-4B94-B8C2-ACEC23DEC699}" presName="L2TextContainer" presStyleLbl="revTx" presStyleIdx="0" presStyleCnt="20">
        <dgm:presLayoutVars>
          <dgm:bulletEnabled val="1"/>
        </dgm:presLayoutVars>
      </dgm:prSet>
      <dgm:spPr/>
    </dgm:pt>
    <dgm:pt modelId="{072B98A0-A342-4847-A665-6DF975CE6A64}" type="pres">
      <dgm:prSet presAssocID="{8469B9A6-3515-4B94-B8C2-ACEC23DEC699}" presName="L1TextContainer" presStyleLbl="revTx" presStyleIdx="1" presStyleCnt="20">
        <dgm:presLayoutVars>
          <dgm:chMax val="1"/>
          <dgm:chPref val="1"/>
          <dgm:bulletEnabled val="1"/>
        </dgm:presLayoutVars>
      </dgm:prSet>
      <dgm:spPr/>
    </dgm:pt>
    <dgm:pt modelId="{CE357DE8-5519-4208-8F8E-8C57A1D65597}" type="pres">
      <dgm:prSet presAssocID="{8469B9A6-3515-4B94-B8C2-ACEC23DEC699}" presName="ConnectLine" presStyleLbl="dkBgShp" presStyleIdx="2" presStyleCnt="12"/>
      <dgm:spPr/>
    </dgm:pt>
    <dgm:pt modelId="{D7D5FDF3-19C7-4574-ACCD-744D66F39348}" type="pres">
      <dgm:prSet presAssocID="{8469B9A6-3515-4B94-B8C2-ACEC23DEC699}" presName="ConnectorPoint" presStyleCnt="0"/>
      <dgm:spPr/>
    </dgm:pt>
    <dgm:pt modelId="{4A2FE545-6F3E-47B0-A51C-6A9115C7CA1D}" type="pres">
      <dgm:prSet presAssocID="{8469B9A6-3515-4B94-B8C2-ACEC23DEC699}" presName="Bullet" presStyleLbl="lnNode1" presStyleIdx="0" presStyleCnt="10"/>
      <dgm:spPr/>
    </dgm:pt>
    <dgm:pt modelId="{73ABB605-D671-48B5-AB29-F98A36A55FD4}" type="pres">
      <dgm:prSet presAssocID="{8469B9A6-3515-4B94-B8C2-ACEC23DEC699}" presName="EmptyPlaceHolder" presStyleCnt="0"/>
      <dgm:spPr/>
    </dgm:pt>
    <dgm:pt modelId="{E0935474-B4CD-40F9-AE46-63E46847CA1C}" type="pres">
      <dgm:prSet presAssocID="{B5231E89-6CF6-4D5A-976A-2E914AD12550}" presName="spaceBetweenRectangles" presStyleCnt="0"/>
      <dgm:spPr/>
    </dgm:pt>
    <dgm:pt modelId="{40AA02D8-FD9E-48A6-BFDC-E233609C8613}" type="pres">
      <dgm:prSet presAssocID="{19382F31-5CEE-44D6-B5DE-1B60F9AAFEF3}" presName="composite" presStyleCnt="0"/>
      <dgm:spPr/>
    </dgm:pt>
    <dgm:pt modelId="{FA15DA37-7E95-43DB-8CDA-A94E38448574}" type="pres">
      <dgm:prSet presAssocID="{19382F31-5CEE-44D6-B5DE-1B60F9AAFEF3}" presName="DropPinPlaceHolder" presStyleCnt="0"/>
      <dgm:spPr/>
    </dgm:pt>
    <dgm:pt modelId="{42A1A7DA-149B-4751-B92C-5F71CD54315B}" type="pres">
      <dgm:prSet presAssocID="{19382F31-5CEE-44D6-B5DE-1B60F9AAFEF3}" presName="DropPin" presStyleLbl="alignNode1" presStyleIdx="1" presStyleCnt="10"/>
      <dgm:spPr/>
    </dgm:pt>
    <dgm:pt modelId="{AE1A0BE2-683B-4AD3-AB0F-3CD0DB73F6EC}" type="pres">
      <dgm:prSet presAssocID="{19382F31-5CEE-44D6-B5DE-1B60F9AAFEF3}" presName="Ellipse" presStyleLbl="fgAcc1" presStyleIdx="1" presStyleCnt="10"/>
      <dgm:spPr/>
    </dgm:pt>
    <dgm:pt modelId="{06F45C57-C26E-493C-AAFB-49D703B61535}" type="pres">
      <dgm:prSet presAssocID="{19382F31-5CEE-44D6-B5DE-1B60F9AAFEF3}" presName="L2TextContainer" presStyleLbl="revTx" presStyleIdx="2" presStyleCnt="20">
        <dgm:presLayoutVars>
          <dgm:bulletEnabled val="1"/>
        </dgm:presLayoutVars>
      </dgm:prSet>
      <dgm:spPr/>
    </dgm:pt>
    <dgm:pt modelId="{265EEB38-5D74-46CF-985F-28F2D535F996}" type="pres">
      <dgm:prSet presAssocID="{19382F31-5CEE-44D6-B5DE-1B60F9AAFEF3}" presName="L1TextContainer" presStyleLbl="revTx" presStyleIdx="3" presStyleCnt="20">
        <dgm:presLayoutVars>
          <dgm:chMax val="1"/>
          <dgm:chPref val="1"/>
          <dgm:bulletEnabled val="1"/>
        </dgm:presLayoutVars>
      </dgm:prSet>
      <dgm:spPr/>
    </dgm:pt>
    <dgm:pt modelId="{E7576008-F6CC-41C7-8244-733669DB6D8E}" type="pres">
      <dgm:prSet presAssocID="{19382F31-5CEE-44D6-B5DE-1B60F9AAFEF3}" presName="ConnectLine" presStyleLbl="dkBgShp" presStyleIdx="3" presStyleCnt="12"/>
      <dgm:spPr/>
    </dgm:pt>
    <dgm:pt modelId="{B042A8B4-2B08-45FB-8B8F-C2F2644C20AA}" type="pres">
      <dgm:prSet presAssocID="{19382F31-5CEE-44D6-B5DE-1B60F9AAFEF3}" presName="ConnectorPoint" presStyleCnt="0"/>
      <dgm:spPr/>
    </dgm:pt>
    <dgm:pt modelId="{61D03D47-3B9F-473D-AC3F-28B08C66DFF5}" type="pres">
      <dgm:prSet presAssocID="{19382F31-5CEE-44D6-B5DE-1B60F9AAFEF3}" presName="Bullet" presStyleLbl="lnNode1" presStyleIdx="1" presStyleCnt="10"/>
      <dgm:spPr/>
    </dgm:pt>
    <dgm:pt modelId="{89F51FBA-8D5E-4F35-927C-D9FB9389366D}" type="pres">
      <dgm:prSet presAssocID="{19382F31-5CEE-44D6-B5DE-1B60F9AAFEF3}" presName="EmptyPlaceHolder" presStyleCnt="0"/>
      <dgm:spPr/>
    </dgm:pt>
    <dgm:pt modelId="{DF2BA135-6B44-42B3-8F9A-15F0FECFCC43}" type="pres">
      <dgm:prSet presAssocID="{ABB33C11-21AD-4870-930C-C16756D2710C}" presName="spaceBetweenRectangles" presStyleCnt="0"/>
      <dgm:spPr/>
    </dgm:pt>
    <dgm:pt modelId="{12DA0F5B-435F-4625-9885-4C6DA9BD683D}" type="pres">
      <dgm:prSet presAssocID="{CCB16A78-22D4-4FFD-9BAD-115029AEC7DE}" presName="composite" presStyleCnt="0"/>
      <dgm:spPr/>
    </dgm:pt>
    <dgm:pt modelId="{5FD4984E-E475-4197-8FB3-A22C47028AAC}" type="pres">
      <dgm:prSet presAssocID="{CCB16A78-22D4-4FFD-9BAD-115029AEC7DE}" presName="DropPinPlaceHolder" presStyleCnt="0"/>
      <dgm:spPr/>
    </dgm:pt>
    <dgm:pt modelId="{2D4F60DA-26A4-476C-BCC3-A72066B611BE}" type="pres">
      <dgm:prSet presAssocID="{CCB16A78-22D4-4FFD-9BAD-115029AEC7DE}" presName="DropPin" presStyleLbl="alignNode1" presStyleIdx="2" presStyleCnt="10"/>
      <dgm:spPr/>
    </dgm:pt>
    <dgm:pt modelId="{D94080B3-7112-4136-8521-3F5CBF4F8818}" type="pres">
      <dgm:prSet presAssocID="{CCB16A78-22D4-4FFD-9BAD-115029AEC7DE}" presName="Ellipse" presStyleLbl="fgAcc1" presStyleIdx="2" presStyleCnt="10"/>
      <dgm:spPr/>
    </dgm:pt>
    <dgm:pt modelId="{3B99BB7B-B70D-4780-B960-D13F9AA2AB2A}" type="pres">
      <dgm:prSet presAssocID="{CCB16A78-22D4-4FFD-9BAD-115029AEC7DE}" presName="L2TextContainer" presStyleLbl="revTx" presStyleIdx="4" presStyleCnt="20">
        <dgm:presLayoutVars>
          <dgm:bulletEnabled val="1"/>
        </dgm:presLayoutVars>
      </dgm:prSet>
      <dgm:spPr/>
    </dgm:pt>
    <dgm:pt modelId="{CC209185-82C6-4AE8-BD37-4D9BC45A707F}" type="pres">
      <dgm:prSet presAssocID="{CCB16A78-22D4-4FFD-9BAD-115029AEC7DE}" presName="L1TextContainer" presStyleLbl="revTx" presStyleIdx="5" presStyleCnt="20">
        <dgm:presLayoutVars>
          <dgm:chMax val="1"/>
          <dgm:chPref val="1"/>
          <dgm:bulletEnabled val="1"/>
        </dgm:presLayoutVars>
      </dgm:prSet>
      <dgm:spPr/>
    </dgm:pt>
    <dgm:pt modelId="{FDAFF592-E380-4A6F-9765-D2A325C736FC}" type="pres">
      <dgm:prSet presAssocID="{CCB16A78-22D4-4FFD-9BAD-115029AEC7DE}" presName="ConnectLine" presStyleLbl="dkBgShp" presStyleIdx="4" presStyleCnt="12"/>
      <dgm:spPr/>
    </dgm:pt>
    <dgm:pt modelId="{5617AF0F-210A-4B9E-B38C-C222BEB74DEF}" type="pres">
      <dgm:prSet presAssocID="{CCB16A78-22D4-4FFD-9BAD-115029AEC7DE}" presName="ConnectorPoint" presStyleCnt="0"/>
      <dgm:spPr/>
    </dgm:pt>
    <dgm:pt modelId="{6D1FA909-4CB0-4A9E-A4EF-3B19A7C518B8}" type="pres">
      <dgm:prSet presAssocID="{CCB16A78-22D4-4FFD-9BAD-115029AEC7DE}" presName="Bullet" presStyleLbl="lnNode1" presStyleIdx="2" presStyleCnt="10"/>
      <dgm:spPr/>
    </dgm:pt>
    <dgm:pt modelId="{7D386090-BCBB-4ED5-91DD-7B02062D7903}" type="pres">
      <dgm:prSet presAssocID="{CCB16A78-22D4-4FFD-9BAD-115029AEC7DE}" presName="EmptyPlaceHolder" presStyleCnt="0"/>
      <dgm:spPr/>
    </dgm:pt>
    <dgm:pt modelId="{52B5EFEE-DCB7-4D32-B1BD-FD76FBD5DB84}" type="pres">
      <dgm:prSet presAssocID="{2C4CE6FE-B9E9-44EC-9D40-CB53E0077BF6}" presName="spaceBetweenRectangles" presStyleCnt="0"/>
      <dgm:spPr/>
    </dgm:pt>
    <dgm:pt modelId="{A401B3D8-EC13-4E54-BD1B-78F11C05E4DE}" type="pres">
      <dgm:prSet presAssocID="{593C4D15-9BD7-4149-AC91-B1D4C91A982C}" presName="composite" presStyleCnt="0"/>
      <dgm:spPr/>
    </dgm:pt>
    <dgm:pt modelId="{50B93AFC-867C-403D-A2D4-4A520C486712}" type="pres">
      <dgm:prSet presAssocID="{593C4D15-9BD7-4149-AC91-B1D4C91A982C}" presName="DropPinPlaceHolder" presStyleCnt="0"/>
      <dgm:spPr/>
    </dgm:pt>
    <dgm:pt modelId="{A35C07A4-A55D-491F-9342-39AA612FE70F}" type="pres">
      <dgm:prSet presAssocID="{593C4D15-9BD7-4149-AC91-B1D4C91A982C}" presName="DropPin" presStyleLbl="alignNode1" presStyleIdx="3" presStyleCnt="10"/>
      <dgm:spPr/>
    </dgm:pt>
    <dgm:pt modelId="{442A7023-007D-4AAF-A1DD-75889DF44244}" type="pres">
      <dgm:prSet presAssocID="{593C4D15-9BD7-4149-AC91-B1D4C91A982C}" presName="Ellipse" presStyleLbl="fgAcc1" presStyleIdx="3" presStyleCnt="10"/>
      <dgm:spPr/>
    </dgm:pt>
    <dgm:pt modelId="{E6F3673C-7A8F-4AF2-83E0-E1FCF1765A60}" type="pres">
      <dgm:prSet presAssocID="{593C4D15-9BD7-4149-AC91-B1D4C91A982C}" presName="L2TextContainer" presStyleLbl="revTx" presStyleIdx="6" presStyleCnt="20">
        <dgm:presLayoutVars>
          <dgm:bulletEnabled val="1"/>
        </dgm:presLayoutVars>
      </dgm:prSet>
      <dgm:spPr/>
    </dgm:pt>
    <dgm:pt modelId="{10F13966-D4AE-4248-89D2-C95CA0769957}" type="pres">
      <dgm:prSet presAssocID="{593C4D15-9BD7-4149-AC91-B1D4C91A982C}" presName="L1TextContainer" presStyleLbl="revTx" presStyleIdx="7" presStyleCnt="20">
        <dgm:presLayoutVars>
          <dgm:chMax val="1"/>
          <dgm:chPref val="1"/>
          <dgm:bulletEnabled val="1"/>
        </dgm:presLayoutVars>
      </dgm:prSet>
      <dgm:spPr/>
    </dgm:pt>
    <dgm:pt modelId="{24DCBBD5-7231-46A1-96A0-C604027738D5}" type="pres">
      <dgm:prSet presAssocID="{593C4D15-9BD7-4149-AC91-B1D4C91A982C}" presName="ConnectLine" presStyleLbl="dkBgShp" presStyleIdx="5" presStyleCnt="12"/>
      <dgm:spPr/>
    </dgm:pt>
    <dgm:pt modelId="{61A0BB78-BF10-49CF-8B4F-F5811094FCE1}" type="pres">
      <dgm:prSet presAssocID="{593C4D15-9BD7-4149-AC91-B1D4C91A982C}" presName="ConnectorPoint" presStyleCnt="0"/>
      <dgm:spPr/>
    </dgm:pt>
    <dgm:pt modelId="{B1948F72-4F3E-4A63-AA95-BAD926F454B4}" type="pres">
      <dgm:prSet presAssocID="{593C4D15-9BD7-4149-AC91-B1D4C91A982C}" presName="Bullet" presStyleLbl="lnNode1" presStyleIdx="3" presStyleCnt="10"/>
      <dgm:spPr/>
    </dgm:pt>
    <dgm:pt modelId="{E2ACE112-09B3-4C5B-8516-0BFD14381B8C}" type="pres">
      <dgm:prSet presAssocID="{593C4D15-9BD7-4149-AC91-B1D4C91A982C}" presName="EmptyPlaceHolder" presStyleCnt="0"/>
      <dgm:spPr/>
    </dgm:pt>
    <dgm:pt modelId="{9056B664-B513-440D-BA9B-DA88EA1C120C}" type="pres">
      <dgm:prSet presAssocID="{51B114F0-079C-4E90-86AE-782A7E933704}" presName="spaceBetweenRectangles" presStyleCnt="0"/>
      <dgm:spPr/>
    </dgm:pt>
    <dgm:pt modelId="{E42D1D70-4FD3-461F-9D07-3FC2C905D88F}" type="pres">
      <dgm:prSet presAssocID="{4F3CD333-73F9-45BD-9823-219FFA1CFA0C}" presName="composite" presStyleCnt="0"/>
      <dgm:spPr/>
    </dgm:pt>
    <dgm:pt modelId="{05BBC024-9A15-4159-8101-412C51D9DCF1}" type="pres">
      <dgm:prSet presAssocID="{4F3CD333-73F9-45BD-9823-219FFA1CFA0C}" presName="DropPinPlaceHolder" presStyleCnt="0"/>
      <dgm:spPr/>
    </dgm:pt>
    <dgm:pt modelId="{AF72B0A1-EA30-457A-BB59-AA4207FD95CE}" type="pres">
      <dgm:prSet presAssocID="{4F3CD333-73F9-45BD-9823-219FFA1CFA0C}" presName="DropPin" presStyleLbl="alignNode1" presStyleIdx="4" presStyleCnt="10"/>
      <dgm:spPr/>
    </dgm:pt>
    <dgm:pt modelId="{F11A087B-3B57-4ED1-ADEF-DBA874B40317}" type="pres">
      <dgm:prSet presAssocID="{4F3CD333-73F9-45BD-9823-219FFA1CFA0C}" presName="Ellipse" presStyleLbl="fgAcc1" presStyleIdx="4" presStyleCnt="10"/>
      <dgm:spPr/>
    </dgm:pt>
    <dgm:pt modelId="{2A427A5E-593D-4918-BB1B-02BFE33869BF}" type="pres">
      <dgm:prSet presAssocID="{4F3CD333-73F9-45BD-9823-219FFA1CFA0C}" presName="L2TextContainer" presStyleLbl="revTx" presStyleIdx="8" presStyleCnt="20">
        <dgm:presLayoutVars>
          <dgm:bulletEnabled val="1"/>
        </dgm:presLayoutVars>
      </dgm:prSet>
      <dgm:spPr/>
    </dgm:pt>
    <dgm:pt modelId="{40750EEC-9D9C-4AED-A2A1-FC7B5EBFD030}" type="pres">
      <dgm:prSet presAssocID="{4F3CD333-73F9-45BD-9823-219FFA1CFA0C}" presName="L1TextContainer" presStyleLbl="revTx" presStyleIdx="9" presStyleCnt="20">
        <dgm:presLayoutVars>
          <dgm:chMax val="1"/>
          <dgm:chPref val="1"/>
          <dgm:bulletEnabled val="1"/>
        </dgm:presLayoutVars>
      </dgm:prSet>
      <dgm:spPr/>
    </dgm:pt>
    <dgm:pt modelId="{A296A3BF-2986-473F-A3E1-E14D0232CF09}" type="pres">
      <dgm:prSet presAssocID="{4F3CD333-73F9-45BD-9823-219FFA1CFA0C}" presName="ConnectLine" presStyleLbl="dkBgShp" presStyleIdx="6" presStyleCnt="12"/>
      <dgm:spPr/>
    </dgm:pt>
    <dgm:pt modelId="{0D44BF03-8F96-4E77-8EA6-8F61F4DEF66B}" type="pres">
      <dgm:prSet presAssocID="{4F3CD333-73F9-45BD-9823-219FFA1CFA0C}" presName="ConnectorPoint" presStyleCnt="0"/>
      <dgm:spPr/>
    </dgm:pt>
    <dgm:pt modelId="{FE220818-7E21-4A1A-81DF-EEEECD1E57F7}" type="pres">
      <dgm:prSet presAssocID="{4F3CD333-73F9-45BD-9823-219FFA1CFA0C}" presName="Bullet" presStyleLbl="lnNode1" presStyleIdx="4" presStyleCnt="10"/>
      <dgm:spPr/>
    </dgm:pt>
    <dgm:pt modelId="{32ECEDF4-6CF4-4D54-AE9C-4C5B747C784A}" type="pres">
      <dgm:prSet presAssocID="{4F3CD333-73F9-45BD-9823-219FFA1CFA0C}" presName="EmptyPlaceHolder" presStyleCnt="0"/>
      <dgm:spPr/>
    </dgm:pt>
    <dgm:pt modelId="{7E6CA528-EE1F-40C6-A5E8-4F585574EC13}" type="pres">
      <dgm:prSet presAssocID="{5C565953-4DD5-45FD-BEA2-8AF4D2087840}" presName="spaceBetweenRectangles" presStyleCnt="0"/>
      <dgm:spPr/>
    </dgm:pt>
    <dgm:pt modelId="{6709EBFF-5ED9-4AD4-A8A8-7970A04E9E50}" type="pres">
      <dgm:prSet presAssocID="{C9B0B70A-CA69-470F-B755-F3A8277E8B88}" presName="composite" presStyleCnt="0"/>
      <dgm:spPr/>
    </dgm:pt>
    <dgm:pt modelId="{BBEB558C-94F4-44E9-BC00-64EE8CA6670F}" type="pres">
      <dgm:prSet presAssocID="{C9B0B70A-CA69-470F-B755-F3A8277E8B88}" presName="DropPinPlaceHolder" presStyleCnt="0"/>
      <dgm:spPr/>
    </dgm:pt>
    <dgm:pt modelId="{B91D84DC-0A2E-41F3-AFEB-2B97895DFC70}" type="pres">
      <dgm:prSet presAssocID="{C9B0B70A-CA69-470F-B755-F3A8277E8B88}" presName="DropPin" presStyleLbl="alignNode1" presStyleIdx="5" presStyleCnt="10"/>
      <dgm:spPr/>
    </dgm:pt>
    <dgm:pt modelId="{309E7E56-C3A6-46D1-8B56-ABA68CA96331}" type="pres">
      <dgm:prSet presAssocID="{C9B0B70A-CA69-470F-B755-F3A8277E8B88}" presName="Ellipse" presStyleLbl="fgAcc1" presStyleIdx="5" presStyleCnt="10"/>
      <dgm:spPr/>
    </dgm:pt>
    <dgm:pt modelId="{D160DD44-5AF8-400C-BFFC-66339B89855C}" type="pres">
      <dgm:prSet presAssocID="{C9B0B70A-CA69-470F-B755-F3A8277E8B88}" presName="L2TextContainer" presStyleLbl="revTx" presStyleIdx="10" presStyleCnt="20">
        <dgm:presLayoutVars>
          <dgm:bulletEnabled val="1"/>
        </dgm:presLayoutVars>
      </dgm:prSet>
      <dgm:spPr/>
    </dgm:pt>
    <dgm:pt modelId="{2903F0AA-67EC-4D1E-902F-F03C5B9EBEBB}" type="pres">
      <dgm:prSet presAssocID="{C9B0B70A-CA69-470F-B755-F3A8277E8B88}" presName="L1TextContainer" presStyleLbl="revTx" presStyleIdx="11" presStyleCnt="20">
        <dgm:presLayoutVars>
          <dgm:chMax val="1"/>
          <dgm:chPref val="1"/>
          <dgm:bulletEnabled val="1"/>
        </dgm:presLayoutVars>
      </dgm:prSet>
      <dgm:spPr/>
    </dgm:pt>
    <dgm:pt modelId="{3474D082-6532-462D-8187-166F3146E084}" type="pres">
      <dgm:prSet presAssocID="{C9B0B70A-CA69-470F-B755-F3A8277E8B88}" presName="ConnectLine" presStyleLbl="dkBgShp" presStyleIdx="7" presStyleCnt="12"/>
      <dgm:spPr/>
    </dgm:pt>
    <dgm:pt modelId="{7BEE6BC9-7D12-42B9-BCDC-60C9D0109729}" type="pres">
      <dgm:prSet presAssocID="{C9B0B70A-CA69-470F-B755-F3A8277E8B88}" presName="ConnectorPoint" presStyleCnt="0"/>
      <dgm:spPr/>
    </dgm:pt>
    <dgm:pt modelId="{FBD47C32-A6E1-4BDB-9B3E-2629A8D6C906}" type="pres">
      <dgm:prSet presAssocID="{C9B0B70A-CA69-470F-B755-F3A8277E8B88}" presName="Bullet" presStyleLbl="lnNode1" presStyleIdx="5" presStyleCnt="10"/>
      <dgm:spPr/>
    </dgm:pt>
    <dgm:pt modelId="{EC1B4338-C18C-4C25-A7E1-8AEE3F8D68EE}" type="pres">
      <dgm:prSet presAssocID="{C9B0B70A-CA69-470F-B755-F3A8277E8B88}" presName="EmptyPlaceHolder" presStyleCnt="0"/>
      <dgm:spPr/>
    </dgm:pt>
    <dgm:pt modelId="{C18B12DE-0C2B-4D67-ABA8-B94136EB83A1}" type="pres">
      <dgm:prSet presAssocID="{CA5E58AF-D00E-4AC1-AD90-0D5E83BB3F73}" presName="spaceBetweenRectangles" presStyleCnt="0"/>
      <dgm:spPr/>
    </dgm:pt>
    <dgm:pt modelId="{A9EA0309-B2F6-4EAC-A989-DD20A5E9D5A0}" type="pres">
      <dgm:prSet presAssocID="{3FA55948-8B98-402E-9974-558654D783F9}" presName="composite" presStyleCnt="0"/>
      <dgm:spPr/>
    </dgm:pt>
    <dgm:pt modelId="{315E385E-EAA0-4200-AAB5-5BDFAC0BF7CE}" type="pres">
      <dgm:prSet presAssocID="{3FA55948-8B98-402E-9974-558654D783F9}" presName="DropPinPlaceHolder" presStyleCnt="0"/>
      <dgm:spPr/>
    </dgm:pt>
    <dgm:pt modelId="{4D251350-D10F-43DD-B2C5-6BA47CB00B57}" type="pres">
      <dgm:prSet presAssocID="{3FA55948-8B98-402E-9974-558654D783F9}" presName="DropPin" presStyleLbl="alignNode1" presStyleIdx="6" presStyleCnt="10"/>
      <dgm:spPr/>
    </dgm:pt>
    <dgm:pt modelId="{06513E06-8A64-447C-867D-262111A8FD93}" type="pres">
      <dgm:prSet presAssocID="{3FA55948-8B98-402E-9974-558654D783F9}" presName="Ellipse" presStyleLbl="fgAcc1" presStyleIdx="6" presStyleCnt="10"/>
      <dgm:spPr/>
    </dgm:pt>
    <dgm:pt modelId="{B94FA5FC-57D6-4DD1-814D-E23930413E5A}" type="pres">
      <dgm:prSet presAssocID="{3FA55948-8B98-402E-9974-558654D783F9}" presName="L2TextContainer" presStyleLbl="revTx" presStyleIdx="12" presStyleCnt="20">
        <dgm:presLayoutVars>
          <dgm:bulletEnabled val="1"/>
        </dgm:presLayoutVars>
      </dgm:prSet>
      <dgm:spPr/>
    </dgm:pt>
    <dgm:pt modelId="{D8505424-E947-4249-BADE-3F2345E03322}" type="pres">
      <dgm:prSet presAssocID="{3FA55948-8B98-402E-9974-558654D783F9}" presName="L1TextContainer" presStyleLbl="revTx" presStyleIdx="13" presStyleCnt="20">
        <dgm:presLayoutVars>
          <dgm:chMax val="1"/>
          <dgm:chPref val="1"/>
          <dgm:bulletEnabled val="1"/>
        </dgm:presLayoutVars>
      </dgm:prSet>
      <dgm:spPr/>
    </dgm:pt>
    <dgm:pt modelId="{122E110D-6B30-4FEC-914A-816DAC01B58D}" type="pres">
      <dgm:prSet presAssocID="{3FA55948-8B98-402E-9974-558654D783F9}" presName="ConnectLine" presStyleLbl="dkBgShp" presStyleIdx="8" presStyleCnt="12"/>
      <dgm:spPr/>
    </dgm:pt>
    <dgm:pt modelId="{CFBA4C29-AAEE-461A-83D8-8E6D6D3BE981}" type="pres">
      <dgm:prSet presAssocID="{3FA55948-8B98-402E-9974-558654D783F9}" presName="ConnectorPoint" presStyleCnt="0"/>
      <dgm:spPr/>
    </dgm:pt>
    <dgm:pt modelId="{243E0C1B-83CD-4A52-B315-5ABEDC5B237E}" type="pres">
      <dgm:prSet presAssocID="{3FA55948-8B98-402E-9974-558654D783F9}" presName="Bullet" presStyleLbl="lnNode1" presStyleIdx="6" presStyleCnt="10"/>
      <dgm:spPr/>
    </dgm:pt>
    <dgm:pt modelId="{34BFC71A-500E-4E16-A3E7-BD04434F0F73}" type="pres">
      <dgm:prSet presAssocID="{3FA55948-8B98-402E-9974-558654D783F9}" presName="EmptyPlaceHolder" presStyleCnt="0"/>
      <dgm:spPr/>
    </dgm:pt>
    <dgm:pt modelId="{A25DC9A8-698F-4250-B11B-3E4D1DC4E82A}" type="pres">
      <dgm:prSet presAssocID="{7237A5B3-6CDA-461B-A7D2-0518C0563718}" presName="spaceBetweenRectangles" presStyleCnt="0"/>
      <dgm:spPr/>
    </dgm:pt>
    <dgm:pt modelId="{F91DE86C-D70D-4B5D-A98F-8E5833A615C3}" type="pres">
      <dgm:prSet presAssocID="{1F18929F-9B04-4C9D-A369-A01D3ABBA6BD}" presName="composite" presStyleCnt="0"/>
      <dgm:spPr/>
    </dgm:pt>
    <dgm:pt modelId="{9E424887-752D-41D4-B251-C79183A50E3C}" type="pres">
      <dgm:prSet presAssocID="{1F18929F-9B04-4C9D-A369-A01D3ABBA6BD}" presName="DropPinPlaceHolder" presStyleCnt="0"/>
      <dgm:spPr/>
    </dgm:pt>
    <dgm:pt modelId="{5832E949-F5F4-416C-9E0A-5F05C1D9A27C}" type="pres">
      <dgm:prSet presAssocID="{1F18929F-9B04-4C9D-A369-A01D3ABBA6BD}" presName="DropPin" presStyleLbl="alignNode1" presStyleIdx="7" presStyleCnt="10"/>
      <dgm:spPr/>
    </dgm:pt>
    <dgm:pt modelId="{30E138D5-BE5D-4135-AC17-6E960F9359B3}" type="pres">
      <dgm:prSet presAssocID="{1F18929F-9B04-4C9D-A369-A01D3ABBA6BD}" presName="Ellipse" presStyleLbl="fgAcc1" presStyleIdx="7" presStyleCnt="10"/>
      <dgm:spPr/>
    </dgm:pt>
    <dgm:pt modelId="{77A8DA51-E3C0-4B13-8829-11B81AB038F9}" type="pres">
      <dgm:prSet presAssocID="{1F18929F-9B04-4C9D-A369-A01D3ABBA6BD}" presName="L2TextContainer" presStyleLbl="revTx" presStyleIdx="14" presStyleCnt="20">
        <dgm:presLayoutVars>
          <dgm:bulletEnabled val="1"/>
        </dgm:presLayoutVars>
      </dgm:prSet>
      <dgm:spPr/>
    </dgm:pt>
    <dgm:pt modelId="{9FBD226A-6010-4A98-B0B0-30C01BD9EF21}" type="pres">
      <dgm:prSet presAssocID="{1F18929F-9B04-4C9D-A369-A01D3ABBA6BD}" presName="L1TextContainer" presStyleLbl="revTx" presStyleIdx="15" presStyleCnt="20">
        <dgm:presLayoutVars>
          <dgm:chMax val="1"/>
          <dgm:chPref val="1"/>
          <dgm:bulletEnabled val="1"/>
        </dgm:presLayoutVars>
      </dgm:prSet>
      <dgm:spPr/>
    </dgm:pt>
    <dgm:pt modelId="{78A24440-D5C4-4D0B-9D81-069CA4006A3A}" type="pres">
      <dgm:prSet presAssocID="{1F18929F-9B04-4C9D-A369-A01D3ABBA6BD}" presName="ConnectLine" presStyleLbl="dkBgShp" presStyleIdx="9" presStyleCnt="12"/>
      <dgm:spPr/>
    </dgm:pt>
    <dgm:pt modelId="{0C085486-8F16-4A0A-A1E0-1337DB701C43}" type="pres">
      <dgm:prSet presAssocID="{1F18929F-9B04-4C9D-A369-A01D3ABBA6BD}" presName="ConnectorPoint" presStyleCnt="0"/>
      <dgm:spPr/>
    </dgm:pt>
    <dgm:pt modelId="{5DBD07F8-4161-4CBE-85CA-690FE89D9FFE}" type="pres">
      <dgm:prSet presAssocID="{1F18929F-9B04-4C9D-A369-A01D3ABBA6BD}" presName="Bullet" presStyleLbl="lnNode1" presStyleIdx="7" presStyleCnt="10"/>
      <dgm:spPr/>
    </dgm:pt>
    <dgm:pt modelId="{B99A163E-F80C-43B7-B9F2-910462B657EB}" type="pres">
      <dgm:prSet presAssocID="{1F18929F-9B04-4C9D-A369-A01D3ABBA6BD}" presName="EmptyPlaceHolder" presStyleCnt="0"/>
      <dgm:spPr/>
    </dgm:pt>
    <dgm:pt modelId="{C0FEDBCB-483D-46C9-BA4E-F64139553918}" type="pres">
      <dgm:prSet presAssocID="{A30A15FF-4089-46B5-AEFE-AB0BCB470377}" presName="spaceBetweenRectangles" presStyleCnt="0"/>
      <dgm:spPr/>
    </dgm:pt>
    <dgm:pt modelId="{0AA70334-50BB-4325-B990-0248DDD32C22}" type="pres">
      <dgm:prSet presAssocID="{6BE19809-2346-4F3F-9C72-31391AEBFC98}" presName="composite" presStyleCnt="0"/>
      <dgm:spPr/>
    </dgm:pt>
    <dgm:pt modelId="{0090653F-4D26-45F9-97CE-FF227FE23C6C}" type="pres">
      <dgm:prSet presAssocID="{6BE19809-2346-4F3F-9C72-31391AEBFC98}" presName="DropPinPlaceHolder" presStyleCnt="0"/>
      <dgm:spPr/>
    </dgm:pt>
    <dgm:pt modelId="{A88A9E9D-2283-4001-85FA-723E69371EB9}" type="pres">
      <dgm:prSet presAssocID="{6BE19809-2346-4F3F-9C72-31391AEBFC98}" presName="DropPin" presStyleLbl="alignNode1" presStyleIdx="8" presStyleCnt="10"/>
      <dgm:spPr/>
    </dgm:pt>
    <dgm:pt modelId="{51E896E3-67F2-470B-B529-AE09936EC1D8}" type="pres">
      <dgm:prSet presAssocID="{6BE19809-2346-4F3F-9C72-31391AEBFC98}" presName="Ellipse" presStyleLbl="fgAcc1" presStyleIdx="8" presStyleCnt="10"/>
      <dgm:spPr/>
    </dgm:pt>
    <dgm:pt modelId="{4F93961B-C899-4EA9-B972-C2E5334DCDF1}" type="pres">
      <dgm:prSet presAssocID="{6BE19809-2346-4F3F-9C72-31391AEBFC98}" presName="L2TextContainer" presStyleLbl="revTx" presStyleIdx="16" presStyleCnt="20">
        <dgm:presLayoutVars>
          <dgm:bulletEnabled val="1"/>
        </dgm:presLayoutVars>
      </dgm:prSet>
      <dgm:spPr/>
    </dgm:pt>
    <dgm:pt modelId="{3FDAF61B-055C-4642-84C7-83021A506F15}" type="pres">
      <dgm:prSet presAssocID="{6BE19809-2346-4F3F-9C72-31391AEBFC98}" presName="L1TextContainer" presStyleLbl="revTx" presStyleIdx="17" presStyleCnt="20">
        <dgm:presLayoutVars>
          <dgm:chMax val="1"/>
          <dgm:chPref val="1"/>
          <dgm:bulletEnabled val="1"/>
        </dgm:presLayoutVars>
      </dgm:prSet>
      <dgm:spPr/>
    </dgm:pt>
    <dgm:pt modelId="{6E813DE7-E0C5-4BAB-B85B-836D55012414}" type="pres">
      <dgm:prSet presAssocID="{6BE19809-2346-4F3F-9C72-31391AEBFC98}" presName="ConnectLine" presStyleLbl="dkBgShp" presStyleIdx="10" presStyleCnt="12"/>
      <dgm:spPr/>
    </dgm:pt>
    <dgm:pt modelId="{65E2BEAC-8D09-45CC-8F40-F386F3CC5F32}" type="pres">
      <dgm:prSet presAssocID="{6BE19809-2346-4F3F-9C72-31391AEBFC98}" presName="ConnectorPoint" presStyleCnt="0"/>
      <dgm:spPr/>
    </dgm:pt>
    <dgm:pt modelId="{67DA1480-D6A4-46C1-96E5-32AD834529B8}" type="pres">
      <dgm:prSet presAssocID="{6BE19809-2346-4F3F-9C72-31391AEBFC98}" presName="Bullet" presStyleLbl="lnNode1" presStyleIdx="8" presStyleCnt="10"/>
      <dgm:spPr/>
    </dgm:pt>
    <dgm:pt modelId="{74D85BD5-7AE4-4DF7-BB54-062C30C27602}" type="pres">
      <dgm:prSet presAssocID="{6BE19809-2346-4F3F-9C72-31391AEBFC98}" presName="EmptyPlaceHolder" presStyleCnt="0"/>
      <dgm:spPr/>
    </dgm:pt>
    <dgm:pt modelId="{BDB1BBAF-7D83-4701-90D4-B4223407AC75}" type="pres">
      <dgm:prSet presAssocID="{C4FE776C-C043-4334-AA6F-72EB2DDC566F}" presName="spaceBetweenRectangles" presStyleCnt="0"/>
      <dgm:spPr/>
    </dgm:pt>
    <dgm:pt modelId="{1E33FEFA-FEDB-4971-985B-7F8C1E66E418}" type="pres">
      <dgm:prSet presAssocID="{208D9967-2ED4-4E6E-BEDB-B4D025A7F894}" presName="composite" presStyleCnt="0"/>
      <dgm:spPr/>
    </dgm:pt>
    <dgm:pt modelId="{C1939CA8-9246-4E35-851E-7B92359D658B}" type="pres">
      <dgm:prSet presAssocID="{208D9967-2ED4-4E6E-BEDB-B4D025A7F894}" presName="DropPinPlaceHolder" presStyleCnt="0"/>
      <dgm:spPr/>
    </dgm:pt>
    <dgm:pt modelId="{3BDE92BF-29D0-4EE3-AB99-D2C76CED44B0}" type="pres">
      <dgm:prSet presAssocID="{208D9967-2ED4-4E6E-BEDB-B4D025A7F894}" presName="DropPin" presStyleLbl="alignNode1" presStyleIdx="9" presStyleCnt="10"/>
      <dgm:spPr/>
    </dgm:pt>
    <dgm:pt modelId="{22BF927B-1906-4188-9E57-80AB73DE7F7B}" type="pres">
      <dgm:prSet presAssocID="{208D9967-2ED4-4E6E-BEDB-B4D025A7F894}" presName="Ellipse" presStyleLbl="fgAcc1" presStyleIdx="9" presStyleCnt="10"/>
      <dgm:spPr/>
    </dgm:pt>
    <dgm:pt modelId="{FD44AFE5-67AA-4F09-A47A-F265AE0E38E3}" type="pres">
      <dgm:prSet presAssocID="{208D9967-2ED4-4E6E-BEDB-B4D025A7F894}" presName="L2TextContainer" presStyleLbl="revTx" presStyleIdx="18" presStyleCnt="20">
        <dgm:presLayoutVars>
          <dgm:bulletEnabled val="1"/>
        </dgm:presLayoutVars>
      </dgm:prSet>
      <dgm:spPr/>
    </dgm:pt>
    <dgm:pt modelId="{4F4ED6EA-F29D-41B7-BC74-ABBB8201E8B8}" type="pres">
      <dgm:prSet presAssocID="{208D9967-2ED4-4E6E-BEDB-B4D025A7F894}" presName="L1TextContainer" presStyleLbl="revTx" presStyleIdx="19" presStyleCnt="20">
        <dgm:presLayoutVars>
          <dgm:chMax val="1"/>
          <dgm:chPref val="1"/>
          <dgm:bulletEnabled val="1"/>
        </dgm:presLayoutVars>
      </dgm:prSet>
      <dgm:spPr/>
    </dgm:pt>
    <dgm:pt modelId="{7788ABB5-53EB-4F10-BE04-B01D44C98F34}" type="pres">
      <dgm:prSet presAssocID="{208D9967-2ED4-4E6E-BEDB-B4D025A7F894}" presName="ConnectLine" presStyleLbl="dkBgShp" presStyleIdx="11" presStyleCnt="12"/>
      <dgm:spPr/>
    </dgm:pt>
    <dgm:pt modelId="{B61ED437-E4C8-4DD8-9757-F3452BF02E35}" type="pres">
      <dgm:prSet presAssocID="{208D9967-2ED4-4E6E-BEDB-B4D025A7F894}" presName="ConnectorPoint" presStyleCnt="0"/>
      <dgm:spPr/>
    </dgm:pt>
    <dgm:pt modelId="{3885F850-FEC3-45B5-A29E-24E9512F1E81}" type="pres">
      <dgm:prSet presAssocID="{208D9967-2ED4-4E6E-BEDB-B4D025A7F894}" presName="Bullet" presStyleLbl="lnNode1" presStyleIdx="9" presStyleCnt="10"/>
      <dgm:spPr/>
    </dgm:pt>
    <dgm:pt modelId="{6F6BF04D-8CE0-4500-8C11-C2A97394B4CE}" type="pres">
      <dgm:prSet presAssocID="{208D9967-2ED4-4E6E-BEDB-B4D025A7F894}" presName="EmptyPlaceHolder" presStyleCnt="0"/>
      <dgm:spPr/>
    </dgm:pt>
  </dgm:ptLst>
  <dgm:cxnLst>
    <dgm:cxn modelId="{9EE30B09-2A38-46D9-B871-6A742916AB62}" type="presOf" srcId="{208D9967-2ED4-4E6E-BEDB-B4D025A7F894}" destId="{4F4ED6EA-F29D-41B7-BC74-ABBB8201E8B8}" srcOrd="0" destOrd="0" presId="urn:microsoft.com/office/officeart/2024/layout/BulletTimelineInverted"/>
    <dgm:cxn modelId="{9965940F-1FCC-4801-8961-13A4536AD2A9}" srcId="{CE25B762-CA6B-4667-A86A-D4089CA67F1D}" destId="{3FA55948-8B98-402E-9974-558654D783F9}" srcOrd="6" destOrd="0" parTransId="{5E8912A1-8C00-4ED6-846B-240645EA3C5F}" sibTransId="{7237A5B3-6CDA-461B-A7D2-0518C0563718}"/>
    <dgm:cxn modelId="{37A41815-6A76-4B13-BEE9-3808E757ECA8}" type="presOf" srcId="{3FA55948-8B98-402E-9974-558654D783F9}" destId="{D8505424-E947-4249-BADE-3F2345E03322}" srcOrd="0" destOrd="0" presId="urn:microsoft.com/office/officeart/2024/layout/BulletTimelineInverted"/>
    <dgm:cxn modelId="{AA8E9524-E6D5-4BBF-8772-91F1D542DB57}" type="presOf" srcId="{8469B9A6-3515-4B94-B8C2-ACEC23DEC699}" destId="{072B98A0-A342-4847-A665-6DF975CE6A64}" srcOrd="0" destOrd="0" presId="urn:microsoft.com/office/officeart/2024/layout/BulletTimelineInverted"/>
    <dgm:cxn modelId="{226D2B28-AFA4-40A1-9C6D-BBD2E5825B9A}" srcId="{CE25B762-CA6B-4667-A86A-D4089CA67F1D}" destId="{C9B0B70A-CA69-470F-B755-F3A8277E8B88}" srcOrd="5" destOrd="0" parTransId="{8CD3A4AF-19AF-4ACC-8260-4E2DCD90DEC5}" sibTransId="{CA5E58AF-D00E-4AC1-AD90-0D5E83BB3F73}"/>
    <dgm:cxn modelId="{B4A82F2B-910D-40F6-9F4C-309C70201029}" type="presOf" srcId="{19382F31-5CEE-44D6-B5DE-1B60F9AAFEF3}" destId="{265EEB38-5D74-46CF-985F-28F2D535F996}" srcOrd="0" destOrd="0" presId="urn:microsoft.com/office/officeart/2024/layout/BulletTimelineInverted"/>
    <dgm:cxn modelId="{2F8EF12C-5E39-49E6-9C19-45B037687641}" type="presOf" srcId="{4F3CD333-73F9-45BD-9823-219FFA1CFA0C}" destId="{40750EEC-9D9C-4AED-A2A1-FC7B5EBFD030}" srcOrd="0" destOrd="0" presId="urn:microsoft.com/office/officeart/2024/layout/BulletTimelineInverted"/>
    <dgm:cxn modelId="{CB9C205E-B707-4E3D-A473-3F3562655383}" type="presOf" srcId="{CCB16A78-22D4-4FFD-9BAD-115029AEC7DE}" destId="{CC209185-82C6-4AE8-BD37-4D9BC45A707F}" srcOrd="0" destOrd="0" presId="urn:microsoft.com/office/officeart/2024/layout/BulletTimelineInverted"/>
    <dgm:cxn modelId="{F658D361-629A-4003-A856-797BA962D701}" type="presOf" srcId="{CE25B762-CA6B-4667-A86A-D4089CA67F1D}" destId="{F3FCB5C6-1590-49DE-A3BC-7C0ED337D5E2}" srcOrd="0" destOrd="0" presId="urn:microsoft.com/office/officeart/2024/layout/BulletTimelineInverted"/>
    <dgm:cxn modelId="{8B5D524A-7EC1-4BB2-AA95-EF3619325581}" srcId="{CE25B762-CA6B-4667-A86A-D4089CA67F1D}" destId="{208D9967-2ED4-4E6E-BEDB-B4D025A7F894}" srcOrd="9" destOrd="0" parTransId="{21A93B2A-58ED-4D9C-ADE5-47AAB1F75451}" sibTransId="{C31B51CB-F673-4627-8FE9-5238BDB7CAEE}"/>
    <dgm:cxn modelId="{187F8B50-80E0-40AE-97E1-FF6E8E1ED862}" srcId="{CE25B762-CA6B-4667-A86A-D4089CA67F1D}" destId="{8469B9A6-3515-4B94-B8C2-ACEC23DEC699}" srcOrd="0" destOrd="0" parTransId="{B6F27ADE-A511-46DC-8B07-4DD102FC4660}" sibTransId="{B5231E89-6CF6-4D5A-976A-2E914AD12550}"/>
    <dgm:cxn modelId="{8317FD58-6AC2-412E-902B-16C2AAE871A0}" srcId="{CE25B762-CA6B-4667-A86A-D4089CA67F1D}" destId="{1F18929F-9B04-4C9D-A369-A01D3ABBA6BD}" srcOrd="7" destOrd="0" parTransId="{9F11169E-9602-4BBD-BCFC-E7EED1C7A4EE}" sibTransId="{A30A15FF-4089-46B5-AEFE-AB0BCB470377}"/>
    <dgm:cxn modelId="{4B900C59-AA68-4844-A38F-56519A80C8C3}" type="presOf" srcId="{1F18929F-9B04-4C9D-A369-A01D3ABBA6BD}" destId="{9FBD226A-6010-4A98-B0B0-30C01BD9EF21}" srcOrd="0" destOrd="0" presId="urn:microsoft.com/office/officeart/2024/layout/BulletTimelineInverted"/>
    <dgm:cxn modelId="{1C8D177F-1DC4-4694-80FF-2DB05E8719B7}" srcId="{CE25B762-CA6B-4667-A86A-D4089CA67F1D}" destId="{4F3CD333-73F9-45BD-9823-219FFA1CFA0C}" srcOrd="4" destOrd="0" parTransId="{83DEC0DA-1B4A-436C-943A-0EA36E8815BD}" sibTransId="{5C565953-4DD5-45FD-BEA2-8AF4D2087840}"/>
    <dgm:cxn modelId="{0CA54190-BD8E-4C89-9BD6-83C0B0E13B62}" srcId="{CE25B762-CA6B-4667-A86A-D4089CA67F1D}" destId="{19382F31-5CEE-44D6-B5DE-1B60F9AAFEF3}" srcOrd="1" destOrd="0" parTransId="{B94EA497-AA15-488B-B4D8-E93EECE4A684}" sibTransId="{ABB33C11-21AD-4870-930C-C16756D2710C}"/>
    <dgm:cxn modelId="{58AE8397-83FA-4FE3-950A-0FE19FA00C04}" type="presOf" srcId="{593C4D15-9BD7-4149-AC91-B1D4C91A982C}" destId="{10F13966-D4AE-4248-89D2-C95CA0769957}" srcOrd="0" destOrd="0" presId="urn:microsoft.com/office/officeart/2024/layout/BulletTimelineInverted"/>
    <dgm:cxn modelId="{9DC3B39D-B643-48E9-A81B-27414CCD8B24}" srcId="{CE25B762-CA6B-4667-A86A-D4089CA67F1D}" destId="{CCB16A78-22D4-4FFD-9BAD-115029AEC7DE}" srcOrd="2" destOrd="0" parTransId="{9D8A3862-53D2-4A33-90CB-915F297CF1C5}" sibTransId="{2C4CE6FE-B9E9-44EC-9D40-CB53E0077BF6}"/>
    <dgm:cxn modelId="{EB1052B1-50EB-4775-ACC9-8A1DB16132F2}" type="presOf" srcId="{C9B0B70A-CA69-470F-B755-F3A8277E8B88}" destId="{2903F0AA-67EC-4D1E-902F-F03C5B9EBEBB}" srcOrd="0" destOrd="0" presId="urn:microsoft.com/office/officeart/2024/layout/BulletTimelineInverted"/>
    <dgm:cxn modelId="{49E5FECA-CE50-4F1F-8E44-FC2210CBEABF}" srcId="{CE25B762-CA6B-4667-A86A-D4089CA67F1D}" destId="{593C4D15-9BD7-4149-AC91-B1D4C91A982C}" srcOrd="3" destOrd="0" parTransId="{FB30A588-6B27-4916-BF38-B0591431FE2E}" sibTransId="{51B114F0-079C-4E90-86AE-782A7E933704}"/>
    <dgm:cxn modelId="{DA5345E8-B6DC-4336-BDF2-CBCFA4E839B8}" type="presOf" srcId="{6BE19809-2346-4F3F-9C72-31391AEBFC98}" destId="{3FDAF61B-055C-4642-84C7-83021A506F15}" srcOrd="0" destOrd="0" presId="urn:microsoft.com/office/officeart/2024/layout/BulletTimelineInverted"/>
    <dgm:cxn modelId="{A04881FB-2BB7-43B2-B057-3BE5755383F9}" srcId="{CE25B762-CA6B-4667-A86A-D4089CA67F1D}" destId="{6BE19809-2346-4F3F-9C72-31391AEBFC98}" srcOrd="8" destOrd="0" parTransId="{F56D35F9-EB5A-4E5B-BC0F-94F92003B4A6}" sibTransId="{C4FE776C-C043-4334-AA6F-72EB2DDC566F}"/>
    <dgm:cxn modelId="{226131EB-B47B-4BCC-AAEF-CBCBC2A6D1D6}" type="presParOf" srcId="{F3FCB5C6-1590-49DE-A3BC-7C0ED337D5E2}" destId="{7FB8599E-2C11-4DF8-89D2-209F48FD72AB}" srcOrd="0" destOrd="0" presId="urn:microsoft.com/office/officeart/2024/layout/BulletTimelineInverted"/>
    <dgm:cxn modelId="{AD210AED-3CFF-4F89-B518-EF26DF4AF5BA}" type="presParOf" srcId="{7FB8599E-2C11-4DF8-89D2-209F48FD72AB}" destId="{BC86A260-5C32-4668-9B50-E817C817415B}" srcOrd="0" destOrd="0" presId="urn:microsoft.com/office/officeart/2024/layout/BulletTimelineInverted"/>
    <dgm:cxn modelId="{5C33F156-8BFB-43F2-B468-925DBC4EDEEA}" type="presParOf" srcId="{7FB8599E-2C11-4DF8-89D2-209F48FD72AB}" destId="{FCD90E13-C0C1-4923-9859-1944297F749C}" srcOrd="1" destOrd="0" presId="urn:microsoft.com/office/officeart/2024/layout/BulletTimelineInverted"/>
    <dgm:cxn modelId="{6E941DFE-5CB2-48A4-9ADC-9123BF387CB7}" type="presParOf" srcId="{F3FCB5C6-1590-49DE-A3BC-7C0ED337D5E2}" destId="{5562D97B-8DB6-478F-8AEA-E31CEF2B9D4A}" srcOrd="1" destOrd="0" presId="urn:microsoft.com/office/officeart/2024/layout/BulletTimelineInverted"/>
    <dgm:cxn modelId="{3795D781-1C88-4B38-B97C-8C50E472C7AA}" type="presParOf" srcId="{5562D97B-8DB6-478F-8AEA-E31CEF2B9D4A}" destId="{FC2D0D0C-6A99-4380-A521-CF1310AF7FEB}" srcOrd="0" destOrd="0" presId="urn:microsoft.com/office/officeart/2024/layout/BulletTimelineInverted"/>
    <dgm:cxn modelId="{9C479271-005F-4673-8E0F-5DBE7F52B175}" type="presParOf" srcId="{FC2D0D0C-6A99-4380-A521-CF1310AF7FEB}" destId="{7AD117BC-6B0B-42BF-A785-9EBB1F697E67}" srcOrd="0" destOrd="0" presId="urn:microsoft.com/office/officeart/2024/layout/BulletTimelineInverted"/>
    <dgm:cxn modelId="{39234A60-0614-4F07-942D-7F95C4D44EC5}" type="presParOf" srcId="{7AD117BC-6B0B-42BF-A785-9EBB1F697E67}" destId="{A3C95C9D-EF79-450F-87BF-0734319D0103}" srcOrd="0" destOrd="0" presId="urn:microsoft.com/office/officeart/2024/layout/BulletTimelineInverted"/>
    <dgm:cxn modelId="{D5B5E11F-CA2F-438F-AC74-87A21D6BB1AF}" type="presParOf" srcId="{7AD117BC-6B0B-42BF-A785-9EBB1F697E67}" destId="{41CA95A2-AE1D-4EC8-9548-9A8194A32EFB}" srcOrd="1" destOrd="0" presId="urn:microsoft.com/office/officeart/2024/layout/BulletTimelineInverted"/>
    <dgm:cxn modelId="{7AC7688A-095A-4D57-BFD4-3FB3EF93B5E9}" type="presParOf" srcId="{FC2D0D0C-6A99-4380-A521-CF1310AF7FEB}" destId="{BAC3F0DE-EF35-4ED6-9FB7-D1B13AAFC910}" srcOrd="1" destOrd="0" presId="urn:microsoft.com/office/officeart/2024/layout/BulletTimelineInverted"/>
    <dgm:cxn modelId="{DE03944E-AD65-4ABF-86A0-333642E887E5}" type="presParOf" srcId="{FC2D0D0C-6A99-4380-A521-CF1310AF7FEB}" destId="{072B98A0-A342-4847-A665-6DF975CE6A64}" srcOrd="2" destOrd="0" presId="urn:microsoft.com/office/officeart/2024/layout/BulletTimelineInverted"/>
    <dgm:cxn modelId="{8CC7D681-FF3E-48B8-BA1D-C75C0B835D0A}" type="presParOf" srcId="{FC2D0D0C-6A99-4380-A521-CF1310AF7FEB}" destId="{CE357DE8-5519-4208-8F8E-8C57A1D65597}" srcOrd="3" destOrd="0" presId="urn:microsoft.com/office/officeart/2024/layout/BulletTimelineInverted"/>
    <dgm:cxn modelId="{F1DD1A84-91EB-412F-9DB9-FCEB45FCEEE4}" type="presParOf" srcId="{FC2D0D0C-6A99-4380-A521-CF1310AF7FEB}" destId="{D7D5FDF3-19C7-4574-ACCD-744D66F39348}" srcOrd="4" destOrd="0" presId="urn:microsoft.com/office/officeart/2024/layout/BulletTimelineInverted"/>
    <dgm:cxn modelId="{C4BBEAAA-6484-4942-817B-CCA33AFF5CBE}" type="presParOf" srcId="{D7D5FDF3-19C7-4574-ACCD-744D66F39348}" destId="{4A2FE545-6F3E-47B0-A51C-6A9115C7CA1D}" srcOrd="0" destOrd="0" presId="urn:microsoft.com/office/officeart/2024/layout/BulletTimelineInverted"/>
    <dgm:cxn modelId="{0822D859-E1EC-4B85-AF84-E3AE7B9703D5}" type="presParOf" srcId="{FC2D0D0C-6A99-4380-A521-CF1310AF7FEB}" destId="{73ABB605-D671-48B5-AB29-F98A36A55FD4}" srcOrd="5" destOrd="0" presId="urn:microsoft.com/office/officeart/2024/layout/BulletTimelineInverted"/>
    <dgm:cxn modelId="{DE32C18C-5922-48A0-8752-D087795E855F}" type="presParOf" srcId="{5562D97B-8DB6-478F-8AEA-E31CEF2B9D4A}" destId="{E0935474-B4CD-40F9-AE46-63E46847CA1C}" srcOrd="1" destOrd="0" presId="urn:microsoft.com/office/officeart/2024/layout/BulletTimelineInverted"/>
    <dgm:cxn modelId="{E73047D4-3D70-4CB6-AB5D-17782CED1905}" type="presParOf" srcId="{5562D97B-8DB6-478F-8AEA-E31CEF2B9D4A}" destId="{40AA02D8-FD9E-48A6-BFDC-E233609C8613}" srcOrd="2" destOrd="0" presId="urn:microsoft.com/office/officeart/2024/layout/BulletTimelineInverted"/>
    <dgm:cxn modelId="{EC15764D-242B-4D5A-97ED-0867025273AC}" type="presParOf" srcId="{40AA02D8-FD9E-48A6-BFDC-E233609C8613}" destId="{FA15DA37-7E95-43DB-8CDA-A94E38448574}" srcOrd="0" destOrd="0" presId="urn:microsoft.com/office/officeart/2024/layout/BulletTimelineInverted"/>
    <dgm:cxn modelId="{9B5ACACC-E673-4A23-A8FB-721F81D2D1F6}" type="presParOf" srcId="{FA15DA37-7E95-43DB-8CDA-A94E38448574}" destId="{42A1A7DA-149B-4751-B92C-5F71CD54315B}" srcOrd="0" destOrd="0" presId="urn:microsoft.com/office/officeart/2024/layout/BulletTimelineInverted"/>
    <dgm:cxn modelId="{69C7EC81-DCA9-4CA4-A251-CDEC89AE9FC9}" type="presParOf" srcId="{FA15DA37-7E95-43DB-8CDA-A94E38448574}" destId="{AE1A0BE2-683B-4AD3-AB0F-3CD0DB73F6EC}" srcOrd="1" destOrd="0" presId="urn:microsoft.com/office/officeart/2024/layout/BulletTimelineInverted"/>
    <dgm:cxn modelId="{FC46EFBA-5C80-48C8-AD0B-AD9E415C8F96}" type="presParOf" srcId="{40AA02D8-FD9E-48A6-BFDC-E233609C8613}" destId="{06F45C57-C26E-493C-AAFB-49D703B61535}" srcOrd="1" destOrd="0" presId="urn:microsoft.com/office/officeart/2024/layout/BulletTimelineInverted"/>
    <dgm:cxn modelId="{AA723031-D37B-4AB7-A6DD-7A72D6BDEBA6}" type="presParOf" srcId="{40AA02D8-FD9E-48A6-BFDC-E233609C8613}" destId="{265EEB38-5D74-46CF-985F-28F2D535F996}" srcOrd="2" destOrd="0" presId="urn:microsoft.com/office/officeart/2024/layout/BulletTimelineInverted"/>
    <dgm:cxn modelId="{B55B065A-2DDB-476B-B70C-4A294431C33C}" type="presParOf" srcId="{40AA02D8-FD9E-48A6-BFDC-E233609C8613}" destId="{E7576008-F6CC-41C7-8244-733669DB6D8E}" srcOrd="3" destOrd="0" presId="urn:microsoft.com/office/officeart/2024/layout/BulletTimelineInverted"/>
    <dgm:cxn modelId="{E0F03682-37AB-4669-8B98-0E3C003FFED0}" type="presParOf" srcId="{40AA02D8-FD9E-48A6-BFDC-E233609C8613}" destId="{B042A8B4-2B08-45FB-8B8F-C2F2644C20AA}" srcOrd="4" destOrd="0" presId="urn:microsoft.com/office/officeart/2024/layout/BulletTimelineInverted"/>
    <dgm:cxn modelId="{C08D05D1-B415-487E-A34D-33A75F50D297}" type="presParOf" srcId="{B042A8B4-2B08-45FB-8B8F-C2F2644C20AA}" destId="{61D03D47-3B9F-473D-AC3F-28B08C66DFF5}" srcOrd="0" destOrd="0" presId="urn:microsoft.com/office/officeart/2024/layout/BulletTimelineInverted"/>
    <dgm:cxn modelId="{F002B0D2-6F5A-4E9E-9686-295925D50286}" type="presParOf" srcId="{40AA02D8-FD9E-48A6-BFDC-E233609C8613}" destId="{89F51FBA-8D5E-4F35-927C-D9FB9389366D}" srcOrd="5" destOrd="0" presId="urn:microsoft.com/office/officeart/2024/layout/BulletTimelineInverted"/>
    <dgm:cxn modelId="{0BEF56AF-480F-41A2-87AD-AC0B2243C79C}" type="presParOf" srcId="{5562D97B-8DB6-478F-8AEA-E31CEF2B9D4A}" destId="{DF2BA135-6B44-42B3-8F9A-15F0FECFCC43}" srcOrd="3" destOrd="0" presId="urn:microsoft.com/office/officeart/2024/layout/BulletTimelineInverted"/>
    <dgm:cxn modelId="{4916492D-8546-4626-9B4E-BD19CBC99ADC}" type="presParOf" srcId="{5562D97B-8DB6-478F-8AEA-E31CEF2B9D4A}" destId="{12DA0F5B-435F-4625-9885-4C6DA9BD683D}" srcOrd="4" destOrd="0" presId="urn:microsoft.com/office/officeart/2024/layout/BulletTimelineInverted"/>
    <dgm:cxn modelId="{62D6A279-3030-40AB-9681-232BE7951817}" type="presParOf" srcId="{12DA0F5B-435F-4625-9885-4C6DA9BD683D}" destId="{5FD4984E-E475-4197-8FB3-A22C47028AAC}" srcOrd="0" destOrd="0" presId="urn:microsoft.com/office/officeart/2024/layout/BulletTimelineInverted"/>
    <dgm:cxn modelId="{3DB6B3FC-9AAD-4DA0-9F63-59AB12214F0D}" type="presParOf" srcId="{5FD4984E-E475-4197-8FB3-A22C47028AAC}" destId="{2D4F60DA-26A4-476C-BCC3-A72066B611BE}" srcOrd="0" destOrd="0" presId="urn:microsoft.com/office/officeart/2024/layout/BulletTimelineInverted"/>
    <dgm:cxn modelId="{204A47DE-B7E3-4DB3-B9FF-EC23331FF16E}" type="presParOf" srcId="{5FD4984E-E475-4197-8FB3-A22C47028AAC}" destId="{D94080B3-7112-4136-8521-3F5CBF4F8818}" srcOrd="1" destOrd="0" presId="urn:microsoft.com/office/officeart/2024/layout/BulletTimelineInverted"/>
    <dgm:cxn modelId="{AE5402BF-BB61-44B4-A897-317527F1C7A7}" type="presParOf" srcId="{12DA0F5B-435F-4625-9885-4C6DA9BD683D}" destId="{3B99BB7B-B70D-4780-B960-D13F9AA2AB2A}" srcOrd="1" destOrd="0" presId="urn:microsoft.com/office/officeart/2024/layout/BulletTimelineInverted"/>
    <dgm:cxn modelId="{0B0CCD96-8C08-45F5-9406-D7B0393C17D9}" type="presParOf" srcId="{12DA0F5B-435F-4625-9885-4C6DA9BD683D}" destId="{CC209185-82C6-4AE8-BD37-4D9BC45A707F}" srcOrd="2" destOrd="0" presId="urn:microsoft.com/office/officeart/2024/layout/BulletTimelineInverted"/>
    <dgm:cxn modelId="{306ACB96-5A4B-45C6-B0D8-B637CFDA3026}" type="presParOf" srcId="{12DA0F5B-435F-4625-9885-4C6DA9BD683D}" destId="{FDAFF592-E380-4A6F-9765-D2A325C736FC}" srcOrd="3" destOrd="0" presId="urn:microsoft.com/office/officeart/2024/layout/BulletTimelineInverted"/>
    <dgm:cxn modelId="{EACF3684-AC80-4874-A506-F8C5AEB4A0C4}" type="presParOf" srcId="{12DA0F5B-435F-4625-9885-4C6DA9BD683D}" destId="{5617AF0F-210A-4B9E-B38C-C222BEB74DEF}" srcOrd="4" destOrd="0" presId="urn:microsoft.com/office/officeart/2024/layout/BulletTimelineInverted"/>
    <dgm:cxn modelId="{035CE092-D786-479A-A0CC-AA9A285F01B1}" type="presParOf" srcId="{5617AF0F-210A-4B9E-B38C-C222BEB74DEF}" destId="{6D1FA909-4CB0-4A9E-A4EF-3B19A7C518B8}" srcOrd="0" destOrd="0" presId="urn:microsoft.com/office/officeart/2024/layout/BulletTimelineInverted"/>
    <dgm:cxn modelId="{8AF5FB55-1ADC-4CDA-986F-6E1340D38F7D}" type="presParOf" srcId="{12DA0F5B-435F-4625-9885-4C6DA9BD683D}" destId="{7D386090-BCBB-4ED5-91DD-7B02062D7903}" srcOrd="5" destOrd="0" presId="urn:microsoft.com/office/officeart/2024/layout/BulletTimelineInverted"/>
    <dgm:cxn modelId="{5DA8895C-6FFF-428B-B5BF-90EF00A09171}" type="presParOf" srcId="{5562D97B-8DB6-478F-8AEA-E31CEF2B9D4A}" destId="{52B5EFEE-DCB7-4D32-B1BD-FD76FBD5DB84}" srcOrd="5" destOrd="0" presId="urn:microsoft.com/office/officeart/2024/layout/BulletTimelineInverted"/>
    <dgm:cxn modelId="{E886F7FF-756D-4EAF-8718-1876980C27E9}" type="presParOf" srcId="{5562D97B-8DB6-478F-8AEA-E31CEF2B9D4A}" destId="{A401B3D8-EC13-4E54-BD1B-78F11C05E4DE}" srcOrd="6" destOrd="0" presId="urn:microsoft.com/office/officeart/2024/layout/BulletTimelineInverted"/>
    <dgm:cxn modelId="{65E1C1C8-6557-4191-88E3-589B04C02B52}" type="presParOf" srcId="{A401B3D8-EC13-4E54-BD1B-78F11C05E4DE}" destId="{50B93AFC-867C-403D-A2D4-4A520C486712}" srcOrd="0" destOrd="0" presId="urn:microsoft.com/office/officeart/2024/layout/BulletTimelineInverted"/>
    <dgm:cxn modelId="{1AF999C6-B33C-4340-A749-B29EDCA2E7B4}" type="presParOf" srcId="{50B93AFC-867C-403D-A2D4-4A520C486712}" destId="{A35C07A4-A55D-491F-9342-39AA612FE70F}" srcOrd="0" destOrd="0" presId="urn:microsoft.com/office/officeart/2024/layout/BulletTimelineInverted"/>
    <dgm:cxn modelId="{F221B0C8-2192-4AC1-B266-7430BBF03867}" type="presParOf" srcId="{50B93AFC-867C-403D-A2D4-4A520C486712}" destId="{442A7023-007D-4AAF-A1DD-75889DF44244}" srcOrd="1" destOrd="0" presId="urn:microsoft.com/office/officeart/2024/layout/BulletTimelineInverted"/>
    <dgm:cxn modelId="{39619A3C-A04A-4AE2-87B7-AAD1102D8234}" type="presParOf" srcId="{A401B3D8-EC13-4E54-BD1B-78F11C05E4DE}" destId="{E6F3673C-7A8F-4AF2-83E0-E1FCF1765A60}" srcOrd="1" destOrd="0" presId="urn:microsoft.com/office/officeart/2024/layout/BulletTimelineInverted"/>
    <dgm:cxn modelId="{3AB7A0DD-037A-4624-B6B4-55CEE2C0FBE0}" type="presParOf" srcId="{A401B3D8-EC13-4E54-BD1B-78F11C05E4DE}" destId="{10F13966-D4AE-4248-89D2-C95CA0769957}" srcOrd="2" destOrd="0" presId="urn:microsoft.com/office/officeart/2024/layout/BulletTimelineInverted"/>
    <dgm:cxn modelId="{FD825DB1-5AA4-4EF5-A666-9FEC1B7FEF6B}" type="presParOf" srcId="{A401B3D8-EC13-4E54-BD1B-78F11C05E4DE}" destId="{24DCBBD5-7231-46A1-96A0-C604027738D5}" srcOrd="3" destOrd="0" presId="urn:microsoft.com/office/officeart/2024/layout/BulletTimelineInverted"/>
    <dgm:cxn modelId="{14073BAF-E6EB-46B9-977D-4DAA6CF79B96}" type="presParOf" srcId="{A401B3D8-EC13-4E54-BD1B-78F11C05E4DE}" destId="{61A0BB78-BF10-49CF-8B4F-F5811094FCE1}" srcOrd="4" destOrd="0" presId="urn:microsoft.com/office/officeart/2024/layout/BulletTimelineInverted"/>
    <dgm:cxn modelId="{41F7EBE5-34A5-464E-B222-6A2777920CC9}" type="presParOf" srcId="{61A0BB78-BF10-49CF-8B4F-F5811094FCE1}" destId="{B1948F72-4F3E-4A63-AA95-BAD926F454B4}" srcOrd="0" destOrd="0" presId="urn:microsoft.com/office/officeart/2024/layout/BulletTimelineInverted"/>
    <dgm:cxn modelId="{BB6A8C8A-AD4A-48BE-8E87-8E78B3E5BE88}" type="presParOf" srcId="{A401B3D8-EC13-4E54-BD1B-78F11C05E4DE}" destId="{E2ACE112-09B3-4C5B-8516-0BFD14381B8C}" srcOrd="5" destOrd="0" presId="urn:microsoft.com/office/officeart/2024/layout/BulletTimelineInverted"/>
    <dgm:cxn modelId="{E58DC1CC-753D-4B3D-A5A9-3344CDD0858B}" type="presParOf" srcId="{5562D97B-8DB6-478F-8AEA-E31CEF2B9D4A}" destId="{9056B664-B513-440D-BA9B-DA88EA1C120C}" srcOrd="7" destOrd="0" presId="urn:microsoft.com/office/officeart/2024/layout/BulletTimelineInverted"/>
    <dgm:cxn modelId="{496EBD74-DF60-4484-8478-D97DB457AB75}" type="presParOf" srcId="{5562D97B-8DB6-478F-8AEA-E31CEF2B9D4A}" destId="{E42D1D70-4FD3-461F-9D07-3FC2C905D88F}" srcOrd="8" destOrd="0" presId="urn:microsoft.com/office/officeart/2024/layout/BulletTimelineInverted"/>
    <dgm:cxn modelId="{2C4F8F5C-AB09-4719-B5C9-B94082CB988C}" type="presParOf" srcId="{E42D1D70-4FD3-461F-9D07-3FC2C905D88F}" destId="{05BBC024-9A15-4159-8101-412C51D9DCF1}" srcOrd="0" destOrd="0" presId="urn:microsoft.com/office/officeart/2024/layout/BulletTimelineInverted"/>
    <dgm:cxn modelId="{3747C185-37C4-4864-B516-FF0E2C918949}" type="presParOf" srcId="{05BBC024-9A15-4159-8101-412C51D9DCF1}" destId="{AF72B0A1-EA30-457A-BB59-AA4207FD95CE}" srcOrd="0" destOrd="0" presId="urn:microsoft.com/office/officeart/2024/layout/BulletTimelineInverted"/>
    <dgm:cxn modelId="{97004775-007A-4787-B776-2179586A93CC}" type="presParOf" srcId="{05BBC024-9A15-4159-8101-412C51D9DCF1}" destId="{F11A087B-3B57-4ED1-ADEF-DBA874B40317}" srcOrd="1" destOrd="0" presId="urn:microsoft.com/office/officeart/2024/layout/BulletTimelineInverted"/>
    <dgm:cxn modelId="{7033CA2F-4713-415D-A056-2F7B1D712574}" type="presParOf" srcId="{E42D1D70-4FD3-461F-9D07-3FC2C905D88F}" destId="{2A427A5E-593D-4918-BB1B-02BFE33869BF}" srcOrd="1" destOrd="0" presId="urn:microsoft.com/office/officeart/2024/layout/BulletTimelineInverted"/>
    <dgm:cxn modelId="{1E5E9939-A5DE-441D-B875-A2C28F82BB4E}" type="presParOf" srcId="{E42D1D70-4FD3-461F-9D07-3FC2C905D88F}" destId="{40750EEC-9D9C-4AED-A2A1-FC7B5EBFD030}" srcOrd="2" destOrd="0" presId="urn:microsoft.com/office/officeart/2024/layout/BulletTimelineInverted"/>
    <dgm:cxn modelId="{70AAC6CE-2998-4173-89F6-FE1BA44EED8E}" type="presParOf" srcId="{E42D1D70-4FD3-461F-9D07-3FC2C905D88F}" destId="{A296A3BF-2986-473F-A3E1-E14D0232CF09}" srcOrd="3" destOrd="0" presId="urn:microsoft.com/office/officeart/2024/layout/BulletTimelineInverted"/>
    <dgm:cxn modelId="{330EA331-635A-466D-A267-3994C61F5C04}" type="presParOf" srcId="{E42D1D70-4FD3-461F-9D07-3FC2C905D88F}" destId="{0D44BF03-8F96-4E77-8EA6-8F61F4DEF66B}" srcOrd="4" destOrd="0" presId="urn:microsoft.com/office/officeart/2024/layout/BulletTimelineInverted"/>
    <dgm:cxn modelId="{01675B3D-508C-4D59-A7ED-955676FB4DC6}" type="presParOf" srcId="{0D44BF03-8F96-4E77-8EA6-8F61F4DEF66B}" destId="{FE220818-7E21-4A1A-81DF-EEEECD1E57F7}" srcOrd="0" destOrd="0" presId="urn:microsoft.com/office/officeart/2024/layout/BulletTimelineInverted"/>
    <dgm:cxn modelId="{214A2881-D48B-4743-BE71-18237B3DF7D1}" type="presParOf" srcId="{E42D1D70-4FD3-461F-9D07-3FC2C905D88F}" destId="{32ECEDF4-6CF4-4D54-AE9C-4C5B747C784A}" srcOrd="5" destOrd="0" presId="urn:microsoft.com/office/officeart/2024/layout/BulletTimelineInverted"/>
    <dgm:cxn modelId="{1AE915BC-B5F2-433B-8D61-E864AF7675CA}" type="presParOf" srcId="{5562D97B-8DB6-478F-8AEA-E31CEF2B9D4A}" destId="{7E6CA528-EE1F-40C6-A5E8-4F585574EC13}" srcOrd="9" destOrd="0" presId="urn:microsoft.com/office/officeart/2024/layout/BulletTimelineInverted"/>
    <dgm:cxn modelId="{5A620F8F-4EFB-4165-AFDB-F913A156DC4F}" type="presParOf" srcId="{5562D97B-8DB6-478F-8AEA-E31CEF2B9D4A}" destId="{6709EBFF-5ED9-4AD4-A8A8-7970A04E9E50}" srcOrd="10" destOrd="0" presId="urn:microsoft.com/office/officeart/2024/layout/BulletTimelineInverted"/>
    <dgm:cxn modelId="{55DFD7C5-1920-4126-95E7-03BAFF969077}" type="presParOf" srcId="{6709EBFF-5ED9-4AD4-A8A8-7970A04E9E50}" destId="{BBEB558C-94F4-44E9-BC00-64EE8CA6670F}" srcOrd="0" destOrd="0" presId="urn:microsoft.com/office/officeart/2024/layout/BulletTimelineInverted"/>
    <dgm:cxn modelId="{12C4197E-EC0F-4914-A6BD-2B467BC22DD8}" type="presParOf" srcId="{BBEB558C-94F4-44E9-BC00-64EE8CA6670F}" destId="{B91D84DC-0A2E-41F3-AFEB-2B97895DFC70}" srcOrd="0" destOrd="0" presId="urn:microsoft.com/office/officeart/2024/layout/BulletTimelineInverted"/>
    <dgm:cxn modelId="{D0F4D07C-426F-402A-8A21-EDC07A6C1D4A}" type="presParOf" srcId="{BBEB558C-94F4-44E9-BC00-64EE8CA6670F}" destId="{309E7E56-C3A6-46D1-8B56-ABA68CA96331}" srcOrd="1" destOrd="0" presId="urn:microsoft.com/office/officeart/2024/layout/BulletTimelineInverted"/>
    <dgm:cxn modelId="{B58A6FC6-1230-48F0-B386-B0C166CBA29A}" type="presParOf" srcId="{6709EBFF-5ED9-4AD4-A8A8-7970A04E9E50}" destId="{D160DD44-5AF8-400C-BFFC-66339B89855C}" srcOrd="1" destOrd="0" presId="urn:microsoft.com/office/officeart/2024/layout/BulletTimelineInverted"/>
    <dgm:cxn modelId="{11FBBBF5-9DC5-4081-9BBD-0CCF38B6D106}" type="presParOf" srcId="{6709EBFF-5ED9-4AD4-A8A8-7970A04E9E50}" destId="{2903F0AA-67EC-4D1E-902F-F03C5B9EBEBB}" srcOrd="2" destOrd="0" presId="urn:microsoft.com/office/officeart/2024/layout/BulletTimelineInverted"/>
    <dgm:cxn modelId="{99BD2BD5-9A3F-437A-A639-2C7D0F9D9C42}" type="presParOf" srcId="{6709EBFF-5ED9-4AD4-A8A8-7970A04E9E50}" destId="{3474D082-6532-462D-8187-166F3146E084}" srcOrd="3" destOrd="0" presId="urn:microsoft.com/office/officeart/2024/layout/BulletTimelineInverted"/>
    <dgm:cxn modelId="{64C7234D-5CB5-4C6E-9B65-5BAC0B327FEA}" type="presParOf" srcId="{6709EBFF-5ED9-4AD4-A8A8-7970A04E9E50}" destId="{7BEE6BC9-7D12-42B9-BCDC-60C9D0109729}" srcOrd="4" destOrd="0" presId="urn:microsoft.com/office/officeart/2024/layout/BulletTimelineInverted"/>
    <dgm:cxn modelId="{63837E33-146C-410E-8E3D-A46D1B039F2F}" type="presParOf" srcId="{7BEE6BC9-7D12-42B9-BCDC-60C9D0109729}" destId="{FBD47C32-A6E1-4BDB-9B3E-2629A8D6C906}" srcOrd="0" destOrd="0" presId="urn:microsoft.com/office/officeart/2024/layout/BulletTimelineInverted"/>
    <dgm:cxn modelId="{1BF0F5FB-99D3-497B-B5CA-42D9138AE506}" type="presParOf" srcId="{6709EBFF-5ED9-4AD4-A8A8-7970A04E9E50}" destId="{EC1B4338-C18C-4C25-A7E1-8AEE3F8D68EE}" srcOrd="5" destOrd="0" presId="urn:microsoft.com/office/officeart/2024/layout/BulletTimelineInverted"/>
    <dgm:cxn modelId="{AA3655AD-6A0D-4658-9365-43A8927D5567}" type="presParOf" srcId="{5562D97B-8DB6-478F-8AEA-E31CEF2B9D4A}" destId="{C18B12DE-0C2B-4D67-ABA8-B94136EB83A1}" srcOrd="11" destOrd="0" presId="urn:microsoft.com/office/officeart/2024/layout/BulletTimelineInverted"/>
    <dgm:cxn modelId="{C3C9B22C-3375-46C2-866A-83269C673E1B}" type="presParOf" srcId="{5562D97B-8DB6-478F-8AEA-E31CEF2B9D4A}" destId="{A9EA0309-B2F6-4EAC-A989-DD20A5E9D5A0}" srcOrd="12" destOrd="0" presId="urn:microsoft.com/office/officeart/2024/layout/BulletTimelineInverted"/>
    <dgm:cxn modelId="{0BA15CE1-0E74-440C-ABFC-4856BC4F41BD}" type="presParOf" srcId="{A9EA0309-B2F6-4EAC-A989-DD20A5E9D5A0}" destId="{315E385E-EAA0-4200-AAB5-5BDFAC0BF7CE}" srcOrd="0" destOrd="0" presId="urn:microsoft.com/office/officeart/2024/layout/BulletTimelineInverted"/>
    <dgm:cxn modelId="{E5A2B53D-5D05-4B9A-8DDF-B7E8587E89AA}" type="presParOf" srcId="{315E385E-EAA0-4200-AAB5-5BDFAC0BF7CE}" destId="{4D251350-D10F-43DD-B2C5-6BA47CB00B57}" srcOrd="0" destOrd="0" presId="urn:microsoft.com/office/officeart/2024/layout/BulletTimelineInverted"/>
    <dgm:cxn modelId="{745EFAF0-4116-4783-9BD0-3770FE8C9B5A}" type="presParOf" srcId="{315E385E-EAA0-4200-AAB5-5BDFAC0BF7CE}" destId="{06513E06-8A64-447C-867D-262111A8FD93}" srcOrd="1" destOrd="0" presId="urn:microsoft.com/office/officeart/2024/layout/BulletTimelineInverted"/>
    <dgm:cxn modelId="{066996FD-2679-417D-9A37-B764CF663C41}" type="presParOf" srcId="{A9EA0309-B2F6-4EAC-A989-DD20A5E9D5A0}" destId="{B94FA5FC-57D6-4DD1-814D-E23930413E5A}" srcOrd="1" destOrd="0" presId="urn:microsoft.com/office/officeart/2024/layout/BulletTimelineInverted"/>
    <dgm:cxn modelId="{E7D39473-9984-488A-B02E-F99926D8246E}" type="presParOf" srcId="{A9EA0309-B2F6-4EAC-A989-DD20A5E9D5A0}" destId="{D8505424-E947-4249-BADE-3F2345E03322}" srcOrd="2" destOrd="0" presId="urn:microsoft.com/office/officeart/2024/layout/BulletTimelineInverted"/>
    <dgm:cxn modelId="{73742D42-8A40-44E4-AA8E-BB508C59C9A7}" type="presParOf" srcId="{A9EA0309-B2F6-4EAC-A989-DD20A5E9D5A0}" destId="{122E110D-6B30-4FEC-914A-816DAC01B58D}" srcOrd="3" destOrd="0" presId="urn:microsoft.com/office/officeart/2024/layout/BulletTimelineInverted"/>
    <dgm:cxn modelId="{39E8410B-8F72-4853-AFD5-22EEEC92C0D8}" type="presParOf" srcId="{A9EA0309-B2F6-4EAC-A989-DD20A5E9D5A0}" destId="{CFBA4C29-AAEE-461A-83D8-8E6D6D3BE981}" srcOrd="4" destOrd="0" presId="urn:microsoft.com/office/officeart/2024/layout/BulletTimelineInverted"/>
    <dgm:cxn modelId="{A7E96A6D-004A-4894-9E7C-B5DB9FBCDA96}" type="presParOf" srcId="{CFBA4C29-AAEE-461A-83D8-8E6D6D3BE981}" destId="{243E0C1B-83CD-4A52-B315-5ABEDC5B237E}" srcOrd="0" destOrd="0" presId="urn:microsoft.com/office/officeart/2024/layout/BulletTimelineInverted"/>
    <dgm:cxn modelId="{18FF8083-1A23-4C5F-962F-4DB462CCC02C}" type="presParOf" srcId="{A9EA0309-B2F6-4EAC-A989-DD20A5E9D5A0}" destId="{34BFC71A-500E-4E16-A3E7-BD04434F0F73}" srcOrd="5" destOrd="0" presId="urn:microsoft.com/office/officeart/2024/layout/BulletTimelineInverted"/>
    <dgm:cxn modelId="{B8764C9E-485E-4255-B7D2-B6DF04F8EA0C}" type="presParOf" srcId="{5562D97B-8DB6-478F-8AEA-E31CEF2B9D4A}" destId="{A25DC9A8-698F-4250-B11B-3E4D1DC4E82A}" srcOrd="13" destOrd="0" presId="urn:microsoft.com/office/officeart/2024/layout/BulletTimelineInverted"/>
    <dgm:cxn modelId="{2B2FDC9E-DA1D-414F-B39B-A405920C1902}" type="presParOf" srcId="{5562D97B-8DB6-478F-8AEA-E31CEF2B9D4A}" destId="{F91DE86C-D70D-4B5D-A98F-8E5833A615C3}" srcOrd="14" destOrd="0" presId="urn:microsoft.com/office/officeart/2024/layout/BulletTimelineInverted"/>
    <dgm:cxn modelId="{3B690CB1-4BDE-488C-8415-8B6A10A2BECB}" type="presParOf" srcId="{F91DE86C-D70D-4B5D-A98F-8E5833A615C3}" destId="{9E424887-752D-41D4-B251-C79183A50E3C}" srcOrd="0" destOrd="0" presId="urn:microsoft.com/office/officeart/2024/layout/BulletTimelineInverted"/>
    <dgm:cxn modelId="{B9162E7D-85DC-4D3B-8CE0-34AC239EE7DF}" type="presParOf" srcId="{9E424887-752D-41D4-B251-C79183A50E3C}" destId="{5832E949-F5F4-416C-9E0A-5F05C1D9A27C}" srcOrd="0" destOrd="0" presId="urn:microsoft.com/office/officeart/2024/layout/BulletTimelineInverted"/>
    <dgm:cxn modelId="{77FAC664-86B6-46B3-8D71-78555316345B}" type="presParOf" srcId="{9E424887-752D-41D4-B251-C79183A50E3C}" destId="{30E138D5-BE5D-4135-AC17-6E960F9359B3}" srcOrd="1" destOrd="0" presId="urn:microsoft.com/office/officeart/2024/layout/BulletTimelineInverted"/>
    <dgm:cxn modelId="{8B006626-E107-408A-9CEA-8D4A96A0402F}" type="presParOf" srcId="{F91DE86C-D70D-4B5D-A98F-8E5833A615C3}" destId="{77A8DA51-E3C0-4B13-8829-11B81AB038F9}" srcOrd="1" destOrd="0" presId="urn:microsoft.com/office/officeart/2024/layout/BulletTimelineInverted"/>
    <dgm:cxn modelId="{78A4A3BD-1EB2-47EA-A054-FDDE18B51C0A}" type="presParOf" srcId="{F91DE86C-D70D-4B5D-A98F-8E5833A615C3}" destId="{9FBD226A-6010-4A98-B0B0-30C01BD9EF21}" srcOrd="2" destOrd="0" presId="urn:microsoft.com/office/officeart/2024/layout/BulletTimelineInverted"/>
    <dgm:cxn modelId="{681C3358-A621-4191-AB4C-AF14ECE3C639}" type="presParOf" srcId="{F91DE86C-D70D-4B5D-A98F-8E5833A615C3}" destId="{78A24440-D5C4-4D0B-9D81-069CA4006A3A}" srcOrd="3" destOrd="0" presId="urn:microsoft.com/office/officeart/2024/layout/BulletTimelineInverted"/>
    <dgm:cxn modelId="{BD595843-7410-4780-AC61-551527B8DEB5}" type="presParOf" srcId="{F91DE86C-D70D-4B5D-A98F-8E5833A615C3}" destId="{0C085486-8F16-4A0A-A1E0-1337DB701C43}" srcOrd="4" destOrd="0" presId="urn:microsoft.com/office/officeart/2024/layout/BulletTimelineInverted"/>
    <dgm:cxn modelId="{630C4972-8304-43B8-8B08-43ED491152C4}" type="presParOf" srcId="{0C085486-8F16-4A0A-A1E0-1337DB701C43}" destId="{5DBD07F8-4161-4CBE-85CA-690FE89D9FFE}" srcOrd="0" destOrd="0" presId="urn:microsoft.com/office/officeart/2024/layout/BulletTimelineInverted"/>
    <dgm:cxn modelId="{724D1DB5-F00C-44C2-9BE3-7095D5F10673}" type="presParOf" srcId="{F91DE86C-D70D-4B5D-A98F-8E5833A615C3}" destId="{B99A163E-F80C-43B7-B9F2-910462B657EB}" srcOrd="5" destOrd="0" presId="urn:microsoft.com/office/officeart/2024/layout/BulletTimelineInverted"/>
    <dgm:cxn modelId="{F2E88A89-21A6-4700-A7E0-1C8A3D1BE373}" type="presParOf" srcId="{5562D97B-8DB6-478F-8AEA-E31CEF2B9D4A}" destId="{C0FEDBCB-483D-46C9-BA4E-F64139553918}" srcOrd="15" destOrd="0" presId="urn:microsoft.com/office/officeart/2024/layout/BulletTimelineInverted"/>
    <dgm:cxn modelId="{768F0D10-6944-4903-944A-1D24628A8239}" type="presParOf" srcId="{5562D97B-8DB6-478F-8AEA-E31CEF2B9D4A}" destId="{0AA70334-50BB-4325-B990-0248DDD32C22}" srcOrd="16" destOrd="0" presId="urn:microsoft.com/office/officeart/2024/layout/BulletTimelineInverted"/>
    <dgm:cxn modelId="{C36AD8D1-44C3-4BD9-AC41-5F9285A7F6F0}" type="presParOf" srcId="{0AA70334-50BB-4325-B990-0248DDD32C22}" destId="{0090653F-4D26-45F9-97CE-FF227FE23C6C}" srcOrd="0" destOrd="0" presId="urn:microsoft.com/office/officeart/2024/layout/BulletTimelineInverted"/>
    <dgm:cxn modelId="{E91A3D3B-DE5E-4C74-AEA4-9D2A34D25899}" type="presParOf" srcId="{0090653F-4D26-45F9-97CE-FF227FE23C6C}" destId="{A88A9E9D-2283-4001-85FA-723E69371EB9}" srcOrd="0" destOrd="0" presId="urn:microsoft.com/office/officeart/2024/layout/BulletTimelineInverted"/>
    <dgm:cxn modelId="{0BD890F5-08D8-4B53-9C81-7459C8271A19}" type="presParOf" srcId="{0090653F-4D26-45F9-97CE-FF227FE23C6C}" destId="{51E896E3-67F2-470B-B529-AE09936EC1D8}" srcOrd="1" destOrd="0" presId="urn:microsoft.com/office/officeart/2024/layout/BulletTimelineInverted"/>
    <dgm:cxn modelId="{C0C83B71-FED0-432B-BACB-FE54B2FAA5A5}" type="presParOf" srcId="{0AA70334-50BB-4325-B990-0248DDD32C22}" destId="{4F93961B-C899-4EA9-B972-C2E5334DCDF1}" srcOrd="1" destOrd="0" presId="urn:microsoft.com/office/officeart/2024/layout/BulletTimelineInverted"/>
    <dgm:cxn modelId="{A32812E3-3B4D-4885-8307-D98B4A9730E4}" type="presParOf" srcId="{0AA70334-50BB-4325-B990-0248DDD32C22}" destId="{3FDAF61B-055C-4642-84C7-83021A506F15}" srcOrd="2" destOrd="0" presId="urn:microsoft.com/office/officeart/2024/layout/BulletTimelineInverted"/>
    <dgm:cxn modelId="{19D9A19D-C26D-483B-BB45-B5A35FE2F26A}" type="presParOf" srcId="{0AA70334-50BB-4325-B990-0248DDD32C22}" destId="{6E813DE7-E0C5-4BAB-B85B-836D55012414}" srcOrd="3" destOrd="0" presId="urn:microsoft.com/office/officeart/2024/layout/BulletTimelineInverted"/>
    <dgm:cxn modelId="{06FB0A22-BBD2-45A0-B851-F51C6476E196}" type="presParOf" srcId="{0AA70334-50BB-4325-B990-0248DDD32C22}" destId="{65E2BEAC-8D09-45CC-8F40-F386F3CC5F32}" srcOrd="4" destOrd="0" presId="urn:microsoft.com/office/officeart/2024/layout/BulletTimelineInverted"/>
    <dgm:cxn modelId="{B6F986BB-18E9-4E42-A1DC-144CBAFFCA8E}" type="presParOf" srcId="{65E2BEAC-8D09-45CC-8F40-F386F3CC5F32}" destId="{67DA1480-D6A4-46C1-96E5-32AD834529B8}" srcOrd="0" destOrd="0" presId="urn:microsoft.com/office/officeart/2024/layout/BulletTimelineInverted"/>
    <dgm:cxn modelId="{DB9A1383-3005-48D5-9F58-891282ECFA39}" type="presParOf" srcId="{0AA70334-50BB-4325-B990-0248DDD32C22}" destId="{74D85BD5-7AE4-4DF7-BB54-062C30C27602}" srcOrd="5" destOrd="0" presId="urn:microsoft.com/office/officeart/2024/layout/BulletTimelineInverted"/>
    <dgm:cxn modelId="{0A2E1338-770B-4553-90EA-D8506C169AE9}" type="presParOf" srcId="{5562D97B-8DB6-478F-8AEA-E31CEF2B9D4A}" destId="{BDB1BBAF-7D83-4701-90D4-B4223407AC75}" srcOrd="17" destOrd="0" presId="urn:microsoft.com/office/officeart/2024/layout/BulletTimelineInverted"/>
    <dgm:cxn modelId="{82DAF2E4-6B7A-40C4-86DB-721BCCAEAF63}" type="presParOf" srcId="{5562D97B-8DB6-478F-8AEA-E31CEF2B9D4A}" destId="{1E33FEFA-FEDB-4971-985B-7F8C1E66E418}" srcOrd="18" destOrd="0" presId="urn:microsoft.com/office/officeart/2024/layout/BulletTimelineInverted"/>
    <dgm:cxn modelId="{64B97C21-B881-4D9F-B024-00C04FA7E24F}" type="presParOf" srcId="{1E33FEFA-FEDB-4971-985B-7F8C1E66E418}" destId="{C1939CA8-9246-4E35-851E-7B92359D658B}" srcOrd="0" destOrd="0" presId="urn:microsoft.com/office/officeart/2024/layout/BulletTimelineInverted"/>
    <dgm:cxn modelId="{A3C82E48-DB35-4283-909A-42D5007AE867}" type="presParOf" srcId="{C1939CA8-9246-4E35-851E-7B92359D658B}" destId="{3BDE92BF-29D0-4EE3-AB99-D2C76CED44B0}" srcOrd="0" destOrd="0" presId="urn:microsoft.com/office/officeart/2024/layout/BulletTimelineInverted"/>
    <dgm:cxn modelId="{0F623D62-4370-4059-807B-0FC010EC487D}" type="presParOf" srcId="{C1939CA8-9246-4E35-851E-7B92359D658B}" destId="{22BF927B-1906-4188-9E57-80AB73DE7F7B}" srcOrd="1" destOrd="0" presId="urn:microsoft.com/office/officeart/2024/layout/BulletTimelineInverted"/>
    <dgm:cxn modelId="{B06DB4E0-9F5F-49F4-9C35-094F6F452FC0}" type="presParOf" srcId="{1E33FEFA-FEDB-4971-985B-7F8C1E66E418}" destId="{FD44AFE5-67AA-4F09-A47A-F265AE0E38E3}" srcOrd="1" destOrd="0" presId="urn:microsoft.com/office/officeart/2024/layout/BulletTimelineInverted"/>
    <dgm:cxn modelId="{CEFC47B0-4E1D-4BF6-8112-E7B6F57526C0}" type="presParOf" srcId="{1E33FEFA-FEDB-4971-985B-7F8C1E66E418}" destId="{4F4ED6EA-F29D-41B7-BC74-ABBB8201E8B8}" srcOrd="2" destOrd="0" presId="urn:microsoft.com/office/officeart/2024/layout/BulletTimelineInverted"/>
    <dgm:cxn modelId="{E7036890-B926-4D98-87F7-9F6471DD514C}" type="presParOf" srcId="{1E33FEFA-FEDB-4971-985B-7F8C1E66E418}" destId="{7788ABB5-53EB-4F10-BE04-B01D44C98F34}" srcOrd="3" destOrd="0" presId="urn:microsoft.com/office/officeart/2024/layout/BulletTimelineInverted"/>
    <dgm:cxn modelId="{280B9334-483C-459D-9402-7A5852B680F5}" type="presParOf" srcId="{1E33FEFA-FEDB-4971-985B-7F8C1E66E418}" destId="{B61ED437-E4C8-4DD8-9757-F3452BF02E35}" srcOrd="4" destOrd="0" presId="urn:microsoft.com/office/officeart/2024/layout/BulletTimelineInverted"/>
    <dgm:cxn modelId="{451793D5-EB81-4137-8FBA-B5560BF06403}" type="presParOf" srcId="{B61ED437-E4C8-4DD8-9757-F3452BF02E35}" destId="{3885F850-FEC3-45B5-A29E-24E9512F1E81}" srcOrd="0" destOrd="0" presId="urn:microsoft.com/office/officeart/2024/layout/BulletTimelineInverted"/>
    <dgm:cxn modelId="{2260BB21-54D8-4C01-B8E9-E54922AA37F3}" type="presParOf" srcId="{1E33FEFA-FEDB-4971-985B-7F8C1E66E418}" destId="{6F6BF04D-8CE0-4500-8C11-C2A97394B4CE}" srcOrd="5" destOrd="0" presId="urn:microsoft.com/office/officeart/2024/layout/BulletTimelineInvert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0629720-A30C-4182-AD43-B3879F60EAB6}" type="doc">
      <dgm:prSet loTypeId="urn:microsoft.com/office/officeart/2005/8/layout/venn1" loCatId="relationship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39E5F028-9CFA-4DEE-B940-8CE019343234}">
      <dgm:prSet custT="1"/>
      <dgm:spPr/>
      <dgm:t>
        <a:bodyPr/>
        <a:lstStyle/>
        <a:p>
          <a:pPr algn="ctr"/>
          <a:r>
            <a:rPr lang="en-US" sz="2800" b="1"/>
            <a:t>Paid</a:t>
          </a:r>
          <a:endParaRPr lang="en-US" sz="2800"/>
        </a:p>
      </dgm:t>
    </dgm:pt>
    <dgm:pt modelId="{B61D2EAF-43E4-4952-9DF4-A34E630A44C8}" type="parTrans" cxnId="{8483594C-8ADD-405F-8ACF-497A322A7340}">
      <dgm:prSet/>
      <dgm:spPr/>
      <dgm:t>
        <a:bodyPr/>
        <a:lstStyle/>
        <a:p>
          <a:pPr algn="ctr"/>
          <a:endParaRPr lang="en-US" sz="1400"/>
        </a:p>
      </dgm:t>
    </dgm:pt>
    <dgm:pt modelId="{3DF9586F-D5FF-4A0C-BF5D-8DCAA02DBAC9}" type="sibTrans" cxnId="{8483594C-8ADD-405F-8ACF-497A322A7340}">
      <dgm:prSet/>
      <dgm:spPr/>
      <dgm:t>
        <a:bodyPr/>
        <a:lstStyle/>
        <a:p>
          <a:pPr algn="ctr"/>
          <a:endParaRPr lang="en-US" sz="1400"/>
        </a:p>
      </dgm:t>
    </dgm:pt>
    <dgm:pt modelId="{A2F57E97-1936-475B-AFB0-D3C783CBA3C1}">
      <dgm:prSet custT="1"/>
      <dgm:spPr/>
      <dgm:t>
        <a:bodyPr/>
        <a:lstStyle/>
        <a:p>
          <a:pPr algn="ctr"/>
          <a:r>
            <a:rPr lang="en-US" sz="2800" b="1" dirty="0"/>
            <a:t>Earned Media </a:t>
          </a:r>
          <a:endParaRPr lang="en-US" sz="2800" dirty="0"/>
        </a:p>
      </dgm:t>
    </dgm:pt>
    <dgm:pt modelId="{9B982562-9D6A-4FAB-B7E6-25EB91EC4D3A}" type="parTrans" cxnId="{A20D06C2-3340-45ED-846A-BF62DC932D01}">
      <dgm:prSet/>
      <dgm:spPr/>
      <dgm:t>
        <a:bodyPr/>
        <a:lstStyle/>
        <a:p>
          <a:pPr algn="ctr"/>
          <a:endParaRPr lang="en-US" sz="1400"/>
        </a:p>
      </dgm:t>
    </dgm:pt>
    <dgm:pt modelId="{E0E8F08D-3FB2-407B-AEFA-520452BA133D}" type="sibTrans" cxnId="{A20D06C2-3340-45ED-846A-BF62DC932D01}">
      <dgm:prSet/>
      <dgm:spPr/>
      <dgm:t>
        <a:bodyPr/>
        <a:lstStyle/>
        <a:p>
          <a:pPr algn="ctr"/>
          <a:endParaRPr lang="en-US" sz="1400"/>
        </a:p>
      </dgm:t>
    </dgm:pt>
    <dgm:pt modelId="{4DD1F0F3-1A57-44AE-A1CD-60991B4D48E5}">
      <dgm:prSet custT="1"/>
      <dgm:spPr/>
      <dgm:t>
        <a:bodyPr/>
        <a:lstStyle/>
        <a:p>
          <a:pPr algn="ctr"/>
          <a:r>
            <a:rPr lang="en-US" sz="2800" b="1" dirty="0"/>
            <a:t>Owned</a:t>
          </a:r>
          <a:endParaRPr lang="en-US" sz="2800" dirty="0"/>
        </a:p>
      </dgm:t>
    </dgm:pt>
    <dgm:pt modelId="{5425C206-8ADD-466D-950B-BE8AD60A049F}" type="parTrans" cxnId="{2B2B1E82-2785-463F-B254-B64EB159425D}">
      <dgm:prSet/>
      <dgm:spPr/>
      <dgm:t>
        <a:bodyPr/>
        <a:lstStyle/>
        <a:p>
          <a:pPr algn="ctr"/>
          <a:endParaRPr lang="en-US" sz="1400"/>
        </a:p>
      </dgm:t>
    </dgm:pt>
    <dgm:pt modelId="{698818EF-8239-44A7-A47A-09DFD3165A8B}" type="sibTrans" cxnId="{2B2B1E82-2785-463F-B254-B64EB159425D}">
      <dgm:prSet/>
      <dgm:spPr/>
      <dgm:t>
        <a:bodyPr/>
        <a:lstStyle/>
        <a:p>
          <a:pPr algn="ctr"/>
          <a:endParaRPr lang="en-US" sz="1400"/>
        </a:p>
      </dgm:t>
    </dgm:pt>
    <dgm:pt modelId="{40D1793C-3388-4B61-BAAC-838FBDC53AC7}" type="pres">
      <dgm:prSet presAssocID="{A0629720-A30C-4182-AD43-B3879F60EAB6}" presName="compositeShape" presStyleCnt="0">
        <dgm:presLayoutVars>
          <dgm:chMax val="7"/>
          <dgm:dir/>
          <dgm:resizeHandles val="exact"/>
        </dgm:presLayoutVars>
      </dgm:prSet>
      <dgm:spPr/>
    </dgm:pt>
    <dgm:pt modelId="{0A9AD44F-F9DA-4862-A751-DE665514C193}" type="pres">
      <dgm:prSet presAssocID="{39E5F028-9CFA-4DEE-B940-8CE019343234}" presName="circ1" presStyleLbl="vennNode1" presStyleIdx="0" presStyleCnt="3" custLinFactNeighborY="1198"/>
      <dgm:spPr/>
    </dgm:pt>
    <dgm:pt modelId="{5EEAE655-8710-4018-B1A0-9D859DAA65D2}" type="pres">
      <dgm:prSet presAssocID="{39E5F028-9CFA-4DEE-B940-8CE019343234}" presName="circ1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044E704F-2435-4C59-8B73-485964B7A0CB}" type="pres">
      <dgm:prSet presAssocID="{A2F57E97-1936-475B-AFB0-D3C783CBA3C1}" presName="circ2" presStyleLbl="vennNode1" presStyleIdx="1" presStyleCnt="3"/>
      <dgm:spPr/>
    </dgm:pt>
    <dgm:pt modelId="{0E64C850-EC27-4A32-9285-870CED13F171}" type="pres">
      <dgm:prSet presAssocID="{A2F57E97-1936-475B-AFB0-D3C783CBA3C1}" presName="circ2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D5AC8582-0850-49BD-8674-3C828C5DBB61}" type="pres">
      <dgm:prSet presAssocID="{4DD1F0F3-1A57-44AE-A1CD-60991B4D48E5}" presName="circ3" presStyleLbl="vennNode1" presStyleIdx="2" presStyleCnt="3"/>
      <dgm:spPr/>
    </dgm:pt>
    <dgm:pt modelId="{0B491648-67BB-40E0-9394-9F85AB6DAF99}" type="pres">
      <dgm:prSet presAssocID="{4DD1F0F3-1A57-44AE-A1CD-60991B4D48E5}" presName="circ3Tx" presStyleLbl="revTx" presStyleIdx="0" presStyleCnt="0">
        <dgm:presLayoutVars>
          <dgm:chMax val="0"/>
          <dgm:chPref val="0"/>
          <dgm:bulletEnabled val="1"/>
        </dgm:presLayoutVars>
      </dgm:prSet>
      <dgm:spPr/>
    </dgm:pt>
  </dgm:ptLst>
  <dgm:cxnLst>
    <dgm:cxn modelId="{D0B33912-26A8-4840-AA8C-0B823DBDCB9E}" type="presOf" srcId="{4DD1F0F3-1A57-44AE-A1CD-60991B4D48E5}" destId="{0B491648-67BB-40E0-9394-9F85AB6DAF99}" srcOrd="1" destOrd="0" presId="urn:microsoft.com/office/officeart/2005/8/layout/venn1"/>
    <dgm:cxn modelId="{925D1B26-0BB1-4C86-8240-6872A06D10D2}" type="presOf" srcId="{4DD1F0F3-1A57-44AE-A1CD-60991B4D48E5}" destId="{D5AC8582-0850-49BD-8674-3C828C5DBB61}" srcOrd="0" destOrd="0" presId="urn:microsoft.com/office/officeart/2005/8/layout/venn1"/>
    <dgm:cxn modelId="{5A5DFC39-E292-4D6F-98B4-0F659B65C360}" type="presOf" srcId="{A2F57E97-1936-475B-AFB0-D3C783CBA3C1}" destId="{044E704F-2435-4C59-8B73-485964B7A0CB}" srcOrd="0" destOrd="0" presId="urn:microsoft.com/office/officeart/2005/8/layout/venn1"/>
    <dgm:cxn modelId="{47D4524C-19CE-4B4A-A83E-8F4803F4DD9A}" type="presOf" srcId="{A2F57E97-1936-475B-AFB0-D3C783CBA3C1}" destId="{0E64C850-EC27-4A32-9285-870CED13F171}" srcOrd="1" destOrd="0" presId="urn:microsoft.com/office/officeart/2005/8/layout/venn1"/>
    <dgm:cxn modelId="{8483594C-8ADD-405F-8ACF-497A322A7340}" srcId="{A0629720-A30C-4182-AD43-B3879F60EAB6}" destId="{39E5F028-9CFA-4DEE-B940-8CE019343234}" srcOrd="0" destOrd="0" parTransId="{B61D2EAF-43E4-4952-9DF4-A34E630A44C8}" sibTransId="{3DF9586F-D5FF-4A0C-BF5D-8DCAA02DBAC9}"/>
    <dgm:cxn modelId="{2B2B1E82-2785-463F-B254-B64EB159425D}" srcId="{A0629720-A30C-4182-AD43-B3879F60EAB6}" destId="{4DD1F0F3-1A57-44AE-A1CD-60991B4D48E5}" srcOrd="2" destOrd="0" parTransId="{5425C206-8ADD-466D-950B-BE8AD60A049F}" sibTransId="{698818EF-8239-44A7-A47A-09DFD3165A8B}"/>
    <dgm:cxn modelId="{79EE2BA0-B7B7-4C24-A434-756353CD6704}" type="presOf" srcId="{A0629720-A30C-4182-AD43-B3879F60EAB6}" destId="{40D1793C-3388-4B61-BAAC-838FBDC53AC7}" srcOrd="0" destOrd="0" presId="urn:microsoft.com/office/officeart/2005/8/layout/venn1"/>
    <dgm:cxn modelId="{A20D06C2-3340-45ED-846A-BF62DC932D01}" srcId="{A0629720-A30C-4182-AD43-B3879F60EAB6}" destId="{A2F57E97-1936-475B-AFB0-D3C783CBA3C1}" srcOrd="1" destOrd="0" parTransId="{9B982562-9D6A-4FAB-B7E6-25EB91EC4D3A}" sibTransId="{E0E8F08D-3FB2-407B-AEFA-520452BA133D}"/>
    <dgm:cxn modelId="{AE1485C3-AE0F-45A0-A07E-BA55CC42C410}" type="presOf" srcId="{39E5F028-9CFA-4DEE-B940-8CE019343234}" destId="{0A9AD44F-F9DA-4862-A751-DE665514C193}" srcOrd="0" destOrd="0" presId="urn:microsoft.com/office/officeart/2005/8/layout/venn1"/>
    <dgm:cxn modelId="{FB5906DA-7579-43F9-9C66-BC2E2CBEF570}" type="presOf" srcId="{39E5F028-9CFA-4DEE-B940-8CE019343234}" destId="{5EEAE655-8710-4018-B1A0-9D859DAA65D2}" srcOrd="1" destOrd="0" presId="urn:microsoft.com/office/officeart/2005/8/layout/venn1"/>
    <dgm:cxn modelId="{5E1705BF-06D7-411F-B674-624023ED2F3B}" type="presParOf" srcId="{40D1793C-3388-4B61-BAAC-838FBDC53AC7}" destId="{0A9AD44F-F9DA-4862-A751-DE665514C193}" srcOrd="0" destOrd="0" presId="urn:microsoft.com/office/officeart/2005/8/layout/venn1"/>
    <dgm:cxn modelId="{B193909F-1E36-4157-9C25-CD16AD502B87}" type="presParOf" srcId="{40D1793C-3388-4B61-BAAC-838FBDC53AC7}" destId="{5EEAE655-8710-4018-B1A0-9D859DAA65D2}" srcOrd="1" destOrd="0" presId="urn:microsoft.com/office/officeart/2005/8/layout/venn1"/>
    <dgm:cxn modelId="{73D45DEB-433F-4A76-8960-132781EB010A}" type="presParOf" srcId="{40D1793C-3388-4B61-BAAC-838FBDC53AC7}" destId="{044E704F-2435-4C59-8B73-485964B7A0CB}" srcOrd="2" destOrd="0" presId="urn:microsoft.com/office/officeart/2005/8/layout/venn1"/>
    <dgm:cxn modelId="{AC159D1D-56DC-49DA-A142-5EF7D052DBBE}" type="presParOf" srcId="{40D1793C-3388-4B61-BAAC-838FBDC53AC7}" destId="{0E64C850-EC27-4A32-9285-870CED13F171}" srcOrd="3" destOrd="0" presId="urn:microsoft.com/office/officeart/2005/8/layout/venn1"/>
    <dgm:cxn modelId="{E8F87CE5-48D4-46E7-AC4F-6F21901DCE29}" type="presParOf" srcId="{40D1793C-3388-4B61-BAAC-838FBDC53AC7}" destId="{D5AC8582-0850-49BD-8674-3C828C5DBB61}" srcOrd="4" destOrd="0" presId="urn:microsoft.com/office/officeart/2005/8/layout/venn1"/>
    <dgm:cxn modelId="{0FBA0AE4-0FBA-4554-B6CF-2EE53E80DFD3}" type="presParOf" srcId="{40D1793C-3388-4B61-BAAC-838FBDC53AC7}" destId="{0B491648-67BB-40E0-9394-9F85AB6DAF99}" srcOrd="5" destOrd="0" presId="urn:microsoft.com/office/officeart/2005/8/layout/venn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CD22683E-531E-4F93-BF16-15A6920DF04C}" type="doc">
      <dgm:prSet loTypeId="urn:microsoft.com/office/officeart/2008/layout/VerticalCurvedList" loCatId="list" qsTypeId="urn:microsoft.com/office/officeart/2005/8/quickstyle/simple1" qsCatId="simple" csTypeId="urn:microsoft.com/office/officeart/2005/8/colors/accent6_2" csCatId="accent6" phldr="1"/>
      <dgm:spPr/>
      <dgm:t>
        <a:bodyPr/>
        <a:lstStyle/>
        <a:p>
          <a:endParaRPr lang="en-US"/>
        </a:p>
      </dgm:t>
    </dgm:pt>
    <dgm:pt modelId="{A820996B-C7E7-45B7-A9AB-56908804E663}">
      <dgm:prSet phldrT="[Text]"/>
      <dgm:spPr/>
      <dgm:t>
        <a:bodyPr/>
        <a:lstStyle/>
        <a:p>
          <a:r>
            <a:rPr lang="en-US" dirty="0"/>
            <a:t>Hot Lead</a:t>
          </a:r>
        </a:p>
      </dgm:t>
    </dgm:pt>
    <dgm:pt modelId="{6E13EB0C-BC0C-49FE-B55F-B52860DEB668}" type="parTrans" cxnId="{F2F7B3AA-C341-4A2B-9D26-CB38AACCA822}">
      <dgm:prSet/>
      <dgm:spPr/>
      <dgm:t>
        <a:bodyPr/>
        <a:lstStyle/>
        <a:p>
          <a:endParaRPr lang="en-US"/>
        </a:p>
      </dgm:t>
    </dgm:pt>
    <dgm:pt modelId="{81346D91-49E3-4946-ACD6-B9646520EE5C}" type="sibTrans" cxnId="{F2F7B3AA-C341-4A2B-9D26-CB38AACCA822}">
      <dgm:prSet/>
      <dgm:spPr/>
      <dgm:t>
        <a:bodyPr/>
        <a:lstStyle/>
        <a:p>
          <a:endParaRPr lang="en-US"/>
        </a:p>
      </dgm:t>
    </dgm:pt>
    <dgm:pt modelId="{830AB643-35F0-4CEC-93EC-9436D8105CF6}">
      <dgm:prSet phldrT="[Text]"/>
      <dgm:spPr/>
      <dgm:t>
        <a:bodyPr/>
        <a:lstStyle/>
        <a:p>
          <a:r>
            <a:rPr lang="en-US" dirty="0"/>
            <a:t>Mild Lead </a:t>
          </a:r>
        </a:p>
      </dgm:t>
    </dgm:pt>
    <dgm:pt modelId="{D2C33817-B7C9-44A0-A4F4-81BC61D2D164}" type="parTrans" cxnId="{F421C39B-9D52-4E11-BB07-4F4321DC258E}">
      <dgm:prSet/>
      <dgm:spPr/>
      <dgm:t>
        <a:bodyPr/>
        <a:lstStyle/>
        <a:p>
          <a:endParaRPr lang="en-US"/>
        </a:p>
      </dgm:t>
    </dgm:pt>
    <dgm:pt modelId="{29D43A75-33AD-43AA-9358-1405733F3443}" type="sibTrans" cxnId="{F421C39B-9D52-4E11-BB07-4F4321DC258E}">
      <dgm:prSet/>
      <dgm:spPr/>
      <dgm:t>
        <a:bodyPr/>
        <a:lstStyle/>
        <a:p>
          <a:endParaRPr lang="en-US"/>
        </a:p>
      </dgm:t>
    </dgm:pt>
    <dgm:pt modelId="{74C363C7-040E-477F-A86A-20B0D7D161A5}">
      <dgm:prSet phldrT="[Text]"/>
      <dgm:spPr/>
      <dgm:t>
        <a:bodyPr/>
        <a:lstStyle/>
        <a:p>
          <a:r>
            <a:rPr lang="en-US" dirty="0"/>
            <a:t>Cold Lead</a:t>
          </a:r>
        </a:p>
      </dgm:t>
    </dgm:pt>
    <dgm:pt modelId="{55139368-BE23-4370-BB04-08812A228F81}" type="parTrans" cxnId="{679B78E9-0807-49F0-A20F-36923F79473C}">
      <dgm:prSet/>
      <dgm:spPr/>
      <dgm:t>
        <a:bodyPr/>
        <a:lstStyle/>
        <a:p>
          <a:endParaRPr lang="en-US"/>
        </a:p>
      </dgm:t>
    </dgm:pt>
    <dgm:pt modelId="{FAA15A7B-1A40-499C-A5D5-111DA8A572D2}" type="sibTrans" cxnId="{679B78E9-0807-49F0-A20F-36923F79473C}">
      <dgm:prSet/>
      <dgm:spPr/>
      <dgm:t>
        <a:bodyPr/>
        <a:lstStyle/>
        <a:p>
          <a:endParaRPr lang="en-US"/>
        </a:p>
      </dgm:t>
    </dgm:pt>
    <dgm:pt modelId="{5AB52308-DB73-4D87-B160-120AA4E50602}" type="pres">
      <dgm:prSet presAssocID="{CD22683E-531E-4F93-BF16-15A6920DF04C}" presName="Name0" presStyleCnt="0">
        <dgm:presLayoutVars>
          <dgm:chMax val="7"/>
          <dgm:chPref val="7"/>
          <dgm:dir/>
        </dgm:presLayoutVars>
      </dgm:prSet>
      <dgm:spPr/>
    </dgm:pt>
    <dgm:pt modelId="{594CDA37-B14C-4DE3-8DE9-6A6D5B5F7F48}" type="pres">
      <dgm:prSet presAssocID="{CD22683E-531E-4F93-BF16-15A6920DF04C}" presName="Name1" presStyleCnt="0"/>
      <dgm:spPr/>
    </dgm:pt>
    <dgm:pt modelId="{6EA1C6AE-AF7A-41C1-B3EC-3485640EEE66}" type="pres">
      <dgm:prSet presAssocID="{CD22683E-531E-4F93-BF16-15A6920DF04C}" presName="cycle" presStyleCnt="0"/>
      <dgm:spPr/>
    </dgm:pt>
    <dgm:pt modelId="{3C000866-C315-4F95-8E9A-E749C02E50B9}" type="pres">
      <dgm:prSet presAssocID="{CD22683E-531E-4F93-BF16-15A6920DF04C}" presName="srcNode" presStyleLbl="node1" presStyleIdx="0" presStyleCnt="3"/>
      <dgm:spPr/>
    </dgm:pt>
    <dgm:pt modelId="{247A695E-4DF1-48F6-A5E6-FDF336934D2D}" type="pres">
      <dgm:prSet presAssocID="{CD22683E-531E-4F93-BF16-15A6920DF04C}" presName="conn" presStyleLbl="parChTrans1D2" presStyleIdx="0" presStyleCnt="1"/>
      <dgm:spPr/>
    </dgm:pt>
    <dgm:pt modelId="{F8DD9753-262D-4757-B060-D3E374B1E26A}" type="pres">
      <dgm:prSet presAssocID="{CD22683E-531E-4F93-BF16-15A6920DF04C}" presName="extraNode" presStyleLbl="node1" presStyleIdx="0" presStyleCnt="3"/>
      <dgm:spPr/>
    </dgm:pt>
    <dgm:pt modelId="{A520610C-5849-40D7-805E-3000B71DEBA2}" type="pres">
      <dgm:prSet presAssocID="{CD22683E-531E-4F93-BF16-15A6920DF04C}" presName="dstNode" presStyleLbl="node1" presStyleIdx="0" presStyleCnt="3"/>
      <dgm:spPr/>
    </dgm:pt>
    <dgm:pt modelId="{A4378CD7-417F-4F2F-89C2-1DF17FE8CAA1}" type="pres">
      <dgm:prSet presAssocID="{A820996B-C7E7-45B7-A9AB-56908804E663}" presName="text_1" presStyleLbl="node1" presStyleIdx="0" presStyleCnt="3">
        <dgm:presLayoutVars>
          <dgm:bulletEnabled val="1"/>
        </dgm:presLayoutVars>
      </dgm:prSet>
      <dgm:spPr/>
    </dgm:pt>
    <dgm:pt modelId="{12529944-B895-4991-BA12-7041063757EB}" type="pres">
      <dgm:prSet presAssocID="{A820996B-C7E7-45B7-A9AB-56908804E663}" presName="accent_1" presStyleCnt="0"/>
      <dgm:spPr/>
    </dgm:pt>
    <dgm:pt modelId="{77E724A5-798B-4764-9587-708984DEF5DC}" type="pres">
      <dgm:prSet presAssocID="{A820996B-C7E7-45B7-A9AB-56908804E663}" presName="accentRepeatNode" presStyleLbl="solidFgAcc1" presStyleIdx="0" presStyleCnt="3"/>
      <dgm:spPr/>
    </dgm:pt>
    <dgm:pt modelId="{1F9B35C3-1124-472F-BD94-1830B1FBBE1F}" type="pres">
      <dgm:prSet presAssocID="{830AB643-35F0-4CEC-93EC-9436D8105CF6}" presName="text_2" presStyleLbl="node1" presStyleIdx="1" presStyleCnt="3">
        <dgm:presLayoutVars>
          <dgm:bulletEnabled val="1"/>
        </dgm:presLayoutVars>
      </dgm:prSet>
      <dgm:spPr/>
    </dgm:pt>
    <dgm:pt modelId="{7E6F7BCE-F524-446C-81B9-FD3031CD4B13}" type="pres">
      <dgm:prSet presAssocID="{830AB643-35F0-4CEC-93EC-9436D8105CF6}" presName="accent_2" presStyleCnt="0"/>
      <dgm:spPr/>
    </dgm:pt>
    <dgm:pt modelId="{870097FB-F538-4A9C-B95F-4D3F323DEE8F}" type="pres">
      <dgm:prSet presAssocID="{830AB643-35F0-4CEC-93EC-9436D8105CF6}" presName="accentRepeatNode" presStyleLbl="solidFgAcc1" presStyleIdx="1" presStyleCnt="3"/>
      <dgm:spPr/>
    </dgm:pt>
    <dgm:pt modelId="{CFA291BC-1A4F-43BA-94C5-931215914831}" type="pres">
      <dgm:prSet presAssocID="{74C363C7-040E-477F-A86A-20B0D7D161A5}" presName="text_3" presStyleLbl="node1" presStyleIdx="2" presStyleCnt="3">
        <dgm:presLayoutVars>
          <dgm:bulletEnabled val="1"/>
        </dgm:presLayoutVars>
      </dgm:prSet>
      <dgm:spPr/>
    </dgm:pt>
    <dgm:pt modelId="{C24E3AB8-80E5-4F1C-8437-AB4C3811CA44}" type="pres">
      <dgm:prSet presAssocID="{74C363C7-040E-477F-A86A-20B0D7D161A5}" presName="accent_3" presStyleCnt="0"/>
      <dgm:spPr/>
    </dgm:pt>
    <dgm:pt modelId="{FB4F0D9F-AC62-480F-8778-4785E8658C27}" type="pres">
      <dgm:prSet presAssocID="{74C363C7-040E-477F-A86A-20B0D7D161A5}" presName="accentRepeatNode" presStyleLbl="solidFgAcc1" presStyleIdx="2" presStyleCnt="3"/>
      <dgm:spPr/>
    </dgm:pt>
  </dgm:ptLst>
  <dgm:cxnLst>
    <dgm:cxn modelId="{F421C39B-9D52-4E11-BB07-4F4321DC258E}" srcId="{CD22683E-531E-4F93-BF16-15A6920DF04C}" destId="{830AB643-35F0-4CEC-93EC-9436D8105CF6}" srcOrd="1" destOrd="0" parTransId="{D2C33817-B7C9-44A0-A4F4-81BC61D2D164}" sibTransId="{29D43A75-33AD-43AA-9358-1405733F3443}"/>
    <dgm:cxn modelId="{F2F7B3AA-C341-4A2B-9D26-CB38AACCA822}" srcId="{CD22683E-531E-4F93-BF16-15A6920DF04C}" destId="{A820996B-C7E7-45B7-A9AB-56908804E663}" srcOrd="0" destOrd="0" parTransId="{6E13EB0C-BC0C-49FE-B55F-B52860DEB668}" sibTransId="{81346D91-49E3-4946-ACD6-B9646520EE5C}"/>
    <dgm:cxn modelId="{20B8C2AB-6501-44EF-823C-06F8DCFCA351}" type="presOf" srcId="{74C363C7-040E-477F-A86A-20B0D7D161A5}" destId="{CFA291BC-1A4F-43BA-94C5-931215914831}" srcOrd="0" destOrd="0" presId="urn:microsoft.com/office/officeart/2008/layout/VerticalCurvedList"/>
    <dgm:cxn modelId="{3D4C9ED8-6EA5-4658-990D-A06B201ACF93}" type="presOf" srcId="{830AB643-35F0-4CEC-93EC-9436D8105CF6}" destId="{1F9B35C3-1124-472F-BD94-1830B1FBBE1F}" srcOrd="0" destOrd="0" presId="urn:microsoft.com/office/officeart/2008/layout/VerticalCurvedList"/>
    <dgm:cxn modelId="{582E2DE2-753D-45AA-A07B-F63AE77A0697}" type="presOf" srcId="{81346D91-49E3-4946-ACD6-B9646520EE5C}" destId="{247A695E-4DF1-48F6-A5E6-FDF336934D2D}" srcOrd="0" destOrd="0" presId="urn:microsoft.com/office/officeart/2008/layout/VerticalCurvedList"/>
    <dgm:cxn modelId="{679B78E9-0807-49F0-A20F-36923F79473C}" srcId="{CD22683E-531E-4F93-BF16-15A6920DF04C}" destId="{74C363C7-040E-477F-A86A-20B0D7D161A5}" srcOrd="2" destOrd="0" parTransId="{55139368-BE23-4370-BB04-08812A228F81}" sibTransId="{FAA15A7B-1A40-499C-A5D5-111DA8A572D2}"/>
    <dgm:cxn modelId="{8FF0F6EC-8ACB-4017-87F2-37F1FF687B79}" type="presOf" srcId="{CD22683E-531E-4F93-BF16-15A6920DF04C}" destId="{5AB52308-DB73-4D87-B160-120AA4E50602}" srcOrd="0" destOrd="0" presId="urn:microsoft.com/office/officeart/2008/layout/VerticalCurvedList"/>
    <dgm:cxn modelId="{1F769DF3-9DEE-4157-B061-66D97FC8CD0E}" type="presOf" srcId="{A820996B-C7E7-45B7-A9AB-56908804E663}" destId="{A4378CD7-417F-4F2F-89C2-1DF17FE8CAA1}" srcOrd="0" destOrd="0" presId="urn:microsoft.com/office/officeart/2008/layout/VerticalCurvedList"/>
    <dgm:cxn modelId="{E9D10F54-15D2-4C48-A635-7CC3D49C7B97}" type="presParOf" srcId="{5AB52308-DB73-4D87-B160-120AA4E50602}" destId="{594CDA37-B14C-4DE3-8DE9-6A6D5B5F7F48}" srcOrd="0" destOrd="0" presId="urn:microsoft.com/office/officeart/2008/layout/VerticalCurvedList"/>
    <dgm:cxn modelId="{F9D49BCD-0AB2-4C2B-AC16-0B9A5CE95207}" type="presParOf" srcId="{594CDA37-B14C-4DE3-8DE9-6A6D5B5F7F48}" destId="{6EA1C6AE-AF7A-41C1-B3EC-3485640EEE66}" srcOrd="0" destOrd="0" presId="urn:microsoft.com/office/officeart/2008/layout/VerticalCurvedList"/>
    <dgm:cxn modelId="{113D5648-6411-4090-9E9C-C3BB13DA702A}" type="presParOf" srcId="{6EA1C6AE-AF7A-41C1-B3EC-3485640EEE66}" destId="{3C000866-C315-4F95-8E9A-E749C02E50B9}" srcOrd="0" destOrd="0" presId="urn:microsoft.com/office/officeart/2008/layout/VerticalCurvedList"/>
    <dgm:cxn modelId="{F270EE2B-C66A-4658-8283-29CAB11AF9B2}" type="presParOf" srcId="{6EA1C6AE-AF7A-41C1-B3EC-3485640EEE66}" destId="{247A695E-4DF1-48F6-A5E6-FDF336934D2D}" srcOrd="1" destOrd="0" presId="urn:microsoft.com/office/officeart/2008/layout/VerticalCurvedList"/>
    <dgm:cxn modelId="{E41813DA-04C3-4828-A006-5CB72881052E}" type="presParOf" srcId="{6EA1C6AE-AF7A-41C1-B3EC-3485640EEE66}" destId="{F8DD9753-262D-4757-B060-D3E374B1E26A}" srcOrd="2" destOrd="0" presId="urn:microsoft.com/office/officeart/2008/layout/VerticalCurvedList"/>
    <dgm:cxn modelId="{105BCFAC-9AD0-439D-9401-B2B487ABA268}" type="presParOf" srcId="{6EA1C6AE-AF7A-41C1-B3EC-3485640EEE66}" destId="{A520610C-5849-40D7-805E-3000B71DEBA2}" srcOrd="3" destOrd="0" presId="urn:microsoft.com/office/officeart/2008/layout/VerticalCurvedList"/>
    <dgm:cxn modelId="{6AA09D0F-8410-41B5-B3DB-4789B2843D95}" type="presParOf" srcId="{594CDA37-B14C-4DE3-8DE9-6A6D5B5F7F48}" destId="{A4378CD7-417F-4F2F-89C2-1DF17FE8CAA1}" srcOrd="1" destOrd="0" presId="urn:microsoft.com/office/officeart/2008/layout/VerticalCurvedList"/>
    <dgm:cxn modelId="{43D50EEE-FB02-4683-939D-D93C49DB62C6}" type="presParOf" srcId="{594CDA37-B14C-4DE3-8DE9-6A6D5B5F7F48}" destId="{12529944-B895-4991-BA12-7041063757EB}" srcOrd="2" destOrd="0" presId="urn:microsoft.com/office/officeart/2008/layout/VerticalCurvedList"/>
    <dgm:cxn modelId="{420CD0A5-3B86-4242-8EDF-9794C9086044}" type="presParOf" srcId="{12529944-B895-4991-BA12-7041063757EB}" destId="{77E724A5-798B-4764-9587-708984DEF5DC}" srcOrd="0" destOrd="0" presId="urn:microsoft.com/office/officeart/2008/layout/VerticalCurvedList"/>
    <dgm:cxn modelId="{62056F54-BF9F-4BCA-AAEB-A1C68AA42A88}" type="presParOf" srcId="{594CDA37-B14C-4DE3-8DE9-6A6D5B5F7F48}" destId="{1F9B35C3-1124-472F-BD94-1830B1FBBE1F}" srcOrd="3" destOrd="0" presId="urn:microsoft.com/office/officeart/2008/layout/VerticalCurvedList"/>
    <dgm:cxn modelId="{9A00C2A6-5CE9-4263-9493-95DFDBB6E3EF}" type="presParOf" srcId="{594CDA37-B14C-4DE3-8DE9-6A6D5B5F7F48}" destId="{7E6F7BCE-F524-446C-81B9-FD3031CD4B13}" srcOrd="4" destOrd="0" presId="urn:microsoft.com/office/officeart/2008/layout/VerticalCurvedList"/>
    <dgm:cxn modelId="{D9CBA229-6521-405B-9021-85E0E7D069AA}" type="presParOf" srcId="{7E6F7BCE-F524-446C-81B9-FD3031CD4B13}" destId="{870097FB-F538-4A9C-B95F-4D3F323DEE8F}" srcOrd="0" destOrd="0" presId="urn:microsoft.com/office/officeart/2008/layout/VerticalCurvedList"/>
    <dgm:cxn modelId="{EF5DC69E-A6B9-41B1-9F45-874977AA222A}" type="presParOf" srcId="{594CDA37-B14C-4DE3-8DE9-6A6D5B5F7F48}" destId="{CFA291BC-1A4F-43BA-94C5-931215914831}" srcOrd="5" destOrd="0" presId="urn:microsoft.com/office/officeart/2008/layout/VerticalCurvedList"/>
    <dgm:cxn modelId="{A4880B6E-7BFE-49B3-AC32-B93A9E68D2F1}" type="presParOf" srcId="{594CDA37-B14C-4DE3-8DE9-6A6D5B5F7F48}" destId="{C24E3AB8-80E5-4F1C-8437-AB4C3811CA44}" srcOrd="6" destOrd="0" presId="urn:microsoft.com/office/officeart/2008/layout/VerticalCurvedList"/>
    <dgm:cxn modelId="{75D1F438-25DD-4F29-9B61-6376F52ECF0B}" type="presParOf" srcId="{C24E3AB8-80E5-4F1C-8437-AB4C3811CA44}" destId="{FB4F0D9F-AC62-480F-8778-4785E8658C27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7E6CF0FB-4E84-4575-AC99-2F347EF23AF1}" type="doc">
      <dgm:prSet loTypeId="urn:diagrams.loki3.com/BracketList" loCatId="list" qsTypeId="urn:microsoft.com/office/officeart/2005/8/quickstyle/simple2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1CD24D75-29BC-48E7-855E-E591758B72B4}">
      <dgm:prSet custT="1"/>
      <dgm:spPr/>
      <dgm:t>
        <a:bodyPr/>
        <a:lstStyle/>
        <a:p>
          <a:r>
            <a:rPr lang="en-US" sz="2400" b="1" dirty="0"/>
            <a:t>Website</a:t>
          </a:r>
        </a:p>
      </dgm:t>
    </dgm:pt>
    <dgm:pt modelId="{04C34910-2788-4366-8042-0E29BCE1B119}" type="parTrans" cxnId="{2E57A095-4EEE-4C40-9F00-0321986D1385}">
      <dgm:prSet/>
      <dgm:spPr/>
      <dgm:t>
        <a:bodyPr/>
        <a:lstStyle/>
        <a:p>
          <a:endParaRPr lang="en-US" b="1"/>
        </a:p>
      </dgm:t>
    </dgm:pt>
    <dgm:pt modelId="{A8DBB83E-795A-4F2C-991E-2D1E650E1095}" type="sibTrans" cxnId="{2E57A095-4EEE-4C40-9F00-0321986D1385}">
      <dgm:prSet/>
      <dgm:spPr/>
      <dgm:t>
        <a:bodyPr/>
        <a:lstStyle/>
        <a:p>
          <a:endParaRPr lang="en-US" b="1"/>
        </a:p>
      </dgm:t>
    </dgm:pt>
    <dgm:pt modelId="{98843DE0-0484-4FB0-B6E6-2F46143050F6}">
      <dgm:prSet custT="1"/>
      <dgm:spPr/>
      <dgm:t>
        <a:bodyPr/>
        <a:lstStyle/>
        <a:p>
          <a:r>
            <a:rPr lang="en-US" sz="2400" b="1" dirty="0"/>
            <a:t>Content Marketing</a:t>
          </a:r>
        </a:p>
      </dgm:t>
    </dgm:pt>
    <dgm:pt modelId="{7D16C7E3-F483-42D5-9CCA-374DEB19896E}" type="parTrans" cxnId="{1D5A39F3-A6BF-42DC-943C-2E9214016C30}">
      <dgm:prSet/>
      <dgm:spPr/>
      <dgm:t>
        <a:bodyPr/>
        <a:lstStyle/>
        <a:p>
          <a:endParaRPr lang="en-US" b="1"/>
        </a:p>
      </dgm:t>
    </dgm:pt>
    <dgm:pt modelId="{504EBBA3-2409-4430-81FD-E0A90920A04A}" type="sibTrans" cxnId="{1D5A39F3-A6BF-42DC-943C-2E9214016C30}">
      <dgm:prSet/>
      <dgm:spPr/>
      <dgm:t>
        <a:bodyPr/>
        <a:lstStyle/>
        <a:p>
          <a:endParaRPr lang="en-US" b="1"/>
        </a:p>
      </dgm:t>
    </dgm:pt>
    <dgm:pt modelId="{07F572F1-02A8-47AF-8C98-6C9171F9DAE9}">
      <dgm:prSet custT="1"/>
      <dgm:spPr/>
      <dgm:t>
        <a:bodyPr/>
        <a:lstStyle/>
        <a:p>
          <a:r>
            <a:rPr lang="en-US" sz="2400" b="1" dirty="0"/>
            <a:t>Search Engine Optimization</a:t>
          </a:r>
        </a:p>
      </dgm:t>
    </dgm:pt>
    <dgm:pt modelId="{CC0268B7-7C64-41B1-A644-77E3CC90122E}" type="parTrans" cxnId="{BE26F493-3110-4F31-8B59-8BEC5FC49DF9}">
      <dgm:prSet/>
      <dgm:spPr/>
      <dgm:t>
        <a:bodyPr/>
        <a:lstStyle/>
        <a:p>
          <a:endParaRPr lang="en-US" b="1"/>
        </a:p>
      </dgm:t>
    </dgm:pt>
    <dgm:pt modelId="{2B038AB5-5AB8-48F8-A05F-96854E2FEDAE}" type="sibTrans" cxnId="{BE26F493-3110-4F31-8B59-8BEC5FC49DF9}">
      <dgm:prSet/>
      <dgm:spPr/>
      <dgm:t>
        <a:bodyPr/>
        <a:lstStyle/>
        <a:p>
          <a:endParaRPr lang="en-US" b="1"/>
        </a:p>
      </dgm:t>
    </dgm:pt>
    <dgm:pt modelId="{7FE96738-E23B-4E18-AA41-FA88411B186C}">
      <dgm:prSet custT="1"/>
      <dgm:spPr/>
      <dgm:t>
        <a:bodyPr/>
        <a:lstStyle/>
        <a:p>
          <a:r>
            <a:rPr lang="en-US" sz="2400" b="1" dirty="0"/>
            <a:t>Email Marketing</a:t>
          </a:r>
        </a:p>
      </dgm:t>
    </dgm:pt>
    <dgm:pt modelId="{3A959152-F969-4BEF-BE38-D821989F794A}" type="parTrans" cxnId="{E4FED57C-38E6-4A80-942C-600A51DB3F68}">
      <dgm:prSet/>
      <dgm:spPr/>
      <dgm:t>
        <a:bodyPr/>
        <a:lstStyle/>
        <a:p>
          <a:endParaRPr lang="en-US" b="1"/>
        </a:p>
      </dgm:t>
    </dgm:pt>
    <dgm:pt modelId="{01D4FF1A-88DB-43B7-8101-591A65A2E60C}" type="sibTrans" cxnId="{E4FED57C-38E6-4A80-942C-600A51DB3F68}">
      <dgm:prSet/>
      <dgm:spPr/>
      <dgm:t>
        <a:bodyPr/>
        <a:lstStyle/>
        <a:p>
          <a:endParaRPr lang="en-US" b="1"/>
        </a:p>
      </dgm:t>
    </dgm:pt>
    <dgm:pt modelId="{26E7B8E5-0217-42F3-B17B-D3258469A538}">
      <dgm:prSet custT="1"/>
      <dgm:spPr/>
      <dgm:t>
        <a:bodyPr/>
        <a:lstStyle/>
        <a:p>
          <a:r>
            <a:rPr lang="en-US" sz="2400" b="1" dirty="0"/>
            <a:t>Affiliate Marketing </a:t>
          </a:r>
        </a:p>
      </dgm:t>
    </dgm:pt>
    <dgm:pt modelId="{21AC5B94-7DF7-4F2E-9ADC-260CF32D6A4D}" type="parTrans" cxnId="{8F287439-A716-4C08-9375-9721FF505F56}">
      <dgm:prSet/>
      <dgm:spPr/>
      <dgm:t>
        <a:bodyPr/>
        <a:lstStyle/>
        <a:p>
          <a:endParaRPr lang="en-US" b="1"/>
        </a:p>
      </dgm:t>
    </dgm:pt>
    <dgm:pt modelId="{13635794-5F2B-483C-905A-6BF2F00BFEBE}" type="sibTrans" cxnId="{8F287439-A716-4C08-9375-9721FF505F56}">
      <dgm:prSet/>
      <dgm:spPr/>
      <dgm:t>
        <a:bodyPr/>
        <a:lstStyle/>
        <a:p>
          <a:endParaRPr lang="en-US" b="1"/>
        </a:p>
      </dgm:t>
    </dgm:pt>
    <dgm:pt modelId="{8E99BB04-8BDB-424E-986F-8B0F1A348CBE}">
      <dgm:prSet custT="1"/>
      <dgm:spPr/>
      <dgm:t>
        <a:bodyPr/>
        <a:lstStyle/>
        <a:p>
          <a:r>
            <a:rPr lang="en-US" sz="2400" b="1" dirty="0"/>
            <a:t>Referral Marketing </a:t>
          </a:r>
        </a:p>
      </dgm:t>
    </dgm:pt>
    <dgm:pt modelId="{B66E38C6-060B-47F7-BD3F-7121FEC8517A}" type="parTrans" cxnId="{BAA5AB59-3D85-449B-B469-5DCCF84B2707}">
      <dgm:prSet/>
      <dgm:spPr/>
      <dgm:t>
        <a:bodyPr/>
        <a:lstStyle/>
        <a:p>
          <a:endParaRPr lang="en-US" b="1"/>
        </a:p>
      </dgm:t>
    </dgm:pt>
    <dgm:pt modelId="{96D6E9ED-911F-426A-8166-AC983DEA0B87}" type="sibTrans" cxnId="{BAA5AB59-3D85-449B-B469-5DCCF84B2707}">
      <dgm:prSet/>
      <dgm:spPr/>
      <dgm:t>
        <a:bodyPr/>
        <a:lstStyle/>
        <a:p>
          <a:endParaRPr lang="en-US" b="1"/>
        </a:p>
      </dgm:t>
    </dgm:pt>
    <dgm:pt modelId="{AACF8233-9AE7-43B2-B2A9-1D8B96B571C0}">
      <dgm:prSet custT="1"/>
      <dgm:spPr/>
      <dgm:t>
        <a:bodyPr/>
        <a:lstStyle/>
        <a:p>
          <a:r>
            <a:rPr lang="en-US" sz="2400" b="1" dirty="0" err="1"/>
            <a:t>InfluencerMarketing</a:t>
          </a:r>
          <a:r>
            <a:rPr lang="en-US" sz="2400" b="1" dirty="0"/>
            <a:t> </a:t>
          </a:r>
        </a:p>
      </dgm:t>
    </dgm:pt>
    <dgm:pt modelId="{AAE963A4-79ED-42FD-8279-FDE8CA84BB0F}" type="parTrans" cxnId="{904A8C91-6927-4459-AFFB-9C0AF96D804D}">
      <dgm:prSet/>
      <dgm:spPr/>
      <dgm:t>
        <a:bodyPr/>
        <a:lstStyle/>
        <a:p>
          <a:endParaRPr lang="en-US" b="1"/>
        </a:p>
      </dgm:t>
    </dgm:pt>
    <dgm:pt modelId="{28D291EC-46C9-48AA-9026-92A223437B3E}" type="sibTrans" cxnId="{904A8C91-6927-4459-AFFB-9C0AF96D804D}">
      <dgm:prSet/>
      <dgm:spPr/>
      <dgm:t>
        <a:bodyPr/>
        <a:lstStyle/>
        <a:p>
          <a:endParaRPr lang="en-US" b="1"/>
        </a:p>
      </dgm:t>
    </dgm:pt>
    <dgm:pt modelId="{A73EF2F1-3E19-42CE-A9F9-C8C290530A32}">
      <dgm:prSet custT="1"/>
      <dgm:spPr/>
      <dgm:t>
        <a:bodyPr/>
        <a:lstStyle/>
        <a:p>
          <a:pPr algn="r"/>
          <a:r>
            <a:rPr lang="en-US" sz="2400" b="1" dirty="0"/>
            <a:t>Online Public Relation </a:t>
          </a:r>
        </a:p>
      </dgm:t>
    </dgm:pt>
    <dgm:pt modelId="{3313DA2C-3000-431D-9B75-ABB29CE7484F}" type="parTrans" cxnId="{424804FC-8FC7-4194-8317-6E226BF46633}">
      <dgm:prSet/>
      <dgm:spPr/>
      <dgm:t>
        <a:bodyPr/>
        <a:lstStyle/>
        <a:p>
          <a:endParaRPr lang="en-US" b="1"/>
        </a:p>
      </dgm:t>
    </dgm:pt>
    <dgm:pt modelId="{9F8BD94F-7A6C-4CC7-8457-AE95D5028D66}" type="sibTrans" cxnId="{424804FC-8FC7-4194-8317-6E226BF46633}">
      <dgm:prSet/>
      <dgm:spPr/>
      <dgm:t>
        <a:bodyPr/>
        <a:lstStyle/>
        <a:p>
          <a:endParaRPr lang="en-US" b="1"/>
        </a:p>
      </dgm:t>
    </dgm:pt>
    <dgm:pt modelId="{1694E034-19B1-4707-A7D9-3E21BE3CDC72}">
      <dgm:prSet custT="1"/>
      <dgm:spPr/>
      <dgm:t>
        <a:bodyPr/>
        <a:lstStyle/>
        <a:p>
          <a:r>
            <a:rPr lang="en-US" sz="2400" b="1" dirty="0"/>
            <a:t>Conversational AI</a:t>
          </a:r>
        </a:p>
      </dgm:t>
    </dgm:pt>
    <dgm:pt modelId="{BCEBAC67-F480-4DFE-8AFE-A7495AF30071}" type="parTrans" cxnId="{269E559D-D05F-4D4F-8220-D3D3C51CB353}">
      <dgm:prSet/>
      <dgm:spPr/>
      <dgm:t>
        <a:bodyPr/>
        <a:lstStyle/>
        <a:p>
          <a:endParaRPr lang="en-US" b="1"/>
        </a:p>
      </dgm:t>
    </dgm:pt>
    <dgm:pt modelId="{CF995737-5848-42FC-9DA3-DFA27F5741DB}" type="sibTrans" cxnId="{269E559D-D05F-4D4F-8220-D3D3C51CB353}">
      <dgm:prSet/>
      <dgm:spPr/>
      <dgm:t>
        <a:bodyPr/>
        <a:lstStyle/>
        <a:p>
          <a:endParaRPr lang="en-US" b="1"/>
        </a:p>
      </dgm:t>
    </dgm:pt>
    <dgm:pt modelId="{792DF7B6-24DA-4565-9364-6B35E63E2892}" type="pres">
      <dgm:prSet presAssocID="{7E6CF0FB-4E84-4575-AC99-2F347EF23AF1}" presName="Name0" presStyleCnt="0">
        <dgm:presLayoutVars>
          <dgm:dir/>
          <dgm:animLvl val="lvl"/>
          <dgm:resizeHandles val="exact"/>
        </dgm:presLayoutVars>
      </dgm:prSet>
      <dgm:spPr/>
    </dgm:pt>
    <dgm:pt modelId="{85D37CB2-8AF1-4917-B3FE-56A30272BB31}" type="pres">
      <dgm:prSet presAssocID="{1CD24D75-29BC-48E7-855E-E591758B72B4}" presName="linNode" presStyleCnt="0"/>
      <dgm:spPr/>
    </dgm:pt>
    <dgm:pt modelId="{A25EF913-9CF1-4C1C-BD6D-D760DF99EFFA}" type="pres">
      <dgm:prSet presAssocID="{1CD24D75-29BC-48E7-855E-E591758B72B4}" presName="parTx" presStyleLbl="revTx" presStyleIdx="0" presStyleCnt="9">
        <dgm:presLayoutVars>
          <dgm:chMax val="1"/>
          <dgm:bulletEnabled val="1"/>
        </dgm:presLayoutVars>
      </dgm:prSet>
      <dgm:spPr/>
    </dgm:pt>
    <dgm:pt modelId="{C44A9D69-797D-4B68-9AC8-24858FFC0254}" type="pres">
      <dgm:prSet presAssocID="{1CD24D75-29BC-48E7-855E-E591758B72B4}" presName="bracket" presStyleLbl="parChTrans1D1" presStyleIdx="0" presStyleCnt="9"/>
      <dgm:spPr/>
    </dgm:pt>
    <dgm:pt modelId="{03882F38-B3B3-4BEF-83B2-EDAFB3D170B7}" type="pres">
      <dgm:prSet presAssocID="{1CD24D75-29BC-48E7-855E-E591758B72B4}" presName="spH" presStyleCnt="0"/>
      <dgm:spPr/>
    </dgm:pt>
    <dgm:pt modelId="{47E29166-DAA1-49E6-BAC3-F303FD3224F3}" type="pres">
      <dgm:prSet presAssocID="{A8DBB83E-795A-4F2C-991E-2D1E650E1095}" presName="spV" presStyleCnt="0"/>
      <dgm:spPr/>
    </dgm:pt>
    <dgm:pt modelId="{CC221728-5DEB-4D23-B561-EC98C2B83B97}" type="pres">
      <dgm:prSet presAssocID="{98843DE0-0484-4FB0-B6E6-2F46143050F6}" presName="linNode" presStyleCnt="0"/>
      <dgm:spPr/>
    </dgm:pt>
    <dgm:pt modelId="{0D41BDCF-6FDF-4C2E-AB86-4BCAE1937502}" type="pres">
      <dgm:prSet presAssocID="{98843DE0-0484-4FB0-B6E6-2F46143050F6}" presName="parTx" presStyleLbl="revTx" presStyleIdx="1" presStyleCnt="9">
        <dgm:presLayoutVars>
          <dgm:chMax val="1"/>
          <dgm:bulletEnabled val="1"/>
        </dgm:presLayoutVars>
      </dgm:prSet>
      <dgm:spPr/>
    </dgm:pt>
    <dgm:pt modelId="{D94D37F1-DA4A-45E9-BB9D-1FFEE8B777DF}" type="pres">
      <dgm:prSet presAssocID="{98843DE0-0484-4FB0-B6E6-2F46143050F6}" presName="bracket" presStyleLbl="parChTrans1D1" presStyleIdx="1" presStyleCnt="9"/>
      <dgm:spPr/>
    </dgm:pt>
    <dgm:pt modelId="{43066491-CA65-4403-A54D-9671F82E1117}" type="pres">
      <dgm:prSet presAssocID="{98843DE0-0484-4FB0-B6E6-2F46143050F6}" presName="spH" presStyleCnt="0"/>
      <dgm:spPr/>
    </dgm:pt>
    <dgm:pt modelId="{117EAAE1-C5E5-4BC7-B105-51B0062A1E66}" type="pres">
      <dgm:prSet presAssocID="{504EBBA3-2409-4430-81FD-E0A90920A04A}" presName="spV" presStyleCnt="0"/>
      <dgm:spPr/>
    </dgm:pt>
    <dgm:pt modelId="{D8A21070-3649-41F2-B840-FA48759223B0}" type="pres">
      <dgm:prSet presAssocID="{07F572F1-02A8-47AF-8C98-6C9171F9DAE9}" presName="linNode" presStyleCnt="0"/>
      <dgm:spPr/>
    </dgm:pt>
    <dgm:pt modelId="{F4F61AE3-365B-4237-855A-9C273333E6A7}" type="pres">
      <dgm:prSet presAssocID="{07F572F1-02A8-47AF-8C98-6C9171F9DAE9}" presName="parTx" presStyleLbl="revTx" presStyleIdx="2" presStyleCnt="9">
        <dgm:presLayoutVars>
          <dgm:chMax val="1"/>
          <dgm:bulletEnabled val="1"/>
        </dgm:presLayoutVars>
      </dgm:prSet>
      <dgm:spPr/>
    </dgm:pt>
    <dgm:pt modelId="{680C468C-96B0-4DAA-9AFF-1D187878785E}" type="pres">
      <dgm:prSet presAssocID="{07F572F1-02A8-47AF-8C98-6C9171F9DAE9}" presName="bracket" presStyleLbl="parChTrans1D1" presStyleIdx="2" presStyleCnt="9"/>
      <dgm:spPr/>
    </dgm:pt>
    <dgm:pt modelId="{E70B0B99-224F-4B8F-9174-B84A4F219799}" type="pres">
      <dgm:prSet presAssocID="{07F572F1-02A8-47AF-8C98-6C9171F9DAE9}" presName="spH" presStyleCnt="0"/>
      <dgm:spPr/>
    </dgm:pt>
    <dgm:pt modelId="{B077EFEE-3083-4552-91BF-E25962AF97F8}" type="pres">
      <dgm:prSet presAssocID="{2B038AB5-5AB8-48F8-A05F-96854E2FEDAE}" presName="spV" presStyleCnt="0"/>
      <dgm:spPr/>
    </dgm:pt>
    <dgm:pt modelId="{8BBE4141-B92A-4B5F-8E3B-E72C3D400FBE}" type="pres">
      <dgm:prSet presAssocID="{7FE96738-E23B-4E18-AA41-FA88411B186C}" presName="linNode" presStyleCnt="0"/>
      <dgm:spPr/>
    </dgm:pt>
    <dgm:pt modelId="{C7B39694-8522-4A4F-B810-BBC5304F77A3}" type="pres">
      <dgm:prSet presAssocID="{7FE96738-E23B-4E18-AA41-FA88411B186C}" presName="parTx" presStyleLbl="revTx" presStyleIdx="3" presStyleCnt="9">
        <dgm:presLayoutVars>
          <dgm:chMax val="1"/>
          <dgm:bulletEnabled val="1"/>
        </dgm:presLayoutVars>
      </dgm:prSet>
      <dgm:spPr/>
    </dgm:pt>
    <dgm:pt modelId="{2C4CB13C-7B15-4FC0-956B-C9FE717B8943}" type="pres">
      <dgm:prSet presAssocID="{7FE96738-E23B-4E18-AA41-FA88411B186C}" presName="bracket" presStyleLbl="parChTrans1D1" presStyleIdx="3" presStyleCnt="9"/>
      <dgm:spPr/>
    </dgm:pt>
    <dgm:pt modelId="{35B74C16-ED52-4020-8630-1FCB04651371}" type="pres">
      <dgm:prSet presAssocID="{7FE96738-E23B-4E18-AA41-FA88411B186C}" presName="spH" presStyleCnt="0"/>
      <dgm:spPr/>
    </dgm:pt>
    <dgm:pt modelId="{907A58CA-0A67-4054-9D3C-451738FCF550}" type="pres">
      <dgm:prSet presAssocID="{01D4FF1A-88DB-43B7-8101-591A65A2E60C}" presName="spV" presStyleCnt="0"/>
      <dgm:spPr/>
    </dgm:pt>
    <dgm:pt modelId="{0CF51C95-8099-430A-9688-4908CB36EA35}" type="pres">
      <dgm:prSet presAssocID="{26E7B8E5-0217-42F3-B17B-D3258469A538}" presName="linNode" presStyleCnt="0"/>
      <dgm:spPr/>
    </dgm:pt>
    <dgm:pt modelId="{A3F49703-4606-4DFE-A226-B8C619FC1D18}" type="pres">
      <dgm:prSet presAssocID="{26E7B8E5-0217-42F3-B17B-D3258469A538}" presName="parTx" presStyleLbl="revTx" presStyleIdx="4" presStyleCnt="9">
        <dgm:presLayoutVars>
          <dgm:chMax val="1"/>
          <dgm:bulletEnabled val="1"/>
        </dgm:presLayoutVars>
      </dgm:prSet>
      <dgm:spPr/>
    </dgm:pt>
    <dgm:pt modelId="{8B5570E9-C057-47CD-8936-BBD8017273F4}" type="pres">
      <dgm:prSet presAssocID="{26E7B8E5-0217-42F3-B17B-D3258469A538}" presName="bracket" presStyleLbl="parChTrans1D1" presStyleIdx="4" presStyleCnt="9"/>
      <dgm:spPr/>
    </dgm:pt>
    <dgm:pt modelId="{33BC0A0A-5B1D-40E7-9ED3-DC08C248DC02}" type="pres">
      <dgm:prSet presAssocID="{26E7B8E5-0217-42F3-B17B-D3258469A538}" presName="spH" presStyleCnt="0"/>
      <dgm:spPr/>
    </dgm:pt>
    <dgm:pt modelId="{38C0934E-3CE6-49D0-8E43-722BCDD7B278}" type="pres">
      <dgm:prSet presAssocID="{13635794-5F2B-483C-905A-6BF2F00BFEBE}" presName="spV" presStyleCnt="0"/>
      <dgm:spPr/>
    </dgm:pt>
    <dgm:pt modelId="{B07157FF-8014-494F-9D2A-F666B976B852}" type="pres">
      <dgm:prSet presAssocID="{8E99BB04-8BDB-424E-986F-8B0F1A348CBE}" presName="linNode" presStyleCnt="0"/>
      <dgm:spPr/>
    </dgm:pt>
    <dgm:pt modelId="{319888D0-0A16-44CF-AF45-B9A4D62657F8}" type="pres">
      <dgm:prSet presAssocID="{8E99BB04-8BDB-424E-986F-8B0F1A348CBE}" presName="parTx" presStyleLbl="revTx" presStyleIdx="5" presStyleCnt="9">
        <dgm:presLayoutVars>
          <dgm:chMax val="1"/>
          <dgm:bulletEnabled val="1"/>
        </dgm:presLayoutVars>
      </dgm:prSet>
      <dgm:spPr/>
    </dgm:pt>
    <dgm:pt modelId="{8FDDCBBD-D41A-4DC5-971C-37B4B448A13A}" type="pres">
      <dgm:prSet presAssocID="{8E99BB04-8BDB-424E-986F-8B0F1A348CBE}" presName="bracket" presStyleLbl="parChTrans1D1" presStyleIdx="5" presStyleCnt="9"/>
      <dgm:spPr/>
    </dgm:pt>
    <dgm:pt modelId="{DA2876C2-42C7-469D-8602-768553F44F85}" type="pres">
      <dgm:prSet presAssocID="{8E99BB04-8BDB-424E-986F-8B0F1A348CBE}" presName="spH" presStyleCnt="0"/>
      <dgm:spPr/>
    </dgm:pt>
    <dgm:pt modelId="{33ADE1D4-27E6-421E-8C84-5C598B71915B}" type="pres">
      <dgm:prSet presAssocID="{96D6E9ED-911F-426A-8166-AC983DEA0B87}" presName="spV" presStyleCnt="0"/>
      <dgm:spPr/>
    </dgm:pt>
    <dgm:pt modelId="{3B43C12E-FC8C-48D2-A508-220A76BE547A}" type="pres">
      <dgm:prSet presAssocID="{AACF8233-9AE7-43B2-B2A9-1D8B96B571C0}" presName="linNode" presStyleCnt="0"/>
      <dgm:spPr/>
    </dgm:pt>
    <dgm:pt modelId="{DCA756A8-401F-451A-82F6-3570279D9C47}" type="pres">
      <dgm:prSet presAssocID="{AACF8233-9AE7-43B2-B2A9-1D8B96B571C0}" presName="parTx" presStyleLbl="revTx" presStyleIdx="6" presStyleCnt="9" custScaleX="112951" custScaleY="85011" custLinFactNeighborX="-35632" custLinFactNeighborY="6683">
        <dgm:presLayoutVars>
          <dgm:chMax val="1"/>
          <dgm:bulletEnabled val="1"/>
        </dgm:presLayoutVars>
      </dgm:prSet>
      <dgm:spPr/>
    </dgm:pt>
    <dgm:pt modelId="{C16DE0B7-8765-4103-B276-F72E059EDC38}" type="pres">
      <dgm:prSet presAssocID="{AACF8233-9AE7-43B2-B2A9-1D8B96B571C0}" presName="bracket" presStyleLbl="parChTrans1D1" presStyleIdx="6" presStyleCnt="9" custLinFactX="-10349" custLinFactNeighborX="-100000"/>
      <dgm:spPr/>
    </dgm:pt>
    <dgm:pt modelId="{A5251614-FAD3-445E-9A82-16ED6B238181}" type="pres">
      <dgm:prSet presAssocID="{AACF8233-9AE7-43B2-B2A9-1D8B96B571C0}" presName="spH" presStyleCnt="0"/>
      <dgm:spPr/>
    </dgm:pt>
    <dgm:pt modelId="{50AC66BF-AD05-4DB2-94DF-5B59D87A00EA}" type="pres">
      <dgm:prSet presAssocID="{28D291EC-46C9-48AA-9026-92A223437B3E}" presName="spV" presStyleCnt="0"/>
      <dgm:spPr/>
    </dgm:pt>
    <dgm:pt modelId="{6C53A5A7-8275-4792-B22F-7624ADDF700D}" type="pres">
      <dgm:prSet presAssocID="{A73EF2F1-3E19-42CE-A9F9-C8C290530A32}" presName="linNode" presStyleCnt="0"/>
      <dgm:spPr/>
    </dgm:pt>
    <dgm:pt modelId="{154D0C67-FEA5-4897-AC16-EA396B7E6E30}" type="pres">
      <dgm:prSet presAssocID="{A73EF2F1-3E19-42CE-A9F9-C8C290530A32}" presName="parTx" presStyleLbl="revTx" presStyleIdx="7" presStyleCnt="9" custScaleX="116746" custLinFactNeighborX="-92306" custLinFactNeighborY="92">
        <dgm:presLayoutVars>
          <dgm:chMax val="1"/>
          <dgm:bulletEnabled val="1"/>
        </dgm:presLayoutVars>
      </dgm:prSet>
      <dgm:spPr/>
    </dgm:pt>
    <dgm:pt modelId="{6152C831-7809-4A51-9898-4231BEAF5C0B}" type="pres">
      <dgm:prSet presAssocID="{A73EF2F1-3E19-42CE-A9F9-C8C290530A32}" presName="bracket" presStyleLbl="parChTrans1D1" presStyleIdx="7" presStyleCnt="9" custLinFactX="-43914" custLinFactNeighborX="-100000" custLinFactNeighborY="-4396"/>
      <dgm:spPr/>
    </dgm:pt>
    <dgm:pt modelId="{6F39A0C2-B7F1-4733-8E4B-7F2A8B91EBC8}" type="pres">
      <dgm:prSet presAssocID="{A73EF2F1-3E19-42CE-A9F9-C8C290530A32}" presName="spH" presStyleCnt="0"/>
      <dgm:spPr/>
    </dgm:pt>
    <dgm:pt modelId="{8C84AD3D-6210-4763-8D57-6A99A3A4F8DF}" type="pres">
      <dgm:prSet presAssocID="{9F8BD94F-7A6C-4CC7-8457-AE95D5028D66}" presName="spV" presStyleCnt="0"/>
      <dgm:spPr/>
    </dgm:pt>
    <dgm:pt modelId="{807FB871-ADC2-4848-AB01-B7D93D80C154}" type="pres">
      <dgm:prSet presAssocID="{1694E034-19B1-4707-A7D9-3E21BE3CDC72}" presName="linNode" presStyleCnt="0"/>
      <dgm:spPr/>
    </dgm:pt>
    <dgm:pt modelId="{E90A4E97-7C98-4738-81A5-84CD614848AC}" type="pres">
      <dgm:prSet presAssocID="{1694E034-19B1-4707-A7D9-3E21BE3CDC72}" presName="parTx" presStyleLbl="revTx" presStyleIdx="8" presStyleCnt="9">
        <dgm:presLayoutVars>
          <dgm:chMax val="1"/>
          <dgm:bulletEnabled val="1"/>
        </dgm:presLayoutVars>
      </dgm:prSet>
      <dgm:spPr/>
    </dgm:pt>
    <dgm:pt modelId="{92F0F763-66FF-4E3A-86D3-AB83F5BECE0E}" type="pres">
      <dgm:prSet presAssocID="{1694E034-19B1-4707-A7D9-3E21BE3CDC72}" presName="bracket" presStyleLbl="parChTrans1D1" presStyleIdx="8" presStyleCnt="9"/>
      <dgm:spPr/>
    </dgm:pt>
    <dgm:pt modelId="{A7A47627-A6A6-43D6-931A-6E81964D484E}" type="pres">
      <dgm:prSet presAssocID="{1694E034-19B1-4707-A7D9-3E21BE3CDC72}" presName="spH" presStyleCnt="0"/>
      <dgm:spPr/>
    </dgm:pt>
  </dgm:ptLst>
  <dgm:cxnLst>
    <dgm:cxn modelId="{EF523611-A700-4CBE-A584-FB5D287F8E37}" type="presOf" srcId="{1694E034-19B1-4707-A7D9-3E21BE3CDC72}" destId="{E90A4E97-7C98-4738-81A5-84CD614848AC}" srcOrd="0" destOrd="0" presId="urn:diagrams.loki3.com/BracketList"/>
    <dgm:cxn modelId="{8F287439-A716-4C08-9375-9721FF505F56}" srcId="{7E6CF0FB-4E84-4575-AC99-2F347EF23AF1}" destId="{26E7B8E5-0217-42F3-B17B-D3258469A538}" srcOrd="4" destOrd="0" parTransId="{21AC5B94-7DF7-4F2E-9ADC-260CF32D6A4D}" sibTransId="{13635794-5F2B-483C-905A-6BF2F00BFEBE}"/>
    <dgm:cxn modelId="{4DAD075F-410F-4764-A66A-720B599ADF66}" type="presOf" srcId="{26E7B8E5-0217-42F3-B17B-D3258469A538}" destId="{A3F49703-4606-4DFE-A226-B8C619FC1D18}" srcOrd="0" destOrd="0" presId="urn:diagrams.loki3.com/BracketList"/>
    <dgm:cxn modelId="{BAA5AB59-3D85-449B-B469-5DCCF84B2707}" srcId="{7E6CF0FB-4E84-4575-AC99-2F347EF23AF1}" destId="{8E99BB04-8BDB-424E-986F-8B0F1A348CBE}" srcOrd="5" destOrd="0" parTransId="{B66E38C6-060B-47F7-BD3F-7121FEC8517A}" sibTransId="{96D6E9ED-911F-426A-8166-AC983DEA0B87}"/>
    <dgm:cxn modelId="{E4FED57C-38E6-4A80-942C-600A51DB3F68}" srcId="{7E6CF0FB-4E84-4575-AC99-2F347EF23AF1}" destId="{7FE96738-E23B-4E18-AA41-FA88411B186C}" srcOrd="3" destOrd="0" parTransId="{3A959152-F969-4BEF-BE38-D821989F794A}" sibTransId="{01D4FF1A-88DB-43B7-8101-591A65A2E60C}"/>
    <dgm:cxn modelId="{623FDD7E-2FED-4965-B3CA-EC18F62CB71C}" type="presOf" srcId="{7FE96738-E23B-4E18-AA41-FA88411B186C}" destId="{C7B39694-8522-4A4F-B810-BBC5304F77A3}" srcOrd="0" destOrd="0" presId="urn:diagrams.loki3.com/BracketList"/>
    <dgm:cxn modelId="{058E6D86-A795-4CC4-9B26-0704D12BEB21}" type="presOf" srcId="{A73EF2F1-3E19-42CE-A9F9-C8C290530A32}" destId="{154D0C67-FEA5-4897-AC16-EA396B7E6E30}" srcOrd="0" destOrd="0" presId="urn:diagrams.loki3.com/BracketList"/>
    <dgm:cxn modelId="{43EEDE89-DC84-4623-BE65-DB93A046913F}" type="presOf" srcId="{1CD24D75-29BC-48E7-855E-E591758B72B4}" destId="{A25EF913-9CF1-4C1C-BD6D-D760DF99EFFA}" srcOrd="0" destOrd="0" presId="urn:diagrams.loki3.com/BracketList"/>
    <dgm:cxn modelId="{904A8C91-6927-4459-AFFB-9C0AF96D804D}" srcId="{7E6CF0FB-4E84-4575-AC99-2F347EF23AF1}" destId="{AACF8233-9AE7-43B2-B2A9-1D8B96B571C0}" srcOrd="6" destOrd="0" parTransId="{AAE963A4-79ED-42FD-8279-FDE8CA84BB0F}" sibTransId="{28D291EC-46C9-48AA-9026-92A223437B3E}"/>
    <dgm:cxn modelId="{BE26F493-3110-4F31-8B59-8BEC5FC49DF9}" srcId="{7E6CF0FB-4E84-4575-AC99-2F347EF23AF1}" destId="{07F572F1-02A8-47AF-8C98-6C9171F9DAE9}" srcOrd="2" destOrd="0" parTransId="{CC0268B7-7C64-41B1-A644-77E3CC90122E}" sibTransId="{2B038AB5-5AB8-48F8-A05F-96854E2FEDAE}"/>
    <dgm:cxn modelId="{2E57A095-4EEE-4C40-9F00-0321986D1385}" srcId="{7E6CF0FB-4E84-4575-AC99-2F347EF23AF1}" destId="{1CD24D75-29BC-48E7-855E-E591758B72B4}" srcOrd="0" destOrd="0" parTransId="{04C34910-2788-4366-8042-0E29BCE1B119}" sibTransId="{A8DBB83E-795A-4F2C-991E-2D1E650E1095}"/>
    <dgm:cxn modelId="{269E559D-D05F-4D4F-8220-D3D3C51CB353}" srcId="{7E6CF0FB-4E84-4575-AC99-2F347EF23AF1}" destId="{1694E034-19B1-4707-A7D9-3E21BE3CDC72}" srcOrd="8" destOrd="0" parTransId="{BCEBAC67-F480-4DFE-8AFE-A7495AF30071}" sibTransId="{CF995737-5848-42FC-9DA3-DFA27F5741DB}"/>
    <dgm:cxn modelId="{BA42F7C4-53BF-42DB-B756-260155C5542D}" type="presOf" srcId="{98843DE0-0484-4FB0-B6E6-2F46143050F6}" destId="{0D41BDCF-6FDF-4C2E-AB86-4BCAE1937502}" srcOrd="0" destOrd="0" presId="urn:diagrams.loki3.com/BracketList"/>
    <dgm:cxn modelId="{120C3EC6-0DB3-4755-802B-3CC2766F3DE5}" type="presOf" srcId="{AACF8233-9AE7-43B2-B2A9-1D8B96B571C0}" destId="{DCA756A8-401F-451A-82F6-3570279D9C47}" srcOrd="0" destOrd="0" presId="urn:diagrams.loki3.com/BracketList"/>
    <dgm:cxn modelId="{2FC5A6EE-03C6-4C17-B3CC-DD0EE5EE8002}" type="presOf" srcId="{07F572F1-02A8-47AF-8C98-6C9171F9DAE9}" destId="{F4F61AE3-365B-4237-855A-9C273333E6A7}" srcOrd="0" destOrd="0" presId="urn:diagrams.loki3.com/BracketList"/>
    <dgm:cxn modelId="{C923C1EE-70B7-4D87-97FC-D1B2D1070FBF}" type="presOf" srcId="{7E6CF0FB-4E84-4575-AC99-2F347EF23AF1}" destId="{792DF7B6-24DA-4565-9364-6B35E63E2892}" srcOrd="0" destOrd="0" presId="urn:diagrams.loki3.com/BracketList"/>
    <dgm:cxn modelId="{1D5A39F3-A6BF-42DC-943C-2E9214016C30}" srcId="{7E6CF0FB-4E84-4575-AC99-2F347EF23AF1}" destId="{98843DE0-0484-4FB0-B6E6-2F46143050F6}" srcOrd="1" destOrd="0" parTransId="{7D16C7E3-F483-42D5-9CCA-374DEB19896E}" sibTransId="{504EBBA3-2409-4430-81FD-E0A90920A04A}"/>
    <dgm:cxn modelId="{424804FC-8FC7-4194-8317-6E226BF46633}" srcId="{7E6CF0FB-4E84-4575-AC99-2F347EF23AF1}" destId="{A73EF2F1-3E19-42CE-A9F9-C8C290530A32}" srcOrd="7" destOrd="0" parTransId="{3313DA2C-3000-431D-9B75-ABB29CE7484F}" sibTransId="{9F8BD94F-7A6C-4CC7-8457-AE95D5028D66}"/>
    <dgm:cxn modelId="{48EB67FF-77FA-444A-BD4C-1F2655D6B7DE}" type="presOf" srcId="{8E99BB04-8BDB-424E-986F-8B0F1A348CBE}" destId="{319888D0-0A16-44CF-AF45-B9A4D62657F8}" srcOrd="0" destOrd="0" presId="urn:diagrams.loki3.com/BracketList"/>
    <dgm:cxn modelId="{4AF03488-954A-402F-A3F9-C0BDB5066CAC}" type="presParOf" srcId="{792DF7B6-24DA-4565-9364-6B35E63E2892}" destId="{85D37CB2-8AF1-4917-B3FE-56A30272BB31}" srcOrd="0" destOrd="0" presId="urn:diagrams.loki3.com/BracketList"/>
    <dgm:cxn modelId="{538EA184-922C-4620-A55F-282C8E0DFCA6}" type="presParOf" srcId="{85D37CB2-8AF1-4917-B3FE-56A30272BB31}" destId="{A25EF913-9CF1-4C1C-BD6D-D760DF99EFFA}" srcOrd="0" destOrd="0" presId="urn:diagrams.loki3.com/BracketList"/>
    <dgm:cxn modelId="{8F9183E3-AF6F-4006-94B8-178CE5DFDE32}" type="presParOf" srcId="{85D37CB2-8AF1-4917-B3FE-56A30272BB31}" destId="{C44A9D69-797D-4B68-9AC8-24858FFC0254}" srcOrd="1" destOrd="0" presId="urn:diagrams.loki3.com/BracketList"/>
    <dgm:cxn modelId="{64AB9194-C822-4C0C-9C6D-244992F38700}" type="presParOf" srcId="{85D37CB2-8AF1-4917-B3FE-56A30272BB31}" destId="{03882F38-B3B3-4BEF-83B2-EDAFB3D170B7}" srcOrd="2" destOrd="0" presId="urn:diagrams.loki3.com/BracketList"/>
    <dgm:cxn modelId="{E496EEAD-32AB-449F-90A8-FD3F7B342DD0}" type="presParOf" srcId="{792DF7B6-24DA-4565-9364-6B35E63E2892}" destId="{47E29166-DAA1-49E6-BAC3-F303FD3224F3}" srcOrd="1" destOrd="0" presId="urn:diagrams.loki3.com/BracketList"/>
    <dgm:cxn modelId="{89841745-DD28-458C-8491-FC7AC8416D38}" type="presParOf" srcId="{792DF7B6-24DA-4565-9364-6B35E63E2892}" destId="{CC221728-5DEB-4D23-B561-EC98C2B83B97}" srcOrd="2" destOrd="0" presId="urn:diagrams.loki3.com/BracketList"/>
    <dgm:cxn modelId="{423982CC-725A-45F6-B9D0-4E101BD8C1E1}" type="presParOf" srcId="{CC221728-5DEB-4D23-B561-EC98C2B83B97}" destId="{0D41BDCF-6FDF-4C2E-AB86-4BCAE1937502}" srcOrd="0" destOrd="0" presId="urn:diagrams.loki3.com/BracketList"/>
    <dgm:cxn modelId="{84BC23E9-5152-4CC2-9A1D-FA586F97C68F}" type="presParOf" srcId="{CC221728-5DEB-4D23-B561-EC98C2B83B97}" destId="{D94D37F1-DA4A-45E9-BB9D-1FFEE8B777DF}" srcOrd="1" destOrd="0" presId="urn:diagrams.loki3.com/BracketList"/>
    <dgm:cxn modelId="{F56BD745-5FEF-4D86-A8AE-56BF947D6FB9}" type="presParOf" srcId="{CC221728-5DEB-4D23-B561-EC98C2B83B97}" destId="{43066491-CA65-4403-A54D-9671F82E1117}" srcOrd="2" destOrd="0" presId="urn:diagrams.loki3.com/BracketList"/>
    <dgm:cxn modelId="{6CB5EA6D-A5AB-45F4-A877-8192A9B78BFB}" type="presParOf" srcId="{792DF7B6-24DA-4565-9364-6B35E63E2892}" destId="{117EAAE1-C5E5-4BC7-B105-51B0062A1E66}" srcOrd="3" destOrd="0" presId="urn:diagrams.loki3.com/BracketList"/>
    <dgm:cxn modelId="{40646B47-CE7E-4F9F-B0FC-BADBA123DE18}" type="presParOf" srcId="{792DF7B6-24DA-4565-9364-6B35E63E2892}" destId="{D8A21070-3649-41F2-B840-FA48759223B0}" srcOrd="4" destOrd="0" presId="urn:diagrams.loki3.com/BracketList"/>
    <dgm:cxn modelId="{2C5CFB19-081F-475D-9952-5690F378854C}" type="presParOf" srcId="{D8A21070-3649-41F2-B840-FA48759223B0}" destId="{F4F61AE3-365B-4237-855A-9C273333E6A7}" srcOrd="0" destOrd="0" presId="urn:diagrams.loki3.com/BracketList"/>
    <dgm:cxn modelId="{F2235855-CEB6-4954-821B-1187E543AC19}" type="presParOf" srcId="{D8A21070-3649-41F2-B840-FA48759223B0}" destId="{680C468C-96B0-4DAA-9AFF-1D187878785E}" srcOrd="1" destOrd="0" presId="urn:diagrams.loki3.com/BracketList"/>
    <dgm:cxn modelId="{88A33D56-28C5-464F-9E3A-F1F1BCD9F846}" type="presParOf" srcId="{D8A21070-3649-41F2-B840-FA48759223B0}" destId="{E70B0B99-224F-4B8F-9174-B84A4F219799}" srcOrd="2" destOrd="0" presId="urn:diagrams.loki3.com/BracketList"/>
    <dgm:cxn modelId="{C28A3C6B-2408-47EC-969A-D8D13292BDE5}" type="presParOf" srcId="{792DF7B6-24DA-4565-9364-6B35E63E2892}" destId="{B077EFEE-3083-4552-91BF-E25962AF97F8}" srcOrd="5" destOrd="0" presId="urn:diagrams.loki3.com/BracketList"/>
    <dgm:cxn modelId="{987335CE-3C64-452B-A9A6-864BE42776CC}" type="presParOf" srcId="{792DF7B6-24DA-4565-9364-6B35E63E2892}" destId="{8BBE4141-B92A-4B5F-8E3B-E72C3D400FBE}" srcOrd="6" destOrd="0" presId="urn:diagrams.loki3.com/BracketList"/>
    <dgm:cxn modelId="{5281A9C6-3964-4D2D-B363-95D074AB5F5F}" type="presParOf" srcId="{8BBE4141-B92A-4B5F-8E3B-E72C3D400FBE}" destId="{C7B39694-8522-4A4F-B810-BBC5304F77A3}" srcOrd="0" destOrd="0" presId="urn:diagrams.loki3.com/BracketList"/>
    <dgm:cxn modelId="{8763003A-FCEC-49BD-93E0-B0931B5CD136}" type="presParOf" srcId="{8BBE4141-B92A-4B5F-8E3B-E72C3D400FBE}" destId="{2C4CB13C-7B15-4FC0-956B-C9FE717B8943}" srcOrd="1" destOrd="0" presId="urn:diagrams.loki3.com/BracketList"/>
    <dgm:cxn modelId="{77B7AB09-C58A-48EF-A2E1-1ACDE22B8ECE}" type="presParOf" srcId="{8BBE4141-B92A-4B5F-8E3B-E72C3D400FBE}" destId="{35B74C16-ED52-4020-8630-1FCB04651371}" srcOrd="2" destOrd="0" presId="urn:diagrams.loki3.com/BracketList"/>
    <dgm:cxn modelId="{29649944-B5DC-44F3-9B7D-B635226239A2}" type="presParOf" srcId="{792DF7B6-24DA-4565-9364-6B35E63E2892}" destId="{907A58CA-0A67-4054-9D3C-451738FCF550}" srcOrd="7" destOrd="0" presId="urn:diagrams.loki3.com/BracketList"/>
    <dgm:cxn modelId="{822D6709-43C6-41E8-9223-D0EFBF090BF2}" type="presParOf" srcId="{792DF7B6-24DA-4565-9364-6B35E63E2892}" destId="{0CF51C95-8099-430A-9688-4908CB36EA35}" srcOrd="8" destOrd="0" presId="urn:diagrams.loki3.com/BracketList"/>
    <dgm:cxn modelId="{F01D26A0-2368-4E4D-886E-751739F9FFDF}" type="presParOf" srcId="{0CF51C95-8099-430A-9688-4908CB36EA35}" destId="{A3F49703-4606-4DFE-A226-B8C619FC1D18}" srcOrd="0" destOrd="0" presId="urn:diagrams.loki3.com/BracketList"/>
    <dgm:cxn modelId="{8B5ABD39-7F14-44FA-B532-72EE6F2B89BB}" type="presParOf" srcId="{0CF51C95-8099-430A-9688-4908CB36EA35}" destId="{8B5570E9-C057-47CD-8936-BBD8017273F4}" srcOrd="1" destOrd="0" presId="urn:diagrams.loki3.com/BracketList"/>
    <dgm:cxn modelId="{4EF240F4-F70D-417E-AEEC-981557408026}" type="presParOf" srcId="{0CF51C95-8099-430A-9688-4908CB36EA35}" destId="{33BC0A0A-5B1D-40E7-9ED3-DC08C248DC02}" srcOrd="2" destOrd="0" presId="urn:diagrams.loki3.com/BracketList"/>
    <dgm:cxn modelId="{1A724986-A60E-42E4-B2FE-461E03830A19}" type="presParOf" srcId="{792DF7B6-24DA-4565-9364-6B35E63E2892}" destId="{38C0934E-3CE6-49D0-8E43-722BCDD7B278}" srcOrd="9" destOrd="0" presId="urn:diagrams.loki3.com/BracketList"/>
    <dgm:cxn modelId="{BE190712-AA9D-4404-B893-476559E7A3F7}" type="presParOf" srcId="{792DF7B6-24DA-4565-9364-6B35E63E2892}" destId="{B07157FF-8014-494F-9D2A-F666B976B852}" srcOrd="10" destOrd="0" presId="urn:diagrams.loki3.com/BracketList"/>
    <dgm:cxn modelId="{F297125C-E6BF-482E-B4CA-790294F3AA67}" type="presParOf" srcId="{B07157FF-8014-494F-9D2A-F666B976B852}" destId="{319888D0-0A16-44CF-AF45-B9A4D62657F8}" srcOrd="0" destOrd="0" presId="urn:diagrams.loki3.com/BracketList"/>
    <dgm:cxn modelId="{CEDCF51C-DB17-4B5F-85BF-410F6D713260}" type="presParOf" srcId="{B07157FF-8014-494F-9D2A-F666B976B852}" destId="{8FDDCBBD-D41A-4DC5-971C-37B4B448A13A}" srcOrd="1" destOrd="0" presId="urn:diagrams.loki3.com/BracketList"/>
    <dgm:cxn modelId="{4657384A-D713-4F34-975B-39FBA1C6D2CA}" type="presParOf" srcId="{B07157FF-8014-494F-9D2A-F666B976B852}" destId="{DA2876C2-42C7-469D-8602-768553F44F85}" srcOrd="2" destOrd="0" presId="urn:diagrams.loki3.com/BracketList"/>
    <dgm:cxn modelId="{48E9907A-CC7D-4455-B189-198C5981A359}" type="presParOf" srcId="{792DF7B6-24DA-4565-9364-6B35E63E2892}" destId="{33ADE1D4-27E6-421E-8C84-5C598B71915B}" srcOrd="11" destOrd="0" presId="urn:diagrams.loki3.com/BracketList"/>
    <dgm:cxn modelId="{5BD6E6A9-AE0E-4595-B640-810EFB9CD719}" type="presParOf" srcId="{792DF7B6-24DA-4565-9364-6B35E63E2892}" destId="{3B43C12E-FC8C-48D2-A508-220A76BE547A}" srcOrd="12" destOrd="0" presId="urn:diagrams.loki3.com/BracketList"/>
    <dgm:cxn modelId="{9C3BDF96-984D-41CF-A888-B28D0B12F43B}" type="presParOf" srcId="{3B43C12E-FC8C-48D2-A508-220A76BE547A}" destId="{DCA756A8-401F-451A-82F6-3570279D9C47}" srcOrd="0" destOrd="0" presId="urn:diagrams.loki3.com/BracketList"/>
    <dgm:cxn modelId="{582B595B-4657-4850-8500-797234290F1A}" type="presParOf" srcId="{3B43C12E-FC8C-48D2-A508-220A76BE547A}" destId="{C16DE0B7-8765-4103-B276-F72E059EDC38}" srcOrd="1" destOrd="0" presId="urn:diagrams.loki3.com/BracketList"/>
    <dgm:cxn modelId="{BA56F010-BE56-46D4-9648-264D5C7F165A}" type="presParOf" srcId="{3B43C12E-FC8C-48D2-A508-220A76BE547A}" destId="{A5251614-FAD3-445E-9A82-16ED6B238181}" srcOrd="2" destOrd="0" presId="urn:diagrams.loki3.com/BracketList"/>
    <dgm:cxn modelId="{DA51D5D2-29DB-4E94-98F6-525C2B6D0F6A}" type="presParOf" srcId="{792DF7B6-24DA-4565-9364-6B35E63E2892}" destId="{50AC66BF-AD05-4DB2-94DF-5B59D87A00EA}" srcOrd="13" destOrd="0" presId="urn:diagrams.loki3.com/BracketList"/>
    <dgm:cxn modelId="{CC7ED7B0-9515-40C9-A268-BD3619DC25DF}" type="presParOf" srcId="{792DF7B6-24DA-4565-9364-6B35E63E2892}" destId="{6C53A5A7-8275-4792-B22F-7624ADDF700D}" srcOrd="14" destOrd="0" presId="urn:diagrams.loki3.com/BracketList"/>
    <dgm:cxn modelId="{A46ECD74-DB17-4FA1-B3D0-86C9254EDE87}" type="presParOf" srcId="{6C53A5A7-8275-4792-B22F-7624ADDF700D}" destId="{154D0C67-FEA5-4897-AC16-EA396B7E6E30}" srcOrd="0" destOrd="0" presId="urn:diagrams.loki3.com/BracketList"/>
    <dgm:cxn modelId="{F8A6076C-CBC9-477B-A276-7C71C5FE97BA}" type="presParOf" srcId="{6C53A5A7-8275-4792-B22F-7624ADDF700D}" destId="{6152C831-7809-4A51-9898-4231BEAF5C0B}" srcOrd="1" destOrd="0" presId="urn:diagrams.loki3.com/BracketList"/>
    <dgm:cxn modelId="{DA5090BD-F07A-415A-98AD-FA39D1CC3133}" type="presParOf" srcId="{6C53A5A7-8275-4792-B22F-7624ADDF700D}" destId="{6F39A0C2-B7F1-4733-8E4B-7F2A8B91EBC8}" srcOrd="2" destOrd="0" presId="urn:diagrams.loki3.com/BracketList"/>
    <dgm:cxn modelId="{42052C99-5F49-4F5C-B683-CC2428C9FD60}" type="presParOf" srcId="{792DF7B6-24DA-4565-9364-6B35E63E2892}" destId="{8C84AD3D-6210-4763-8D57-6A99A3A4F8DF}" srcOrd="15" destOrd="0" presId="urn:diagrams.loki3.com/BracketList"/>
    <dgm:cxn modelId="{601F0D64-523B-4583-AE77-F3E87C2F3A96}" type="presParOf" srcId="{792DF7B6-24DA-4565-9364-6B35E63E2892}" destId="{807FB871-ADC2-4848-AB01-B7D93D80C154}" srcOrd="16" destOrd="0" presId="urn:diagrams.loki3.com/BracketList"/>
    <dgm:cxn modelId="{EF349C6C-0BA1-4684-A567-775BE5B5C103}" type="presParOf" srcId="{807FB871-ADC2-4848-AB01-B7D93D80C154}" destId="{E90A4E97-7C98-4738-81A5-84CD614848AC}" srcOrd="0" destOrd="0" presId="urn:diagrams.loki3.com/BracketList"/>
    <dgm:cxn modelId="{3896487C-4320-4577-8412-17EE8A1CBC82}" type="presParOf" srcId="{807FB871-ADC2-4848-AB01-B7D93D80C154}" destId="{92F0F763-66FF-4E3A-86D3-AB83F5BECE0E}" srcOrd="1" destOrd="0" presId="urn:diagrams.loki3.com/BracketList"/>
    <dgm:cxn modelId="{5F3A5353-7425-4AFC-B23F-CC52B12D1707}" type="presParOf" srcId="{807FB871-ADC2-4848-AB01-B7D93D80C154}" destId="{A7A47627-A6A6-43D6-931A-6E81964D484E}" srcOrd="2" destOrd="0" presId="urn:diagrams.loki3.com/Bracket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C86A260-5C32-4668-9B50-E817C817415B}">
      <dsp:nvSpPr>
        <dsp:cNvPr id="0" name=""/>
        <dsp:cNvSpPr/>
      </dsp:nvSpPr>
      <dsp:spPr>
        <a:xfrm>
          <a:off x="0" y="2767329"/>
          <a:ext cx="11881922" cy="55905"/>
        </a:xfrm>
        <a:prstGeom prst="rect">
          <a:avLst/>
        </a:prstGeom>
        <a:gradFill rotWithShape="0">
          <a:gsLst>
            <a:gs pos="0">
              <a:schemeClr val="dk2">
                <a:tint val="76000"/>
              </a:schemeClr>
            </a:gs>
            <a:gs pos="100000">
              <a:schemeClr val="dk2">
                <a:tint val="76000"/>
              </a:schemeClr>
            </a:gs>
          </a:gsLst>
          <a:lin ang="0" scaled="0"/>
        </a:gra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CD90E13-C0C1-4923-9859-1944297F749C}">
      <dsp:nvSpPr>
        <dsp:cNvPr id="0" name=""/>
        <dsp:cNvSpPr/>
      </dsp:nvSpPr>
      <dsp:spPr>
        <a:xfrm>
          <a:off x="11594207" y="2571659"/>
          <a:ext cx="335433" cy="447245"/>
        </a:xfrm>
        <a:prstGeom prst="chevron">
          <a:avLst>
            <a:gd name="adj" fmla="val 75000"/>
          </a:avLst>
        </a:prstGeom>
        <a:gradFill rotWithShape="0">
          <a:gsLst>
            <a:gs pos="0">
              <a:schemeClr val="dk2">
                <a:tint val="76000"/>
              </a:schemeClr>
            </a:gs>
            <a:gs pos="100000">
              <a:schemeClr val="dk2">
                <a:tint val="76000"/>
              </a:schemeClr>
            </a:gs>
          </a:gsLst>
          <a:lin ang="0" scaled="0"/>
        </a:gra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AC3F0DE-EF35-4ED6-9FB7-D1B13AAFC910}">
      <dsp:nvSpPr>
        <dsp:cNvPr id="0" name=""/>
        <dsp:cNvSpPr/>
      </dsp:nvSpPr>
      <dsp:spPr>
        <a:xfrm>
          <a:off x="622589" y="1400429"/>
          <a:ext cx="1550143" cy="12324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72B98A0-A342-4847-A665-6DF975CE6A64}">
      <dsp:nvSpPr>
        <dsp:cNvPr id="0" name=""/>
        <dsp:cNvSpPr/>
      </dsp:nvSpPr>
      <dsp:spPr>
        <a:xfrm>
          <a:off x="622589" y="762945"/>
          <a:ext cx="1550143" cy="6374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000" b="1" kern="1200" dirty="0"/>
            <a:t>Situation Analysis</a:t>
          </a:r>
        </a:p>
      </dsp:txBody>
      <dsp:txXfrm>
        <a:off x="622589" y="762945"/>
        <a:ext cx="1550143" cy="637484"/>
      </dsp:txXfrm>
    </dsp:sp>
    <dsp:sp modelId="{CE357DE8-5519-4208-8F8E-8C57A1D65597}">
      <dsp:nvSpPr>
        <dsp:cNvPr id="0" name=""/>
        <dsp:cNvSpPr/>
      </dsp:nvSpPr>
      <dsp:spPr>
        <a:xfrm>
          <a:off x="294933" y="720446"/>
          <a:ext cx="38547" cy="2082449"/>
        </a:xfrm>
        <a:prstGeom prst="rect">
          <a:avLst/>
        </a:prstGeom>
        <a:solidFill>
          <a:schemeClr val="dk2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6F45C57-C26E-493C-AAFB-49D703B61535}">
      <dsp:nvSpPr>
        <dsp:cNvPr id="0" name=""/>
        <dsp:cNvSpPr/>
      </dsp:nvSpPr>
      <dsp:spPr>
        <a:xfrm>
          <a:off x="1706042" y="3856744"/>
          <a:ext cx="1550143" cy="10243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65EEB38-5D74-46CF-985F-28F2D535F996}">
      <dsp:nvSpPr>
        <dsp:cNvPr id="0" name=""/>
        <dsp:cNvSpPr/>
      </dsp:nvSpPr>
      <dsp:spPr>
        <a:xfrm>
          <a:off x="1706042" y="3181081"/>
          <a:ext cx="1550143" cy="6756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000" b="1" kern="1200"/>
            <a:t>Set Marketing Objectives</a:t>
          </a:r>
        </a:p>
      </dsp:txBody>
      <dsp:txXfrm>
        <a:off x="1706042" y="3181081"/>
        <a:ext cx="1550143" cy="675662"/>
      </dsp:txXfrm>
    </dsp:sp>
    <dsp:sp modelId="{E7576008-F6CC-41C7-8244-733669DB6D8E}">
      <dsp:nvSpPr>
        <dsp:cNvPr id="0" name=""/>
        <dsp:cNvSpPr/>
      </dsp:nvSpPr>
      <dsp:spPr>
        <a:xfrm>
          <a:off x="1378386" y="2788761"/>
          <a:ext cx="38547" cy="2135966"/>
        </a:xfrm>
        <a:prstGeom prst="rect">
          <a:avLst/>
        </a:prstGeom>
        <a:solidFill>
          <a:schemeClr val="dk2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A2FE545-6F3E-47B0-A51C-6A9115C7CA1D}">
      <dsp:nvSpPr>
        <dsp:cNvPr id="0" name=""/>
        <dsp:cNvSpPr/>
      </dsp:nvSpPr>
      <dsp:spPr>
        <a:xfrm>
          <a:off x="213982" y="620221"/>
          <a:ext cx="200448" cy="200448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1D03D47-3B9F-473D-AC3F-28B08C66DFF5}">
      <dsp:nvSpPr>
        <dsp:cNvPr id="0" name=""/>
        <dsp:cNvSpPr/>
      </dsp:nvSpPr>
      <dsp:spPr>
        <a:xfrm>
          <a:off x="1297436" y="4824503"/>
          <a:ext cx="200448" cy="200448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B99BB7B-B70D-4780-B960-D13F9AA2AB2A}">
      <dsp:nvSpPr>
        <dsp:cNvPr id="0" name=""/>
        <dsp:cNvSpPr/>
      </dsp:nvSpPr>
      <dsp:spPr>
        <a:xfrm>
          <a:off x="2789496" y="1400429"/>
          <a:ext cx="1550143" cy="12324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C209185-82C6-4AE8-BD37-4D9BC45A707F}">
      <dsp:nvSpPr>
        <dsp:cNvPr id="0" name=""/>
        <dsp:cNvSpPr/>
      </dsp:nvSpPr>
      <dsp:spPr>
        <a:xfrm>
          <a:off x="2789496" y="762945"/>
          <a:ext cx="1550143" cy="6374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000" b="1" kern="1200" dirty="0"/>
            <a:t>Identify Target Audience</a:t>
          </a:r>
        </a:p>
      </dsp:txBody>
      <dsp:txXfrm>
        <a:off x="2789496" y="762945"/>
        <a:ext cx="1550143" cy="637484"/>
      </dsp:txXfrm>
    </dsp:sp>
    <dsp:sp modelId="{FDAFF592-E380-4A6F-9765-D2A325C736FC}">
      <dsp:nvSpPr>
        <dsp:cNvPr id="0" name=""/>
        <dsp:cNvSpPr/>
      </dsp:nvSpPr>
      <dsp:spPr>
        <a:xfrm>
          <a:off x="2461840" y="720446"/>
          <a:ext cx="38547" cy="2082449"/>
        </a:xfrm>
        <a:prstGeom prst="rect">
          <a:avLst/>
        </a:prstGeom>
        <a:solidFill>
          <a:schemeClr val="dk2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6F3673C-7A8F-4AF2-83E0-E1FCF1765A60}">
      <dsp:nvSpPr>
        <dsp:cNvPr id="0" name=""/>
        <dsp:cNvSpPr/>
      </dsp:nvSpPr>
      <dsp:spPr>
        <a:xfrm>
          <a:off x="3872950" y="3856744"/>
          <a:ext cx="1550143" cy="10243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0F13966-D4AE-4248-89D2-C95CA0769957}">
      <dsp:nvSpPr>
        <dsp:cNvPr id="0" name=""/>
        <dsp:cNvSpPr/>
      </dsp:nvSpPr>
      <dsp:spPr>
        <a:xfrm>
          <a:off x="3872950" y="3181081"/>
          <a:ext cx="1550143" cy="6756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000" b="1" kern="1200"/>
            <a:t>Competitor Analysis</a:t>
          </a:r>
        </a:p>
      </dsp:txBody>
      <dsp:txXfrm>
        <a:off x="3872950" y="3181081"/>
        <a:ext cx="1550143" cy="675662"/>
      </dsp:txXfrm>
    </dsp:sp>
    <dsp:sp modelId="{24DCBBD5-7231-46A1-96A0-C604027738D5}">
      <dsp:nvSpPr>
        <dsp:cNvPr id="0" name=""/>
        <dsp:cNvSpPr/>
      </dsp:nvSpPr>
      <dsp:spPr>
        <a:xfrm>
          <a:off x="3545294" y="2788761"/>
          <a:ext cx="38547" cy="2135966"/>
        </a:xfrm>
        <a:prstGeom prst="rect">
          <a:avLst/>
        </a:prstGeom>
        <a:solidFill>
          <a:schemeClr val="dk2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D1FA909-4CB0-4A9E-A4EF-3B19A7C518B8}">
      <dsp:nvSpPr>
        <dsp:cNvPr id="0" name=""/>
        <dsp:cNvSpPr/>
      </dsp:nvSpPr>
      <dsp:spPr>
        <a:xfrm>
          <a:off x="2380890" y="620221"/>
          <a:ext cx="200448" cy="200448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1948F72-4F3E-4A63-AA95-BAD926F454B4}">
      <dsp:nvSpPr>
        <dsp:cNvPr id="0" name=""/>
        <dsp:cNvSpPr/>
      </dsp:nvSpPr>
      <dsp:spPr>
        <a:xfrm>
          <a:off x="3464344" y="4824503"/>
          <a:ext cx="200448" cy="200448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A427A5E-593D-4918-BB1B-02BFE33869BF}">
      <dsp:nvSpPr>
        <dsp:cNvPr id="0" name=""/>
        <dsp:cNvSpPr/>
      </dsp:nvSpPr>
      <dsp:spPr>
        <a:xfrm>
          <a:off x="4956404" y="1400429"/>
          <a:ext cx="1550143" cy="12324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0750EEC-9D9C-4AED-A2A1-FC7B5EBFD030}">
      <dsp:nvSpPr>
        <dsp:cNvPr id="0" name=""/>
        <dsp:cNvSpPr/>
      </dsp:nvSpPr>
      <dsp:spPr>
        <a:xfrm>
          <a:off x="4956404" y="762945"/>
          <a:ext cx="1550143" cy="6374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000" b="1" kern="1200"/>
            <a:t>Select Digital Marketing Channels</a:t>
          </a:r>
        </a:p>
      </dsp:txBody>
      <dsp:txXfrm>
        <a:off x="4956404" y="762945"/>
        <a:ext cx="1550143" cy="637484"/>
      </dsp:txXfrm>
    </dsp:sp>
    <dsp:sp modelId="{A296A3BF-2986-473F-A3E1-E14D0232CF09}">
      <dsp:nvSpPr>
        <dsp:cNvPr id="0" name=""/>
        <dsp:cNvSpPr/>
      </dsp:nvSpPr>
      <dsp:spPr>
        <a:xfrm>
          <a:off x="4628748" y="720446"/>
          <a:ext cx="38547" cy="2082449"/>
        </a:xfrm>
        <a:prstGeom prst="rect">
          <a:avLst/>
        </a:prstGeom>
        <a:solidFill>
          <a:schemeClr val="dk2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160DD44-5AF8-400C-BFFC-66339B89855C}">
      <dsp:nvSpPr>
        <dsp:cNvPr id="0" name=""/>
        <dsp:cNvSpPr/>
      </dsp:nvSpPr>
      <dsp:spPr>
        <a:xfrm>
          <a:off x="6039857" y="3856744"/>
          <a:ext cx="1550143" cy="10243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903F0AA-67EC-4D1E-902F-F03C5B9EBEBB}">
      <dsp:nvSpPr>
        <dsp:cNvPr id="0" name=""/>
        <dsp:cNvSpPr/>
      </dsp:nvSpPr>
      <dsp:spPr>
        <a:xfrm>
          <a:off x="6039857" y="3181081"/>
          <a:ext cx="1550143" cy="6756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000" b="1" kern="1200"/>
            <a:t>Develop Content Strategy</a:t>
          </a:r>
        </a:p>
      </dsp:txBody>
      <dsp:txXfrm>
        <a:off x="6039857" y="3181081"/>
        <a:ext cx="1550143" cy="675662"/>
      </dsp:txXfrm>
    </dsp:sp>
    <dsp:sp modelId="{3474D082-6532-462D-8187-166F3146E084}">
      <dsp:nvSpPr>
        <dsp:cNvPr id="0" name=""/>
        <dsp:cNvSpPr/>
      </dsp:nvSpPr>
      <dsp:spPr>
        <a:xfrm>
          <a:off x="5712201" y="2788761"/>
          <a:ext cx="38547" cy="2135966"/>
        </a:xfrm>
        <a:prstGeom prst="rect">
          <a:avLst/>
        </a:prstGeom>
        <a:solidFill>
          <a:schemeClr val="dk2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E220818-7E21-4A1A-81DF-EEEECD1E57F7}">
      <dsp:nvSpPr>
        <dsp:cNvPr id="0" name=""/>
        <dsp:cNvSpPr/>
      </dsp:nvSpPr>
      <dsp:spPr>
        <a:xfrm>
          <a:off x="4547797" y="620221"/>
          <a:ext cx="200448" cy="200448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BD47C32-A6E1-4BDB-9B3E-2629A8D6C906}">
      <dsp:nvSpPr>
        <dsp:cNvPr id="0" name=""/>
        <dsp:cNvSpPr/>
      </dsp:nvSpPr>
      <dsp:spPr>
        <a:xfrm>
          <a:off x="5631251" y="4824503"/>
          <a:ext cx="200448" cy="200448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94FA5FC-57D6-4DD1-814D-E23930413E5A}">
      <dsp:nvSpPr>
        <dsp:cNvPr id="0" name=""/>
        <dsp:cNvSpPr/>
      </dsp:nvSpPr>
      <dsp:spPr>
        <a:xfrm>
          <a:off x="7123311" y="1400429"/>
          <a:ext cx="1550143" cy="12324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8505424-E947-4249-BADE-3F2345E03322}">
      <dsp:nvSpPr>
        <dsp:cNvPr id="0" name=""/>
        <dsp:cNvSpPr/>
      </dsp:nvSpPr>
      <dsp:spPr>
        <a:xfrm>
          <a:off x="7123311" y="762945"/>
          <a:ext cx="1550143" cy="6374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000" b="1" kern="1200" dirty="0"/>
            <a:t>Allocate Budget &amp; Resources</a:t>
          </a:r>
        </a:p>
      </dsp:txBody>
      <dsp:txXfrm>
        <a:off x="7123311" y="762945"/>
        <a:ext cx="1550143" cy="637484"/>
      </dsp:txXfrm>
    </dsp:sp>
    <dsp:sp modelId="{122E110D-6B30-4FEC-914A-816DAC01B58D}">
      <dsp:nvSpPr>
        <dsp:cNvPr id="0" name=""/>
        <dsp:cNvSpPr/>
      </dsp:nvSpPr>
      <dsp:spPr>
        <a:xfrm>
          <a:off x="6795655" y="720446"/>
          <a:ext cx="38547" cy="2082449"/>
        </a:xfrm>
        <a:prstGeom prst="rect">
          <a:avLst/>
        </a:prstGeom>
        <a:solidFill>
          <a:schemeClr val="dk2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7A8DA51-E3C0-4B13-8829-11B81AB038F9}">
      <dsp:nvSpPr>
        <dsp:cNvPr id="0" name=""/>
        <dsp:cNvSpPr/>
      </dsp:nvSpPr>
      <dsp:spPr>
        <a:xfrm>
          <a:off x="8206765" y="3856744"/>
          <a:ext cx="1550143" cy="10243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FBD226A-6010-4A98-B0B0-30C01BD9EF21}">
      <dsp:nvSpPr>
        <dsp:cNvPr id="0" name=""/>
        <dsp:cNvSpPr/>
      </dsp:nvSpPr>
      <dsp:spPr>
        <a:xfrm>
          <a:off x="8206765" y="3181081"/>
          <a:ext cx="1550143" cy="6756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000" b="1" kern="1200"/>
            <a:t>Execute Campaign</a:t>
          </a:r>
        </a:p>
      </dsp:txBody>
      <dsp:txXfrm>
        <a:off x="8206765" y="3181081"/>
        <a:ext cx="1550143" cy="675662"/>
      </dsp:txXfrm>
    </dsp:sp>
    <dsp:sp modelId="{78A24440-D5C4-4D0B-9D81-069CA4006A3A}">
      <dsp:nvSpPr>
        <dsp:cNvPr id="0" name=""/>
        <dsp:cNvSpPr/>
      </dsp:nvSpPr>
      <dsp:spPr>
        <a:xfrm>
          <a:off x="7879109" y="2788761"/>
          <a:ext cx="38547" cy="2135966"/>
        </a:xfrm>
        <a:prstGeom prst="rect">
          <a:avLst/>
        </a:prstGeom>
        <a:solidFill>
          <a:schemeClr val="dk2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43E0C1B-83CD-4A52-B315-5ABEDC5B237E}">
      <dsp:nvSpPr>
        <dsp:cNvPr id="0" name=""/>
        <dsp:cNvSpPr/>
      </dsp:nvSpPr>
      <dsp:spPr>
        <a:xfrm>
          <a:off x="6714705" y="620221"/>
          <a:ext cx="200448" cy="200448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DBD07F8-4161-4CBE-85CA-690FE89D9FFE}">
      <dsp:nvSpPr>
        <dsp:cNvPr id="0" name=""/>
        <dsp:cNvSpPr/>
      </dsp:nvSpPr>
      <dsp:spPr>
        <a:xfrm>
          <a:off x="7798158" y="4824503"/>
          <a:ext cx="200448" cy="200448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F93961B-C899-4EA9-B972-C2E5334DCDF1}">
      <dsp:nvSpPr>
        <dsp:cNvPr id="0" name=""/>
        <dsp:cNvSpPr/>
      </dsp:nvSpPr>
      <dsp:spPr>
        <a:xfrm>
          <a:off x="9290218" y="1400429"/>
          <a:ext cx="1550143" cy="12324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FDAF61B-055C-4642-84C7-83021A506F15}">
      <dsp:nvSpPr>
        <dsp:cNvPr id="0" name=""/>
        <dsp:cNvSpPr/>
      </dsp:nvSpPr>
      <dsp:spPr>
        <a:xfrm>
          <a:off x="9290218" y="762945"/>
          <a:ext cx="1550143" cy="6374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000" b="1" kern="1200" dirty="0"/>
            <a:t>Monitor &amp; Measure Performance</a:t>
          </a:r>
        </a:p>
      </dsp:txBody>
      <dsp:txXfrm>
        <a:off x="9290218" y="762945"/>
        <a:ext cx="1550143" cy="637484"/>
      </dsp:txXfrm>
    </dsp:sp>
    <dsp:sp modelId="{6E813DE7-E0C5-4BAB-B85B-836D55012414}">
      <dsp:nvSpPr>
        <dsp:cNvPr id="0" name=""/>
        <dsp:cNvSpPr/>
      </dsp:nvSpPr>
      <dsp:spPr>
        <a:xfrm>
          <a:off x="8962562" y="720446"/>
          <a:ext cx="38547" cy="2082449"/>
        </a:xfrm>
        <a:prstGeom prst="rect">
          <a:avLst/>
        </a:prstGeom>
        <a:solidFill>
          <a:schemeClr val="dk2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D44AFE5-67AA-4F09-A47A-F265AE0E38E3}">
      <dsp:nvSpPr>
        <dsp:cNvPr id="0" name=""/>
        <dsp:cNvSpPr/>
      </dsp:nvSpPr>
      <dsp:spPr>
        <a:xfrm>
          <a:off x="10373672" y="3856744"/>
          <a:ext cx="1550143" cy="10243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F4ED6EA-F29D-41B7-BC74-ABBB8201E8B8}">
      <dsp:nvSpPr>
        <dsp:cNvPr id="0" name=""/>
        <dsp:cNvSpPr/>
      </dsp:nvSpPr>
      <dsp:spPr>
        <a:xfrm>
          <a:off x="10373672" y="3181081"/>
          <a:ext cx="1550143" cy="6756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000" b="1" kern="1200"/>
            <a:t>Review &amp; Optimize</a:t>
          </a:r>
        </a:p>
      </dsp:txBody>
      <dsp:txXfrm>
        <a:off x="10373672" y="3181081"/>
        <a:ext cx="1550143" cy="675662"/>
      </dsp:txXfrm>
    </dsp:sp>
    <dsp:sp modelId="{7788ABB5-53EB-4F10-BE04-B01D44C98F34}">
      <dsp:nvSpPr>
        <dsp:cNvPr id="0" name=""/>
        <dsp:cNvSpPr/>
      </dsp:nvSpPr>
      <dsp:spPr>
        <a:xfrm>
          <a:off x="10046016" y="2788761"/>
          <a:ext cx="38547" cy="2135966"/>
        </a:xfrm>
        <a:prstGeom prst="rect">
          <a:avLst/>
        </a:prstGeom>
        <a:solidFill>
          <a:schemeClr val="dk2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7DA1480-D6A4-46C1-96E5-32AD834529B8}">
      <dsp:nvSpPr>
        <dsp:cNvPr id="0" name=""/>
        <dsp:cNvSpPr/>
      </dsp:nvSpPr>
      <dsp:spPr>
        <a:xfrm>
          <a:off x="8881612" y="620221"/>
          <a:ext cx="200448" cy="200448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885F850-FEC3-45B5-A29E-24E9512F1E81}">
      <dsp:nvSpPr>
        <dsp:cNvPr id="0" name=""/>
        <dsp:cNvSpPr/>
      </dsp:nvSpPr>
      <dsp:spPr>
        <a:xfrm>
          <a:off x="9965066" y="4824503"/>
          <a:ext cx="200448" cy="200448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A9AD44F-F9DA-4862-A751-DE665514C193}">
      <dsp:nvSpPr>
        <dsp:cNvPr id="0" name=""/>
        <dsp:cNvSpPr/>
      </dsp:nvSpPr>
      <dsp:spPr>
        <a:xfrm>
          <a:off x="1106054" y="73685"/>
          <a:ext cx="2245590" cy="2245590"/>
        </a:xfrm>
        <a:prstGeom prst="ellipse">
          <a:avLst/>
        </a:prstGeom>
        <a:solidFill>
          <a:schemeClr val="dk2">
            <a:alpha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/>
            <a:t>Paid</a:t>
          </a:r>
          <a:endParaRPr lang="en-US" sz="2800" kern="1200"/>
        </a:p>
      </dsp:txBody>
      <dsp:txXfrm>
        <a:off x="1405467" y="466663"/>
        <a:ext cx="1646766" cy="1010515"/>
      </dsp:txXfrm>
    </dsp:sp>
    <dsp:sp modelId="{044E704F-2435-4C59-8B73-485964B7A0CB}">
      <dsp:nvSpPr>
        <dsp:cNvPr id="0" name=""/>
        <dsp:cNvSpPr/>
      </dsp:nvSpPr>
      <dsp:spPr>
        <a:xfrm>
          <a:off x="1916338" y="1450276"/>
          <a:ext cx="2245590" cy="2245590"/>
        </a:xfrm>
        <a:prstGeom prst="ellipse">
          <a:avLst/>
        </a:prstGeom>
        <a:solidFill>
          <a:schemeClr val="dk2">
            <a:alpha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 dirty="0"/>
            <a:t>Earned Media </a:t>
          </a:r>
          <a:endParaRPr lang="en-US" sz="2800" kern="1200" dirty="0"/>
        </a:p>
      </dsp:txBody>
      <dsp:txXfrm>
        <a:off x="2603115" y="2030387"/>
        <a:ext cx="1347354" cy="1235074"/>
      </dsp:txXfrm>
    </dsp:sp>
    <dsp:sp modelId="{D5AC8582-0850-49BD-8674-3C828C5DBB61}">
      <dsp:nvSpPr>
        <dsp:cNvPr id="0" name=""/>
        <dsp:cNvSpPr/>
      </dsp:nvSpPr>
      <dsp:spPr>
        <a:xfrm>
          <a:off x="295771" y="1450276"/>
          <a:ext cx="2245590" cy="2245590"/>
        </a:xfrm>
        <a:prstGeom prst="ellipse">
          <a:avLst/>
        </a:prstGeom>
        <a:solidFill>
          <a:schemeClr val="dk2">
            <a:alpha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 dirty="0"/>
            <a:t>Owned</a:t>
          </a:r>
          <a:endParaRPr lang="en-US" sz="2800" kern="1200" dirty="0"/>
        </a:p>
      </dsp:txBody>
      <dsp:txXfrm>
        <a:off x="507230" y="2030387"/>
        <a:ext cx="1347354" cy="123507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47A695E-4DF1-48F6-A5E6-FDF336934D2D}">
      <dsp:nvSpPr>
        <dsp:cNvPr id="0" name=""/>
        <dsp:cNvSpPr/>
      </dsp:nvSpPr>
      <dsp:spPr>
        <a:xfrm>
          <a:off x="-4638849" y="-711175"/>
          <a:ext cx="5525695" cy="5525695"/>
        </a:xfrm>
        <a:prstGeom prst="blockArc">
          <a:avLst>
            <a:gd name="adj1" fmla="val 18900000"/>
            <a:gd name="adj2" fmla="val 2700000"/>
            <a:gd name="adj3" fmla="val 391"/>
          </a:avLst>
        </a:prstGeom>
        <a:noFill/>
        <a:ln w="12700" cap="flat" cmpd="sng" algn="ctr">
          <a:solidFill>
            <a:schemeClr val="accent6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4378CD7-417F-4F2F-89C2-1DF17FE8CAA1}">
      <dsp:nvSpPr>
        <dsp:cNvPr id="0" name=""/>
        <dsp:cNvSpPr/>
      </dsp:nvSpPr>
      <dsp:spPr>
        <a:xfrm>
          <a:off x="570362" y="410334"/>
          <a:ext cx="5356276" cy="820669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51406" tIns="109220" rIns="109220" bIns="109220" numCol="1" spcCol="1270" anchor="ctr" anchorCtr="0">
          <a:noAutofit/>
        </a:bodyPr>
        <a:lstStyle/>
        <a:p>
          <a:pPr marL="0" lvl="0" indent="0" algn="l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300" kern="1200" dirty="0"/>
            <a:t>Hot Lead</a:t>
          </a:r>
        </a:p>
      </dsp:txBody>
      <dsp:txXfrm>
        <a:off x="570362" y="410334"/>
        <a:ext cx="5356276" cy="820669"/>
      </dsp:txXfrm>
    </dsp:sp>
    <dsp:sp modelId="{77E724A5-798B-4764-9587-708984DEF5DC}">
      <dsp:nvSpPr>
        <dsp:cNvPr id="0" name=""/>
        <dsp:cNvSpPr/>
      </dsp:nvSpPr>
      <dsp:spPr>
        <a:xfrm>
          <a:off x="57444" y="307750"/>
          <a:ext cx="1025836" cy="1025836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F9B35C3-1124-472F-BD94-1830B1FBBE1F}">
      <dsp:nvSpPr>
        <dsp:cNvPr id="0" name=""/>
        <dsp:cNvSpPr/>
      </dsp:nvSpPr>
      <dsp:spPr>
        <a:xfrm>
          <a:off x="868675" y="1641338"/>
          <a:ext cx="5057963" cy="820669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51406" tIns="109220" rIns="109220" bIns="109220" numCol="1" spcCol="1270" anchor="ctr" anchorCtr="0">
          <a:noAutofit/>
        </a:bodyPr>
        <a:lstStyle/>
        <a:p>
          <a:pPr marL="0" lvl="0" indent="0" algn="l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300" kern="1200" dirty="0"/>
            <a:t>Mild Lead </a:t>
          </a:r>
        </a:p>
      </dsp:txBody>
      <dsp:txXfrm>
        <a:off x="868675" y="1641338"/>
        <a:ext cx="5057963" cy="820669"/>
      </dsp:txXfrm>
    </dsp:sp>
    <dsp:sp modelId="{870097FB-F538-4A9C-B95F-4D3F323DEE8F}">
      <dsp:nvSpPr>
        <dsp:cNvPr id="0" name=""/>
        <dsp:cNvSpPr/>
      </dsp:nvSpPr>
      <dsp:spPr>
        <a:xfrm>
          <a:off x="355757" y="1538754"/>
          <a:ext cx="1025836" cy="1025836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FA291BC-1A4F-43BA-94C5-931215914831}">
      <dsp:nvSpPr>
        <dsp:cNvPr id="0" name=""/>
        <dsp:cNvSpPr/>
      </dsp:nvSpPr>
      <dsp:spPr>
        <a:xfrm>
          <a:off x="570362" y="2872341"/>
          <a:ext cx="5356276" cy="820669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51406" tIns="109220" rIns="109220" bIns="109220" numCol="1" spcCol="1270" anchor="ctr" anchorCtr="0">
          <a:noAutofit/>
        </a:bodyPr>
        <a:lstStyle/>
        <a:p>
          <a:pPr marL="0" lvl="0" indent="0" algn="l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300" kern="1200" dirty="0"/>
            <a:t>Cold Lead</a:t>
          </a:r>
        </a:p>
      </dsp:txBody>
      <dsp:txXfrm>
        <a:off x="570362" y="2872341"/>
        <a:ext cx="5356276" cy="820669"/>
      </dsp:txXfrm>
    </dsp:sp>
    <dsp:sp modelId="{FB4F0D9F-AC62-480F-8778-4785E8658C27}">
      <dsp:nvSpPr>
        <dsp:cNvPr id="0" name=""/>
        <dsp:cNvSpPr/>
      </dsp:nvSpPr>
      <dsp:spPr>
        <a:xfrm>
          <a:off x="57444" y="2769757"/>
          <a:ext cx="1025836" cy="1025836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25EF913-9CF1-4C1C-BD6D-D760DF99EFFA}">
      <dsp:nvSpPr>
        <dsp:cNvPr id="0" name=""/>
        <dsp:cNvSpPr/>
      </dsp:nvSpPr>
      <dsp:spPr>
        <a:xfrm>
          <a:off x="3659790" y="87463"/>
          <a:ext cx="2867567" cy="4554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60960" rIns="170688" bIns="60960" numCol="1" spcCol="1270" anchor="ctr" anchorCtr="0">
          <a:noAutofit/>
        </a:bodyPr>
        <a:lstStyle/>
        <a:p>
          <a:pPr marL="0" lvl="0" indent="0" algn="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/>
            <a:t>Website</a:t>
          </a:r>
        </a:p>
      </dsp:txBody>
      <dsp:txXfrm>
        <a:off x="3659790" y="87463"/>
        <a:ext cx="2867567" cy="455400"/>
      </dsp:txXfrm>
    </dsp:sp>
    <dsp:sp modelId="{C44A9D69-797D-4B68-9AC8-24858FFC0254}">
      <dsp:nvSpPr>
        <dsp:cNvPr id="0" name=""/>
        <dsp:cNvSpPr/>
      </dsp:nvSpPr>
      <dsp:spPr>
        <a:xfrm>
          <a:off x="6527357" y="87463"/>
          <a:ext cx="573513" cy="455400"/>
        </a:xfrm>
        <a:prstGeom prst="leftBrace">
          <a:avLst>
            <a:gd name="adj1" fmla="val 35000"/>
            <a:gd name="adj2" fmla="val 50000"/>
          </a:avLst>
        </a:pr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D41BDCF-6FDF-4C2E-AB86-4BCAE1937502}">
      <dsp:nvSpPr>
        <dsp:cNvPr id="0" name=""/>
        <dsp:cNvSpPr/>
      </dsp:nvSpPr>
      <dsp:spPr>
        <a:xfrm>
          <a:off x="3659790" y="625663"/>
          <a:ext cx="2867567" cy="4554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60960" rIns="170688" bIns="60960" numCol="1" spcCol="1270" anchor="ctr" anchorCtr="0">
          <a:noAutofit/>
        </a:bodyPr>
        <a:lstStyle/>
        <a:p>
          <a:pPr marL="0" lvl="0" indent="0" algn="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/>
            <a:t>Content Marketing</a:t>
          </a:r>
        </a:p>
      </dsp:txBody>
      <dsp:txXfrm>
        <a:off x="3659790" y="625663"/>
        <a:ext cx="2867567" cy="455400"/>
      </dsp:txXfrm>
    </dsp:sp>
    <dsp:sp modelId="{D94D37F1-DA4A-45E9-BB9D-1FFEE8B777DF}">
      <dsp:nvSpPr>
        <dsp:cNvPr id="0" name=""/>
        <dsp:cNvSpPr/>
      </dsp:nvSpPr>
      <dsp:spPr>
        <a:xfrm>
          <a:off x="6527357" y="625663"/>
          <a:ext cx="573513" cy="455400"/>
        </a:xfrm>
        <a:prstGeom prst="leftBrace">
          <a:avLst>
            <a:gd name="adj1" fmla="val 35000"/>
            <a:gd name="adj2" fmla="val 50000"/>
          </a:avLst>
        </a:pr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4F61AE3-365B-4237-855A-9C273333E6A7}">
      <dsp:nvSpPr>
        <dsp:cNvPr id="0" name=""/>
        <dsp:cNvSpPr/>
      </dsp:nvSpPr>
      <dsp:spPr>
        <a:xfrm>
          <a:off x="3659790" y="1163863"/>
          <a:ext cx="2867567" cy="7827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60960" rIns="170688" bIns="60960" numCol="1" spcCol="1270" anchor="ctr" anchorCtr="0">
          <a:noAutofit/>
        </a:bodyPr>
        <a:lstStyle/>
        <a:p>
          <a:pPr marL="0" lvl="0" indent="0" algn="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/>
            <a:t>Search Engine Optimization</a:t>
          </a:r>
        </a:p>
      </dsp:txBody>
      <dsp:txXfrm>
        <a:off x="3659790" y="1163863"/>
        <a:ext cx="2867567" cy="782718"/>
      </dsp:txXfrm>
    </dsp:sp>
    <dsp:sp modelId="{680C468C-96B0-4DAA-9AFF-1D187878785E}">
      <dsp:nvSpPr>
        <dsp:cNvPr id="0" name=""/>
        <dsp:cNvSpPr/>
      </dsp:nvSpPr>
      <dsp:spPr>
        <a:xfrm>
          <a:off x="6527357" y="1163863"/>
          <a:ext cx="573513" cy="782718"/>
        </a:xfrm>
        <a:prstGeom prst="leftBrace">
          <a:avLst>
            <a:gd name="adj1" fmla="val 35000"/>
            <a:gd name="adj2" fmla="val 50000"/>
          </a:avLst>
        </a:pr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7B39694-8522-4A4F-B810-BBC5304F77A3}">
      <dsp:nvSpPr>
        <dsp:cNvPr id="0" name=""/>
        <dsp:cNvSpPr/>
      </dsp:nvSpPr>
      <dsp:spPr>
        <a:xfrm>
          <a:off x="3659790" y="2029382"/>
          <a:ext cx="2867567" cy="4554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60960" rIns="170688" bIns="60960" numCol="1" spcCol="1270" anchor="ctr" anchorCtr="0">
          <a:noAutofit/>
        </a:bodyPr>
        <a:lstStyle/>
        <a:p>
          <a:pPr marL="0" lvl="0" indent="0" algn="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/>
            <a:t>Email Marketing</a:t>
          </a:r>
        </a:p>
      </dsp:txBody>
      <dsp:txXfrm>
        <a:off x="3659790" y="2029382"/>
        <a:ext cx="2867567" cy="455400"/>
      </dsp:txXfrm>
    </dsp:sp>
    <dsp:sp modelId="{2C4CB13C-7B15-4FC0-956B-C9FE717B8943}">
      <dsp:nvSpPr>
        <dsp:cNvPr id="0" name=""/>
        <dsp:cNvSpPr/>
      </dsp:nvSpPr>
      <dsp:spPr>
        <a:xfrm>
          <a:off x="6527357" y="2029382"/>
          <a:ext cx="573513" cy="455400"/>
        </a:xfrm>
        <a:prstGeom prst="leftBrace">
          <a:avLst>
            <a:gd name="adj1" fmla="val 35000"/>
            <a:gd name="adj2" fmla="val 50000"/>
          </a:avLst>
        </a:pr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3F49703-4606-4DFE-A226-B8C619FC1D18}">
      <dsp:nvSpPr>
        <dsp:cNvPr id="0" name=""/>
        <dsp:cNvSpPr/>
      </dsp:nvSpPr>
      <dsp:spPr>
        <a:xfrm>
          <a:off x="3659790" y="2567582"/>
          <a:ext cx="2867567" cy="4554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60960" rIns="170688" bIns="60960" numCol="1" spcCol="1270" anchor="ctr" anchorCtr="0">
          <a:noAutofit/>
        </a:bodyPr>
        <a:lstStyle/>
        <a:p>
          <a:pPr marL="0" lvl="0" indent="0" algn="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/>
            <a:t>Affiliate Marketing </a:t>
          </a:r>
        </a:p>
      </dsp:txBody>
      <dsp:txXfrm>
        <a:off x="3659790" y="2567582"/>
        <a:ext cx="2867567" cy="455400"/>
      </dsp:txXfrm>
    </dsp:sp>
    <dsp:sp modelId="{8B5570E9-C057-47CD-8936-BBD8017273F4}">
      <dsp:nvSpPr>
        <dsp:cNvPr id="0" name=""/>
        <dsp:cNvSpPr/>
      </dsp:nvSpPr>
      <dsp:spPr>
        <a:xfrm>
          <a:off x="6527357" y="2567582"/>
          <a:ext cx="573513" cy="455400"/>
        </a:xfrm>
        <a:prstGeom prst="leftBrace">
          <a:avLst>
            <a:gd name="adj1" fmla="val 35000"/>
            <a:gd name="adj2" fmla="val 50000"/>
          </a:avLst>
        </a:pr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19888D0-0A16-44CF-AF45-B9A4D62657F8}">
      <dsp:nvSpPr>
        <dsp:cNvPr id="0" name=""/>
        <dsp:cNvSpPr/>
      </dsp:nvSpPr>
      <dsp:spPr>
        <a:xfrm>
          <a:off x="3659790" y="3105782"/>
          <a:ext cx="2867567" cy="4554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60960" rIns="170688" bIns="60960" numCol="1" spcCol="1270" anchor="ctr" anchorCtr="0">
          <a:noAutofit/>
        </a:bodyPr>
        <a:lstStyle/>
        <a:p>
          <a:pPr marL="0" lvl="0" indent="0" algn="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/>
            <a:t>Referral Marketing </a:t>
          </a:r>
        </a:p>
      </dsp:txBody>
      <dsp:txXfrm>
        <a:off x="3659790" y="3105782"/>
        <a:ext cx="2867567" cy="455400"/>
      </dsp:txXfrm>
    </dsp:sp>
    <dsp:sp modelId="{8FDDCBBD-D41A-4DC5-971C-37B4B448A13A}">
      <dsp:nvSpPr>
        <dsp:cNvPr id="0" name=""/>
        <dsp:cNvSpPr/>
      </dsp:nvSpPr>
      <dsp:spPr>
        <a:xfrm>
          <a:off x="6527357" y="3105782"/>
          <a:ext cx="573513" cy="455400"/>
        </a:xfrm>
        <a:prstGeom prst="leftBrace">
          <a:avLst>
            <a:gd name="adj1" fmla="val 35000"/>
            <a:gd name="adj2" fmla="val 50000"/>
          </a:avLst>
        </a:pr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CA756A8-401F-451A-82F6-3570279D9C47}">
      <dsp:nvSpPr>
        <dsp:cNvPr id="0" name=""/>
        <dsp:cNvSpPr/>
      </dsp:nvSpPr>
      <dsp:spPr>
        <a:xfrm>
          <a:off x="3455436" y="3708546"/>
          <a:ext cx="3238946" cy="3871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60960" rIns="170688" bIns="60960" numCol="1" spcCol="1270" anchor="ctr" anchorCtr="0">
          <a:noAutofit/>
        </a:bodyPr>
        <a:lstStyle/>
        <a:p>
          <a:pPr marL="0" lvl="0" indent="0" algn="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 err="1"/>
            <a:t>InfluencerMarketing</a:t>
          </a:r>
          <a:r>
            <a:rPr lang="en-US" sz="2400" b="1" kern="1200" dirty="0"/>
            <a:t> </a:t>
          </a:r>
        </a:p>
      </dsp:txBody>
      <dsp:txXfrm>
        <a:off x="3455436" y="3708546"/>
        <a:ext cx="3238946" cy="387140"/>
      </dsp:txXfrm>
    </dsp:sp>
    <dsp:sp modelId="{C16DE0B7-8765-4103-B276-F72E059EDC38}">
      <dsp:nvSpPr>
        <dsp:cNvPr id="0" name=""/>
        <dsp:cNvSpPr/>
      </dsp:nvSpPr>
      <dsp:spPr>
        <a:xfrm>
          <a:off x="6609978" y="3643982"/>
          <a:ext cx="573513" cy="455400"/>
        </a:xfrm>
        <a:prstGeom prst="leftBrace">
          <a:avLst>
            <a:gd name="adj1" fmla="val 35000"/>
            <a:gd name="adj2" fmla="val 50000"/>
          </a:avLst>
        </a:pr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54D0C67-FEA5-4897-AC16-EA396B7E6E30}">
      <dsp:nvSpPr>
        <dsp:cNvPr id="0" name=""/>
        <dsp:cNvSpPr/>
      </dsp:nvSpPr>
      <dsp:spPr>
        <a:xfrm>
          <a:off x="3130403" y="4182902"/>
          <a:ext cx="3347770" cy="7827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60960" rIns="170688" bIns="60960" numCol="1" spcCol="1270" anchor="ctr" anchorCtr="0">
          <a:noAutofit/>
        </a:bodyPr>
        <a:lstStyle/>
        <a:p>
          <a:pPr marL="0" lvl="0" indent="0" algn="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/>
            <a:t>Online Public Relation </a:t>
          </a:r>
        </a:p>
      </dsp:txBody>
      <dsp:txXfrm>
        <a:off x="3130403" y="4182902"/>
        <a:ext cx="3347770" cy="782718"/>
      </dsp:txXfrm>
    </dsp:sp>
    <dsp:sp modelId="{6152C831-7809-4A51-9898-4231BEAF5C0B}">
      <dsp:nvSpPr>
        <dsp:cNvPr id="0" name=""/>
        <dsp:cNvSpPr/>
      </dsp:nvSpPr>
      <dsp:spPr>
        <a:xfrm>
          <a:off x="6526302" y="4147774"/>
          <a:ext cx="573513" cy="782718"/>
        </a:xfrm>
        <a:prstGeom prst="leftBrace">
          <a:avLst>
            <a:gd name="adj1" fmla="val 35000"/>
            <a:gd name="adj2" fmla="val 50000"/>
          </a:avLst>
        </a:pr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90A4E97-7C98-4738-81A5-84CD614848AC}">
      <dsp:nvSpPr>
        <dsp:cNvPr id="0" name=""/>
        <dsp:cNvSpPr/>
      </dsp:nvSpPr>
      <dsp:spPr>
        <a:xfrm>
          <a:off x="3659790" y="5047701"/>
          <a:ext cx="2867567" cy="4554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60960" rIns="170688" bIns="60960" numCol="1" spcCol="1270" anchor="ctr" anchorCtr="0">
          <a:noAutofit/>
        </a:bodyPr>
        <a:lstStyle/>
        <a:p>
          <a:pPr marL="0" lvl="0" indent="0" algn="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/>
            <a:t>Conversational AI</a:t>
          </a:r>
        </a:p>
      </dsp:txBody>
      <dsp:txXfrm>
        <a:off x="3659790" y="5047701"/>
        <a:ext cx="2867567" cy="455400"/>
      </dsp:txXfrm>
    </dsp:sp>
    <dsp:sp modelId="{92F0F763-66FF-4E3A-86D3-AB83F5BECE0E}">
      <dsp:nvSpPr>
        <dsp:cNvPr id="0" name=""/>
        <dsp:cNvSpPr/>
      </dsp:nvSpPr>
      <dsp:spPr>
        <a:xfrm>
          <a:off x="6527357" y="5047701"/>
          <a:ext cx="573513" cy="455400"/>
        </a:xfrm>
        <a:prstGeom prst="leftBrace">
          <a:avLst>
            <a:gd name="adj1" fmla="val 35000"/>
            <a:gd name="adj2" fmla="val 50000"/>
          </a:avLst>
        </a:pr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24/layout/BulletTimelineInverted">
  <dgm:title val=""/>
  <dgm:desc val=""/>
  <dgm:catLst>
    <dgm:cat type="process" pri="7451"/>
    <dgm:cat type="timeline" pri="101"/>
  </dgm:catLst>
  <dgm:sampData>
    <dgm:dataModel>
      <dgm:ptLst>
        <dgm:pt modelId="0" type="doc"/>
        <dgm:pt modelId="10">
          <dgm:prSet phldrT="Add an event" phldr="1"/>
        </dgm:pt>
        <dgm:pt modelId="11">
          <dgm:prSet phldrT="Write a description of the significance of this event" phldr="1"/>
        </dgm:pt>
        <dgm:pt modelId="20">
          <dgm:prSet phldrT="Add an event" phldr="1"/>
        </dgm:pt>
        <dgm:pt modelId="21">
          <dgm:prSet phldrT="Write a description of the significance of this event" phldr="1"/>
        </dgm:pt>
        <dgm:pt modelId="30">
          <dgm:prSet phldrT="Add an event" phldr="1"/>
        </dgm:pt>
        <dgm:pt modelId="31">
          <dgm:prSet phldrT="Write a description of the significance of this event" phldr="1"/>
        </dgm:pt>
        <dgm:pt modelId="40">
          <dgm:prSet phldrT="Add an event" phldr="1"/>
        </dgm:pt>
        <dgm:pt modelId="41">
          <dgm:prSet phldrT="Write a description of the significance of this event" phldr="1"/>
        </dgm:pt>
        <dgm:pt modelId="50">
          <dgm:prSet phldrT="Add an event" phldr="1"/>
        </dgm:pt>
        <dgm:pt modelId="51">
          <dgm:prSet phldrT="Write a description of the significance of this event" phldr="1"/>
        </dgm:pt>
      </dgm:ptLst>
      <dgm:cxnLst>
        <dgm:cxn modelId="100" srcId="0" destId="10" srcOrd="0" destOrd="0"/>
        <dgm:cxn modelId="12" srcId="10" destId="11" srcOrd="0" destOrd="0"/>
        <dgm:cxn modelId="101" srcId="0" destId="20" srcOrd="1" destOrd="0"/>
        <dgm:cxn modelId="22" srcId="20" destId="21" srcOrd="0" destOrd="0"/>
        <dgm:cxn modelId="102" srcId="0" destId="30" srcOrd="2" destOrd="0"/>
        <dgm:cxn modelId="32" srcId="30" destId="31" srcOrd="0" destOrd="0"/>
        <dgm:cxn modelId="103" srcId="0" destId="40" srcOrd="3" destOrd="0"/>
        <dgm:cxn modelId="42" srcId="40" destId="41" srcOrd="0" destOrd="0"/>
        <dgm:cxn modelId="104" srcId="0" destId="50" srcOrd="4" destOrd="0"/>
        <dgm:cxn modelId="52" srcId="50" destId="5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">
    <dgm:varLst>
      <dgm:dir/>
      <dgm:animLvl val="lvl"/>
    </dgm:varLst>
    <dgm:alg type="composite"/>
    <dgm:shape xmlns:r="http://schemas.openxmlformats.org/officeDocument/2006/relationships" r:blip="">
      <dgm:adjLst/>
    </dgm:shape>
    <dgm:constrLst>
      <dgm:constr type="w" for="ch" forName="divider" refType="w"/>
      <dgm:constr type="h" for="ch" forName="divider" refType="h" fact="0.1"/>
      <dgm:constr type="ctrY" for="ch" forName="divider" refType="h" fact="0.5"/>
      <dgm:constr type="l" for="ch" forName="divider"/>
      <dgm:constr type="w" for="ch" forName="nodes" refType="w"/>
      <dgm:constr type="h" for="ch" forName="nodes" refType="h" fact="0.8"/>
      <dgm:constr type="ctrY" for="ch" forName="nodes" refType="h" fact="0.5"/>
    </dgm:constrLst>
    <dgm:layoutNode name="divider">
      <dgm:alg type="composite"/>
      <dgm:shape xmlns:r="http://schemas.openxmlformats.org/officeDocument/2006/relationships" r:blip="">
        <dgm:adjLst/>
      </dgm:shape>
      <dgm:presOf/>
      <dgm:choose name="DividerDirection">
        <dgm:if name="DividerLTR" func="var" arg="dir" op="equ" val="norm">
          <dgm:constrLst>
            <dgm:constr type="w" for="ch" forName="rectBar" refType="w" fact="0.996"/>
            <dgm:constr type="h" for="ch" forName="rectBar" refType="h" fact="0.1"/>
            <dgm:constr type="l" for="ch" forName="rectBar"/>
            <dgm:constr type="ctrY" for="ch" forName="rectBar" refType="h" fact="0.5"/>
            <dgm:constr type="w" for="ch" forName="chevronArrow" refType="h" fact="0.6"/>
            <dgm:constr type="h" for="ch" forName="chevronArrow" refType="h" fact="0.8"/>
            <dgm:constr type="r" for="ch" forName="chevronArrow" refType="w"/>
            <dgm:constr type="ctrY" for="ch" forName="chevronArrow" refType="h" fact="0.5"/>
          </dgm:constrLst>
        </dgm:if>
        <dgm:else name="DividerRTL">
          <dgm:constrLst>
            <dgm:constr type="w" for="ch" forName="rectBar" refType="w" fact="0.996"/>
            <dgm:constr type="h" for="ch" forName="rectBar" refType="h" fact="0.1"/>
            <dgm:constr type="r" for="ch" forName="rectBar" refType="w"/>
            <dgm:constr type="ctrY" for="ch" forName="rectBar" refType="h" fact="0.5"/>
            <dgm:constr type="w" for="ch" forName="chevronArrow" refType="h" fact="0.6"/>
            <dgm:constr type="h" for="ch" forName="chevronArrow" refType="h" fact="0.8"/>
            <dgm:constr type="l" for="ch" forName="chevronArrow"/>
            <dgm:constr type="ctrY" for="ch" forName="chevronArrow" refType="h" fact="0.5"/>
          </dgm:constrLst>
        </dgm:else>
      </dgm:choose>
      <dgm:ruleLst/>
      <dgm:layoutNode name="rectBar" styleLbl="dkBgShp">
        <dgm:alg type="sp"/>
        <dgm:shape xmlns:r="http://schemas.openxmlformats.org/officeDocument/2006/relationships" type="rect" r:blip="" zOrderOff="-1">
          <dgm:adjLst/>
          <dgm:extLst>
            <a:ext uri="{B698B0E9-8C71-41B9-8309-B3DCBF30829C}">
              <dgm1612:spPr xmlns:dgm1612="http://schemas.microsoft.com/office/drawing/2016/12/diagram">
                <a:gradFill rotWithShape="0">
                  <a:gsLst>
                    <a:gs pos="0">
                      <a:schemeClr val="accent1">
                        <a:tint val="76000"/>
                      </a:schemeClr>
                    </a:gs>
                    <a:gs pos="100000">
                      <a:schemeClr val="accent1">
                        <a:tint val="76000"/>
                      </a:schemeClr>
                    </a:gs>
                  </a:gsLst>
                  <a:lin ang="0" scaled="0"/>
                </a:gradFill>
              </dgm1612:spPr>
            </a:ext>
          </dgm:extLst>
        </dgm:shape>
        <dgm:presOf/>
        <dgm:constrLst/>
        <dgm:ruleLst/>
      </dgm:layoutNode>
      <dgm:layoutNode name="chevronArrow" styleLbl="dkBgShp">
        <dgm:alg type="sp"/>
        <dgm:choose name="ChevronDir">
          <dgm:if name="ChevronLTR" func="var" arg="dir" op="equ" val="norm">
            <dgm:shape xmlns:r="http://schemas.openxmlformats.org/officeDocument/2006/relationships" type="chevron" r:blip="" zOrderOff="-1">
              <dgm:adjLst>
                <dgm:adj idx="1" val="0.75"/>
              </dgm:adjLst>
              <dgm:extLst>
                <a:ext uri="{B698B0E9-8C71-41B9-8309-B3DCBF30829C}">
                  <dgm1612:spPr xmlns:dgm1612="http://schemas.microsoft.com/office/drawing/2016/12/diagram">
                    <a:gradFill rotWithShape="0">
                      <a:gsLst>
                        <a:gs pos="0">
                          <a:schemeClr val="accent1">
                            <a:tint val="76000"/>
                          </a:schemeClr>
                        </a:gs>
                        <a:gs pos="100000">
                          <a:schemeClr val="accent1">
                            <a:tint val="76000"/>
                          </a:schemeClr>
                        </a:gs>
                      </a:gsLst>
                      <a:lin ang="0" scaled="0"/>
                    </a:gradFill>
                  </dgm1612:spPr>
                </a:ext>
              </dgm:extLst>
            </dgm:shape>
          </dgm:if>
          <dgm:else name="ChevronRTL">
            <dgm:shape xmlns:r="http://schemas.openxmlformats.org/officeDocument/2006/relationships" rot="180" type="chevron" r:blip="" zOrderOff="-1">
              <dgm:adjLst>
                <dgm:adj idx="1" val="0.75"/>
              </dgm:adjLst>
              <dgm:extLst>
                <a:ext uri="{B698B0E9-8C71-41B9-8309-B3DCBF30829C}">
                  <dgm1612:spPr xmlns:dgm1612="http://schemas.microsoft.com/office/drawing/2016/12/diagram">
                    <a:gradFill rotWithShape="0">
                      <a:gsLst>
                        <a:gs pos="0">
                          <a:schemeClr val="accent1">
                            <a:tint val="76000"/>
                          </a:schemeClr>
                        </a:gs>
                        <a:gs pos="100000">
                          <a:schemeClr val="accent1">
                            <a:tint val="76000"/>
                          </a:schemeClr>
                        </a:gs>
                      </a:gsLst>
                      <a:lin ang="0" scaled="0"/>
                    </a:gradFill>
                  </dgm1612:spPr>
                </a:ext>
              </dgm:extLst>
            </dgm:shape>
          </dgm:else>
        </dgm:choose>
        <dgm:presOf/>
        <dgm:constrLst/>
        <dgm:ruleLst/>
      </dgm:layoutNode>
    </dgm:layoutNode>
    <dgm:layoutNode name="nodes">
      <dgm:varLst>
        <dgm:chMax/>
        <dgm:chPref/>
        <dgm:animLvl val="lvl"/>
      </dgm:varLst>
      <dgm:choose name="Name1">
        <dgm:if name="Name2" func="var" arg="dir" op="equ" val="norm">
          <dgm:alg type="lin">
            <dgm:param type="fallback" val="1D"/>
          </dgm:alg>
        </dgm:if>
        <dgm:else name="Name3">
          <dgm:alg type="lin">
            <dgm:param type="linDir" val="fromR"/>
            <dgm:param type="fallback" val="1D"/>
          </dgm:alg>
        </dgm:else>
      </dgm:choose>
      <dgm:shape xmlns:r="http://schemas.openxmlformats.org/officeDocument/2006/relationships" r:blip="">
        <dgm:adjLst/>
      </dgm:shape>
      <dgm:constrLst>
        <dgm:constr type="primFontSz" for="des" forName="L1TextContainer" val="20"/>
        <dgm:constr type="primFontSz" for="des" forName="L2TextContainer" refType="primFontSz" refFor="des" refForName="L1TextContainer" op="equ" fact="0.75"/>
        <dgm:constr type="w" for="ch" forName="composite" refType="w"/>
        <dgm:constr type="h" for="ch" forName="composite" refType="h"/>
        <dgm:constr type="w" for="ch" forName="spaceBetweenRectangles" refType="w" refFor="ch" refForName="composite" fact="-0.5"/>
        <dgm:constr type="w" for="ch" ptType="sibTrans" op="equ"/>
        <dgm:constr type="primFontSz" for="des" forName="L1TextContainer" op="equ"/>
        <dgm:constr type="primFontSz" for="des" forName="L2TextContainer" op="equ"/>
        <dgm:constr type="primFontSz" for="des" forName="L1TextContainer1" val="20"/>
        <dgm:constr type="primFontSz" for="des" forName="L2TextContainer1" refType="primFontSz" refFor="des" refForName="L1TextContainer1" op="equ" fact="0.75"/>
        <dgm:constr type="w" for="ch" forName="composite1" refType="w"/>
        <dgm:constr type="h" for="ch" forName="composite1" refType="h"/>
        <dgm:constr type="w" for="ch" forName="spaceBetweenRectangles1" refType="w" refFor="ch" refForName="composite1" fact="0.28"/>
        <dgm:constr type="primFontSz" for="des" forName="L1TextContainer1" op="equ"/>
        <dgm:constr type="primFontSz" for="des" forName="L2TextContainer1" op="equ"/>
      </dgm:constrLst>
      <dgm:choose name="LayoutBasedOnCountOfNodes">
        <dgm:if name="LessThanOrEqualToTwoNodes" axis="ch" ptType="node" func="cnt" op="lte" val="2">
          <dgm:forEach name="nodesForEach1" axis="ch" ptType="node">
            <dgm:layoutNode name="composite1">
              <dgm:alg type="composite"/>
              <dgm:shape xmlns:r="http://schemas.openxmlformats.org/officeDocument/2006/relationships" r:blip="">
                <dgm:adjLst/>
              </dgm:shape>
              <dgm:choose name="CaseForLayoutDirection1">
                <dgm:if name="CaseForLayoutDirectionLTR1" func="var" arg="dir" op="equ" val="norm">
                  <dgm:choose name="CaseForPlacingNodesAboveAndBelowDividerLTR1">
                    <dgm:if name="CaseForPlacingNodeAboveDividerLTR1" axis="self" ptType="node" func="posOdd" op="equ" val="1">
                      <dgm:constrLst>
                        <dgm:constr type="w" for="ch" forName="ConnectorPoint1" refType="h" refFor="ch" refForName="DropPinPlaceHolder1" fact="0.325"/>
                        <dgm:constr type="h" for="ch" forName="ConnectorPoint1" refType="h" refFor="ch" refForName="DropPinPlaceHolder1" fact="0.325"/>
                        <dgm:constr type="ctrX" for="ch" forName="ConnectorPoint1" refType="ctrX" refFor="ch" refForName="ConnectLine1"/>
                        <dgm:constr type="ctrY" for="ch" forName="ConnectorPoint1" refType="t" refFor="ch" refForName="DropPinPlaceHolder1"/>
                        <dgm:constr type="w" for="ch" forName="DropPinPlaceHolder1" refType="h" fact="0.16"/>
                        <dgm:constr type="h" for="ch" forName="DropPinPlaceHolder1" refType="h" fact="0.16"/>
                        <dgm:constr type="t" for="ch" forName="DropPinPlaceHolder1" refType="h" fact="0"/>
                        <dgm:constr type="l" for="ch" forName="DropPinPlaceHolder1" refType="w" fact="0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t" for="ch" forName="L2TextContainer1" refType="h" fact="0.16"/>
                        <dgm:constr type="b" for="ch" forName="L2TextContainer1" refType="h" fact="0.45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t" for="ch" forName="L1TextContainer1" refType="h" fact="0.01"/>
                        <dgm:constr type="b" for="ch" forName="L1TextContainer1" refType="h" fact="0.16"/>
                        <dgm:constr type="w" for="ch" forName="ConnectLine1" refType="h" fact="0.01"/>
                        <dgm:constr type="ctrX" for="ch" forName="ConnectLine1" refType="ctrX" refFor="ch" refForName="DropPinPlaceHolder1"/>
                        <dgm:constr type="b" for="ch" forName="ConnectLine1" refType="h" fact="0.49"/>
                        <dgm:constr type="t" for="ch" forName="ConnectLine1" refType="b" refFor="ch" refForName="DropPinPlaceHolder1" fact="0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.5"/>
                      </dgm:constrLst>
                    </dgm:if>
                    <dgm:else name="CaseForPlacingNodeBelowDividerLTR1">
                      <dgm:constrLst>
                        <dgm:constr type="w" for="ch" forName="ConnectorPoint1" refType="h" refFor="ch" refForName="DropPinPlaceHolder1" fact="0.325"/>
                        <dgm:constr type="h" for="ch" forName="ConnectorPoint1" refType="h" refFor="ch" refForName="DropPinPlaceHolder1" fact="0.325"/>
                        <dgm:constr type="ctrX" for="ch" forName="ConnectorPoint1" refType="ctrX" refFor="ch" refForName="ConnectLine1"/>
                        <dgm:constr type="ctrY" for="ch" forName="ConnectorPoint1" refType="b" refFor="ch" refForName="DropPinPlaceHolder1"/>
                        <dgm:constr type="w" for="ch" forName="DropPinPlaceHolder1" refType="h" fact="0.16"/>
                        <dgm:constr type="h" for="ch" forName="DropPinPlaceHolder1" refType="h" fact="0.16"/>
                        <dgm:constr type="b" for="ch" forName="DropPinPlaceHolder1" refType="h"/>
                        <dgm:constr type="l" for="ch" forName="DropPinPlaceHolder1" refType="w" fact="0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b" for="ch" forName="L1TextContainer1" refType="h" fact="0.755"/>
                        <dgm:constr type="t" for="ch" forName="L1TextContainer1" refType="h" fact="0.6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b" for="ch" forName="L2TextContainer1" refType="h" fact="0.99"/>
                        <dgm:constr type="t" for="ch" forName="L2TextContainer1" refType="h" fact="0.755"/>
                        <dgm:constr type="w" for="ch" forName="ConnectLine1" refType="h" fact="0.01"/>
                        <dgm:constr type="ctrX" for="ch" forName="ConnectLine1" refType="ctrX" refFor="ch" refForName="DropPinPlaceHolder1"/>
                        <dgm:constr type="t" for="ch" forName="ConnectLine1" refType="h" fact="0.51"/>
                        <dgm:constr type="b" for="ch" forName="ConnectLine1" refType="b" refFor="ch" refForName="DropPinPlaceHolder1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"/>
                      </dgm:constrLst>
                    </dgm:else>
                  </dgm:choose>
                </dgm:if>
                <dgm:else name="CaseForLayoutDirectionRTL1">
                  <dgm:choose name="CaseForPlacingNodesAboveAndBelowDividerRTL1">
                    <dgm:if name="CaseForPlacingNodeAboveDividerRTL1" axis="self" ptType="node" func="posOdd" op="equ" val="1">
                      <dgm:constrLst>
                        <dgm:constr type="w" for="ch" forName="L1TextContainer1" refType="w" fact="0.83"/>
                        <dgm:constr type="l" for="ch" forName="L1TextContainer1" refType="w" fact="0"/>
                        <dgm:constr type="t" for="ch" forName="L1TextContainer1" refType="h" fact="0.01"/>
                        <dgm:constr type="b" for="ch" forName="L1TextContainer1" refType="h" fact="0.16"/>
                        <dgm:constr type="w" for="ch" forName="L2TextContainer1" refType="w" fact="0.83"/>
                        <dgm:constr type="l" for="ch" forName="L2TextContainer1" refType="w" fact="0"/>
                        <dgm:constr type="t" for="ch" forName="L2TextContainer1" refType="h" fact="0.16"/>
                        <dgm:constr type="b" for="ch" forName="L2TextContainer1" refType="h" fact="0.45"/>
                        <dgm:constr type="w" for="ch" forName="DropPinPlaceHolder1" refType="h" fact="0.16"/>
                        <dgm:constr type="h" for="ch" forName="DropPinPlaceHolder1" refType="h" fact="0.16"/>
                        <dgm:constr type="t" for="ch" forName="DropPinPlaceHolder1" refType="h" fact="0"/>
                        <dgm:constr type="r" for="ch" forName="DropPinPlaceHolder1" refType="w"/>
                        <dgm:constr type="w" for="ch" forName="ConnectLine1" refType="h" fact="0.01"/>
                        <dgm:constr type="ctrX" for="ch" forName="ConnectLine1" refType="ctrX" refFor="ch" refForName="DropPinPlaceHolder1"/>
                        <dgm:constr type="b" for="ch" forName="ConnectLine1" refType="h" fact="0.49"/>
                        <dgm:constr type="t" for="ch" forName="ConnectLine1" refType="b" refFor="ch" refForName="DropPinPlaceHolder1" fact="0"/>
                        <dgm:constr type="w" for="ch" forName="ConnectorPoint1" refType="h" refFor="ch" refForName="DropPinPlaceHolder1" fact="0.325"/>
                        <dgm:constr type="h" for="ch" forName="ConnectorPoint1" refType="h" refFor="ch" refForName="DropPinPlaceHolder1" fact="0.325"/>
                        <dgm:constr type="ctrX" for="ch" forName="ConnectorPoint1" refType="ctrX" refFor="ch" refForName="ConnectLine1"/>
                        <dgm:constr type="ctrY" for="ch" forName="ConnectorPoint1" refType="t" refFor="ch" refForName="DropPinPlaceHolder1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.5"/>
                      </dgm:constrLst>
                    </dgm:if>
                    <dgm:else name="CaseForPlacingNodeBelowDividerRTL1">
                      <dgm:constrLst>
                        <dgm:constr type="w" for="ch" forName="L1TextContainer1" refType="w" fact="0.83"/>
                        <dgm:constr type="l" for="ch" forName="L1TextContainer1" refType="w" fact="0"/>
                        <dgm:constr type="b" for="ch" forName="L1TextContainer1" refType="h" fact="0.755"/>
                        <dgm:constr type="t" for="ch" forName="L1TextContainer1" refType="h" fact="0.6"/>
                        <dgm:constr type="w" for="ch" forName="L2TextContainer1" refType="w" fact="0.83"/>
                        <dgm:constr type="l" for="ch" forName="L2TextContainer1" refType="w" fact="0"/>
                        <dgm:constr type="b" for="ch" forName="L2TextContainer1" refType="h" fact="0.99"/>
                        <dgm:constr type="t" for="ch" forName="L2TextContainer1" refType="h" fact="0.755"/>
                        <dgm:constr type="w" for="ch" forName="DropPinPlaceHolder1" refType="h" fact="0.16"/>
                        <dgm:constr type="h" for="ch" forName="DropPinPlaceHolder1" refType="h" fact="0.16"/>
                        <dgm:constr type="b" for="ch" forName="DropPinPlaceHolder1" refType="h"/>
                        <dgm:constr type="r" for="ch" forName="DropPinPlaceHolder1" refType="w"/>
                        <dgm:constr type="w" for="ch" forName="ConnectLine1" refType="h" fact="0.01"/>
                        <dgm:constr type="ctrX" for="ch" forName="ConnectLine1" refType="ctrX" refFor="ch" refForName="DropPinPlaceHolder1"/>
                        <dgm:constr type="t" for="ch" forName="ConnectLine1" refType="h" fact="0.51"/>
                        <dgm:constr type="b" for="ch" forName="ConnectLine1" refType="b" refFor="ch" refForName="DropPinPlaceHolder1"/>
                        <dgm:constr type="w" for="ch" forName="ConnectorPoint1" refType="h" refFor="ch" refForName="DropPinPlaceHolder1" fact="0.325"/>
                        <dgm:constr type="h" for="ch" forName="ConnectorPoint1" refType="h" refFor="ch" refForName="DropPinPlaceHolder1" fact="0.325"/>
                        <dgm:constr type="ctrX" for="ch" forName="ConnectorPoint1" refType="ctrX" refFor="ch" refForName="ConnectLine1"/>
                        <dgm:constr type="ctrY" for="ch" forName="ConnectorPoint1" refType="b" refFor="ch" refForName="DropPinPlaceHolder1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"/>
                      </dgm:constrLst>
                    </dgm:else>
                  </dgm:choose>
                </dgm:else>
              </dgm:choose>
              <dgm:layoutNode name="DropPinPlaceHolder1">
                <dgm:alg type="composite"/>
                <dgm:shape xmlns:r="http://schemas.openxmlformats.org/officeDocument/2006/relationships" r:blip="">
                  <dgm:adjLst/>
                </dgm:shape>
                <dgm:constrLst>
                  <dgm:constr type="w" for="ch" forName="DropPin1" refType="w" fact="0"/>
                  <dgm:constr type="h" for="ch" forName="DropPin1" refType="h" fact="0"/>
                  <dgm:constr type="ctrX" for="ch" forName="DropPin1" refType="w" fact="0"/>
                  <dgm:constr type="ctrY" for="ch" forName="DropPin1" refType="h" fact="0"/>
                  <dgm:constr type="w" for="ch" forName="Ellipse1" refType="w" refFor="ch" refForName="DropPin1" fact="0"/>
                  <dgm:constr type="h" for="ch" forName="Ellipse1" refType="w" refFor="ch" refForName="DropPin1" fact="0"/>
                  <dgm:constr type="ctrX" for="ch" forName="Ellipse1" refType="ctrX" refFor="ch" refForName="DropPin1" fact="0"/>
                  <dgm:constr type="ctrY" for="ch" forName="Ellipse1" refType="ctrY" refFor="ch" refForName="DropPin1" fact="0"/>
                </dgm:constrLst>
                <dgm:layoutNode name="DropPin1" styleLbl="alignNode1">
                  <dgm:alg type="sp"/>
                  <dgm:choose name="CaseForPlacingTearDropAboveAndBelowDivider1">
                    <dgm:if name="CaseForPlacingTearDropAboveDivider1" axis="self" ptType="node" func="posOdd" op="equ" val="1">
                      <dgm:shape xmlns:r="http://schemas.openxmlformats.org/officeDocument/2006/relationships" rot="135" type="teardrop" r:blip="">
                        <dgm:adjLst>
                          <dgm:adj idx="1" val="1.15"/>
                        </dgm:adjLst>
                      </dgm:shape>
                    </dgm:if>
                    <dgm:else name="CaseForPlacingTearDropBelowDivider1">
                      <dgm:shape xmlns:r="http://schemas.openxmlformats.org/officeDocument/2006/relationships" rot="-45" type="teardrop" r:blip="">
                        <dgm:adjLst>
                          <dgm:adj idx="1" val="1.15"/>
                        </dgm:adjLst>
                      </dgm:shape>
                    </dgm:else>
                  </dgm:choose>
                  <dgm:presOf/>
                  <dgm:constrLst/>
                </dgm:layoutNode>
                <dgm:layoutNode name="Ellipse1" styleLbl="fgAcc1" moveWith="DropPin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</dgm:layoutNode>
              </dgm:layoutNode>
              <dgm:layoutNode name="L2TextContainer1" styleLbl="revTx" moveWith="L1TextContainer">
                <dgm:varLst>
                  <dgm:bulletEnabled val="1"/>
                </dgm:varLst>
                <dgm:choose name="casesForTxtDirLogic1">
                  <dgm:if name="Name771" axis="self" ptType="node" func="posOdd" op="equ" val="1">
                    <dgm:alg type="tx">
                      <dgm:param type="txAnchorVert" val="t"/>
                      <dgm:param type="parTxLTRAlign" val="l"/>
                      <dgm:param type="parTxRTLAlign" val="l"/>
                      <dgm:param type="txAnchorVertCh" val="t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/>
                      <dgm:constr type="tMarg"/>
                      <dgm:constr type="bMarg"/>
                    </dgm:constrLst>
                  </dgm:if>
                  <dgm:else name="Name881">
                    <dgm:alg type="tx">
                      <dgm:param type="txAnchorVert" val="t"/>
                      <dgm:param type="parTxLTRAlign" val="l"/>
                      <dgm:param type="parTxRTLAlign" val="l"/>
                      <dgm:param type="txAnchorVertCh" val="t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/>
                      <dgm:constr type="tMarg"/>
                      <dgm:constr type="bMarg"/>
                    </dgm:constrLst>
                  </dgm:else>
                </dgm:choose>
                <dgm:shape xmlns:r="http://schemas.openxmlformats.org/officeDocument/2006/relationships" type="rect" r:blip="">
                  <dgm:adjLst/>
                </dgm:shape>
                <dgm:presOf axis="des" ptType="node"/>
                <dgm:ruleLst>
                  <dgm:rule type="primFontSz" val="5" fact="NaN" max="NaN"/>
                </dgm:ruleLst>
              </dgm:layoutNode>
              <dgm:layoutNode name="L1TextContainer1" styleLbl="revTx">
                <dgm:varLst>
                  <dgm:chMax val="1"/>
                  <dgm:chPref val="1"/>
                  <dgm:bulletEnabled val="1"/>
                </dgm:varLst>
                <dgm:alg type="tx">
                  <dgm:param type="txAnchorVert" val="mid"/>
                  <dgm:param type="parTxLTRAlign" val="l"/>
                  <dgm:param type="parTxRTLAlign" val="l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  <dgm:layoutNode name="ConnectLine1" styleLbl="dkBgShp">
                <dgm:alg type="sp"/>
                <dgm:shape xmlns:r="http://schemas.openxmlformats.org/officeDocument/2006/relationships" type="rect" r:blip="">
                  <dgm:adjLst/>
                </dgm:shape>
                <dgm:presOf/>
                <dgm:constrLst/>
              </dgm:layoutNode>
              <dgm:layoutNode name="ConnectorPoint1" moveWith="ConnectLine1">
                <dgm:alg type="composite"/>
                <dgm:shape xmlns:r="http://schemas.openxmlformats.org/officeDocument/2006/relationships" r:blip="">
                  <dgm:adjLst/>
                </dgm:shape>
                <dgm:presOf/>
                <dgm:constrLst>
                  <dgm:constr type="w" for="ch" forName="Bullet1" refType="w"/>
                  <dgm:constr type="h" for="ch" forName="Bullet1" refType="w"/>
                  <dgm:constr type="ctrX" for="ch" forName="Bullet1" refType="w" fact="0.5"/>
                  <dgm:constr type="ctrY" for="ch" forName="Bullet1" refType="h" fact="0.5"/>
                </dgm:constrLst>
                <dgm:layoutNode name="Bullet1" styleLbl="lnNode1">
                  <dgm:alg type="sp"/>
                  <dgm:shape xmlns:r="http://schemas.openxmlformats.org/officeDocument/2006/relationships" type="ellipse" r:blip="" zOrderOff="10">
                    <dgm:adjLst/>
                  </dgm:shape>
                  <dgm:presOf/>
                  <dgm:constrLst/>
                </dgm:layoutNode>
              </dgm:layoutNode>
              <dgm:layoutNode name="EmptyPlaceHolder1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</dgm:layoutNode>
            </dgm:layoutNode>
            <dgm:forEach name="Name281" axis="followSib" ptType="sibTrans" cnt="1">
              <dgm:layoutNode name="spaceBetweenRectangles1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forEach>
          </dgm:forEach>
        </dgm:if>
        <dgm:else name="MoreThanTwoNodes">
          <dgm:forEach name="nodesForEach" axis="ch" ptType="node">
            <dgm:layoutNode name="composite">
              <dgm:alg type="composite"/>
              <dgm:shape xmlns:r="http://schemas.openxmlformats.org/officeDocument/2006/relationships" r:blip="">
                <dgm:adjLst/>
              </dgm:shape>
              <dgm:choose name="CaseForLayoutDirection">
                <dgm:if name="CaseForLayoutDirectionLTR" func="var" arg="dir" op="equ" val="norm">
                  <dgm:choose name="CaseForPlacingNodesAboveAndBelowDividerLTR">
                    <dgm:if name="CaseForPlacingNodeAboveDividerLTR" axis="self" ptType="node" func="posOdd" op="equ" val="1">
                      <dgm:constrLst>
                        <dgm:constr type="w" for="ch" forName="ConnectorPoint" refType="h" refFor="ch" refForName="DropPinPlaceHolder" fact="0.325"/>
                        <dgm:constr type="h" for="ch" forName="ConnectorPoint" refType="h" refFor="ch" refForName="DropPinPlaceHolder" fact="0.325"/>
                        <dgm:constr type="ctrX" for="ch" forName="ConnectorPoint" refType="ctrX" refFor="ch" refForName="ConnectLine"/>
                        <dgm:constr type="ctrY" for="ch" forName="ConnectorPoint" refType="t" refFor="ch" refForName="DropPinPlaceHolder"/>
                        <dgm:constr type="w" for="ch" forName="DropPinPlaceHolder" refType="h" fact="0.16"/>
                        <dgm:constr type="h" for="ch" forName="DropPinPlaceHolder" refType="h" fact="0.16"/>
                        <dgm:constr type="t" for="ch" forName="DropPinPlaceHolder" refType="h" fact="0"/>
                        <dgm:constr type="l" for="ch" forName="DropPinPlaceHolder" refType="w" fact="0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t" for="ch" forName="L2TextContainer" refType="h" fact="0.16"/>
                        <dgm:constr type="b" for="ch" forName="L2TextContainer" refType="h" fact="0.45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t" for="ch" forName="L1TextContainer" refType="h" fact="0.01"/>
                        <dgm:constr type="b" for="ch" forName="L1TextContainer" refType="h" fact="0.16"/>
                        <dgm:constr type="w" for="ch" forName="ConnectLine" refType="h" fact="0.01"/>
                        <dgm:constr type="ctrX" for="ch" forName="ConnectLine" refType="ctrX" refFor="ch" refForName="DropPinPlaceHolder"/>
                        <dgm:constr type="b" for="ch" forName="ConnectLine" refType="h" fact="0.49"/>
                        <dgm:constr type="t" for="ch" forName="ConnectLine" refType="b" refFor="ch" refForName="DropPinPlaceHolder" fact="0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.5"/>
                      </dgm:constrLst>
                    </dgm:if>
                    <dgm:else name="CaseForPlacingNodeBelowDividerLTR">
                      <dgm:constrLst>
                        <dgm:constr type="w" for="ch" forName="ConnectorPoint" refType="h" refFor="ch" refForName="DropPinPlaceHolder" fact="0.325"/>
                        <dgm:constr type="h" for="ch" forName="ConnectorPoint" refType="h" refFor="ch" refForName="DropPinPlaceHolder" fact="0.325"/>
                        <dgm:constr type="ctrX" for="ch" forName="ConnectorPoint" refType="ctrX" refFor="ch" refForName="ConnectLine"/>
                        <dgm:constr type="ctrY" for="ch" forName="ConnectorPoint" refType="b" refFor="ch" refForName="DropPinPlaceHolder"/>
                        <dgm:constr type="w" for="ch" forName="DropPinPlaceHolder" refType="h" fact="0.16"/>
                        <dgm:constr type="h" for="ch" forName="DropPinPlaceHolder" refType="h" fact="0.16"/>
                        <dgm:constr type="b" for="ch" forName="DropPinPlaceHolder" refType="h"/>
                        <dgm:constr type="l" for="ch" forName="DropPinPlaceHolder" refType="w" fact="0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b" for="ch" forName="L1TextContainer" refType="h" fact="0.755"/>
                        <dgm:constr type="t" for="ch" forName="L1TextContainer" refType="h" fact="0.6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b" for="ch" forName="L2TextContainer" refType="h" fact="0.99"/>
                        <dgm:constr type="t" for="ch" forName="L2TextContainer" refType="h" fact="0.755"/>
                        <dgm:constr type="w" for="ch" forName="ConnectLine" refType="h" fact="0.01"/>
                        <dgm:constr type="ctrX" for="ch" forName="ConnectLine" refType="ctrX" refFor="ch" refForName="DropPinPlaceHolder"/>
                        <dgm:constr type="t" for="ch" forName="ConnectLine" refType="h" fact="0.51"/>
                        <dgm:constr type="b" for="ch" forName="ConnectLine" refType="b" refFor="ch" refForName="DropPinPlaceHolder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"/>
                      </dgm:constrLst>
                    </dgm:else>
                  </dgm:choose>
                </dgm:if>
                <dgm:else name="CaseForLayoutDirectionRTL">
                  <dgm:choose name="CaseForPlacingNodesAboveAndBelowDividerRTL">
                    <dgm:if name="CaseForPlacingNodeAboveDividerRTL" axis="self" ptType="node" func="posOdd" op="equ" val="1">
                      <dgm:constrLst>
                        <dgm:constr type="w" for="ch" forName="L1TextContainer" refType="w" fact="0.83"/>
                        <dgm:constr type="l" for="ch" forName="L1TextContainer" refType="w" fact="0"/>
                        <dgm:constr type="t" for="ch" forName="L1TextContainer" refType="h" fact="0.01"/>
                        <dgm:constr type="b" for="ch" forName="L1TextContainer" refType="h" fact="0.16"/>
                        <dgm:constr type="w" for="ch" forName="L2TextContainer" refType="w" fact="0.83"/>
                        <dgm:constr type="l" for="ch" forName="L2TextContainer" refType="w" fact="0"/>
                        <dgm:constr type="t" for="ch" forName="L2TextContainer" refType="h" fact="0.16"/>
                        <dgm:constr type="b" for="ch" forName="L2TextContainer" refType="h" fact="0.45"/>
                        <dgm:constr type="w" for="ch" forName="DropPinPlaceHolder" refType="h" fact="0.16"/>
                        <dgm:constr type="h" for="ch" forName="DropPinPlaceHolder" refType="h" fact="0.16"/>
                        <dgm:constr type="t" for="ch" forName="DropPinPlaceHolder" refType="h" fact="0"/>
                        <dgm:constr type="r" for="ch" forName="DropPinPlaceHolder" refType="w"/>
                        <dgm:constr type="w" for="ch" forName="ConnectLine" refType="h" fact="0.01"/>
                        <dgm:constr type="ctrX" for="ch" forName="ConnectLine" refType="ctrX" refFor="ch" refForName="DropPinPlaceHolder"/>
                        <dgm:constr type="b" for="ch" forName="ConnectLine" refType="h" fact="0.49"/>
                        <dgm:constr type="t" for="ch" forName="ConnectLine" refType="b" refFor="ch" refForName="DropPinPlaceHolder" fact="0"/>
                        <dgm:constr type="w" for="ch" forName="ConnectorPoint" refType="h" refFor="ch" refForName="DropPinPlaceHolder" fact="0.325"/>
                        <dgm:constr type="h" for="ch" forName="ConnectorPoint" refType="h" refFor="ch" refForName="DropPinPlaceHolder" fact="0.325"/>
                        <dgm:constr type="ctrX" for="ch" forName="ConnectorPoint" refType="ctrX" refFor="ch" refForName="ConnectLine"/>
                        <dgm:constr type="ctrY" for="ch" forName="ConnectorPoint" refType="t" refFor="ch" refForName="DropPinPlaceHolder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.5"/>
                      </dgm:constrLst>
                    </dgm:if>
                    <dgm:else name="CaseForPlacingNodeBelowDividerRTL">
                      <dgm:constrLst>
                        <dgm:constr type="w" for="ch" forName="L1TextContainer" refType="w" fact="0.83"/>
                        <dgm:constr type="l" for="ch" forName="L1TextContainer" refType="w" fact="0"/>
                        <dgm:constr type="b" for="ch" forName="L1TextContainer" refType="h" fact="0.755"/>
                        <dgm:constr type="t" for="ch" forName="L1TextContainer" refType="h" fact="0.6"/>
                        <dgm:constr type="w" for="ch" forName="L2TextContainer" refType="w" fact="0.83"/>
                        <dgm:constr type="l" for="ch" forName="L2TextContainer" refType="w" fact="0"/>
                        <dgm:constr type="b" for="ch" forName="L2TextContainer" refType="h" fact="0.99"/>
                        <dgm:constr type="t" for="ch" forName="L2TextContainer" refType="h" fact="0.755"/>
                        <dgm:constr type="w" for="ch" forName="DropPinPlaceHolder" refType="h" fact="0.16"/>
                        <dgm:constr type="h" for="ch" forName="DropPinPlaceHolder" refType="h" fact="0.16"/>
                        <dgm:constr type="b" for="ch" forName="DropPinPlaceHolder" refType="h"/>
                        <dgm:constr type="r" for="ch" forName="DropPinPlaceHolder" refType="w"/>
                        <dgm:constr type="w" for="ch" forName="ConnectLine" refType="h" fact="0.01"/>
                        <dgm:constr type="ctrX" for="ch" forName="ConnectLine" refType="ctrX" refFor="ch" refForName="DropPinPlaceHolder"/>
                        <dgm:constr type="t" for="ch" forName="ConnectLine" refType="h" fact="0.51"/>
                        <dgm:constr type="b" for="ch" forName="ConnectLine" refType="b" refFor="ch" refForName="DropPinPlaceHolder"/>
                        <dgm:constr type="w" for="ch" forName="ConnectorPoint" refType="h" refFor="ch" refForName="DropPinPlaceHolder" fact="0.325"/>
                        <dgm:constr type="h" for="ch" forName="ConnectorPoint" refType="h" refFor="ch" refForName="DropPinPlaceHolder" fact="0.325"/>
                        <dgm:constr type="ctrX" for="ch" forName="ConnectorPoint" refType="ctrX" refFor="ch" refForName="ConnectLine"/>
                        <dgm:constr type="ctrY" for="ch" forName="ConnectorPoint" refType="b" refFor="ch" refForName="DropPinPlaceHolder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"/>
                      </dgm:constrLst>
                    </dgm:else>
                  </dgm:choose>
                </dgm:else>
              </dgm:choose>
              <dgm:layoutNode name="DropPinPlaceHolder">
                <dgm:alg type="composite"/>
                <dgm:shape xmlns:r="http://schemas.openxmlformats.org/officeDocument/2006/relationships" r:blip="">
                  <dgm:adjLst/>
                </dgm:shape>
                <dgm:constrLst>
                  <dgm:constr type="w" for="ch" forName="DropPin" refType="w" fact="0"/>
                  <dgm:constr type="h" for="ch" forName="DropPin" refType="h" fact="0"/>
                  <dgm:constr type="ctrX" for="ch" forName="DropPin" refType="w" fact="0"/>
                  <dgm:constr type="ctrY" for="ch" forName="DropPin" refType="h" fact="0"/>
                  <dgm:constr type="w" for="ch" forName="Ellipse" refType="w" refFor="ch" refForName="DropPin" fact="0"/>
                  <dgm:constr type="h" for="ch" forName="Ellipse" refType="w" refFor="ch" refForName="DropPin" fact="0"/>
                  <dgm:constr type="ctrX" for="ch" forName="Ellipse" refType="ctrX" refFor="ch" refForName="DropPin" fact="0"/>
                  <dgm:constr type="ctrY" for="ch" forName="Ellipse" refType="ctrY" refFor="ch" refForName="DropPin" fact="0"/>
                </dgm:constrLst>
                <dgm:layoutNode name="DropPin" styleLbl="alignNode1">
                  <dgm:alg type="sp"/>
                  <dgm:choose name="CaseForPlacingTearDropAboveAndBelowDivider">
                    <dgm:if name="CaseForPlacingTearDropAboveDivider" axis="self" ptType="node" func="posOdd" op="equ" val="1">
                      <dgm:shape xmlns:r="http://schemas.openxmlformats.org/officeDocument/2006/relationships" rot="135" type="teardrop" r:blip="">
                        <dgm:adjLst>
                          <dgm:adj idx="1" val="1.15"/>
                        </dgm:adjLst>
                      </dgm:shape>
                    </dgm:if>
                    <dgm:else name="CaseForPlacingTearDropBelowDivider">
                      <dgm:shape xmlns:r="http://schemas.openxmlformats.org/officeDocument/2006/relationships" rot="-45" type="teardrop" r:blip="">
                        <dgm:adjLst>
                          <dgm:adj idx="1" val="1.15"/>
                        </dgm:adjLst>
                      </dgm:shape>
                    </dgm:else>
                  </dgm:choose>
                  <dgm:presOf/>
                  <dgm:constrLst/>
                </dgm:layoutNode>
                <dgm:layoutNode name="Ellipse" styleLbl="fgAcc1" moveWith="DropPin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</dgm:layoutNode>
              </dgm:layoutNode>
              <dgm:layoutNode name="L2TextContainer" styleLbl="revTx" moveWith="L1TextContainer">
                <dgm:varLst>
                  <dgm:bulletEnabled val="1"/>
                </dgm:varLst>
                <dgm:choose name="casesForTxtDirLogic">
                  <dgm:if name="Name77" axis="self" ptType="node" func="posOdd" op="equ" val="1">
                    <dgm:alg type="tx">
                      <dgm:param type="txAnchorVert" val="t"/>
                      <dgm:param type="parTxLTRAlign" val="l"/>
                      <dgm:param type="parTxRTLAlign" val="l"/>
                      <dgm:param type="txAnchorVertCh" val="t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/>
                      <dgm:constr type="tMarg"/>
                      <dgm:constr type="bMarg"/>
                    </dgm:constrLst>
                  </dgm:if>
                  <dgm:else name="Name88">
                    <dgm:alg type="tx">
                      <dgm:param type="txAnchorVert" val="t"/>
                      <dgm:param type="parTxLTRAlign" val="l"/>
                      <dgm:param type="parTxRTLAlign" val="l"/>
                      <dgm:param type="txAnchorVertCh" val="t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/>
                      <dgm:constr type="tMarg"/>
                      <dgm:constr type="bMarg"/>
                    </dgm:constrLst>
                  </dgm:else>
                </dgm:choose>
                <dgm:shape xmlns:r="http://schemas.openxmlformats.org/officeDocument/2006/relationships" type="rect" r:blip="">
                  <dgm:adjLst/>
                </dgm:shape>
                <dgm:presOf axis="des" ptType="node"/>
                <dgm:ruleLst>
                  <dgm:rule type="primFontSz" val="5" fact="NaN" max="NaN"/>
                </dgm:ruleLst>
              </dgm:layoutNode>
              <dgm:layoutNode name="L1TextContainer" styleLbl="revTx">
                <dgm:varLst>
                  <dgm:chMax val="1"/>
                  <dgm:chPref val="1"/>
                  <dgm:bulletEnabled val="1"/>
                </dgm:varLst>
                <dgm:alg type="tx">
                  <dgm:param type="txAnchorVert" val="mid"/>
                  <dgm:param type="parTxLTRAlign" val="l"/>
                  <dgm:param type="parTxRTLAlign" val="l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  <dgm:layoutNode name="ConnectLine" styleLbl="dkBgShp">
                <dgm:alg type="sp"/>
                <dgm:shape xmlns:r="http://schemas.openxmlformats.org/officeDocument/2006/relationships" type="rect" r:blip="">
                  <dgm:adjLst/>
                </dgm:shape>
                <dgm:presOf/>
                <dgm:constrLst/>
              </dgm:layoutNode>
              <dgm:layoutNode name="ConnectorPoint" moveWith="ConnectLine">
                <dgm:alg type="composite"/>
                <dgm:shape xmlns:r="http://schemas.openxmlformats.org/officeDocument/2006/relationships" r:blip="">
                  <dgm:adjLst/>
                </dgm:shape>
                <dgm:presOf/>
                <dgm:constrLst>
                  <dgm:constr type="w" for="ch" forName="Bullet" refType="w"/>
                  <dgm:constr type="h" for="ch" forName="Bullet" refType="w"/>
                  <dgm:constr type="ctrX" for="ch" forName="Bullet" refType="w" fact="0.5"/>
                  <dgm:constr type="ctrY" for="ch" forName="Bullet" refType="h" fact="0.5"/>
                </dgm:constrLst>
                <dgm:layoutNode name="Bullet" styleLbl="lnNode1">
                  <dgm:alg type="sp"/>
                  <dgm:shape xmlns:r="http://schemas.openxmlformats.org/officeDocument/2006/relationships" type="ellipse" r:blip="" zOrderOff="10">
                    <dgm:adjLst/>
                  </dgm:shape>
                  <dgm:presOf/>
                  <dgm:constrLst/>
                </dgm:layoutNode>
              </dgm:layoutNode>
              <dgm:layoutNode name="EmptyPlaceHolder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</dgm:layoutNode>
            </dgm:layoutNode>
            <dgm:forEach name="Name28" axis="followSib" ptType="sibTrans" cnt="1">
              <dgm:layoutNode name="spaceBetweenRectangles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forEach>
          </dgm:forEach>
        </dgm:else>
      </dgm:choose>
    </dgm:layoutNode>
  </dgm:layoutNode>
  <dgm:extLst>
    <a:ext uri="{68A01E43-0DF5-4B5B-8FA6-DAF915123BFB}">
      <dgm1612:lstStyle xmlns:dgm1612="http://schemas.microsoft.com/office/drawing/2016/12/diagram">
        <a:lvl1pPr>
          <a:defRPr b="1"/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enn1">
  <dgm:title val=""/>
  <dgm:desc val=""/>
  <dgm:catLst>
    <dgm:cat type="relationship" pri="28000"/>
    <dgm:cat type="convert" pri="19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clrData>
  <dgm:layoutNode name="compositeShape">
    <dgm:varLst>
      <dgm:chMax val="7"/>
      <dgm:dir/>
      <dgm:resizeHandles val="exact"/>
    </dgm:varLst>
    <dgm:choose name="Name0">
      <dgm:if name="Name1" axis="ch" ptType="node" func="cnt" op="equ" val="1">
        <dgm:alg type="composite">
          <dgm:param type="ar" val="1"/>
        </dgm:alg>
      </dgm:if>
      <dgm:if name="Name2" axis="ch" ptType="node" func="cnt" op="equ" val="2">
        <dgm:alg type="composite">
          <dgm:param type="ar" val="1.792"/>
        </dgm:alg>
      </dgm:if>
      <dgm:if name="Name3" axis="ch" ptType="node" func="cnt" op="equ" val="3">
        <dgm:alg type="composite">
          <dgm:param type="ar" val="1"/>
        </dgm:alg>
      </dgm:if>
      <dgm:if name="Name4" axis="ch" ptType="node" func="cnt" op="equ" val="4">
        <dgm:alg type="composite">
          <dgm:param type="ar" val="1"/>
        </dgm:alg>
      </dgm:if>
      <dgm:if name="Name5" axis="ch" ptType="node" func="cnt" op="equ" val="5">
        <dgm:alg type="composite">
          <dgm:param type="ar" val="1.4"/>
        </dgm:alg>
      </dgm:if>
      <dgm:if name="Name6" axis="ch" ptType="node" func="cnt" op="equ" val="6">
        <dgm:alg type="composite">
          <dgm:param type="ar" val="1.285"/>
        </dgm:alg>
      </dgm:if>
      <dgm:if name="Name7" axis="ch" ptType="node" func="cnt" op="equ" val="7">
        <dgm:alg type="composite">
          <dgm:param type="ar" val="1.359"/>
        </dgm:alg>
      </dgm:if>
      <dgm:else name="Name8">
        <dgm:alg type="composite">
          <dgm:param type="ar" val="1.359"/>
        </dgm:alg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equ" val="1">
        <dgm:constrLst>
          <dgm:constr type="ctrX" for="ch" forName="circ1TxSh" refType="w" fact="0.5"/>
          <dgm:constr type="ctrY" for="ch" forName="circ1TxSh" refType="h" fact="0.5"/>
          <dgm:constr type="w" for="ch" forName="circ1TxSh" refType="w"/>
          <dgm:constr type="h" for="ch" forName="circ1TxSh" refType="h"/>
          <dgm:constr type="primFontSz" for="ch" ptType="node" op="equ"/>
        </dgm:constrLst>
      </dgm:if>
      <dgm:if name="Name11" axis="ch" ptType="node" func="cnt" op="equ" val="2">
        <dgm:constrLst>
          <dgm:constr type="ctrX" for="ch" forName="circ1" refType="w" fact="0.3"/>
          <dgm:constr type="ctrY" for="ch" forName="circ1" refType="h" fact="0.5"/>
          <dgm:constr type="w" for="ch" forName="circ1" refType="w" fact="0.555"/>
          <dgm:constr type="h" for="ch" forName="circ1" refType="h" fact="0.99456"/>
          <dgm:constr type="l" for="ch" forName="circ1Tx" refType="w" fact="0.1"/>
          <dgm:constr type="t" for="ch" forName="circ1Tx" refType="h" fact="0.12"/>
          <dgm:constr type="w" for="ch" forName="circ1Tx" refType="w" fact="0.32"/>
          <dgm:constr type="h" for="ch" forName="circ1Tx" refType="h" fact="0.76"/>
          <dgm:constr type="ctrX" for="ch" forName="circ2" refType="w" fact="0.7"/>
          <dgm:constr type="ctrY" for="ch" forName="circ2" refType="h" fact="0.5"/>
          <dgm:constr type="w" for="ch" forName="circ2" refType="w" fact="0.555"/>
          <dgm:constr type="h" for="ch" forName="circ2" refType="h" fact="0.99456"/>
          <dgm:constr type="l" for="ch" forName="circ2Tx" refType="w" fact="0.58"/>
          <dgm:constr type="t" for="ch" forName="circ2Tx" refType="h" fact="0.12"/>
          <dgm:constr type="w" for="ch" forName="circ2Tx" refType="w" fact="0.32"/>
          <dgm:constr type="h" for="ch" forName="circ2Tx" refType="h" fact="0.76"/>
          <dgm:constr type="primFontSz" for="ch" ptType="node" op="equ"/>
        </dgm:constrLst>
      </dgm:if>
      <dgm:if name="Name12" axis="ch" ptType="node" func="cnt" op="equ" val="3">
        <dgm:constrLst>
          <dgm:constr type="ctrX" for="ch" forName="circ1" refType="w" fact="0.5"/>
          <dgm:constr type="ctrY" for="ch" forName="circ1" refType="w" fact="0.25"/>
          <dgm:constr type="w" for="ch" forName="circ1" refType="w" fact="0.6"/>
          <dgm:constr type="h" for="ch" forName="circ1" refType="h" fact="0.6"/>
          <dgm:constr type="l" for="ch" forName="circ1Tx" refType="w" fact="0.28"/>
          <dgm:constr type="t" for="ch" forName="circ1Tx" refType="h" fact="0.055"/>
          <dgm:constr type="w" for="ch" forName="circ1Tx" refType="w" fact="0.44"/>
          <dgm:constr type="h" for="ch" forName="circ1Tx" refType="h" fact="0.27"/>
          <dgm:constr type="ctrX" for="ch" forName="circ2" refType="w" fact="0.7165"/>
          <dgm:constr type="ctrY" for="ch" forName="circ2" refType="w" fact="0.625"/>
          <dgm:constr type="w" for="ch" forName="circ2" refType="w" fact="0.6"/>
          <dgm:constr type="h" for="ch" forName="circ2" refType="h" fact="0.6"/>
          <dgm:constr type="l" for="ch" forName="circ2Tx" refType="w" fact="0.6"/>
          <dgm:constr type="t" for="ch" forName="circ2Tx" refType="h" fact="0.48"/>
          <dgm:constr type="w" for="ch" forName="circ2Tx" refType="w" fact="0.36"/>
          <dgm:constr type="h" for="ch" forName="circ2Tx" refType="h" fact="0.33"/>
          <dgm:constr type="ctrX" for="ch" forName="circ3" refType="w" fact="0.2835"/>
          <dgm:constr type="ctrY" for="ch" forName="circ3" refType="w" fact="0.625"/>
          <dgm:constr type="w" for="ch" forName="circ3" refType="w" fact="0.6"/>
          <dgm:constr type="h" for="ch" forName="circ3" refType="h" fact="0.6"/>
          <dgm:constr type="l" for="ch" forName="circ3Tx" refType="w" fact="0.04"/>
          <dgm:constr type="t" for="ch" forName="circ3Tx" refType="h" fact="0.48"/>
          <dgm:constr type="w" for="ch" forName="circ3Tx" refType="w" fact="0.36"/>
          <dgm:constr type="h" for="ch" forName="circ3Tx" refType="h" fact="0.33"/>
          <dgm:constr type="primFontSz" for="ch" ptType="node" op="equ"/>
        </dgm:constrLst>
      </dgm:if>
      <dgm:if name="Name13" axis="ch" ptType="node" func="cnt" op="equ" val="4">
        <dgm:constrLst>
          <dgm:constr type="ctrX" for="ch" forName="circ1" refType="w" fact="0.5"/>
          <dgm:constr type="ctrY" for="ch" forName="circ1" refType="w" fact="0.27"/>
          <dgm:constr type="w" for="ch" forName="circ1" refType="w" fact="0.52"/>
          <dgm:constr type="h" for="ch" forName="circ1" refType="h" fact="0.52"/>
          <dgm:constr type="l" for="ch" forName="circ1Tx" refType="w" fact="0.3"/>
          <dgm:constr type="t" for="ch" forName="circ1Tx" refType="h" fact="0.08"/>
          <dgm:constr type="w" for="ch" forName="circ1Tx" refType="w" fact="0.4"/>
          <dgm:constr type="h" for="ch" forName="circ1Tx" refType="h" fact="0.165"/>
          <dgm:constr type="ctrX" for="ch" forName="circ2" refType="w" fact="0.73"/>
          <dgm:constr type="ctrY" for="ch" forName="circ2" refType="w" fact="0.5"/>
          <dgm:constr type="w" for="ch" forName="circ2" refType="w" fact="0.52"/>
          <dgm:constr type="h" for="ch" forName="circ2" refType="h" fact="0.52"/>
          <dgm:constr type="r" for="ch" forName="circ2Tx" refType="w" fact="0.95"/>
          <dgm:constr type="t" for="ch" forName="circ2Tx" refType="h" fact="0.3"/>
          <dgm:constr type="w" for="ch" forName="circ2Tx" refType="w" fact="0.2"/>
          <dgm:constr type="h" for="ch" forName="circ2Tx" refType="h" fact="0.4"/>
          <dgm:constr type="ctrX" for="ch" forName="circ3" refType="w" fact="0.5"/>
          <dgm:constr type="ctrY" for="ch" forName="circ3" refType="w" fact="0.73"/>
          <dgm:constr type="w" for="ch" forName="circ3" refType="w" fact="0.52"/>
          <dgm:constr type="h" for="ch" forName="circ3" refType="h" fact="0.52"/>
          <dgm:constr type="l" for="ch" forName="circ3Tx" refType="w" fact="0.3"/>
          <dgm:constr type="b" for="ch" forName="circ3Tx" refType="h" fact="0.92"/>
          <dgm:constr type="w" for="ch" forName="circ3Tx" refType="w" fact="0.4"/>
          <dgm:constr type="h" for="ch" forName="circ3Tx" refType="h" fact="0.165"/>
          <dgm:constr type="ctrX" for="ch" forName="circ4" refType="w" fact="0.27"/>
          <dgm:constr type="ctrY" for="ch" forName="circ4" refType="h" fact="0.5"/>
          <dgm:constr type="w" for="ch" forName="circ4" refType="w" fact="0.52"/>
          <dgm:constr type="h" for="ch" forName="circ4" refType="h" fact="0.52"/>
          <dgm:constr type="l" for="ch" forName="circ4Tx" refType="w" fact="0.05"/>
          <dgm:constr type="t" for="ch" forName="circ4Tx" refType="h" fact="0.3"/>
          <dgm:constr type="w" for="ch" forName="circ4Tx" refType="w" fact="0.2"/>
          <dgm:constr type="h" for="ch" forName="circ4Tx" refType="h" fact="0.4"/>
          <dgm:constr type="primFontSz" for="ch" ptType="node" op="equ"/>
        </dgm:constrLst>
      </dgm:if>
      <dgm:if name="Name14" axis="ch" ptType="node" func="cnt" op="equ" val="5">
        <dgm:constrLst>
          <dgm:constr type="ctrX" for="ch" forName="circ1" refType="w" fact="0.5"/>
          <dgm:constr type="ctrY" for="ch" forName="circ1" refType="h" fact="0.46"/>
          <dgm:constr type="w" for="ch" forName="circ1" refType="w" fact="0.25"/>
          <dgm:constr type="h" for="ch" forName="circ1" refType="h" fact="0.35"/>
          <dgm:constr type="l" for="ch" forName="circ1Tx" refType="w" fact="0.355"/>
          <dgm:constr type="t" for="ch" forName="circ1Tx"/>
          <dgm:constr type="w" for="ch" forName="circ1Tx" refType="w" fact="0.29"/>
          <dgm:constr type="h" for="ch" forName="circ1Tx" refType="h" fact="0.235"/>
          <dgm:constr type="ctrX" for="ch" forName="circ2" refType="w" fact="0.5951"/>
          <dgm:constr type="ctrY" for="ch" forName="circ2" refType="h" fact="0.5567"/>
          <dgm:constr type="w" for="ch" forName="circ2" refType="w" fact="0.25"/>
          <dgm:constr type="h" for="ch" forName="circ2" refType="h" fact="0.35"/>
          <dgm:constr type="l" for="ch" forName="circ2Tx" refType="w" fact="0.74"/>
          <dgm:constr type="t" for="ch" forName="circ2Tx" refType="h" fact="0.31"/>
          <dgm:constr type="w" for="ch" forName="circ2Tx" refType="w" fact="0.26"/>
          <dgm:constr type="h" for="ch" forName="circ2Tx" refType="h" fact="0.255"/>
          <dgm:constr type="ctrX" for="ch" forName="circ3" refType="w" fact="0.5588"/>
          <dgm:constr type="ctrY" for="ch" forName="circ3" refType="h" fact="0.7133"/>
          <dgm:constr type="w" for="ch" forName="circ3" refType="w" fact="0.25"/>
          <dgm:constr type="h" for="ch" forName="circ3" refType="h" fact="0.35"/>
          <dgm:constr type="l" for="ch" forName="circ3Tx" refType="w" fact="0.7"/>
          <dgm:constr type="t" for="ch" forName="circ3Tx" refType="h" fact="0.745"/>
          <dgm:constr type="w" for="ch" forName="circ3Tx" refType="w" fact="0.26"/>
          <dgm:constr type="h" for="ch" forName="circ3Tx" refType="h" fact="0.255"/>
          <dgm:constr type="ctrX" for="ch" forName="circ4" refType="w" fact="0.4412"/>
          <dgm:constr type="ctrY" for="ch" forName="circ4" refType="h" fact="0.7133"/>
          <dgm:constr type="w" for="ch" forName="circ4" refType="w" fact="0.25"/>
          <dgm:constr type="h" for="ch" forName="circ4" refType="h" fact="0.35"/>
          <dgm:constr type="l" for="ch" forName="circ4Tx" refType="w" fact="0.04"/>
          <dgm:constr type="t" for="ch" forName="circ4Tx" refType="h" fact="0.745"/>
          <dgm:constr type="w" for="ch" forName="circ4Tx" refType="w" fact="0.26"/>
          <dgm:constr type="h" for="ch" forName="circ4Tx" refType="h" fact="0.255"/>
          <dgm:constr type="ctrX" for="ch" forName="circ5" refType="w" fact="0.4049"/>
          <dgm:constr type="ctrY" for="ch" forName="circ5" refType="h" fact="0.5567"/>
          <dgm:constr type="w" for="ch" forName="circ5" refType="w" fact="0.25"/>
          <dgm:constr type="h" for="ch" forName="circ5" refType="h" fact="0.35"/>
          <dgm:constr type="l" for="ch" forName="circ5Tx"/>
          <dgm:constr type="t" for="ch" forName="circ5Tx" refType="h" fact="0.31"/>
          <dgm:constr type="w" for="ch" forName="circ5Tx" refType="w" fact="0.26"/>
          <dgm:constr type="h" for="ch" forName="circ5Tx" refType="h" fact="0.255"/>
          <dgm:constr type="primFontSz" for="ch" ptType="node" op="equ"/>
        </dgm:constrLst>
      </dgm:if>
      <dgm:if name="Name15" axis="ch" ptType="node" func="cnt" op="equ" val="6">
        <dgm:constrLst>
          <dgm:constr type="ctrX" for="ch" forName="circ1" refType="w" fact="0.5"/>
          <dgm:constr type="ctrY" for="ch" forName="circ1" refType="h" fact="0.3844"/>
          <dgm:constr type="w" for="ch" forName="circ1" refType="w" fact="0.24"/>
          <dgm:constr type="h" for="ch" forName="circ1" refType="h" fact="0.3084"/>
          <dgm:constr type="l" for="ch" forName="circ1Tx" refType="w" fact="0.35"/>
          <dgm:constr type="t" for="ch" forName="circ1Tx"/>
          <dgm:constr type="w" for="ch" forName="circ1Tx" refType="w" fact="0.3"/>
          <dgm:constr type="h" for="ch" forName="circ1Tx" refType="h" fact="0.21"/>
          <dgm:constr type="ctrX" for="ch" forName="circ2" refType="w" fact="0.5779"/>
          <dgm:constr type="ctrY" for="ch" forName="circ2" refType="h" fact="0.4422"/>
          <dgm:constr type="w" for="ch" forName="circ2" refType="w" fact="0.24"/>
          <dgm:constr type="h" for="ch" forName="circ2" refType="h" fact="0.3084"/>
          <dgm:constr type="l" for="ch" forName="circ2Tx" refType="w" fact="0.7157"/>
          <dgm:constr type="t" for="ch" forName="circ2Tx" refType="h" fact="0.2"/>
          <dgm:constr type="w" for="ch" forName="circ2Tx" refType="w" fact="0.2843"/>
          <dgm:constr type="h" for="ch" forName="circ2Tx" refType="h" fact="0.23"/>
          <dgm:constr type="ctrX" for="ch" forName="circ3" refType="w" fact="0.5779"/>
          <dgm:constr type="ctrY" for="ch" forName="circ3" refType="h" fact="0.5578"/>
          <dgm:constr type="w" for="ch" forName="circ3" refType="w" fact="0.24"/>
          <dgm:constr type="h" for="ch" forName="circ3" refType="h" fact="0.3084"/>
          <dgm:constr type="l" for="ch" forName="circ3Tx" refType="w" fact="0.7157"/>
          <dgm:constr type="t" for="ch" forName="circ3Tx" refType="h" fact="0.543"/>
          <dgm:constr type="w" for="ch" forName="circ3Tx" refType="w" fact="0.2843"/>
          <dgm:constr type="h" for="ch" forName="circ3Tx" refType="h" fact="0.257"/>
          <dgm:constr type="ctrX" for="ch" forName="circ4" refType="w" fact="0.5"/>
          <dgm:constr type="ctrY" for="ch" forName="circ4" refType="h" fact="0.6157"/>
          <dgm:constr type="w" for="ch" forName="circ4" refType="w" fact="0.24"/>
          <dgm:constr type="h" for="ch" forName="circ4" refType="h" fact="0.3084"/>
          <dgm:constr type="l" for="ch" forName="circ4Tx" refType="w" fact="0.35"/>
          <dgm:constr type="t" for="ch" forName="circ4Tx" refType="h" fact="0.79"/>
          <dgm:constr type="w" for="ch" forName="circ4Tx" refType="w" fact="0.3"/>
          <dgm:constr type="h" for="ch" forName="circ4Tx" refType="h" fact="0.21"/>
          <dgm:constr type="ctrX" for="ch" forName="circ5" refType="w" fact="0.4221"/>
          <dgm:constr type="ctrY" for="ch" forName="circ5" refType="h" fact="0.5578"/>
          <dgm:constr type="w" for="ch" forName="circ5" refType="w" fact="0.24"/>
          <dgm:constr type="h" for="ch" forName="circ5" refType="h" fact="0.3084"/>
          <dgm:constr type="l" for="ch" forName="circ5Tx" refType="w" fact="0"/>
          <dgm:constr type="t" for="ch" forName="circ5Tx" refType="h" fact="0.543"/>
          <dgm:constr type="w" for="ch" forName="circ5Tx" refType="w" fact="0.2843"/>
          <dgm:constr type="h" for="ch" forName="circ5Tx" refType="h" fact="0.257"/>
          <dgm:constr type="ctrX" for="ch" forName="circ6" refType="w" fact="0.4221"/>
          <dgm:constr type="ctrY" for="ch" forName="circ6" refType="h" fact="0.4422"/>
          <dgm:constr type="w" for="ch" forName="circ6" refType="w" fact="0.24"/>
          <dgm:constr type="h" for="ch" forName="circ6" refType="h" fact="0.3084"/>
          <dgm:constr type="l" for="ch" forName="circ6Tx" refType="w" fact="0"/>
          <dgm:constr type="t" for="ch" forName="circ6Tx" refType="h" fact="0.2"/>
          <dgm:constr type="w" for="ch" forName="circ6Tx" refType="w" fact="0.2843"/>
          <dgm:constr type="h" for="ch" forName="circ6Tx" refType="h" fact="0.257"/>
          <dgm:constr type="primFontSz" for="ch" ptType="node" op="equ"/>
        </dgm:constrLst>
      </dgm:if>
      <dgm:else name="Name16">
        <dgm:constrLst>
          <dgm:constr type="ctrX" for="ch" forName="circ1" refType="w" fact="0.5"/>
          <dgm:constr type="ctrY" for="ch" forName="circ1" refType="h" fact="0.4177"/>
          <dgm:constr type="w" for="ch" forName="circ1" refType="w" fact="0.24"/>
          <dgm:constr type="h" for="ch" forName="circ1" refType="h" fact="0.3262"/>
          <dgm:constr type="l" for="ch" forName="circ1Tx" refType="w" fact="0.3625"/>
          <dgm:constr type="t" for="ch" forName="circ1Tx"/>
          <dgm:constr type="w" for="ch" forName="circ1Tx" refType="w" fact="0.275"/>
          <dgm:constr type="h" for="ch" forName="circ1Tx" refType="h" fact="0.2"/>
          <dgm:constr type="ctrX" for="ch" forName="circ2" refType="w" fact="0.5704"/>
          <dgm:constr type="ctrY" for="ch" forName="circ2" refType="h" fact="0.4637"/>
          <dgm:constr type="w" for="ch" forName="circ2" refType="w" fact="0.24"/>
          <dgm:constr type="h" for="ch" forName="circ2" refType="h" fact="0.3262"/>
          <dgm:constr type="l" for="ch" forName="circ2Tx" refType="w" fact="0.72"/>
          <dgm:constr type="t" for="ch" forName="circ2Tx" refType="h" fact="0.19"/>
          <dgm:constr type="w" for="ch" forName="circ2Tx" refType="w" fact="0.26"/>
          <dgm:constr type="h" for="ch" forName="circ2Tx" refType="h" fact="0.22"/>
          <dgm:constr type="ctrX" for="ch" forName="circ3" refType="w" fact="0.5877"/>
          <dgm:constr type="ctrY" for="ch" forName="circ3" refType="h" fact="0.5672"/>
          <dgm:constr type="w" for="ch" forName="circ3" refType="w" fact="0.24"/>
          <dgm:constr type="h" for="ch" forName="circ3" refType="h" fact="0.3262"/>
          <dgm:constr type="l" for="ch" forName="circ3Tx" refType="w" fact="0.745"/>
          <dgm:constr type="t" for="ch" forName="circ3Tx" refType="h" fact="0.47"/>
          <dgm:constr type="w" for="ch" forName="circ3Tx" refType="w" fact="0.255"/>
          <dgm:constr type="h" for="ch" forName="circ3Tx" refType="h" fact="0.235"/>
          <dgm:constr type="ctrX" for="ch" forName="circ4" refType="w" fact="0.539"/>
          <dgm:constr type="ctrY" for="ch" forName="circ4" refType="h" fact="0.6502"/>
          <dgm:constr type="w" for="ch" forName="circ4" refType="w" fact="0.24"/>
          <dgm:constr type="h" for="ch" forName="circ4" refType="h" fact="0.3262"/>
          <dgm:constr type="l" for="ch" forName="circ4Tx" refType="w" fact="0.635"/>
          <dgm:constr type="t" for="ch" forName="circ4Tx" refType="h" fact="0.785"/>
          <dgm:constr type="w" for="ch" forName="circ4Tx" refType="w" fact="0.275"/>
          <dgm:constr type="h" for="ch" forName="circ4Tx" refType="h" fact="0.215"/>
          <dgm:constr type="ctrX" for="ch" forName="circ5" refType="w" fact="0.461"/>
          <dgm:constr type="ctrY" for="ch" forName="circ5" refType="h" fact="0.6502"/>
          <dgm:constr type="w" for="ch" forName="circ5" refType="w" fact="0.24"/>
          <dgm:constr type="h" for="ch" forName="circ5" refType="h" fact="0.3262"/>
          <dgm:constr type="l" for="ch" forName="circ5Tx" refType="w" fact="0.09"/>
          <dgm:constr type="t" for="ch" forName="circ5Tx" refType="h" fact="0.785"/>
          <dgm:constr type="w" for="ch" forName="circ5Tx" refType="w" fact="0.275"/>
          <dgm:constr type="h" for="ch" forName="circ5Tx" refType="h" fact="0.215"/>
          <dgm:constr type="ctrX" for="ch" forName="circ6" refType="w" fact="0.4123"/>
          <dgm:constr type="ctrY" for="ch" forName="circ6" refType="h" fact="0.5672"/>
          <dgm:constr type="w" for="ch" forName="circ6" refType="w" fact="0.24"/>
          <dgm:constr type="h" for="ch" forName="circ6" refType="h" fact="0.3262"/>
          <dgm:constr type="l" for="ch" forName="circ6Tx"/>
          <dgm:constr type="t" for="ch" forName="circ6Tx" refType="h" fact="0.47"/>
          <dgm:constr type="w" for="ch" forName="circ6Tx" refType="w" fact="0.255"/>
          <dgm:constr type="h" for="ch" forName="circ6Tx" refType="h" fact="0.235"/>
          <dgm:constr type="ctrX" for="ch" forName="circ7" refType="w" fact="0.4296"/>
          <dgm:constr type="ctrY" for="ch" forName="circ7" refType="h" fact="0.4637"/>
          <dgm:constr type="w" for="ch" forName="circ7" refType="w" fact="0.24"/>
          <dgm:constr type="h" for="ch" forName="circ7" refType="h" fact="0.3262"/>
          <dgm:constr type="l" for="ch" forName="circ7Tx" refType="w" fact="0.02"/>
          <dgm:constr type="t" for="ch" forName="circ7Tx" refType="h" fact="0.19"/>
          <dgm:constr type="w" for="ch" forName="circ7Tx" refType="w" fact="0.26"/>
          <dgm:constr type="h" for="ch" forName="circ7Tx" refType="h" fact="0.22"/>
          <dgm:constr type="primFontSz" for="ch" ptType="node" op="equ"/>
        </dgm:constrLst>
      </dgm:else>
    </dgm:choose>
    <dgm:ruleLst/>
    <dgm:forEach name="Name17" axis="ch" ptType="node" cnt="1">
      <dgm:choose name="Name18">
        <dgm:if name="Name19" axis="root ch" ptType="all node" func="cnt" op="equ" val="1">
          <dgm:layoutNode name="circ1TxSh" styleLbl="vennNode1"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0">
              <dgm:if name="Name21" func="var" arg="dir" op="equ" val="norm">
                <dgm:choose name="Name22">
                  <dgm:if name="Name23" axis="root ch" ptType="all node" func="cnt" op="lte" val="4">
                    <dgm:presOf axis="desOrSelf" ptType="node"/>
                  </dgm:if>
                  <dgm:else name="Name24">
                    <dgm:presOf/>
                  </dgm:else>
                </dgm:choose>
              </dgm:if>
              <dgm:else name="Name25">
                <dgm:choose name="Name26">
                  <dgm:if name="Name27" axis="root ch" ptType="all node" func="cnt" op="equ" val="2">
                    <dgm:presOf axis="root ch desOrSelf" ptType="all node node" st="1 2 1" cnt="1 1 0"/>
                  </dgm:if>
                  <dgm:else name="Name28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if>
        <dgm:else name="Name29">
          <dgm:layoutNode name="circ1" styleLbl="vennNode1">
            <dgm:alg type="sp"/>
            <dgm:shape xmlns:r="http://schemas.openxmlformats.org/officeDocument/2006/relationships" type="ellipse" r:blip="">
              <dgm:adjLst/>
            </dgm:shape>
            <dgm:choose name="Name30">
              <dgm:if name="Name31" func="var" arg="dir" op="equ" val="norm">
                <dgm:choose name="Name32">
                  <dgm:if name="Name33" axis="root ch" ptType="all node" func="cnt" op="lte" val="4">
                    <dgm:presOf axis="desOrSelf" ptType="node"/>
                  </dgm:if>
                  <dgm:else name="Name34">
                    <dgm:presOf/>
                  </dgm:else>
                </dgm:choose>
              </dgm:if>
              <dgm:else name="Name35">
                <dgm:choose name="Name36">
                  <dgm:if name="Name37" axis="root ch" ptType="all node" func="cnt" op="equ" val="2">
                    <dgm:presOf axis="root ch desOrSelf" ptType="all node node" st="1 2 1" cnt="1 1 0"/>
                  </dgm:if>
                  <dgm:else name="Name38">
                    <dgm:choose name="Name39">
                      <dgm:if name="Name40" axis="root ch" ptType="all node" func="cnt" op="lte" val="4">
                        <dgm:presOf axis="desOrSelf" ptType="node"/>
                      </dgm:if>
                      <dgm:else name="Name41">
                        <dgm:presOf/>
                      </dgm:else>
                    </dgm:choose>
                  </dgm:else>
                </dgm:choose>
              </dgm:else>
            </dgm:choose>
            <dgm:constrLst/>
            <dgm:ruleLst/>
          </dgm:layoutNode>
          <dgm:layoutNode name="circ1Tx" styleLbl="revTx">
            <dgm:varLst>
              <dgm:chMax val="0"/>
              <dgm:chPref val="0"/>
              <dgm:bulletEnabled val="1"/>
            </dgm:varLst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choose name="Name42">
              <dgm:if name="Name43" func="var" arg="dir" op="equ" val="norm">
                <dgm:presOf axis="desOrSelf" ptType="node"/>
              </dgm:if>
              <dgm:else name="Name44">
                <dgm:choose name="Name45">
                  <dgm:if name="Name46" axis="root ch" ptType="all node" func="cnt" op="equ" val="2">
                    <dgm:presOf axis="root ch desOrSelf" ptType="all node node" st="1 2 1" cnt="1 1 0"/>
                  </dgm:if>
                  <dgm:else name="Name47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else>
      </dgm:choose>
    </dgm:forEach>
    <dgm:forEach name="Name48" axis="ch" ptType="node" st="2" cnt="1">
      <dgm:layoutNode name="circ2" styleLbl="vennNode1">
        <dgm:alg type="sp"/>
        <dgm:shape xmlns:r="http://schemas.openxmlformats.org/officeDocument/2006/relationships" type="ellipse" r:blip="">
          <dgm:adjLst/>
        </dgm:shape>
        <dgm:choose name="Name49">
          <dgm:if name="Name50" func="var" arg="dir" op="equ" val="norm">
            <dgm:choose name="Name51">
              <dgm:if name="Name52" axis="root ch" ptType="all node" func="cnt" op="lte" val="4">
                <dgm:presOf axis="desOrSelf" ptType="node"/>
              </dgm:if>
              <dgm:else name="Name53">
                <dgm:presOf/>
              </dgm:else>
            </dgm:choose>
          </dgm:if>
          <dgm:else name="Name54">
            <dgm:choose name="Name55">
              <dgm:if name="Name56" axis="root ch" ptType="all node" func="cnt" op="equ" val="2">
                <dgm:presOf axis="root ch desOrSelf" ptType="all node node" st="1 1 1" cnt="1 1 0"/>
              </dgm:if>
              <dgm:if name="Name57" axis="root ch" ptType="all node" func="cnt" op="equ" val="3">
                <dgm:presOf axis="root ch desOrSelf" ptType="all node node" st="1 3 1" cnt="1 1 0"/>
              </dgm:if>
              <dgm:if name="Name58" axis="root ch" ptType="all node" func="cnt" op="equ" val="4">
                <dgm:presOf axis="root ch desOrSelf" ptType="all node node" st="1 4 1" cnt="1 1 0"/>
              </dgm:if>
              <dgm:else name="Name59">
                <dgm:presOf/>
              </dgm:else>
            </dgm:choose>
          </dgm:else>
        </dgm:choose>
        <dgm:constrLst/>
        <dgm:ruleLst/>
      </dgm:layoutNode>
      <dgm:layoutNode name="circ2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60">
          <dgm:if name="Name61" func="var" arg="dir" op="equ" val="norm">
            <dgm:presOf axis="desOrSelf" ptType="node"/>
          </dgm:if>
          <dgm:else name="Name62">
            <dgm:choose name="Name63">
              <dgm:if name="Name64" axis="root ch" ptType="all node" func="cnt" op="equ" val="2">
                <dgm:presOf axis="root ch desOrSelf" ptType="all node node" st="1 1 1" cnt="1 1 0"/>
              </dgm:if>
              <dgm:if name="Name65" axis="root ch" ptType="all node" func="cnt" op="equ" val="3">
                <dgm:presOf axis="root ch desOrSelf" ptType="all node node" st="1 3 1" cnt="1 1 0"/>
              </dgm:if>
              <dgm:if name="Name66" axis="root ch" ptType="all node" func="cnt" op="equ" val="4">
                <dgm:presOf axis="root ch desOrSelf" ptType="all node node" st="1 4 1" cnt="1 1 0"/>
              </dgm:if>
              <dgm:if name="Name67" axis="root ch" ptType="all node" func="cnt" op="equ" val="5">
                <dgm:presOf axis="root ch desOrSelf" ptType="all node node" st="1 5 1" cnt="1 1 0"/>
              </dgm:if>
              <dgm:if name="Name68" axis="root ch" ptType="all node" func="cnt" op="equ" val="6">
                <dgm:presOf axis="root ch desOrSelf" ptType="all node node" st="1 6 1" cnt="1 1 0"/>
              </dgm:if>
              <dgm:else name="Name69">
                <dgm:presOf axis="root ch desOrSelf" ptType="all node node" st="1 7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70" axis="ch" ptType="node" st="3" cnt="1">
      <dgm:layoutNode name="circ3" styleLbl="vennNode1">
        <dgm:alg type="sp"/>
        <dgm:shape xmlns:r="http://schemas.openxmlformats.org/officeDocument/2006/relationships" type="ellipse" r:blip="">
          <dgm:adjLst/>
        </dgm:shape>
        <dgm:choose name="Name71">
          <dgm:if name="Name72" func="var" arg="dir" op="equ" val="norm">
            <dgm:choose name="Name73">
              <dgm:if name="Name74" axis="root ch" ptType="all node" func="cnt" op="lte" val="4">
                <dgm:presOf axis="desOrSelf" ptType="node"/>
              </dgm:if>
              <dgm:else name="Name75">
                <dgm:presOf/>
              </dgm:else>
            </dgm:choose>
          </dgm:if>
          <dgm:else name="Name76">
            <dgm:choose name="Name77">
              <dgm:if name="Name78" axis="root ch" ptType="all node" func="cnt" op="equ" val="3">
                <dgm:presOf axis="root ch desOrSelf" ptType="all node node" st="1 2 1" cnt="1 1 0"/>
              </dgm:if>
              <dgm:if name="Name79" axis="root ch" ptType="all node" func="cnt" op="equ" val="4">
                <dgm:presOf axis="root ch desOrSelf" ptType="all node node" st="1 3 1" cnt="1 1 0"/>
              </dgm:if>
              <dgm:else name="Name80">
                <dgm:presOf/>
              </dgm:else>
            </dgm:choose>
          </dgm:else>
        </dgm:choose>
        <dgm:constrLst/>
        <dgm:ruleLst/>
      </dgm:layoutNode>
      <dgm:layoutNode name="circ3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81">
          <dgm:if name="Name82" func="var" arg="dir" op="equ" val="norm">
            <dgm:presOf axis="desOrSelf" ptType="node"/>
          </dgm:if>
          <dgm:else name="Name83">
            <dgm:choose name="Name84">
              <dgm:if name="Name85" axis="root ch" ptType="all node" func="cnt" op="equ" val="3">
                <dgm:presOf axis="root ch desOrSelf" ptType="all node node" st="1 2 1" cnt="1 1 0"/>
              </dgm:if>
              <dgm:if name="Name86" axis="root ch" ptType="all node" func="cnt" op="equ" val="4">
                <dgm:presOf axis="root ch desOrSelf" ptType="all node node" st="1 3 1" cnt="1 1 0"/>
              </dgm:if>
              <dgm:if name="Name87" axis="root ch" ptType="all node" func="cnt" op="equ" val="5">
                <dgm:presOf axis="root ch desOrSelf" ptType="all node node" st="1 4 1" cnt="1 1 0"/>
              </dgm:if>
              <dgm:if name="Name88" axis="root ch" ptType="all node" func="cnt" op="equ" val="6">
                <dgm:presOf axis="root ch desOrSelf" ptType="all node node" st="1 5 1" cnt="1 1 0"/>
              </dgm:if>
              <dgm:else name="Name89">
                <dgm:presOf axis="root ch desOrSelf" ptType="all node node" st="1 6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circ4" styleLbl="vennNode1">
        <dgm:alg type="sp"/>
        <dgm:shape xmlns:r="http://schemas.openxmlformats.org/officeDocument/2006/relationships" type="ellipse" r:blip="">
          <dgm:adjLst/>
        </dgm:shape>
        <dgm:choose name="Name91">
          <dgm:if name="Name92" func="var" arg="dir" op="equ" val="norm">
            <dgm:choose name="Name93">
              <dgm:if name="Name94" axis="root ch" ptType="all node" func="cnt" op="lte" val="4">
                <dgm:presOf axis="desOrSelf" ptType="node"/>
              </dgm:if>
              <dgm:else name="Name95">
                <dgm:presOf/>
              </dgm:else>
            </dgm:choose>
          </dgm:if>
          <dgm:else name="Name96">
            <dgm:choose name="Name97">
              <dgm:if name="Name98" axis="root ch" ptType="all node" func="cnt" op="equ" val="4">
                <dgm:presOf axis="root ch desOrSelf" ptType="all node node" st="1 2 1" cnt="1 1 0"/>
              </dgm:if>
              <dgm:else name="Name99">
                <dgm:presOf/>
              </dgm:else>
            </dgm:choose>
          </dgm:else>
        </dgm:choose>
        <dgm:constrLst/>
        <dgm:ruleLst/>
      </dgm:layoutNode>
      <dgm:layoutNode name="circ4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0">
          <dgm:if name="Name101" func="var" arg="dir" op="equ" val="norm">
            <dgm:presOf axis="desOrSelf" ptType="node"/>
          </dgm:if>
          <dgm:else name="Name102">
            <dgm:choose name="Name103">
              <dgm:if name="Name104" axis="root ch" ptType="all node" func="cnt" op="equ" val="4">
                <dgm:presOf axis="root ch desOrSelf" ptType="all node node" st="1 2 1" cnt="1 1 0"/>
              </dgm:if>
              <dgm:if name="Name105" axis="root ch" ptType="all node" func="cnt" op="equ" val="5">
                <dgm:presOf axis="root ch desOrSelf" ptType="all node node" st="1 3 1" cnt="1 1 0"/>
              </dgm:if>
              <dgm:if name="Name106" axis="root ch" ptType="all node" func="cnt" op="equ" val="6">
                <dgm:presOf axis="root ch desOrSelf" ptType="all node node" st="1 4 1" cnt="1 1 0"/>
              </dgm:if>
              <dgm:else name="Name107">
                <dgm:presOf axis="root ch desOrSelf" ptType="all node node" st="1 5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08" axis="ch" ptType="node" st="5" cnt="1">
      <dgm:layoutNode name="circ5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5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9">
          <dgm:if name="Name110" func="var" arg="dir" op="equ" val="norm">
            <dgm:presOf axis="desOrSelf" ptType="node"/>
          </dgm:if>
          <dgm:else name="Name111">
            <dgm:choose name="Name112">
              <dgm:if name="Name113" axis="root ch" ptType="all node" func="cnt" op="equ" val="5">
                <dgm:presOf axis="root ch desOrSelf" ptType="all node node" st="1 2 1" cnt="1 1 0"/>
              </dgm:if>
              <dgm:if name="Name114" axis="root ch" ptType="all node" func="cnt" op="equ" val="6">
                <dgm:presOf axis="root ch desOrSelf" ptType="all node node" st="1 3 1" cnt="1 1 0"/>
              </dgm:if>
              <dgm:else name="Name115">
                <dgm:presOf axis="root ch desOrSelf" ptType="all node node" st="1 4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16" axis="ch" ptType="node" st="6" cnt="1">
      <dgm:layoutNode name="circ6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6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17">
          <dgm:if name="Name118" func="var" arg="dir" op="equ" val="norm">
            <dgm:presOf axis="desOrSelf" ptType="node"/>
          </dgm:if>
          <dgm:else name="Name119">
            <dgm:choose name="Name120">
              <dgm:if name="Name121" axis="root ch" ptType="all node" func="cnt" op="equ" val="6">
                <dgm:presOf axis="root ch desOrSelf" ptType="all node node" st="1 2 1" cnt="1 1 0"/>
              </dgm:if>
              <dgm:else name="Name122">
                <dgm:presOf axis="root ch desOrSelf" ptType="all node node" st="1 3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23" axis="ch" ptType="node" st="7" cnt="1">
      <dgm:layoutNode name="circ7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7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24">
          <dgm:if name="Name125" func="var" arg="dir" op="equ" val="norm">
            <dgm:presOf axis="desOrSelf" ptType="node"/>
          </dgm:if>
          <dgm:else name="Name126">
            <dgm:presOf axis="root ch desOrSelf" ptType="all node node" st="1 2 1" cnt="1 1 0"/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diagrams.loki3.com/BracketList">
  <dgm:title val="Vertical Bracket List"/>
  <dgm:desc val="Use to show grouped blocks of information.  Works well with large amounts of Level 2 text."/>
  <dgm:catLst>
    <dgm:cat type="list" pri="4110"/>
    <dgm:cat type="officeonline" pri="3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3" srcId="0" destId="1" srcOrd="0" destOrd="0"/>
        <dgm:cxn modelId="4" srcId="1" destId="11" srcOrd="0" destOrd="0"/>
        <dgm:cxn modelId="5" srcId="0" destId="2" srcOrd="0" destOrd="0"/>
        <dgm:cxn modelId="6" srcId="2" destId="21" srcOrd="0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V" refType="primFontSz" refFor="des" refForName="parTx" fact="0.1"/>
      <dgm:constr type="primFontSz" for="des" forName="parTx" val="65"/>
      <dgm:constr type="primFontSz" for="des" forName="desTx" refType="primFontSz" refFor="des" refForName="parTx"/>
      <dgm:constr type="h" for="des" forName="parTx" refType="primFontSz" refFor="des" refForName="parTx" fact="0.55"/>
      <dgm:constr type="h" for="des" forName="bracket" refType="primFontSz" refFor="des" refForName="parTx" fact="0.55"/>
      <dgm:constr type="h" for="des" forName="desTx" refType="primFontSz" refFor="des" refForName="parTx" fact="0.55"/>
    </dgm:constrLst>
    <dgm:ruleLst>
      <dgm:rule type="primFontSz" for="des" forName="parTx" val="5" fact="NaN" max="NaN"/>
    </dgm:ruleLst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Tx" refType="w" fact="0.25"/>
          <dgm:constr type="w" for="ch" forName="bracket" refType="w" fact="0.05"/>
          <dgm:constr type="w" for="ch" forName="spH" refType="w" fact="0.02"/>
          <dgm:constr type="w" for="ch" forName="desTx" refType="w" fact="0.68"/>
          <dgm:constr type="h" for="ch" forName="bracket" refType="h" refFor="ch" refForName="desTx" op="gte"/>
          <dgm:constr type="h" for="ch" forName="bracket" refType="h" refFor="ch" refForName="parTx" op="gte"/>
          <dgm:constr type="h" for="ch" forName="desTx" refType="h" refFor="ch" refForName="parTx" op="gte"/>
        </dgm:constrLst>
        <dgm:ruleLst/>
        <dgm:layoutNode name="parTx" styleLbl="revTx">
          <dgm:varLst>
            <dgm:chMax val="1"/>
            <dgm:bulletEnabled val="1"/>
          </dgm:varLst>
          <dgm:choose name="Name8">
            <dgm:if name="Name9" func="var" arg="dir" op="equ" val="norm">
              <dgm:alg type="tx">
                <dgm:param type="parTxLTRAlign" val="r"/>
              </dgm:alg>
            </dgm:if>
            <dgm:else name="Name10">
              <dgm:alg type="tx">
                <dgm:param type="parTxLTRAlign" val="l"/>
              </dgm:alg>
            </dgm:else>
          </dgm:choose>
          <dgm:shape xmlns:r="http://schemas.openxmlformats.org/officeDocument/2006/relationships" type="rect" r:blip="">
            <dgm:adjLst/>
          </dgm:shape>
          <dgm:presOf axis="self" ptType="node"/>
          <dgm:constrLst>
            <dgm:constr type="tMarg" refType="primFontSz" fact="0.2"/>
            <dgm:constr type="bMarg" refType="primFontSz" fact="0.2"/>
          </dgm:constrLst>
          <dgm:ruleLst>
            <dgm:rule type="h" val="INF" fact="NaN" max="NaN"/>
          </dgm:ruleLst>
        </dgm:layoutNode>
        <dgm:layoutNode name="bracket" styleLbl="parChTrans1D1">
          <dgm:alg type="sp"/>
          <dgm:choose name="Name11">
            <dgm:if name="Name12" func="var" arg="dir" op="equ" val="norm">
              <dgm:shape xmlns:r="http://schemas.openxmlformats.org/officeDocument/2006/relationships" type="leftBrace" r:blip="">
                <dgm:adjLst>
                  <dgm:adj idx="1" val="0.35"/>
                </dgm:adjLst>
              </dgm:shape>
            </dgm:if>
            <dgm:else name="Name13">
              <dgm:shape xmlns:r="http://schemas.openxmlformats.org/officeDocument/2006/relationships" rot="180" type="leftBrace" r:blip="">
                <dgm:adjLst>
                  <dgm:adj idx="1" val="0.35"/>
                </dgm:adjLst>
              </dgm:shape>
            </dgm:else>
          </dgm:choose>
          <dgm:presOf/>
        </dgm:layoutNode>
        <dgm:layoutNode name="spH">
          <dgm:alg type="sp"/>
        </dgm:layoutNode>
        <dgm:choose name="Name14">
          <dgm:if name="Name15" axis="ch" ptType="node" func="cnt" op="gte" val="1">
            <dgm:layoutNode name="desTx" styleLbl="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secFontSz" refType="primFontSz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h" val="INF" fact="NaN" max="NaN"/>
              </dgm:ruleLst>
            </dgm:layoutNode>
          </dgm:if>
          <dgm:else name="Name16"/>
        </dgm:choose>
      </dgm:layoutNode>
      <dgm:forEach name="Name17" axis="followSib" ptType="sibTrans" cnt="1">
        <dgm:layoutNode name="spV">
          <dgm:alg type="sp"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B167497-6C63-3B9D-01ED-0ED2D567C24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2346605-F242-407E-CD28-58546B90174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4DF528-62A2-A648-BB90-693EA07704A6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490F15-0AF7-792D-6028-22E97290FA6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D53349-F41C-DB6A-857A-395EB2E073E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640CAEB-34EF-394E-B2B5-44CDCC70A0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54872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48E3F3-8B31-41D2-AA9B-9796555DB866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79BDEF-6165-4E72-B1A6-6E8034CEC2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0139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79BDEF-6165-4E72-B1A6-6E8034CEC248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83229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79BDEF-6165-4E72-B1A6-6E8034CEC248}" type="slidenum">
              <a:rPr lang="en-US" smtClean="0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5411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5.png"/><Relationship Id="rId7" Type="http://schemas.microsoft.com/office/2007/relationships/hdphoto" Target="../media/hdphoto3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microsoft.com/office/2007/relationships/hdphoto" Target="../media/hdphoto2.wdp"/><Relationship Id="rId9" Type="http://schemas.microsoft.com/office/2007/relationships/hdphoto" Target="../media/hdphoto1.wdp"/></Relationships>
</file>

<file path=ppt/slideLayouts/_rels/slideLayout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jpe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2.jpeg"/><Relationship Id="rId11" Type="http://schemas.openxmlformats.org/officeDocument/2006/relationships/image" Target="../media/image16.png"/><Relationship Id="rId5" Type="http://schemas.openxmlformats.org/officeDocument/2006/relationships/image" Target="../media/image11.png"/><Relationship Id="rId10" Type="http://schemas.microsoft.com/office/2007/relationships/hdphoto" Target="../media/hdphoto4.wdp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Layouts/_rels/slideLayout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jpeg"/><Relationship Id="rId3" Type="http://schemas.openxmlformats.org/officeDocument/2006/relationships/image" Target="../media/image6.png"/><Relationship Id="rId7" Type="http://schemas.microsoft.com/office/2007/relationships/hdphoto" Target="../media/hdphoto5.wdp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7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9" Type="http://schemas.openxmlformats.org/officeDocument/2006/relationships/image" Target="../media/image1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Maulik</a:t>
            </a:r>
            <a:r>
              <a:rPr lang="en-US" baseline="0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D. Trivedi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22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/>
        </p:nvSpPr>
        <p:spPr>
          <a:xfrm>
            <a:off x="4038600" y="6604000"/>
            <a:ext cx="5257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#2105CS412(CN)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1 – Basic of Computer Network</a:t>
            </a: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: Rounded Corners 16">
            <a:extLst>
              <a:ext uri="{FF2B5EF4-FFF2-40B4-BE49-F238E27FC236}">
                <a16:creationId xmlns:a16="http://schemas.microsoft.com/office/drawing/2014/main" id="{A0E5757A-626F-9E90-EB72-AEFA31AC5748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Date Placeholder 1">
            <a:extLst>
              <a:ext uri="{FF2B5EF4-FFF2-40B4-BE49-F238E27FC236}">
                <a16:creationId xmlns:a16="http://schemas.microsoft.com/office/drawing/2014/main" id="{8A52970D-1B8D-45B2-FED4-AA035898E9F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Mr. Prashant Parmar</a:t>
            </a:r>
          </a:p>
        </p:txBody>
      </p: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8E6A207D-27E7-9773-4C8C-30A9C4104890}"/>
              </a:ext>
            </a:extLst>
          </p:cNvPr>
          <p:cNvSpPr txBox="1">
            <a:spLocks/>
          </p:cNvSpPr>
          <p:nvPr userDrawn="1"/>
        </p:nvSpPr>
        <p:spPr>
          <a:xfrm>
            <a:off x="4038599" y="6604000"/>
            <a:ext cx="5406615" cy="253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#2505CS313 (DM &amp; SEO)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</a:t>
            </a:r>
            <a:r>
              <a:rPr lang="en-US" sz="1200" dirty="0"/>
              <a:t>Digital Marketing Strategy, Channels &amp; Analytics 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5C3F630E-0737-1001-153E-EBCFAD739007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0" smtClean="0">
                <a:solidFill>
                  <a:schemeClr val="bg2">
                    <a:lumMod val="50000"/>
                  </a:schemeClr>
                </a:solidFill>
                <a:latin typeface="+mn-lt"/>
              </a:rPr>
              <a:pPr/>
              <a:t>‹#›</a:t>
            </a:fld>
            <a:endParaRPr lang="en-US" b="0" dirty="0">
              <a:solidFill>
                <a:schemeClr val="bg2">
                  <a:lumMod val="50000"/>
                </a:schemeClr>
              </a:solidFill>
              <a:latin typeface="+mn-lt"/>
            </a:endParaRPr>
          </a:p>
        </p:txBody>
      </p:sp>
      <p:pic>
        <p:nvPicPr>
          <p:cNvPr id="8" name="Shape 56">
            <a:extLst>
              <a:ext uri="{FF2B5EF4-FFF2-40B4-BE49-F238E27FC236}">
                <a16:creationId xmlns:a16="http://schemas.microsoft.com/office/drawing/2014/main" id="{528A20EE-6320-A145-2D8C-D1665FC0099E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C816A36-57ED-3600-A522-E042E8EE539E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9DA6401-5849-8984-FC24-478D5C973CD1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A2238328-08EA-AB24-DB03-4BFDC7A6035C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hq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8644" y="6026765"/>
            <a:ext cx="1652177" cy="502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58598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Content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Maulik</a:t>
            </a:r>
            <a:r>
              <a:rPr lang="en-US" baseline="0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D. Trivedi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22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/>
        </p:nvSpPr>
        <p:spPr>
          <a:xfrm>
            <a:off x="4038600" y="6604000"/>
            <a:ext cx="5257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#2105CS412(CN)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1 – Basic of Computer Network</a:t>
            </a: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: Rounded Corners 16">
            <a:extLst>
              <a:ext uri="{FF2B5EF4-FFF2-40B4-BE49-F238E27FC236}">
                <a16:creationId xmlns:a16="http://schemas.microsoft.com/office/drawing/2014/main" id="{A0E5757A-626F-9E90-EB72-AEFA31AC5748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ate Placeholder 1">
            <a:extLst>
              <a:ext uri="{FF2B5EF4-FFF2-40B4-BE49-F238E27FC236}">
                <a16:creationId xmlns:a16="http://schemas.microsoft.com/office/drawing/2014/main" id="{8A52970D-1B8D-45B2-FED4-AA035898E9F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Mr. Prashant Parmar</a:t>
            </a:r>
          </a:p>
        </p:txBody>
      </p: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8E6A207D-27E7-9773-4C8C-30A9C4104890}"/>
              </a:ext>
            </a:extLst>
          </p:cNvPr>
          <p:cNvSpPr txBox="1">
            <a:spLocks/>
          </p:cNvSpPr>
          <p:nvPr userDrawn="1"/>
        </p:nvSpPr>
        <p:spPr>
          <a:xfrm>
            <a:off x="4038599" y="6604000"/>
            <a:ext cx="5406615" cy="253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#2505CS313 (DM &amp; SEO)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</a:t>
            </a:r>
            <a:r>
              <a:rPr lang="en-US" sz="1200" dirty="0"/>
              <a:t>Digital Marketing Strategy, Channels &amp; Analytics 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5C3F630E-0737-1001-153E-EBCFAD739007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0" smtClean="0">
                <a:solidFill>
                  <a:schemeClr val="bg2">
                    <a:lumMod val="50000"/>
                  </a:schemeClr>
                </a:solidFill>
                <a:latin typeface="+mn-lt"/>
              </a:rPr>
              <a:pPr/>
              <a:t>‹#›</a:t>
            </a:fld>
            <a:endParaRPr lang="en-US" b="0" dirty="0">
              <a:solidFill>
                <a:schemeClr val="bg2">
                  <a:lumMod val="50000"/>
                </a:schemeClr>
              </a:solidFill>
              <a:latin typeface="+mn-lt"/>
            </a:endParaRPr>
          </a:p>
        </p:txBody>
      </p:sp>
      <p:pic>
        <p:nvPicPr>
          <p:cNvPr id="8" name="Shape 56">
            <a:extLst>
              <a:ext uri="{FF2B5EF4-FFF2-40B4-BE49-F238E27FC236}">
                <a16:creationId xmlns:a16="http://schemas.microsoft.com/office/drawing/2014/main" id="{528A20EE-6320-A145-2D8C-D1665FC0099E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C816A36-57ED-3600-A522-E042E8EE539E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9DA6401-5849-8984-FC24-478D5C973CD1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A2238328-08EA-AB24-DB03-4BFDC7A6035C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hq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179" y="6026765"/>
            <a:ext cx="1652177" cy="502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60686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07171932-FFF4-4D27-9425-8CB5D27A92F2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6200000">
            <a:off x="9807099" y="606901"/>
            <a:ext cx="2991808" cy="1778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639DF2A-5426-428D-B32D-78E9191D8A0C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401568"/>
            <a:ext cx="543946" cy="77215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B8C6168-C8A4-4660-9D38-045657B80D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  <a:noFill/>
        </p:spPr>
        <p:txBody>
          <a:bodyPr anchor="b">
            <a:normAutofit/>
          </a:bodyPr>
          <a:lstStyle>
            <a:lvl1pPr>
              <a:defRPr lang="en-US" sz="6000" b="1" kern="1200" dirty="0">
                <a:gradFill flip="none" rotWithShape="1">
                  <a:gsLst>
                    <a:gs pos="10000">
                      <a:srgbClr val="B71B1C"/>
                    </a:gs>
                    <a:gs pos="100000">
                      <a:srgbClr val="ED524F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dirty="0"/>
              <a:t>Write here Section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6C89DA-344D-4448-822C-2826084EF12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Write here Section Subtitle</a:t>
            </a:r>
          </a:p>
        </p:txBody>
      </p:sp>
      <p:sp>
        <p:nvSpPr>
          <p:cNvPr id="15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6AEF3D5-CEE3-174A-C4FB-8DD8AF8D1FB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581" b="21180"/>
          <a:stretch/>
        </p:blipFill>
        <p:spPr>
          <a:xfrm rot="16200000">
            <a:off x="9807099" y="606901"/>
            <a:ext cx="2991808" cy="177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9DD5D89-BABA-FF4D-D627-40AE8B25CAC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9646" t="18062" r="2731" b="17724"/>
          <a:stretch/>
        </p:blipFill>
        <p:spPr>
          <a:xfrm>
            <a:off x="0" y="401568"/>
            <a:ext cx="543946" cy="77215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8285B94-643E-B844-456B-FD4303B79844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hq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1370" y="6194192"/>
            <a:ext cx="1652177" cy="502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35557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ck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ate Placeholder 1">
            <a:extLst>
              <a:ext uri="{FF2B5EF4-FFF2-40B4-BE49-F238E27FC236}">
                <a16:creationId xmlns:a16="http://schemas.microsoft.com/office/drawing/2014/main" id="{F2FD45BD-9964-4102-8DE9-72CDDDD20A49}"/>
              </a:ext>
            </a:extLst>
          </p:cNvPr>
          <p:cNvSpPr txBox="1">
            <a:spLocks/>
          </p:cNvSpPr>
          <p:nvPr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Jay R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Dhamsaniya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17" name="Footer Placeholder 2">
            <a:extLst>
              <a:ext uri="{FF2B5EF4-FFF2-40B4-BE49-F238E27FC236}">
                <a16:creationId xmlns:a16="http://schemas.microsoft.com/office/drawing/2014/main" id="{59055D82-7978-44A5-82D1-0A4E00B382BF}"/>
              </a:ext>
            </a:extLst>
          </p:cNvPr>
          <p:cNvSpPr txBox="1">
            <a:spLocks/>
          </p:cNvSpPr>
          <p:nvPr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#3130006 (PS)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1 – Basic Probability</a:t>
            </a: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32768103-D8F5-4649-8107-E4B3B8C554BB}"/>
              </a:ext>
            </a:extLst>
          </p:cNvPr>
          <p:cNvSpPr txBox="1">
            <a:spLocks/>
          </p:cNvSpPr>
          <p:nvPr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: Rounded Corners 10">
            <a:extLst>
              <a:ext uri="{FF2B5EF4-FFF2-40B4-BE49-F238E27FC236}">
                <a16:creationId xmlns:a16="http://schemas.microsoft.com/office/drawing/2014/main" id="{6ACFA91B-F553-200F-0073-5444ABFE0475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Date Placeholder 1">
            <a:extLst>
              <a:ext uri="{FF2B5EF4-FFF2-40B4-BE49-F238E27FC236}">
                <a16:creationId xmlns:a16="http://schemas.microsoft.com/office/drawing/2014/main" id="{86B422CE-C616-7E33-D063-9FFF0DEB3B7A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Mr. Prashant Parmar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026564-E7BB-67DB-5DFF-A2BA8FDE12D4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0" smtClean="0">
                <a:solidFill>
                  <a:schemeClr val="bg2">
                    <a:lumMod val="50000"/>
                  </a:schemeClr>
                </a:solidFill>
                <a:latin typeface="+mn-lt"/>
              </a:rPr>
              <a:pPr/>
              <a:t>‹#›</a:t>
            </a:fld>
            <a:endParaRPr lang="en-US" b="0" dirty="0">
              <a:solidFill>
                <a:schemeClr val="bg2">
                  <a:lumMod val="50000"/>
                </a:schemeClr>
              </a:solidFill>
              <a:latin typeface="+mn-lt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24C1DD5-F381-005B-0FC3-D09599906A7C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1F34E65D-34E2-B986-E813-9E82CFF8895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8644" y="6026765"/>
            <a:ext cx="1652177" cy="502240"/>
          </a:xfrm>
          <a:prstGeom prst="rect">
            <a:avLst/>
          </a:prstGeom>
        </p:spPr>
      </p:pic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2683CD5F-BAC8-CACA-13AA-AEE36B1226C9}"/>
              </a:ext>
            </a:extLst>
          </p:cNvPr>
          <p:cNvSpPr txBox="1">
            <a:spLocks/>
          </p:cNvSpPr>
          <p:nvPr userDrawn="1"/>
        </p:nvSpPr>
        <p:spPr>
          <a:xfrm>
            <a:off x="4038599" y="6604000"/>
            <a:ext cx="5352827" cy="25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#2505CS313 (DM &amp; SEO)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</a:t>
            </a:r>
            <a:r>
              <a:rPr lang="en-US" sz="1200" dirty="0"/>
              <a:t>Digital Marketing Strategy, Channels &amp; Analytics 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69351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-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/>
        </p:nvSpPr>
        <p:spPr>
          <a:xfrm>
            <a:off x="1837677" y="5802204"/>
            <a:ext cx="22878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University,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B71B1C"/>
                    </a:gs>
                    <a:gs pos="100000">
                      <a:srgbClr val="ED524F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77B7B864-C091-4493-B14B-F5B61B586EED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56499" y="5214354"/>
            <a:ext cx="1354234" cy="1354234"/>
          </a:xfrm>
          <a:custGeom>
            <a:avLst/>
            <a:gdLst>
              <a:gd name="connsiteX0" fmla="*/ 2286000 w 4572000"/>
              <a:gd name="connsiteY0" fmla="*/ 0 h 4572000"/>
              <a:gd name="connsiteX1" fmla="*/ 4572000 w 4572000"/>
              <a:gd name="connsiteY1" fmla="*/ 2286000 h 4572000"/>
              <a:gd name="connsiteX2" fmla="*/ 2286000 w 4572000"/>
              <a:gd name="connsiteY2" fmla="*/ 4572000 h 4572000"/>
              <a:gd name="connsiteX3" fmla="*/ 0 w 4572000"/>
              <a:gd name="connsiteY3" fmla="*/ 2286000 h 4572000"/>
              <a:gd name="connsiteX4" fmla="*/ 2286000 w 4572000"/>
              <a:gd name="connsiteY4" fmla="*/ 0 h 457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72000" h="4572000">
                <a:moveTo>
                  <a:pt x="2286000" y="0"/>
                </a:moveTo>
                <a:cubicBezTo>
                  <a:pt x="3548523" y="0"/>
                  <a:pt x="4572000" y="1023477"/>
                  <a:pt x="4572000" y="2286000"/>
                </a:cubicBezTo>
                <a:cubicBezTo>
                  <a:pt x="4572000" y="3548523"/>
                  <a:pt x="3548523" y="4572000"/>
                  <a:pt x="2286000" y="4572000"/>
                </a:cubicBezTo>
                <a:cubicBezTo>
                  <a:pt x="1023477" y="4572000"/>
                  <a:pt x="0" y="3548523"/>
                  <a:pt x="0" y="2286000"/>
                </a:cubicBezTo>
                <a:cubicBezTo>
                  <a:pt x="0" y="1023477"/>
                  <a:pt x="1023477" y="0"/>
                  <a:pt x="2286000" y="0"/>
                </a:cubicBezTo>
                <a:close/>
              </a:path>
            </a:pathLst>
          </a:custGeom>
          <a:noFill/>
          <a:ln w="6350">
            <a:solidFill>
              <a:schemeClr val="bg1">
                <a:lumMod val="65000"/>
              </a:schemeClr>
            </a:solidFill>
          </a:ln>
          <a:effectLst/>
        </p:spPr>
      </p:pic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177B86E9-222D-4757-BE64-59540DB794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screen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8ABCD18B-D4E0-41E4-8162-7E83CB11DAE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r>
              <a:rPr lang="en-GB" dirty="0"/>
              <a:t>Click icon to add picture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C31E58F-1F16-7113-98CC-E351FD2C4EF3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9541" y="221286"/>
            <a:ext cx="2429517" cy="73854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1B8F677-2BEE-E410-A927-6BBF62BB8A7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9" cstate="print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pic>
        <p:nvPicPr>
          <p:cNvPr id="5" name="Picture 2" descr="Best Digital Marketing Agency India | Top Digital Marketing Company India">
            <a:extLst>
              <a:ext uri="{FF2B5EF4-FFF2-40B4-BE49-F238E27FC236}">
                <a16:creationId xmlns:a16="http://schemas.microsoft.com/office/drawing/2014/main" id="{87B51A84-0CAF-0E79-6BD4-2B660E2FA0B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08334" y="1361993"/>
            <a:ext cx="2429517" cy="20995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33420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 - Maro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144783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screen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80BF4AFD-B365-46D4-AAC5-485DFA5A7D4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 cstate="screen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2BC70C35-8BA7-4D49-9AF7-DC36FAB8FDA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 dirty="0"/>
          </a:p>
        </p:txBody>
      </p:sp>
      <p:sp>
        <p:nvSpPr>
          <p:cNvPr id="38" name="Hexagon 37"/>
          <p:cNvSpPr/>
          <p:nvPr userDrawn="1"/>
        </p:nvSpPr>
        <p:spPr>
          <a:xfrm rot="5400000">
            <a:off x="4309292" y="1717040"/>
            <a:ext cx="3461658" cy="2984188"/>
          </a:xfrm>
          <a:prstGeom prst="hexagon">
            <a:avLst/>
          </a:prstGeom>
          <a:solidFill>
            <a:schemeClr val="bg1">
              <a:lumMod val="95000"/>
            </a:schemeClr>
          </a:solidFill>
          <a:ln w="57150">
            <a:solidFill>
              <a:schemeClr val="accent6"/>
            </a:solidFill>
            <a:prstDash val="lgDash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9" name="TextBox 38"/>
          <p:cNvSpPr txBox="1"/>
          <p:nvPr userDrawn="1"/>
        </p:nvSpPr>
        <p:spPr>
          <a:xfrm>
            <a:off x="5014038" y="2239638"/>
            <a:ext cx="2052165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0" b="1" i="1" dirty="0"/>
              <a:t>Thank</a:t>
            </a:r>
          </a:p>
          <a:p>
            <a:pPr algn="ctr"/>
            <a:r>
              <a:rPr lang="en-US" sz="6000" b="1" i="1" dirty="0"/>
              <a:t>You</a:t>
            </a:r>
          </a:p>
        </p:txBody>
      </p:sp>
      <p:sp>
        <p:nvSpPr>
          <p:cNvPr id="41" name="Rectangle 40"/>
          <p:cNvSpPr/>
          <p:nvPr userDrawn="1"/>
        </p:nvSpPr>
        <p:spPr>
          <a:xfrm>
            <a:off x="7678346" y="2221532"/>
            <a:ext cx="4513654" cy="1951692"/>
          </a:xfrm>
          <a:prstGeom prst="rect">
            <a:avLst/>
          </a:pr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>
              <a:solidFill>
                <a:schemeClr val="tx1"/>
              </a:solidFill>
            </a:endParaRPr>
          </a:p>
        </p:txBody>
      </p:sp>
      <p:sp>
        <p:nvSpPr>
          <p:cNvPr id="42" name="Rectangle 41"/>
          <p:cNvSpPr/>
          <p:nvPr userDrawn="1"/>
        </p:nvSpPr>
        <p:spPr>
          <a:xfrm>
            <a:off x="0" y="2221532"/>
            <a:ext cx="4402106" cy="1951692"/>
          </a:xfrm>
          <a:prstGeom prst="rect">
            <a:avLst/>
          </a:pr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>
              <a:solidFill>
                <a:schemeClr val="tx1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F28A54A-6576-43EC-B296-5FCA8F873C3B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01577" y="322336"/>
            <a:ext cx="2429517" cy="738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76706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BF5063B-909B-4A7F-B502-780228043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27DDF1-16E2-4622-B8FD-0148CD5CE0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7EA166-F18A-4D32-AA1F-AE475D4910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D21B45-1703-4330-B544-825BD8F37AF2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5C5379-5B41-4775-9279-F9F7608E66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A4B342-6FD5-4BB7-B9AE-3C5081C089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41F3C7-36DD-4595-AA08-2525D86280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87572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715" r:id="rId2"/>
    <p:sldLayoutId id="2147483697" r:id="rId3"/>
    <p:sldLayoutId id="2147483699" r:id="rId4"/>
    <p:sldLayoutId id="2147483712" r:id="rId5"/>
    <p:sldLayoutId id="2147483713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4.jpeg"/><Relationship Id="rId4" Type="http://schemas.openxmlformats.org/officeDocument/2006/relationships/image" Target="../media/image23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e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image" Target="../media/image44.png"/><Relationship Id="rId7" Type="http://schemas.openxmlformats.org/officeDocument/2006/relationships/diagramColors" Target="../diagrams/colors2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jpeg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jpeg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jpg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jpg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jpeg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jpeg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jpg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gif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jpeg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jpg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jpeg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gif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jpg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jpeg"/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jpg"/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gif"/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3.xml"/></Relationships>
</file>

<file path=ppt/slides/_rels/slide8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4.xml"/><Relationship Id="rId3" Type="http://schemas.openxmlformats.org/officeDocument/2006/relationships/image" Target="../media/image71.png"/><Relationship Id="rId7" Type="http://schemas.openxmlformats.org/officeDocument/2006/relationships/diagramColors" Target="../diagrams/colors4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diagramQuickStyle" Target="../diagrams/quickStyle4.xml"/><Relationship Id="rId5" Type="http://schemas.openxmlformats.org/officeDocument/2006/relationships/diagramLayout" Target="../diagrams/layout4.xml"/><Relationship Id="rId4" Type="http://schemas.openxmlformats.org/officeDocument/2006/relationships/diagramData" Target="../diagrams/data4.xml"/><Relationship Id="rId9" Type="http://schemas.openxmlformats.org/officeDocument/2006/relationships/image" Target="../media/image72.gif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1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1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jpeg"/><Relationship Id="rId2" Type="http://schemas.openxmlformats.org/officeDocument/2006/relationships/image" Target="../media/image75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7.png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jpe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1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1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1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jpeg"/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4.png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1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gif"/><Relationship Id="rId1" Type="http://schemas.openxmlformats.org/officeDocument/2006/relationships/slideLayout" Target="../slideLayouts/slideLayout1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jpeg"/><Relationship Id="rId1" Type="http://schemas.openxmlformats.org/officeDocument/2006/relationships/slideLayout" Target="../slideLayouts/slideLayout1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1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1.xml"/></Relationships>
</file>

<file path=ppt/slides/_rels/slide1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jpg"/><Relationship Id="rId2" Type="http://schemas.openxmlformats.org/officeDocument/2006/relationships/image" Target="../media/image91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3.jpg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png"/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1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jpeg"/><Relationship Id="rId2" Type="http://schemas.openxmlformats.org/officeDocument/2006/relationships/image" Target="../media/image96.jpeg"/><Relationship Id="rId1" Type="http://schemas.openxmlformats.org/officeDocument/2006/relationships/slideLayout" Target="../slideLayouts/slideLayout1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jpg"/><Relationship Id="rId2" Type="http://schemas.openxmlformats.org/officeDocument/2006/relationships/image" Target="../media/image98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0.png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1.xml"/></Relationships>
</file>

<file path=ppt/slides/_rels/slide1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jpg"/><Relationship Id="rId2" Type="http://schemas.openxmlformats.org/officeDocument/2006/relationships/image" Target="../media/image102.jpg"/><Relationship Id="rId1" Type="http://schemas.openxmlformats.org/officeDocument/2006/relationships/slideLayout" Target="../slideLayouts/slideLayout1.xml"/></Relationships>
</file>

<file path=ppt/slides/_rels/slide1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4.jpg"/><Relationship Id="rId1" Type="http://schemas.openxmlformats.org/officeDocument/2006/relationships/slideLayout" Target="../slideLayouts/slideLayout1.xml"/></Relationships>
</file>

<file path=ppt/slides/_rels/slide1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5.jpg"/><Relationship Id="rId1" Type="http://schemas.openxmlformats.org/officeDocument/2006/relationships/slideLayout" Target="../slideLayouts/slideLayout1.xml"/></Relationships>
</file>

<file path=ppt/slides/_rels/slide1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6.jpg"/><Relationship Id="rId1" Type="http://schemas.openxmlformats.org/officeDocument/2006/relationships/slideLayout" Target="../slideLayouts/slideLayout1.xml"/></Relationships>
</file>

<file path=ppt/slides/_rels/slide1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8.png"/><Relationship Id="rId2" Type="http://schemas.openxmlformats.org/officeDocument/2006/relationships/image" Target="../media/image107.png"/><Relationship Id="rId1" Type="http://schemas.openxmlformats.org/officeDocument/2006/relationships/slideLayout" Target="../slideLayouts/slideLayout1.xml"/></Relationships>
</file>

<file path=ppt/slides/_rels/slide1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image" Target="../media/image109.png"/><Relationship Id="rId1" Type="http://schemas.openxmlformats.org/officeDocument/2006/relationships/slideLayout" Target="../slideLayouts/slideLayout1.xml"/></Relationships>
</file>

<file path=ppt/slides/_rels/slide1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1.png"/><Relationship Id="rId1" Type="http://schemas.openxmlformats.org/officeDocument/2006/relationships/slideLayout" Target="../slideLayouts/slideLayout1.xml"/></Relationships>
</file>

<file path=ppt/slides/_rels/slide1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3.png"/><Relationship Id="rId2" Type="http://schemas.openxmlformats.org/officeDocument/2006/relationships/image" Target="../media/image112.png"/><Relationship Id="rId1" Type="http://schemas.openxmlformats.org/officeDocument/2006/relationships/slideLayout" Target="../slideLayouts/slideLayout1.xml"/><Relationship Id="rId4" Type="http://schemas.microsoft.com/office/2007/relationships/hdphoto" Target="../media/hdphoto6.wdp"/></Relationships>
</file>

<file path=ppt/slides/_rels/slide1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4.png"/><Relationship Id="rId1" Type="http://schemas.openxmlformats.org/officeDocument/2006/relationships/slideLayout" Target="../slideLayouts/slideLayout1.xml"/></Relationships>
</file>

<file path=ppt/slides/_rels/slide1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5.png"/><Relationship Id="rId1" Type="http://schemas.openxmlformats.org/officeDocument/2006/relationships/slideLayout" Target="../slideLayouts/slideLayout1.xml"/></Relationships>
</file>

<file path=ppt/slides/_rels/slide158.xml.rels><?xml version="1.0" encoding="UTF-8" standalone="yes"?>
<Relationships xmlns="http://schemas.openxmlformats.org/package/2006/relationships"><Relationship Id="rId3" Type="http://schemas.microsoft.com/office/2007/relationships/hdphoto" Target="../media/hdphoto7.wdp"/><Relationship Id="rId2" Type="http://schemas.openxmlformats.org/officeDocument/2006/relationships/image" Target="../media/image116.png"/><Relationship Id="rId1" Type="http://schemas.openxmlformats.org/officeDocument/2006/relationships/slideLayout" Target="../slideLayouts/slideLayout1.xml"/></Relationships>
</file>

<file path=ppt/slides/_rels/slide159.xml.rels><?xml version="1.0" encoding="UTF-8" standalone="yes"?>
<Relationships xmlns="http://schemas.openxmlformats.org/package/2006/relationships"><Relationship Id="rId3" Type="http://schemas.microsoft.com/office/2007/relationships/hdphoto" Target="../media/hdphoto8.wdp"/><Relationship Id="rId2" Type="http://schemas.openxmlformats.org/officeDocument/2006/relationships/image" Target="../media/image117.png"/><Relationship Id="rId1" Type="http://schemas.openxmlformats.org/officeDocument/2006/relationships/slideLayout" Target="../slideLayouts/slideLayout1.xml"/></Relationships>
</file>

<file path=ppt/slides/_rels/slide1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8.gif"/><Relationship Id="rId1" Type="http://schemas.openxmlformats.org/officeDocument/2006/relationships/slideLayout" Target="../slideLayouts/slideLayout1.xml"/></Relationships>
</file>

<file path=ppt/slides/_rels/slide1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0A5353-D4D5-43D7-A039-6CFC6871D6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9489" y="1122364"/>
            <a:ext cx="7721599" cy="2578780"/>
          </a:xfrm>
        </p:spPr>
        <p:txBody>
          <a:bodyPr/>
          <a:lstStyle/>
          <a:p>
            <a:r>
              <a:rPr lang="en-US" sz="4800" b="0" dirty="0">
                <a:latin typeface="Roboto Condensed Light" panose="02000000000000000000" pitchFamily="2" charset="0"/>
                <a:ea typeface="Roboto Condensed Light" panose="02000000000000000000" pitchFamily="2" charset="0"/>
              </a:rPr>
              <a:t>Unit-2 </a:t>
            </a:r>
            <a:r>
              <a:rPr lang="en-US" dirty="0"/>
              <a:t> </a:t>
            </a:r>
            <a:br>
              <a:rPr lang="en-US" dirty="0"/>
            </a:br>
            <a:r>
              <a:rPr lang="en-US" sz="4800" dirty="0"/>
              <a:t>Digital Marketing Strategy, Channels &amp; Analytics </a:t>
            </a:r>
            <a:br>
              <a:rPr lang="en-US" sz="4800" dirty="0"/>
            </a:br>
            <a:b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212121">
                    <a:lumMod val="90000"/>
                    <a:lumOff val="10000"/>
                  </a:srgb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Roboto Condensed"/>
                <a:ea typeface="Segoe UI Black" panose="020B0A02040204020203" pitchFamily="34" charset="0"/>
                <a:cs typeface="+mn-cs"/>
              </a:rPr>
            </a:br>
            <a:r>
              <a:rPr kumimoji="0" lang="en-US" sz="2400" i="0" u="none" strike="noStrike" kern="1200" cap="none" spc="0" normalizeH="0" baseline="0" noProof="0" dirty="0">
                <a:ln>
                  <a:noFill/>
                </a:ln>
                <a:solidFill>
                  <a:srgbClr val="212121">
                    <a:lumMod val="90000"/>
                    <a:lumOff val="10000"/>
                  </a:srgbClr>
                </a:solidFill>
                <a:effectLst/>
                <a:uLnTx/>
                <a:uFillTx/>
                <a:latin typeface="Roboto Condensed"/>
                <a:ea typeface="Segoe UI Black" panose="020B0A02040204020203" pitchFamily="34" charset="0"/>
                <a:cs typeface="+mn-cs"/>
              </a:rPr>
              <a:t>CO2: Understand Google Analytics 4 to monitor web traffic and multi-channel performance metrics. </a:t>
            </a:r>
            <a:endParaRPr lang="en-US" sz="48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D4005A-4647-4086-9144-7BCC7DFEFB1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prashant.parmar@darshan.ac.in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817D43-889A-4049-ACFD-9B3B648B6A9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9586371604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6"/>
          </p:nvPr>
        </p:nvSpPr>
        <p:spPr>
          <a:xfrm>
            <a:off x="2622014" y="16125"/>
            <a:ext cx="4796701" cy="734653"/>
          </a:xfrm>
        </p:spPr>
        <p:txBody>
          <a:bodyPr/>
          <a:lstStyle/>
          <a:p>
            <a:r>
              <a:rPr lang="en-US" b="1" dirty="0"/>
              <a:t>Digital Marketing </a:t>
            </a:r>
            <a:r>
              <a:rPr lang="en-US" b="1" dirty="0">
                <a:latin typeface="Roboto Condensed Light" panose="02000000000000000000" pitchFamily="2" charset="0"/>
                <a:ea typeface="Roboto Condensed Light" panose="02000000000000000000" pitchFamily="2" charset="0"/>
              </a:rPr>
              <a:t>&amp; SEO</a:t>
            </a:r>
            <a:endParaRPr lang="en-US" dirty="0"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  <a:p>
            <a:r>
              <a:rPr lang="en-US" dirty="0">
                <a:latin typeface="Roboto Condensed Light" panose="02000000000000000000" pitchFamily="2" charset="0"/>
                <a:ea typeface="Roboto Condensed Light" panose="02000000000000000000" pitchFamily="2" charset="0"/>
              </a:rPr>
              <a:t>2505CS313 </a:t>
            </a:r>
          </a:p>
        </p:txBody>
      </p:sp>
      <p:pic>
        <p:nvPicPr>
          <p:cNvPr id="9" name="Picture Placeholder 8">
            <a:extLst>
              <a:ext uri="{FF2B5EF4-FFF2-40B4-BE49-F238E27FC236}">
                <a16:creationId xmlns:a16="http://schemas.microsoft.com/office/drawing/2014/main" id="{584A57FF-19EF-43E1-91D9-088BF9610532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457" b="13457"/>
          <a:stretch>
            <a:fillRect/>
          </a:stretch>
        </p:blipFill>
        <p:spPr/>
      </p:pic>
      <p:sp>
        <p:nvSpPr>
          <p:cNvPr id="11" name="AutoShape 3">
            <a:extLst>
              <a:ext uri="{FF2B5EF4-FFF2-40B4-BE49-F238E27FC236}">
                <a16:creationId xmlns:a16="http://schemas.microsoft.com/office/drawing/2014/main" id="{3D1B70E7-2396-452E-A00A-D1D4AA1E56DF}"/>
              </a:ext>
            </a:extLst>
          </p:cNvPr>
          <p:cNvSpPr>
            <a:spLocks noChangeAspect="1" noChangeArrowheads="1" noTextEdit="1"/>
          </p:cNvSpPr>
          <p:nvPr/>
        </p:nvSpPr>
        <p:spPr bwMode="auto">
          <a:xfrm>
            <a:off x="5573676" y="-3055324"/>
            <a:ext cx="7721600" cy="14573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212E439E-AF22-4AAF-4C3A-2D32858B9C3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Darshan Institute of Management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748DDFB4-80CE-5831-5B54-23E2F30A4E8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Mr. Prashant Parmar</a:t>
            </a:r>
          </a:p>
        </p:txBody>
      </p:sp>
    </p:spTree>
    <p:extLst>
      <p:ext uri="{BB962C8B-B14F-4D97-AF65-F5344CB8AC3E}">
        <p14:creationId xmlns:p14="http://schemas.microsoft.com/office/powerpoint/2010/main" val="6610019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9EBF344-4A7B-4C4A-AF6D-6441BD040AB3}"/>
              </a:ext>
            </a:extLst>
          </p:cNvPr>
          <p:cNvCxnSpPr>
            <a:cxnSpLocks/>
            <a:endCxn id="6" idx="0"/>
          </p:cNvCxnSpPr>
          <p:nvPr/>
        </p:nvCxnSpPr>
        <p:spPr>
          <a:xfrm>
            <a:off x="1191446" y="0"/>
            <a:ext cx="0" cy="68290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A925EF2-D58F-4AC0-ACED-F747CC08D69F}"/>
              </a:ext>
            </a:extLst>
          </p:cNvPr>
          <p:cNvCxnSpPr>
            <a:cxnSpLocks/>
          </p:cNvCxnSpPr>
          <p:nvPr/>
        </p:nvCxnSpPr>
        <p:spPr>
          <a:xfrm>
            <a:off x="1191446" y="5063613"/>
            <a:ext cx="0" cy="1794387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val 5">
            <a:extLst>
              <a:ext uri="{FF2B5EF4-FFF2-40B4-BE49-F238E27FC236}">
                <a16:creationId xmlns:a16="http://schemas.microsoft.com/office/drawing/2014/main" id="{4BD1E24D-7739-4C4F-8234-2614FB54ADBC}"/>
              </a:ext>
            </a:extLst>
          </p:cNvPr>
          <p:cNvSpPr/>
          <p:nvPr/>
        </p:nvSpPr>
        <p:spPr>
          <a:xfrm>
            <a:off x="954165" y="682906"/>
            <a:ext cx="474562" cy="474562"/>
          </a:xfrm>
          <a:prstGeom prst="ellips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ym typeface="Wingdings 2" panose="05020102010507070707" pitchFamily="18" charset="2"/>
              </a:rPr>
              <a:t></a:t>
            </a:r>
            <a:endParaRPr lang="en-US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0F422F9-3B3A-4A97-ADB3-F83B13E11C16}"/>
              </a:ext>
            </a:extLst>
          </p:cNvPr>
          <p:cNvSpPr txBox="1"/>
          <p:nvPr/>
        </p:nvSpPr>
        <p:spPr>
          <a:xfrm>
            <a:off x="1428727" y="776345"/>
            <a:ext cx="10125962" cy="5037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74738" lvl="2" indent="-514350" algn="just"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2400" dirty="0"/>
              <a:t>Digital Marketing Plan &amp; Strategies: AIDA Model, Pirate Model, The P-O-E-M Framework</a:t>
            </a:r>
          </a:p>
          <a:p>
            <a:pPr marL="1074738" lvl="2" indent="-514350" algn="just"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2400" dirty="0"/>
              <a:t>Buying Models: Cost per Click (CPC), Cost per Mille (CPM), Cost per Lead (CPL), and Cost per Acquisition (CPA), Types of Digital </a:t>
            </a:r>
          </a:p>
          <a:p>
            <a:pPr marL="1074738" lvl="2" indent="-514350" algn="just"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2400" dirty="0"/>
              <a:t>Marketing Channels: Website, Content Marketing, Search Engine Optimization, Email Marketing, Affiliate Marketing, Referral Marketing, Influencer Marketing, Online Public Relation, Conversational AI, Web Blogs, Page Tagging; </a:t>
            </a:r>
          </a:p>
          <a:p>
            <a:pPr marL="1074738" lvl="2" indent="-514350" algn="just"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2400" dirty="0"/>
              <a:t>Google Analytics 4: Setup and Configuration, Conversion Tracking and Goal Setting, </a:t>
            </a:r>
          </a:p>
          <a:p>
            <a:pPr marL="1074738" lvl="2" indent="-514350" algn="just"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2400" dirty="0"/>
              <a:t>Key Metrics: Unique Visitors, Pageviews, Pages/Visit, Average Visit Duration, Bounce Rate, New Visits.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34260FD-CAA3-43A0-977C-7E4B57013872}"/>
              </a:ext>
            </a:extLst>
          </p:cNvPr>
          <p:cNvCxnSpPr>
            <a:cxnSpLocks/>
          </p:cNvCxnSpPr>
          <p:nvPr/>
        </p:nvCxnSpPr>
        <p:spPr>
          <a:xfrm>
            <a:off x="1191446" y="1157468"/>
            <a:ext cx="0" cy="3979075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564416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2702C7-98F5-448B-825B-13417C2344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6000" dirty="0"/>
              <a:t>Digital Marketing Plan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7DE491-B6D0-47AA-A1FF-8C35FBD745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06036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E7E768-D26E-4F34-BD70-CDD265C222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Digital Marketing Plan?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4CB975-495A-49FE-B94F-C4D73E0A40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</a:t>
            </a:r>
            <a:r>
              <a:rPr lang="en-US" b="1" dirty="0">
                <a:solidFill>
                  <a:srgbClr val="C00000"/>
                </a:solidFill>
              </a:rPr>
              <a:t>digital marketing plan </a:t>
            </a:r>
            <a:r>
              <a:rPr lang="en-US" dirty="0"/>
              <a:t>is a comprehensive strategy outlining how your company will use digital channels to promote its products and services.</a:t>
            </a:r>
          </a:p>
          <a:p>
            <a:r>
              <a:rPr lang="en-US" dirty="0"/>
              <a:t> it focuses on identifying your </a:t>
            </a:r>
            <a:r>
              <a:rPr lang="en-US" b="1" dirty="0"/>
              <a:t>target audience.</a:t>
            </a:r>
          </a:p>
          <a:p>
            <a:r>
              <a:rPr lang="en-US" dirty="0"/>
              <a:t>connecting with consumers via </a:t>
            </a:r>
            <a:r>
              <a:rPr lang="en-US" b="1" dirty="0"/>
              <a:t>online platforms and channels.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45272FC-6225-4F80-ADB5-427A9DAA1CF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981" t="12590" r="16378" b="12590"/>
          <a:stretch/>
        </p:blipFill>
        <p:spPr>
          <a:xfrm>
            <a:off x="7459579" y="2627671"/>
            <a:ext cx="3737812" cy="3222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97303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CFC0BA-C8BE-4DDE-A743-3DDBCD4720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Digital Marketing Plan?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737A98-5551-4D8E-8A30-7F9A371E33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A Digital Marketing Plan is a written roadmap that explains:</a:t>
            </a:r>
          </a:p>
          <a:p>
            <a:pPr lvl="1"/>
            <a:r>
              <a:rPr lang="en-US" dirty="0"/>
              <a:t>Marketing goals, Target customers </a:t>
            </a:r>
          </a:p>
          <a:p>
            <a:pPr lvl="1"/>
            <a:r>
              <a:rPr lang="en-US" dirty="0"/>
              <a:t>Marketing channels </a:t>
            </a:r>
          </a:p>
          <a:p>
            <a:pPr lvl="1"/>
            <a:r>
              <a:rPr lang="en-US" dirty="0"/>
              <a:t>Budget, </a:t>
            </a:r>
          </a:p>
          <a:p>
            <a:pPr lvl="1"/>
            <a:r>
              <a:rPr lang="en-US" dirty="0"/>
              <a:t>Timeline </a:t>
            </a:r>
          </a:p>
          <a:p>
            <a:pPr lvl="1"/>
            <a:r>
              <a:rPr lang="en-US" dirty="0"/>
              <a:t>Performance measurement </a:t>
            </a:r>
          </a:p>
          <a:p>
            <a:r>
              <a:rPr lang="en-US" dirty="0"/>
              <a:t>It helps businesses use resources effectively.</a:t>
            </a:r>
            <a:endParaRPr lang="en-US" b="1" dirty="0"/>
          </a:p>
          <a:p>
            <a:r>
              <a:rPr lang="en-US" b="1" dirty="0"/>
              <a:t>Example: </a:t>
            </a:r>
            <a:r>
              <a:rPr lang="en-US" dirty="0"/>
              <a:t>A coaching institute prepares a 3-month online admission campaign.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60928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C70B0D-9183-482D-8A48-6EC8C82708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Digital Marketing Plan: Importance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C6D62E-C5D4-4799-A3E9-C3806B8480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Benefits</a:t>
            </a:r>
          </a:p>
          <a:p>
            <a:pPr lvl="1"/>
            <a:r>
              <a:rPr lang="en-US" dirty="0"/>
              <a:t>Gives clear direction </a:t>
            </a:r>
          </a:p>
          <a:p>
            <a:pPr lvl="1"/>
            <a:r>
              <a:rPr lang="en-US" dirty="0"/>
              <a:t>Saves time and money </a:t>
            </a:r>
          </a:p>
          <a:p>
            <a:pPr lvl="1"/>
            <a:r>
              <a:rPr lang="en-US" dirty="0"/>
              <a:t>Improves customer reach </a:t>
            </a:r>
          </a:p>
          <a:p>
            <a:pPr lvl="1"/>
            <a:r>
              <a:rPr lang="en-US" dirty="0"/>
              <a:t>Increases sales </a:t>
            </a:r>
          </a:p>
          <a:p>
            <a:pPr lvl="1"/>
            <a:r>
              <a:rPr lang="en-US" dirty="0"/>
              <a:t>Helps measure performance </a:t>
            </a:r>
          </a:p>
          <a:p>
            <a:pPr lvl="1"/>
            <a:r>
              <a:rPr lang="en-US" dirty="0"/>
              <a:t>Supports better decision making </a:t>
            </a:r>
          </a:p>
          <a:p>
            <a:r>
              <a:rPr lang="en-US" b="1" dirty="0"/>
              <a:t>Example: </a:t>
            </a:r>
            <a:r>
              <a:rPr lang="en-US" dirty="0"/>
              <a:t>Without planning, advertisements may target the wrong audience and waste budget.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5F123F0-23B6-47EE-9CBE-8DA4C9A9B5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3708" y="4203031"/>
            <a:ext cx="1615061" cy="161506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7F187CA-9462-48DB-8467-75EB8E7161C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7886" y="4129180"/>
            <a:ext cx="1865376" cy="186537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700B5A3-F78D-4CE9-AC0A-35E76D0E56F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2380" y="4203031"/>
            <a:ext cx="1865376" cy="186537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6FD5D30-4294-4753-8D1E-3AEE3CB8D797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66" t="10370" r="6959" b="8111"/>
          <a:stretch/>
        </p:blipFill>
        <p:spPr>
          <a:xfrm>
            <a:off x="8366874" y="4270836"/>
            <a:ext cx="1828558" cy="1729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09752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FDE61B-5ED8-4CF4-9653-297B418DC7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Digital Marketing Plan: Components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644DAD-22F6-4148-90E9-D995916BC4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A good plan includes:</a:t>
            </a:r>
          </a:p>
          <a:p>
            <a:pPr lvl="1"/>
            <a:r>
              <a:rPr lang="en-US" dirty="0"/>
              <a:t>Business Goals </a:t>
            </a:r>
          </a:p>
          <a:p>
            <a:pPr lvl="1"/>
            <a:r>
              <a:rPr lang="en-US" dirty="0"/>
              <a:t>Target Audience </a:t>
            </a:r>
          </a:p>
          <a:p>
            <a:pPr lvl="1"/>
            <a:r>
              <a:rPr lang="en-US" dirty="0"/>
              <a:t>Market Research </a:t>
            </a:r>
          </a:p>
          <a:p>
            <a:pPr lvl="1"/>
            <a:r>
              <a:rPr lang="en-US" dirty="0"/>
              <a:t>Competitor Analysis </a:t>
            </a:r>
          </a:p>
          <a:p>
            <a:pPr lvl="1"/>
            <a:r>
              <a:rPr lang="en-US" dirty="0"/>
              <a:t>Digital Channels </a:t>
            </a:r>
          </a:p>
          <a:p>
            <a:pPr lvl="1"/>
            <a:r>
              <a:rPr lang="en-US" dirty="0"/>
              <a:t>Content Strategy </a:t>
            </a:r>
          </a:p>
          <a:p>
            <a:pPr lvl="1"/>
            <a:r>
              <a:rPr lang="en-US" dirty="0"/>
              <a:t>Budget </a:t>
            </a:r>
          </a:p>
          <a:p>
            <a:pPr lvl="1"/>
            <a:r>
              <a:rPr lang="en-US" dirty="0"/>
              <a:t>Timeline </a:t>
            </a:r>
          </a:p>
          <a:p>
            <a:pPr lvl="1"/>
            <a:r>
              <a:rPr lang="en-US" dirty="0"/>
              <a:t>KPIs </a:t>
            </a:r>
          </a:p>
          <a:p>
            <a:r>
              <a:rPr lang="en-US" b="1" dirty="0"/>
              <a:t>Example: </a:t>
            </a:r>
            <a:r>
              <a:rPr lang="en-US" dirty="0"/>
              <a:t>An online clothing brand prepares all these before launching a festive sale.</a:t>
            </a:r>
          </a:p>
          <a:p>
            <a:pPr marL="0" indent="0">
              <a:buNone/>
            </a:pP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7364992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60710-282E-4C20-8D1B-56F6C84075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Digital Marketing Plan: Process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418EF73-389C-4A28-952F-BD2C580F76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7" name="Content Placeholder 5">
            <a:extLst>
              <a:ext uri="{FF2B5EF4-FFF2-40B4-BE49-F238E27FC236}">
                <a16:creationId xmlns:a16="http://schemas.microsoft.com/office/drawing/2014/main" id="{D185E45F-E4AE-4755-88E4-08E43E494DA3}"/>
              </a:ext>
            </a:extLst>
          </p:cNvPr>
          <p:cNvGraphicFramePr>
            <a:graphicFrameLocks/>
          </p:cNvGraphicFramePr>
          <p:nvPr/>
        </p:nvGraphicFramePr>
        <p:xfrm>
          <a:off x="283580" y="1015844"/>
          <a:ext cx="11929641" cy="559056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044272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BC86A260-5C32-4668-9B50-E817C817415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FCD90E13-C0C1-4923-9859-1944297F749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4A2FE545-6F3E-47B0-A51C-6A9115C7CA1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41CA95A2-AE1D-4EC8-9548-9A8194A32EF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CE357DE8-5519-4208-8F8E-8C57A1D6559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A3C95C9D-EF79-450F-87BF-0734319D010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072B98A0-A342-4847-A665-6DF975CE6A6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BAC3F0DE-EF35-4ED6-9FB7-D1B13AAFC91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AE1A0BE2-683B-4AD3-AB0F-3CD0DB73F6E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E7576008-F6CC-41C7-8244-733669DB6D8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42A1A7DA-149B-4751-B92C-5F71CD54315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61D03D47-3B9F-473D-AC3F-28B08C66DFF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265EEB38-5D74-46CF-985F-28F2D535F99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06F45C57-C26E-493C-AAFB-49D703B6153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D94080B3-7112-4136-8521-3F5CBF4F881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2D4F60DA-26A4-476C-BCC3-A72066B611B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FDAFF592-E380-4A6F-9765-D2A325C736F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6D1FA909-4CB0-4A9E-A4EF-3B19A7C518B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CC209185-82C6-4AE8-BD37-4D9BC45A707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3B99BB7B-B70D-4780-B960-D13F9AA2AB2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B1948F72-4F3E-4A63-AA95-BAD926F454B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A35C07A4-A55D-491F-9342-39AA612FE70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442A7023-007D-4AAF-A1DD-75889DF4424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24DCBBD5-7231-46A1-96A0-C604027738D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10F13966-D4AE-4248-89D2-C95CA076995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E6F3673C-7A8F-4AF2-83E0-E1FCF1765A6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A296A3BF-2986-473F-A3E1-E14D0232CF0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FE220818-7E21-4A1A-81DF-EEEECD1E57F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F11A087B-3B57-4ED1-ADEF-DBA874B4031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AF72B0A1-EA30-457A-BB59-AA4207FD95C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40750EEC-9D9C-4AED-A2A1-FC7B5EBFD03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2A427A5E-593D-4918-BB1B-02BFE33869B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3474D082-6532-462D-8187-166F3146E08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B91D84DC-0A2E-41F3-AFEB-2B97895DFC7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309E7E56-C3A6-46D1-8B56-ABA68CA9633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FBD47C32-A6E1-4BDB-9B3E-2629A8D6C90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2903F0AA-67EC-4D1E-902F-F03C5B9EBEB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D160DD44-5AF8-400C-BFFC-66339B89855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4D251350-D10F-43DD-B2C5-6BA47CB00B5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122E110D-6B30-4FEC-914A-816DAC01B58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243E0C1B-83CD-4A52-B315-5ABEDC5B237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06513E06-8A64-447C-867D-262111A8FD9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D8505424-E947-4249-BADE-3F2345E0332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B94FA5FC-57D6-4DD1-814D-E23930413E5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5832E949-F5F4-416C-9E0A-5F05C1D9A27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30E138D5-BE5D-4135-AC17-6E960F9359B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5DBD07F8-4161-4CBE-85CA-690FE89D9FF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78A24440-D5C4-4D0B-9D81-069CA4006A3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9FBD226A-6010-4A98-B0B0-30C01BD9EF2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77A8DA51-E3C0-4B13-8829-11B81AB038F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51E896E3-67F2-470B-B529-AE09936EC1D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67DA1480-D6A4-46C1-96E5-32AD834529B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6E813DE7-E0C5-4BAB-B85B-836D5501241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A88A9E9D-2283-4001-85FA-723E69371EB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3FDAF61B-055C-4642-84C7-83021A506F1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4F93961B-C899-4EA9-B972-C2E5334DCDF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22BF927B-1906-4188-9E57-80AB73DE7F7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7788ABB5-53EB-4F10-BE04-B01D44C98F3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3885F850-FEC3-45B5-A29E-24E9512F1E8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3BDE92BF-29D0-4EE3-AB99-D2C76CED44B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4F4ED6EA-F29D-41B7-BC74-ABBB8201E8B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indefinite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FD44AFE5-67AA-4F09-A47A-F265AE0E38E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7" grpId="0" uiExpand="1">
        <p:bldSub>
          <a:bldDgm bld="one"/>
        </p:bldSub>
      </p:bldGraphic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60710-282E-4C20-8D1B-56F6C84075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Digital Marketing Plan: Process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144E11-1416-4492-82C4-673973200A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rgbClr val="C00000"/>
                </a:solidFill>
              </a:rPr>
              <a:t>Situation Analysis</a:t>
            </a:r>
          </a:p>
          <a:p>
            <a:r>
              <a:rPr lang="en-US" dirty="0"/>
              <a:t>Understand the current position of the business by analyzing</a:t>
            </a:r>
          </a:p>
          <a:p>
            <a:pPr lvl="1"/>
            <a:r>
              <a:rPr lang="en-US" dirty="0"/>
              <a:t> products, </a:t>
            </a:r>
          </a:p>
          <a:p>
            <a:pPr lvl="1"/>
            <a:r>
              <a:rPr lang="en-US" dirty="0"/>
              <a:t>customers, </a:t>
            </a:r>
          </a:p>
          <a:p>
            <a:pPr lvl="1"/>
            <a:r>
              <a:rPr lang="en-US" dirty="0"/>
              <a:t>competitors, and </a:t>
            </a:r>
          </a:p>
          <a:p>
            <a:pPr lvl="1"/>
            <a:r>
              <a:rPr lang="en-US" dirty="0"/>
              <a:t>online presence. </a:t>
            </a:r>
          </a:p>
          <a:p>
            <a:r>
              <a:rPr lang="en-US" dirty="0"/>
              <a:t>This helps identify strengths, weaknesses, opportunities, and challenges before planning.</a:t>
            </a:r>
            <a:endParaRPr lang="en-US" b="1" dirty="0"/>
          </a:p>
          <a:p>
            <a:r>
              <a:rPr lang="en-US" b="1" dirty="0"/>
              <a:t>Example: </a:t>
            </a:r>
            <a:r>
              <a:rPr lang="en-US" dirty="0"/>
              <a:t>A local café finds that it has good Instagram engagement but low website traffic.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E79A6C2-B552-4B85-8C82-585241EE9B3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86" r="13409" b="11550"/>
          <a:stretch/>
        </p:blipFill>
        <p:spPr>
          <a:xfrm>
            <a:off x="5046924" y="4026568"/>
            <a:ext cx="2877876" cy="2275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57199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60710-282E-4C20-8D1B-56F6C84075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Digital Marketing Plan: Process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144E11-1416-4492-82C4-673973200A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1" y="863444"/>
            <a:ext cx="8403220" cy="5590565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rgbClr val="C00000"/>
                </a:solidFill>
              </a:rPr>
              <a:t>Set Marketing Objectives</a:t>
            </a:r>
          </a:p>
          <a:p>
            <a:r>
              <a:rPr lang="en-US" dirty="0"/>
              <a:t>Define clear and measurable goals that the business wants to achieve through digital marketing.</a:t>
            </a:r>
          </a:p>
          <a:p>
            <a:r>
              <a:rPr lang="en-US" dirty="0"/>
              <a:t> Objectives should follow the SMART </a:t>
            </a:r>
          </a:p>
          <a:p>
            <a:pPr lvl="1"/>
            <a:r>
              <a:rPr lang="en-US" dirty="0"/>
              <a:t>Specific, </a:t>
            </a:r>
          </a:p>
          <a:p>
            <a:pPr lvl="1"/>
            <a:r>
              <a:rPr lang="en-US" dirty="0"/>
              <a:t>Measurable, </a:t>
            </a:r>
          </a:p>
          <a:p>
            <a:pPr lvl="1"/>
            <a:r>
              <a:rPr lang="en-US" dirty="0"/>
              <a:t>Attainable, </a:t>
            </a:r>
          </a:p>
          <a:p>
            <a:pPr lvl="1"/>
            <a:r>
              <a:rPr lang="en-US" dirty="0"/>
              <a:t>Relevant, </a:t>
            </a:r>
          </a:p>
          <a:p>
            <a:pPr lvl="1"/>
            <a:r>
              <a:rPr lang="en-US" dirty="0"/>
              <a:t>Time-bound</a:t>
            </a:r>
          </a:p>
          <a:p>
            <a:r>
              <a:rPr lang="en-US" b="1" dirty="0"/>
              <a:t>Example: </a:t>
            </a:r>
            <a:r>
              <a:rPr lang="en-US" dirty="0"/>
              <a:t>Increase website traffic by 30% and generate 100 online inquiries within the next three months.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3EEE2C8-7ED0-43F8-923C-6CE6E8DAFC5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38" t="22300" r="5098" b="22433"/>
          <a:stretch/>
        </p:blipFill>
        <p:spPr>
          <a:xfrm>
            <a:off x="5051870" y="1941095"/>
            <a:ext cx="6883456" cy="2229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8565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60710-282E-4C20-8D1B-56F6C84075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Digital Marketing Plan: Process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144E11-1416-4492-82C4-673973200A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7376525" cy="5590565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rgbClr val="C00000"/>
                </a:solidFill>
              </a:rPr>
              <a:t>Identify the Target Audience</a:t>
            </a:r>
          </a:p>
          <a:p>
            <a:r>
              <a:rPr lang="en-US" dirty="0"/>
              <a:t>Determine who the ideal customers are based on factors such as </a:t>
            </a:r>
          </a:p>
          <a:p>
            <a:pPr lvl="1"/>
            <a:r>
              <a:rPr lang="en-US" dirty="0"/>
              <a:t>age, </a:t>
            </a:r>
          </a:p>
          <a:p>
            <a:pPr lvl="1"/>
            <a:r>
              <a:rPr lang="en-US" dirty="0"/>
              <a:t>location, </a:t>
            </a:r>
          </a:p>
          <a:p>
            <a:pPr lvl="1"/>
            <a:r>
              <a:rPr lang="en-US" dirty="0"/>
              <a:t>interests, </a:t>
            </a:r>
          </a:p>
          <a:p>
            <a:pPr lvl="1"/>
            <a:r>
              <a:rPr lang="en-US" dirty="0"/>
              <a:t>income, </a:t>
            </a:r>
          </a:p>
          <a:p>
            <a:pPr lvl="1"/>
            <a:r>
              <a:rPr lang="en-US" dirty="0"/>
              <a:t>online behavior. </a:t>
            </a:r>
          </a:p>
          <a:p>
            <a:r>
              <a:rPr lang="en-US" dirty="0"/>
              <a:t>Understanding the audience helps create relevant marketing campaigns.</a:t>
            </a:r>
          </a:p>
          <a:p>
            <a:r>
              <a:rPr lang="en-US" b="1" dirty="0"/>
              <a:t>Example: </a:t>
            </a:r>
            <a:r>
              <a:rPr lang="en-US" dirty="0"/>
              <a:t>An online coding course targets college students aged 18–25 who are interested in programming and technology.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6E70946-E3EE-40A5-A490-BAC57D2033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4225" y="1648327"/>
            <a:ext cx="4036595" cy="2691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65580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60710-282E-4C20-8D1B-56F6C84075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Digital Marketing Plan: Process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144E11-1416-4492-82C4-673973200A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6806861" cy="5590565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rgbClr val="C00000"/>
                </a:solidFill>
              </a:rPr>
              <a:t>Conduct Competitor Analysis</a:t>
            </a:r>
          </a:p>
          <a:p>
            <a:pPr lvl="1"/>
            <a:r>
              <a:rPr lang="en-US" dirty="0"/>
              <a:t>Study </a:t>
            </a:r>
          </a:p>
          <a:p>
            <a:pPr lvl="1"/>
            <a:r>
              <a:rPr lang="en-US" dirty="0"/>
              <a:t>competitors' websites, </a:t>
            </a:r>
          </a:p>
          <a:p>
            <a:pPr lvl="1"/>
            <a:r>
              <a:rPr lang="en-US" dirty="0"/>
              <a:t>social media activities, </a:t>
            </a:r>
          </a:p>
          <a:p>
            <a:pPr lvl="1"/>
            <a:r>
              <a:rPr lang="en-US" dirty="0"/>
              <a:t>advertisements,  </a:t>
            </a:r>
          </a:p>
          <a:p>
            <a:pPr lvl="1"/>
            <a:r>
              <a:rPr lang="en-US" dirty="0"/>
              <a:t>SEO strategies </a:t>
            </a:r>
          </a:p>
          <a:p>
            <a:r>
              <a:rPr lang="en-US" dirty="0"/>
              <a:t>Identify their strengths and areas where your business can perform better.</a:t>
            </a:r>
          </a:p>
          <a:p>
            <a:r>
              <a:rPr lang="en-US" b="1" dirty="0"/>
              <a:t>Example: </a:t>
            </a:r>
            <a:r>
              <a:rPr lang="en-US" dirty="0"/>
              <a:t>A new clothing brand analyzes how Myntra and local fashion stores promote seasonal sales on Instagram.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17C3E7-2874-4747-9D85-046F7AF424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58526" y="1138990"/>
            <a:ext cx="5002294" cy="3751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3692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60710-282E-4C20-8D1B-56F6C84075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Digital Marketing Plan: Process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144E11-1416-4492-82C4-673973200A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rgbClr val="C00000"/>
                </a:solidFill>
              </a:rPr>
              <a:t>Select Digital Marketing Channels</a:t>
            </a:r>
          </a:p>
          <a:p>
            <a:r>
              <a:rPr lang="en-US" dirty="0"/>
              <a:t>Choose the most suitable online platforms based on business goals and where the target audience spends most of their time. </a:t>
            </a:r>
          </a:p>
          <a:p>
            <a:r>
              <a:rPr lang="en-US" dirty="0"/>
              <a:t>Different channels serve different marketing purposes.</a:t>
            </a:r>
          </a:p>
          <a:p>
            <a:r>
              <a:rPr lang="en-US" b="1" dirty="0"/>
              <a:t>Example: </a:t>
            </a:r>
            <a:r>
              <a:rPr lang="en-US" dirty="0"/>
              <a:t>A restaurant uses Instagram for food promotions, Google Business Profile for local searches, and WhatsApp for customer orders.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484BF77-53A6-41F8-B64E-E1909A17CD8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713"/>
          <a:stretch/>
        </p:blipFill>
        <p:spPr>
          <a:xfrm>
            <a:off x="2847472" y="3429000"/>
            <a:ext cx="6497055" cy="3012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61830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60710-282E-4C20-8D1B-56F6C84075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Digital Marketing Plan: Process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144E11-1416-4492-82C4-673973200A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rgbClr val="C00000"/>
                </a:solidFill>
              </a:rPr>
              <a:t>Develop a Content Strategy</a:t>
            </a:r>
          </a:p>
          <a:p>
            <a:r>
              <a:rPr lang="en-US" dirty="0"/>
              <a:t>Plan the </a:t>
            </a:r>
          </a:p>
          <a:p>
            <a:pPr lvl="1"/>
            <a:r>
              <a:rPr lang="en-US" dirty="0"/>
              <a:t>type of content, </a:t>
            </a:r>
          </a:p>
          <a:p>
            <a:pPr lvl="1"/>
            <a:r>
              <a:rPr lang="en-US" dirty="0"/>
              <a:t>posting schedule, and </a:t>
            </a:r>
          </a:p>
          <a:p>
            <a:pPr lvl="1"/>
            <a:r>
              <a:rPr lang="en-US" dirty="0"/>
              <a:t>communication style </a:t>
            </a:r>
          </a:p>
          <a:p>
            <a:r>
              <a:rPr lang="en-US" dirty="0"/>
              <a:t>To engage customers and provide useful information. </a:t>
            </a:r>
          </a:p>
          <a:p>
            <a:r>
              <a:rPr lang="en-US" dirty="0"/>
              <a:t>High-quality content builds trust and attracts more visitors.</a:t>
            </a:r>
          </a:p>
          <a:p>
            <a:r>
              <a:rPr lang="en-US" b="1" dirty="0"/>
              <a:t>Example: </a:t>
            </a:r>
            <a:r>
              <a:rPr lang="en-US" dirty="0"/>
              <a:t>A fitness center shares workout videos, healthy diet tips, success stories, and promotional offers every week.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185CD8B-2D66-4FAD-8AED-F4CF2D7374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82916" y="4171862"/>
            <a:ext cx="2434390" cy="2434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32805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60710-282E-4C20-8D1B-56F6C84075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Digital Marketing Plan: Process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144E11-1416-4492-82C4-673973200A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rgbClr val="C00000"/>
                </a:solidFill>
              </a:rPr>
              <a:t>Allocate Budget and Resources</a:t>
            </a:r>
          </a:p>
          <a:p>
            <a:r>
              <a:rPr lang="en-US" dirty="0"/>
              <a:t>Estimate the cost of </a:t>
            </a:r>
          </a:p>
          <a:p>
            <a:pPr lvl="1"/>
            <a:r>
              <a:rPr lang="en-US" dirty="0"/>
              <a:t>advertisements, </a:t>
            </a:r>
          </a:p>
          <a:p>
            <a:pPr lvl="1"/>
            <a:r>
              <a:rPr lang="en-US" dirty="0"/>
              <a:t>content creation, </a:t>
            </a:r>
          </a:p>
          <a:p>
            <a:pPr lvl="1"/>
            <a:r>
              <a:rPr lang="en-US" dirty="0"/>
              <a:t>software tools, </a:t>
            </a:r>
          </a:p>
          <a:p>
            <a:pPr lvl="1"/>
            <a:r>
              <a:rPr lang="en-US" dirty="0"/>
              <a:t>manpower. </a:t>
            </a:r>
          </a:p>
          <a:p>
            <a:r>
              <a:rPr lang="en-US" dirty="0"/>
              <a:t>A proper budget ensures that marketing activities are carried out efficiently without overspending.</a:t>
            </a:r>
          </a:p>
          <a:p>
            <a:r>
              <a:rPr lang="en-US" b="1" dirty="0"/>
              <a:t>Example: </a:t>
            </a:r>
            <a:r>
              <a:rPr lang="en-US" dirty="0"/>
              <a:t>A startup allocates ₹15,000 for Google Ads, ₹10,000 for Instagram Ads, and ₹5,000 for graphic design.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F4D6440-CA69-464D-B5ED-4629462B2C5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931" b="10525"/>
          <a:stretch/>
        </p:blipFill>
        <p:spPr>
          <a:xfrm>
            <a:off x="4787250" y="4491789"/>
            <a:ext cx="3657248" cy="1962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25260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60710-282E-4C20-8D1B-56F6C84075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Digital Marketing Plan: Process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144E11-1416-4492-82C4-673973200A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rgbClr val="C00000"/>
                </a:solidFill>
              </a:rPr>
              <a:t>Execute the Marketing Campaign</a:t>
            </a:r>
          </a:p>
          <a:p>
            <a:r>
              <a:rPr lang="en-US" dirty="0"/>
              <a:t>Launch the planned activities across selected digital channels and ensure that campaigns are implemented according to the schedule. </a:t>
            </a:r>
          </a:p>
          <a:p>
            <a:r>
              <a:rPr lang="en-US" dirty="0"/>
              <a:t>Regular monitoring is important during execution.</a:t>
            </a:r>
          </a:p>
          <a:p>
            <a:r>
              <a:rPr lang="en-US" b="1" dirty="0"/>
              <a:t>Example: </a:t>
            </a:r>
            <a:r>
              <a:rPr lang="en-US" dirty="0"/>
              <a:t>An e-commerce store launches a Diwali campaign with Google Ads, Instagram Reels, email newsletters, and discount coupons.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7563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60710-282E-4C20-8D1B-56F6C84075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Digital Marketing Plan: Process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144E11-1416-4492-82C4-673973200A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rgbClr val="C00000"/>
                </a:solidFill>
              </a:rPr>
              <a:t>Monitor and Measure Performance</a:t>
            </a:r>
          </a:p>
          <a:p>
            <a:r>
              <a:rPr lang="en-US" dirty="0"/>
              <a:t>Track campaign performance using Key Performance Indicators (KPIs) such as </a:t>
            </a:r>
          </a:p>
          <a:p>
            <a:pPr lvl="1"/>
            <a:r>
              <a:rPr lang="en-US" dirty="0"/>
              <a:t>website traffic, </a:t>
            </a:r>
          </a:p>
          <a:p>
            <a:pPr lvl="1"/>
            <a:r>
              <a:rPr lang="en-US" dirty="0"/>
              <a:t>clicks, </a:t>
            </a:r>
          </a:p>
          <a:p>
            <a:pPr lvl="1"/>
            <a:r>
              <a:rPr lang="en-US" dirty="0"/>
              <a:t>conversions, </a:t>
            </a:r>
          </a:p>
          <a:p>
            <a:pPr lvl="1"/>
            <a:r>
              <a:rPr lang="en-US" dirty="0"/>
              <a:t>engagement, </a:t>
            </a:r>
          </a:p>
          <a:p>
            <a:pPr lvl="1"/>
            <a:r>
              <a:rPr lang="en-US" dirty="0"/>
              <a:t>sales. </a:t>
            </a:r>
          </a:p>
          <a:p>
            <a:r>
              <a:rPr lang="en-US" dirty="0"/>
              <a:t>This helps evaluate whether the objectives are achieved.</a:t>
            </a:r>
          </a:p>
          <a:p>
            <a:r>
              <a:rPr lang="en-US" b="1" dirty="0"/>
              <a:t>Example: </a:t>
            </a:r>
            <a:r>
              <a:rPr lang="en-US" dirty="0"/>
              <a:t>Google Analytics shows that website visitors increased by 40% after the SEO campaign.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9CB4B0-8D57-40B3-91EE-0B36005545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8452" y="4299283"/>
            <a:ext cx="2306969" cy="2306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32636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60710-282E-4C20-8D1B-56F6C84075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Digital Marketing Plan: Process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144E11-1416-4492-82C4-673973200A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rgbClr val="C00000"/>
                </a:solidFill>
              </a:rPr>
              <a:t>Review and Optimize</a:t>
            </a:r>
          </a:p>
          <a:p>
            <a:r>
              <a:rPr lang="en-US" dirty="0"/>
              <a:t>Analyze campaign results, identify successful strategies, and improve weak areas for future campaigns. </a:t>
            </a:r>
          </a:p>
          <a:p>
            <a:r>
              <a:rPr lang="en-US" dirty="0"/>
              <a:t>Digital marketing is a continuous process of testing and optimization.</a:t>
            </a:r>
          </a:p>
          <a:p>
            <a:r>
              <a:rPr lang="en-US" b="1" dirty="0"/>
              <a:t>Example: </a:t>
            </a:r>
            <a:r>
              <a:rPr lang="en-US" dirty="0"/>
              <a:t>A business notices that Instagram Reels generate more customer inquiries than Facebook posts, so it increases its focus on Reels.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94864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956827-4EF6-4011-B4F1-2A2FB79B11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Digital Marketing Strategy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1B676F-52C9-4744-8133-B6F9DABCB9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722444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904B30-4CD4-4E74-B142-8017F26177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Digital Marketing Strategies: AIDA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98BEE0-8898-4286-93EE-88CE69308C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b="1" dirty="0">
                <a:solidFill>
                  <a:srgbClr val="C00000"/>
                </a:solidFill>
              </a:rPr>
              <a:t>AIDA model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was introduced in the late 19th century and early 20th century by American businessman and advertising advocate </a:t>
            </a:r>
            <a:r>
              <a:rPr lang="en-US" b="1" dirty="0"/>
              <a:t>Elias St. Elmo Lewis</a:t>
            </a:r>
            <a:r>
              <a:rPr lang="en-US" dirty="0"/>
              <a:t>.</a:t>
            </a:r>
          </a:p>
          <a:p>
            <a:r>
              <a:rPr lang="en-US" dirty="0"/>
              <a:t>It help businesses understand the </a:t>
            </a:r>
            <a:r>
              <a:rPr lang="en-US" b="1" dirty="0"/>
              <a:t>various stages a consumer experiences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dirty="0"/>
              <a:t>before making a purchase decision. </a:t>
            </a:r>
          </a:p>
          <a:p>
            <a:r>
              <a:rPr lang="en-US" dirty="0"/>
              <a:t>It is used in </a:t>
            </a:r>
            <a:r>
              <a:rPr lang="en-US" b="1" dirty="0"/>
              <a:t>marketing, advertising, and sales</a:t>
            </a:r>
            <a:r>
              <a:rPr lang="en-US" dirty="0"/>
              <a:t> to help businesses craft communications for each stage and encourage buyers to complete a purchase.</a:t>
            </a:r>
          </a:p>
          <a:p>
            <a:r>
              <a:rPr lang="en-US" b="1" dirty="0"/>
              <a:t>The AIDA model is a hierarchy of effects model</a:t>
            </a:r>
            <a:r>
              <a:rPr lang="en-US" dirty="0"/>
              <a:t>, which means it assumes that consumers move through a series of stages when making a purchase decision.</a:t>
            </a:r>
          </a:p>
          <a:p>
            <a:pPr lvl="1"/>
            <a:r>
              <a:rPr lang="en-US" dirty="0"/>
              <a:t>cognitive (thinking) </a:t>
            </a:r>
          </a:p>
          <a:p>
            <a:pPr lvl="1"/>
            <a:r>
              <a:rPr lang="en-US" dirty="0"/>
              <a:t>affective (feeling)</a:t>
            </a:r>
          </a:p>
          <a:p>
            <a:pPr lvl="1"/>
            <a:r>
              <a:rPr lang="en-US" dirty="0"/>
              <a:t>behavioral (doing)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22010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EB8F72-C57E-4E06-9545-1BE2052E7D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Digital Marketing Strategies: AIDA Model (Continue…)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6CB62D-3805-4E34-9FAF-754FAD97C7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It is commonly used in advertising and digital marketing, the model outlines the process of </a:t>
            </a:r>
            <a:r>
              <a:rPr lang="en-US" b="1" dirty="0"/>
              <a:t>capturing and engaging customers </a:t>
            </a:r>
            <a:r>
              <a:rPr lang="en-US" dirty="0"/>
              <a:t>by guiding them through four key stages:</a:t>
            </a:r>
          </a:p>
          <a:p>
            <a:pPr lvl="1"/>
            <a:r>
              <a:rPr lang="en-US" b="1" dirty="0"/>
              <a:t>Attention:</a:t>
            </a:r>
            <a:r>
              <a:rPr lang="en-US" dirty="0"/>
              <a:t> Grab the attention of your target audience.</a:t>
            </a:r>
          </a:p>
          <a:p>
            <a:pPr lvl="1"/>
            <a:r>
              <a:rPr lang="en-US" b="1" dirty="0"/>
              <a:t>Interest:</a:t>
            </a:r>
            <a:r>
              <a:rPr lang="en-US" dirty="0"/>
              <a:t> Generate interest by providing valuable and engaging content.</a:t>
            </a:r>
          </a:p>
          <a:p>
            <a:pPr lvl="1"/>
            <a:r>
              <a:rPr lang="en-US" b="1" dirty="0"/>
              <a:t>Desire:</a:t>
            </a:r>
            <a:r>
              <a:rPr lang="en-US" dirty="0"/>
              <a:t> Create a desire for the product or service by showcasing its benefits.</a:t>
            </a:r>
          </a:p>
          <a:p>
            <a:pPr lvl="1"/>
            <a:r>
              <a:rPr lang="en-US" b="1" dirty="0"/>
              <a:t>Action:</a:t>
            </a:r>
            <a:r>
              <a:rPr lang="en-US" dirty="0"/>
              <a:t> Prompt the consumer to take action, such as making a purchase.</a:t>
            </a:r>
          </a:p>
          <a:p>
            <a:endParaRPr lang="en-US" dirty="0"/>
          </a:p>
          <a:p>
            <a:r>
              <a:rPr lang="en-US" dirty="0"/>
              <a:t>This model helps businesses strategically move potential customers from awareness to conversion in a structured manner.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44955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764EC-65FC-4C73-8C97-AFF9C4B0F2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Digital Marketing Strategies: AIDA Model (Continue…)</a:t>
            </a:r>
          </a:p>
        </p:txBody>
      </p:sp>
      <p:pic>
        <p:nvPicPr>
          <p:cNvPr id="1026" name="Picture 2" descr="What Is The AIDA Model And Why It Matters | FourWeekMBA">
            <a:extLst>
              <a:ext uri="{FF2B5EF4-FFF2-40B4-BE49-F238E27FC236}">
                <a16:creationId xmlns:a16="http://schemas.microsoft.com/office/drawing/2014/main" id="{F020CFFD-6351-4854-AE93-E8E662DF9CF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712"/>
          <a:stretch/>
        </p:blipFill>
        <p:spPr bwMode="auto">
          <a:xfrm>
            <a:off x="1355375" y="711201"/>
            <a:ext cx="8831364" cy="59302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0357044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06D429-E88C-4AB5-BA7E-182D5B754E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Digital Marketing Strategies: AIDA Model (Continue…)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0CC6C1-8ACF-45B4-8C8E-9CDE26B8EA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5525549" cy="5590565"/>
          </a:xfrm>
        </p:spPr>
        <p:txBody>
          <a:bodyPr/>
          <a:lstStyle/>
          <a:p>
            <a:r>
              <a:rPr lang="en-US" b="1" dirty="0"/>
              <a:t>Example:</a:t>
            </a:r>
          </a:p>
          <a:p>
            <a:r>
              <a:rPr lang="en-US" dirty="0" err="1"/>
              <a:t>Nykaa</a:t>
            </a:r>
            <a:r>
              <a:rPr lang="en-US" dirty="0"/>
              <a:t>, an Indian beauty and fashion e-commerce company, effectively uses the AIDA model.</a:t>
            </a:r>
          </a:p>
          <a:p>
            <a:r>
              <a:rPr lang="en-US" b="1" dirty="0"/>
              <a:t>Attention: </a:t>
            </a:r>
            <a:r>
              <a:rPr lang="en-US" dirty="0" err="1"/>
              <a:t>Nykaa</a:t>
            </a:r>
            <a:r>
              <a:rPr lang="en-US" dirty="0"/>
              <a:t> grabs attention through social media ads featuring influencers and beauty tutorials.</a:t>
            </a:r>
          </a:p>
          <a:p>
            <a:endParaRPr lang="en-US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58BDB504-40FE-4F9C-A9EC-6F71E90F61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73874" y="1508902"/>
            <a:ext cx="6118126" cy="41747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C371D812-3BA9-4FF5-A836-FF89CDBADA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3313" y="4179093"/>
            <a:ext cx="2381250" cy="1057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623362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0EC9A4-4614-4738-BF08-F37F8CFDCF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Digital Marketing Strategies: AIDA Model (Continue…)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E781F2-0EAD-480E-A9D7-0506E38535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1" y="863444"/>
            <a:ext cx="5964820" cy="5590565"/>
          </a:xfrm>
        </p:spPr>
        <p:txBody>
          <a:bodyPr/>
          <a:lstStyle/>
          <a:p>
            <a:r>
              <a:rPr lang="en-US" b="1" dirty="0"/>
              <a:t>Example: Continue…</a:t>
            </a:r>
          </a:p>
          <a:p>
            <a:r>
              <a:rPr lang="en-US" b="1" dirty="0"/>
              <a:t>Interest: </a:t>
            </a:r>
            <a:r>
              <a:rPr lang="en-US" dirty="0"/>
              <a:t>They maintain interest by offering educational content, product reviews, and tips on their YouTube channel.</a:t>
            </a:r>
          </a:p>
          <a:p>
            <a:endParaRPr lang="en-US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4D9F6462-866E-486F-AA22-279565BACA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8506" y="4148387"/>
            <a:ext cx="2381250" cy="1057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>
            <a:extLst>
              <a:ext uri="{FF2B5EF4-FFF2-40B4-BE49-F238E27FC236}">
                <a16:creationId xmlns:a16="http://schemas.microsoft.com/office/drawing/2014/main" id="{4C55BB04-0B04-4914-864C-8DDCEDD1A84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61"/>
          <a:stretch/>
        </p:blipFill>
        <p:spPr bwMode="auto">
          <a:xfrm>
            <a:off x="5722772" y="1947101"/>
            <a:ext cx="6338047" cy="38502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995867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28E83-4A65-4D1C-9E49-10B22284F8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Digital Marketing Strategies: AIDA Model (Continue…)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57461D-0529-48AC-B207-73AF00DA9B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5817937" cy="5590565"/>
          </a:xfrm>
        </p:spPr>
        <p:txBody>
          <a:bodyPr/>
          <a:lstStyle/>
          <a:p>
            <a:r>
              <a:rPr lang="en-US" b="1" dirty="0"/>
              <a:t>Example:  Continue…</a:t>
            </a:r>
          </a:p>
          <a:p>
            <a:r>
              <a:rPr lang="en-US" b="1" dirty="0"/>
              <a:t>Desire: </a:t>
            </a:r>
            <a:r>
              <a:rPr lang="en-US" dirty="0"/>
              <a:t>By showcasing how their products can help consumers achieve a glamorous look, </a:t>
            </a:r>
            <a:r>
              <a:rPr lang="en-US" dirty="0" err="1"/>
              <a:t>Nykaa</a:t>
            </a:r>
            <a:r>
              <a:rPr lang="en-US" dirty="0"/>
              <a:t> builds a strong desire for their premium brands.</a:t>
            </a:r>
          </a:p>
          <a:p>
            <a:endParaRPr lang="en-US" dirty="0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23B21BA5-0E26-48AC-ABDE-9537BB3F2E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1733" y="3658726"/>
            <a:ext cx="2381250" cy="1057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 descr="Marketing Campaign of Nykaa: How to Mimic Their Success">
            <a:extLst>
              <a:ext uri="{FF2B5EF4-FFF2-40B4-BE49-F238E27FC236}">
                <a16:creationId xmlns:a16="http://schemas.microsoft.com/office/drawing/2014/main" id="{B1D30E25-D284-4C81-BA5A-AD9E063458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9117" y="1516450"/>
            <a:ext cx="6213013" cy="34948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952897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168011-4612-4EA5-910E-73B1B88F00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Digital Marketing Strategies: AIDA Model</a:t>
            </a:r>
            <a:r>
              <a:rPr lang="en-US" b="0" dirty="0">
                <a:effectLst/>
              </a:rPr>
              <a:t> </a:t>
            </a:r>
            <a:r>
              <a:rPr lang="en-US" dirty="0"/>
              <a:t> (Continue…)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DC8D77-51A7-421A-BBD4-CF02D4F04C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4551023" cy="5590565"/>
          </a:xfrm>
        </p:spPr>
        <p:txBody>
          <a:bodyPr/>
          <a:lstStyle/>
          <a:p>
            <a:r>
              <a:rPr lang="en-US" b="1" dirty="0"/>
              <a:t>Example:  Continue…</a:t>
            </a:r>
          </a:p>
          <a:p>
            <a:r>
              <a:rPr lang="en-US" b="1" dirty="0"/>
              <a:t>Action</a:t>
            </a:r>
            <a:r>
              <a:rPr lang="en-US" dirty="0"/>
              <a:t>: </a:t>
            </a:r>
            <a:r>
              <a:rPr lang="en-US" dirty="0" err="1"/>
              <a:t>Nykaa</a:t>
            </a:r>
            <a:r>
              <a:rPr lang="en-US" dirty="0"/>
              <a:t> drives consumers to their website with limited-time offers and discounts, encouraging purchases.</a:t>
            </a:r>
          </a:p>
          <a:p>
            <a:endParaRPr lang="en-US" dirty="0"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0EAFD650-9F18-4DA6-A9FA-2035CE6D9D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6066" y="4182035"/>
            <a:ext cx="2381250" cy="1057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>
            <a:extLst>
              <a:ext uri="{FF2B5EF4-FFF2-40B4-BE49-F238E27FC236}">
                <a16:creationId xmlns:a16="http://schemas.microsoft.com/office/drawing/2014/main" id="{C7899A3B-6238-4EAC-AED9-1D0632F9C1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02156" y="1495845"/>
            <a:ext cx="6758664" cy="38663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932606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B47DA4-8F0F-4795-B312-B4265B7E80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Digital Strategies: Pirate Model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E7DA88-0814-4625-BB1D-6E256DF220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Pirate Model </a:t>
            </a:r>
            <a:r>
              <a:rPr lang="en-US" b="1" dirty="0"/>
              <a:t>is also known as AARRR.</a:t>
            </a:r>
          </a:p>
          <a:p>
            <a:endParaRPr lang="en-US" b="1" dirty="0">
              <a:solidFill>
                <a:srgbClr val="C00000"/>
              </a:solidFill>
            </a:endParaRPr>
          </a:p>
          <a:p>
            <a:r>
              <a:rPr lang="en-US" b="1" dirty="0"/>
              <a:t>Dave McClure, </a:t>
            </a:r>
            <a:r>
              <a:rPr lang="en-US" dirty="0"/>
              <a:t>a Silicon Valley investor and founder of 500 Startups, developed the AARRR framework. </a:t>
            </a:r>
            <a:r>
              <a:rPr lang="en-US" b="1" dirty="0"/>
              <a:t>McClure</a:t>
            </a:r>
            <a:r>
              <a:rPr lang="en-US" dirty="0"/>
              <a:t> saw that many startup companies were easily distracted by </a:t>
            </a:r>
            <a:r>
              <a:rPr lang="en-US" b="1" dirty="0"/>
              <a:t>Superficial Metrics*, </a:t>
            </a:r>
            <a:r>
              <a:rPr lang="en-US" dirty="0"/>
              <a:t>such as likes on social media.</a:t>
            </a:r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pPr lvl="1"/>
            <a:r>
              <a:rPr lang="en-US" b="1" i="1" dirty="0"/>
              <a:t>(Superficial metrics*, also known as vanity metrics, are statistics that look good but don't provide meaningful insights into business performance. They can be misleading and don't help improve performance.)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84589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0C7BAE-8427-4BCB-82EE-762B96A29D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Digital Strategies: Pirate Model (Continue…)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92A17C-BF02-417A-96BF-550BCB48B8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With Pirate Model/AARRR, McClure had a </a:t>
            </a:r>
            <a:r>
              <a:rPr lang="en-US" b="1" dirty="0"/>
              <a:t>twofold</a:t>
            </a:r>
            <a:r>
              <a:rPr lang="en-US" dirty="0"/>
              <a:t> goal.</a:t>
            </a:r>
          </a:p>
          <a:p>
            <a:pPr lvl="1"/>
            <a:r>
              <a:rPr lang="en-US" b="1" dirty="0"/>
              <a:t>First</a:t>
            </a:r>
            <a:r>
              <a:rPr lang="en-US" dirty="0"/>
              <a:t>, show young companies how to narrow their focus to only those metrics that can directly affect the health of their business. </a:t>
            </a:r>
          </a:p>
          <a:p>
            <a:pPr lvl="1"/>
            <a:r>
              <a:rPr lang="en-US" b="1" dirty="0"/>
              <a:t>Second</a:t>
            </a:r>
            <a:r>
              <a:rPr lang="en-US" dirty="0"/>
              <a:t>, help these companies use the right data to measure the success of their product management and marketing efforts, then improve those initiatives that aren’t working.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4882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E7781E-C1A1-47D8-B7F4-3EA9F68A01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Digital Strategies: Pirate Model (Continue…)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7A3AC4-7E3B-478E-A231-9D726EC600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AARRR Framework</a:t>
            </a:r>
          </a:p>
          <a:p>
            <a:pPr lvl="1"/>
            <a:r>
              <a:rPr lang="en-US" dirty="0"/>
              <a:t>Growth marketing funnel/model used to optimize the customer lifecycle across five stages:</a:t>
            </a:r>
          </a:p>
          <a:p>
            <a:pPr lvl="1"/>
            <a:r>
              <a:rPr lang="en-US" b="1" i="1" dirty="0"/>
              <a:t>Acquisition, </a:t>
            </a:r>
          </a:p>
          <a:p>
            <a:pPr lvl="1"/>
            <a:r>
              <a:rPr lang="en-US" b="1" i="1" dirty="0"/>
              <a:t>Activation, </a:t>
            </a:r>
          </a:p>
          <a:p>
            <a:pPr lvl="1"/>
            <a:r>
              <a:rPr lang="en-US" b="1" i="1" dirty="0"/>
              <a:t>Retention, </a:t>
            </a:r>
          </a:p>
          <a:p>
            <a:pPr lvl="1"/>
            <a:r>
              <a:rPr lang="en-US" b="1" i="1" dirty="0"/>
              <a:t>Revenue,</a:t>
            </a:r>
          </a:p>
          <a:p>
            <a:pPr lvl="1"/>
            <a:r>
              <a:rPr lang="en-US" b="1" i="1" dirty="0"/>
              <a:t>Referral. </a:t>
            </a:r>
          </a:p>
          <a:p>
            <a:r>
              <a:rPr lang="en-US" dirty="0"/>
              <a:t>It helps businesses understand </a:t>
            </a:r>
            <a:r>
              <a:rPr lang="en-US" b="1" dirty="0"/>
              <a:t>where to focus their efforts</a:t>
            </a:r>
            <a:r>
              <a:rPr lang="en-US" b="1" dirty="0">
                <a:solidFill>
                  <a:srgbClr val="C00000"/>
                </a:solidFill>
              </a:rPr>
              <a:t> </a:t>
            </a:r>
            <a:r>
              <a:rPr lang="en-US" dirty="0"/>
              <a:t>for customer growth and revenue maximization.</a:t>
            </a:r>
          </a:p>
          <a:p>
            <a:endParaRPr lang="en-US" b="1" dirty="0">
              <a:solidFill>
                <a:srgbClr val="C00000"/>
              </a:solidFill>
            </a:endParaRPr>
          </a:p>
          <a:p>
            <a:endParaRPr lang="en-US" b="1" dirty="0">
              <a:solidFill>
                <a:srgbClr val="C00000"/>
              </a:solidFill>
            </a:endParaRP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45599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E7781E-C1A1-47D8-B7F4-3EA9F68A01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Digital Strategies: Pirate Model (Continue…)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7A3AC4-7E3B-478E-A231-9D726EC600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Acquisition</a:t>
            </a:r>
            <a:r>
              <a:rPr lang="en-US" dirty="0">
                <a:solidFill>
                  <a:srgbClr val="C00000"/>
                </a:solidFill>
              </a:rPr>
              <a:t>: </a:t>
            </a:r>
            <a:r>
              <a:rPr lang="en-US" dirty="0"/>
              <a:t>This stage focuses on </a:t>
            </a:r>
            <a:r>
              <a:rPr lang="en-US" b="1" dirty="0"/>
              <a:t>attracting visitors </a:t>
            </a:r>
            <a:r>
              <a:rPr lang="en-US" dirty="0"/>
              <a:t>to your platform</a:t>
            </a:r>
          </a:p>
          <a:p>
            <a:r>
              <a:rPr lang="en-US" dirty="0"/>
              <a:t>various channels like </a:t>
            </a:r>
          </a:p>
          <a:p>
            <a:pPr lvl="1"/>
            <a:r>
              <a:rPr lang="en-US" dirty="0"/>
              <a:t>paid ads, </a:t>
            </a:r>
          </a:p>
          <a:p>
            <a:pPr lvl="1"/>
            <a:r>
              <a:rPr lang="en-US" dirty="0"/>
              <a:t>social media, </a:t>
            </a:r>
          </a:p>
          <a:p>
            <a:pPr lvl="1"/>
            <a:r>
              <a:rPr lang="en-US" dirty="0"/>
              <a:t>SEO,</a:t>
            </a:r>
          </a:p>
          <a:p>
            <a:pPr lvl="1"/>
            <a:r>
              <a:rPr lang="en-US" dirty="0"/>
              <a:t>content marketing. </a:t>
            </a:r>
          </a:p>
          <a:p>
            <a:r>
              <a:rPr lang="en-US" dirty="0"/>
              <a:t>The goal is to create awareness and generate traffic.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FC5ED16-2CDE-47F0-8652-1E4C9D115E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6442" y="2296644"/>
            <a:ext cx="4850982" cy="2724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82415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E7781E-C1A1-47D8-B7F4-3EA9F68A01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Digital Strategies: Pirate Model (Continue…)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7A3AC4-7E3B-478E-A231-9D726EC600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Activation</a:t>
            </a:r>
            <a:r>
              <a:rPr lang="en-US" dirty="0">
                <a:solidFill>
                  <a:srgbClr val="C00000"/>
                </a:solidFill>
              </a:rPr>
              <a:t>: </a:t>
            </a:r>
            <a:r>
              <a:rPr lang="en-US" dirty="0"/>
              <a:t>Activation is about </a:t>
            </a:r>
            <a:r>
              <a:rPr lang="en-US" b="1" dirty="0"/>
              <a:t>ensuring a great first experience </a:t>
            </a:r>
            <a:r>
              <a:rPr lang="en-US" dirty="0"/>
              <a:t>for the user. </a:t>
            </a:r>
          </a:p>
          <a:p>
            <a:r>
              <a:rPr lang="en-US" dirty="0"/>
              <a:t>It involves </a:t>
            </a:r>
          </a:p>
          <a:p>
            <a:pPr lvl="1"/>
            <a:r>
              <a:rPr lang="en-US" dirty="0"/>
              <a:t>optimizing the sign-up process, </a:t>
            </a:r>
          </a:p>
          <a:p>
            <a:pPr lvl="1"/>
            <a:r>
              <a:rPr lang="en-US" dirty="0"/>
              <a:t>providing easy navigation, </a:t>
            </a:r>
          </a:p>
          <a:p>
            <a:pPr lvl="1"/>
            <a:r>
              <a:rPr lang="en-US" dirty="0"/>
              <a:t>offering an immediate value proposition </a:t>
            </a:r>
          </a:p>
          <a:p>
            <a:r>
              <a:rPr lang="en-US" dirty="0"/>
              <a:t>It is done to engages users right from the start.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F7DEE07-5843-44CA-838F-B0441F7378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7389" y="3429000"/>
            <a:ext cx="5756108" cy="3021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38135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E7781E-C1A1-47D8-B7F4-3EA9F68A01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Digital Strategies: Pirate Model (Continue…)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7A3AC4-7E3B-478E-A231-9D726EC600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Retention</a:t>
            </a:r>
            <a:r>
              <a:rPr lang="en-US" dirty="0">
                <a:solidFill>
                  <a:srgbClr val="C00000"/>
                </a:solidFill>
              </a:rPr>
              <a:t>: </a:t>
            </a:r>
            <a:r>
              <a:rPr lang="en-US" dirty="0"/>
              <a:t>Retention involves </a:t>
            </a:r>
            <a:r>
              <a:rPr lang="en-US" b="1" dirty="0"/>
              <a:t>keeping users engaged </a:t>
            </a:r>
            <a:r>
              <a:rPr lang="en-US" dirty="0"/>
              <a:t>with platform over time.</a:t>
            </a:r>
          </a:p>
          <a:p>
            <a:r>
              <a:rPr lang="en-US" dirty="0"/>
              <a:t>Through tactics like </a:t>
            </a:r>
          </a:p>
          <a:p>
            <a:r>
              <a:rPr lang="en-US" dirty="0"/>
              <a:t>personalized content, </a:t>
            </a:r>
          </a:p>
          <a:p>
            <a:r>
              <a:rPr lang="en-US" dirty="0"/>
              <a:t>offers, </a:t>
            </a:r>
          </a:p>
          <a:p>
            <a:r>
              <a:rPr lang="en-US" dirty="0"/>
              <a:t>loyalty programs, </a:t>
            </a:r>
          </a:p>
          <a:p>
            <a:r>
              <a:rPr lang="en-US" dirty="0"/>
              <a:t>regular communication via email</a:t>
            </a:r>
          </a:p>
          <a:p>
            <a:r>
              <a:rPr lang="en-US" dirty="0"/>
              <a:t> push notifications.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9B4E9EA-B015-4E0D-8418-4554484398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1909" y="1507956"/>
            <a:ext cx="5659017" cy="4244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14155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E7781E-C1A1-47D8-B7F4-3EA9F68A01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Digital Strategies: Pirate Model (Continue…)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7A3AC4-7E3B-478E-A231-9D726EC600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Revenue</a:t>
            </a:r>
            <a:r>
              <a:rPr lang="en-US" dirty="0">
                <a:solidFill>
                  <a:srgbClr val="C00000"/>
                </a:solidFill>
              </a:rPr>
              <a:t>: </a:t>
            </a:r>
            <a:r>
              <a:rPr lang="en-US" dirty="0"/>
              <a:t>This stage focuses on </a:t>
            </a:r>
            <a:r>
              <a:rPr lang="en-US" b="1" dirty="0"/>
              <a:t>monetizing</a:t>
            </a:r>
            <a:r>
              <a:rPr lang="en-US" dirty="0"/>
              <a:t> the user base. </a:t>
            </a:r>
          </a:p>
          <a:p>
            <a:r>
              <a:rPr lang="en-US" dirty="0"/>
              <a:t>Common revenue strategies include </a:t>
            </a:r>
          </a:p>
          <a:p>
            <a:pPr lvl="1"/>
            <a:r>
              <a:rPr lang="en-US" dirty="0"/>
              <a:t>subscription models, </a:t>
            </a:r>
          </a:p>
          <a:p>
            <a:pPr lvl="1"/>
            <a:r>
              <a:rPr lang="en-US" dirty="0"/>
              <a:t>in-app purchases, </a:t>
            </a:r>
          </a:p>
          <a:p>
            <a:pPr lvl="1"/>
            <a:r>
              <a:rPr lang="en-US" dirty="0"/>
              <a:t>upselling, </a:t>
            </a:r>
          </a:p>
          <a:p>
            <a:pPr lvl="1"/>
            <a:r>
              <a:rPr lang="en-US" dirty="0"/>
              <a:t>premium services.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5D89B0A-13EB-45BF-A604-1285ADDFBF9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550"/>
          <a:stretch/>
        </p:blipFill>
        <p:spPr>
          <a:xfrm>
            <a:off x="4669777" y="2228111"/>
            <a:ext cx="5459372" cy="3466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62201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E7781E-C1A1-47D8-B7F4-3EA9F68A01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Digital Strategies: Pirate Model (Continue…)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7A3AC4-7E3B-478E-A231-9D726EC600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Referral</a:t>
            </a:r>
            <a:r>
              <a:rPr lang="en-US" dirty="0">
                <a:solidFill>
                  <a:srgbClr val="C00000"/>
                </a:solidFill>
              </a:rPr>
              <a:t>: </a:t>
            </a:r>
            <a:r>
              <a:rPr lang="en-US" dirty="0"/>
              <a:t>Referral is about </a:t>
            </a:r>
            <a:r>
              <a:rPr lang="en-US" b="1" dirty="0"/>
              <a:t>leveraging existing users </a:t>
            </a:r>
            <a:r>
              <a:rPr lang="en-US" dirty="0"/>
              <a:t>to bring in new users</a:t>
            </a:r>
          </a:p>
          <a:p>
            <a:r>
              <a:rPr lang="en-US" dirty="0"/>
              <a:t> Business try </a:t>
            </a:r>
          </a:p>
          <a:p>
            <a:pPr lvl="1"/>
            <a:r>
              <a:rPr lang="en-US" dirty="0"/>
              <a:t> word-of-mouth, </a:t>
            </a:r>
          </a:p>
          <a:p>
            <a:pPr lvl="1"/>
            <a:r>
              <a:rPr lang="en-US" dirty="0"/>
              <a:t>referral programs, </a:t>
            </a:r>
          </a:p>
          <a:p>
            <a:pPr lvl="1"/>
            <a:r>
              <a:rPr lang="en-US" dirty="0"/>
              <a:t>incentivized sharing. </a:t>
            </a:r>
          </a:p>
          <a:p>
            <a:r>
              <a:rPr lang="en-US" dirty="0"/>
              <a:t>The goal is to create a viral growth loop.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4B485DA-E654-4CB5-8DEE-A79599C4DF0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6169"/>
          <a:stretch/>
        </p:blipFill>
        <p:spPr>
          <a:xfrm>
            <a:off x="5855367" y="2066102"/>
            <a:ext cx="4748465" cy="3185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84860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82EE8F-B4C7-431F-AF2E-D114260F41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Digital Strategies: The P-O-E-M Framework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2779B3-C140-4552-85C3-A5E74162F6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b="1" dirty="0">
                <a:solidFill>
                  <a:srgbClr val="C00000"/>
                </a:solidFill>
              </a:rPr>
              <a:t>POEM framework </a:t>
            </a:r>
            <a:r>
              <a:rPr lang="en-US" dirty="0"/>
              <a:t>is a marketing methodology used by digital marketing experts to formulate the social media marketing strategy.</a:t>
            </a:r>
          </a:p>
          <a:p>
            <a:r>
              <a:rPr lang="en-US" dirty="0"/>
              <a:t>It stands for</a:t>
            </a:r>
          </a:p>
          <a:p>
            <a:pPr lvl="1"/>
            <a:r>
              <a:rPr lang="en-US" dirty="0"/>
              <a:t>Paid, </a:t>
            </a:r>
          </a:p>
          <a:p>
            <a:pPr lvl="1"/>
            <a:r>
              <a:rPr lang="en-US" dirty="0"/>
              <a:t>Owned, and </a:t>
            </a:r>
          </a:p>
          <a:p>
            <a:pPr lvl="1"/>
            <a:r>
              <a:rPr lang="en-US" dirty="0"/>
              <a:t>Earned Media</a:t>
            </a:r>
          </a:p>
          <a:p>
            <a:r>
              <a:rPr lang="en-US" dirty="0"/>
              <a:t>It is an approach used to promote a product or service and looks at how the right mix of media channels can </a:t>
            </a:r>
            <a:r>
              <a:rPr lang="en-US" b="1" dirty="0"/>
              <a:t>attract more customers, deepen and strengthen relationships with existing customers,</a:t>
            </a:r>
            <a:r>
              <a:rPr lang="en-US" dirty="0"/>
              <a:t> and push the business towards ultimate goals of growth and success.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34627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DF890D-E54A-44D6-91CB-3715C4B8EC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Digital Strategies: The P-O-E-M Framework (Continue…)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E8030F-27F9-4454-BFE8-9F4392D117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Digital marketers use the POEM model </a:t>
            </a:r>
            <a:r>
              <a:rPr lang="en-US" dirty="0"/>
              <a:t>to develop the basic framework and implement digital marketing strategies. </a:t>
            </a:r>
          </a:p>
          <a:p>
            <a:r>
              <a:rPr lang="en-US" b="1" dirty="0"/>
              <a:t>The frameworks help companies </a:t>
            </a:r>
            <a:r>
              <a:rPr lang="en-US" dirty="0"/>
              <a:t>improve their marketing strategies and achieve goals and targets. </a:t>
            </a:r>
          </a:p>
          <a:p>
            <a:r>
              <a:rPr lang="en-US" dirty="0"/>
              <a:t>It involves listing and selecting channels to roll out the marketing communication and what it needs to make the plan successful.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66915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2F1099-DF0A-4AA3-BCF9-BD4BF70274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Digital Strategies: The P-O-E-M Framework (Continue…)</a:t>
            </a:r>
          </a:p>
        </p:txBody>
      </p:sp>
      <p:pic>
        <p:nvPicPr>
          <p:cNvPr id="1026" name="Picture 2" descr="Introduction to Digital Marketing – Foundations in Digital Marketing">
            <a:extLst>
              <a:ext uri="{FF2B5EF4-FFF2-40B4-BE49-F238E27FC236}">
                <a16:creationId xmlns:a16="http://schemas.microsoft.com/office/drawing/2014/main" id="{94D9C6FB-3EC8-EE3F-80AA-6DF21D540C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26731" y="1259442"/>
            <a:ext cx="7865269" cy="45878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9" name="Diagram 8">
            <a:extLst>
              <a:ext uri="{FF2B5EF4-FFF2-40B4-BE49-F238E27FC236}">
                <a16:creationId xmlns:a16="http://schemas.microsoft.com/office/drawing/2014/main" id="{D6E22DCF-2A34-6409-F3FC-32E76A14EDAE}"/>
              </a:ext>
            </a:extLst>
          </p:cNvPr>
          <p:cNvGraphicFramePr/>
          <p:nvPr/>
        </p:nvGraphicFramePr>
        <p:xfrm>
          <a:off x="0" y="1463040"/>
          <a:ext cx="4457700" cy="37426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32145427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9" grpId="0">
        <p:bldAsOne/>
      </p:bldGraphic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E40CEB-9EFA-4D67-BF05-9B8562F724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Digital Strategies: The P-O-E-M Framework (Continue…)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B904BF-D33C-48C0-8ECE-6FF0FFA4EB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1. Paid Media</a:t>
            </a:r>
          </a:p>
          <a:p>
            <a:r>
              <a:rPr lang="en-US" b="1" dirty="0"/>
              <a:t>Definition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Paid media refers to the </a:t>
            </a:r>
            <a:r>
              <a:rPr lang="en-US" b="1" dirty="0"/>
              <a:t>advertising and promotional </a:t>
            </a:r>
            <a:r>
              <a:rPr lang="en-US" dirty="0"/>
              <a:t>content that a brand pays for. This includes all marketing efforts where brands invest money to drive traffic, increase visibility, or encourage customer engagement.</a:t>
            </a:r>
          </a:p>
          <a:p>
            <a:r>
              <a:rPr lang="en-US" b="1" dirty="0"/>
              <a:t>Example:</a:t>
            </a:r>
          </a:p>
          <a:p>
            <a:pPr lvl="1"/>
            <a:r>
              <a:rPr lang="en-US" dirty="0"/>
              <a:t>Google Ads</a:t>
            </a:r>
          </a:p>
          <a:p>
            <a:pPr lvl="1"/>
            <a:r>
              <a:rPr lang="en-US" dirty="0"/>
              <a:t>Social Media Ads</a:t>
            </a:r>
          </a:p>
          <a:p>
            <a:pPr lvl="1"/>
            <a:r>
              <a:rPr lang="en-US" dirty="0"/>
              <a:t>Display Ads</a:t>
            </a:r>
          </a:p>
          <a:p>
            <a:pPr lvl="1"/>
            <a:r>
              <a:rPr lang="en-US" dirty="0"/>
              <a:t>Influencer Marketing</a:t>
            </a:r>
          </a:p>
        </p:txBody>
      </p:sp>
    </p:spTree>
    <p:extLst>
      <p:ext uri="{BB962C8B-B14F-4D97-AF65-F5344CB8AC3E}">
        <p14:creationId xmlns:p14="http://schemas.microsoft.com/office/powerpoint/2010/main" val="11087811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CB4778-B425-45CF-8584-B33BF2550E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Digital Strategies: The P-O-E-M Framework (Continue…)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BEB1E8-66C2-4C74-9317-1F2E4F521D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Owned Media</a:t>
            </a:r>
          </a:p>
          <a:p>
            <a:r>
              <a:rPr lang="en-US" b="1" dirty="0"/>
              <a:t>Definition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Owned media includes all </a:t>
            </a:r>
            <a:r>
              <a:rPr lang="en-US" b="1" dirty="0"/>
              <a:t>digital assets and channels</a:t>
            </a:r>
            <a:r>
              <a:rPr lang="en-US" dirty="0"/>
              <a:t> that a brand fully controls. </a:t>
            </a:r>
          </a:p>
          <a:p>
            <a:pPr lvl="1"/>
            <a:r>
              <a:rPr lang="en-US" dirty="0"/>
              <a:t>These platforms are the </a:t>
            </a:r>
            <a:r>
              <a:rPr lang="en-US" b="1" dirty="0"/>
              <a:t>foundation of brand’s digital presence </a:t>
            </a:r>
            <a:r>
              <a:rPr lang="en-US" dirty="0"/>
              <a:t>and serve as long-term assets for engaging their audience</a:t>
            </a:r>
          </a:p>
          <a:p>
            <a:r>
              <a:rPr lang="en-US" b="1" dirty="0"/>
              <a:t>Example:</a:t>
            </a:r>
          </a:p>
          <a:p>
            <a:pPr lvl="1"/>
            <a:r>
              <a:rPr lang="en-US" dirty="0"/>
              <a:t>Website</a:t>
            </a:r>
          </a:p>
          <a:p>
            <a:pPr lvl="1"/>
            <a:r>
              <a:rPr lang="en-US" dirty="0"/>
              <a:t>Blog</a:t>
            </a:r>
          </a:p>
          <a:p>
            <a:pPr lvl="1"/>
            <a:r>
              <a:rPr lang="en-US" dirty="0"/>
              <a:t>Social media profile</a:t>
            </a:r>
          </a:p>
          <a:p>
            <a:pPr lvl="1"/>
            <a:r>
              <a:rPr lang="en-US" dirty="0"/>
              <a:t>Mobile App</a:t>
            </a:r>
          </a:p>
          <a:p>
            <a:pPr lvl="1"/>
            <a:r>
              <a:rPr lang="en-US" dirty="0"/>
              <a:t>Email marketing</a:t>
            </a:r>
          </a:p>
        </p:txBody>
      </p:sp>
    </p:spTree>
    <p:extLst>
      <p:ext uri="{BB962C8B-B14F-4D97-AF65-F5344CB8AC3E}">
        <p14:creationId xmlns:p14="http://schemas.microsoft.com/office/powerpoint/2010/main" val="36418897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76C632-B075-484E-8652-EAB1B9C8C1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Digital Strategies: The P-O-E-M Framework (Continue…)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454155-994D-4D84-AC12-DFE126A203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Earned Media</a:t>
            </a:r>
          </a:p>
          <a:p>
            <a:pPr lvl="1"/>
            <a:r>
              <a:rPr lang="en-US" b="1" dirty="0"/>
              <a:t>Definition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Earned media refers to the </a:t>
            </a:r>
            <a:r>
              <a:rPr lang="en-US" b="1" dirty="0"/>
              <a:t>organic, unpaid exposure </a:t>
            </a:r>
            <a:r>
              <a:rPr lang="en-US" dirty="0"/>
              <a:t>that a brand gains through </a:t>
            </a:r>
          </a:p>
          <a:p>
            <a:pPr lvl="2"/>
            <a:r>
              <a:rPr lang="en-US" dirty="0"/>
              <a:t>word-of-mouth, </a:t>
            </a:r>
          </a:p>
          <a:p>
            <a:pPr lvl="2"/>
            <a:r>
              <a:rPr lang="en-US" dirty="0"/>
              <a:t>customer reviews, </a:t>
            </a:r>
          </a:p>
          <a:p>
            <a:pPr lvl="2"/>
            <a:r>
              <a:rPr lang="en-US" dirty="0"/>
              <a:t>media mentions, and </a:t>
            </a:r>
          </a:p>
          <a:p>
            <a:pPr lvl="2"/>
            <a:r>
              <a:rPr lang="en-US" dirty="0"/>
              <a:t>social shares. </a:t>
            </a:r>
          </a:p>
          <a:p>
            <a:pPr lvl="1"/>
            <a:r>
              <a:rPr lang="en-US" dirty="0"/>
              <a:t>Essentially, it is the </a:t>
            </a:r>
            <a:r>
              <a:rPr lang="en-US" b="1" dirty="0"/>
              <a:t>recognition a brand </a:t>
            </a:r>
            <a:r>
              <a:rPr lang="en-US" dirty="0"/>
              <a:t>earns through </a:t>
            </a:r>
            <a:r>
              <a:rPr lang="en-US" b="1" dirty="0"/>
              <a:t>its reputation, product quality, and customer interactions.</a:t>
            </a:r>
            <a:endParaRPr lang="en-US" dirty="0"/>
          </a:p>
          <a:p>
            <a:endParaRPr lang="en-US" b="1" dirty="0">
              <a:solidFill>
                <a:srgbClr val="C00000"/>
              </a:solidFill>
            </a:endParaRPr>
          </a:p>
          <a:p>
            <a:pPr marL="457200" lvl="1" indent="0">
              <a:buNone/>
            </a:pP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0278082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12A94B-C2DE-49A6-AB2B-15303BC124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Digital Strategies: The P-O-E-M Framework (Continue…)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B8910B-AF41-40B3-A055-5167D200A0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Example:</a:t>
            </a:r>
          </a:p>
          <a:p>
            <a:r>
              <a:rPr lang="en-US" b="1" dirty="0"/>
              <a:t>Earned Media</a:t>
            </a:r>
          </a:p>
          <a:p>
            <a:pPr lvl="1"/>
            <a:r>
              <a:rPr lang="en-US" b="1" dirty="0"/>
              <a:t>Social Shares</a:t>
            </a:r>
            <a:r>
              <a:rPr lang="en-US" dirty="0"/>
              <a:t>: When people share your content on Social Media without being paid to do so.</a:t>
            </a:r>
          </a:p>
          <a:p>
            <a:pPr lvl="1"/>
            <a:r>
              <a:rPr lang="en-US" b="1" dirty="0"/>
              <a:t>Online Reviews</a:t>
            </a:r>
            <a:r>
              <a:rPr lang="en-US" dirty="0"/>
              <a:t>: Positive or negative reviews on platforms like Google Reviews, Apps, or e-commerce sites.</a:t>
            </a:r>
          </a:p>
          <a:p>
            <a:pPr lvl="1"/>
            <a:r>
              <a:rPr lang="en-US" b="1" dirty="0"/>
              <a:t>Media Coverage</a:t>
            </a:r>
            <a:r>
              <a:rPr lang="en-US" dirty="0"/>
              <a:t>: Press articles, features, or news stories about your brand, product, or service.</a:t>
            </a:r>
          </a:p>
          <a:p>
            <a:pPr lvl="1"/>
            <a:r>
              <a:rPr lang="en-US" b="1" dirty="0"/>
              <a:t>Influencer Endorsements</a:t>
            </a:r>
            <a:r>
              <a:rPr lang="en-US" dirty="0"/>
              <a:t>: Influencers organically mention or recommend your brand without being paid.</a:t>
            </a:r>
          </a:p>
          <a:p>
            <a:pPr lvl="1"/>
            <a:r>
              <a:rPr lang="en-US" b="1" dirty="0"/>
              <a:t>Word-of-Mouth</a:t>
            </a:r>
            <a:r>
              <a:rPr lang="en-US" dirty="0"/>
              <a:t>: Customers recommending your brand to others based on their personal experiences.</a:t>
            </a:r>
          </a:p>
          <a:p>
            <a:endParaRPr lang="en-US" b="1" dirty="0">
              <a:solidFill>
                <a:srgbClr val="C00000"/>
              </a:solidFill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65087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4FB520-0F69-48AE-8A0C-2D8C464FAD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Buying Models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1894AE-C0F7-4274-8895-C2B473FADC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562940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ED146B-80CB-401A-A742-2D9190CED4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Buying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638BD7-406C-4348-9DDA-21DEBE34C2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i="0" u="none" strike="noStrike" dirty="0">
                <a:solidFill>
                  <a:srgbClr val="C00000"/>
                </a:solidFill>
                <a:effectLst/>
                <a:latin typeface="Roboto Condensed" panose="02000000000000000000" pitchFamily="2" charset="0"/>
              </a:rPr>
              <a:t>Buying models </a:t>
            </a:r>
            <a:r>
              <a:rPr lang="en-US" b="1" i="0" u="none" strike="noStrike" dirty="0">
                <a:solidFill>
                  <a:srgbClr val="212121"/>
                </a:solidFill>
                <a:effectLst/>
                <a:latin typeface="Roboto Condensed" panose="02000000000000000000" pitchFamily="2" charset="0"/>
              </a:rPr>
              <a:t>refer to the various ways advertisers pay for digital ad campaigns. </a:t>
            </a:r>
          </a:p>
          <a:p>
            <a:r>
              <a:rPr lang="en-US" dirty="0"/>
              <a:t>The most common models are:</a:t>
            </a:r>
          </a:p>
          <a:p>
            <a:pPr lvl="1"/>
            <a:r>
              <a:rPr lang="en-US" dirty="0"/>
              <a:t>Cost per Click (CPC)</a:t>
            </a:r>
          </a:p>
          <a:p>
            <a:pPr lvl="1"/>
            <a:r>
              <a:rPr lang="en-US" dirty="0"/>
              <a:t>Cost per Mille (CPM)</a:t>
            </a:r>
          </a:p>
          <a:p>
            <a:pPr lvl="1"/>
            <a:r>
              <a:rPr lang="en-US" dirty="0"/>
              <a:t>Cost per Lead (CPL)</a:t>
            </a:r>
          </a:p>
          <a:p>
            <a:pPr lvl="1"/>
            <a:r>
              <a:rPr lang="en-US" dirty="0"/>
              <a:t>Cost per Acquisition (Action) (CPA)</a:t>
            </a:r>
          </a:p>
          <a:p>
            <a:r>
              <a:rPr lang="en-US" dirty="0"/>
              <a:t>These models help businesses optimize ad spending based on their marketing goals.</a:t>
            </a:r>
          </a:p>
          <a:p>
            <a:endParaRPr lang="en-US" dirty="0"/>
          </a:p>
        </p:txBody>
      </p:sp>
      <p:pic>
        <p:nvPicPr>
          <p:cNvPr id="1028" name="Picture 4" descr="Main Media Buying Models | Marketing China">
            <a:extLst>
              <a:ext uri="{FF2B5EF4-FFF2-40B4-BE49-F238E27FC236}">
                <a16:creationId xmlns:a16="http://schemas.microsoft.com/office/drawing/2014/main" id="{B94055E7-C59A-45E9-8E6B-7B0AACB28DB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373" b="10645"/>
          <a:stretch/>
        </p:blipFill>
        <p:spPr bwMode="auto">
          <a:xfrm>
            <a:off x="978847" y="3785938"/>
            <a:ext cx="8507552" cy="24544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33474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070641-0FA9-4517-97F1-8CC25721C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Buying Models: Cost Per Click (CPC)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A08C77-9E3C-4421-9B54-17C3DE995A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Cost per Click (CPC)</a:t>
            </a:r>
          </a:p>
          <a:p>
            <a:r>
              <a:rPr lang="en-US" dirty="0"/>
              <a:t>Advertisers pay each time a user </a:t>
            </a:r>
            <a:r>
              <a:rPr lang="en-US" b="1" dirty="0"/>
              <a:t>clicks</a:t>
            </a:r>
            <a:r>
              <a:rPr lang="en-US" dirty="0"/>
              <a:t> on their ad. </a:t>
            </a:r>
            <a:r>
              <a:rPr lang="en-US" b="1" dirty="0"/>
              <a:t>This model is ideal for driving traffic to a website or landing page.</a:t>
            </a:r>
          </a:p>
          <a:p>
            <a:r>
              <a:rPr lang="en-US" b="1" dirty="0"/>
              <a:t>Example: </a:t>
            </a:r>
            <a:r>
              <a:rPr lang="en-US" dirty="0"/>
              <a:t>If an advertiser sets a CPC bid of ₹5, they pay ₹5 each time someone clicks on their ad.</a:t>
            </a:r>
          </a:p>
          <a:p>
            <a:r>
              <a:rPr lang="en-US" b="1" dirty="0"/>
              <a:t>Objective: </a:t>
            </a:r>
            <a:r>
              <a:rPr lang="en-US" dirty="0"/>
              <a:t>Drive traffic to the advertiser's website by paying for each click on the ad.</a:t>
            </a:r>
          </a:p>
          <a:p>
            <a:endParaRPr lang="en-US" dirty="0"/>
          </a:p>
        </p:txBody>
      </p:sp>
      <p:pic>
        <p:nvPicPr>
          <p:cNvPr id="4" name="Picture 2" descr="Main Media Buying Models | Marketing China">
            <a:extLst>
              <a:ext uri="{FF2B5EF4-FFF2-40B4-BE49-F238E27FC236}">
                <a16:creationId xmlns:a16="http://schemas.microsoft.com/office/drawing/2014/main" id="{34DE231E-BF45-443D-9AD2-6FFB4AD1642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529" t="9268" r="50057" b="10826"/>
          <a:stretch/>
        </p:blipFill>
        <p:spPr bwMode="auto">
          <a:xfrm>
            <a:off x="7331843" y="3658726"/>
            <a:ext cx="2263140" cy="26152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807705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0F4D72-8712-4328-B624-05F34827F7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Buying Models: Cost Per Click (CPC) (Continue…)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9D281E-3130-42BA-B82A-8297DAA0B1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Steps</a:t>
            </a:r>
          </a:p>
          <a:p>
            <a:pPr lvl="1"/>
            <a:r>
              <a:rPr lang="en-US" b="1" dirty="0"/>
              <a:t>Ad Creation: </a:t>
            </a:r>
            <a:r>
              <a:rPr lang="en-US" dirty="0"/>
              <a:t>The advertiser creates an ad, text-based for search engines (like Google Ads) or image/video ads for social media </a:t>
            </a:r>
          </a:p>
          <a:p>
            <a:pPr lvl="1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02BCC3A-23C6-4F84-9F78-6AD5F16F1E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9077" y="2196334"/>
            <a:ext cx="4257675" cy="4257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41517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0F4D72-8712-4328-B624-05F34827F7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Buying Models: Cost Per Click (CPC) (Continue…)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9D281E-3130-42BA-B82A-8297DAA0B1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Steps</a:t>
            </a:r>
          </a:p>
          <a:p>
            <a:pPr lvl="1"/>
            <a:r>
              <a:rPr lang="en-US" b="1" dirty="0"/>
              <a:t>Bidding: </a:t>
            </a:r>
            <a:r>
              <a:rPr lang="en-US" dirty="0"/>
              <a:t>The advertiser sets a maximum bid (the highest they are willing to pay) for each click. Platforms like Google Ads or Facebook Ads use an auction system to display ads.</a:t>
            </a:r>
          </a:p>
          <a:p>
            <a:endParaRPr lang="en-US" b="1" dirty="0">
              <a:solidFill>
                <a:srgbClr val="C00000"/>
              </a:solidFill>
            </a:endParaRPr>
          </a:p>
          <a:p>
            <a:pPr lvl="1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11942E7-6F35-42F5-853B-D65DB04D15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2610" y="2242121"/>
            <a:ext cx="4106779" cy="4211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30106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0F4D72-8712-4328-B624-05F34827F7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Buying Models: Cost Per Click (CPC) (Continue…)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9D281E-3130-42BA-B82A-8297DAA0B1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Steps</a:t>
            </a:r>
          </a:p>
          <a:p>
            <a:pPr lvl="1"/>
            <a:r>
              <a:rPr lang="en-US" b="1" dirty="0"/>
              <a:t>Targeting: </a:t>
            </a:r>
            <a:r>
              <a:rPr lang="en-US" dirty="0"/>
              <a:t>The advertiser selects the audience based on demographics, interests, or keywords relevant to the product or service.</a:t>
            </a:r>
          </a:p>
          <a:p>
            <a:pPr lvl="1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C67BC96-330B-4099-90AB-A27864BD36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6621" y="1588169"/>
            <a:ext cx="5269831" cy="5269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74472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0F4D72-8712-4328-B624-05F34827F7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Buying Models: Cost Per Click (CPC) (Continue…)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9D281E-3130-42BA-B82A-8297DAA0B1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Steps</a:t>
            </a:r>
          </a:p>
          <a:p>
            <a:pPr lvl="1"/>
            <a:r>
              <a:rPr lang="en-US" b="1" dirty="0"/>
              <a:t>Ad Display: </a:t>
            </a:r>
            <a:r>
              <a:rPr lang="en-US" dirty="0"/>
              <a:t>The ad is shown to users within the target audience across various</a:t>
            </a:r>
          </a:p>
          <a:p>
            <a:pPr lvl="1"/>
            <a:endParaRPr lang="en-US" b="1" dirty="0">
              <a:solidFill>
                <a:srgbClr val="C00000"/>
              </a:solidFill>
            </a:endParaRPr>
          </a:p>
          <a:p>
            <a:pPr lvl="1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68F3A91-B902-4C6D-852A-CAD91AE6C1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7557" y="2312142"/>
            <a:ext cx="7138737" cy="3362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49134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0F4D72-8712-4328-B624-05F34827F7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Buying Models: Cost Per Click (CPC) (Continue…)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9D281E-3130-42BA-B82A-8297DAA0B1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Steps</a:t>
            </a:r>
          </a:p>
          <a:p>
            <a:pPr lvl="1"/>
            <a:r>
              <a:rPr lang="en-US" b="1" dirty="0"/>
              <a:t>User Clicks</a:t>
            </a:r>
            <a:r>
              <a:rPr lang="en-US" dirty="0"/>
              <a:t>: When a user clicks on the ad, they are taken to the advertiser’s website or landing page.</a:t>
            </a:r>
          </a:p>
          <a:p>
            <a:pPr lvl="1"/>
            <a:endParaRPr lang="en-US" b="1" dirty="0">
              <a:solidFill>
                <a:srgbClr val="C00000"/>
              </a:solidFill>
            </a:endParaRPr>
          </a:p>
          <a:p>
            <a:pPr lvl="1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4A85C3E-4E6B-4AA1-BD82-C579446026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42347" y="1657420"/>
            <a:ext cx="4796589" cy="4796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25661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0F4D72-8712-4328-B624-05F34827F7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Buying Models: Cost Per Click (CPC) (Continue…)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9D281E-3130-42BA-B82A-8297DAA0B1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Steps</a:t>
            </a:r>
          </a:p>
          <a:p>
            <a:pPr lvl="1"/>
            <a:r>
              <a:rPr lang="en-US" b="1" dirty="0"/>
              <a:t>Payment: </a:t>
            </a:r>
            <a:r>
              <a:rPr lang="en-US" dirty="0"/>
              <a:t>The advertiser is charged for each click. The cost per click can vary based on competition and ad relevance.</a:t>
            </a:r>
          </a:p>
          <a:p>
            <a:pPr lvl="2"/>
            <a:r>
              <a:rPr lang="en-US" b="1" dirty="0"/>
              <a:t>Example: </a:t>
            </a:r>
            <a:r>
              <a:rPr lang="en-US" dirty="0"/>
              <a:t>If a Flipkart ad on Google gets 100 clicks and the cost per click is ₹5, the total cost is ₹500. </a:t>
            </a:r>
          </a:p>
          <a:p>
            <a:pPr lvl="1"/>
            <a:endParaRPr lang="en-US" b="1" dirty="0">
              <a:solidFill>
                <a:srgbClr val="C00000"/>
              </a:solidFill>
            </a:endParaRPr>
          </a:p>
          <a:p>
            <a:pPr lvl="1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7E00F9F-B66D-4512-968C-2C24E4446B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88537" y="2406315"/>
            <a:ext cx="3814926" cy="3814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57111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0F4D72-8712-4328-B624-05F34827F7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Buying Models: Cost Per Click (CPC) (Continue…)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9D281E-3130-42BA-B82A-8297DAA0B1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Steps</a:t>
            </a:r>
          </a:p>
          <a:p>
            <a:pPr lvl="1"/>
            <a:r>
              <a:rPr lang="en-US" b="1" dirty="0"/>
              <a:t>Campaign Monitoring: </a:t>
            </a:r>
            <a:r>
              <a:rPr lang="en-US" dirty="0"/>
              <a:t>Advertisers monitor the campaign performance using analytics tools to measure ROI and optimize targeting or bids as needed.</a:t>
            </a:r>
          </a:p>
          <a:p>
            <a:endParaRPr lang="en-US" b="1" dirty="0">
              <a:solidFill>
                <a:srgbClr val="C00000"/>
              </a:solidFill>
            </a:endParaRPr>
          </a:p>
          <a:p>
            <a:pPr lvl="1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D3168B1-C075-4272-93D4-105324E7B7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13221" y="2562475"/>
            <a:ext cx="5486400" cy="3305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99646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4D2F50-D9ED-4450-BC5E-82A2EB80B1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711200"/>
          </a:xfrm>
        </p:spPr>
        <p:txBody>
          <a:bodyPr/>
          <a:lstStyle/>
          <a:p>
            <a:r>
              <a:rPr lang="en-US" dirty="0"/>
              <a:t>Buying Models: Cost per Mille (CPM)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A6D4A9-4C59-42A1-8D51-DF977569B9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Cost per Mille (CPM)</a:t>
            </a:r>
          </a:p>
          <a:p>
            <a:r>
              <a:rPr lang="en-US" dirty="0"/>
              <a:t>Advertisers pay for every </a:t>
            </a:r>
            <a:r>
              <a:rPr lang="en-US" b="1" dirty="0"/>
              <a:t>1,000 impressions </a:t>
            </a:r>
            <a:r>
              <a:rPr lang="en-US" dirty="0"/>
              <a:t>(views) of their ad, regardless of whether anyone clicks. It is used primarily for </a:t>
            </a:r>
            <a:r>
              <a:rPr lang="en-US" b="1" dirty="0"/>
              <a:t>raising brand awareness</a:t>
            </a:r>
            <a:r>
              <a:rPr lang="en-US" dirty="0"/>
              <a:t>.</a:t>
            </a:r>
          </a:p>
          <a:p>
            <a:r>
              <a:rPr lang="en-US" b="1" dirty="0"/>
              <a:t>Example: </a:t>
            </a:r>
            <a:r>
              <a:rPr lang="en-US" dirty="0"/>
              <a:t>If an advertiser's CPM is ₹100, they pay ₹100 for every 1,000 people who see the ad.</a:t>
            </a:r>
          </a:p>
          <a:p>
            <a:r>
              <a:rPr lang="en-US" b="1" dirty="0"/>
              <a:t>Objective: </a:t>
            </a:r>
            <a:r>
              <a:rPr lang="en-US" dirty="0"/>
              <a:t>Increase brand visibility by paying for every thousand impressions.</a:t>
            </a:r>
          </a:p>
        </p:txBody>
      </p:sp>
      <p:pic>
        <p:nvPicPr>
          <p:cNvPr id="4" name="Picture 2" descr="Main Media Buying Models | Marketing China">
            <a:extLst>
              <a:ext uri="{FF2B5EF4-FFF2-40B4-BE49-F238E27FC236}">
                <a16:creationId xmlns:a16="http://schemas.microsoft.com/office/drawing/2014/main" id="{DC069531-9C22-4A20-B5C7-6F0186CBF31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992" r="75727" b="11176"/>
          <a:stretch/>
        </p:blipFill>
        <p:spPr bwMode="auto">
          <a:xfrm>
            <a:off x="7914506" y="3795030"/>
            <a:ext cx="2161540" cy="2514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865214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D0BEC8-EDC8-4FD9-B268-27D3B0CD7A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Buying Models: Cost per Mille (CPM) (Continue…)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37AF92-9422-4003-BC27-6F9950A586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Steps:</a:t>
            </a:r>
          </a:p>
          <a:p>
            <a:pPr lvl="1"/>
            <a:r>
              <a:rPr lang="en-US" b="1" dirty="0"/>
              <a:t>Ad Creation</a:t>
            </a:r>
            <a:r>
              <a:rPr lang="en-US" dirty="0"/>
              <a:t>: The advertiser designs ads, which can be banners, videos, or display ads suited for platforms like YouTube or display networks.</a:t>
            </a:r>
          </a:p>
          <a:p>
            <a:pPr lvl="1"/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664F769-C747-4D7D-BC65-2DBD175BF6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8609" y="2315149"/>
            <a:ext cx="7475621" cy="3679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22996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D0BEC8-EDC8-4FD9-B268-27D3B0CD7A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Buying Models: Cost per Mille (CPM) (Continue…)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37AF92-9422-4003-BC27-6F9950A586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Steps:</a:t>
            </a:r>
          </a:p>
          <a:p>
            <a:pPr lvl="1"/>
            <a:r>
              <a:rPr lang="en-US" b="1" dirty="0"/>
              <a:t>Bidding/Setting CPM</a:t>
            </a:r>
            <a:r>
              <a:rPr lang="en-US" dirty="0"/>
              <a:t>: The advertiser sets a </a:t>
            </a:r>
            <a:r>
              <a:rPr lang="en-US" b="1" dirty="0"/>
              <a:t>CPM bid</a:t>
            </a:r>
            <a:r>
              <a:rPr lang="en-US" dirty="0"/>
              <a:t> (cost per 1,000 impressions). This bid represents how much the advertiser is willing to pay for every 1,000 people who view their ad.</a:t>
            </a:r>
          </a:p>
          <a:p>
            <a:pPr lvl="1"/>
            <a:endParaRPr lang="en-US" b="1" dirty="0"/>
          </a:p>
          <a:p>
            <a:pPr lvl="1"/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7C402AE-1719-4421-B8E9-CFA5B08851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87646" y="1575237"/>
            <a:ext cx="4878772" cy="4878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88636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D0BEC8-EDC8-4FD9-B268-27D3B0CD7A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Buying Models: Cost per Mille (CPM) (Continue…)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37AF92-9422-4003-BC27-6F9950A586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Steps:</a:t>
            </a:r>
          </a:p>
          <a:p>
            <a:pPr lvl="1"/>
            <a:r>
              <a:rPr lang="en-US" b="1" dirty="0"/>
              <a:t>Targeting</a:t>
            </a:r>
            <a:r>
              <a:rPr lang="en-US" dirty="0"/>
              <a:t>: The advertiser defines the audience using factors like age, interests, behavior, or location.</a:t>
            </a:r>
          </a:p>
          <a:p>
            <a:pPr lvl="1"/>
            <a:endParaRPr lang="en-US" b="1" dirty="0"/>
          </a:p>
          <a:p>
            <a:pPr lvl="1"/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9E564EF-3C55-48D6-9419-327A027984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38728" y="1906178"/>
            <a:ext cx="5593080" cy="4347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4032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D0BEC8-EDC8-4FD9-B268-27D3B0CD7A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Buying Models: Cost per Mille (CPM) (Continue…)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37AF92-9422-4003-BC27-6F9950A586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Steps:</a:t>
            </a:r>
          </a:p>
          <a:p>
            <a:pPr lvl="1"/>
            <a:r>
              <a:rPr lang="en-US" b="1" dirty="0"/>
              <a:t>Ad Display</a:t>
            </a:r>
            <a:r>
              <a:rPr lang="en-US" dirty="0"/>
              <a:t>: The ad is displayed across various platforms (social media, video streaming, or display networks) within the target audience.</a:t>
            </a:r>
          </a:p>
          <a:p>
            <a:pPr lvl="1"/>
            <a:endParaRPr lang="en-US" b="1" dirty="0"/>
          </a:p>
          <a:p>
            <a:pPr lvl="1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59339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D0BEC8-EDC8-4FD9-B268-27D3B0CD7A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Buying Models: Cost per Mille (CPM) (Continue…)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37AF92-9422-4003-BC27-6F9950A586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Steps:</a:t>
            </a:r>
          </a:p>
          <a:p>
            <a:pPr lvl="1"/>
            <a:r>
              <a:rPr lang="en-US" b="1" dirty="0"/>
              <a:t>Payment for Impressions: </a:t>
            </a:r>
            <a:r>
              <a:rPr lang="en-US" dirty="0"/>
              <a:t>The advertiser is charged for every 1,000 views (impressions) of the ad, regardless of whether the audience interacts with it.</a:t>
            </a:r>
          </a:p>
          <a:p>
            <a:pPr lvl="2"/>
            <a:r>
              <a:rPr lang="en-US" b="1" dirty="0"/>
              <a:t>Example: </a:t>
            </a:r>
            <a:r>
              <a:rPr lang="en-US" dirty="0"/>
              <a:t>If Tata Motors pays ₹100 CPM and their ad is shown 10,000 times, they would pay ₹1,00 (10,000/1,000) = 10 * ₹100).</a:t>
            </a:r>
          </a:p>
          <a:p>
            <a:pPr lvl="1"/>
            <a:endParaRPr lang="en-US" b="1" dirty="0"/>
          </a:p>
          <a:p>
            <a:pPr lvl="1"/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267950D-0921-476B-9873-90F1A0F251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5516" y="3211176"/>
            <a:ext cx="5573879" cy="2783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51276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D0BEC8-EDC8-4FD9-B268-27D3B0CD7A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Buying Models: Cost per Mille (CPM) (Continue…)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37AF92-9422-4003-BC27-6F9950A586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Steps:</a:t>
            </a:r>
          </a:p>
          <a:p>
            <a:pPr lvl="1"/>
            <a:r>
              <a:rPr lang="en-US" b="1" dirty="0"/>
              <a:t>Campaign Monitoring: </a:t>
            </a:r>
            <a:r>
              <a:rPr lang="en-US" dirty="0"/>
              <a:t>Advertisers review impression data to understand reach and adjust their ad creatives or budget if necessary.</a:t>
            </a:r>
          </a:p>
          <a:p>
            <a:pPr lvl="1"/>
            <a:endParaRPr lang="en-US" b="1" dirty="0"/>
          </a:p>
          <a:p>
            <a:pPr lvl="1"/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6A64974-2AD3-4749-8894-8667CAE313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8705" y="2394284"/>
            <a:ext cx="4034589" cy="3025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73844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65BD17-A1FE-4646-953E-131B82B0F8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Buying Models: Cost Per Lead (CPL)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08BA5B-8AC4-445D-93AF-76B751B2A0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Cost per Lead (CPL)</a:t>
            </a:r>
          </a:p>
          <a:p>
            <a:r>
              <a:rPr lang="en-US" dirty="0"/>
              <a:t>Advertisers pay when they </a:t>
            </a:r>
            <a:r>
              <a:rPr lang="en-US" b="1" dirty="0"/>
              <a:t>generate a lead</a:t>
            </a:r>
            <a:r>
              <a:rPr lang="en-US" dirty="0"/>
              <a:t>, such as when a user submits their contact information (e.g., via a form). </a:t>
            </a:r>
          </a:p>
          <a:p>
            <a:r>
              <a:rPr lang="en-US" dirty="0"/>
              <a:t>This model focuses on lead generation.</a:t>
            </a:r>
          </a:p>
          <a:p>
            <a:r>
              <a:rPr lang="en-US" b="1" dirty="0"/>
              <a:t>Example</a:t>
            </a:r>
            <a:r>
              <a:rPr lang="en-US" dirty="0"/>
              <a:t>: If an advertiser pays ₹200 per lead and receives 10 leads, they pay ₹2,000.</a:t>
            </a:r>
          </a:p>
          <a:p>
            <a:r>
              <a:rPr lang="en-US" b="1" dirty="0"/>
              <a:t>Objective</a:t>
            </a:r>
            <a:r>
              <a:rPr lang="en-US" dirty="0"/>
              <a:t>: Generate leads by paying for each lead captured through a form or inquiry.</a:t>
            </a:r>
          </a:p>
          <a:p>
            <a:endParaRPr lang="en-US" b="1" dirty="0">
              <a:solidFill>
                <a:srgbClr val="C00000"/>
              </a:solidFill>
            </a:endParaRPr>
          </a:p>
          <a:p>
            <a:endParaRPr lang="en-US" dirty="0"/>
          </a:p>
        </p:txBody>
      </p:sp>
      <p:pic>
        <p:nvPicPr>
          <p:cNvPr id="4" name="Picture 2" descr="Main Media Buying Models | Marketing China">
            <a:extLst>
              <a:ext uri="{FF2B5EF4-FFF2-40B4-BE49-F238E27FC236}">
                <a16:creationId xmlns:a16="http://schemas.microsoft.com/office/drawing/2014/main" id="{E3817A48-E9B3-4CD9-AADB-8A19771256B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613" t="8849" b="11525"/>
          <a:stretch/>
        </p:blipFill>
        <p:spPr bwMode="auto">
          <a:xfrm>
            <a:off x="6833938" y="3483577"/>
            <a:ext cx="2602229" cy="3122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129486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52ACB3-5316-4E34-829E-5CC333A4B5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Buying Models: Cost Per Lead (CPL) (Continue…)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D1C06E-2833-45E7-A939-63F33E2EF0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Steps:</a:t>
            </a:r>
          </a:p>
          <a:p>
            <a:pPr lvl="1"/>
            <a:r>
              <a:rPr lang="en-US" b="1" dirty="0"/>
              <a:t>Ad Creation</a:t>
            </a:r>
            <a:r>
              <a:rPr lang="en-US" dirty="0"/>
              <a:t>: The advertiser creates an ad that offers value (such as free consultations, product demos, etc.) to encourage users to provide their contact details.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0C5278E-6F20-4315-97F8-8BEB1B35B4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6574" y="2139203"/>
            <a:ext cx="6438900" cy="3619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74760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BF0C99-45D9-428A-9102-3391920864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Buying Models: Cost Per Lead (CPL) (Continue…)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D32E67-6ED4-4376-89AA-BBA9F368AC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Steps:</a:t>
            </a:r>
          </a:p>
          <a:p>
            <a:pPr lvl="1"/>
            <a:r>
              <a:rPr lang="en-US" b="1" dirty="0"/>
              <a:t>Bidding</a:t>
            </a:r>
            <a:r>
              <a:rPr lang="en-US" dirty="0"/>
              <a:t>: The advertiser sets the amount they are willing to pay per lead (CPL bid).</a:t>
            </a:r>
          </a:p>
          <a:p>
            <a:pPr lvl="1"/>
            <a:endParaRPr lang="en-US" b="1" dirty="0">
              <a:solidFill>
                <a:srgbClr val="C00000"/>
              </a:solidFill>
            </a:endParaRP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2118F0B-7CFD-4C2D-BC03-4BABD73C0F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1103" y="1943671"/>
            <a:ext cx="3949793" cy="4050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87681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BF0C99-45D9-428A-9102-3391920864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Buying Models: Cost Per Lead (CPL) (Continue…)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D32E67-6ED4-4376-89AA-BBA9F368AC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Steps:</a:t>
            </a:r>
          </a:p>
          <a:p>
            <a:pPr lvl="1"/>
            <a:r>
              <a:rPr lang="en-US" b="1" dirty="0"/>
              <a:t>Lead Form Setup</a:t>
            </a:r>
            <a:r>
              <a:rPr lang="en-US" dirty="0"/>
              <a:t>: A form is integrated with the ad (on platforms like Facebook Lead Ads or Google Ads), where users can submit their information (name, email, phone number, etc.).</a:t>
            </a:r>
          </a:p>
          <a:p>
            <a:pPr lvl="1"/>
            <a:endParaRPr lang="en-US" b="1" dirty="0">
              <a:solidFill>
                <a:srgbClr val="C00000"/>
              </a:solidFill>
            </a:endParaRP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228CF1D-74E3-4DB9-B150-000DEDE55C1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988" b="5773"/>
          <a:stretch/>
        </p:blipFill>
        <p:spPr>
          <a:xfrm>
            <a:off x="3806225" y="2286000"/>
            <a:ext cx="4579550" cy="3836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44162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BF0C99-45D9-428A-9102-3391920864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Buying Models: Cost Per Lead (CPL) (Continue…)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D32E67-6ED4-4376-89AA-BBA9F368AC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Steps:</a:t>
            </a:r>
          </a:p>
          <a:p>
            <a:pPr lvl="1"/>
            <a:r>
              <a:rPr lang="en-US" b="1" dirty="0"/>
              <a:t>Targeting</a:t>
            </a:r>
            <a:r>
              <a:rPr lang="en-US" dirty="0"/>
              <a:t>: The advertiser targets the audience, focusing on users who are likely to be interested in the offer.</a:t>
            </a:r>
          </a:p>
          <a:p>
            <a:pPr lvl="1"/>
            <a:endParaRPr lang="en-US" b="1" dirty="0">
              <a:solidFill>
                <a:srgbClr val="C00000"/>
              </a:solidFill>
            </a:endParaRP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56C9BF7-4DB9-4E2E-BF7B-91513C1DED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1524" y="2299942"/>
            <a:ext cx="4568952" cy="3551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25027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BF0C99-45D9-428A-9102-3391920864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Buying Models: Cost Per Lead (CPL) (Continue…)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D32E67-6ED4-4376-89AA-BBA9F368AC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Steps:</a:t>
            </a:r>
          </a:p>
          <a:p>
            <a:pPr lvl="1"/>
            <a:r>
              <a:rPr lang="en-US" b="1" dirty="0"/>
              <a:t>Ad Display: </a:t>
            </a:r>
            <a:r>
              <a:rPr lang="en-US" dirty="0"/>
              <a:t>The ad is shown to the target audience across various platforms.</a:t>
            </a:r>
          </a:p>
          <a:p>
            <a:pPr lvl="1"/>
            <a:endParaRPr lang="en-US" b="1" dirty="0">
              <a:solidFill>
                <a:srgbClr val="C00000"/>
              </a:solidFill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68214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BF0C99-45D9-428A-9102-3391920864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Buying Models: Cost Per Lead (CPL) (Continue…)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D32E67-6ED4-4376-89AA-BBA9F368AC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Steps:</a:t>
            </a:r>
          </a:p>
          <a:p>
            <a:pPr lvl="1"/>
            <a:r>
              <a:rPr lang="en-US" b="1" dirty="0"/>
              <a:t>Lead Submission: </a:t>
            </a:r>
            <a:r>
              <a:rPr lang="en-US" dirty="0"/>
              <a:t>Users see the ad, and if they are interested, they fill out the form, providing their contact details.</a:t>
            </a:r>
          </a:p>
          <a:p>
            <a:pPr lvl="1"/>
            <a:endParaRPr lang="en-US" b="1" dirty="0">
              <a:solidFill>
                <a:srgbClr val="C00000"/>
              </a:solidFill>
            </a:endParaRP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C213510-94A6-4AE1-B690-34CC9D1DFB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8666" y="2106706"/>
            <a:ext cx="2214667" cy="4179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30649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BF0C99-45D9-428A-9102-3391920864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Buying Models: Cost Per Lead (CPL) (Continue…)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D32E67-6ED4-4376-89AA-BBA9F368AC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Steps:</a:t>
            </a:r>
          </a:p>
          <a:p>
            <a:pPr lvl="1"/>
            <a:r>
              <a:rPr lang="en-US" b="1" dirty="0"/>
              <a:t>Payment: </a:t>
            </a:r>
            <a:r>
              <a:rPr lang="en-US" dirty="0"/>
              <a:t>The advertiser is charged when a lead is captured.</a:t>
            </a:r>
          </a:p>
          <a:p>
            <a:pPr lvl="2"/>
            <a:r>
              <a:rPr lang="en-US" b="1" dirty="0"/>
              <a:t>Example: </a:t>
            </a:r>
            <a:r>
              <a:rPr lang="en-US" dirty="0"/>
              <a:t>If ICICI Bank runs a campaign for credit card sign-ups and generates 50 leads at ₹200 per lead, they would pay ₹10,000 (₹200 * 50 leads).</a:t>
            </a:r>
          </a:p>
          <a:p>
            <a:pPr lvl="1"/>
            <a:endParaRPr lang="en-US" b="1" dirty="0">
              <a:solidFill>
                <a:srgbClr val="C00000"/>
              </a:solidFill>
            </a:endParaRP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DDAB352-AC4A-43F7-BB81-C4CFC6B6877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206" t="18261" r="26470" b="20435"/>
          <a:stretch/>
        </p:blipFill>
        <p:spPr>
          <a:xfrm>
            <a:off x="4939552" y="2734235"/>
            <a:ext cx="2519084" cy="2796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11205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BF0C99-45D9-428A-9102-3391920864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Buying Models: Cost Per Lead (CPL) (Continue…)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D32E67-6ED4-4376-89AA-BBA9F368AC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Steps:</a:t>
            </a:r>
          </a:p>
          <a:p>
            <a:pPr lvl="1"/>
            <a:r>
              <a:rPr lang="en-US" b="1" dirty="0"/>
              <a:t>Lead Management: </a:t>
            </a:r>
            <a:r>
              <a:rPr lang="en-US" dirty="0"/>
              <a:t>The captured leads are handed over to the sales team for follow-up and conversion into customers.</a:t>
            </a:r>
          </a:p>
          <a:p>
            <a:pPr lvl="1"/>
            <a:endParaRPr lang="en-US" b="1" dirty="0">
              <a:solidFill>
                <a:srgbClr val="C00000"/>
              </a:solidFill>
            </a:endParaRPr>
          </a:p>
          <a:p>
            <a:endParaRPr lang="en-US" dirty="0"/>
          </a:p>
        </p:txBody>
      </p:sp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C75DE68B-C32C-420F-8DB8-85736E2AEBFA}"/>
              </a:ext>
            </a:extLst>
          </p:cNvPr>
          <p:cNvGraphicFramePr/>
          <p:nvPr/>
        </p:nvGraphicFramePr>
        <p:xfrm>
          <a:off x="2032000" y="2034988"/>
          <a:ext cx="5982447" cy="410334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402028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8" grpId="0">
        <p:bldAsOne/>
      </p:bldGraphic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D65680-3623-452F-B1E3-13D49D2A4D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Buying Models: Cost per Acquisition (CPA)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FF3384-67CB-4BF5-B14B-FD182F9FDF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Cost per Acquisition (CPA)</a:t>
            </a:r>
          </a:p>
          <a:p>
            <a:r>
              <a:rPr lang="en-US" dirty="0"/>
              <a:t>Advertisers pay when a specific action, like a </a:t>
            </a:r>
            <a:r>
              <a:rPr lang="en-US" b="1" dirty="0">
                <a:solidFill>
                  <a:srgbClr val="C00000"/>
                </a:solidFill>
              </a:rPr>
              <a:t>purchase or sign-up</a:t>
            </a:r>
            <a:r>
              <a:rPr lang="en-US" dirty="0"/>
              <a:t>, is completed. </a:t>
            </a:r>
          </a:p>
          <a:p>
            <a:r>
              <a:rPr lang="en-US" dirty="0"/>
              <a:t>This model ensures that advertisers only pay for tangible results. </a:t>
            </a:r>
          </a:p>
          <a:p>
            <a:r>
              <a:rPr lang="en-US" dirty="0"/>
              <a:t>Also Know as Cost per Action.</a:t>
            </a:r>
          </a:p>
          <a:p>
            <a:r>
              <a:rPr lang="en-US" b="1" dirty="0"/>
              <a:t>Example: </a:t>
            </a:r>
            <a:r>
              <a:rPr lang="en-US" dirty="0"/>
              <a:t>If an advertiser pays ₹500 for each purchase and 5 purchases are made, they pay ₹2,500.</a:t>
            </a:r>
          </a:p>
          <a:p>
            <a:r>
              <a:rPr lang="en-US" b="1" dirty="0"/>
              <a:t>Objective: </a:t>
            </a:r>
            <a:r>
              <a:rPr lang="en-US" dirty="0"/>
              <a:t>Drive specific actions (purchases, sign-ups) by paying for each completed conversion.</a:t>
            </a:r>
          </a:p>
          <a:p>
            <a:endParaRPr lang="en-US" dirty="0"/>
          </a:p>
        </p:txBody>
      </p:sp>
      <p:pic>
        <p:nvPicPr>
          <p:cNvPr id="4" name="Picture 2" descr="Main Media Buying Models | Marketing China">
            <a:extLst>
              <a:ext uri="{FF2B5EF4-FFF2-40B4-BE49-F238E27FC236}">
                <a16:creationId xmlns:a16="http://schemas.microsoft.com/office/drawing/2014/main" id="{6F649797-B176-42E1-A34A-D0BDA659F93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71" t="10785" r="24772" b="11336"/>
          <a:stretch/>
        </p:blipFill>
        <p:spPr bwMode="auto">
          <a:xfrm>
            <a:off x="7151804" y="4034746"/>
            <a:ext cx="2126348" cy="24192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897633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4822E9-2C0C-4924-A302-996149CFDE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Buying Models: Cost per Acquisition (CPA) (Continue…)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5E8248-8E97-4592-9740-36325DD5A8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Steps:</a:t>
            </a:r>
          </a:p>
          <a:p>
            <a:pPr lvl="1"/>
            <a:r>
              <a:rPr lang="en-US" b="1" dirty="0"/>
              <a:t>Ad Creation</a:t>
            </a:r>
            <a:r>
              <a:rPr lang="en-US" dirty="0"/>
              <a:t>: The advertiser creates an ad with a strong call-to-action (e.g., “Buy Now,” “Sign Up,” or “Download Now”).</a:t>
            </a:r>
          </a:p>
          <a:p>
            <a:pPr lvl="1"/>
            <a:endParaRPr lang="en-US" b="1" dirty="0">
              <a:solidFill>
                <a:srgbClr val="C00000"/>
              </a:solidFill>
            </a:endParaRP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0D4CAE2-C2CD-4478-99BF-AA71DCC2A71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097" r="34097"/>
          <a:stretch/>
        </p:blipFill>
        <p:spPr>
          <a:xfrm>
            <a:off x="5078917" y="1828799"/>
            <a:ext cx="2476915" cy="4384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13053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4822E9-2C0C-4924-A302-996149CFDE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Buying Models: Cost per Acquisition (CPA) (Continue…)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5E8248-8E97-4592-9740-36325DD5A8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Steps:</a:t>
            </a:r>
          </a:p>
          <a:p>
            <a:pPr lvl="1"/>
            <a:r>
              <a:rPr lang="en-US" b="1" dirty="0"/>
              <a:t>Setting CPA Goal</a:t>
            </a:r>
            <a:r>
              <a:rPr lang="en-US" dirty="0"/>
              <a:t>: The advertiser sets a </a:t>
            </a:r>
            <a:r>
              <a:rPr lang="en-US" b="1" dirty="0"/>
              <a:t>CPA target</a:t>
            </a:r>
            <a:r>
              <a:rPr lang="en-US" dirty="0"/>
              <a:t> (the maximum amount they are willing to pay for each completed action, like a sale or registration).</a:t>
            </a:r>
          </a:p>
          <a:p>
            <a:pPr lvl="1"/>
            <a:endParaRPr lang="en-US" b="1" dirty="0">
              <a:solidFill>
                <a:srgbClr val="C00000"/>
              </a:solidFill>
            </a:endParaRP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D69CAFF-C859-45D8-8EA0-9DD18BA692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7099" y="1987125"/>
            <a:ext cx="4007431" cy="4007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47741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4822E9-2C0C-4924-A302-996149CFDE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Buying Models: Cost per Acquisition (CPA) (Continue…)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5E8248-8E97-4592-9740-36325DD5A8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Steps:</a:t>
            </a:r>
          </a:p>
          <a:p>
            <a:pPr lvl="1"/>
            <a:r>
              <a:rPr lang="en-US" b="1" dirty="0"/>
              <a:t>Conversion Tracking Setup</a:t>
            </a:r>
            <a:r>
              <a:rPr lang="en-US" dirty="0"/>
              <a:t>: The advertiser installs conversion tracking tools (e.g., Google Analytics or Facebook Pixel) to track the actions users take after clicking the ad.</a:t>
            </a:r>
          </a:p>
          <a:p>
            <a:pPr lvl="1"/>
            <a:endParaRPr lang="en-US" dirty="0"/>
          </a:p>
          <a:p>
            <a:pPr lvl="1"/>
            <a:endParaRPr lang="en-US" b="1" dirty="0">
              <a:solidFill>
                <a:srgbClr val="C00000"/>
              </a:solidFill>
            </a:endParaRP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696D159-682B-4C13-BEDB-25680E677C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7905" y="2450431"/>
            <a:ext cx="4876190" cy="3252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54129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4822E9-2C0C-4924-A302-996149CFDE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Buying Models: Cost per Acquisition (CPA) (Continue…)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5E8248-8E97-4592-9740-36325DD5A8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Steps:</a:t>
            </a:r>
          </a:p>
          <a:p>
            <a:pPr lvl="1"/>
            <a:r>
              <a:rPr lang="en-US" b="1" dirty="0"/>
              <a:t>Targeting</a:t>
            </a:r>
            <a:r>
              <a:rPr lang="en-US" dirty="0"/>
              <a:t>: The advertiser defines the audience using advanced targeting options such as remarketing, lookalike audiences, or behavioral targeting.</a:t>
            </a:r>
          </a:p>
          <a:p>
            <a:pPr lvl="1"/>
            <a:endParaRPr lang="en-US" b="1" dirty="0">
              <a:solidFill>
                <a:srgbClr val="C00000"/>
              </a:solidFill>
            </a:endParaRP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CF222E9-D40C-46C4-8C25-A6123C360B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5392" y="1941095"/>
            <a:ext cx="2887511" cy="4387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40647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4822E9-2C0C-4924-A302-996149CFDE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Buying Models: Cost per Acquisition (CPA) (Continue…)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5E8248-8E97-4592-9740-36325DD5A8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Steps:</a:t>
            </a:r>
          </a:p>
          <a:p>
            <a:pPr lvl="1"/>
            <a:r>
              <a:rPr lang="en-US" b="1" dirty="0"/>
              <a:t>Ad Display: </a:t>
            </a:r>
            <a:r>
              <a:rPr lang="en-US" dirty="0"/>
              <a:t>The ad is shown to the target audience across different platforms (search engines, social media, affiliate websites).</a:t>
            </a:r>
          </a:p>
          <a:p>
            <a:pPr lvl="1"/>
            <a:endParaRPr lang="en-US" b="1" dirty="0">
              <a:solidFill>
                <a:srgbClr val="C00000"/>
              </a:solidFill>
            </a:endParaRP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D96008E-ADE3-4E74-A8C1-08791AF70B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8020" y="1781155"/>
            <a:ext cx="5406189" cy="4397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87737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4822E9-2C0C-4924-A302-996149CFDE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Buying Models: Cost per Acquisition (CPA) (Continue…)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5E8248-8E97-4592-9740-36325DD5A8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Steps:</a:t>
            </a:r>
          </a:p>
          <a:p>
            <a:pPr lvl="1"/>
            <a:r>
              <a:rPr lang="en-US" b="1" dirty="0"/>
              <a:t>Action Completion: </a:t>
            </a:r>
            <a:r>
              <a:rPr lang="en-US" dirty="0"/>
              <a:t>A user clicks the ad and completes the desired action (purchase, sign-up, download).</a:t>
            </a:r>
          </a:p>
          <a:p>
            <a:pPr lvl="1"/>
            <a:endParaRPr lang="en-US" b="1" dirty="0">
              <a:solidFill>
                <a:srgbClr val="C00000"/>
              </a:solidFill>
            </a:endParaRP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F3FBF91-1763-40D1-B078-D0D25525AD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41819" y="1925051"/>
            <a:ext cx="2414779" cy="4291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88164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4822E9-2C0C-4924-A302-996149CFDE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Buying Models: Cost per Acquisition (CPA) (Continue…)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5E8248-8E97-4592-9740-36325DD5A8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Steps:</a:t>
            </a:r>
          </a:p>
          <a:p>
            <a:pPr lvl="1"/>
            <a:r>
              <a:rPr lang="en-US" b="1" dirty="0"/>
              <a:t>Payment: </a:t>
            </a:r>
            <a:r>
              <a:rPr lang="en-US" dirty="0"/>
              <a:t>The advertiser is charged based on the number of completed actions, not clicks or impressions.</a:t>
            </a:r>
          </a:p>
          <a:p>
            <a:pPr lvl="2"/>
            <a:r>
              <a:rPr lang="en-US" b="1" dirty="0"/>
              <a:t>Example: </a:t>
            </a:r>
            <a:r>
              <a:rPr lang="en-US" dirty="0"/>
              <a:t>Amazon India uses CPA in affiliate marketing. If an affiliate generates 10 sales for Amazon products and the agreed CPA is ₹300 per sale, Amazon would pay ₹3,000 (₹300 * 10 sales).</a:t>
            </a:r>
          </a:p>
          <a:p>
            <a:pPr lvl="1"/>
            <a:endParaRPr lang="en-US" b="1" dirty="0">
              <a:solidFill>
                <a:srgbClr val="C00000"/>
              </a:solidFill>
            </a:endParaRP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DE51286-01B0-4126-AE59-AD9F615D55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01408" y="2759242"/>
            <a:ext cx="2323391" cy="3146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92549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4822E9-2C0C-4924-A302-996149CFDE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Buying Models: Cost per Acquisition (CPA) (Continue…)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5E8248-8E97-4592-9740-36325DD5A8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Steps:</a:t>
            </a:r>
          </a:p>
          <a:p>
            <a:pPr lvl="1"/>
            <a:r>
              <a:rPr lang="en-US" b="1" dirty="0"/>
              <a:t>Campaign Monitoring: </a:t>
            </a:r>
            <a:r>
              <a:rPr lang="en-US" dirty="0"/>
              <a:t>Advertisers use conversion data to evaluate performance and make adjustments to improve ROI.</a:t>
            </a:r>
          </a:p>
          <a:p>
            <a:pPr lvl="1"/>
            <a:endParaRPr lang="en-US" b="1" dirty="0">
              <a:solidFill>
                <a:srgbClr val="C00000"/>
              </a:solidFill>
            </a:endParaRP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CF1A232-3E9C-4B32-BA7D-2B350ADAA5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1683" y="2310062"/>
            <a:ext cx="4446337" cy="33347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22154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BB56D1-E492-41EB-8736-B2621C9AAB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Buying Models: Current Rates – Platform Wise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7347EF-4CC6-4674-A17D-EA93B06714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rates of online advertising models </a:t>
            </a:r>
          </a:p>
          <a:p>
            <a:r>
              <a:rPr lang="en-US" b="1" dirty="0"/>
              <a:t>CPC</a:t>
            </a:r>
            <a:r>
              <a:rPr lang="en-US" dirty="0"/>
              <a:t> (Cost per Click), </a:t>
            </a:r>
          </a:p>
          <a:p>
            <a:r>
              <a:rPr lang="en-US" b="1" dirty="0"/>
              <a:t>CPM</a:t>
            </a:r>
            <a:r>
              <a:rPr lang="en-US" dirty="0"/>
              <a:t> (Cost per Mille), </a:t>
            </a:r>
          </a:p>
          <a:p>
            <a:r>
              <a:rPr lang="en-US" b="1" dirty="0"/>
              <a:t>CPL</a:t>
            </a:r>
            <a:r>
              <a:rPr lang="en-US" dirty="0"/>
              <a:t> (Cost per Lead), and </a:t>
            </a:r>
          </a:p>
          <a:p>
            <a:r>
              <a:rPr lang="en-US" b="1" dirty="0"/>
              <a:t>CPA</a:t>
            </a:r>
            <a:r>
              <a:rPr lang="en-US" dirty="0"/>
              <a:t> (Cost per Acquisition) </a:t>
            </a:r>
          </a:p>
          <a:p>
            <a:r>
              <a:rPr lang="en-US" dirty="0"/>
              <a:t>Vary across social media platforms and depend on factors like audience targeting, industry competition, and ad relevance.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83331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5D5CA5-105A-431D-AE1E-2371EB482B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Buying Models: Current Rates – Platform Wise (Continue…)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29052B-1B85-4651-B927-56E1F15A7A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Below are some </a:t>
            </a:r>
            <a:r>
              <a:rPr lang="en-US" b="1" dirty="0"/>
              <a:t>average rates for 2026 </a:t>
            </a:r>
            <a:r>
              <a:rPr lang="en-US" dirty="0"/>
              <a:t>across major platforms in </a:t>
            </a:r>
            <a:r>
              <a:rPr lang="en-US" b="1" dirty="0"/>
              <a:t>India</a:t>
            </a:r>
            <a:r>
              <a:rPr lang="en-US" dirty="0"/>
              <a:t>:</a:t>
            </a:r>
          </a:p>
          <a:p>
            <a:pPr lvl="1"/>
            <a:r>
              <a:rPr lang="en-US" b="1" dirty="0">
                <a:solidFill>
                  <a:srgbClr val="C00000"/>
                </a:solidFill>
              </a:rPr>
              <a:t>Facebook &amp; Instagram:</a:t>
            </a:r>
            <a:endParaRPr lang="en-US" dirty="0"/>
          </a:p>
          <a:p>
            <a:pPr lvl="2"/>
            <a:r>
              <a:rPr lang="en-US" b="1" dirty="0"/>
              <a:t>CPC (Cost per Click):</a:t>
            </a:r>
            <a:r>
              <a:rPr lang="en-US" dirty="0"/>
              <a:t> ₹3.00 to ₹15.00 on Instagram, and ₹0.50 to ₹8.00 on Facebook.</a:t>
            </a:r>
          </a:p>
          <a:p>
            <a:pPr lvl="2"/>
            <a:r>
              <a:rPr lang="en-US" b="1" dirty="0"/>
              <a:t>CPM (Cost per 1000 Impressions):</a:t>
            </a:r>
            <a:r>
              <a:rPr lang="en-US" dirty="0"/>
              <a:t> ₹30 to ₹120 on Instagram, and ₹50 to ₹130 on Facebook. </a:t>
            </a:r>
          </a:p>
          <a:p>
            <a:pPr lvl="2"/>
            <a:r>
              <a:rPr lang="en-US" b="1" dirty="0"/>
              <a:t>CPL (Cost per Lead):</a:t>
            </a:r>
            <a:r>
              <a:rPr lang="en-US" dirty="0"/>
              <a:t> ₹80 to ₹2,000, varying drastically by industry.</a:t>
            </a:r>
          </a:p>
          <a:p>
            <a:pPr lvl="2"/>
            <a:r>
              <a:rPr lang="en-US" b="1" dirty="0"/>
              <a:t>CPA (Cost per Acquisition / Purchase): </a:t>
            </a:r>
            <a:r>
              <a:rPr lang="en-US" dirty="0"/>
              <a:t>₹100 to ₹2,500+, heavily dependent on product cost (AOV) and industry.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93381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FEEE18-AD03-4A20-9461-7F76868A0D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Buying Models: Current Rates – Platform Wise (Continue…)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07E696-819D-49A0-BC56-39B6267EC6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Below are some </a:t>
            </a:r>
            <a:r>
              <a:rPr lang="en-US" b="1" dirty="0"/>
              <a:t>average rates for 2026 </a:t>
            </a:r>
            <a:r>
              <a:rPr lang="en-US" dirty="0"/>
              <a:t>across major platforms in </a:t>
            </a:r>
            <a:r>
              <a:rPr lang="en-US" b="1" dirty="0"/>
              <a:t>India</a:t>
            </a:r>
            <a:r>
              <a:rPr lang="en-US" dirty="0"/>
              <a:t>:</a:t>
            </a:r>
          </a:p>
          <a:p>
            <a:pPr lvl="1"/>
            <a:r>
              <a:rPr lang="en-US" b="1" dirty="0">
                <a:solidFill>
                  <a:srgbClr val="C00000"/>
                </a:solidFill>
              </a:rPr>
              <a:t>LinkedIn:</a:t>
            </a:r>
            <a:endParaRPr lang="en-US" dirty="0"/>
          </a:p>
          <a:p>
            <a:pPr lvl="2"/>
            <a:r>
              <a:rPr lang="en-US" b="1" dirty="0"/>
              <a:t>CPC (Cost per Click):</a:t>
            </a:r>
            <a:r>
              <a:rPr lang="en-US" dirty="0"/>
              <a:t> ₹150 to ₹650, as LinkedIn's highly premium, verified professional audience commands the highest ad rates in the market.</a:t>
            </a:r>
          </a:p>
          <a:p>
            <a:pPr lvl="2"/>
            <a:r>
              <a:rPr lang="en-US" b="1" dirty="0"/>
              <a:t>CPM (Cost per 1000 Impressions):</a:t>
            </a:r>
            <a:r>
              <a:rPr lang="en-US" dirty="0"/>
              <a:t> ₹500 to ₹3,500, reflecting the platform's hyper-focus on highly valued B2B professional data rather than casual consumer browsing.</a:t>
            </a:r>
          </a:p>
          <a:p>
            <a:pPr lvl="2"/>
            <a:r>
              <a:rPr lang="en-US" b="1" dirty="0"/>
              <a:t>CPL (Cost per Lead):</a:t>
            </a:r>
            <a:r>
              <a:rPr lang="en-US" dirty="0"/>
              <a:t> ₹850 to ₹5,500+ for high-quality leads, particularly when using native LinkedIn Lead Gen Forms in competitive verticals like SaaS, FinTech, and Enterprise Consulting.</a:t>
            </a:r>
          </a:p>
          <a:p>
            <a:pPr lvl="2"/>
            <a:r>
              <a:rPr lang="en-US" b="1" dirty="0"/>
              <a:t>CPA (Cost per Acquisition / SQL):</a:t>
            </a:r>
            <a:r>
              <a:rPr lang="en-US" dirty="0"/>
              <a:t> Typically much higher than other platforms, frequently crossing ₹5,000 to ₹25,000+, especially for professional services and high-ACV (Average Contract Value) enterprise deals.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47857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FE172A-9EB8-421A-A472-8749F68FF8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Buying Models: Current Rates – Platform Wise (Continue…)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F8574E-29E4-43EA-B03B-8CE0CE1E84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Below are some </a:t>
            </a:r>
            <a:r>
              <a:rPr lang="en-US" b="1" dirty="0"/>
              <a:t>average rates for 2026 </a:t>
            </a:r>
            <a:r>
              <a:rPr lang="en-US" dirty="0"/>
              <a:t>across major platforms in </a:t>
            </a:r>
            <a:r>
              <a:rPr lang="en-US" b="1" dirty="0"/>
              <a:t>India</a:t>
            </a:r>
            <a:r>
              <a:rPr lang="en-US" dirty="0"/>
              <a:t>:</a:t>
            </a:r>
          </a:p>
          <a:p>
            <a:pPr lvl="1"/>
            <a:r>
              <a:rPr lang="en-US" b="1" dirty="0">
                <a:solidFill>
                  <a:srgbClr val="C00000"/>
                </a:solidFill>
              </a:rPr>
              <a:t>Twitter (Now X): </a:t>
            </a:r>
          </a:p>
          <a:p>
            <a:pPr lvl="2"/>
            <a:r>
              <a:rPr lang="en-US" b="1" dirty="0"/>
              <a:t>CPC (Cost per Click):</a:t>
            </a:r>
            <a:r>
              <a:rPr lang="en-US" dirty="0"/>
              <a:t> ₹15 to ₹65 </a:t>
            </a:r>
          </a:p>
          <a:p>
            <a:pPr lvl="2"/>
            <a:r>
              <a:rPr lang="en-US" b="1" dirty="0"/>
              <a:t>CPM (Cost per 1000 Impressions): </a:t>
            </a:r>
            <a:r>
              <a:rPr lang="en-US" dirty="0"/>
              <a:t>₹170 to ₹500</a:t>
            </a:r>
          </a:p>
          <a:p>
            <a:pPr lvl="2"/>
            <a:r>
              <a:rPr lang="en-US" b="1" dirty="0"/>
              <a:t>CPA (Cost per Acquisition):</a:t>
            </a:r>
            <a:r>
              <a:rPr lang="en-US" dirty="0"/>
              <a:t> ₹400 to ₹1,800</a:t>
            </a:r>
          </a:p>
          <a:p>
            <a:pPr lvl="1"/>
            <a:r>
              <a:rPr lang="en-US" b="1" dirty="0">
                <a:solidFill>
                  <a:srgbClr val="C00000"/>
                </a:solidFill>
              </a:rPr>
              <a:t>E-commerce Websites (Amazon, Flipkart, etc.):</a:t>
            </a:r>
            <a:endParaRPr lang="en-US" dirty="0"/>
          </a:p>
          <a:p>
            <a:pPr lvl="2"/>
            <a:r>
              <a:rPr lang="en-US" dirty="0"/>
              <a:t>CPC (Cost per Click):</a:t>
            </a:r>
          </a:p>
          <a:p>
            <a:pPr lvl="3"/>
            <a:r>
              <a:rPr lang="en-US" dirty="0"/>
              <a:t> </a:t>
            </a:r>
            <a:r>
              <a:rPr lang="en-US" b="1" dirty="0"/>
              <a:t>Flipkart:</a:t>
            </a:r>
            <a:r>
              <a:rPr lang="en-US" dirty="0"/>
              <a:t> </a:t>
            </a:r>
            <a:r>
              <a:rPr lang="en-US" b="1" dirty="0"/>
              <a:t>₹4 to ₹15</a:t>
            </a:r>
          </a:p>
          <a:p>
            <a:pPr lvl="3"/>
            <a:r>
              <a:rPr lang="en-US" b="1" dirty="0"/>
              <a:t>Amazon India:</a:t>
            </a:r>
            <a:r>
              <a:rPr lang="en-US" dirty="0"/>
              <a:t> </a:t>
            </a:r>
            <a:r>
              <a:rPr lang="en-US" b="1" dirty="0"/>
              <a:t>₹25 to ₹120+</a:t>
            </a:r>
            <a:endParaRPr lang="en-US" dirty="0"/>
          </a:p>
          <a:p>
            <a:pPr lvl="2"/>
            <a:r>
              <a:rPr lang="en-US" b="1" dirty="0"/>
              <a:t>CPM (Cost per 1000 Impressions):</a:t>
            </a:r>
            <a:r>
              <a:rPr lang="en-US" dirty="0"/>
              <a:t> ₹80 to ₹450 </a:t>
            </a:r>
          </a:p>
          <a:p>
            <a:pPr lvl="2"/>
            <a:r>
              <a:rPr lang="en-US" b="1" dirty="0"/>
              <a:t>CPA / </a:t>
            </a:r>
            <a:r>
              <a:rPr lang="en-US" b="1" dirty="0" err="1"/>
              <a:t>ACoS</a:t>
            </a:r>
            <a:r>
              <a:rPr lang="en-US" b="1" dirty="0"/>
              <a:t> (Cost per Acquisition):</a:t>
            </a:r>
            <a:r>
              <a:rPr lang="en-US" dirty="0"/>
              <a:t> Highly variable based on your organic rank and listing conversion rates, but average purchase acquisition costs generally range from </a:t>
            </a:r>
            <a:r>
              <a:rPr lang="en-US" b="1" dirty="0"/>
              <a:t>₹150 to ₹1,200</a:t>
            </a:r>
            <a:r>
              <a:rPr lang="en-US" dirty="0"/>
              <a:t> depending entirely on your product’s Average Order Value (AOV).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65474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5DF368-F7D8-47EA-AC80-3FB45DA1F4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</a:t>
            </a:r>
            <a:br>
              <a:rPr lang="en-US" dirty="0"/>
            </a:br>
            <a:r>
              <a:rPr lang="en-US" dirty="0"/>
              <a:t>Digital Marketing Channels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016EAE-5334-446E-AB61-4D0C8CAA4A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4" descr="Content Distribution Strategy:A Step-By-Step Guide To Distributing Content">
            <a:extLst>
              <a:ext uri="{FF2B5EF4-FFF2-40B4-BE49-F238E27FC236}">
                <a16:creationId xmlns:a16="http://schemas.microsoft.com/office/drawing/2014/main" id="{D94B0139-FBE6-41BD-9E7F-14C81576D1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40850" y="197962"/>
            <a:ext cx="6127269" cy="32310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32441907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711200"/>
            <a:ext cx="12192000" cy="61467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C2F1099-DF0A-4AA3-BCF9-BD4BF70274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Types of Digital Marketing Channels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9583F99-E755-7C70-DE8D-EDAF874CC8BB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31180" y="863444"/>
          <a:ext cx="11470270" cy="559056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1026" name="Picture 2" descr="Digital Strategy by Adrian Goh on Dribbble">
            <a:extLst>
              <a:ext uri="{FF2B5EF4-FFF2-40B4-BE49-F238E27FC236}">
                <a16:creationId xmlns:a16="http://schemas.microsoft.com/office/drawing/2014/main" id="{544249F0-C699-3955-1699-9F45AA7338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63841" y="1768474"/>
            <a:ext cx="4097388" cy="33210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A7FA787-1BB6-A644-27AD-47A407B55710}"/>
              </a:ext>
            </a:extLst>
          </p:cNvPr>
          <p:cNvSpPr txBox="1"/>
          <p:nvPr/>
        </p:nvSpPr>
        <p:spPr>
          <a:xfrm>
            <a:off x="382640" y="2135232"/>
            <a:ext cx="325210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i="0" dirty="0">
                <a:effectLst/>
                <a:latin typeface="+mj-lt"/>
              </a:rPr>
              <a:t>“Digital marketing channels are </a:t>
            </a:r>
            <a:r>
              <a:rPr lang="en-US" sz="2400" b="1" dirty="0">
                <a:latin typeface="+mj-lt"/>
              </a:rPr>
              <a:t>online platforms and tools that businesses use to communicate with their target audiences, promote their brand, and sell products.”</a:t>
            </a:r>
          </a:p>
        </p:txBody>
      </p:sp>
    </p:spTree>
    <p:extLst>
      <p:ext uri="{BB962C8B-B14F-4D97-AF65-F5344CB8AC3E}">
        <p14:creationId xmlns:p14="http://schemas.microsoft.com/office/powerpoint/2010/main" val="37363306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C44A9D69-797D-4B68-9AC8-24858FFC025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A25EF913-9CF1-4C1C-BD6D-D760DF99EFF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D94D37F1-DA4A-45E9-BB9D-1FFEE8B777D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0D41BDCF-6FDF-4C2E-AB86-4BCAE193750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680C468C-96B0-4DAA-9AFF-1D187878785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F4F61AE3-365B-4237-855A-9C273333E6A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2C4CB13C-7B15-4FC0-956B-C9FE717B894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C7B39694-8522-4A4F-B810-BBC5304F77A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8B5570E9-C057-47CD-8936-BBD8017273F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A3F49703-4606-4DFE-A226-B8C619FC1D1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8FDDCBBD-D41A-4DC5-971C-37B4B448A13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319888D0-0A16-44CF-AF45-B9A4D62657F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C16DE0B7-8765-4103-B276-F72E059EDC3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DCA756A8-401F-451A-82F6-3570279D9C4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6152C831-7809-4A51-9898-4231BEAF5C0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154D0C67-FEA5-4897-AC16-EA396B7E6E3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92F0F763-66FF-4E3A-86D3-AB83F5BECE0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E90A4E97-7C98-4738-81A5-84CD614848A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Sub>
          <a:bldDgm bld="lvlOne"/>
        </p:bldSub>
      </p:bldGraphic>
      <p:bldP spid="6" grpId="0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805C2B-6CA0-4C66-8CCF-15C3DA64E0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Types of Digital Marketing Channels: Website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DD6DC7-478C-445D-80E0-7A92CF8212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</a:t>
            </a:r>
            <a:r>
              <a:rPr lang="en-US" b="1" dirty="0">
                <a:solidFill>
                  <a:srgbClr val="C00000"/>
                </a:solidFill>
              </a:rPr>
              <a:t>website</a:t>
            </a:r>
            <a:r>
              <a:rPr lang="en-US" dirty="0"/>
              <a:t> serves as the digital home of a business, providing </a:t>
            </a:r>
          </a:p>
          <a:p>
            <a:r>
              <a:rPr lang="en-US" dirty="0"/>
              <a:t>product information</a:t>
            </a:r>
          </a:p>
          <a:p>
            <a:r>
              <a:rPr lang="en-US" dirty="0"/>
              <a:t>services</a:t>
            </a:r>
          </a:p>
          <a:p>
            <a:r>
              <a:rPr lang="en-US" dirty="0"/>
              <a:t>customer interaction channels.</a:t>
            </a:r>
          </a:p>
          <a:p>
            <a:r>
              <a:rPr lang="en-US" b="1" dirty="0"/>
              <a:t>It helps build trust, generate leads, and offers 24/7 accessibility. </a:t>
            </a:r>
          </a:p>
          <a:p>
            <a:r>
              <a:rPr lang="en-US" dirty="0"/>
              <a:t>A </a:t>
            </a:r>
            <a:r>
              <a:rPr lang="en-US" b="1" dirty="0"/>
              <a:t>well-designed website </a:t>
            </a:r>
            <a:r>
              <a:rPr lang="en-US" dirty="0"/>
              <a:t>supports other digital marketing efforts like SEO and content marketing.</a:t>
            </a:r>
          </a:p>
          <a:p>
            <a:r>
              <a:rPr lang="en-US" b="1" dirty="0"/>
              <a:t>Example: Tata Motors </a:t>
            </a:r>
            <a:r>
              <a:rPr lang="en-US" dirty="0"/>
              <a:t>uses its website to showcase vehicle models, offer online booking, and provide customer support.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66044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B661B5-B682-4ABE-9444-9112F877EF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Types of Digital Marketing Channels: Website (Continue…)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318C04-B492-4AD2-B928-9D9D566881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5D746C6-A144-44A5-841B-5E62FD0104B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891" r="2152" b="5891"/>
          <a:stretch/>
        </p:blipFill>
        <p:spPr>
          <a:xfrm>
            <a:off x="-1" y="711198"/>
            <a:ext cx="12192000" cy="5906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8374244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1F4E7D-169C-4A13-B230-8EE6444552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Types of Digital Marketing Channels: Website (Continue…)</a:t>
            </a:r>
            <a:endParaRPr 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57D1143B-CA08-4EDA-B306-B8F8F18F4CB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6167" b="6167"/>
          <a:stretch>
            <a:fillRect/>
          </a:stretch>
        </p:blipFill>
        <p:spPr>
          <a:xfrm>
            <a:off x="112295" y="708496"/>
            <a:ext cx="12079705" cy="5956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745096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F2EAF-5C2F-42FD-AF5F-6D57EBE3B9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Types of Digital Marketing Channels: Website (Continue…)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1FA002-E4D0-4166-8EFC-D86C1097B6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Key Components:</a:t>
            </a:r>
          </a:p>
          <a:p>
            <a:pPr lvl="1"/>
            <a:r>
              <a:rPr lang="en-US" b="1" dirty="0"/>
              <a:t>User Experience (UX):</a:t>
            </a:r>
            <a:r>
              <a:rPr lang="en-US" dirty="0"/>
              <a:t> Ensures smooth navigation, fast loading times, and mobile compatibility.</a:t>
            </a:r>
          </a:p>
          <a:p>
            <a:pPr lvl="1"/>
            <a:r>
              <a:rPr lang="en-US" b="1" dirty="0"/>
              <a:t>SEO Optimized Content:</a:t>
            </a:r>
            <a:r>
              <a:rPr lang="en-US" dirty="0"/>
              <a:t> Helps the website rank higher in search results.</a:t>
            </a:r>
          </a:p>
          <a:p>
            <a:pPr lvl="1"/>
            <a:r>
              <a:rPr lang="en-US" b="1" dirty="0"/>
              <a:t>Calls to Action (CTAs):</a:t>
            </a:r>
            <a:r>
              <a:rPr lang="en-US" dirty="0"/>
              <a:t> Prompts users to take desired actions (e.g., purchase, contact).</a:t>
            </a:r>
          </a:p>
          <a:p>
            <a:pPr lvl="1"/>
            <a:r>
              <a:rPr lang="en-US" b="1" dirty="0"/>
              <a:t>Analytics Tools:</a:t>
            </a:r>
            <a:r>
              <a:rPr lang="en-US" dirty="0"/>
              <a:t> Tools like Google Analytics to measure website traffic and user behavior.</a:t>
            </a:r>
          </a:p>
          <a:p>
            <a:pPr lvl="1"/>
            <a:r>
              <a:rPr lang="en-US" b="1" dirty="0"/>
              <a:t>Security:</a:t>
            </a:r>
            <a:r>
              <a:rPr lang="en-US" dirty="0"/>
              <a:t> HTTPS protocol and data privacy compliance build trust with users.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33041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EF9DD8-1A6F-4239-82EC-446E818440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Types of Digital Marketing Channels: Website (Continue…)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E4C106-E501-44B8-B96C-8E5034DDD7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Benefits:</a:t>
            </a:r>
          </a:p>
          <a:p>
            <a:pPr lvl="1"/>
            <a:r>
              <a:rPr lang="en-US" b="1" dirty="0"/>
              <a:t>Brand Credibility:</a:t>
            </a:r>
            <a:r>
              <a:rPr lang="en-US" dirty="0"/>
              <a:t> A professional website builds trust with customers.</a:t>
            </a:r>
          </a:p>
          <a:p>
            <a:pPr lvl="1"/>
            <a:r>
              <a:rPr lang="en-US" b="1" dirty="0"/>
              <a:t>24/7 Accessibility:</a:t>
            </a:r>
            <a:r>
              <a:rPr lang="en-US" dirty="0"/>
              <a:t> Available to users at any time and from any location.</a:t>
            </a:r>
          </a:p>
          <a:p>
            <a:pPr lvl="1"/>
            <a:r>
              <a:rPr lang="en-US" b="1" dirty="0"/>
              <a:t>Lead Generation:</a:t>
            </a:r>
            <a:r>
              <a:rPr lang="en-US" dirty="0"/>
              <a:t> Collects leads through forms, CTAs, and newsletters.</a:t>
            </a:r>
          </a:p>
          <a:p>
            <a:pPr lvl="1"/>
            <a:r>
              <a:rPr lang="en-US" b="1" dirty="0"/>
              <a:t>Analytics Integration:</a:t>
            </a:r>
            <a:r>
              <a:rPr lang="en-US" dirty="0"/>
              <a:t> Track user behavior and optimize for better performance.</a:t>
            </a:r>
          </a:p>
          <a:p>
            <a:pPr lvl="1"/>
            <a:r>
              <a:rPr lang="en-US" b="1" dirty="0"/>
              <a:t>Marketing Hub:</a:t>
            </a:r>
            <a:r>
              <a:rPr lang="en-US" dirty="0"/>
              <a:t> Centralizes other digital marketing efforts such as SEO and content marketing.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64270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A473A6-B24D-4D1E-93EC-5757E3E907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Types of Digital Marketing Channels: Website (Continue…)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88786A-1270-46F7-9511-742C9B0926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Limitations:</a:t>
            </a:r>
          </a:p>
          <a:p>
            <a:pPr lvl="1"/>
            <a:r>
              <a:rPr lang="en-US" b="1" dirty="0"/>
              <a:t>High Development Costs:</a:t>
            </a:r>
            <a:r>
              <a:rPr lang="en-US" dirty="0"/>
              <a:t> Building and maintaining a quality website can be expensive.</a:t>
            </a:r>
          </a:p>
          <a:p>
            <a:pPr lvl="1"/>
            <a:r>
              <a:rPr lang="en-US" b="1" dirty="0"/>
              <a:t>Technical Complexity:</a:t>
            </a:r>
            <a:r>
              <a:rPr lang="en-US" dirty="0"/>
              <a:t> Requires expertise to maintain and optimize performance.</a:t>
            </a:r>
          </a:p>
          <a:p>
            <a:pPr lvl="1"/>
            <a:r>
              <a:rPr lang="en-US" b="1" dirty="0"/>
              <a:t>Slow Load Times Impact SEO:</a:t>
            </a:r>
            <a:r>
              <a:rPr lang="en-US" dirty="0"/>
              <a:t> Heavy sites can affect ranking and engagement.</a:t>
            </a:r>
          </a:p>
          <a:p>
            <a:pPr lvl="1"/>
            <a:r>
              <a:rPr lang="en-US" b="1" dirty="0"/>
              <a:t>Security Risks:</a:t>
            </a:r>
            <a:r>
              <a:rPr lang="en-US" dirty="0"/>
              <a:t> At risk to hacking if not maintained properly.</a:t>
            </a:r>
          </a:p>
          <a:p>
            <a:pPr lvl="1"/>
            <a:r>
              <a:rPr lang="en-US" b="1" dirty="0"/>
              <a:t>Requires Continuous Updates:</a:t>
            </a:r>
            <a:r>
              <a:rPr lang="en-US" dirty="0"/>
              <a:t> Content and design need regular updates to stay relevant.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8798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A4975D-5E15-45B0-ADF5-71F461D89E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Types of Digital Marketing Channels: Content Marketing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4BAFFC-67D5-48AF-8831-FD329EB89E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Content marketing </a:t>
            </a:r>
            <a:r>
              <a:rPr lang="en-US" dirty="0"/>
              <a:t>involves </a:t>
            </a:r>
            <a:r>
              <a:rPr lang="en-US" b="1" dirty="0"/>
              <a:t>creating and sharing valuable content </a:t>
            </a:r>
            <a:r>
              <a:rPr lang="en-US" dirty="0"/>
              <a:t>such as</a:t>
            </a:r>
          </a:p>
          <a:p>
            <a:pPr lvl="1"/>
            <a:r>
              <a:rPr lang="en-US" dirty="0"/>
              <a:t>blogs</a:t>
            </a:r>
          </a:p>
          <a:p>
            <a:pPr lvl="1"/>
            <a:r>
              <a:rPr lang="en-US" dirty="0"/>
              <a:t>videos</a:t>
            </a:r>
          </a:p>
          <a:p>
            <a:pPr lvl="1"/>
            <a:r>
              <a:rPr lang="en-US" dirty="0"/>
              <a:t>images</a:t>
            </a:r>
          </a:p>
          <a:p>
            <a:pPr lvl="1"/>
            <a:r>
              <a:rPr lang="en-US" dirty="0"/>
              <a:t>infographics </a:t>
            </a:r>
          </a:p>
          <a:p>
            <a:pPr lvl="1"/>
            <a:r>
              <a:rPr lang="en-US" dirty="0"/>
              <a:t>to engage audiences and nurture leads</a:t>
            </a:r>
          </a:p>
          <a:p>
            <a:r>
              <a:rPr lang="en-US" b="1" dirty="0"/>
              <a:t>It establishes brand authority, builds trust, and influences buying decisions. </a:t>
            </a:r>
          </a:p>
          <a:p>
            <a:r>
              <a:rPr lang="en-US" dirty="0"/>
              <a:t>The content can also </a:t>
            </a:r>
            <a:r>
              <a:rPr lang="en-US" b="1" dirty="0"/>
              <a:t>improve SEO and social media engagement.</a:t>
            </a:r>
          </a:p>
          <a:p>
            <a:r>
              <a:rPr lang="en-US" b="1" dirty="0"/>
              <a:t>Example: Amul</a:t>
            </a:r>
            <a:r>
              <a:rPr lang="en-US" b="1" dirty="0">
                <a:solidFill>
                  <a:srgbClr val="0070C0"/>
                </a:solidFill>
              </a:rPr>
              <a:t> </a:t>
            </a:r>
            <a:r>
              <a:rPr lang="en-US" dirty="0"/>
              <a:t>publishes engaging content through memes and infographics on current events across social media.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73067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3BD950-1774-462C-94CE-E46D1B0819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600" dirty="0"/>
              <a:t>Types of Digital Marketing Channels: Content Marketing (Continue…)</a:t>
            </a:r>
            <a:endParaRPr lang="en-US" dirty="0"/>
          </a:p>
        </p:txBody>
      </p:sp>
      <p:pic>
        <p:nvPicPr>
          <p:cNvPr id="4" name="Picture 2" descr="Amul Hits :: Amul - The Taste of India">
            <a:extLst>
              <a:ext uri="{FF2B5EF4-FFF2-40B4-BE49-F238E27FC236}">
                <a16:creationId xmlns:a16="http://schemas.microsoft.com/office/drawing/2014/main" id="{CFA0C9A4-8657-4164-B919-86925EDF82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635" y="1040330"/>
            <a:ext cx="5353599" cy="26516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EA6E337-9699-4BDD-A90B-A891DC74D46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634" y="3828110"/>
            <a:ext cx="5353599" cy="2659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E485D22-6496-4935-B6AA-35809081C7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70246" y="711201"/>
            <a:ext cx="6294119" cy="5829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192359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40690B-EC3D-4FA5-AAF7-746940F1C9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Types of Digital Marketing Channels: Content Marketing (Continue…)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1A1B2D-7266-431E-8DD3-D12D7F6DFF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Key Components:</a:t>
            </a:r>
          </a:p>
          <a:p>
            <a:pPr lvl="1"/>
            <a:r>
              <a:rPr lang="en-US" b="1" dirty="0"/>
              <a:t>Blog Articles &amp; Case Studies:</a:t>
            </a:r>
            <a:r>
              <a:rPr lang="en-US" dirty="0"/>
              <a:t> Inform and educate readers.</a:t>
            </a:r>
          </a:p>
          <a:p>
            <a:pPr lvl="1"/>
            <a:r>
              <a:rPr lang="en-US" b="1" dirty="0"/>
              <a:t>Videos &amp; Infographics:</a:t>
            </a:r>
            <a:r>
              <a:rPr lang="en-US" dirty="0"/>
              <a:t> Simplify complex concepts visually.</a:t>
            </a:r>
          </a:p>
          <a:p>
            <a:pPr lvl="1"/>
            <a:r>
              <a:rPr lang="en-US" b="1" dirty="0"/>
              <a:t>Social Media Posts:</a:t>
            </a:r>
            <a:r>
              <a:rPr lang="en-US" dirty="0"/>
              <a:t> Drive engagement and brand awareness.</a:t>
            </a:r>
          </a:p>
          <a:p>
            <a:pPr lvl="1"/>
            <a:r>
              <a:rPr lang="en-US" b="1" dirty="0"/>
              <a:t>Email Newsletters:</a:t>
            </a:r>
            <a:r>
              <a:rPr lang="en-US" dirty="0"/>
              <a:t> Provide personalized updates to subscribers.</a:t>
            </a:r>
          </a:p>
          <a:p>
            <a:pPr lvl="1"/>
            <a:r>
              <a:rPr lang="en-US" b="1" dirty="0"/>
              <a:t>E-Books/White Papers:</a:t>
            </a:r>
            <a:r>
              <a:rPr lang="en-US" dirty="0"/>
              <a:t> Establish authority in the industry.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26100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A1DEAF-DBE1-4251-8C83-D2ACEABCA7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600" dirty="0"/>
              <a:t>Types of Digital Marketing Channels: Content Marketing (Continue…)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ED391A-84D4-44C6-B4C2-4F8F546D39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08BDA78-E847-41AB-A10C-532BF8B3CA1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1352"/>
          <a:stretch/>
        </p:blipFill>
        <p:spPr>
          <a:xfrm>
            <a:off x="518435" y="698242"/>
            <a:ext cx="5280660" cy="5838191"/>
          </a:xfrm>
          <a:prstGeom prst="rect">
            <a:avLst/>
          </a:prstGeom>
        </p:spPr>
      </p:pic>
      <p:pic>
        <p:nvPicPr>
          <p:cNvPr id="5" name="Picture 2">
            <a:extLst>
              <a:ext uri="{FF2B5EF4-FFF2-40B4-BE49-F238E27FC236}">
                <a16:creationId xmlns:a16="http://schemas.microsoft.com/office/drawing/2014/main" id="{9CB469B6-DBF6-4156-9869-7051990379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01134" y="689098"/>
            <a:ext cx="4725987" cy="58381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15684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215F62-6721-42A1-BCC2-09DAAB14AE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Types of Digital Marketing Channels: Content Marketing (Continue…)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0D1A65-3C3D-4B98-ADB7-6A1641A68B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0828AF7-2CAE-441F-ACDD-F76053C88F2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526"/>
          <a:stretch/>
        </p:blipFill>
        <p:spPr>
          <a:xfrm>
            <a:off x="1" y="1016315"/>
            <a:ext cx="12191999" cy="5282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7093851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537B7A-B5BF-4BAE-B80A-74AB17EC7E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600" dirty="0"/>
              <a:t>Types of Digital Marketing Channels: Content Marketing (Continue…)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483881-0A29-4AA4-9013-CE20F47EB3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Benefits:</a:t>
            </a:r>
          </a:p>
          <a:p>
            <a:pPr lvl="1"/>
            <a:r>
              <a:rPr lang="en-US" b="1" dirty="0"/>
              <a:t>Builds Brand Authority:</a:t>
            </a:r>
            <a:r>
              <a:rPr lang="en-US" dirty="0"/>
              <a:t> Positions the company as a thought leader.</a:t>
            </a:r>
          </a:p>
          <a:p>
            <a:pPr lvl="1"/>
            <a:r>
              <a:rPr lang="en-US" b="1" dirty="0"/>
              <a:t>Increases Organic Traffic:</a:t>
            </a:r>
            <a:r>
              <a:rPr lang="en-US" dirty="0"/>
              <a:t> SEO-optimized content attracts visitors.</a:t>
            </a:r>
          </a:p>
          <a:p>
            <a:pPr lvl="1"/>
            <a:r>
              <a:rPr lang="en-US" b="1" dirty="0"/>
              <a:t>Enhances Customer Engagement:</a:t>
            </a:r>
            <a:r>
              <a:rPr lang="en-US" dirty="0"/>
              <a:t> Provides value and encourages interaction.</a:t>
            </a:r>
          </a:p>
          <a:p>
            <a:pPr lvl="1"/>
            <a:r>
              <a:rPr lang="en-US" b="1" dirty="0"/>
              <a:t>Supports Lead Generation:</a:t>
            </a:r>
            <a:r>
              <a:rPr lang="en-US" dirty="0"/>
              <a:t> Gated content collects user information.</a:t>
            </a:r>
          </a:p>
          <a:p>
            <a:pPr lvl="1"/>
            <a:r>
              <a:rPr lang="en-US" b="1" dirty="0"/>
              <a:t>Drives Conversion:</a:t>
            </a:r>
            <a:r>
              <a:rPr lang="en-US" dirty="0"/>
              <a:t> Educational content influences purchase decisions.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21242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DCF986-0E98-47DB-9D2D-389CE7E0FF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Types of Digital Marketing Channels: Content Marketing (Continue…)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030ABD-BFEC-4CC1-A76C-33E56A10AD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Limitations:</a:t>
            </a:r>
          </a:p>
          <a:p>
            <a:pPr lvl="1"/>
            <a:r>
              <a:rPr lang="en-US" b="1" dirty="0"/>
              <a:t>Time-Consuming:</a:t>
            </a:r>
            <a:r>
              <a:rPr lang="en-US" dirty="0"/>
              <a:t> Requires regular creation and management.</a:t>
            </a:r>
          </a:p>
          <a:p>
            <a:pPr lvl="1"/>
            <a:r>
              <a:rPr lang="en-US" b="1" dirty="0"/>
              <a:t>Results are Delayed:</a:t>
            </a:r>
            <a:r>
              <a:rPr lang="en-US" dirty="0"/>
              <a:t> Benefits are seen over the long term.</a:t>
            </a:r>
          </a:p>
          <a:p>
            <a:pPr lvl="1"/>
            <a:r>
              <a:rPr lang="en-US" b="1" dirty="0"/>
              <a:t>Content Saturation:</a:t>
            </a:r>
            <a:r>
              <a:rPr lang="en-US" dirty="0"/>
              <a:t> Standing out in a competitive market is difficult.</a:t>
            </a:r>
          </a:p>
          <a:p>
            <a:pPr lvl="1"/>
            <a:r>
              <a:rPr lang="en-US" b="1" dirty="0"/>
              <a:t>Costly for High-Quality Production:</a:t>
            </a:r>
            <a:r>
              <a:rPr lang="en-US" dirty="0"/>
              <a:t> Videos and infographics may require significant resources.</a:t>
            </a:r>
          </a:p>
          <a:p>
            <a:pPr lvl="1"/>
            <a:r>
              <a:rPr lang="en-US" b="1" dirty="0"/>
              <a:t>Continuous Optimization Needed:</a:t>
            </a:r>
            <a:r>
              <a:rPr lang="en-US" dirty="0"/>
              <a:t> Trends change, requiring constant updates.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67877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6A2160-5A6C-4699-871D-70EC10E77A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Types of Digital Marketing Channels: SEO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C3AEBC-E10D-4934-885D-CFDC4ECD41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SEO</a:t>
            </a:r>
            <a:r>
              <a:rPr lang="en-US" dirty="0"/>
              <a:t> is the strategy of creating content in such a way that </a:t>
            </a:r>
            <a:r>
              <a:rPr lang="en-US" b="1" dirty="0"/>
              <a:t>search engines </a:t>
            </a:r>
            <a:r>
              <a:rPr lang="en-US" dirty="0"/>
              <a:t>like Google will rank your page high on the </a:t>
            </a:r>
            <a:r>
              <a:rPr lang="en-US" b="1" dirty="0"/>
              <a:t>search engine results page (SERP). </a:t>
            </a:r>
          </a:p>
          <a:p>
            <a:r>
              <a:rPr lang="en-US" dirty="0"/>
              <a:t>Google uses </a:t>
            </a:r>
            <a:r>
              <a:rPr lang="en-US" b="1" dirty="0"/>
              <a:t>algorithms</a:t>
            </a:r>
            <a:r>
              <a:rPr lang="en-US" dirty="0"/>
              <a:t> to decide how relevant your page is to the keywords that the user is searching for. </a:t>
            </a:r>
          </a:p>
          <a:p>
            <a:r>
              <a:rPr lang="en-US" dirty="0"/>
              <a:t>These </a:t>
            </a:r>
            <a:r>
              <a:rPr lang="en-US" b="1" dirty="0"/>
              <a:t>algorithms update frequently</a:t>
            </a:r>
            <a:r>
              <a:rPr lang="en-US" dirty="0"/>
              <a:t>, and SEO strategies must be adjusted just as regularly to remain effective.</a:t>
            </a:r>
          </a:p>
          <a:p>
            <a:r>
              <a:rPr lang="en-US" dirty="0"/>
              <a:t>When done properly, SEO efforts will put your page at the </a:t>
            </a:r>
            <a:r>
              <a:rPr lang="en-US" b="1" dirty="0"/>
              <a:t>top of the SERP </a:t>
            </a:r>
            <a:r>
              <a:rPr lang="en-US" dirty="0"/>
              <a:t>and bring in more organic traffic.</a:t>
            </a:r>
          </a:p>
          <a:p>
            <a:r>
              <a:rPr lang="en-US" b="1" dirty="0"/>
              <a:t>Example: Amazon</a:t>
            </a:r>
            <a:r>
              <a:rPr lang="en-US" dirty="0"/>
              <a:t> optimizes its product pages to rank higher on Google for specific product-related keywords.</a:t>
            </a:r>
          </a:p>
          <a:p>
            <a:endParaRPr lang="en-US" dirty="0"/>
          </a:p>
          <a:p>
            <a:pPr lvl="0">
              <a:lnSpc>
                <a:spcPct val="100000"/>
              </a:lnSpc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35357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95E566-DDFE-49B4-93E2-24242E6BD7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Types of Digital Marketing Channels: SEO (Continue…)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DDEAF6-3353-4571-A29C-ACCE2166B1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C0F09AE-529E-47E8-9B43-75D6D29ED5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711200"/>
            <a:ext cx="12191999" cy="5826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532384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EBDB0C-0FFE-4546-809E-0EEFD9B57F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Types of Digital Marketing Channels: SEO (Continue…)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BC2EAD-2574-46F3-B188-5BB1A505F8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Key Components:</a:t>
            </a:r>
          </a:p>
          <a:p>
            <a:pPr lvl="1"/>
            <a:r>
              <a:rPr lang="en-US" b="1" dirty="0"/>
              <a:t>On-Page SEO:</a:t>
            </a:r>
            <a:r>
              <a:rPr lang="en-US" dirty="0"/>
              <a:t> Keywords, meta descriptions, and internal linking.</a:t>
            </a:r>
          </a:p>
          <a:p>
            <a:pPr lvl="1"/>
            <a:r>
              <a:rPr lang="en-US" b="1" dirty="0"/>
              <a:t>Off-Page SEO:</a:t>
            </a:r>
            <a:r>
              <a:rPr lang="en-US" dirty="0"/>
              <a:t> Backlinks from high-authority sites.</a:t>
            </a:r>
          </a:p>
          <a:p>
            <a:pPr lvl="1"/>
            <a:r>
              <a:rPr lang="en-US" b="1" dirty="0"/>
              <a:t>Technical SEO:</a:t>
            </a:r>
            <a:r>
              <a:rPr lang="en-US" dirty="0"/>
              <a:t> Website speed, mobile-friendliness, and structured data.</a:t>
            </a:r>
          </a:p>
          <a:p>
            <a:pPr lvl="1"/>
            <a:r>
              <a:rPr lang="en-US" b="1" dirty="0"/>
              <a:t>Keyword Research:</a:t>
            </a:r>
            <a:r>
              <a:rPr lang="en-US" dirty="0"/>
              <a:t> Identifying relevant search terms.</a:t>
            </a:r>
          </a:p>
          <a:p>
            <a:pPr lvl="1"/>
            <a:r>
              <a:rPr lang="en-US" b="1" dirty="0"/>
              <a:t>Analytics Tools:</a:t>
            </a:r>
            <a:r>
              <a:rPr lang="en-US" dirty="0"/>
              <a:t> Tools to monitor performance, such as Google Search Console.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29155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EFC45B-9A53-4130-BA60-715CBFDC7B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Types of Digital Marketing Channels: SEO (Continue…)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D80B0F-70FE-4457-BB45-6DD0E68496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Benefits:</a:t>
            </a:r>
          </a:p>
          <a:p>
            <a:pPr lvl="1"/>
            <a:r>
              <a:rPr lang="en-US" b="1" dirty="0"/>
              <a:t>Increases Organic Traffic:</a:t>
            </a:r>
            <a:r>
              <a:rPr lang="en-US" dirty="0"/>
              <a:t> Attracts visitors without paid ads.</a:t>
            </a:r>
          </a:p>
          <a:p>
            <a:pPr lvl="1"/>
            <a:r>
              <a:rPr lang="en-US" b="1" dirty="0"/>
              <a:t>Improves Brand Visibility:</a:t>
            </a:r>
            <a:r>
              <a:rPr lang="en-US" dirty="0"/>
              <a:t> Higher ranking leads to more visibility.</a:t>
            </a:r>
          </a:p>
          <a:p>
            <a:pPr lvl="1"/>
            <a:r>
              <a:rPr lang="en-US" b="1" dirty="0"/>
              <a:t>Long-Term ROI:</a:t>
            </a:r>
            <a:r>
              <a:rPr lang="en-US" dirty="0"/>
              <a:t> Once optimized, SEO drives sustained traffic.</a:t>
            </a:r>
          </a:p>
          <a:p>
            <a:pPr lvl="1"/>
            <a:r>
              <a:rPr lang="en-US" b="1" dirty="0"/>
              <a:t>Boosts Credibility:</a:t>
            </a:r>
            <a:r>
              <a:rPr lang="en-US" dirty="0"/>
              <a:t> Users trust high-ranking sites more.</a:t>
            </a:r>
          </a:p>
          <a:p>
            <a:pPr lvl="1"/>
            <a:r>
              <a:rPr lang="en-US" b="1" dirty="0"/>
              <a:t>Supports Other Channels:</a:t>
            </a:r>
            <a:r>
              <a:rPr lang="en-US" dirty="0"/>
              <a:t> Enhances the effectiveness of blogs and websites.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26001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509348-FAB5-4CE3-9FE2-2155835962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Types of Digital Marketing Channels: SEO (Continue…)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EE5185-6D00-447C-8D69-360E035861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Limitations:</a:t>
            </a:r>
          </a:p>
          <a:p>
            <a:pPr lvl="1"/>
            <a:r>
              <a:rPr lang="en-US" b="1" dirty="0"/>
              <a:t>Requires Expertise:</a:t>
            </a:r>
            <a:r>
              <a:rPr lang="en-US" dirty="0"/>
              <a:t> Needs SEO specialists for implementation.</a:t>
            </a:r>
          </a:p>
          <a:p>
            <a:pPr lvl="1"/>
            <a:r>
              <a:rPr lang="en-US" b="1" dirty="0"/>
              <a:t>Constant Updates:</a:t>
            </a:r>
            <a:r>
              <a:rPr lang="en-US" dirty="0"/>
              <a:t> SEO algorithms frequently change.</a:t>
            </a:r>
          </a:p>
          <a:p>
            <a:pPr lvl="1"/>
            <a:r>
              <a:rPr lang="en-US" b="1" dirty="0"/>
              <a:t>Results Take Time:</a:t>
            </a:r>
            <a:r>
              <a:rPr lang="en-US" dirty="0"/>
              <a:t> Rankings improve over months, not days.</a:t>
            </a:r>
          </a:p>
          <a:p>
            <a:pPr lvl="1"/>
            <a:r>
              <a:rPr lang="en-US" b="1" dirty="0"/>
              <a:t>Competitive:</a:t>
            </a:r>
            <a:r>
              <a:rPr lang="en-US" dirty="0"/>
              <a:t> Difficult to rank for high-competition keywords.</a:t>
            </a:r>
          </a:p>
          <a:p>
            <a:pPr lvl="1"/>
            <a:r>
              <a:rPr lang="en-US" b="1" dirty="0"/>
              <a:t>Technical Challenges:</a:t>
            </a:r>
            <a:r>
              <a:rPr lang="en-US" dirty="0"/>
              <a:t> Requires maintaining site performance and speed.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94885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FA7A8B-AC43-4097-9E57-EFFB42303B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Types of Digital Marketing Channels: Email Marketing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4C4344-1467-41FA-9DFC-6E29F477B4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lnSpc>
                <a:spcPct val="100000"/>
              </a:lnSpc>
            </a:pPr>
            <a:r>
              <a:rPr lang="en-US" b="1" dirty="0">
                <a:solidFill>
                  <a:srgbClr val="C00000"/>
                </a:solidFill>
              </a:rPr>
              <a:t>Email marketing </a:t>
            </a:r>
            <a:r>
              <a:rPr lang="en-US" dirty="0"/>
              <a:t>is a direct communication channel where personalized messages, offers, and updates are sent to subscribers. </a:t>
            </a:r>
          </a:p>
          <a:p>
            <a:pPr lvl="0">
              <a:lnSpc>
                <a:spcPct val="100000"/>
              </a:lnSpc>
            </a:pPr>
            <a:r>
              <a:rPr lang="en-US" b="1" dirty="0"/>
              <a:t>It helps businesses maintain relationships, nurture leads, and drive conversions. </a:t>
            </a:r>
          </a:p>
          <a:p>
            <a:pPr lvl="0">
              <a:lnSpc>
                <a:spcPct val="100000"/>
              </a:lnSpc>
            </a:pPr>
            <a:r>
              <a:rPr lang="en-US" dirty="0"/>
              <a:t>Automated campaigns improve efficiency.</a:t>
            </a:r>
          </a:p>
          <a:p>
            <a:pPr lvl="0">
              <a:lnSpc>
                <a:spcPct val="100000"/>
              </a:lnSpc>
            </a:pPr>
            <a:r>
              <a:rPr lang="en-US" b="1" dirty="0"/>
              <a:t>Example: Zomato</a:t>
            </a:r>
            <a:r>
              <a:rPr lang="en-US" dirty="0"/>
              <a:t> sends personalized restaurant recommendations and discounts to users via email.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7376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B3A58B-15E2-453E-8D77-2A70F08330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Types of Digital Marketing Channels: Email Marketing (Continue…)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B15088-437F-454D-B48D-09D83B2237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E955162-DB6F-481D-A17F-2F3729A2D1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28200"/>
            <a:ext cx="5932170" cy="5861051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79226E76-1541-4E20-AEE4-6853B904C622}"/>
              </a:ext>
            </a:extLst>
          </p:cNvPr>
          <p:cNvGrpSpPr/>
          <p:nvPr/>
        </p:nvGrpSpPr>
        <p:grpSpPr>
          <a:xfrm>
            <a:off x="6308673" y="728200"/>
            <a:ext cx="5752147" cy="5877562"/>
            <a:chOff x="6439852" y="711198"/>
            <a:chExt cx="5752147" cy="5877562"/>
          </a:xfrm>
        </p:grpSpPr>
        <p:pic>
          <p:nvPicPr>
            <p:cNvPr id="6" name="Picture 2">
              <a:extLst>
                <a:ext uri="{FF2B5EF4-FFF2-40B4-BE49-F238E27FC236}">
                  <a16:creationId xmlns:a16="http://schemas.microsoft.com/office/drawing/2014/main" id="{1ECD5488-ABE9-4F20-9707-9B50CC3BCA0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39853" y="1719580"/>
              <a:ext cx="5722620" cy="486918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F0219E4C-27AD-4914-ADCA-BBF47CA3576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439852" y="711198"/>
              <a:ext cx="5752147" cy="8826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225703319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4018F9-4CA3-4081-81E9-9214BEA02D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600" dirty="0"/>
              <a:t>Types of Digital Marketing Channels: Email Marketing (Continue…)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D401F8-E258-40E4-BCE1-2C126E2B63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Key Components:</a:t>
            </a:r>
          </a:p>
          <a:p>
            <a:pPr lvl="1"/>
            <a:r>
              <a:rPr lang="en-US" b="1" dirty="0"/>
              <a:t>Segmentation:</a:t>
            </a:r>
            <a:r>
              <a:rPr lang="en-US" dirty="0"/>
              <a:t> Grouping users based on behavior or demographics.</a:t>
            </a:r>
          </a:p>
          <a:p>
            <a:pPr lvl="1"/>
            <a:r>
              <a:rPr lang="en-US" b="1" dirty="0"/>
              <a:t>Personalization:</a:t>
            </a:r>
            <a:r>
              <a:rPr lang="en-US" dirty="0"/>
              <a:t> Customized emails with user-specific content.</a:t>
            </a:r>
          </a:p>
          <a:p>
            <a:pPr lvl="1"/>
            <a:r>
              <a:rPr lang="en-US" b="1" dirty="0"/>
              <a:t>Automated Campaigns:</a:t>
            </a:r>
            <a:r>
              <a:rPr lang="en-US" dirty="0"/>
              <a:t> Drip campaigns to nurture leads.</a:t>
            </a:r>
          </a:p>
          <a:p>
            <a:pPr lvl="1"/>
            <a:r>
              <a:rPr lang="en-US" b="1" dirty="0"/>
              <a:t>CTAs:</a:t>
            </a:r>
            <a:r>
              <a:rPr lang="en-US" dirty="0"/>
              <a:t> Encourage users to take specific actions.</a:t>
            </a:r>
          </a:p>
          <a:p>
            <a:pPr lvl="1"/>
            <a:r>
              <a:rPr lang="en-US" b="1" dirty="0"/>
              <a:t>Analytics:</a:t>
            </a:r>
            <a:r>
              <a:rPr lang="en-US" dirty="0"/>
              <a:t> Track open rates, click-through rates, and conversions.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37882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E2869D-F42A-4AA6-92D8-26627037B9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Types of Digital Marketing Channels: Email Marketing (Continue…)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EB308B-9F4C-416F-AF5E-D2EEA01098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Benefits:</a:t>
            </a:r>
          </a:p>
          <a:p>
            <a:pPr lvl="1"/>
            <a:r>
              <a:rPr lang="en-US" b="1" dirty="0"/>
              <a:t>High ROI:</a:t>
            </a:r>
            <a:r>
              <a:rPr lang="en-US" dirty="0"/>
              <a:t> Email marketing offers one of the highest returns among digital channels.</a:t>
            </a:r>
          </a:p>
          <a:p>
            <a:pPr lvl="1"/>
            <a:r>
              <a:rPr lang="en-US" b="1" dirty="0"/>
              <a:t>Personalized Communication:</a:t>
            </a:r>
            <a:r>
              <a:rPr lang="en-US" dirty="0"/>
              <a:t> Tailored content improves engagement.</a:t>
            </a:r>
          </a:p>
          <a:p>
            <a:pPr lvl="1"/>
            <a:r>
              <a:rPr lang="en-US" b="1" dirty="0"/>
              <a:t>Automated Workflows:</a:t>
            </a:r>
            <a:r>
              <a:rPr lang="en-US" dirty="0"/>
              <a:t> Saves time and nurtures leads.</a:t>
            </a:r>
          </a:p>
          <a:p>
            <a:pPr lvl="1"/>
            <a:r>
              <a:rPr lang="en-US" b="1" dirty="0"/>
              <a:t>Direct Channel to Users:</a:t>
            </a:r>
            <a:r>
              <a:rPr lang="en-US" dirty="0"/>
              <a:t> Messages reach customers instantly.</a:t>
            </a:r>
          </a:p>
          <a:p>
            <a:pPr lvl="1"/>
            <a:r>
              <a:rPr lang="en-US" b="1" dirty="0"/>
              <a:t>Retargeting Capability:</a:t>
            </a:r>
            <a:r>
              <a:rPr lang="en-US" dirty="0"/>
              <a:t> Follow up with abandoned cart emails or offers.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20556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1FE222-F449-447F-B1F5-1438F79BB1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600" dirty="0"/>
              <a:t>Types of Digital Marketing Channels: Email Marketing (Continue…)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92CF48-189F-4BBF-8296-79D1099F4B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Limitations:</a:t>
            </a:r>
          </a:p>
          <a:p>
            <a:pPr lvl="1"/>
            <a:r>
              <a:rPr lang="en-US" b="1" dirty="0"/>
              <a:t>Email Fatigue:</a:t>
            </a:r>
            <a:r>
              <a:rPr lang="en-US" dirty="0"/>
              <a:t> Overwhelming inboxes reduce engagement.</a:t>
            </a:r>
          </a:p>
          <a:p>
            <a:pPr lvl="1"/>
            <a:r>
              <a:rPr lang="en-US" b="1" dirty="0"/>
              <a:t>Spam Filters:</a:t>
            </a:r>
            <a:r>
              <a:rPr lang="en-US" dirty="0"/>
              <a:t> Poorly designed emails may end up in spam.</a:t>
            </a:r>
          </a:p>
          <a:p>
            <a:pPr lvl="1"/>
            <a:r>
              <a:rPr lang="en-US" b="1" dirty="0"/>
              <a:t>Privacy Concerns:</a:t>
            </a:r>
            <a:r>
              <a:rPr lang="en-US" dirty="0"/>
              <a:t> Users are wary of sharing email addresses.</a:t>
            </a:r>
          </a:p>
          <a:p>
            <a:pPr lvl="1"/>
            <a:r>
              <a:rPr lang="en-US" b="1" dirty="0"/>
              <a:t>Unsubscribe Rates:</a:t>
            </a:r>
            <a:r>
              <a:rPr lang="en-US" dirty="0"/>
              <a:t> Irrelevant emails can cause users to opt out.</a:t>
            </a:r>
          </a:p>
          <a:p>
            <a:pPr lvl="1"/>
            <a:r>
              <a:rPr lang="en-US" b="1" dirty="0"/>
              <a:t>Requires Strong Content:</a:t>
            </a:r>
            <a:r>
              <a:rPr lang="en-US" dirty="0"/>
              <a:t> Bland emails reduce effectiveness.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0959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DD4A86-CF6F-4B9F-9F91-8C56677A34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Types of Digital Marketing Channels: Affiliate Marketing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3BB728-8C10-45C7-9D27-0C1D2FBBD3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lnSpc>
                <a:spcPct val="100000"/>
              </a:lnSpc>
            </a:pPr>
            <a:r>
              <a:rPr lang="en-US" dirty="0"/>
              <a:t>In </a:t>
            </a:r>
            <a:r>
              <a:rPr lang="en-US" b="1" dirty="0">
                <a:solidFill>
                  <a:srgbClr val="C00000"/>
                </a:solidFill>
              </a:rPr>
              <a:t>affiliate marketing</a:t>
            </a:r>
            <a:r>
              <a:rPr lang="en-US" b="1" dirty="0"/>
              <a:t>, </a:t>
            </a:r>
            <a:r>
              <a:rPr lang="en-US" dirty="0"/>
              <a:t>businesses collaborate with partners who promote their products and earn a commission for every sale made through their referral. </a:t>
            </a:r>
          </a:p>
          <a:p>
            <a:pPr lvl="0">
              <a:lnSpc>
                <a:spcPct val="100000"/>
              </a:lnSpc>
            </a:pPr>
            <a:r>
              <a:rPr lang="en-US" dirty="0"/>
              <a:t>It is 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performance-based, 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driving traffic and 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conversions through external channels.</a:t>
            </a:r>
          </a:p>
          <a:p>
            <a:pPr lvl="0">
              <a:lnSpc>
                <a:spcPct val="100000"/>
              </a:lnSpc>
            </a:pPr>
            <a:r>
              <a:rPr lang="en-US" b="1" dirty="0"/>
              <a:t>Example:</a:t>
            </a:r>
            <a:r>
              <a:rPr lang="en-US" dirty="0"/>
              <a:t> </a:t>
            </a:r>
            <a:r>
              <a:rPr lang="en-US" b="1" dirty="0"/>
              <a:t>Flipkart</a:t>
            </a:r>
            <a:r>
              <a:rPr lang="en-US" dirty="0"/>
              <a:t> runs an affiliate program where bloggers and influencers earn commissions by promoting Flipkart products.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55362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AE2745-31D9-492E-8D68-10518652E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Types of Digital Marketing Channels: Affiliate Marketing (Continue…)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0062FE-89D2-4E27-8D77-B68F64C123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2" descr="Best Affiliate Programs In India [Truly Indian] - BloggingIdol">
            <a:extLst>
              <a:ext uri="{FF2B5EF4-FFF2-40B4-BE49-F238E27FC236}">
                <a16:creationId xmlns:a16="http://schemas.microsoft.com/office/drawing/2014/main" id="{3E314B49-F209-4CF1-9F79-0ACABBA7B6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739630"/>
            <a:ext cx="12191999" cy="58381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17619437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45A5E-1DC0-44B0-BB25-BC501833E0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600" dirty="0"/>
              <a:t>Types of Digital Marketing Channels: Affiliate Marketing (Continue…)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038AB3-19EF-4F4A-A0F2-A516A7D6FB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Key Components:</a:t>
            </a:r>
          </a:p>
          <a:p>
            <a:pPr lvl="1"/>
            <a:r>
              <a:rPr lang="en-US" b="1" dirty="0"/>
              <a:t>Affiliate Networks:</a:t>
            </a:r>
            <a:r>
              <a:rPr lang="en-US" dirty="0"/>
              <a:t> Platforms that connect businesses with affiliates.</a:t>
            </a:r>
          </a:p>
          <a:p>
            <a:pPr lvl="1"/>
            <a:r>
              <a:rPr lang="en-US" b="1" dirty="0"/>
              <a:t>Commission Models:</a:t>
            </a:r>
            <a:r>
              <a:rPr lang="en-US" dirty="0"/>
              <a:t> Pay-per-sale, pay-per-click, or pay-per-lead.</a:t>
            </a:r>
          </a:p>
          <a:p>
            <a:pPr lvl="1"/>
            <a:r>
              <a:rPr lang="en-US" b="1" dirty="0"/>
              <a:t>Tracking Tools:</a:t>
            </a:r>
            <a:r>
              <a:rPr lang="en-US" dirty="0"/>
              <a:t> Monitor affiliate performance.</a:t>
            </a:r>
          </a:p>
          <a:p>
            <a:pPr lvl="1"/>
            <a:r>
              <a:rPr lang="en-US" b="1" dirty="0"/>
              <a:t>Product Links:</a:t>
            </a:r>
            <a:r>
              <a:rPr lang="en-US" dirty="0"/>
              <a:t> Customized links to track conversions.</a:t>
            </a:r>
          </a:p>
          <a:p>
            <a:pPr lvl="1"/>
            <a:r>
              <a:rPr lang="en-US" b="1" dirty="0"/>
              <a:t>Payment Structures:</a:t>
            </a:r>
            <a:r>
              <a:rPr lang="en-US" dirty="0"/>
              <a:t> Clear policies for paying affiliates.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93035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DE4E5E-076F-4023-ACF6-D4A4EA8DF2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600" dirty="0"/>
              <a:t>Types of Digital Marketing Channels: Affiliate Marketing (Continue…)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B3D19B-D716-4D68-8E9D-E2D5143E59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Benefits:</a:t>
            </a:r>
          </a:p>
          <a:p>
            <a:pPr lvl="1"/>
            <a:r>
              <a:rPr lang="en-US" b="1" dirty="0"/>
              <a:t>Low-Risk Investment:</a:t>
            </a:r>
            <a:r>
              <a:rPr lang="en-US" dirty="0"/>
              <a:t> Pay only for successful conversions.</a:t>
            </a:r>
          </a:p>
          <a:p>
            <a:pPr lvl="1"/>
            <a:r>
              <a:rPr lang="en-US" b="1" dirty="0"/>
              <a:t>Broad Reach:</a:t>
            </a:r>
            <a:r>
              <a:rPr lang="en-US" dirty="0"/>
              <a:t> Affiliates promote products to new audiences.</a:t>
            </a:r>
          </a:p>
          <a:p>
            <a:pPr lvl="1"/>
            <a:r>
              <a:rPr lang="en-US" b="1" dirty="0"/>
              <a:t>Performance-Based:</a:t>
            </a:r>
            <a:r>
              <a:rPr lang="en-US" dirty="0"/>
              <a:t> Easy to measure ROI.</a:t>
            </a:r>
          </a:p>
          <a:p>
            <a:pPr lvl="1"/>
            <a:r>
              <a:rPr lang="en-US" b="1" dirty="0"/>
              <a:t>Scalable:</a:t>
            </a:r>
            <a:r>
              <a:rPr lang="en-US" dirty="0"/>
              <a:t> Add more affiliates to expand efforts.</a:t>
            </a:r>
          </a:p>
          <a:p>
            <a:pPr lvl="1"/>
            <a:r>
              <a:rPr lang="en-US" b="1" dirty="0"/>
              <a:t>Enhances Brand Awareness:</a:t>
            </a:r>
            <a:r>
              <a:rPr lang="en-US" dirty="0"/>
              <a:t> Affiliates promote through various channels.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69662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640948-016C-46B8-ADDD-EA58D4BFA3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600" dirty="0"/>
              <a:t>Types of Digital Marketing Channels: Affiliate Marketing (Continue…)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71C901-8610-4B9D-9589-DBA370F194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Limitations:</a:t>
            </a:r>
          </a:p>
          <a:p>
            <a:pPr lvl="1"/>
            <a:r>
              <a:rPr lang="en-US" b="1" dirty="0"/>
              <a:t>Fraud Risk:</a:t>
            </a:r>
            <a:r>
              <a:rPr lang="en-US" dirty="0"/>
              <a:t> Affiliates may engage in unethical practices.</a:t>
            </a:r>
          </a:p>
          <a:p>
            <a:pPr lvl="1"/>
            <a:r>
              <a:rPr lang="en-US" b="1" dirty="0"/>
              <a:t>Commission Costs:</a:t>
            </a:r>
            <a:r>
              <a:rPr lang="en-US" dirty="0"/>
              <a:t> Can add up with multiple affiliates.</a:t>
            </a:r>
          </a:p>
          <a:p>
            <a:pPr lvl="1"/>
            <a:r>
              <a:rPr lang="en-US" b="1" dirty="0"/>
              <a:t>Limited Control:</a:t>
            </a:r>
            <a:r>
              <a:rPr lang="en-US" dirty="0"/>
              <a:t> Affiliates control messaging and promotion.</a:t>
            </a:r>
          </a:p>
          <a:p>
            <a:pPr lvl="1"/>
            <a:r>
              <a:rPr lang="en-US" b="1" dirty="0"/>
              <a:t>Brand Dilution:</a:t>
            </a:r>
            <a:r>
              <a:rPr lang="en-US" dirty="0"/>
              <a:t> Poorly selected affiliates may harm brand image.</a:t>
            </a:r>
          </a:p>
          <a:p>
            <a:pPr lvl="1"/>
            <a:r>
              <a:rPr lang="en-US" b="1" dirty="0"/>
              <a:t>Compliance Issues:</a:t>
            </a:r>
            <a:r>
              <a:rPr lang="en-US" dirty="0"/>
              <a:t> Ensuring all affiliates follow advertising rules.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90983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029EA4-D769-4758-B28B-86DAF15160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Types of Digital Marketing Channels: Referral Marketing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CF4848-0FD4-498B-86B2-8FCA421D66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lnSpc>
                <a:spcPct val="100000"/>
              </a:lnSpc>
            </a:pPr>
            <a:r>
              <a:rPr lang="en-US" b="1" dirty="0">
                <a:solidFill>
                  <a:srgbClr val="C00000"/>
                </a:solidFill>
              </a:rPr>
              <a:t>Referral marketing </a:t>
            </a:r>
            <a:r>
              <a:rPr lang="en-US" dirty="0"/>
              <a:t>encourages existing customers to </a:t>
            </a:r>
            <a:r>
              <a:rPr lang="en-US" b="1" dirty="0"/>
              <a:t>recommend products or services to others</a:t>
            </a:r>
            <a:r>
              <a:rPr lang="en-US" dirty="0"/>
              <a:t>, typically incentivizing them with discounts, rewards, or cashback.</a:t>
            </a:r>
          </a:p>
          <a:p>
            <a:pPr lvl="0">
              <a:lnSpc>
                <a:spcPct val="100000"/>
              </a:lnSpc>
            </a:pPr>
            <a:r>
              <a:rPr lang="en-US" dirty="0"/>
              <a:t>It leverages trust in personal networks to acquire new customers at a low cost.</a:t>
            </a:r>
          </a:p>
          <a:p>
            <a:pPr lvl="0">
              <a:lnSpc>
                <a:spcPct val="100000"/>
              </a:lnSpc>
            </a:pPr>
            <a:r>
              <a:rPr lang="en-US" b="1" dirty="0"/>
              <a:t>Example:</a:t>
            </a:r>
            <a:r>
              <a:rPr lang="en-US" dirty="0"/>
              <a:t> </a:t>
            </a:r>
            <a:r>
              <a:rPr lang="en-US" b="1" dirty="0"/>
              <a:t>Paytm</a:t>
            </a:r>
            <a:r>
              <a:rPr lang="en-US" dirty="0"/>
              <a:t> offers cashback to both referrers and referees for inviting new users to its platform.</a:t>
            </a:r>
          </a:p>
          <a:p>
            <a:endParaRPr lang="en-US" dirty="0"/>
          </a:p>
        </p:txBody>
      </p:sp>
      <p:pic>
        <p:nvPicPr>
          <p:cNvPr id="4" name="Picture 2" descr="Referrals | Referral | Referral System | Referral Plan">
            <a:extLst>
              <a:ext uri="{FF2B5EF4-FFF2-40B4-BE49-F238E27FC236}">
                <a16:creationId xmlns:a16="http://schemas.microsoft.com/office/drawing/2014/main" id="{B51ABAAB-A12C-4535-B580-ABAA4E0A94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700962" y="3012309"/>
            <a:ext cx="6502400" cy="3441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307025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020AC4-8597-4BB2-BFFE-8AFC0E0C29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Types of Digital Marketing Channels: Referral Marketing (Continue…)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7735D07E-BBF3-4F82-AD78-B137EBB0D14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1705" y="711201"/>
            <a:ext cx="8903991" cy="58766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04907356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98541D-60D0-4AA6-B6C2-D8EB4C6D08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600" dirty="0"/>
              <a:t>Types of Digital Marketing Channels: Referral Marketing (Continue…)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90DB1A-4B64-406F-8310-1E6E1A466F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A79E0B5-3BC0-4992-BFA5-BD818F484C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" y="711198"/>
            <a:ext cx="12192001" cy="5883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3237848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FC8BB1-6C60-455C-94FD-C2AB69676F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600" dirty="0"/>
              <a:t>Types of Digital Marketing Channels: Referral Marketing (Continue…)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3BC732-3A68-4C31-879E-190A368710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Key Components:</a:t>
            </a:r>
          </a:p>
          <a:p>
            <a:pPr lvl="1"/>
            <a:r>
              <a:rPr lang="en-US" b="1" dirty="0"/>
              <a:t>Incentives:</a:t>
            </a:r>
            <a:r>
              <a:rPr lang="en-US" dirty="0"/>
              <a:t> Rewards for both referrer and referee (e.g., discount codes).</a:t>
            </a:r>
          </a:p>
          <a:p>
            <a:pPr lvl="1"/>
            <a:r>
              <a:rPr lang="en-US" b="1" dirty="0"/>
              <a:t>Tracking System:</a:t>
            </a:r>
            <a:r>
              <a:rPr lang="en-US" dirty="0"/>
              <a:t> Tracks successful referrals through unique links or codes.</a:t>
            </a:r>
          </a:p>
          <a:p>
            <a:pPr lvl="1"/>
            <a:r>
              <a:rPr lang="en-US" b="1" dirty="0"/>
              <a:t>Loyalty Programs:</a:t>
            </a:r>
            <a:r>
              <a:rPr lang="en-US" dirty="0"/>
              <a:t> Integrates with customer loyalty programs for additional benefits.</a:t>
            </a:r>
          </a:p>
          <a:p>
            <a:pPr lvl="1"/>
            <a:r>
              <a:rPr lang="en-US" b="1" dirty="0"/>
              <a:t>Social Sharing Tools:</a:t>
            </a:r>
            <a:r>
              <a:rPr lang="en-US" dirty="0"/>
              <a:t> Makes it easy for customers to share referral links.</a:t>
            </a:r>
          </a:p>
          <a:p>
            <a:pPr lvl="1"/>
            <a:r>
              <a:rPr lang="en-US" b="1" dirty="0"/>
              <a:t>Automation:</a:t>
            </a:r>
            <a:r>
              <a:rPr lang="en-US" dirty="0"/>
              <a:t> Automatically sends rewards upon successful referrals.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08902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9356F1-ABE3-420D-8DAA-E0D524BE4E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600" dirty="0"/>
              <a:t>Types of Digital Marketing Channels: Referral Marketing (Continue…)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C1CD77-5DDD-441A-A15A-5D1C444ED3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Benefits:</a:t>
            </a:r>
          </a:p>
          <a:p>
            <a:pPr lvl="1"/>
            <a:r>
              <a:rPr lang="en-US" b="1" dirty="0"/>
              <a:t>Cost-Effective:</a:t>
            </a:r>
            <a:r>
              <a:rPr lang="en-US" dirty="0"/>
              <a:t> Lower acquisition cost than traditional ads.</a:t>
            </a:r>
          </a:p>
          <a:p>
            <a:pPr lvl="1"/>
            <a:r>
              <a:rPr lang="en-US" b="1" dirty="0"/>
              <a:t>High Conversion Rates:</a:t>
            </a:r>
            <a:r>
              <a:rPr lang="en-US" dirty="0"/>
              <a:t> Referred customers are more likely to convert.</a:t>
            </a:r>
          </a:p>
          <a:p>
            <a:pPr lvl="1"/>
            <a:r>
              <a:rPr lang="en-US" b="1" dirty="0"/>
              <a:t>Trust Factor:</a:t>
            </a:r>
            <a:r>
              <a:rPr lang="en-US" dirty="0"/>
              <a:t> Recommendations from friends are highly trusted.</a:t>
            </a:r>
          </a:p>
          <a:p>
            <a:pPr lvl="1"/>
            <a:r>
              <a:rPr lang="en-US" b="1" dirty="0"/>
              <a:t>Expands Customer Base:</a:t>
            </a:r>
            <a:r>
              <a:rPr lang="en-US" dirty="0"/>
              <a:t> Each customer can bring multiple new leads.</a:t>
            </a:r>
          </a:p>
          <a:p>
            <a:pPr lvl="1"/>
            <a:r>
              <a:rPr lang="en-US" b="1" dirty="0"/>
              <a:t>Brand Loyalty:</a:t>
            </a:r>
            <a:r>
              <a:rPr lang="en-US" dirty="0"/>
              <a:t> Encourages customer retention through rewards.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32143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8EEDE0-C1AB-43CC-B7AC-9794425929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600" dirty="0"/>
              <a:t>Types of Digital Marketing Channels: Referral Marketing (Continue…)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8DFE24-A591-48D3-8767-7B349DA523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Limitations:</a:t>
            </a:r>
          </a:p>
          <a:p>
            <a:pPr lvl="1"/>
            <a:r>
              <a:rPr lang="en-US" b="1" dirty="0"/>
              <a:t>Limited Control:</a:t>
            </a:r>
            <a:r>
              <a:rPr lang="en-US" dirty="0"/>
              <a:t> Customers may not promote as expected.</a:t>
            </a:r>
          </a:p>
          <a:p>
            <a:pPr lvl="1"/>
            <a:r>
              <a:rPr lang="en-US" b="1" dirty="0"/>
              <a:t>Fraud Risk:</a:t>
            </a:r>
            <a:r>
              <a:rPr lang="en-US" dirty="0"/>
              <a:t> Potential abuse of referral rewards.</a:t>
            </a:r>
          </a:p>
          <a:p>
            <a:pPr lvl="1"/>
            <a:r>
              <a:rPr lang="en-US" b="1" dirty="0"/>
              <a:t>Incentive Costs:</a:t>
            </a:r>
            <a:r>
              <a:rPr lang="en-US" dirty="0"/>
              <a:t> Offering rewards can increase expenses.</a:t>
            </a:r>
          </a:p>
          <a:p>
            <a:pPr lvl="1"/>
            <a:r>
              <a:rPr lang="en-US" b="1" dirty="0"/>
              <a:t>Requires Existing Customers:</a:t>
            </a:r>
            <a:r>
              <a:rPr lang="en-US" dirty="0"/>
              <a:t> Effectiveness depends on having loyal customers.</a:t>
            </a:r>
          </a:p>
          <a:p>
            <a:pPr lvl="1"/>
            <a:r>
              <a:rPr lang="en-US" b="1" dirty="0"/>
              <a:t>Tracking Issues:</a:t>
            </a:r>
            <a:r>
              <a:rPr lang="en-US" dirty="0"/>
              <a:t> Difficulty in accurately tracking every referral.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10482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096799-69D9-46A3-9453-246EA1D03F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Types of Digital Marketing Channels: Influencer Marketing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C7678E-2F73-49C8-ADE3-0D8E0263B4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lnSpc>
                <a:spcPct val="100000"/>
              </a:lnSpc>
            </a:pPr>
            <a:r>
              <a:rPr lang="en-US" b="1" dirty="0">
                <a:solidFill>
                  <a:srgbClr val="C00000"/>
                </a:solidFill>
              </a:rPr>
              <a:t>Influencer marketing </a:t>
            </a:r>
            <a:r>
              <a:rPr lang="en-US" dirty="0"/>
              <a:t>involves collaborating with individuals who have a large social media following to promote products or services. </a:t>
            </a:r>
          </a:p>
          <a:p>
            <a:pPr lvl="0">
              <a:lnSpc>
                <a:spcPct val="100000"/>
              </a:lnSpc>
            </a:pPr>
            <a:r>
              <a:rPr lang="en-US" b="1" dirty="0"/>
              <a:t>Influencers help brands reach niche audiences and build credibility through authentic content.</a:t>
            </a:r>
          </a:p>
          <a:p>
            <a:pPr lvl="0">
              <a:lnSpc>
                <a:spcPct val="100000"/>
              </a:lnSpc>
            </a:pPr>
            <a:r>
              <a:rPr lang="en-US" b="1" dirty="0"/>
              <a:t>Example:</a:t>
            </a:r>
            <a:r>
              <a:rPr lang="en-US" dirty="0"/>
              <a:t> </a:t>
            </a:r>
            <a:r>
              <a:rPr lang="en-US" b="1" dirty="0" err="1"/>
              <a:t>Mamaearth</a:t>
            </a:r>
            <a:r>
              <a:rPr lang="en-US" dirty="0"/>
              <a:t> partners with beauty and wellness influencers to promote its personal care products.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09183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D41487-F201-4F87-8282-FD27B8E634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Types of Digital Marketing Channels: Influencer Marketing (Continue…)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A7EFBD-7474-4D1F-A020-E5385756AD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0EBDE84-7336-4CF4-AE1F-08573D14C1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711199"/>
            <a:ext cx="6892289" cy="588391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535AE01-FF62-4036-B947-4990E435BF0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9102"/>
          <a:stretch/>
        </p:blipFill>
        <p:spPr>
          <a:xfrm>
            <a:off x="6892290" y="711198"/>
            <a:ext cx="5299709" cy="5883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7791588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D41487-F201-4F87-8282-FD27B8E634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Types of Digital Marketing Channels: Influencer Marketing (Continue…)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16E6B446-2AD8-493E-9339-092911D9758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9694" y="23725"/>
            <a:ext cx="5002306" cy="6834274"/>
          </a:xfr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C7E8CBA-2890-4581-8C25-CFC351AD357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"/>
            <a:ext cx="7189694" cy="404420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32896F3-451B-4DEF-BE36-A9D91917E034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267"/>
          <a:stretch/>
        </p:blipFill>
        <p:spPr>
          <a:xfrm>
            <a:off x="1" y="3049180"/>
            <a:ext cx="7189693" cy="3808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1254643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D41487-F201-4F87-8282-FD27B8E634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Types of Digital Marketing Channels: Influencer Marketing (Continue…)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A7EFBD-7474-4D1F-A020-E5385756AD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Key Components:</a:t>
            </a:r>
          </a:p>
          <a:p>
            <a:pPr lvl="1"/>
            <a:r>
              <a:rPr lang="en-US" b="1" dirty="0"/>
              <a:t>Choosing the Right Influencers:</a:t>
            </a:r>
            <a:r>
              <a:rPr lang="en-US" dirty="0"/>
              <a:t> Based on relevance, engagement, and audience.</a:t>
            </a:r>
          </a:p>
          <a:p>
            <a:pPr lvl="1"/>
            <a:r>
              <a:rPr lang="en-US" b="1" dirty="0"/>
              <a:t>Campaign Goals:</a:t>
            </a:r>
            <a:r>
              <a:rPr lang="en-US" dirty="0"/>
              <a:t> Define objectives (awareness, engagement, sales).</a:t>
            </a:r>
          </a:p>
          <a:p>
            <a:pPr lvl="1"/>
            <a:r>
              <a:rPr lang="en-US" b="1" dirty="0"/>
              <a:t>Content Strategy:</a:t>
            </a:r>
            <a:r>
              <a:rPr lang="en-US" dirty="0"/>
              <a:t> Co-create engaging content with influencers.</a:t>
            </a:r>
          </a:p>
          <a:p>
            <a:pPr lvl="1"/>
            <a:r>
              <a:rPr lang="en-US" b="1" dirty="0"/>
              <a:t>Platform Selection:</a:t>
            </a:r>
            <a:r>
              <a:rPr lang="en-US" dirty="0"/>
              <a:t> Use appropriate platforms (e.g., Instagram, YouTube).</a:t>
            </a:r>
          </a:p>
          <a:p>
            <a:pPr lvl="1"/>
            <a:r>
              <a:rPr lang="en-US" b="1" dirty="0"/>
              <a:t>Performance Tracking:</a:t>
            </a:r>
            <a:r>
              <a:rPr lang="en-US" dirty="0"/>
              <a:t> Measure reach, engagement, and ROI.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65571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D41487-F201-4F87-8282-FD27B8E634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Types of Digital Marketing Channels: Influencer Marketing (Continue…)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A7EFBD-7474-4D1F-A020-E5385756AD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Benefits:</a:t>
            </a:r>
          </a:p>
          <a:p>
            <a:pPr lvl="1"/>
            <a:r>
              <a:rPr lang="en-US" b="1" dirty="0"/>
              <a:t>Increases Brand Awareness:</a:t>
            </a:r>
            <a:r>
              <a:rPr lang="en-US" dirty="0"/>
              <a:t> Reach large audiences quickly.</a:t>
            </a:r>
          </a:p>
          <a:p>
            <a:pPr lvl="1"/>
            <a:r>
              <a:rPr lang="en-US" b="1" dirty="0"/>
              <a:t>Builds Trust:</a:t>
            </a:r>
            <a:r>
              <a:rPr lang="en-US" dirty="0"/>
              <a:t> Followers trust recommendations from influencers.</a:t>
            </a:r>
          </a:p>
          <a:p>
            <a:pPr lvl="1"/>
            <a:r>
              <a:rPr lang="en-US" b="1" dirty="0"/>
              <a:t>Engages Niche Audiences:</a:t>
            </a:r>
            <a:r>
              <a:rPr lang="en-US" dirty="0"/>
              <a:t> Access specific demographics.</a:t>
            </a:r>
          </a:p>
          <a:p>
            <a:pPr lvl="1"/>
            <a:r>
              <a:rPr lang="en-US" b="1" dirty="0"/>
              <a:t>Boosts Sales:</a:t>
            </a:r>
            <a:r>
              <a:rPr lang="en-US" dirty="0"/>
              <a:t> Influencer promotions drive purchasing decisions.</a:t>
            </a:r>
          </a:p>
          <a:p>
            <a:pPr lvl="1"/>
            <a:r>
              <a:rPr lang="en-US" b="1" dirty="0"/>
              <a:t>Improves SEO:</a:t>
            </a:r>
            <a:r>
              <a:rPr lang="en-US" dirty="0"/>
              <a:t> Influencer content often generates backlinks.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00585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D41487-F201-4F87-8282-FD27B8E634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Types of Digital Marketing Channels: Influencer Marketing (Continue…)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A7EFBD-7474-4D1F-A020-E5385756AD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Limitations:</a:t>
            </a:r>
          </a:p>
          <a:p>
            <a:pPr lvl="1"/>
            <a:r>
              <a:rPr lang="en-US" b="1" dirty="0"/>
              <a:t>High Costs:</a:t>
            </a:r>
            <a:r>
              <a:rPr lang="en-US" dirty="0"/>
              <a:t> Top influencers charge significant fees.</a:t>
            </a:r>
          </a:p>
          <a:p>
            <a:pPr lvl="1"/>
            <a:r>
              <a:rPr lang="en-US" b="1" dirty="0"/>
              <a:t>Authenticity Concerns:</a:t>
            </a:r>
            <a:r>
              <a:rPr lang="en-US" dirty="0"/>
              <a:t> Over-promoting can reduce credibility.</a:t>
            </a:r>
          </a:p>
          <a:p>
            <a:pPr lvl="1"/>
            <a:r>
              <a:rPr lang="en-US" b="1" dirty="0"/>
              <a:t>Limited Control:</a:t>
            </a:r>
            <a:r>
              <a:rPr lang="en-US" dirty="0"/>
              <a:t> Content creation lies in the hands of the influencer.</a:t>
            </a:r>
          </a:p>
          <a:p>
            <a:pPr lvl="1"/>
            <a:r>
              <a:rPr lang="en-US" b="1" dirty="0"/>
              <a:t>Short-Term Impact:</a:t>
            </a:r>
            <a:r>
              <a:rPr lang="en-US" dirty="0"/>
              <a:t> Results may decline once the campaign ends.</a:t>
            </a:r>
          </a:p>
          <a:p>
            <a:pPr lvl="1"/>
            <a:r>
              <a:rPr lang="en-US" b="1" dirty="0"/>
              <a:t>Brand Reputation Risk:</a:t>
            </a:r>
            <a:r>
              <a:rPr lang="en-US" dirty="0"/>
              <a:t> Influencers’ actions may reflect negatively on the brand.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99092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D41487-F201-4F87-8282-FD27B8E634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Types of Digital Marketing Channels: Online Public Relation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A7EFBD-7474-4D1F-A020-E5385756AD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lnSpc>
                <a:spcPct val="100000"/>
              </a:lnSpc>
            </a:pPr>
            <a:r>
              <a:rPr lang="en-US" b="1" dirty="0">
                <a:solidFill>
                  <a:srgbClr val="C00000"/>
                </a:solidFill>
              </a:rPr>
              <a:t>Online PR </a:t>
            </a:r>
            <a:r>
              <a:rPr lang="en-US" dirty="0"/>
              <a:t>involves managing a brand’s reputation, relationships, and public perception through digital platforms like social media, blogs, and news websites.</a:t>
            </a:r>
          </a:p>
          <a:p>
            <a:pPr lvl="0">
              <a:lnSpc>
                <a:spcPct val="100000"/>
              </a:lnSpc>
            </a:pPr>
            <a:r>
              <a:rPr lang="en-US" b="1" dirty="0"/>
              <a:t>It helps businesses build positive public perception and handle crises efficiently.</a:t>
            </a:r>
          </a:p>
          <a:p>
            <a:pPr lvl="0">
              <a:lnSpc>
                <a:spcPct val="100000"/>
              </a:lnSpc>
            </a:pPr>
            <a:r>
              <a:rPr lang="en-US" b="1" dirty="0"/>
              <a:t>Example:</a:t>
            </a:r>
            <a:r>
              <a:rPr lang="en-US" dirty="0"/>
              <a:t> </a:t>
            </a:r>
            <a:r>
              <a:rPr lang="en-US" b="1" dirty="0"/>
              <a:t>Ola Cabs </a:t>
            </a:r>
            <a:r>
              <a:rPr lang="en-US" dirty="0"/>
              <a:t>engages with customers on Twitter to resolve complaints and share service updates.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45150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83E26A-7A41-4C70-9FF7-8BD7682F79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Types of Digital Marketing Channels: Online Public Relation (Continue.)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A701556E-10A7-4AC3-9367-2389C2CEAD5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45668" y="1604115"/>
            <a:ext cx="6015153" cy="3353367"/>
          </a:xfrm>
        </p:spPr>
      </p:pic>
      <p:pic>
        <p:nvPicPr>
          <p:cNvPr id="4" name="Picture 2" descr="Who gave OLA rights to call customers for threatening because of their  app's inabilities?">
            <a:extLst>
              <a:ext uri="{FF2B5EF4-FFF2-40B4-BE49-F238E27FC236}">
                <a16:creationId xmlns:a16="http://schemas.microsoft.com/office/drawing/2014/main" id="{D1CADEE1-8A79-4281-B055-099CA4BFF8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179" y="711055"/>
            <a:ext cx="5733733" cy="58953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19480061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83E26A-7A41-4C70-9FF7-8BD7682F79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Types of Digital Marketing Channels: Online Public Relation (Continue.)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1FB3D7-5B90-4439-8998-3F6CE86C38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Key Components:</a:t>
            </a:r>
          </a:p>
          <a:p>
            <a:pPr lvl="1"/>
            <a:r>
              <a:rPr lang="en-US" b="1" dirty="0"/>
              <a:t>Media Outreach:</a:t>
            </a:r>
            <a:r>
              <a:rPr lang="en-US" dirty="0"/>
              <a:t> Sending press releases to online media.</a:t>
            </a:r>
          </a:p>
          <a:p>
            <a:pPr lvl="1"/>
            <a:r>
              <a:rPr lang="en-US" b="1" dirty="0"/>
              <a:t>Social Media Engagement:</a:t>
            </a:r>
            <a:r>
              <a:rPr lang="en-US" dirty="0"/>
              <a:t> Responding to customer feedback and queries.</a:t>
            </a:r>
          </a:p>
          <a:p>
            <a:pPr lvl="1"/>
            <a:r>
              <a:rPr lang="en-US" b="1" dirty="0"/>
              <a:t>Influencer Collaboration:</a:t>
            </a:r>
            <a:r>
              <a:rPr lang="en-US" dirty="0"/>
              <a:t> Using trusted voices to build credibility.</a:t>
            </a:r>
          </a:p>
          <a:p>
            <a:pPr lvl="1"/>
            <a:r>
              <a:rPr lang="en-US" b="1" dirty="0"/>
              <a:t>Reputation Management:</a:t>
            </a:r>
            <a:r>
              <a:rPr lang="en-US" dirty="0"/>
              <a:t> Handling online reviews and complaints.</a:t>
            </a:r>
          </a:p>
          <a:p>
            <a:pPr lvl="1"/>
            <a:r>
              <a:rPr lang="en-US" b="1" dirty="0"/>
              <a:t>Crisis Management:</a:t>
            </a:r>
            <a:r>
              <a:rPr lang="en-US" dirty="0"/>
              <a:t> Proactively addressing negative publicity.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78455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83E26A-7A41-4C70-9FF7-8BD7682F79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Types of Digital Marketing Channels: Online Public Relation (Continue.)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1FB3D7-5B90-4439-8998-3F6CE86C38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Benefits:</a:t>
            </a:r>
          </a:p>
          <a:p>
            <a:pPr lvl="1"/>
            <a:r>
              <a:rPr lang="en-US" b="1" dirty="0"/>
              <a:t>Builds Trust:</a:t>
            </a:r>
            <a:r>
              <a:rPr lang="en-US" dirty="0"/>
              <a:t> Positive online reputation boosts brand trust.</a:t>
            </a:r>
          </a:p>
          <a:p>
            <a:pPr lvl="1"/>
            <a:r>
              <a:rPr lang="en-US" b="1" dirty="0"/>
              <a:t>Enhances Visibility:</a:t>
            </a:r>
            <a:r>
              <a:rPr lang="en-US" dirty="0"/>
              <a:t> Coverage on news sites improves reach.</a:t>
            </a:r>
          </a:p>
          <a:p>
            <a:pPr lvl="1"/>
            <a:r>
              <a:rPr lang="en-US" b="1" dirty="0"/>
              <a:t>Cost-Effective:</a:t>
            </a:r>
            <a:r>
              <a:rPr lang="en-US" dirty="0"/>
              <a:t> PR campaigns are cheaper than paid advertising.</a:t>
            </a:r>
          </a:p>
          <a:p>
            <a:pPr lvl="1"/>
            <a:r>
              <a:rPr lang="en-US" b="1" dirty="0"/>
              <a:t>Manages Crises:</a:t>
            </a:r>
            <a:r>
              <a:rPr lang="en-US" dirty="0"/>
              <a:t> Effective online PR mitigates damage during crises.</a:t>
            </a:r>
          </a:p>
          <a:p>
            <a:pPr lvl="1"/>
            <a:r>
              <a:rPr lang="en-US" b="1" dirty="0"/>
              <a:t>Strengthens SEO:</a:t>
            </a:r>
            <a:r>
              <a:rPr lang="en-US" dirty="0"/>
              <a:t> Positive media coverage improves search rankings.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93430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83E26A-7A41-4C70-9FF7-8BD7682F79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Types of Digital Marketing Channels: Online Public Relation (Continue.)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1FB3D7-5B90-4439-8998-3F6CE86C38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Limitations:</a:t>
            </a:r>
          </a:p>
          <a:p>
            <a:pPr lvl="1"/>
            <a:r>
              <a:rPr lang="en-US" b="1" dirty="0"/>
              <a:t>Lack of Control:</a:t>
            </a:r>
            <a:r>
              <a:rPr lang="en-US" dirty="0"/>
              <a:t> Media narratives can shift unpredictably.</a:t>
            </a:r>
          </a:p>
          <a:p>
            <a:pPr lvl="1"/>
            <a:r>
              <a:rPr lang="en-US" b="1" dirty="0"/>
              <a:t>Slow Impact:</a:t>
            </a:r>
            <a:r>
              <a:rPr lang="en-US" dirty="0"/>
              <a:t> Results take time to materialize.</a:t>
            </a:r>
          </a:p>
          <a:p>
            <a:pPr lvl="1"/>
            <a:r>
              <a:rPr lang="en-US" b="1" dirty="0"/>
              <a:t>Requires Continuous Monitoring:</a:t>
            </a:r>
            <a:r>
              <a:rPr lang="en-US" dirty="0"/>
              <a:t> Online presence must be constantly managed.</a:t>
            </a:r>
          </a:p>
          <a:p>
            <a:pPr lvl="1"/>
            <a:r>
              <a:rPr lang="en-US" b="1" dirty="0"/>
              <a:t>Risk of Negative Publicity:</a:t>
            </a:r>
            <a:r>
              <a:rPr lang="en-US" dirty="0"/>
              <a:t> Backlash from negative reviews or posts.</a:t>
            </a:r>
          </a:p>
          <a:p>
            <a:pPr lvl="1"/>
            <a:r>
              <a:rPr lang="en-US" b="1" dirty="0"/>
              <a:t>Dependency on Media:</a:t>
            </a:r>
            <a:r>
              <a:rPr lang="en-US" dirty="0"/>
              <a:t> Coverage relies on media interest and availability.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58606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071A58-B327-4D4A-8CE8-949CFE9873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Types of Digital Marketing Channels: Conversational AI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F380BB-42AD-45F7-A4A8-6766D58763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lnSpc>
                <a:spcPct val="100000"/>
              </a:lnSpc>
            </a:pPr>
            <a:r>
              <a:rPr lang="en-US" b="1" dirty="0">
                <a:solidFill>
                  <a:srgbClr val="C00000"/>
                </a:solidFill>
              </a:rPr>
              <a:t>Conversational AI </a:t>
            </a:r>
            <a:r>
              <a:rPr lang="en-US" dirty="0"/>
              <a:t>uses </a:t>
            </a:r>
            <a:r>
              <a:rPr lang="en-US" b="1" i="1" dirty="0"/>
              <a:t>chatbots and voice assistants </a:t>
            </a:r>
            <a:r>
              <a:rPr lang="en-US" dirty="0"/>
              <a:t>to interact with customers in real-time, providing support and recommendations. </a:t>
            </a:r>
          </a:p>
          <a:p>
            <a:pPr lvl="0">
              <a:lnSpc>
                <a:spcPct val="100000"/>
              </a:lnSpc>
            </a:pPr>
            <a:r>
              <a:rPr lang="en-US" b="1" dirty="0"/>
              <a:t>It offers personalized service, reduces response time, and is available 24/7.</a:t>
            </a:r>
          </a:p>
          <a:p>
            <a:pPr lvl="0">
              <a:lnSpc>
                <a:spcPct val="100000"/>
              </a:lnSpc>
            </a:pPr>
            <a:r>
              <a:rPr lang="en-US" b="1" dirty="0"/>
              <a:t>Example:</a:t>
            </a:r>
            <a:r>
              <a:rPr lang="en-US" dirty="0"/>
              <a:t> </a:t>
            </a:r>
            <a:r>
              <a:rPr lang="en-US" b="1" dirty="0"/>
              <a:t>HDFC Bank's </a:t>
            </a:r>
            <a:r>
              <a:rPr lang="en-US" dirty="0"/>
              <a:t>EVA chatbot assists customers with queries about loans, account balances, and more.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90489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071A58-B327-4D4A-8CE8-949CFE9873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Types of Digital Marketing Channels: Conversational AI (Continue…)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F380BB-42AD-45F7-A4A8-6766D58763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2" descr="EVA: Get Instant Answers &amp; Assistance from HDFC Bank's AI Chatbot">
            <a:extLst>
              <a:ext uri="{FF2B5EF4-FFF2-40B4-BE49-F238E27FC236}">
                <a16:creationId xmlns:a16="http://schemas.microsoft.com/office/drawing/2014/main" id="{83B1E5CE-E6A5-4BCB-87E2-689671699F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419858"/>
            <a:ext cx="5372068" cy="37122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55A27AA-7822-4F3E-9739-B89A1414F38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812" t="6591" r="16173" b="11882"/>
          <a:stretch/>
        </p:blipFill>
        <p:spPr bwMode="auto">
          <a:xfrm>
            <a:off x="5372068" y="1218562"/>
            <a:ext cx="6819931" cy="40690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19851278"/>
      </p:ext>
    </p:extLst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071A58-B327-4D4A-8CE8-949CFE9873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Types of Digital Marketing Channels: Conversational AI (Continue…)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F380BB-42AD-45F7-A4A8-6766D58763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Key Components:</a:t>
            </a:r>
          </a:p>
          <a:p>
            <a:pPr lvl="1"/>
            <a:r>
              <a:rPr lang="en-US" b="1" dirty="0"/>
              <a:t>Chatbots:</a:t>
            </a:r>
            <a:r>
              <a:rPr lang="en-US" dirty="0"/>
              <a:t> Automated chat systems on websites and apps for customer service.</a:t>
            </a:r>
          </a:p>
          <a:p>
            <a:pPr lvl="1"/>
            <a:r>
              <a:rPr lang="en-US" b="1" dirty="0"/>
              <a:t>Voice Assistants:</a:t>
            </a:r>
            <a:r>
              <a:rPr lang="en-US" dirty="0"/>
              <a:t> Devices like Amazon Alexa or Google Assistant.</a:t>
            </a:r>
          </a:p>
          <a:p>
            <a:pPr lvl="1"/>
            <a:r>
              <a:rPr lang="en-US" b="1" dirty="0"/>
              <a:t>Natural Language Processing (NLP):</a:t>
            </a:r>
            <a:r>
              <a:rPr lang="en-US" dirty="0"/>
              <a:t> Understands and responds to user queries.</a:t>
            </a:r>
          </a:p>
          <a:p>
            <a:pPr lvl="1"/>
            <a:r>
              <a:rPr lang="en-US" b="1" dirty="0"/>
              <a:t>Personalization:</a:t>
            </a:r>
            <a:r>
              <a:rPr lang="en-US" dirty="0"/>
              <a:t> Customizes interactions based on user data.</a:t>
            </a:r>
          </a:p>
          <a:p>
            <a:pPr lvl="1"/>
            <a:r>
              <a:rPr lang="en-US" b="1" dirty="0"/>
              <a:t>Integration with CRM:</a:t>
            </a:r>
            <a:r>
              <a:rPr lang="en-US" dirty="0"/>
              <a:t> Syncs with customer management tools for seamless service.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626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071A58-B327-4D4A-8CE8-949CFE9873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Types of Digital Marketing Channels: Conversational AI (Continue…)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F380BB-42AD-45F7-A4A8-6766D58763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Benefits:</a:t>
            </a:r>
          </a:p>
          <a:p>
            <a:pPr lvl="1"/>
            <a:r>
              <a:rPr lang="en-US" b="1" dirty="0"/>
              <a:t>24/7 Availability:</a:t>
            </a:r>
            <a:r>
              <a:rPr lang="en-US" dirty="0"/>
              <a:t> AI tools offer uninterrupted customer support.</a:t>
            </a:r>
          </a:p>
          <a:p>
            <a:pPr lvl="1"/>
            <a:r>
              <a:rPr lang="en-US" b="1" dirty="0"/>
              <a:t>Reduces Response Time:</a:t>
            </a:r>
            <a:r>
              <a:rPr lang="en-US" dirty="0"/>
              <a:t> Instant responses improve user experience.</a:t>
            </a:r>
          </a:p>
          <a:p>
            <a:pPr lvl="1"/>
            <a:r>
              <a:rPr lang="en-US" b="1" dirty="0"/>
              <a:t>Cost-Effective:</a:t>
            </a:r>
            <a:r>
              <a:rPr lang="en-US" dirty="0"/>
              <a:t> Reduces the need for large customer service teams.</a:t>
            </a:r>
          </a:p>
          <a:p>
            <a:pPr lvl="1"/>
            <a:r>
              <a:rPr lang="en-US" b="1" dirty="0"/>
              <a:t>Personalized Experience:</a:t>
            </a:r>
            <a:r>
              <a:rPr lang="en-US" dirty="0"/>
              <a:t> AI recommends products based on past behavior.</a:t>
            </a:r>
          </a:p>
          <a:p>
            <a:pPr lvl="1"/>
            <a:r>
              <a:rPr lang="en-US" b="1" dirty="0"/>
              <a:t>Scalable:</a:t>
            </a:r>
            <a:r>
              <a:rPr lang="en-US" dirty="0"/>
              <a:t> Easily handles increasing numbers of users.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52125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071A58-B327-4D4A-8CE8-949CFE9873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Types of Digital Marketing Channels: Conversational AI (Continue…)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F380BB-42AD-45F7-A4A8-6766D58763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Limitations:</a:t>
            </a:r>
          </a:p>
          <a:p>
            <a:pPr lvl="1"/>
            <a:r>
              <a:rPr lang="en-US" b="1" dirty="0"/>
              <a:t>Limited Understanding:</a:t>
            </a:r>
            <a:r>
              <a:rPr lang="en-US" dirty="0"/>
              <a:t> AI struggles with complex queries.</a:t>
            </a:r>
          </a:p>
          <a:p>
            <a:pPr lvl="1"/>
            <a:r>
              <a:rPr lang="en-US" b="1" dirty="0"/>
              <a:t>Lack of Human Touch:</a:t>
            </a:r>
            <a:r>
              <a:rPr lang="en-US" dirty="0"/>
              <a:t> May not deliver empathetic responses.</a:t>
            </a:r>
          </a:p>
          <a:p>
            <a:pPr lvl="1"/>
            <a:r>
              <a:rPr lang="en-US" b="1" dirty="0"/>
              <a:t>Initial Setup Cost:</a:t>
            </a:r>
            <a:r>
              <a:rPr lang="en-US" dirty="0"/>
              <a:t> High cost to implement advanced AI systems.</a:t>
            </a:r>
          </a:p>
          <a:p>
            <a:pPr lvl="1"/>
            <a:r>
              <a:rPr lang="en-US" b="1" dirty="0"/>
              <a:t>Privacy Concerns:</a:t>
            </a:r>
            <a:r>
              <a:rPr lang="en-US" dirty="0"/>
              <a:t> Users may hesitate to share personal information.</a:t>
            </a:r>
          </a:p>
          <a:p>
            <a:pPr lvl="1"/>
            <a:r>
              <a:rPr lang="en-US" b="1" dirty="0"/>
              <a:t>Maintenance Required:</a:t>
            </a:r>
            <a:r>
              <a:rPr lang="en-US" dirty="0"/>
              <a:t> AI models need regular updates to stay relevant.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15853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4C4063-6974-4865-A582-78F015F65E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Web Logs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0521B0-748D-4924-A494-4F66B00BDC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8146209"/>
      </p:ext>
    </p:extLst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D0C548-44A6-4E8B-B7B3-4ACC23244C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Web logs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D31C22-8A62-421A-BB64-D711AD69E7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Weblogs, </a:t>
            </a:r>
            <a:r>
              <a:rPr lang="en-US" b="1" dirty="0">
                <a:solidFill>
                  <a:schemeClr val="tx1">
                    <a:lumMod val="90000"/>
                    <a:lumOff val="10000"/>
                  </a:schemeClr>
                </a:solidFill>
              </a:rPr>
              <a:t>or blogs 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</a:rPr>
              <a:t>are </a:t>
            </a:r>
            <a:r>
              <a:rPr lang="en-US" b="1" dirty="0">
                <a:solidFill>
                  <a:schemeClr val="tx1">
                    <a:lumMod val="90000"/>
                    <a:lumOff val="10000"/>
                  </a:schemeClr>
                </a:solidFill>
              </a:rPr>
              <a:t>online journals or informational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</a:rPr>
              <a:t>websites.</a:t>
            </a:r>
          </a:p>
          <a:p>
            <a:r>
              <a:rPr lang="en-US" dirty="0"/>
              <a:t>It display content in reverse chronological order, with the most recent posts appearing first. </a:t>
            </a:r>
          </a:p>
          <a:p>
            <a:r>
              <a:rPr lang="en-US" dirty="0"/>
              <a:t>They are often used by individuals or businesses </a:t>
            </a:r>
            <a:r>
              <a:rPr lang="en-US" b="1" dirty="0"/>
              <a:t>to share </a:t>
            </a:r>
          </a:p>
          <a:p>
            <a:pPr lvl="1"/>
            <a:r>
              <a:rPr lang="en-US" b="1" dirty="0"/>
              <a:t>opinions</a:t>
            </a:r>
          </a:p>
          <a:p>
            <a:pPr lvl="1"/>
            <a:r>
              <a:rPr lang="en-US" b="1" dirty="0"/>
              <a:t> information</a:t>
            </a:r>
          </a:p>
          <a:p>
            <a:pPr lvl="1"/>
            <a:r>
              <a:rPr lang="en-US" b="1" dirty="0"/>
              <a:t> updates</a:t>
            </a:r>
          </a:p>
          <a:p>
            <a:pPr lvl="1"/>
            <a:r>
              <a:rPr lang="en-US" b="1" dirty="0"/>
              <a:t> stories</a:t>
            </a:r>
            <a:r>
              <a:rPr lang="en-US" dirty="0"/>
              <a:t> </a:t>
            </a:r>
          </a:p>
          <a:p>
            <a:r>
              <a:rPr lang="en-US" dirty="0"/>
              <a:t>It Target broader audience.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08742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6DC508-E148-42FD-9F67-181A0F33A8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Web logs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A2FB60-E5C1-4C2F-982E-8D79E02EDD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Content: </a:t>
            </a:r>
          </a:p>
          <a:p>
            <a:pPr lvl="1"/>
            <a:r>
              <a:rPr lang="en-US" dirty="0"/>
              <a:t>Blogs can cover a wide range of topics, from </a:t>
            </a:r>
          </a:p>
          <a:p>
            <a:pPr lvl="1"/>
            <a:r>
              <a:rPr lang="en-US" b="1" dirty="0"/>
              <a:t>personal experiences  </a:t>
            </a:r>
          </a:p>
          <a:p>
            <a:pPr lvl="1"/>
            <a:r>
              <a:rPr lang="en-US" b="1" dirty="0"/>
              <a:t>professional insights</a:t>
            </a:r>
          </a:p>
          <a:p>
            <a:pPr lvl="1"/>
            <a:r>
              <a:rPr lang="en-US" b="1" dirty="0"/>
              <a:t>industry trends</a:t>
            </a:r>
          </a:p>
          <a:p>
            <a:pPr lvl="1"/>
            <a:r>
              <a:rPr lang="en-US" b="1" dirty="0"/>
              <a:t>how-to guides.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31407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6DC508-E148-42FD-9F67-181A0F33A8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Web logs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A2FB60-E5C1-4C2F-982E-8D79E02EDD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Engagement: </a:t>
            </a:r>
          </a:p>
          <a:p>
            <a:pPr lvl="1"/>
            <a:r>
              <a:rPr lang="en-US" dirty="0"/>
              <a:t>Readers can often </a:t>
            </a:r>
            <a:r>
              <a:rPr lang="en-US" b="1" dirty="0"/>
              <a:t>comment on blog posts, </a:t>
            </a:r>
            <a:r>
              <a:rPr lang="en-US" dirty="0"/>
              <a:t>creating opportunities for interaction and community building.</a:t>
            </a:r>
          </a:p>
          <a:p>
            <a:pPr lvl="1"/>
            <a:endParaRPr lang="en-US" dirty="0"/>
          </a:p>
          <a:p>
            <a:r>
              <a:rPr lang="en-US" b="1" dirty="0"/>
              <a:t>SEO: </a:t>
            </a:r>
          </a:p>
          <a:p>
            <a:pPr lvl="1"/>
            <a:r>
              <a:rPr lang="en-US" dirty="0"/>
              <a:t>Blogs are valuable for search engine optimization (SEO) as they can </a:t>
            </a:r>
            <a:r>
              <a:rPr lang="en-US" b="1" dirty="0"/>
              <a:t>drive traffic to a website </a:t>
            </a:r>
            <a:r>
              <a:rPr lang="en-US" dirty="0"/>
              <a:t>through regularly updated, keyword-rich content.</a:t>
            </a:r>
          </a:p>
          <a:p>
            <a:r>
              <a:rPr lang="en-US" b="1" dirty="0"/>
              <a:t>Example: </a:t>
            </a:r>
          </a:p>
          <a:p>
            <a:r>
              <a:rPr lang="en-US" dirty="0"/>
              <a:t>Blogger</a:t>
            </a:r>
          </a:p>
          <a:p>
            <a:r>
              <a:rPr lang="en-US" dirty="0"/>
              <a:t>Medium</a:t>
            </a:r>
          </a:p>
          <a:p>
            <a:r>
              <a:rPr lang="en-US" dirty="0"/>
              <a:t>Mashable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922E318-3642-44BB-AD02-E09317D92D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22483" y="3846285"/>
            <a:ext cx="1905000" cy="1905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B354F06-4FA4-431D-934E-B966F758214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304" t="30344" r="7507" b="35955"/>
          <a:stretch/>
        </p:blipFill>
        <p:spPr>
          <a:xfrm>
            <a:off x="5770242" y="4487167"/>
            <a:ext cx="3318903" cy="78460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35892B9-16D7-4348-A1E1-44D754A5401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5478" y="3773026"/>
            <a:ext cx="1905000" cy="190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73373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058E75-ADFB-474B-9A85-398C4FF35A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Page tagging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910BF7-DEB9-4BCB-981E-5C303265FD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1836104"/>
      </p:ext>
    </p:extLst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275558-277D-45B1-8FFB-0C7102F60E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Page tagging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07B1C1-80BB-4FFE-8814-1B6F1AAAB6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Page tagging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</a:rPr>
              <a:t>is a method used in </a:t>
            </a:r>
            <a:r>
              <a:rPr lang="en-US" b="1" dirty="0">
                <a:solidFill>
                  <a:schemeClr val="tx1">
                    <a:lumMod val="90000"/>
                    <a:lumOff val="10000"/>
                  </a:schemeClr>
                </a:solidFill>
              </a:rPr>
              <a:t>web analytics to track user behavior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</a:rPr>
              <a:t>on a website. </a:t>
            </a:r>
          </a:p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</a:rPr>
              <a:t>Tags are </a:t>
            </a:r>
            <a:r>
              <a:rPr lang="en-US" b="1" dirty="0">
                <a:solidFill>
                  <a:schemeClr val="tx1">
                    <a:lumMod val="90000"/>
                    <a:lumOff val="10000"/>
                  </a:schemeClr>
                </a:solidFill>
              </a:rPr>
              <a:t> code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</a:rPr>
              <a:t>added to web pages that allow the </a:t>
            </a:r>
            <a:r>
              <a:rPr lang="en-US" b="1" dirty="0">
                <a:solidFill>
                  <a:schemeClr val="tx1">
                    <a:lumMod val="90000"/>
                    <a:lumOff val="10000"/>
                  </a:schemeClr>
                </a:solidFill>
              </a:rPr>
              <a:t>collection of data </a:t>
            </a:r>
          </a:p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</a:rPr>
              <a:t>Data such as </a:t>
            </a:r>
            <a:r>
              <a:rPr lang="en-US" b="1" dirty="0">
                <a:solidFill>
                  <a:schemeClr val="tx1">
                    <a:lumMod val="90000"/>
                    <a:lumOff val="10000"/>
                  </a:schemeClr>
                </a:solidFill>
              </a:rPr>
              <a:t>pageviews, clicks,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</a:rPr>
              <a:t>and other interactions is then visible to dashboard. </a:t>
            </a:r>
          </a:p>
          <a:p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</a:endParaRPr>
          </a:p>
          <a:p>
            <a:r>
              <a:rPr lang="en-US" b="1" dirty="0"/>
              <a:t>Core Uses</a:t>
            </a:r>
          </a:p>
          <a:p>
            <a:pPr lvl="1"/>
            <a:r>
              <a:rPr lang="en-US" b="1" dirty="0"/>
              <a:t>Data Collection: </a:t>
            </a:r>
            <a:r>
              <a:rPr lang="en-US" dirty="0"/>
              <a:t>Gathers stats on page views, clicks, and user paths.</a:t>
            </a:r>
          </a:p>
          <a:p>
            <a:pPr lvl="1"/>
            <a:r>
              <a:rPr lang="en-US" b="1" dirty="0"/>
              <a:t>Content Labeling: </a:t>
            </a:r>
            <a:r>
              <a:rPr lang="en-US" dirty="0"/>
              <a:t>Groups similar web pages or app screens into distinct categories.</a:t>
            </a:r>
          </a:p>
          <a:p>
            <a:pPr lvl="1"/>
            <a:r>
              <a:rPr lang="en-US" b="1" dirty="0"/>
              <a:t>User Tracking: </a:t>
            </a:r>
            <a:r>
              <a:rPr lang="en-US" dirty="0"/>
              <a:t>Helps segment visitors based on what they view.</a:t>
            </a:r>
          </a:p>
        </p:txBody>
      </p:sp>
    </p:spTree>
    <p:extLst>
      <p:ext uri="{BB962C8B-B14F-4D97-AF65-F5344CB8AC3E}">
        <p14:creationId xmlns:p14="http://schemas.microsoft.com/office/powerpoint/2010/main" val="2955797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527EC0-5D6A-4B54-9CEF-E4BF7E9A8C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Page tagging (Continue…)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24FAF1-7244-4D02-8F40-7220356EE4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Functionality: </a:t>
            </a:r>
          </a:p>
          <a:p>
            <a:pPr lvl="1"/>
            <a:r>
              <a:rPr lang="en-US" dirty="0"/>
              <a:t>Help in understanding </a:t>
            </a:r>
            <a:r>
              <a:rPr lang="en-US" b="1" dirty="0"/>
              <a:t>how users interact with different elements of a website, </a:t>
            </a:r>
            <a:r>
              <a:rPr lang="en-US" dirty="0"/>
              <a:t>providing insights into user preferences and behavior.</a:t>
            </a:r>
          </a:p>
          <a:p>
            <a:pPr lvl="1"/>
            <a:endParaRPr lang="en-US" dirty="0"/>
          </a:p>
          <a:p>
            <a:r>
              <a:rPr lang="en-US" b="1" dirty="0"/>
              <a:t>Analytics Tools: </a:t>
            </a:r>
          </a:p>
          <a:p>
            <a:pPr lvl="1"/>
            <a:r>
              <a:rPr lang="en-US" dirty="0"/>
              <a:t>Tools like </a:t>
            </a:r>
            <a:r>
              <a:rPr lang="en-US" b="1" dirty="0"/>
              <a:t>Google Analytics to collect </a:t>
            </a:r>
            <a:r>
              <a:rPr lang="en-US" dirty="0"/>
              <a:t>and analyze data, helping businesses optimize their websites for better user experience and performance.</a:t>
            </a:r>
          </a:p>
          <a:p>
            <a:pPr lvl="1"/>
            <a:endParaRPr lang="en-US" dirty="0"/>
          </a:p>
          <a:p>
            <a:r>
              <a:rPr lang="en-US" b="1" dirty="0"/>
              <a:t>Applications: </a:t>
            </a:r>
          </a:p>
          <a:p>
            <a:pPr lvl="1"/>
            <a:r>
              <a:rPr lang="en-US" dirty="0"/>
              <a:t>Used for </a:t>
            </a:r>
            <a:r>
              <a:rPr lang="en-US" b="1" dirty="0"/>
              <a:t>tracking conversions, measuring </a:t>
            </a:r>
            <a:r>
              <a:rPr lang="en-US" dirty="0"/>
              <a:t>the effectiveness of marketing campaigns, and </a:t>
            </a:r>
            <a:r>
              <a:rPr lang="en-US" b="1" dirty="0"/>
              <a:t>personalizing</a:t>
            </a:r>
            <a:r>
              <a:rPr lang="en-US" dirty="0"/>
              <a:t> content for visitors.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30929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122FAC-D6EB-4A8E-99A4-984B566C69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Google Analytics 4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15F0E0-D2EB-4BB8-9096-38F04F832C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119213"/>
      </p:ext>
    </p:extLst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39995A-2DA3-466C-8244-DA7AF97D3A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Setup and Configuration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C114A6-04BE-40AB-9BC1-2E3BD5699A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1" y="863444"/>
            <a:ext cx="4986252" cy="5590565"/>
          </a:xfrm>
        </p:spPr>
        <p:txBody>
          <a:bodyPr/>
          <a:lstStyle/>
          <a:p>
            <a:r>
              <a:rPr lang="en-US" b="1" dirty="0"/>
              <a:t>Step 1: Create a GA4 Property</a:t>
            </a:r>
          </a:p>
          <a:p>
            <a:pPr lvl="1"/>
            <a:r>
              <a:rPr lang="en-US" dirty="0"/>
              <a:t>Open </a:t>
            </a:r>
            <a:r>
              <a:rPr lang="en-US" b="1" dirty="0"/>
              <a:t>Google Analytics</a:t>
            </a:r>
            <a:r>
              <a:rPr lang="en-US" dirty="0"/>
              <a:t> and go to </a:t>
            </a:r>
            <a:r>
              <a:rPr lang="en-US" b="1" dirty="0"/>
              <a:t>Admin</a:t>
            </a:r>
            <a:r>
              <a:rPr lang="en-US" dirty="0"/>
              <a:t>. </a:t>
            </a:r>
          </a:p>
          <a:p>
            <a:pPr lvl="1"/>
            <a:r>
              <a:rPr lang="en-US" dirty="0"/>
              <a:t>Click </a:t>
            </a:r>
            <a:r>
              <a:rPr lang="en-US" b="1" dirty="0"/>
              <a:t>Create Property</a:t>
            </a:r>
            <a:r>
              <a:rPr lang="en-US" dirty="0"/>
              <a:t> under the </a:t>
            </a:r>
            <a:r>
              <a:rPr lang="en-US" b="1" dirty="0"/>
              <a:t>Property</a:t>
            </a:r>
            <a:r>
              <a:rPr lang="en-US" dirty="0"/>
              <a:t> section. </a:t>
            </a:r>
          </a:p>
          <a:p>
            <a:pPr lvl="1"/>
            <a:r>
              <a:rPr lang="en-US" dirty="0"/>
              <a:t>Enter the </a:t>
            </a:r>
            <a:r>
              <a:rPr lang="en-US" b="1" dirty="0"/>
              <a:t>Property Name</a:t>
            </a:r>
            <a:r>
              <a:rPr lang="en-US" dirty="0"/>
              <a:t> (Website, Company, or Brand Name). </a:t>
            </a:r>
          </a:p>
          <a:p>
            <a:pPr lvl="1"/>
            <a:r>
              <a:rPr lang="en-US" dirty="0"/>
              <a:t>Select your </a:t>
            </a:r>
            <a:r>
              <a:rPr lang="en-US" b="1" dirty="0"/>
              <a:t>Country</a:t>
            </a:r>
            <a:r>
              <a:rPr lang="en-US" dirty="0"/>
              <a:t>, </a:t>
            </a:r>
            <a:r>
              <a:rPr lang="en-US" b="1" dirty="0"/>
              <a:t>Time Zone</a:t>
            </a:r>
            <a:r>
              <a:rPr lang="en-US" dirty="0"/>
              <a:t>, and </a:t>
            </a:r>
            <a:r>
              <a:rPr lang="en-US" b="1" dirty="0"/>
              <a:t>Currency</a:t>
            </a:r>
            <a:r>
              <a:rPr lang="en-US" dirty="0"/>
              <a:t>. </a:t>
            </a:r>
          </a:p>
          <a:p>
            <a:pPr lvl="1"/>
            <a:r>
              <a:rPr lang="en-US" dirty="0"/>
              <a:t>Click </a:t>
            </a:r>
            <a:r>
              <a:rPr lang="en-US" b="1" dirty="0"/>
              <a:t>Next</a:t>
            </a:r>
            <a:r>
              <a:rPr lang="en-US" dirty="0"/>
              <a:t> to continue.</a:t>
            </a:r>
          </a:p>
          <a:p>
            <a:endParaRPr lang="en-US" dirty="0"/>
          </a:p>
        </p:txBody>
      </p:sp>
      <p:pic>
        <p:nvPicPr>
          <p:cNvPr id="4" name="Picture 3" descr="How to Set Up Google Analytics 4 (GA4) for Your Online Course Website">
            <a:extLst>
              <a:ext uri="{FF2B5EF4-FFF2-40B4-BE49-F238E27FC236}">
                <a16:creationId xmlns:a16="http://schemas.microsoft.com/office/drawing/2014/main" id="{947315A1-0D32-465E-B47D-6296F313077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1692"/>
          <a:stretch>
            <a:fillRect/>
          </a:stretch>
        </p:blipFill>
        <p:spPr>
          <a:xfrm>
            <a:off x="5243363" y="711201"/>
            <a:ext cx="6817456" cy="5314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18294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39995A-2DA3-466C-8244-DA7AF97D3A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Setup and Configuration (Continue…)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C114A6-04BE-40AB-9BC1-2E3BD5699A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1" y="863444"/>
            <a:ext cx="4986252" cy="5590565"/>
          </a:xfrm>
        </p:spPr>
        <p:txBody>
          <a:bodyPr/>
          <a:lstStyle/>
          <a:p>
            <a:r>
              <a:rPr lang="en-US" b="1" dirty="0"/>
              <a:t>Step 2: Business Details</a:t>
            </a:r>
          </a:p>
          <a:p>
            <a:pPr lvl="1"/>
            <a:r>
              <a:rPr lang="en-US" dirty="0"/>
              <a:t>Answer the required business information questions. </a:t>
            </a:r>
          </a:p>
          <a:p>
            <a:pPr lvl="1"/>
            <a:r>
              <a:rPr lang="en-US" dirty="0"/>
              <a:t>Select </a:t>
            </a:r>
            <a:r>
              <a:rPr lang="en-US" b="1" dirty="0"/>
              <a:t>Get Baseline Reports</a:t>
            </a:r>
            <a:r>
              <a:rPr lang="en-US" dirty="0"/>
              <a:t> as the business objective. </a:t>
            </a:r>
          </a:p>
          <a:p>
            <a:pPr lvl="1"/>
            <a:r>
              <a:rPr lang="en-US" dirty="0"/>
              <a:t>Click </a:t>
            </a:r>
            <a:r>
              <a:rPr lang="en-US" b="1" dirty="0"/>
              <a:t>Create</a:t>
            </a:r>
            <a:r>
              <a:rPr lang="en-US" dirty="0"/>
              <a:t> to finish property creation.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585F117-072D-4CF7-8396-AC806DAF76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54264" y="3764487"/>
            <a:ext cx="5133975" cy="211455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8230221-7BBA-4C8B-9711-05247B7390D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7769" y="711201"/>
            <a:ext cx="5353050" cy="3190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29997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8CBC16-06BE-4CDF-8A94-3860D7A290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Setup and Configuration (Continue…)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DAD6E5-836F-4758-8B08-FB258B59BE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Step 3: Create a Data Stream</a:t>
            </a:r>
          </a:p>
          <a:p>
            <a:pPr lvl="1"/>
            <a:r>
              <a:rPr lang="en-US" dirty="0"/>
              <a:t>Click </a:t>
            </a:r>
            <a:r>
              <a:rPr lang="en-US" b="1" dirty="0"/>
              <a:t>Add Data Stream</a:t>
            </a:r>
            <a:r>
              <a:rPr lang="en-US" dirty="0"/>
              <a:t> and choose </a:t>
            </a:r>
            <a:r>
              <a:rPr lang="en-US" b="1" dirty="0"/>
              <a:t>Web</a:t>
            </a:r>
            <a:r>
              <a:rPr lang="en-US" dirty="0"/>
              <a:t>. </a:t>
            </a:r>
          </a:p>
          <a:p>
            <a:pPr lvl="1"/>
            <a:r>
              <a:rPr lang="en-US" dirty="0"/>
              <a:t>A </a:t>
            </a:r>
            <a:r>
              <a:rPr lang="en-US" b="1" dirty="0"/>
              <a:t>Data Stream</a:t>
            </a:r>
            <a:r>
              <a:rPr lang="en-US" dirty="0"/>
              <a:t> collects website or app data. </a:t>
            </a:r>
          </a:p>
          <a:p>
            <a:pPr lvl="1"/>
            <a:r>
              <a:rPr lang="en-US" dirty="0"/>
              <a:t>One </a:t>
            </a:r>
            <a:r>
              <a:rPr lang="en-US" b="1" dirty="0"/>
              <a:t>Web Data Stream</a:t>
            </a:r>
            <a:r>
              <a:rPr lang="en-US" dirty="0"/>
              <a:t> is enough for most websites.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0DA756D-FCD8-4E1F-83D8-9327D6ABED8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32" b="13048"/>
          <a:stretch/>
        </p:blipFill>
        <p:spPr>
          <a:xfrm>
            <a:off x="318523" y="3192379"/>
            <a:ext cx="10098245" cy="3261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28796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8CBC16-06BE-4CDF-8A94-3860D7A290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Setup and Configuration (Continue…)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DAD6E5-836F-4758-8B08-FB258B59BE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Step 4: Enter Website Details</a:t>
            </a:r>
          </a:p>
          <a:p>
            <a:r>
              <a:rPr lang="en-US" dirty="0"/>
              <a:t>Enter your </a:t>
            </a:r>
            <a:r>
              <a:rPr lang="en-US" b="1" dirty="0"/>
              <a:t>Website URL</a:t>
            </a:r>
            <a:r>
              <a:rPr lang="en-US" dirty="0"/>
              <a:t>. </a:t>
            </a:r>
          </a:p>
          <a:p>
            <a:r>
              <a:rPr lang="en-US" dirty="0"/>
              <a:t>Type your </a:t>
            </a:r>
            <a:r>
              <a:rPr lang="en-US" b="1" dirty="0"/>
              <a:t>Website Name</a:t>
            </a:r>
            <a:r>
              <a:rPr lang="en-US" dirty="0"/>
              <a:t>. </a:t>
            </a:r>
          </a:p>
          <a:p>
            <a:r>
              <a:rPr lang="en-US" dirty="0"/>
              <a:t>Keep </a:t>
            </a:r>
            <a:r>
              <a:rPr lang="en-US" b="1" dirty="0"/>
              <a:t>Enhanced Measurement</a:t>
            </a:r>
            <a:r>
              <a:rPr lang="en-US" dirty="0"/>
              <a:t> enabled for automatic tracking.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22692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8CBC16-06BE-4CDF-8A94-3860D7A290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Setup and Configuration (Continue…)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DAD6E5-836F-4758-8B08-FB258B59BE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5178757" cy="5590565"/>
          </a:xfrm>
        </p:spPr>
        <p:txBody>
          <a:bodyPr/>
          <a:lstStyle/>
          <a:p>
            <a:pPr algn="l"/>
            <a:r>
              <a:rPr lang="en-US" b="1" dirty="0"/>
              <a:t>Step 5: Enable Enhanced Measurement</a:t>
            </a:r>
          </a:p>
          <a:p>
            <a:pPr lvl="1" algn="l"/>
            <a:r>
              <a:rPr lang="en-US" dirty="0"/>
              <a:t>Automatically tracks </a:t>
            </a:r>
            <a:r>
              <a:rPr lang="en-US" b="1" dirty="0"/>
              <a:t>Page Views, Scrolls, Clicks, File Downloads, and Video Engagement</a:t>
            </a:r>
            <a:r>
              <a:rPr lang="en-US" dirty="0"/>
              <a:t>. </a:t>
            </a:r>
          </a:p>
          <a:p>
            <a:pPr lvl="1" algn="l"/>
            <a:r>
              <a:rPr lang="en-US" dirty="0"/>
              <a:t>No coding is required for these basic events.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53F77EC-7E88-4664-B564-F810F10BEE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5109" y="711201"/>
            <a:ext cx="5465711" cy="5742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23629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A3185F-A082-44EF-97ED-F8D314FE13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Setup and Configuration (Continue…)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33CC1A-A9CA-4AF8-B63E-642B0635EE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Step 6: Get the Measurement ID</a:t>
            </a:r>
          </a:p>
          <a:p>
            <a:pPr lvl="1"/>
            <a:r>
              <a:rPr lang="en-US" dirty="0"/>
              <a:t>After creating the data stream, GA4 generates a </a:t>
            </a:r>
            <a:r>
              <a:rPr lang="en-US" b="1" dirty="0"/>
              <a:t>Measurement ID</a:t>
            </a:r>
            <a:r>
              <a:rPr lang="en-US" dirty="0"/>
              <a:t>. </a:t>
            </a:r>
          </a:p>
          <a:p>
            <a:pPr lvl="1"/>
            <a:r>
              <a:rPr lang="en-US" dirty="0"/>
              <a:t>The ID format is </a:t>
            </a:r>
            <a:r>
              <a:rPr lang="en-US" b="1" dirty="0"/>
              <a:t>G-XXXXXXXXXX</a:t>
            </a:r>
            <a:r>
              <a:rPr lang="en-US" dirty="0"/>
              <a:t>. </a:t>
            </a:r>
          </a:p>
          <a:p>
            <a:pPr lvl="1"/>
            <a:r>
              <a:rPr lang="en-US" dirty="0"/>
              <a:t>Copy the </a:t>
            </a:r>
            <a:r>
              <a:rPr lang="en-US" b="1" dirty="0"/>
              <a:t>Measurement ID</a:t>
            </a:r>
            <a:r>
              <a:rPr lang="en-US" dirty="0"/>
              <a:t> for future use. </a:t>
            </a:r>
          </a:p>
          <a:p>
            <a:pPr lvl="1"/>
            <a:endParaRPr lang="en-US" dirty="0"/>
          </a:p>
          <a:p>
            <a:r>
              <a:rPr lang="en-US" b="1" dirty="0"/>
              <a:t>Step 7: Use the Measurement ID</a:t>
            </a:r>
          </a:p>
          <a:p>
            <a:pPr lvl="1"/>
            <a:r>
              <a:rPr lang="en-US" dirty="0"/>
              <a:t>Add the </a:t>
            </a:r>
            <a:r>
              <a:rPr lang="en-US" b="1" dirty="0"/>
              <a:t>Measurement ID</a:t>
            </a:r>
            <a:r>
              <a:rPr lang="en-US" dirty="0"/>
              <a:t> in </a:t>
            </a:r>
            <a:r>
              <a:rPr lang="en-US" b="1" dirty="0"/>
              <a:t>Google Tag Manager (GTM)</a:t>
            </a:r>
            <a:r>
              <a:rPr lang="en-US" dirty="0"/>
              <a:t>. </a:t>
            </a:r>
          </a:p>
          <a:p>
            <a:pPr lvl="1"/>
            <a:r>
              <a:rPr lang="en-US" dirty="0"/>
              <a:t>It tells GTM where to send your website data. </a:t>
            </a:r>
          </a:p>
          <a:p>
            <a:pPr lvl="1"/>
            <a:r>
              <a:rPr lang="en-US" dirty="0"/>
              <a:t>Use the same Measurement ID for all GA4 tracking tags.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4703954-591D-4675-9785-088E8E0DAE0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5362"/>
          <a:stretch/>
        </p:blipFill>
        <p:spPr>
          <a:xfrm>
            <a:off x="1306560" y="4491368"/>
            <a:ext cx="8659024" cy="1778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01495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FD214A-11B7-420F-B796-F6537E6C25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Goal Setting &amp; Conversion tracking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0DF419-C140-4AEC-8438-C15897B433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What is Goal Setting?</a:t>
            </a:r>
          </a:p>
          <a:p>
            <a:pPr lvl="1"/>
            <a:r>
              <a:rPr lang="en-US" dirty="0"/>
              <a:t>Goal setting defines the actions you want users to complete. </a:t>
            </a:r>
          </a:p>
          <a:p>
            <a:pPr lvl="1"/>
            <a:r>
              <a:rPr lang="en-US" dirty="0"/>
              <a:t>In GA4, goals are tracked as </a:t>
            </a:r>
            <a:r>
              <a:rPr lang="en-US" b="1" dirty="0"/>
              <a:t>Conversions</a:t>
            </a:r>
            <a:r>
              <a:rPr lang="en-US" dirty="0"/>
              <a:t>. </a:t>
            </a:r>
          </a:p>
          <a:p>
            <a:pPr lvl="1"/>
            <a:r>
              <a:rPr lang="en-US" dirty="0"/>
              <a:t>Goals help measure business success.</a:t>
            </a:r>
          </a:p>
          <a:p>
            <a:pPr marL="457200" lvl="1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Types of Business Goals</a:t>
            </a:r>
          </a:p>
          <a:p>
            <a:pPr lvl="1"/>
            <a:r>
              <a:rPr lang="en-US" dirty="0"/>
              <a:t>Increase product sales. </a:t>
            </a:r>
          </a:p>
          <a:p>
            <a:pPr lvl="1"/>
            <a:r>
              <a:rPr lang="en-US" dirty="0"/>
              <a:t>Generate quality leads. </a:t>
            </a:r>
          </a:p>
          <a:p>
            <a:pPr lvl="1"/>
            <a:r>
              <a:rPr lang="en-US" dirty="0"/>
              <a:t>Increase website registrations. </a:t>
            </a:r>
          </a:p>
          <a:p>
            <a:pPr lvl="1"/>
            <a:r>
              <a:rPr lang="en-US" dirty="0"/>
              <a:t>Grow newsletter subscribers. </a:t>
            </a:r>
          </a:p>
          <a:p>
            <a:pPr lvl="1"/>
            <a:r>
              <a:rPr lang="en-US" dirty="0"/>
              <a:t>Increase file downloads. </a:t>
            </a:r>
          </a:p>
          <a:p>
            <a:pPr lvl="1"/>
            <a:r>
              <a:rPr lang="en-US" dirty="0"/>
              <a:t>Improve customer engagement.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50983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06EFBF-03B2-BAC5-8769-E2FFA83865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FEEA176-1A55-1ACD-E18E-9ED2272A75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04610" cy="5590565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What is a Conversion?</a:t>
            </a:r>
          </a:p>
          <a:p>
            <a:r>
              <a:rPr lang="en-US" dirty="0"/>
              <a:t>A conversion is a valuable action completed by a user. </a:t>
            </a:r>
          </a:p>
          <a:p>
            <a:r>
              <a:rPr lang="en-US" dirty="0"/>
              <a:t>It represents the achievement of a business goal. </a:t>
            </a:r>
          </a:p>
          <a:p>
            <a:r>
              <a:rPr lang="en-US" dirty="0"/>
              <a:t>Every business can define its own conversions.</a:t>
            </a:r>
          </a:p>
          <a:p>
            <a:r>
              <a:rPr lang="en-US" b="1" dirty="0"/>
              <a:t>Examples:</a:t>
            </a:r>
          </a:p>
          <a:p>
            <a:pPr lvl="1"/>
            <a:r>
              <a:rPr lang="en-US" b="1" dirty="0"/>
              <a:t> </a:t>
            </a:r>
            <a:r>
              <a:rPr lang="en-US" dirty="0"/>
              <a:t>Product Purchase, </a:t>
            </a:r>
          </a:p>
          <a:p>
            <a:pPr lvl="1"/>
            <a:r>
              <a:rPr lang="en-US" dirty="0"/>
              <a:t>User Registration, </a:t>
            </a:r>
          </a:p>
          <a:p>
            <a:pPr lvl="1"/>
            <a:r>
              <a:rPr lang="en-US" dirty="0"/>
              <a:t>Contact Form Submission, </a:t>
            </a:r>
          </a:p>
          <a:p>
            <a:pPr lvl="1"/>
            <a:r>
              <a:rPr lang="en-US" dirty="0"/>
              <a:t>Newsletter Subscription, </a:t>
            </a:r>
          </a:p>
          <a:p>
            <a:pPr lvl="1"/>
            <a:r>
              <a:rPr lang="en-US" dirty="0"/>
              <a:t>File Download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0CF9E5B-7351-F0E1-EBDA-52E2D207E8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Goal Setting &amp; Conversion tracking (Continue...) </a:t>
            </a:r>
          </a:p>
        </p:txBody>
      </p:sp>
    </p:spTree>
    <p:extLst>
      <p:ext uri="{BB962C8B-B14F-4D97-AF65-F5344CB8AC3E}">
        <p14:creationId xmlns:p14="http://schemas.microsoft.com/office/powerpoint/2010/main" val="10682702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965BBD-FA76-45EB-94E8-A6CD844474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Goal Setting &amp; Conversion tracking (Continue...)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B13A73-1424-466F-A6E3-60F8E7F550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What is Conversion Tracking?</a:t>
            </a:r>
          </a:p>
          <a:p>
            <a:r>
              <a:rPr lang="en-US" dirty="0"/>
              <a:t>Conversion tracking measures important user actions on a website. </a:t>
            </a:r>
          </a:p>
          <a:p>
            <a:r>
              <a:rPr lang="en-US" dirty="0"/>
              <a:t>It helps check whether marketing campaigns are successful. </a:t>
            </a:r>
          </a:p>
          <a:p>
            <a:r>
              <a:rPr lang="en-US" dirty="0"/>
              <a:t>It shows how visitors achieve business objectives.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87828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A38A5F-B3F8-8562-4CAB-C4A5BD67F0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B71535D-47D3-0A75-0B77-170E84ED9B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04610" cy="5590565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How Conversion Tracking Works?</a:t>
            </a:r>
          </a:p>
          <a:p>
            <a:pPr lvl="1"/>
            <a:r>
              <a:rPr lang="en-US" dirty="0"/>
              <a:t>User visits the website. </a:t>
            </a:r>
          </a:p>
          <a:p>
            <a:pPr lvl="1"/>
            <a:r>
              <a:rPr lang="en-US" dirty="0"/>
              <a:t>User performs an important action. </a:t>
            </a:r>
          </a:p>
          <a:p>
            <a:pPr lvl="1"/>
            <a:r>
              <a:rPr lang="en-US" dirty="0"/>
              <a:t>GA4 records the action as an event. </a:t>
            </a:r>
          </a:p>
          <a:p>
            <a:pPr lvl="1"/>
            <a:r>
              <a:rPr lang="en-US" dirty="0"/>
              <a:t>The event is marked as a conversion. </a:t>
            </a:r>
          </a:p>
          <a:p>
            <a:pPr lvl="1"/>
            <a:r>
              <a:rPr lang="en-US" dirty="0"/>
              <a:t>Conversion data appears in GA4 reports.</a:t>
            </a:r>
          </a:p>
          <a:p>
            <a:pPr marL="0" indent="0">
              <a:buNone/>
            </a:pPr>
            <a:r>
              <a:rPr lang="en-US" b="1" dirty="0"/>
              <a:t>Steps to Set Up Conversion Tracking</a:t>
            </a:r>
          </a:p>
          <a:p>
            <a:pPr lvl="1"/>
            <a:r>
              <a:rPr lang="en-US" dirty="0"/>
              <a:t>Create or identify an event. </a:t>
            </a:r>
          </a:p>
          <a:p>
            <a:pPr lvl="1"/>
            <a:r>
              <a:rPr lang="en-US" dirty="0"/>
              <a:t>Open </a:t>
            </a:r>
            <a:r>
              <a:rPr lang="en-US" b="1" dirty="0"/>
              <a:t>Admin → Events</a:t>
            </a:r>
            <a:r>
              <a:rPr lang="en-US" dirty="0"/>
              <a:t>. </a:t>
            </a:r>
          </a:p>
          <a:p>
            <a:pPr lvl="1"/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6183B5C-ADD8-78A9-979A-0566D09E5B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Goal Setting &amp; Conversion tracking (Continue...)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032E356-296D-4141-97B7-5331E3CE7D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9174" y="1022212"/>
            <a:ext cx="2762451" cy="354211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BF9D189-B5F7-43F8-8FE7-C80108C776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79812" y="592235"/>
            <a:ext cx="4214225" cy="508298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E4ADD49A-EE99-4BE9-9B64-8B1EF63AD7AA}"/>
              </a:ext>
            </a:extLst>
          </p:cNvPr>
          <p:cNvSpPr/>
          <p:nvPr/>
        </p:nvSpPr>
        <p:spPr>
          <a:xfrm>
            <a:off x="6267247" y="4224459"/>
            <a:ext cx="914602" cy="339864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2F4836A-1E1A-49E8-BBEB-A3A48EB904F9}"/>
              </a:ext>
            </a:extLst>
          </p:cNvPr>
          <p:cNvSpPr/>
          <p:nvPr/>
        </p:nvSpPr>
        <p:spPr>
          <a:xfrm>
            <a:off x="8134147" y="1413278"/>
            <a:ext cx="914602" cy="339864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12298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A38A5F-B3F8-8562-4CAB-C4A5BD67F0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B71535D-47D3-0A75-0B77-170E84ED9B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04610" cy="5590565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Steps to Set Up Conversion Tracking</a:t>
            </a:r>
          </a:p>
          <a:p>
            <a:pPr lvl="1"/>
            <a:r>
              <a:rPr lang="en-US" dirty="0"/>
              <a:t>Create event</a:t>
            </a:r>
          </a:p>
          <a:p>
            <a:pPr lvl="1"/>
            <a:r>
              <a:rPr lang="en-US" dirty="0"/>
              <a:t>Name the event e.g. </a:t>
            </a:r>
            <a:r>
              <a:rPr lang="en-US" dirty="0" err="1"/>
              <a:t>Page_View</a:t>
            </a:r>
            <a:endParaRPr lang="en-US" dirty="0"/>
          </a:p>
          <a:p>
            <a:pPr lvl="1"/>
            <a:r>
              <a:rPr lang="en-US" dirty="0"/>
              <a:t>Enter the URL that need to be track. </a:t>
            </a:r>
          </a:p>
          <a:p>
            <a:pPr lvl="1"/>
            <a:r>
              <a:rPr lang="en-US" dirty="0"/>
              <a:t>Click on create. 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6183B5C-ADD8-78A9-979A-0566D09E5B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Goal Setting &amp; Conversion tracking (Continue...)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054172F-2357-4D41-8967-F7516FB791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8825" y="794383"/>
            <a:ext cx="3905250" cy="314151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2596726-287B-4483-9A61-CD4163EA7C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9578" y="711201"/>
            <a:ext cx="6572642" cy="4801978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2794BCF4-2C88-4B4F-83DA-AC97E9753D57}"/>
              </a:ext>
            </a:extLst>
          </p:cNvPr>
          <p:cNvSpPr/>
          <p:nvPr/>
        </p:nvSpPr>
        <p:spPr>
          <a:xfrm>
            <a:off x="6096001" y="1252469"/>
            <a:ext cx="2524124" cy="339864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77A7EDE-64A2-40B4-9D74-32FE4BD5F7AF}"/>
              </a:ext>
            </a:extLst>
          </p:cNvPr>
          <p:cNvSpPr/>
          <p:nvPr/>
        </p:nvSpPr>
        <p:spPr>
          <a:xfrm>
            <a:off x="6467272" y="5091044"/>
            <a:ext cx="2307228" cy="339864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77882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</p:bldLst>
  </p:timing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C83EA9-27EA-B580-B317-827FD5081C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FBBF55B-E92B-56DD-34F4-CA726E796D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04610" cy="5590565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Benefits of Conversion Tracking</a:t>
            </a:r>
          </a:p>
          <a:p>
            <a:r>
              <a:rPr lang="en-US" dirty="0"/>
              <a:t>Measures marketing performance. </a:t>
            </a:r>
          </a:p>
          <a:p>
            <a:r>
              <a:rPr lang="en-US" dirty="0"/>
              <a:t>Tracks business goals accurately. </a:t>
            </a:r>
          </a:p>
          <a:p>
            <a:r>
              <a:rPr lang="en-US" dirty="0"/>
              <a:t>Identifies successful campaigns. </a:t>
            </a:r>
          </a:p>
          <a:p>
            <a:r>
              <a:rPr lang="en-US" dirty="0"/>
              <a:t>Improves website performance. </a:t>
            </a:r>
          </a:p>
          <a:p>
            <a:r>
              <a:rPr lang="en-US" dirty="0"/>
              <a:t>Helps increase ROI.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730269D-5348-CBA7-67DE-EC85BF52D2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Goal Setting &amp; Conversion tracking (Continue...) </a:t>
            </a:r>
          </a:p>
        </p:txBody>
      </p:sp>
    </p:spTree>
    <p:extLst>
      <p:ext uri="{BB962C8B-B14F-4D97-AF65-F5344CB8AC3E}">
        <p14:creationId xmlns:p14="http://schemas.microsoft.com/office/powerpoint/2010/main" val="2279795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DA3B93-D2A8-4C0C-9CE7-D0C9D51490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Metrics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740F51-8150-4742-BECF-6FC2DAF52A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6186314"/>
      </p:ext>
    </p:extLst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41E7950-759F-4B6C-8F0F-6BC29BE231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These metrics are essential for </a:t>
            </a:r>
            <a:r>
              <a:rPr lang="en-US" b="1" dirty="0"/>
              <a:t>understanding website performance</a:t>
            </a:r>
            <a:r>
              <a:rPr lang="en-US" dirty="0"/>
              <a:t> and user </a:t>
            </a:r>
            <a:r>
              <a:rPr lang="en-US" dirty="0" err="1"/>
              <a:t>behaviour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Unique visitors</a:t>
            </a:r>
          </a:p>
          <a:p>
            <a:pPr lvl="1"/>
            <a:r>
              <a:rPr lang="en-US" dirty="0"/>
              <a:t>Pageviews</a:t>
            </a:r>
          </a:p>
          <a:p>
            <a:pPr lvl="1"/>
            <a:r>
              <a:rPr lang="en-US" dirty="0"/>
              <a:t>Pages/visit</a:t>
            </a:r>
          </a:p>
          <a:p>
            <a:pPr lvl="1"/>
            <a:r>
              <a:rPr lang="en-US" dirty="0"/>
              <a:t>Avg Visit Duration</a:t>
            </a:r>
          </a:p>
          <a:p>
            <a:pPr lvl="1"/>
            <a:r>
              <a:rPr lang="en-US" dirty="0"/>
              <a:t>Bounce rate</a:t>
            </a:r>
          </a:p>
          <a:p>
            <a:pPr lvl="1"/>
            <a:r>
              <a:rPr lang="en-US" dirty="0"/>
              <a:t>New visits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8D9149C-CA91-4772-93BB-A215D868CF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Key Metrics</a:t>
            </a:r>
          </a:p>
        </p:txBody>
      </p:sp>
      <p:pic>
        <p:nvPicPr>
          <p:cNvPr id="4" name="Picture 2" descr="What are Unique Visitors - Unique Visitor Definition">
            <a:extLst>
              <a:ext uri="{FF2B5EF4-FFF2-40B4-BE49-F238E27FC236}">
                <a16:creationId xmlns:a16="http://schemas.microsoft.com/office/drawing/2014/main" id="{D557F0A2-E546-46B7-992D-512150B0EB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973245" y="1885949"/>
            <a:ext cx="7097526" cy="35342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206081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0C5E7EB-EC82-4E32-AF1E-BF8E749B92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represents the </a:t>
            </a:r>
            <a:r>
              <a:rPr lang="en-US" b="1" dirty="0"/>
              <a:t>total number of unique individuals </a:t>
            </a:r>
            <a:r>
              <a:rPr lang="en-US" dirty="0"/>
              <a:t>who visited your website during a specific time period. </a:t>
            </a:r>
          </a:p>
          <a:p>
            <a:r>
              <a:rPr lang="en-US" dirty="0"/>
              <a:t>It’s a measure of </a:t>
            </a:r>
            <a:r>
              <a:rPr lang="en-US" b="1" dirty="0"/>
              <a:t>how many different people</a:t>
            </a:r>
            <a:r>
              <a:rPr lang="en-US" dirty="0"/>
              <a:t> interacted with your site.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E51DDD7-8DE5-4E2E-9840-B5D5C621B1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Key Metrics: Unique Visitors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FA2A8209-350E-4EB2-8612-6F53DB85B7FE}"/>
              </a:ext>
            </a:extLst>
          </p:cNvPr>
          <p:cNvGrpSpPr/>
          <p:nvPr/>
        </p:nvGrpSpPr>
        <p:grpSpPr>
          <a:xfrm>
            <a:off x="5337010" y="2891683"/>
            <a:ext cx="3920005" cy="2085982"/>
            <a:chOff x="5337010" y="2891683"/>
            <a:chExt cx="3920005" cy="2085982"/>
          </a:xfrm>
        </p:grpSpPr>
        <p:pic>
          <p:nvPicPr>
            <p:cNvPr id="5" name="Picture 2" descr="What is 'Unique Visitors' | How to Use the Unique Visitors Metric">
              <a:extLst>
                <a:ext uri="{FF2B5EF4-FFF2-40B4-BE49-F238E27FC236}">
                  <a16:creationId xmlns:a16="http://schemas.microsoft.com/office/drawing/2014/main" id="{919553D0-60F5-444F-8CE8-EB3C7CB1C860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 bwMode="auto">
            <a:xfrm>
              <a:off x="5337010" y="2891683"/>
              <a:ext cx="3667980" cy="208598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421BE5FC-9D45-4A60-9C59-DB1DB6E05684}"/>
                </a:ext>
              </a:extLst>
            </p:cNvPr>
            <p:cNvSpPr/>
            <p:nvPr/>
          </p:nvSpPr>
          <p:spPr>
            <a:xfrm>
              <a:off x="8393986" y="4265914"/>
              <a:ext cx="863029" cy="460198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7" name="Picture 4" descr="Unique Website Visitors: Understanding Your Audience | Learn with Diib®">
            <a:extLst>
              <a:ext uri="{FF2B5EF4-FFF2-40B4-BE49-F238E27FC236}">
                <a16:creationId xmlns:a16="http://schemas.microsoft.com/office/drawing/2014/main" id="{C7C8A22F-F2CA-40B5-958C-E8BE9E14994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email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6843" b="89956" l="9945" r="90166">
                        <a14:foregroundMark x1="56685" y1="7064" x2="56685" y2="7064"/>
                        <a14:foregroundMark x1="66630" y1="12583" x2="66630" y2="12583"/>
                        <a14:foregroundMark x1="62541" y1="61921" x2="62541" y2="61921"/>
                        <a14:foregroundMark x1="41215" y1="76711" x2="41215" y2="76711"/>
                        <a14:foregroundMark x1="45967" y1="85872" x2="45967" y2="85872"/>
                        <a14:foregroundMark x1="72155" y1="78146" x2="72155" y2="78146"/>
                        <a14:foregroundMark x1="90166" y1="67439" x2="90166" y2="67439"/>
                        <a14:foregroundMark x1="60000" y1="72296" x2="60000" y2="72296"/>
                        <a14:foregroundMark x1="85746" y1="19978" x2="85746" y2="19978"/>
                        <a14:foregroundMark x1="59558" y1="82561" x2="59558" y2="82561"/>
                        <a14:foregroundMark x1="46298" y1="86203" x2="46298" y2="8620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1585412" y="2653198"/>
            <a:ext cx="3284539" cy="32870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734004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0C5E7EB-EC82-4E32-AF1E-BF8E749B92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Pageviews</a:t>
            </a:r>
            <a:r>
              <a:rPr lang="en-US" dirty="0"/>
              <a:t> indicate the </a:t>
            </a:r>
            <a:r>
              <a:rPr lang="en-US" b="1" dirty="0"/>
              <a:t>total number of times</a:t>
            </a:r>
            <a:r>
              <a:rPr lang="en-US" dirty="0"/>
              <a:t> any page on your website was </a:t>
            </a:r>
            <a:r>
              <a:rPr lang="en-US" b="1" dirty="0"/>
              <a:t>viewed.</a:t>
            </a:r>
            <a:r>
              <a:rPr lang="en-US" dirty="0"/>
              <a:t> </a:t>
            </a:r>
          </a:p>
          <a:p>
            <a:r>
              <a:rPr lang="en-US" dirty="0"/>
              <a:t>If a user </a:t>
            </a:r>
            <a:r>
              <a:rPr lang="en-US" b="1" dirty="0"/>
              <a:t>reloads</a:t>
            </a:r>
            <a:r>
              <a:rPr lang="en-US" dirty="0"/>
              <a:t> a page or visits it </a:t>
            </a:r>
            <a:r>
              <a:rPr lang="en-US" b="1" dirty="0"/>
              <a:t>multiple times,</a:t>
            </a:r>
            <a:r>
              <a:rPr lang="en-US" dirty="0"/>
              <a:t> each view counts as a separate pageview.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E51DDD7-8DE5-4E2E-9840-B5D5C621B1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Key Metrics: Pageviews</a:t>
            </a:r>
          </a:p>
        </p:txBody>
      </p:sp>
      <p:pic>
        <p:nvPicPr>
          <p:cNvPr id="4" name="Picture 2" descr="What are Pageviews? Definition and Explanation - Seobility Wiki">
            <a:extLst>
              <a:ext uri="{FF2B5EF4-FFF2-40B4-BE49-F238E27FC236}">
                <a16:creationId xmlns:a16="http://schemas.microsoft.com/office/drawing/2014/main" id="{098B6A18-550C-4B0C-B615-67A06D0A932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4915" t="25917" r="4538" b="22247"/>
          <a:stretch/>
        </p:blipFill>
        <p:spPr bwMode="auto">
          <a:xfrm>
            <a:off x="2594224" y="2632024"/>
            <a:ext cx="7003551" cy="30290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018255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0C5E7EB-EC82-4E32-AF1E-BF8E749B92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metric reveals the </a:t>
            </a:r>
            <a:r>
              <a:rPr lang="en-US" b="1" dirty="0"/>
              <a:t>average number of pages</a:t>
            </a:r>
            <a:r>
              <a:rPr lang="en-US" dirty="0"/>
              <a:t> a visitor views during a single session. </a:t>
            </a:r>
          </a:p>
          <a:p>
            <a:r>
              <a:rPr lang="en-US" b="1" dirty="0"/>
              <a:t>Higher values suggest better engagement </a:t>
            </a:r>
            <a:r>
              <a:rPr lang="en-US" dirty="0"/>
              <a:t>and exploration of your content.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E51DDD7-8DE5-4E2E-9840-B5D5C621B1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Key Metrics: Pages/Visit</a:t>
            </a:r>
          </a:p>
        </p:txBody>
      </p:sp>
      <p:pic>
        <p:nvPicPr>
          <p:cNvPr id="4" name="Picture 2" descr="What are Pageviews in Google Analytics?">
            <a:extLst>
              <a:ext uri="{FF2B5EF4-FFF2-40B4-BE49-F238E27FC236}">
                <a16:creationId xmlns:a16="http://schemas.microsoft.com/office/drawing/2014/main" id="{409C7FCF-6BF6-4C7D-9339-84B8C24B997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2179933" y="3297688"/>
            <a:ext cx="7832133" cy="1174104"/>
          </a:xfrm>
          <a:prstGeom prst="rect">
            <a:avLst/>
          </a:prstGeom>
          <a:noFill/>
          <a:ln>
            <a:solidFill>
              <a:schemeClr val="accent6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028362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0C5E7EB-EC82-4E32-AF1E-BF8E749B92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measures the </a:t>
            </a:r>
            <a:r>
              <a:rPr lang="en-US" b="1" dirty="0"/>
              <a:t>average time visitors spend</a:t>
            </a:r>
            <a:r>
              <a:rPr lang="en-US" dirty="0"/>
              <a:t> on your site during a </a:t>
            </a:r>
            <a:r>
              <a:rPr lang="en-US" b="1" dirty="0"/>
              <a:t>session. </a:t>
            </a:r>
          </a:p>
          <a:p>
            <a:r>
              <a:rPr lang="en-US" b="1" dirty="0"/>
              <a:t>Longer durations </a:t>
            </a:r>
            <a:r>
              <a:rPr lang="en-US" dirty="0"/>
              <a:t>often indicate </a:t>
            </a:r>
            <a:r>
              <a:rPr lang="en-US" b="1" dirty="0"/>
              <a:t>more engaging </a:t>
            </a:r>
            <a:r>
              <a:rPr lang="en-US" dirty="0"/>
              <a:t>content.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E51DDD7-8DE5-4E2E-9840-B5D5C621B1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Key Metrics: Average Visit Duration</a:t>
            </a:r>
          </a:p>
        </p:txBody>
      </p:sp>
      <p:pic>
        <p:nvPicPr>
          <p:cNvPr id="4" name="Picture 2" descr="Average session duration concept icon Royalty Free Vector">
            <a:extLst>
              <a:ext uri="{FF2B5EF4-FFF2-40B4-BE49-F238E27FC236}">
                <a16:creationId xmlns:a16="http://schemas.microsoft.com/office/drawing/2014/main" id="{2D67A88C-A685-46DD-A454-0A790431B95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email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4413376" y="2167848"/>
            <a:ext cx="3365247" cy="39972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921805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0C5E7EB-EC82-4E32-AF1E-BF8E749B92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Bounce rate</a:t>
            </a:r>
            <a:r>
              <a:rPr lang="en-US" dirty="0"/>
              <a:t> represents the </a:t>
            </a:r>
            <a:r>
              <a:rPr lang="en-US" b="1" dirty="0"/>
              <a:t>percentage of visitors who leave </a:t>
            </a:r>
            <a:r>
              <a:rPr lang="en-US" dirty="0"/>
              <a:t>your site after viewing </a:t>
            </a:r>
            <a:r>
              <a:rPr lang="en-US" b="1" dirty="0"/>
              <a:t>only one page. </a:t>
            </a:r>
          </a:p>
          <a:p>
            <a:r>
              <a:rPr lang="en-US" b="1" dirty="0"/>
              <a:t>Lower bounce </a:t>
            </a:r>
            <a:r>
              <a:rPr lang="en-US" dirty="0"/>
              <a:t>rates are generally desirable.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E51DDD7-8DE5-4E2E-9840-B5D5C621B1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Key Metrics: Bounce Rate</a:t>
            </a:r>
          </a:p>
        </p:txBody>
      </p:sp>
      <p:pic>
        <p:nvPicPr>
          <p:cNvPr id="4" name="Picture 2" descr="Bounce Rate - Definition and ways to reduce it - Seobility Wiki">
            <a:extLst>
              <a:ext uri="{FF2B5EF4-FFF2-40B4-BE49-F238E27FC236}">
                <a16:creationId xmlns:a16="http://schemas.microsoft.com/office/drawing/2014/main" id="{6A73A745-B9F6-4D88-A9FE-6B576F466A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535568" y="2475434"/>
            <a:ext cx="5120864" cy="38688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559867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9C63F00-421C-4FF9-A1CA-31EBBEE39F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percentage or </a:t>
            </a:r>
            <a:r>
              <a:rPr lang="en-US" b="1" dirty="0"/>
              <a:t>number of visitors</a:t>
            </a:r>
            <a:r>
              <a:rPr lang="en-US" dirty="0"/>
              <a:t> who are accessing your site for the </a:t>
            </a:r>
            <a:r>
              <a:rPr lang="en-US" b="1" dirty="0"/>
              <a:t>first time. </a:t>
            </a:r>
          </a:p>
          <a:p>
            <a:r>
              <a:rPr lang="en-US" dirty="0"/>
              <a:t>It’s useful for understanding how effective your site is at </a:t>
            </a:r>
            <a:r>
              <a:rPr lang="en-US" b="1" dirty="0"/>
              <a:t>attracting new audiences.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E1845DC-3A9C-4A85-A299-564C089A23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Key Metrics: New Visits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4EF3CC4-ED55-421C-A0F1-B237E5244E1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921" b="10319"/>
          <a:stretch/>
        </p:blipFill>
        <p:spPr>
          <a:xfrm>
            <a:off x="3204932" y="2569464"/>
            <a:ext cx="5055147" cy="3099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86690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Placeholder 9">
            <a:extLst>
              <a:ext uri="{FF2B5EF4-FFF2-40B4-BE49-F238E27FC236}">
                <a16:creationId xmlns:a16="http://schemas.microsoft.com/office/drawing/2014/main" id="{4F27F027-AAC9-4C88-B3AF-3C4A20BDDDA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180943" y="6175935"/>
            <a:ext cx="3735998" cy="290081"/>
          </a:xfrm>
        </p:spPr>
        <p:txBody>
          <a:bodyPr/>
          <a:lstStyle/>
          <a:p>
            <a:r>
              <a:rPr lang="en-US" dirty="0"/>
              <a:t>prashant.parmar@darshan.ac.in</a:t>
            </a:r>
          </a:p>
        </p:txBody>
      </p:sp>
      <p:sp>
        <p:nvSpPr>
          <p:cNvPr id="29" name="Text Placeholder 10">
            <a:extLst>
              <a:ext uri="{FF2B5EF4-FFF2-40B4-BE49-F238E27FC236}">
                <a16:creationId xmlns:a16="http://schemas.microsoft.com/office/drawing/2014/main" id="{59B646FF-BD32-4C5A-94AF-AC4347EADA2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183874" y="6460218"/>
            <a:ext cx="3735998" cy="290081"/>
          </a:xfrm>
        </p:spPr>
        <p:txBody>
          <a:bodyPr/>
          <a:lstStyle/>
          <a:p>
            <a:r>
              <a:rPr lang="en-US" dirty="0"/>
              <a:t>9586371604</a:t>
            </a:r>
          </a:p>
        </p:txBody>
      </p:sp>
      <p:sp>
        <p:nvSpPr>
          <p:cNvPr id="30" name="Text Placeholder 11">
            <a:extLst>
              <a:ext uri="{FF2B5EF4-FFF2-40B4-BE49-F238E27FC236}">
                <a16:creationId xmlns:a16="http://schemas.microsoft.com/office/drawing/2014/main" id="{915CF252-06A8-43C0-BB69-DA7109EA62D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37678" y="5537768"/>
            <a:ext cx="3735998" cy="290081"/>
          </a:xfrm>
        </p:spPr>
        <p:txBody>
          <a:bodyPr/>
          <a:lstStyle/>
          <a:p>
            <a:r>
              <a:rPr lang="en-US" dirty="0"/>
              <a:t>Darshan Institute of Management</a:t>
            </a:r>
          </a:p>
        </p:txBody>
      </p:sp>
      <p:sp>
        <p:nvSpPr>
          <p:cNvPr id="31" name="Text Placeholder 12">
            <a:extLst>
              <a:ext uri="{FF2B5EF4-FFF2-40B4-BE49-F238E27FC236}">
                <a16:creationId xmlns:a16="http://schemas.microsoft.com/office/drawing/2014/main" id="{89F5B5F8-350F-4941-B9DE-36BF8B01480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37677" y="5273332"/>
            <a:ext cx="5581039" cy="290081"/>
          </a:xfrm>
        </p:spPr>
        <p:txBody>
          <a:bodyPr/>
          <a:lstStyle/>
          <a:p>
            <a:r>
              <a:rPr lang="en-US" dirty="0"/>
              <a:t>Mr. Prashant Parmar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66A088E-6A21-9D52-EC85-F8EBD1B825F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622014" y="16125"/>
            <a:ext cx="4796701" cy="734653"/>
          </a:xfrm>
        </p:spPr>
        <p:txBody>
          <a:bodyPr/>
          <a:lstStyle/>
          <a:p>
            <a:r>
              <a:rPr lang="en-US" b="1" dirty="0"/>
              <a:t>Digital Marketing </a:t>
            </a:r>
            <a:r>
              <a:rPr lang="en-US" b="1" dirty="0">
                <a:latin typeface="Roboto Condensed Light" panose="02000000000000000000" pitchFamily="2" charset="0"/>
                <a:ea typeface="Roboto Condensed Light" panose="02000000000000000000" pitchFamily="2" charset="0"/>
              </a:rPr>
              <a:t>&amp; SEO</a:t>
            </a:r>
            <a:endParaRPr lang="en-US" dirty="0"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  <a:p>
            <a:r>
              <a:rPr lang="en-US" dirty="0">
                <a:latin typeface="Roboto Condensed Light" panose="02000000000000000000" pitchFamily="2" charset="0"/>
                <a:ea typeface="Roboto Condensed Light" panose="02000000000000000000" pitchFamily="2" charset="0"/>
              </a:rPr>
              <a:t>2504MN313 </a:t>
            </a:r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1EF6C89B-D841-4C17-8305-CF22BD758251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457" b="13457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3967651000"/>
      </p:ext>
    </p:extLst>
  </p:cSld>
  <p:clrMapOvr>
    <a:masterClrMapping/>
  </p:clrMapOvr>
</p:sld>
</file>

<file path=ppt/theme/theme1.xml><?xml version="1.0" encoding="utf-8"?>
<a:theme xmlns:a="http://schemas.openxmlformats.org/drawingml/2006/main" name="VIdeo Lecture 16x9 Light Template">
  <a:themeElements>
    <a:clrScheme name="Jay">
      <a:dk1>
        <a:srgbClr val="212121"/>
      </a:dk1>
      <a:lt1>
        <a:sysClr val="window" lastClr="FFFFFF"/>
      </a:lt1>
      <a:dk2>
        <a:srgbClr val="1D6FA9"/>
      </a:dk2>
      <a:lt2>
        <a:srgbClr val="FFFFFF"/>
      </a:lt2>
      <a:accent1>
        <a:srgbClr val="909090"/>
      </a:accent1>
      <a:accent2>
        <a:srgbClr val="00BBD3"/>
      </a:accent2>
      <a:accent3>
        <a:srgbClr val="8BC145"/>
      </a:accent3>
      <a:accent4>
        <a:srgbClr val="1D9A78"/>
      </a:accent4>
      <a:accent5>
        <a:srgbClr val="F19D19"/>
      </a:accent5>
      <a:accent6>
        <a:srgbClr val="B84742"/>
      </a:accent6>
      <a:hlink>
        <a:srgbClr val="70AD47"/>
      </a:hlink>
      <a:folHlink>
        <a:srgbClr val="ED7D31"/>
      </a:folHlink>
    </a:clrScheme>
    <a:fontScheme name="Custom 1">
      <a:majorFont>
        <a:latin typeface="Roboto Condensed"/>
        <a:ea typeface=""/>
        <a:cs typeface=""/>
      </a:majorFont>
      <a:minorFont>
        <a:latin typeface="Roboto Condense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2105CS412_CN_Unit_1_Basics of Computer Network" id="{776EB90B-736E-8E44-8980-C02A1963589B}" vid="{79FC096B-B13D-F047-BC14-878782FE51A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2105CS412_CN_Unit_1_Basics of Computer Network</Template>
  <TotalTime>14197</TotalTime>
  <Words>8071</Words>
  <Application>Microsoft Office PowerPoint</Application>
  <PresentationFormat>Widescreen</PresentationFormat>
  <Paragraphs>887</Paragraphs>
  <Slides>161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161</vt:i4>
      </vt:variant>
    </vt:vector>
  </HeadingPairs>
  <TitlesOfParts>
    <vt:vector size="168" baseType="lpstr">
      <vt:lpstr>Roboto Condensed Light</vt:lpstr>
      <vt:lpstr>Wingdings 3</vt:lpstr>
      <vt:lpstr>Roboto Condensed</vt:lpstr>
      <vt:lpstr>Wingdings</vt:lpstr>
      <vt:lpstr>Calibri</vt:lpstr>
      <vt:lpstr>Arial</vt:lpstr>
      <vt:lpstr>VIdeo Lecture 16x9 Light Template</vt:lpstr>
      <vt:lpstr>Unit-2   Digital Marketing Strategy, Channels &amp; Analytics   CO2: Understand Google Analytics 4 to monitor web traffic and multi-channel performance metrics. </vt:lpstr>
      <vt:lpstr>PowerPoint Presentation</vt:lpstr>
      <vt:lpstr>Digital Marketing Plan</vt:lpstr>
      <vt:lpstr>What is Digital Marketing Plan?</vt:lpstr>
      <vt:lpstr>What is Digital Marketing Plan?</vt:lpstr>
      <vt:lpstr>Digital Marketing Plan: Importance</vt:lpstr>
      <vt:lpstr>Digital Marketing Plan: Components</vt:lpstr>
      <vt:lpstr>Digital Marketing Plan: Process</vt:lpstr>
      <vt:lpstr>Digital Marketing Plan: Process</vt:lpstr>
      <vt:lpstr>Digital Marketing Plan: Process</vt:lpstr>
      <vt:lpstr>Digital Marketing Plan: Process</vt:lpstr>
      <vt:lpstr>Digital Marketing Plan: Process</vt:lpstr>
      <vt:lpstr>Digital Marketing Plan: Process</vt:lpstr>
      <vt:lpstr>Digital Marketing Plan: Process</vt:lpstr>
      <vt:lpstr>Digital Marketing Plan: Process</vt:lpstr>
      <vt:lpstr>Digital Marketing Plan: Process</vt:lpstr>
      <vt:lpstr>Digital Marketing Plan: Process</vt:lpstr>
      <vt:lpstr>Digital Marketing Plan: Process</vt:lpstr>
      <vt:lpstr>Digital Marketing Strategy</vt:lpstr>
      <vt:lpstr>Digital Marketing Strategies: AIDA Model</vt:lpstr>
      <vt:lpstr>Digital Marketing Strategies: AIDA Model (Continue…)</vt:lpstr>
      <vt:lpstr>Digital Marketing Strategies: AIDA Model (Continue…)</vt:lpstr>
      <vt:lpstr>Digital Marketing Strategies: AIDA Model (Continue…)</vt:lpstr>
      <vt:lpstr>Digital Marketing Strategies: AIDA Model (Continue…)</vt:lpstr>
      <vt:lpstr>Digital Marketing Strategies: AIDA Model (Continue…)</vt:lpstr>
      <vt:lpstr>Digital Marketing Strategies: AIDA Model  (Continue…)</vt:lpstr>
      <vt:lpstr>Digital Strategies: Pirate Model</vt:lpstr>
      <vt:lpstr>Digital Strategies: Pirate Model (Continue…)</vt:lpstr>
      <vt:lpstr>Digital Strategies: Pirate Model (Continue…)</vt:lpstr>
      <vt:lpstr>Digital Strategies: Pirate Model (Continue…)</vt:lpstr>
      <vt:lpstr>Digital Strategies: Pirate Model (Continue…)</vt:lpstr>
      <vt:lpstr>Digital Strategies: Pirate Model (Continue…)</vt:lpstr>
      <vt:lpstr>Digital Strategies: Pirate Model (Continue…)</vt:lpstr>
      <vt:lpstr>Digital Strategies: Pirate Model (Continue…)</vt:lpstr>
      <vt:lpstr>Digital Strategies: The P-O-E-M Framework</vt:lpstr>
      <vt:lpstr>Digital Strategies: The P-O-E-M Framework (Continue…)</vt:lpstr>
      <vt:lpstr>Digital Strategies: The P-O-E-M Framework (Continue…)</vt:lpstr>
      <vt:lpstr>Digital Strategies: The P-O-E-M Framework (Continue…)</vt:lpstr>
      <vt:lpstr>Digital Strategies: The P-O-E-M Framework (Continue…)</vt:lpstr>
      <vt:lpstr>Digital Strategies: The P-O-E-M Framework (Continue…)</vt:lpstr>
      <vt:lpstr>Digital Strategies: The P-O-E-M Framework (Continue…)</vt:lpstr>
      <vt:lpstr>Buying Models</vt:lpstr>
      <vt:lpstr>Buying Models</vt:lpstr>
      <vt:lpstr>Buying Models: Cost Per Click (CPC)</vt:lpstr>
      <vt:lpstr>Buying Models: Cost Per Click (CPC) (Continue…)</vt:lpstr>
      <vt:lpstr>Buying Models: Cost Per Click (CPC) (Continue…)</vt:lpstr>
      <vt:lpstr>Buying Models: Cost Per Click (CPC) (Continue…)</vt:lpstr>
      <vt:lpstr>Buying Models: Cost Per Click (CPC) (Continue…)</vt:lpstr>
      <vt:lpstr>Buying Models: Cost Per Click (CPC) (Continue…)</vt:lpstr>
      <vt:lpstr>Buying Models: Cost Per Click (CPC) (Continue…)</vt:lpstr>
      <vt:lpstr>Buying Models: Cost Per Click (CPC) (Continue…)</vt:lpstr>
      <vt:lpstr>Buying Models: Cost per Mille (CPM)</vt:lpstr>
      <vt:lpstr>Buying Models: Cost per Mille (CPM) (Continue…)</vt:lpstr>
      <vt:lpstr>Buying Models: Cost per Mille (CPM) (Continue…)</vt:lpstr>
      <vt:lpstr>Buying Models: Cost per Mille (CPM) (Continue…)</vt:lpstr>
      <vt:lpstr>Buying Models: Cost per Mille (CPM) (Continue…)</vt:lpstr>
      <vt:lpstr>Buying Models: Cost per Mille (CPM) (Continue…)</vt:lpstr>
      <vt:lpstr>Buying Models: Cost per Mille (CPM) (Continue…)</vt:lpstr>
      <vt:lpstr>Buying Models: Cost Per Lead (CPL) </vt:lpstr>
      <vt:lpstr>Buying Models: Cost Per Lead (CPL) (Continue…)</vt:lpstr>
      <vt:lpstr>Buying Models: Cost Per Lead (CPL) (Continue…)</vt:lpstr>
      <vt:lpstr>Buying Models: Cost Per Lead (CPL) (Continue…)</vt:lpstr>
      <vt:lpstr>Buying Models: Cost Per Lead (CPL) (Continue…)</vt:lpstr>
      <vt:lpstr>Buying Models: Cost Per Lead (CPL) (Continue…)</vt:lpstr>
      <vt:lpstr>Buying Models: Cost Per Lead (CPL) (Continue…)</vt:lpstr>
      <vt:lpstr>Buying Models: Cost Per Lead (CPL) (Continue…)</vt:lpstr>
      <vt:lpstr>Buying Models: Cost Per Lead (CPL) (Continue…)</vt:lpstr>
      <vt:lpstr>Buying Models: Cost per Acquisition (CPA)</vt:lpstr>
      <vt:lpstr>Buying Models: Cost per Acquisition (CPA) (Continue…)</vt:lpstr>
      <vt:lpstr>Buying Models: Cost per Acquisition (CPA) (Continue…)</vt:lpstr>
      <vt:lpstr>Buying Models: Cost per Acquisition (CPA) (Continue…)</vt:lpstr>
      <vt:lpstr>Buying Models: Cost per Acquisition (CPA) (Continue…)</vt:lpstr>
      <vt:lpstr>Buying Models: Cost per Acquisition (CPA) (Continue…)</vt:lpstr>
      <vt:lpstr>Buying Models: Cost per Acquisition (CPA) (Continue…)</vt:lpstr>
      <vt:lpstr>Buying Models: Cost per Acquisition (CPA) (Continue…)</vt:lpstr>
      <vt:lpstr>Buying Models: Cost per Acquisition (CPA) (Continue…)</vt:lpstr>
      <vt:lpstr>Buying Models: Current Rates – Platform Wise</vt:lpstr>
      <vt:lpstr>Buying Models: Current Rates – Platform Wise (Continue…)</vt:lpstr>
      <vt:lpstr>Buying Models: Current Rates – Platform Wise (Continue…)</vt:lpstr>
      <vt:lpstr>Buying Models: Current Rates – Platform Wise (Continue…)</vt:lpstr>
      <vt:lpstr>Types of Digital Marketing Channels</vt:lpstr>
      <vt:lpstr>Types of Digital Marketing Channels</vt:lpstr>
      <vt:lpstr>Types of Digital Marketing Channels: Website</vt:lpstr>
      <vt:lpstr>Types of Digital Marketing Channels: Website (Continue…)</vt:lpstr>
      <vt:lpstr>Types of Digital Marketing Channels: Website (Continue…)</vt:lpstr>
      <vt:lpstr>Types of Digital Marketing Channels: Website (Continue…)</vt:lpstr>
      <vt:lpstr>Types of Digital Marketing Channels: Website (Continue…)</vt:lpstr>
      <vt:lpstr>Types of Digital Marketing Channels: Website (Continue…)</vt:lpstr>
      <vt:lpstr>Types of Digital Marketing Channels: Content Marketing</vt:lpstr>
      <vt:lpstr>Types of Digital Marketing Channels: Content Marketing (Continue…)</vt:lpstr>
      <vt:lpstr>Types of Digital Marketing Channels: Content Marketing (Continue…)</vt:lpstr>
      <vt:lpstr>Types of Digital Marketing Channels: Content Marketing (Continue…)</vt:lpstr>
      <vt:lpstr>Types of Digital Marketing Channels: Content Marketing (Continue…)</vt:lpstr>
      <vt:lpstr>Types of Digital Marketing Channels: Content Marketing (Continue…)</vt:lpstr>
      <vt:lpstr>Types of Digital Marketing Channels: Content Marketing (Continue…)</vt:lpstr>
      <vt:lpstr>Types of Digital Marketing Channels: SEO </vt:lpstr>
      <vt:lpstr>Types of Digital Marketing Channels: SEO (Continue…)</vt:lpstr>
      <vt:lpstr>Types of Digital Marketing Channels: SEO (Continue…)</vt:lpstr>
      <vt:lpstr>Types of Digital Marketing Channels: SEO (Continue…)</vt:lpstr>
      <vt:lpstr>Types of Digital Marketing Channels: SEO (Continue…)</vt:lpstr>
      <vt:lpstr>Types of Digital Marketing Channels: Email Marketing</vt:lpstr>
      <vt:lpstr>Types of Digital Marketing Channels: Email Marketing (Continue…)</vt:lpstr>
      <vt:lpstr>Types of Digital Marketing Channels: Email Marketing (Continue…)</vt:lpstr>
      <vt:lpstr>Types of Digital Marketing Channels: Email Marketing (Continue…)</vt:lpstr>
      <vt:lpstr>Types of Digital Marketing Channels: Email Marketing (Continue…)</vt:lpstr>
      <vt:lpstr>Types of Digital Marketing Channels: Affiliate Marketing</vt:lpstr>
      <vt:lpstr>Types of Digital Marketing Channels: Affiliate Marketing (Continue…)</vt:lpstr>
      <vt:lpstr>Types of Digital Marketing Channels: Affiliate Marketing (Continue…)</vt:lpstr>
      <vt:lpstr>Types of Digital Marketing Channels: Affiliate Marketing (Continue…)</vt:lpstr>
      <vt:lpstr>Types of Digital Marketing Channels: Affiliate Marketing (Continue…)</vt:lpstr>
      <vt:lpstr>Types of Digital Marketing Channels: Referral Marketing</vt:lpstr>
      <vt:lpstr>Types of Digital Marketing Channels: Referral Marketing (Continue…)</vt:lpstr>
      <vt:lpstr>Types of Digital Marketing Channels: Referral Marketing (Continue…)</vt:lpstr>
      <vt:lpstr>Types of Digital Marketing Channels: Referral Marketing (Continue…)</vt:lpstr>
      <vt:lpstr>Types of Digital Marketing Channels: Referral Marketing (Continue…)</vt:lpstr>
      <vt:lpstr>Types of Digital Marketing Channels: Referral Marketing (Continue…)</vt:lpstr>
      <vt:lpstr>Types of Digital Marketing Channels: Influencer Marketing</vt:lpstr>
      <vt:lpstr>Types of Digital Marketing Channels: Influencer Marketing (Continue…)</vt:lpstr>
      <vt:lpstr>Types of Digital Marketing Channels: Influencer Marketing (Continue…)</vt:lpstr>
      <vt:lpstr>Types of Digital Marketing Channels: Influencer Marketing (Continue…)</vt:lpstr>
      <vt:lpstr>Types of Digital Marketing Channels: Influencer Marketing (Continue…)</vt:lpstr>
      <vt:lpstr>Types of Digital Marketing Channels: Influencer Marketing (Continue…)</vt:lpstr>
      <vt:lpstr>Types of Digital Marketing Channels: Online Public Relation</vt:lpstr>
      <vt:lpstr>Types of Digital Marketing Channels: Online Public Relation (Continue.)</vt:lpstr>
      <vt:lpstr>Types of Digital Marketing Channels: Online Public Relation (Continue.)</vt:lpstr>
      <vt:lpstr>Types of Digital Marketing Channels: Online Public Relation (Continue.)</vt:lpstr>
      <vt:lpstr>Types of Digital Marketing Channels: Online Public Relation (Continue.)</vt:lpstr>
      <vt:lpstr>Types of Digital Marketing Channels: Conversational AI</vt:lpstr>
      <vt:lpstr>Types of Digital Marketing Channels: Conversational AI (Continue…)</vt:lpstr>
      <vt:lpstr>Types of Digital Marketing Channels: Conversational AI (Continue…)</vt:lpstr>
      <vt:lpstr>Types of Digital Marketing Channels: Conversational AI (Continue…)</vt:lpstr>
      <vt:lpstr>Types of Digital Marketing Channels: Conversational AI (Continue…)</vt:lpstr>
      <vt:lpstr>Web Logs</vt:lpstr>
      <vt:lpstr>Web logs</vt:lpstr>
      <vt:lpstr>Web logs</vt:lpstr>
      <vt:lpstr>Web logs</vt:lpstr>
      <vt:lpstr>Page tagging</vt:lpstr>
      <vt:lpstr>Page tagging</vt:lpstr>
      <vt:lpstr>Page tagging (Continue…)</vt:lpstr>
      <vt:lpstr>Google Analytics 4</vt:lpstr>
      <vt:lpstr>Setup and Configuration</vt:lpstr>
      <vt:lpstr>Setup and Configuration (Continue…)</vt:lpstr>
      <vt:lpstr>Setup and Configuration (Continue…)</vt:lpstr>
      <vt:lpstr>Setup and Configuration (Continue…)</vt:lpstr>
      <vt:lpstr>Setup and Configuration (Continue…)</vt:lpstr>
      <vt:lpstr>Setup and Configuration (Continue…)</vt:lpstr>
      <vt:lpstr>Goal Setting &amp; Conversion tracking </vt:lpstr>
      <vt:lpstr>Goal Setting &amp; Conversion tracking (Continue...) </vt:lpstr>
      <vt:lpstr>Goal Setting &amp; Conversion tracking (Continue...) </vt:lpstr>
      <vt:lpstr>Goal Setting &amp; Conversion tracking (Continue...) </vt:lpstr>
      <vt:lpstr>Goal Setting &amp; Conversion tracking (Continue...) </vt:lpstr>
      <vt:lpstr>Goal Setting &amp; Conversion tracking (Continue...) </vt:lpstr>
      <vt:lpstr>Key Metrics</vt:lpstr>
      <vt:lpstr>Key Metrics</vt:lpstr>
      <vt:lpstr>Key Metrics: Unique Visitors</vt:lpstr>
      <vt:lpstr>Key Metrics: Pageviews</vt:lpstr>
      <vt:lpstr>Key Metrics: Pages/Visit</vt:lpstr>
      <vt:lpstr>Key Metrics: Average Visit Duration</vt:lpstr>
      <vt:lpstr>Key Metrics: Bounce Rate</vt:lpstr>
      <vt:lpstr>Key Metrics: New Visits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prashant parmar</cp:lastModifiedBy>
  <cp:revision>566</cp:revision>
  <dcterms:created xsi:type="dcterms:W3CDTF">2020-05-01T05:09:15Z</dcterms:created>
  <dcterms:modified xsi:type="dcterms:W3CDTF">2026-08-18T04:11:06Z</dcterms:modified>
</cp:coreProperties>
</file>