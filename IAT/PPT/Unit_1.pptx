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7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8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  <p:sldMasterId id="2147483693" r:id="rId2"/>
    <p:sldMasterId id="2147483716" r:id="rId3"/>
    <p:sldMasterId id="2147483722" r:id="rId4"/>
    <p:sldMasterId id="2147483728" r:id="rId5"/>
    <p:sldMasterId id="2147483734" r:id="rId6"/>
    <p:sldMasterId id="2147483740" r:id="rId7"/>
    <p:sldMasterId id="2147483746" r:id="rId8"/>
    <p:sldMasterId id="2147483752" r:id="rId9"/>
  </p:sldMasterIdLst>
  <p:notesMasterIdLst>
    <p:notesMasterId r:id="rId91"/>
  </p:notesMasterIdLst>
  <p:sldIdLst>
    <p:sldId id="308" r:id="rId10"/>
    <p:sldId id="352" r:id="rId11"/>
    <p:sldId id="551" r:id="rId12"/>
    <p:sldId id="325" r:id="rId13"/>
    <p:sldId id="562" r:id="rId14"/>
    <p:sldId id="563" r:id="rId15"/>
    <p:sldId id="448" r:id="rId16"/>
    <p:sldId id="557" r:id="rId17"/>
    <p:sldId id="450" r:id="rId18"/>
    <p:sldId id="451" r:id="rId19"/>
    <p:sldId id="452" r:id="rId20"/>
    <p:sldId id="453" r:id="rId21"/>
    <p:sldId id="558" r:id="rId22"/>
    <p:sldId id="454" r:id="rId23"/>
    <p:sldId id="552" r:id="rId24"/>
    <p:sldId id="455" r:id="rId25"/>
    <p:sldId id="456" r:id="rId26"/>
    <p:sldId id="457" r:id="rId27"/>
    <p:sldId id="458" r:id="rId28"/>
    <p:sldId id="561" r:id="rId29"/>
    <p:sldId id="559" r:id="rId30"/>
    <p:sldId id="459" r:id="rId31"/>
    <p:sldId id="460" r:id="rId32"/>
    <p:sldId id="461" r:id="rId33"/>
    <p:sldId id="462" r:id="rId34"/>
    <p:sldId id="463" r:id="rId35"/>
    <p:sldId id="464" r:id="rId36"/>
    <p:sldId id="465" r:id="rId37"/>
    <p:sldId id="560" r:id="rId38"/>
    <p:sldId id="466" r:id="rId39"/>
    <p:sldId id="467" r:id="rId40"/>
    <p:sldId id="553" r:id="rId41"/>
    <p:sldId id="468" r:id="rId42"/>
    <p:sldId id="470" r:id="rId43"/>
    <p:sldId id="471" r:id="rId44"/>
    <p:sldId id="472" r:id="rId45"/>
    <p:sldId id="477" r:id="rId46"/>
    <p:sldId id="480" r:id="rId47"/>
    <p:sldId id="481" r:id="rId48"/>
    <p:sldId id="482" r:id="rId49"/>
    <p:sldId id="484" r:id="rId50"/>
    <p:sldId id="485" r:id="rId51"/>
    <p:sldId id="487" r:id="rId52"/>
    <p:sldId id="488" r:id="rId53"/>
    <p:sldId id="489" r:id="rId54"/>
    <p:sldId id="554" r:id="rId55"/>
    <p:sldId id="491" r:id="rId56"/>
    <p:sldId id="492" r:id="rId57"/>
    <p:sldId id="494" r:id="rId58"/>
    <p:sldId id="495" r:id="rId59"/>
    <p:sldId id="496" r:id="rId60"/>
    <p:sldId id="493" r:id="rId61"/>
    <p:sldId id="497" r:id="rId62"/>
    <p:sldId id="498" r:id="rId63"/>
    <p:sldId id="499" r:id="rId64"/>
    <p:sldId id="500" r:id="rId65"/>
    <p:sldId id="501" r:id="rId66"/>
    <p:sldId id="502" r:id="rId67"/>
    <p:sldId id="555" r:id="rId68"/>
    <p:sldId id="565" r:id="rId69"/>
    <p:sldId id="564" r:id="rId70"/>
    <p:sldId id="504" r:id="rId71"/>
    <p:sldId id="568" r:id="rId72"/>
    <p:sldId id="566" r:id="rId73"/>
    <p:sldId id="569" r:id="rId74"/>
    <p:sldId id="506" r:id="rId75"/>
    <p:sldId id="570" r:id="rId76"/>
    <p:sldId id="571" r:id="rId77"/>
    <p:sldId id="507" r:id="rId78"/>
    <p:sldId id="508" r:id="rId79"/>
    <p:sldId id="573" r:id="rId80"/>
    <p:sldId id="510" r:id="rId81"/>
    <p:sldId id="572" r:id="rId82"/>
    <p:sldId id="574" r:id="rId83"/>
    <p:sldId id="509" r:id="rId84"/>
    <p:sldId id="511" r:id="rId85"/>
    <p:sldId id="512" r:id="rId86"/>
    <p:sldId id="556" r:id="rId87"/>
    <p:sldId id="514" r:id="rId88"/>
    <p:sldId id="515" r:id="rId89"/>
    <p:sldId id="358" r:id="rId90"/>
  </p:sldIdLst>
  <p:sldSz cx="12192000" cy="6858000"/>
  <p:notesSz cx="6858000" cy="9144000"/>
  <p:embeddedFontLst>
    <p:embeddedFont>
      <p:font typeface="Roboto Condensed" panose="02000000000000000000" pitchFamily="2" charset="0"/>
      <p:regular r:id="rId92"/>
      <p:bold r:id="rId93"/>
      <p:italic r:id="rId94"/>
      <p:boldItalic r:id="rId95"/>
    </p:embeddedFont>
    <p:embeddedFont>
      <p:font typeface="Roboto Condensed Light" panose="02000000000000000000" pitchFamily="2" charset="0"/>
      <p:regular r:id="rId96"/>
      <p:italic r:id="rId97"/>
    </p:embeddedFont>
    <p:embeddedFont>
      <p:font typeface="Wingdings 2" panose="05020102010507070707" pitchFamily="18" charset="2"/>
      <p:regular r:id="rId98"/>
    </p:embeddedFont>
    <p:embeddedFont>
      <p:font typeface="Wingdings 3" panose="05040102010807070707" pitchFamily="18" charset="2"/>
      <p:regular r:id="rId9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w/VQpkYlkAl52rvxfnluGQ==" hashData="V0Yj3fZVIavoVcRhMP8Jg6h3oNFmA2hzVdK9V1CqCwHUzUNQICXMtts6v7W6G5nVDmu8aJcACVc4bSKadvZL1Q=="/>
  <p:extLst>
    <p:ext uri="{521415D9-36F7-43E2-AB2F-B90AF26B5E84}">
      <p14:sectionLst xmlns:p14="http://schemas.microsoft.com/office/powerpoint/2010/main">
        <p14:section name="Introduction to Python" id="{3BA954B1-AD8B-4070-98C5-D8A2F539ABD5}">
          <p14:sldIdLst>
            <p14:sldId id="308"/>
          </p14:sldIdLst>
        </p14:section>
        <p14:section name="Outline" id="{95B31E79-ED5A-4CF3-A7C0-D0B6CF9BDE92}">
          <p14:sldIdLst>
            <p14:sldId id="352"/>
          </p14:sldIdLst>
        </p14:section>
        <p14:section name="Introduction" id="{07752102-ED0C-4678-B8BC-F07EFDB01E83}">
          <p14:sldIdLst>
            <p14:sldId id="551"/>
            <p14:sldId id="325"/>
            <p14:sldId id="562"/>
            <p14:sldId id="563"/>
            <p14:sldId id="448"/>
          </p14:sldIdLst>
        </p14:section>
        <p14:section name="Characteristics of Cloud Computing" id="{0D649682-0536-4C9F-A1FF-D0F4B5F6ABE1}">
          <p14:sldIdLst>
            <p14:sldId id="557"/>
            <p14:sldId id="450"/>
            <p14:sldId id="451"/>
            <p14:sldId id="452"/>
            <p14:sldId id="453"/>
          </p14:sldIdLst>
        </p14:section>
        <p14:section name="Origin of Cloud" id="{4D92D8DA-6E56-4ABF-A3EC-DE5241268FE8}">
          <p14:sldIdLst>
            <p14:sldId id="558"/>
            <p14:sldId id="454"/>
          </p14:sldIdLst>
        </p14:section>
        <p14:section name="Cloud Computing Architecture" id="{FD1854AE-2610-4A24-9BD8-A8872EF4E3A3}">
          <p14:sldIdLst>
            <p14:sldId id="552"/>
            <p14:sldId id="455"/>
            <p14:sldId id="456"/>
            <p14:sldId id="457"/>
            <p14:sldId id="458"/>
            <p14:sldId id="561"/>
          </p14:sldIdLst>
        </p14:section>
        <p14:section name="Cloud Computing Technologies" id="{3797F850-684D-45AF-98FB-29FF3551C45E}">
          <p14:sldIdLst>
            <p14:sldId id="559"/>
            <p14:sldId id="459"/>
            <p14:sldId id="460"/>
            <p14:sldId id="461"/>
            <p14:sldId id="462"/>
            <p14:sldId id="463"/>
            <p14:sldId id="464"/>
            <p14:sldId id="465"/>
          </p14:sldIdLst>
        </p14:section>
        <p14:section name="Cloud Computing Vs Grid Computing" id="{96882C48-3E04-4AE4-94E9-48EEA392947C}">
          <p14:sldIdLst>
            <p14:sldId id="560"/>
            <p14:sldId id="466"/>
            <p14:sldId id="467"/>
          </p14:sldIdLst>
        </p14:section>
        <p14:section name="Types of cloud" id="{1C39A35F-66AE-4E2F-AB06-643C8B7C4285}">
          <p14:sldIdLst>
            <p14:sldId id="553"/>
            <p14:sldId id="468"/>
            <p14:sldId id="470"/>
            <p14:sldId id="471"/>
            <p14:sldId id="472"/>
            <p14:sldId id="477"/>
            <p14:sldId id="480"/>
            <p14:sldId id="481"/>
            <p14:sldId id="482"/>
            <p14:sldId id="484"/>
            <p14:sldId id="485"/>
            <p14:sldId id="487"/>
            <p14:sldId id="488"/>
            <p14:sldId id="489"/>
          </p14:sldIdLst>
        </p14:section>
        <p14:section name="Cloud Service Models" id="{4A4E1B2C-D38F-437B-A691-D676D6F11BE4}">
          <p14:sldIdLst>
            <p14:sldId id="554"/>
            <p14:sldId id="491"/>
            <p14:sldId id="492"/>
            <p14:sldId id="494"/>
            <p14:sldId id="495"/>
            <p14:sldId id="496"/>
            <p14:sldId id="493"/>
            <p14:sldId id="497"/>
            <p14:sldId id="498"/>
            <p14:sldId id="499"/>
            <p14:sldId id="500"/>
            <p14:sldId id="501"/>
            <p14:sldId id="502"/>
          </p14:sldIdLst>
        </p14:section>
        <p14:section name="Cloud Service Providers" id="{9D098603-C8C7-4B47-9403-716D1B67429D}">
          <p14:sldIdLst>
            <p14:sldId id="555"/>
            <p14:sldId id="565"/>
            <p14:sldId id="564"/>
            <p14:sldId id="504"/>
            <p14:sldId id="568"/>
            <p14:sldId id="566"/>
            <p14:sldId id="569"/>
            <p14:sldId id="506"/>
            <p14:sldId id="570"/>
            <p14:sldId id="571"/>
            <p14:sldId id="507"/>
            <p14:sldId id="508"/>
            <p14:sldId id="573"/>
            <p14:sldId id="510"/>
            <p14:sldId id="572"/>
            <p14:sldId id="574"/>
            <p14:sldId id="509"/>
            <p14:sldId id="511"/>
            <p14:sldId id="512"/>
          </p14:sldIdLst>
        </p14:section>
        <p14:section name="Cloud Computing Jobs" id="{13054BD6-E800-4616-A045-E4D2122F992E}">
          <p14:sldIdLst>
            <p14:sldId id="556"/>
            <p14:sldId id="514"/>
            <p14:sldId id="515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0000"/>
    <a:srgbClr val="C62827"/>
    <a:srgbClr val="008000"/>
    <a:srgbClr val="B71B1C"/>
    <a:srgbClr val="ED524F"/>
    <a:srgbClr val="301B92"/>
    <a:srgbClr val="673BB7"/>
    <a:srgbClr val="607D8B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84" Type="http://schemas.openxmlformats.org/officeDocument/2006/relationships/slide" Target="slides/slide75.xml"/><Relationship Id="rId89" Type="http://schemas.openxmlformats.org/officeDocument/2006/relationships/slide" Target="slides/slide80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slide" Target="slides/slide65.xml"/><Relationship Id="rId79" Type="http://schemas.openxmlformats.org/officeDocument/2006/relationships/slide" Target="slides/slide70.xml"/><Relationship Id="rId10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1.xml"/><Relationship Id="rId95" Type="http://schemas.openxmlformats.org/officeDocument/2006/relationships/font" Target="fonts/font4.fntdata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80" Type="http://schemas.openxmlformats.org/officeDocument/2006/relationships/slide" Target="slides/slide71.xml"/><Relationship Id="rId85" Type="http://schemas.openxmlformats.org/officeDocument/2006/relationships/slide" Target="slides/slide76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103" Type="http://schemas.openxmlformats.org/officeDocument/2006/relationships/tableStyles" Target="tableStyle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83" Type="http://schemas.openxmlformats.org/officeDocument/2006/relationships/slide" Target="slides/slide74.xml"/><Relationship Id="rId88" Type="http://schemas.openxmlformats.org/officeDocument/2006/relationships/slide" Target="slides/slide79.xml"/><Relationship Id="rId91" Type="http://schemas.openxmlformats.org/officeDocument/2006/relationships/notesMaster" Target="notesMasters/notesMaster1.xml"/><Relationship Id="rId9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slide" Target="slides/slide64.xml"/><Relationship Id="rId78" Type="http://schemas.openxmlformats.org/officeDocument/2006/relationships/slide" Target="slides/slide69.xml"/><Relationship Id="rId81" Type="http://schemas.openxmlformats.org/officeDocument/2006/relationships/slide" Target="slides/slide72.xml"/><Relationship Id="rId86" Type="http://schemas.openxmlformats.org/officeDocument/2006/relationships/slide" Target="slides/slide77.xml"/><Relationship Id="rId94" Type="http://schemas.openxmlformats.org/officeDocument/2006/relationships/font" Target="fonts/font3.fntdata"/><Relationship Id="rId99" Type="http://schemas.openxmlformats.org/officeDocument/2006/relationships/font" Target="fonts/font8.fnt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97" Type="http://schemas.openxmlformats.org/officeDocument/2006/relationships/font" Target="fonts/font6.fntdata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2.xml"/><Relationship Id="rId9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slide" Target="slides/slide78.xml"/><Relationship Id="rId61" Type="http://schemas.openxmlformats.org/officeDocument/2006/relationships/slide" Target="slides/slide52.xml"/><Relationship Id="rId82" Type="http://schemas.openxmlformats.org/officeDocument/2006/relationships/slide" Target="slides/slide73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slide" Target="slides/slide68.xml"/><Relationship Id="rId100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93" Type="http://schemas.openxmlformats.org/officeDocument/2006/relationships/font" Target="fonts/font2.fntdata"/><Relationship Id="rId98" Type="http://schemas.openxmlformats.org/officeDocument/2006/relationships/font" Target="fonts/font7.fntdata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5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Layouts/_rels/slideLayout2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21.jpeg"/><Relationship Id="rId4" Type="http://schemas.openxmlformats.org/officeDocument/2006/relationships/image" Target="../media/image17.png"/><Relationship Id="rId9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png"/><Relationship Id="rId4" Type="http://schemas.microsoft.com/office/2007/relationships/hdphoto" Target="../media/hdphoto3.wdp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Layouts/_rels/slideLayout3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Layouts/_rels/slideLayout3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7.png"/><Relationship Id="rId4" Type="http://schemas.openxmlformats.org/officeDocument/2006/relationships/image" Target="../media/image18.png"/><Relationship Id="rId9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Layouts/_rels/slideLayout3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Layouts/_rels/slideLayout3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Layouts/_rels/slideLayout4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Layouts/_rels/slideLayout4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Layouts/_rels/slideLayout4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21.jpeg"/><Relationship Id="rId4" Type="http://schemas.openxmlformats.org/officeDocument/2006/relationships/image" Target="../media/image17.png"/><Relationship Id="rId9" Type="http://schemas.openxmlformats.org/officeDocument/2006/relationships/image" Target="../media/image28.jpeg"/></Relationships>
</file>

<file path=ppt/slideLayouts/_rels/slideLayout4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3.xml"/><Relationship Id="rId5" Type="http://schemas.microsoft.com/office/2007/relationships/hdphoto" Target="../media/hdphoto4.wdp"/><Relationship Id="rId4" Type="http://schemas.openxmlformats.org/officeDocument/2006/relationships/image" Target="../media/image30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2.png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4" Type="http://schemas.microsoft.com/office/2007/relationships/hdphoto" Target="../media/hdphoto5.wdp"/><Relationship Id="rId9" Type="http://schemas.microsoft.com/office/2007/relationships/hdphoto" Target="../media/hdphoto4.wdp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8.jpe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microsoft.com/office/2007/relationships/hdphoto" Target="../media/hdphoto2.wdp"/><Relationship Id="rId4" Type="http://schemas.openxmlformats.org/officeDocument/2006/relationships/image" Target="../media/image36.png"/><Relationship Id="rId9" Type="http://schemas.openxmlformats.org/officeDocument/2006/relationships/image" Target="../media/image20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3.png"/><Relationship Id="rId7" Type="http://schemas.microsoft.com/office/2007/relationships/hdphoto" Target="../media/hdphoto6.wdp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14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Relationship Id="rId5" Type="http://schemas.microsoft.com/office/2007/relationships/hdphoto" Target="../media/hdphoto4.wdp"/><Relationship Id="rId4" Type="http://schemas.openxmlformats.org/officeDocument/2006/relationships/image" Target="../media/image30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2.png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4" Type="http://schemas.microsoft.com/office/2007/relationships/hdphoto" Target="../media/hdphoto5.wdp"/><Relationship Id="rId9" Type="http://schemas.microsoft.com/office/2007/relationships/hdphoto" Target="../media/hdphoto4.wdp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8.jpe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microsoft.com/office/2007/relationships/hdphoto" Target="../media/hdphoto2.wdp"/><Relationship Id="rId4" Type="http://schemas.openxmlformats.org/officeDocument/2006/relationships/image" Target="../media/image36.png"/><Relationship Id="rId9" Type="http://schemas.openxmlformats.org/officeDocument/2006/relationships/image" Target="../media/image20.pn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3.png"/><Relationship Id="rId7" Type="http://schemas.microsoft.com/office/2007/relationships/hdphoto" Target="../media/hdphoto6.wdp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1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Relationship Id="rId5" Type="http://schemas.microsoft.com/office/2007/relationships/hdphoto" Target="../media/hdphoto4.wdp"/><Relationship Id="rId4" Type="http://schemas.openxmlformats.org/officeDocument/2006/relationships/image" Target="../media/image30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2.png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4" Type="http://schemas.microsoft.com/office/2007/relationships/hdphoto" Target="../media/hdphoto5.wdp"/><Relationship Id="rId9" Type="http://schemas.microsoft.com/office/2007/relationships/hdphoto" Target="../media/hdphoto4.wdp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8.jpe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microsoft.com/office/2007/relationships/hdphoto" Target="../media/hdphoto2.wdp"/><Relationship Id="rId4" Type="http://schemas.openxmlformats.org/officeDocument/2006/relationships/image" Target="../media/image36.png"/><Relationship Id="rId9" Type="http://schemas.openxmlformats.org/officeDocument/2006/relationships/image" Target="../media/image20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3.png"/><Relationship Id="rId7" Type="http://schemas.microsoft.com/office/2007/relationships/hdphoto" Target="../media/hdphoto6.wdp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14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Relationship Id="rId5" Type="http://schemas.microsoft.com/office/2007/relationships/hdphoto" Target="../media/hdphoto4.wdp"/><Relationship Id="rId4" Type="http://schemas.openxmlformats.org/officeDocument/2006/relationships/image" Target="../media/image30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2.png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4" Type="http://schemas.microsoft.com/office/2007/relationships/hdphoto" Target="../media/hdphoto5.wdp"/><Relationship Id="rId9" Type="http://schemas.microsoft.com/office/2007/relationships/hdphoto" Target="../media/hdphoto4.wdp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38.jpe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microsoft.com/office/2007/relationships/hdphoto" Target="../media/hdphoto2.wdp"/><Relationship Id="rId4" Type="http://schemas.openxmlformats.org/officeDocument/2006/relationships/image" Target="../media/image36.png"/><Relationship Id="rId9" Type="http://schemas.openxmlformats.org/officeDocument/2006/relationships/image" Target="../media/image20.png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3.png"/><Relationship Id="rId7" Type="http://schemas.microsoft.com/office/2007/relationships/hdphoto" Target="../media/hdphoto6.wdp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14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Relationship Id="rId5" Type="http://schemas.microsoft.com/office/2007/relationships/hdphoto" Target="../media/hdphoto4.wdp"/><Relationship Id="rId4" Type="http://schemas.openxmlformats.org/officeDocument/2006/relationships/image" Target="../media/image30.png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2.png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4" Type="http://schemas.microsoft.com/office/2007/relationships/hdphoto" Target="../media/hdphoto5.wdp"/><Relationship Id="rId9" Type="http://schemas.microsoft.com/office/2007/relationships/hdphoto" Target="../media/hdphoto4.wdp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38.jpe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microsoft.com/office/2007/relationships/hdphoto" Target="../media/hdphoto2.wdp"/><Relationship Id="rId4" Type="http://schemas.openxmlformats.org/officeDocument/2006/relationships/image" Target="../media/image36.png"/><Relationship Id="rId9" Type="http://schemas.openxmlformats.org/officeDocument/2006/relationships/image" Target="../media/image20.pn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3.png"/><Relationship Id="rId7" Type="http://schemas.microsoft.com/office/2007/relationships/hdphoto" Target="../media/hdphoto6.wdp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8.xml"/><Relationship Id="rId5" Type="http://schemas.microsoft.com/office/2007/relationships/hdphoto" Target="../media/hdphoto4.wdp"/><Relationship Id="rId4" Type="http://schemas.openxmlformats.org/officeDocument/2006/relationships/image" Target="../media/image30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2.png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4" Type="http://schemas.microsoft.com/office/2007/relationships/hdphoto" Target="../media/hdphoto5.wdp"/><Relationship Id="rId9" Type="http://schemas.microsoft.com/office/2007/relationships/hdphoto" Target="../media/hdphoto4.wdp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38.jpe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microsoft.com/office/2007/relationships/hdphoto" Target="../media/hdphoto2.wdp"/><Relationship Id="rId4" Type="http://schemas.openxmlformats.org/officeDocument/2006/relationships/image" Target="../media/image36.png"/><Relationship Id="rId9" Type="http://schemas.openxmlformats.org/officeDocument/2006/relationships/image" Target="../media/image20.pn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3.png"/><Relationship Id="rId7" Type="http://schemas.microsoft.com/office/2007/relationships/hdphoto" Target="../media/hdphoto6.wdp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14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9.xml"/><Relationship Id="rId5" Type="http://schemas.microsoft.com/office/2007/relationships/hdphoto" Target="../media/hdphoto4.wdp"/><Relationship Id="rId4" Type="http://schemas.openxmlformats.org/officeDocument/2006/relationships/image" Target="../media/image30.pn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2.png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4" Type="http://schemas.microsoft.com/office/2007/relationships/hdphoto" Target="../media/hdphoto5.wdp"/><Relationship Id="rId9" Type="http://schemas.microsoft.com/office/2007/relationships/hdphoto" Target="../media/hdphoto4.wdp"/></Relationships>
</file>

<file path=ppt/slideLayouts/_rels/slideLayout7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38.jpe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microsoft.com/office/2007/relationships/hdphoto" Target="../media/hdphoto2.wdp"/><Relationship Id="rId4" Type="http://schemas.openxmlformats.org/officeDocument/2006/relationships/image" Target="../media/image36.png"/><Relationship Id="rId9" Type="http://schemas.openxmlformats.org/officeDocument/2006/relationships/image" Target="../media/image20.pn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3.png"/><Relationship Id="rId7" Type="http://schemas.microsoft.com/office/2007/relationships/hdphoto" Target="../media/hdphoto6.wdp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#2304CS401 (PYP)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D38499-9301-48B7-BA27-7E1A5AFCBF53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5D07C2-5660-042B-0965-458E2E2784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4CD80-6289-4C5A-EED6-04FC7A55318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Engineering &amp; Technology, 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466080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640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05CEC62-96B4-E0C4-A41B-5B4A2656814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0267" y="8759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080382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00F4D-C4C2-91C4-F722-0307E0E98124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93692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63030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What is Data Structure?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Section-1 </a:t>
            </a:r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A03F2-936E-50E5-4A31-21E62AB22966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46427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0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037110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749154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411682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8860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903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7332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8924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6973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BCBD36D-80E5-2938-4F3C-399C4FEF22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89" y="1335005"/>
            <a:ext cx="2520000" cy="25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AD27D4-D354-4363-989F-4442C30D6B8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067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0569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2727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9230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1033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2723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2312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4092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E99718">
                        <a:shade val="30000"/>
                        <a:satMod val="115000"/>
                      </a:srgbClr>
                    </a:gs>
                    <a:gs pos="50000">
                      <a:srgbClr val="E99718">
                        <a:shade val="67500"/>
                        <a:satMod val="115000"/>
                      </a:srgbClr>
                    </a:gs>
                    <a:gs pos="100000">
                      <a:srgbClr val="E99718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IN" dirty="0" err="1"/>
              <a:t>Prof.</a:t>
            </a:r>
            <a:r>
              <a:rPr lang="en-IN" dirty="0"/>
              <a:t> Vishal K </a:t>
            </a:r>
            <a:r>
              <a:rPr lang="en-IN" dirty="0" err="1"/>
              <a:t>Makwana</a:t>
            </a:r>
            <a:endParaRPr lang="en-IN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Thank</a:t>
            </a:r>
          </a:p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D81706-03FD-5011-BE52-6B8AB641A2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11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Vaseem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Ghada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01 – Introduction to Cloud Computing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129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470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#2104CS351 (CS)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fr-FR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5 – </a:t>
            </a:r>
            <a:r>
              <a:rPr lang="en-US" sz="1200" dirty="0"/>
              <a:t>Attacks and Techniques used in Cyber Crime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7110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1026" name="Picture 2" descr="Know Your Artificial Intelligence, Blockchain, Cloud Computing &amp; Data  Analytics Course - Advanced Learning Singapore">
            <a:extLst>
              <a:ext uri="{FF2B5EF4-FFF2-40B4-BE49-F238E27FC236}">
                <a16:creationId xmlns:a16="http://schemas.microsoft.com/office/drawing/2014/main" id="{10AD5892-D7D0-8491-56CE-AF420C42F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926581"/>
            <a:ext cx="2559668" cy="18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6092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432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Vaseem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Ghada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01 – Introduction to Cloud Computing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806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469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01 – Introduction to Cloud Computing </a:t>
            </a:r>
          </a:p>
        </p:txBody>
      </p:sp>
    </p:spTree>
    <p:extLst>
      <p:ext uri="{BB962C8B-B14F-4D97-AF65-F5344CB8AC3E}">
        <p14:creationId xmlns:p14="http://schemas.microsoft.com/office/powerpoint/2010/main" val="13224016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1026" name="Picture 2" descr="Know Your Artificial Intelligence, Blockchain, Cloud Computing &amp; Data  Analytics Course - Advanced Learning Singapore">
            <a:extLst>
              <a:ext uri="{FF2B5EF4-FFF2-40B4-BE49-F238E27FC236}">
                <a16:creationId xmlns:a16="http://schemas.microsoft.com/office/drawing/2014/main" id="{10AD5892-D7D0-8491-56CE-AF420C42F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926581"/>
            <a:ext cx="2559668" cy="18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8890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8867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Vaseem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Ghada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01 – Introduction to Cloud Computing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804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530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#2104CS351 (CS)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fr-FR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5 – </a:t>
            </a:r>
            <a:r>
              <a:rPr lang="en-US" sz="1200" dirty="0"/>
              <a:t>Attacks and Techniques used in Cyber Crime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83728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1026" name="Picture 2" descr="Know Your Artificial Intelligence, Blockchain, Cloud Computing &amp; Data  Analytics Course - Advanced Learning Singapore">
            <a:extLst>
              <a:ext uri="{FF2B5EF4-FFF2-40B4-BE49-F238E27FC236}">
                <a16:creationId xmlns:a16="http://schemas.microsoft.com/office/drawing/2014/main" id="{10AD5892-D7D0-8491-56CE-AF420C42F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926581"/>
            <a:ext cx="2559668" cy="18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91140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4996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Vaseem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Ghada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01 – Introduction to Cloud Computing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058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6563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#2104CS351 (CS)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fr-FR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5 – </a:t>
            </a:r>
            <a:r>
              <a:rPr lang="en-US" sz="1200" dirty="0"/>
              <a:t>Attacks and Techniques used in Cyber Crime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01870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1026" name="Picture 2" descr="Know Your Artificial Intelligence, Blockchain, Cloud Computing &amp; Data  Analytics Course - Advanced Learning Singapore">
            <a:extLst>
              <a:ext uri="{FF2B5EF4-FFF2-40B4-BE49-F238E27FC236}">
                <a16:creationId xmlns:a16="http://schemas.microsoft.com/office/drawing/2014/main" id="{10AD5892-D7D0-8491-56CE-AF420C42F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926581"/>
            <a:ext cx="2559668" cy="18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598808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602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Vaseem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Ghada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01 – Introduction to Cloud Computing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717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5840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Vaseem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Ghada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01 – Introduction to Advanced Technologies </a:t>
            </a:r>
          </a:p>
        </p:txBody>
      </p:sp>
    </p:spTree>
    <p:extLst>
      <p:ext uri="{BB962C8B-B14F-4D97-AF65-F5344CB8AC3E}">
        <p14:creationId xmlns:p14="http://schemas.microsoft.com/office/powerpoint/2010/main" val="119779895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1026" name="Picture 2" descr="Know Your Artificial Intelligence, Blockchain, Cloud Computing &amp; Data  Analytics Course - Advanced Learning Singapore">
            <a:extLst>
              <a:ext uri="{FF2B5EF4-FFF2-40B4-BE49-F238E27FC236}">
                <a16:creationId xmlns:a16="http://schemas.microsoft.com/office/drawing/2014/main" id="{10AD5892-D7D0-8491-56CE-AF420C42F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926581"/>
            <a:ext cx="2559668" cy="18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31580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6283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Vaseem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Ghada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01 – Introduction to Advanced Technologies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9312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7539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#2104CS351 (CS)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fr-FR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5 – </a:t>
            </a:r>
            <a:r>
              <a:rPr lang="en-US" sz="1200" dirty="0"/>
              <a:t>Attacks and Techniques used in Cyber Crime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39832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1026" name="Picture 2" descr="Know Your Artificial Intelligence, Blockchain, Cloud Computing &amp; Data  Analytics Course - Advanced Learning Singapore">
            <a:extLst>
              <a:ext uri="{FF2B5EF4-FFF2-40B4-BE49-F238E27FC236}">
                <a16:creationId xmlns:a16="http://schemas.microsoft.com/office/drawing/2014/main" id="{10AD5892-D7D0-8491-56CE-AF420C42F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926581"/>
            <a:ext cx="2559668" cy="18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7411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260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Vaseem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Ghada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01 – Introduction to Cloud Computing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417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282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#2104CS351 (CS)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fr-FR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5 – </a:t>
            </a:r>
            <a:r>
              <a:rPr lang="en-US" sz="1200" dirty="0"/>
              <a:t>Attacks and Techniques used in Cyber Crime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8235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1026" name="Picture 2" descr="Know Your Artificial Intelligence, Blockchain, Cloud Computing &amp; Data  Analytics Course - Advanced Learning Singapore">
            <a:extLst>
              <a:ext uri="{FF2B5EF4-FFF2-40B4-BE49-F238E27FC236}">
                <a16:creationId xmlns:a16="http://schemas.microsoft.com/office/drawing/2014/main" id="{10AD5892-D7D0-8491-56CE-AF420C42F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926581"/>
            <a:ext cx="2559668" cy="18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3603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1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3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theme" Target="../theme/theme9.xml"/><Relationship Id="rId5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3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59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8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0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5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5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0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2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5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5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5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7.xml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vaseem.ghada@darshan.ac.in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9879531513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5563413"/>
            <a:ext cx="4079263" cy="264436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IN" dirty="0" err="1"/>
              <a:t>epartment</a:t>
            </a:r>
            <a:r>
              <a:rPr lang="en-IN" dirty="0"/>
              <a:t> of Computer Science &amp; Engineering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Vaseem</a:t>
            </a:r>
            <a:r>
              <a:rPr lang="en-IN" dirty="0"/>
              <a:t> Ghada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sz="1800" b="0" i="0" u="none" strike="noStrike" baseline="0" dirty="0">
                <a:latin typeface="Roboto Condensed" panose="02000000000000000000" pitchFamily="2" charset="0"/>
              </a:rPr>
              <a:t>Introduction to Advanced Technologies</a:t>
            </a:r>
            <a:r>
              <a:rPr lang="en-IN" dirty="0"/>
              <a:t> (</a:t>
            </a:r>
            <a:r>
              <a:rPr lang="en-US" dirty="0"/>
              <a:t>2302CS302</a:t>
            </a:r>
            <a:r>
              <a:rPr lang="en-IN" dirty="0"/>
              <a:t>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4887" y="956266"/>
            <a:ext cx="7035300" cy="273118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Unit-01</a:t>
            </a:r>
            <a:r>
              <a:rPr lang="en-US" dirty="0"/>
              <a:t> </a:t>
            </a:r>
            <a:br>
              <a:rPr lang="en-US" dirty="0"/>
            </a:br>
            <a:r>
              <a:rPr lang="en-US" sz="6400" dirty="0"/>
              <a:t>Introduction to </a:t>
            </a:r>
            <a:br>
              <a:rPr lang="en-US" sz="6400" dirty="0"/>
            </a:br>
            <a:r>
              <a:rPr lang="en-US" sz="6400" dirty="0"/>
              <a:t>Cloud Computing</a:t>
            </a:r>
            <a:br>
              <a:rPr lang="en-US" dirty="0"/>
            </a:br>
            <a:endParaRPr lang="en-US" b="0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B969C-F4CB-C039-7FBC-51884D8F5CC6}"/>
              </a:ext>
            </a:extLst>
          </p:cNvPr>
          <p:cNvSpPr txBox="1"/>
          <p:nvPr/>
        </p:nvSpPr>
        <p:spPr>
          <a:xfrm>
            <a:off x="904886" y="3944605"/>
            <a:ext cx="112871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i="1" dirty="0">
                <a:effectLst/>
              </a:rPr>
              <a:t>CO1 : At the end of this course, students will be able to,</a:t>
            </a:r>
          </a:p>
          <a:p>
            <a:r>
              <a:rPr lang="en-US" sz="2000" dirty="0"/>
              <a:t>          </a:t>
            </a:r>
            <a:r>
              <a:rPr lang="en-US" sz="2200" dirty="0"/>
              <a:t>describe fundamentals of cloud computing architecture, infrastructure and cloud service model.</a:t>
            </a:r>
            <a:endParaRPr lang="en-US" sz="2200" b="0" i="1" dirty="0">
              <a:effectLst/>
            </a:endParaRPr>
          </a:p>
        </p:txBody>
      </p:sp>
      <p:pic>
        <p:nvPicPr>
          <p:cNvPr id="2" name="Picture 2" descr="Know Your Artificial Intelligence, Blockchain, Cloud Computing &amp; Data  Analytics Course - Advanced Learning Singapore">
            <a:extLst>
              <a:ext uri="{FF2B5EF4-FFF2-40B4-BE49-F238E27FC236}">
                <a16:creationId xmlns:a16="http://schemas.microsoft.com/office/drawing/2014/main" id="{85D5B681-BCDE-89D5-F39D-497F9B986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146" y="2025210"/>
            <a:ext cx="2559668" cy="18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5FD6197-D3B9-1A28-9B61-BBD7BBBDFA0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12385"/>
            <a:ext cx="9778869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/>
              <a:t>Outline</a:t>
            </a:r>
            <a:endParaRPr lang="en-US" sz="2600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Basics of Cloud Computing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Characteristics of Cloud Computing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Origin of Cloud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Cloud Computing Architecture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Cloud Computing Technologies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IN" sz="2200" dirty="0"/>
              <a:t>Virtualization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200" dirty="0"/>
              <a:t>Service-Oriented Architecture (SOA)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200" dirty="0"/>
              <a:t>Grid Computing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200" dirty="0"/>
              <a:t>Utility Computing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Cloud Computing Vs Grid Computing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Application and Security Risk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Types of Cloud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Cloud Service Model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200" dirty="0"/>
              <a:t>IaaS (Infrastructure as a Service) 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200" dirty="0"/>
              <a:t>PaaS (Platform as a Service)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200" dirty="0"/>
              <a:t>SaaS (Software as a Service)</a:t>
            </a:r>
          </a:p>
          <a:p>
            <a:pPr indent="446088">
              <a:buFont typeface="Wingdings" pitchFamily="2" charset="2"/>
              <a:buChar char="ü"/>
            </a:pPr>
            <a:endParaRPr lang="en-US" sz="2200" dirty="0"/>
          </a:p>
          <a:p>
            <a:r>
              <a:rPr lang="en-US" sz="2200" dirty="0"/>
              <a:t> </a:t>
            </a:r>
          </a:p>
          <a:p>
            <a:pPr indent="446088">
              <a:buFont typeface="Wingdings" pitchFamily="2" charset="2"/>
              <a:buChar char="ü"/>
            </a:pPr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EE48EA-925E-252B-F746-58EA758932E5}"/>
              </a:ext>
            </a:extLst>
          </p:cNvPr>
          <p:cNvSpPr txBox="1"/>
          <p:nvPr/>
        </p:nvSpPr>
        <p:spPr>
          <a:xfrm>
            <a:off x="7038672" y="1379501"/>
            <a:ext cx="419915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6088">
              <a:buFont typeface="Wingdings" pitchFamily="2" charset="2"/>
              <a:buChar char="ü"/>
            </a:pPr>
            <a:r>
              <a:rPr lang="en-US" sz="2200" dirty="0"/>
              <a:t>Cloud Service Providers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Feature of Cloud Computing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Cloud Platforms in Industry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200" dirty="0"/>
              <a:t>Cloud Computing Job – Career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Basics of Cloud Computing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353688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What is Cloud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4" y="863600"/>
            <a:ext cx="7161922" cy="5591175"/>
          </a:xfrm>
        </p:spPr>
        <p:txBody>
          <a:bodyPr/>
          <a:lstStyle/>
          <a:p>
            <a:r>
              <a:rPr lang="en-US" dirty="0"/>
              <a:t>Cloud Computing is defined as </a:t>
            </a:r>
            <a:r>
              <a:rPr lang="en-US" dirty="0">
                <a:solidFill>
                  <a:srgbClr val="C00000"/>
                </a:solidFill>
              </a:rPr>
              <a:t>storing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accessing</a:t>
            </a:r>
            <a:r>
              <a:rPr lang="en-US" dirty="0"/>
              <a:t> of data and </a:t>
            </a:r>
            <a:r>
              <a:rPr lang="en-US" dirty="0">
                <a:solidFill>
                  <a:srgbClr val="C00000"/>
                </a:solidFill>
              </a:rPr>
              <a:t>computing services </a:t>
            </a:r>
            <a:r>
              <a:rPr lang="en-US" dirty="0"/>
              <a:t>over the internet. </a:t>
            </a:r>
          </a:p>
          <a:p>
            <a:r>
              <a:rPr lang="en-US" dirty="0"/>
              <a:t>It doesn’t store any data on your </a:t>
            </a:r>
            <a:r>
              <a:rPr lang="en-US" dirty="0">
                <a:solidFill>
                  <a:srgbClr val="C00000"/>
                </a:solidFill>
              </a:rPr>
              <a:t>personal computer</a:t>
            </a:r>
            <a:r>
              <a:rPr lang="en-US" dirty="0"/>
              <a:t>. </a:t>
            </a:r>
          </a:p>
          <a:p>
            <a:r>
              <a:rPr lang="en-US" dirty="0"/>
              <a:t>It is the </a:t>
            </a:r>
            <a:r>
              <a:rPr lang="en-US" dirty="0">
                <a:solidFill>
                  <a:srgbClr val="C00000"/>
                </a:solidFill>
              </a:rPr>
              <a:t>on-demand availability </a:t>
            </a:r>
            <a:r>
              <a:rPr lang="en-US" dirty="0"/>
              <a:t>of computer services like servers, data storage, networking, databases, etc. </a:t>
            </a:r>
          </a:p>
          <a:p>
            <a:r>
              <a:rPr lang="en-US" dirty="0"/>
              <a:t>The term cloud refers to a </a:t>
            </a:r>
            <a:r>
              <a:rPr lang="en-US" dirty="0">
                <a:solidFill>
                  <a:srgbClr val="C00000"/>
                </a:solidFill>
              </a:rPr>
              <a:t>network</a:t>
            </a:r>
            <a:r>
              <a:rPr lang="en-US" dirty="0"/>
              <a:t> or the </a:t>
            </a:r>
            <a:r>
              <a:rPr lang="en-US" dirty="0">
                <a:solidFill>
                  <a:srgbClr val="C00000"/>
                </a:solidFill>
              </a:rPr>
              <a:t>internet</a:t>
            </a:r>
            <a:r>
              <a:rPr lang="en-US" dirty="0"/>
              <a:t>. </a:t>
            </a:r>
          </a:p>
          <a:p>
            <a:r>
              <a:rPr lang="en-US" dirty="0"/>
              <a:t>It is a technology that uses </a:t>
            </a:r>
            <a:r>
              <a:rPr lang="en-US" dirty="0">
                <a:solidFill>
                  <a:srgbClr val="C00000"/>
                </a:solidFill>
              </a:rPr>
              <a:t>remote servers </a:t>
            </a:r>
            <a:r>
              <a:rPr lang="en-US" dirty="0"/>
              <a:t>on the internet to store, manage, and access data online rather than local drives. </a:t>
            </a:r>
          </a:p>
          <a:p>
            <a:r>
              <a:rPr lang="en-US" dirty="0"/>
              <a:t>The data can be anything such as files, images, documents, audio, video and more.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C8555C-58B2-A2FA-70D4-231605EC8AA0}"/>
              </a:ext>
            </a:extLst>
          </p:cNvPr>
          <p:cNvCxnSpPr/>
          <p:nvPr/>
        </p:nvCxnSpPr>
        <p:spPr>
          <a:xfrm>
            <a:off x="7379750" y="863600"/>
            <a:ext cx="0" cy="559117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052" name="Picture 4" descr=" Cloud Computing for Beginners">
            <a:extLst>
              <a:ext uri="{FF2B5EF4-FFF2-40B4-BE49-F238E27FC236}">
                <a16:creationId xmlns:a16="http://schemas.microsoft.com/office/drawing/2014/main" id="{12E6C310-80C1-D064-7DB4-13C992EB9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815" y="1111172"/>
            <a:ext cx="4726178" cy="4551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17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13D81-0374-DDC7-C982-A98313343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AEC38-13A3-9677-AA76-506024D65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What is Cloud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7F3C-8D9C-85FF-3760-C0260AAED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4" y="863600"/>
            <a:ext cx="11904726" cy="5591175"/>
          </a:xfrm>
        </p:spPr>
        <p:txBody>
          <a:bodyPr/>
          <a:lstStyle/>
          <a:p>
            <a:r>
              <a:rPr lang="en-IN" b="1" dirty="0"/>
              <a:t>Real-Life Example</a:t>
            </a:r>
          </a:p>
          <a:p>
            <a:r>
              <a:rPr lang="en-IN" dirty="0"/>
              <a:t>Suppose a college needs 50 computers for conducting an online exam for only three days.</a:t>
            </a:r>
          </a:p>
          <a:p>
            <a:r>
              <a:rPr lang="en-IN" dirty="0"/>
              <a:t>Traditional Approach:</a:t>
            </a:r>
          </a:p>
          <a:p>
            <a:pPr lvl="1"/>
            <a:r>
              <a:rPr lang="en-IN" dirty="0"/>
              <a:t>Purchase 50 computers </a:t>
            </a:r>
          </a:p>
          <a:p>
            <a:pPr lvl="1"/>
            <a:r>
              <a:rPr lang="en-IN" dirty="0"/>
              <a:t>Purchase servers </a:t>
            </a:r>
          </a:p>
          <a:p>
            <a:pPr lvl="1"/>
            <a:r>
              <a:rPr lang="en-IN" dirty="0"/>
              <a:t>Configure networking </a:t>
            </a:r>
          </a:p>
          <a:p>
            <a:pPr lvl="1"/>
            <a:r>
              <a:rPr lang="en-IN" dirty="0"/>
              <a:t>High investment </a:t>
            </a:r>
          </a:p>
          <a:p>
            <a:r>
              <a:rPr lang="en-IN" dirty="0"/>
              <a:t>Cloud Approach:</a:t>
            </a:r>
          </a:p>
          <a:p>
            <a:pPr lvl="1"/>
            <a:r>
              <a:rPr lang="en-IN" dirty="0"/>
              <a:t>Rent 50 virtual machines from AWS </a:t>
            </a:r>
          </a:p>
          <a:p>
            <a:pPr lvl="1"/>
            <a:r>
              <a:rPr lang="en-IN" dirty="0"/>
              <a:t>Use them for three days </a:t>
            </a:r>
          </a:p>
          <a:p>
            <a:pPr lvl="1"/>
            <a:r>
              <a:rPr lang="en-IN" dirty="0"/>
              <a:t>Pay only for usage </a:t>
            </a:r>
          </a:p>
          <a:p>
            <a:pPr lvl="1"/>
            <a:r>
              <a:rPr lang="en-IN" dirty="0"/>
              <a:t>This significantly reduces cost and setup time.</a:t>
            </a:r>
          </a:p>
        </p:txBody>
      </p:sp>
    </p:spTree>
    <p:extLst>
      <p:ext uri="{BB962C8B-B14F-4D97-AF65-F5344CB8AC3E}">
        <p14:creationId xmlns:p14="http://schemas.microsoft.com/office/powerpoint/2010/main" val="263971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7F438-7524-662A-EBEB-571F60B0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700DD-0965-1975-3653-CB51D390D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Why Cloud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6219-3670-CA88-3F1E-A16F3F738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4" y="863600"/>
            <a:ext cx="11904726" cy="5591175"/>
          </a:xfrm>
        </p:spPr>
        <p:txBody>
          <a:bodyPr/>
          <a:lstStyle/>
          <a:p>
            <a:r>
              <a:rPr lang="en-IN" dirty="0"/>
              <a:t>Traditional IT infrastructure has several limitations:</a:t>
            </a:r>
          </a:p>
          <a:p>
            <a:pPr lvl="1"/>
            <a:r>
              <a:rPr lang="en-IN" dirty="0"/>
              <a:t>High initial investment </a:t>
            </a:r>
          </a:p>
          <a:p>
            <a:pPr lvl="1"/>
            <a:r>
              <a:rPr lang="en-IN" dirty="0"/>
              <a:t>Maintenance cost </a:t>
            </a:r>
          </a:p>
          <a:p>
            <a:pPr lvl="1"/>
            <a:r>
              <a:rPr lang="en-IN" dirty="0"/>
              <a:t>Hardware upgrades </a:t>
            </a:r>
          </a:p>
          <a:p>
            <a:pPr lvl="1"/>
            <a:r>
              <a:rPr lang="en-IN" dirty="0"/>
              <a:t>Limited scalability </a:t>
            </a:r>
          </a:p>
          <a:p>
            <a:pPr lvl="1"/>
            <a:r>
              <a:rPr lang="en-IN" dirty="0"/>
              <a:t>Downtime due to failures </a:t>
            </a:r>
          </a:p>
          <a:p>
            <a:pPr lvl="1"/>
            <a:r>
              <a:rPr lang="en-IN" dirty="0"/>
              <a:t>Complex backup procedures </a:t>
            </a:r>
          </a:p>
          <a:p>
            <a:r>
              <a:rPr lang="en-IN" dirty="0"/>
              <a:t>Cloud Computing solves these issues by providing resources on demand.</a:t>
            </a:r>
          </a:p>
        </p:txBody>
      </p:sp>
    </p:spTree>
    <p:extLst>
      <p:ext uri="{BB962C8B-B14F-4D97-AF65-F5344CB8AC3E}">
        <p14:creationId xmlns:p14="http://schemas.microsoft.com/office/powerpoint/2010/main" val="323138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E724873-25E6-1963-EDB5-0010473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Operation of Cloud Computing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8BBCD9-E081-F2EA-53C8-44C96D4EB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Developing new applications and services</a:t>
            </a:r>
          </a:p>
          <a:p>
            <a:r>
              <a:rPr lang="en-US" dirty="0"/>
              <a:t>Storage, back up, and recovery of data</a:t>
            </a:r>
          </a:p>
          <a:p>
            <a:r>
              <a:rPr lang="en-US" dirty="0"/>
              <a:t>Hosting blogs and websites</a:t>
            </a:r>
          </a:p>
          <a:p>
            <a:r>
              <a:rPr lang="en-US" dirty="0"/>
              <a:t>Delivery of software on demand</a:t>
            </a:r>
          </a:p>
          <a:p>
            <a:r>
              <a:rPr lang="en-US" dirty="0"/>
              <a:t>Analysis of data</a:t>
            </a:r>
          </a:p>
          <a:p>
            <a:r>
              <a:rPr lang="en-US" dirty="0"/>
              <a:t>Streaming videos and audios</a:t>
            </a:r>
          </a:p>
          <a:p>
            <a:endParaRPr lang="en-US" dirty="0"/>
          </a:p>
        </p:txBody>
      </p:sp>
      <p:pic>
        <p:nvPicPr>
          <p:cNvPr id="8" name="Picture 2" descr="Types Of Cloud Computing Service Models">
            <a:extLst>
              <a:ext uri="{FF2B5EF4-FFF2-40B4-BE49-F238E27FC236}">
                <a16:creationId xmlns:a16="http://schemas.microsoft.com/office/drawing/2014/main" id="{89D79383-907A-CED4-12E9-A97B80C2AD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7" r="23677"/>
          <a:stretch/>
        </p:blipFill>
        <p:spPr bwMode="auto">
          <a:xfrm>
            <a:off x="5908623" y="1253322"/>
            <a:ext cx="5322360" cy="460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01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B52F2-BBA2-1C94-6E2A-21A5BCFF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D3727-8581-D496-2D1F-8B14C262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Characteristics of Cloud Computing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5EB5B-E8A5-46C0-186C-421CC38BA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2275128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02B4B-C44F-3C2C-0EF5-F7375A2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Characteristics of Cloud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AA690-15BA-056B-0E39-39809AFD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Agility</a:t>
            </a:r>
          </a:p>
          <a:p>
            <a:pPr lvl="1"/>
            <a:r>
              <a:rPr lang="en-US" sz="2200" dirty="0"/>
              <a:t>The cloud works in a </a:t>
            </a:r>
            <a:r>
              <a:rPr lang="en-US" sz="2200" dirty="0">
                <a:solidFill>
                  <a:srgbClr val="C00000"/>
                </a:solidFill>
              </a:rPr>
              <a:t>distributed computing environment</a:t>
            </a:r>
            <a:r>
              <a:rPr lang="en-US" sz="2200" dirty="0"/>
              <a:t>. It shares resources among users and works very fast.</a:t>
            </a:r>
          </a:p>
          <a:p>
            <a:r>
              <a:rPr lang="en-US" dirty="0"/>
              <a:t>High availability and reliability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availability</a:t>
            </a:r>
            <a:r>
              <a:rPr lang="en-US" sz="2200" dirty="0"/>
              <a:t> of servers is high and more reliable because the chances of </a:t>
            </a:r>
            <a:r>
              <a:rPr lang="en-US" sz="2200" dirty="0">
                <a:solidFill>
                  <a:srgbClr val="C00000"/>
                </a:solidFill>
              </a:rPr>
              <a:t>infrastructure failure are minimal</a:t>
            </a:r>
            <a:r>
              <a:rPr lang="en-US" sz="2200" dirty="0"/>
              <a:t>.</a:t>
            </a:r>
          </a:p>
          <a:p>
            <a:r>
              <a:rPr lang="en-IN" dirty="0"/>
              <a:t>High Scalability</a:t>
            </a:r>
          </a:p>
          <a:p>
            <a:pPr lvl="1"/>
            <a:r>
              <a:rPr lang="en-IN" sz="2200" dirty="0"/>
              <a:t>Cloud offers "</a:t>
            </a:r>
            <a:r>
              <a:rPr lang="en-IN" sz="2200" dirty="0">
                <a:solidFill>
                  <a:srgbClr val="C00000"/>
                </a:solidFill>
              </a:rPr>
              <a:t>on-demand</a:t>
            </a:r>
            <a:r>
              <a:rPr lang="en-IN" sz="2200" dirty="0"/>
              <a:t>" provisioning of resources on a large scale, without having engineers for peak loads.</a:t>
            </a:r>
          </a:p>
          <a:p>
            <a:r>
              <a:rPr lang="en-IN" dirty="0"/>
              <a:t>Device and Location Independence</a:t>
            </a:r>
          </a:p>
          <a:p>
            <a:pPr lvl="1"/>
            <a:r>
              <a:rPr lang="en-IN" sz="2200" dirty="0"/>
              <a:t>It enables the users to access systems using a web browser </a:t>
            </a:r>
            <a:r>
              <a:rPr lang="en-IN" sz="2200" dirty="0">
                <a:solidFill>
                  <a:srgbClr val="C00000"/>
                </a:solidFill>
              </a:rPr>
              <a:t>regardless of their location</a:t>
            </a:r>
            <a:r>
              <a:rPr lang="en-IN" sz="2200" dirty="0"/>
              <a:t> or what device they use e.g. PC, mobile phone, etc. </a:t>
            </a:r>
          </a:p>
          <a:p>
            <a:pPr lvl="1"/>
            <a:r>
              <a:rPr lang="en-IN" sz="2200" dirty="0"/>
              <a:t>As infrastructure is </a:t>
            </a:r>
            <a:r>
              <a:rPr lang="en-IN" sz="2200" dirty="0">
                <a:solidFill>
                  <a:srgbClr val="C00000"/>
                </a:solidFill>
              </a:rPr>
              <a:t>off-site</a:t>
            </a:r>
            <a:r>
              <a:rPr lang="en-IN" sz="2200" dirty="0"/>
              <a:t> and </a:t>
            </a:r>
            <a:r>
              <a:rPr lang="en-IN" sz="2200" dirty="0">
                <a:solidFill>
                  <a:srgbClr val="C00000"/>
                </a:solidFill>
              </a:rPr>
              <a:t>accessed</a:t>
            </a:r>
            <a:r>
              <a:rPr lang="en-IN" sz="2200" dirty="0"/>
              <a:t> via the Internet, users can connect from anywhere.</a:t>
            </a:r>
          </a:p>
        </p:txBody>
      </p:sp>
    </p:spTree>
    <p:extLst>
      <p:ext uri="{BB962C8B-B14F-4D97-AF65-F5344CB8AC3E}">
        <p14:creationId xmlns:p14="http://schemas.microsoft.com/office/powerpoint/2010/main" val="1896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02B4B-C44F-3C2C-0EF5-F7375A2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Characteristics of Cloud Computing – Cont.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AA690-15BA-056B-0E39-39809AFD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/>
              <a:t>Multi-Sharing</a:t>
            </a:r>
          </a:p>
          <a:p>
            <a:pPr lvl="1"/>
            <a:r>
              <a:rPr lang="en-IN" sz="2200" dirty="0"/>
              <a:t>Multiple users and applications can work more efficiently with </a:t>
            </a:r>
            <a:r>
              <a:rPr lang="en-IN" sz="2200" dirty="0">
                <a:solidFill>
                  <a:srgbClr val="C00000"/>
                </a:solidFill>
              </a:rPr>
              <a:t>cost reductions </a:t>
            </a:r>
            <a:r>
              <a:rPr lang="en-IN" sz="2200" dirty="0"/>
              <a:t>by sharing </a:t>
            </a:r>
            <a:r>
              <a:rPr lang="en-IN" sz="2200" dirty="0">
                <a:solidFill>
                  <a:srgbClr val="C00000"/>
                </a:solidFill>
              </a:rPr>
              <a:t>common infrastructure</a:t>
            </a:r>
            <a:r>
              <a:rPr lang="en-IN" sz="2200" dirty="0"/>
              <a:t>.</a:t>
            </a:r>
          </a:p>
          <a:p>
            <a:r>
              <a:rPr lang="en-IN" dirty="0"/>
              <a:t>Maintenance</a:t>
            </a:r>
          </a:p>
          <a:p>
            <a:pPr lvl="1"/>
            <a:r>
              <a:rPr lang="en-IN" sz="2200" dirty="0"/>
              <a:t>Maintenance of cloud computing applications is </a:t>
            </a:r>
            <a:r>
              <a:rPr lang="en-IN" sz="2200" dirty="0">
                <a:solidFill>
                  <a:srgbClr val="C00000"/>
                </a:solidFill>
              </a:rPr>
              <a:t>easier</a:t>
            </a:r>
            <a:r>
              <a:rPr lang="en-IN" sz="2200" dirty="0"/>
              <a:t>, since they </a:t>
            </a:r>
            <a:r>
              <a:rPr lang="en-IN" sz="2200" dirty="0">
                <a:solidFill>
                  <a:srgbClr val="C00000"/>
                </a:solidFill>
              </a:rPr>
              <a:t>do not need to be installed </a:t>
            </a:r>
            <a:r>
              <a:rPr lang="en-IN" sz="2200" dirty="0"/>
              <a:t>on each user's computer and can be accessed from different places. </a:t>
            </a:r>
          </a:p>
          <a:p>
            <a:r>
              <a:rPr lang="en-IN" dirty="0"/>
              <a:t>Low Cost</a:t>
            </a:r>
          </a:p>
          <a:p>
            <a:pPr lvl="1"/>
            <a:r>
              <a:rPr lang="en-IN" sz="2200" dirty="0"/>
              <a:t>The cost will be reduced because to take the services of cloud computing, IT company </a:t>
            </a:r>
            <a:r>
              <a:rPr lang="en-IN" sz="2200" dirty="0">
                <a:solidFill>
                  <a:srgbClr val="C00000"/>
                </a:solidFill>
              </a:rPr>
              <a:t>need not to set its own infrastructure </a:t>
            </a:r>
            <a:r>
              <a:rPr lang="en-IN" sz="2200" dirty="0"/>
              <a:t>and </a:t>
            </a:r>
            <a:r>
              <a:rPr lang="en-IN" sz="2200" dirty="0">
                <a:solidFill>
                  <a:srgbClr val="C00000"/>
                </a:solidFill>
              </a:rPr>
              <a:t>pay-as-per usage </a:t>
            </a:r>
            <a:r>
              <a:rPr lang="en-IN" sz="2200" dirty="0"/>
              <a:t>of resources.</a:t>
            </a:r>
          </a:p>
          <a:p>
            <a:r>
              <a:rPr lang="en-IN" dirty="0"/>
              <a:t>Services in the pay-per-use mode</a:t>
            </a:r>
          </a:p>
          <a:p>
            <a:pPr lvl="1"/>
            <a:r>
              <a:rPr lang="en-IN" sz="2200" dirty="0"/>
              <a:t>Application Programming Interfaces (APIs) are provided to the users so that they can access services on the cloud by using these APIs and </a:t>
            </a:r>
            <a:r>
              <a:rPr lang="en-IN" sz="2200" dirty="0">
                <a:solidFill>
                  <a:srgbClr val="C00000"/>
                </a:solidFill>
              </a:rPr>
              <a:t>pay the charges as per the usage </a:t>
            </a:r>
            <a:r>
              <a:rPr lang="en-IN" sz="2200" dirty="0"/>
              <a:t>of services.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842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02B4B-C44F-3C2C-0EF5-F7375A2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Advantages of Cloud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AA690-15BA-056B-0E39-39809AFD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Back-up and Restore data</a:t>
            </a:r>
          </a:p>
          <a:p>
            <a:r>
              <a:rPr lang="en-US" dirty="0"/>
              <a:t>Improved Collaboration</a:t>
            </a:r>
          </a:p>
          <a:p>
            <a:r>
              <a:rPr lang="en-IN" dirty="0"/>
              <a:t>Excellent Accessibility – Anytime - Anywhere</a:t>
            </a:r>
          </a:p>
          <a:p>
            <a:r>
              <a:rPr lang="en-IN" dirty="0"/>
              <a:t>Low Maintenance Cost</a:t>
            </a:r>
          </a:p>
          <a:p>
            <a:r>
              <a:rPr lang="en-IN" dirty="0"/>
              <a:t>Mobility</a:t>
            </a:r>
          </a:p>
          <a:p>
            <a:r>
              <a:rPr lang="en-IN" dirty="0"/>
              <a:t>Services in the pay-per-use Model</a:t>
            </a:r>
          </a:p>
          <a:p>
            <a:r>
              <a:rPr lang="en-IN" dirty="0"/>
              <a:t>Unlimited Storage Capacity</a:t>
            </a:r>
          </a:p>
          <a:p>
            <a:r>
              <a:rPr lang="en-IN" dirty="0"/>
              <a:t>Data security</a:t>
            </a:r>
          </a:p>
        </p:txBody>
      </p:sp>
      <p:pic>
        <p:nvPicPr>
          <p:cNvPr id="5122" name="Picture 2" descr="Advantages of Cloud Computing">
            <a:extLst>
              <a:ext uri="{FF2B5EF4-FFF2-40B4-BE49-F238E27FC236}">
                <a16:creationId xmlns:a16="http://schemas.microsoft.com/office/drawing/2014/main" id="{AE92C998-0ED4-0C9F-04A9-406994C4C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702" y="989702"/>
            <a:ext cx="5712535" cy="457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64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02B4B-C44F-3C2C-0EF5-F7375A2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Disadvantages of Cloud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AA690-15BA-056B-0E39-39809AFD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/>
              <a:t>Internet Connectivity</a:t>
            </a:r>
          </a:p>
          <a:p>
            <a:r>
              <a:rPr lang="en-IN" dirty="0"/>
              <a:t>Vendor Lock-in</a:t>
            </a:r>
          </a:p>
          <a:p>
            <a:r>
              <a:rPr lang="en-IN" dirty="0"/>
              <a:t>Limited Control</a:t>
            </a:r>
          </a:p>
          <a:p>
            <a:r>
              <a:rPr lang="en-IN" dirty="0"/>
              <a:t>Security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58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5F2D8-DFC2-655D-0162-FEB087768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51A4-8854-77B5-40AB-454279C0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Origin of Cloud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43A52-0528-006A-D7E2-D5FAE293D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2743677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02B4B-C44F-3C2C-0EF5-F7375A2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Origin of Cloud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AA690-15BA-056B-0E39-39809AFD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8646477" cy="5591175"/>
          </a:xfrm>
        </p:spPr>
        <p:txBody>
          <a:bodyPr/>
          <a:lstStyle/>
          <a:p>
            <a:r>
              <a:rPr lang="en-IN" b="1" dirty="0"/>
              <a:t>1960s - </a:t>
            </a:r>
            <a:r>
              <a:rPr lang="en-IN" dirty="0"/>
              <a:t>John McCarthy proposed computing as a public utility.</a:t>
            </a:r>
          </a:p>
          <a:p>
            <a:r>
              <a:rPr lang="en-IN" b="1" dirty="0"/>
              <a:t>1970s - </a:t>
            </a:r>
            <a:r>
              <a:rPr lang="en-IN" dirty="0"/>
              <a:t>IBM introduced Virtual Machines.</a:t>
            </a:r>
          </a:p>
          <a:p>
            <a:r>
              <a:rPr lang="en-IN" b="1" dirty="0"/>
              <a:t>1990s - </a:t>
            </a:r>
            <a:r>
              <a:rPr lang="en-IN" dirty="0"/>
              <a:t>Internet became commercially available. Application Service Providers (ASP) emerged.</a:t>
            </a:r>
          </a:p>
          <a:p>
            <a:r>
              <a:rPr lang="en-IN" b="1" dirty="0"/>
              <a:t>2002 - </a:t>
            </a:r>
            <a:r>
              <a:rPr lang="en-IN" dirty="0"/>
              <a:t>Amazon launched Amazon Web Services (AWS).</a:t>
            </a:r>
          </a:p>
          <a:p>
            <a:r>
              <a:rPr lang="en-IN" b="1" dirty="0"/>
              <a:t>2006 - </a:t>
            </a:r>
            <a:r>
              <a:rPr lang="en-IN" dirty="0"/>
              <a:t>AWS launched EC2. Cloud Computing became commercially popular.</a:t>
            </a:r>
          </a:p>
          <a:p>
            <a:r>
              <a:rPr lang="en-IN" b="1" dirty="0"/>
              <a:t>2008 - </a:t>
            </a:r>
            <a:r>
              <a:rPr lang="en-IN" dirty="0"/>
              <a:t>Google launched Google App Engine.</a:t>
            </a:r>
          </a:p>
          <a:p>
            <a:r>
              <a:rPr lang="en-IN" b="1" dirty="0"/>
              <a:t>2010 - </a:t>
            </a:r>
            <a:r>
              <a:rPr lang="en-IN" dirty="0"/>
              <a:t>Microsoft launched Azure.</a:t>
            </a:r>
          </a:p>
          <a:p>
            <a:r>
              <a:rPr lang="en-IN" b="1" dirty="0"/>
              <a:t>Today</a:t>
            </a:r>
          </a:p>
          <a:p>
            <a:pPr lvl="1"/>
            <a:r>
              <a:rPr lang="en-IN" dirty="0"/>
              <a:t>Cloud Computing powers:</a:t>
            </a:r>
          </a:p>
          <a:p>
            <a:pPr lvl="1"/>
            <a:r>
              <a:rPr lang="en-IN" dirty="0"/>
              <a:t>Netflix, Amazon, Google, Facebook, Spotify, Banking, Healthcare, Education 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2" name="Down Arrow Callout 1">
            <a:extLst>
              <a:ext uri="{FF2B5EF4-FFF2-40B4-BE49-F238E27FC236}">
                <a16:creationId xmlns:a16="http://schemas.microsoft.com/office/drawing/2014/main" id="{162B36C0-C579-3D75-B3F2-BDABEB8198B5}"/>
              </a:ext>
            </a:extLst>
          </p:cNvPr>
          <p:cNvSpPr/>
          <p:nvPr/>
        </p:nvSpPr>
        <p:spPr>
          <a:xfrm>
            <a:off x="9262334" y="1159137"/>
            <a:ext cx="2710927" cy="672353"/>
          </a:xfrm>
          <a:prstGeom prst="downArrowCallou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Client/Server Computing</a:t>
            </a:r>
          </a:p>
        </p:txBody>
      </p:sp>
      <p:sp>
        <p:nvSpPr>
          <p:cNvPr id="3" name="Down Arrow Callout 2">
            <a:extLst>
              <a:ext uri="{FF2B5EF4-FFF2-40B4-BE49-F238E27FC236}">
                <a16:creationId xmlns:a16="http://schemas.microsoft.com/office/drawing/2014/main" id="{4B5CFE15-286D-F0E0-8F39-D44D4E11501D}"/>
              </a:ext>
            </a:extLst>
          </p:cNvPr>
          <p:cNvSpPr/>
          <p:nvPr/>
        </p:nvSpPr>
        <p:spPr>
          <a:xfrm>
            <a:off x="9262333" y="2179768"/>
            <a:ext cx="2710927" cy="672353"/>
          </a:xfrm>
          <a:prstGeom prst="downArrowCallou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Distributed Computing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242C02-06FC-E71A-DB0E-330A4BDB2925}"/>
              </a:ext>
            </a:extLst>
          </p:cNvPr>
          <p:cNvSpPr/>
          <p:nvPr/>
        </p:nvSpPr>
        <p:spPr>
          <a:xfrm>
            <a:off x="9262334" y="3200399"/>
            <a:ext cx="2710927" cy="45720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98734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 animBg="1"/>
      <p:bldP spid="3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02C14-EC86-6F61-D843-941387F3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6339-BFB4-7B17-0A6D-EF5EF53F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Cloud Computing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3ACFB-F0CB-D4AB-7866-6217D8371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731349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02B4B-C44F-3C2C-0EF5-F7375A2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Cloud Computing 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AA690-15BA-056B-0E39-39809AFD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7011315" cy="5591175"/>
          </a:xfrm>
        </p:spPr>
        <p:txBody>
          <a:bodyPr/>
          <a:lstStyle/>
          <a:p>
            <a:r>
              <a:rPr lang="en-IN" dirty="0"/>
              <a:t>Cloud computing technology is used by both small and large organizations to store the information in cloud and access it from </a:t>
            </a:r>
            <a:r>
              <a:rPr lang="en-IN" dirty="0">
                <a:solidFill>
                  <a:srgbClr val="C00000"/>
                </a:solidFill>
              </a:rPr>
              <a:t>anywhere at anytime </a:t>
            </a:r>
            <a:r>
              <a:rPr lang="en-IN" dirty="0"/>
              <a:t>using the internet connection.</a:t>
            </a:r>
          </a:p>
          <a:p>
            <a:r>
              <a:rPr lang="en-IN" dirty="0"/>
              <a:t>Cloud computing architecture is a combination of </a:t>
            </a:r>
            <a:r>
              <a:rPr lang="en-IN" dirty="0">
                <a:solidFill>
                  <a:srgbClr val="C00000"/>
                </a:solidFill>
              </a:rPr>
              <a:t>service-oriented architecture </a:t>
            </a:r>
            <a:r>
              <a:rPr lang="en-IN" dirty="0"/>
              <a:t>and </a:t>
            </a:r>
            <a:r>
              <a:rPr lang="en-IN" dirty="0">
                <a:solidFill>
                  <a:srgbClr val="C00000"/>
                </a:solidFill>
              </a:rPr>
              <a:t>event-driven architecture</a:t>
            </a:r>
            <a:r>
              <a:rPr lang="en-IN" dirty="0"/>
              <a:t>.</a:t>
            </a:r>
          </a:p>
          <a:p>
            <a:r>
              <a:rPr lang="en-IN" dirty="0"/>
              <a:t>It is divided into the following two parts:</a:t>
            </a:r>
          </a:p>
          <a:p>
            <a:pPr lvl="1"/>
            <a:r>
              <a:rPr lang="en-IN" sz="2200" dirty="0"/>
              <a:t>Front End</a:t>
            </a:r>
          </a:p>
          <a:p>
            <a:pPr lvl="1"/>
            <a:r>
              <a:rPr lang="en-IN" sz="2200" dirty="0"/>
              <a:t>Back End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Cloud Computing Architecture">
            <a:extLst>
              <a:ext uri="{FF2B5EF4-FFF2-40B4-BE49-F238E27FC236}">
                <a16:creationId xmlns:a16="http://schemas.microsoft.com/office/drawing/2014/main" id="{3331C5F5-0230-A1ED-0BD4-38EAF01E8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504" y="863600"/>
            <a:ext cx="4962097" cy="387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58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02B4B-C44F-3C2C-0EF5-F7375A2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Cloud Computing Architecture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AA690-15BA-056B-0E39-39809AFD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b="1" dirty="0"/>
              <a:t>Front End </a:t>
            </a:r>
            <a:r>
              <a:rPr lang="en-IN" dirty="0"/>
              <a:t>:</a:t>
            </a:r>
          </a:p>
          <a:p>
            <a:pPr lvl="1"/>
            <a:r>
              <a:rPr lang="en-IN" sz="2400" dirty="0"/>
              <a:t>The front end is used by the </a:t>
            </a:r>
            <a:r>
              <a:rPr lang="en-IN" sz="2400" dirty="0">
                <a:solidFill>
                  <a:srgbClr val="C00000"/>
                </a:solidFill>
              </a:rPr>
              <a:t>client</a:t>
            </a:r>
            <a:r>
              <a:rPr lang="en-IN" sz="2400" dirty="0"/>
              <a:t>.</a:t>
            </a:r>
            <a:r>
              <a:rPr lang="en-IN" sz="2400" dirty="0">
                <a:solidFill>
                  <a:schemeClr val="accent6"/>
                </a:solidFill>
              </a:rPr>
              <a:t> </a:t>
            </a:r>
          </a:p>
          <a:p>
            <a:pPr lvl="1"/>
            <a:r>
              <a:rPr lang="en-IN" sz="2400" dirty="0"/>
              <a:t>It contains client-side interfaces and applications that are required to access the cloud computing platforms. </a:t>
            </a:r>
          </a:p>
          <a:p>
            <a:pPr lvl="1"/>
            <a:r>
              <a:rPr lang="en-IN" sz="2400" dirty="0"/>
              <a:t>The front end includes </a:t>
            </a:r>
            <a:r>
              <a:rPr lang="en-IN" sz="2400"/>
              <a:t>web browser </a:t>
            </a:r>
            <a:r>
              <a:rPr lang="en-IN" sz="2400" dirty="0"/>
              <a:t>(including Chrome, Firefox, internet explorer, etc.), tablets, and mobile devices.</a:t>
            </a:r>
          </a:p>
          <a:p>
            <a:pPr lvl="1"/>
            <a:r>
              <a:rPr lang="en-IN" sz="2400" dirty="0"/>
              <a:t>Components: Web Browser, Mobile Application, Desktop Application, API</a:t>
            </a:r>
          </a:p>
          <a:p>
            <a:r>
              <a:rPr lang="en-IN" b="1" dirty="0"/>
              <a:t>Back End </a:t>
            </a:r>
            <a:r>
              <a:rPr lang="en-IN" dirty="0"/>
              <a:t>:</a:t>
            </a:r>
          </a:p>
          <a:p>
            <a:pPr lvl="1"/>
            <a:r>
              <a:rPr lang="en-IN" sz="2400" dirty="0"/>
              <a:t>The back end is used by the </a:t>
            </a:r>
            <a:r>
              <a:rPr lang="en-IN" sz="2400" dirty="0">
                <a:solidFill>
                  <a:srgbClr val="C00000"/>
                </a:solidFill>
              </a:rPr>
              <a:t>service provider</a:t>
            </a:r>
            <a:r>
              <a:rPr lang="en-IN" sz="2400" dirty="0"/>
              <a:t>.</a:t>
            </a:r>
            <a:r>
              <a:rPr lang="en-IN" sz="2400" dirty="0">
                <a:solidFill>
                  <a:schemeClr val="accent6"/>
                </a:solidFill>
              </a:rPr>
              <a:t> </a:t>
            </a:r>
          </a:p>
          <a:p>
            <a:pPr lvl="1"/>
            <a:r>
              <a:rPr lang="en-IN" sz="2400" dirty="0"/>
              <a:t>It manages all the resources that are required to provide cloud computing services. </a:t>
            </a:r>
          </a:p>
          <a:p>
            <a:pPr lvl="1"/>
            <a:r>
              <a:rPr lang="en-IN" sz="2400" dirty="0"/>
              <a:t>It includes a huge amount of data storage, security mechanisms, virtual machines, deploying models, servers, traffic control mechanisms, etc.</a:t>
            </a:r>
          </a:p>
          <a:p>
            <a:pPr lvl="1"/>
            <a:r>
              <a:rPr lang="en-IN" sz="2400" dirty="0"/>
              <a:t>Components: </a:t>
            </a:r>
            <a:r>
              <a:rPr lang="en-IN" sz="2400" dirty="0" err="1"/>
              <a:t>ServersStorage</a:t>
            </a:r>
            <a:r>
              <a:rPr lang="en-IN" sz="2400" dirty="0"/>
              <a:t>, Virtual Machines, Databases, Security Networking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1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02B4B-C44F-3C2C-0EF5-F7375A2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Components of Cloud Computing 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AA690-15BA-056B-0E39-39809AFD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b="1"/>
              <a:t>Application</a:t>
            </a:r>
            <a:endParaRPr lang="en-IN" b="1" dirty="0"/>
          </a:p>
          <a:p>
            <a:pPr lvl="1"/>
            <a:r>
              <a:rPr lang="en-IN" sz="2200" dirty="0"/>
              <a:t>The application may be </a:t>
            </a:r>
            <a:r>
              <a:rPr lang="en-IN" sz="2200" dirty="0">
                <a:solidFill>
                  <a:srgbClr val="C00000"/>
                </a:solidFill>
              </a:rPr>
              <a:t>any software or platform</a:t>
            </a:r>
            <a:r>
              <a:rPr lang="en-IN" sz="2200" dirty="0">
                <a:solidFill>
                  <a:schemeClr val="accent6"/>
                </a:solidFill>
              </a:rPr>
              <a:t> </a:t>
            </a:r>
            <a:r>
              <a:rPr lang="en-IN" sz="2200" dirty="0"/>
              <a:t>that a client wants to access.</a:t>
            </a:r>
          </a:p>
          <a:p>
            <a:r>
              <a:rPr lang="en-IN" b="1" dirty="0"/>
              <a:t>Service</a:t>
            </a:r>
          </a:p>
          <a:p>
            <a:pPr lvl="1"/>
            <a:r>
              <a:rPr lang="en-IN" sz="2200" dirty="0"/>
              <a:t>A Cloud Services manages that which type of service you access according to the </a:t>
            </a:r>
            <a:r>
              <a:rPr lang="en-IN" sz="2200" dirty="0">
                <a:solidFill>
                  <a:srgbClr val="C00000"/>
                </a:solidFill>
              </a:rPr>
              <a:t>client’s requirement</a:t>
            </a:r>
            <a:r>
              <a:rPr lang="en-IN" sz="22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Software as a Service </a:t>
            </a:r>
            <a:r>
              <a:rPr lang="en-IN" b="1" dirty="0">
                <a:solidFill>
                  <a:srgbClr val="C00000"/>
                </a:solidFill>
              </a:rPr>
              <a:t>(SaaS)</a:t>
            </a:r>
          </a:p>
          <a:p>
            <a:pPr lvl="1"/>
            <a:r>
              <a:rPr lang="en-IN" sz="2200" dirty="0"/>
              <a:t>Example: Google Apps, Salesforce Dropbox, Slack, </a:t>
            </a:r>
            <a:r>
              <a:rPr lang="en-IN" sz="2200" dirty="0" err="1"/>
              <a:t>Hubspot</a:t>
            </a:r>
            <a:r>
              <a:rPr lang="en-IN" sz="2200" dirty="0"/>
              <a:t>, Cisco WebEx.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Platform as a Service </a:t>
            </a:r>
            <a:r>
              <a:rPr lang="en-IN" b="1" dirty="0">
                <a:solidFill>
                  <a:srgbClr val="C00000"/>
                </a:solidFill>
              </a:rPr>
              <a:t>(PaaS)</a:t>
            </a:r>
          </a:p>
          <a:p>
            <a:pPr lvl="1"/>
            <a:r>
              <a:rPr lang="en-IN" sz="2200" dirty="0"/>
              <a:t>Example: Windows Azure, </a:t>
            </a:r>
            <a:r>
              <a:rPr lang="en-IN" sz="2200" dirty="0" err="1"/>
              <a:t>Force.com</a:t>
            </a:r>
            <a:r>
              <a:rPr lang="en-IN" sz="2200" dirty="0"/>
              <a:t>, Magento Commerce Cloud, OpenShift.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Infrastructure as a Service </a:t>
            </a:r>
            <a:r>
              <a:rPr lang="en-IN" b="1" dirty="0">
                <a:solidFill>
                  <a:srgbClr val="C00000"/>
                </a:solidFill>
              </a:rPr>
              <a:t>(IaaS)</a:t>
            </a:r>
          </a:p>
          <a:p>
            <a:pPr lvl="1"/>
            <a:r>
              <a:rPr lang="en-IN" sz="2200" dirty="0"/>
              <a:t>Example: Amazon Web Services (AWS) EC2, Google Compute Engine (GCE), </a:t>
            </a:r>
          </a:p>
          <a:p>
            <a:pPr marL="457200" lvl="1" indent="0">
              <a:buNone/>
            </a:pPr>
            <a:r>
              <a:rPr lang="en-IN" sz="2200" dirty="0"/>
              <a:t>                      Cisco </a:t>
            </a:r>
            <a:r>
              <a:rPr lang="en-IN" sz="2200" dirty="0" err="1"/>
              <a:t>Metapod</a:t>
            </a:r>
            <a:r>
              <a:rPr lang="en-IN" sz="22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821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02B4B-C44F-3C2C-0EF5-F7375A2D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Components of Cloud Computing Architecture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AA690-15BA-056B-0E39-39809AFD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928475" cy="5591175"/>
          </a:xfrm>
        </p:spPr>
        <p:txBody>
          <a:bodyPr/>
          <a:lstStyle/>
          <a:p>
            <a:r>
              <a:rPr lang="en-IN" b="1" dirty="0"/>
              <a:t>Runtime Cloud</a:t>
            </a:r>
          </a:p>
          <a:p>
            <a:pPr lvl="1"/>
            <a:r>
              <a:rPr lang="en-IN" sz="2200" dirty="0"/>
              <a:t>Runtime Cloud provides the </a:t>
            </a:r>
            <a:r>
              <a:rPr lang="en-IN" sz="2200" dirty="0">
                <a:solidFill>
                  <a:srgbClr val="C00000"/>
                </a:solidFill>
              </a:rPr>
              <a:t>execution and runtime environment </a:t>
            </a:r>
            <a:r>
              <a:rPr lang="en-IN" sz="2200" dirty="0"/>
              <a:t>to the virtual machines.</a:t>
            </a:r>
          </a:p>
          <a:p>
            <a:r>
              <a:rPr lang="en-IN" b="1" dirty="0"/>
              <a:t>Storage</a:t>
            </a:r>
          </a:p>
          <a:p>
            <a:pPr lvl="1"/>
            <a:r>
              <a:rPr lang="en-IN" sz="2200" dirty="0"/>
              <a:t>Storage is one of the most important components of cloud computing. It provides a </a:t>
            </a:r>
            <a:r>
              <a:rPr lang="en-IN" sz="2200" dirty="0">
                <a:solidFill>
                  <a:srgbClr val="C00000"/>
                </a:solidFill>
              </a:rPr>
              <a:t>huge amount of storage capacity</a:t>
            </a:r>
            <a:r>
              <a:rPr lang="en-IN" sz="2200" dirty="0">
                <a:solidFill>
                  <a:schemeClr val="accent6"/>
                </a:solidFill>
              </a:rPr>
              <a:t> </a:t>
            </a:r>
            <a:r>
              <a:rPr lang="en-IN" sz="2200" dirty="0"/>
              <a:t>in the cloud to store and manage data.</a:t>
            </a:r>
          </a:p>
          <a:p>
            <a:r>
              <a:rPr lang="en-IN" b="1" dirty="0"/>
              <a:t>Infrastructure</a:t>
            </a:r>
          </a:p>
          <a:p>
            <a:pPr lvl="1"/>
            <a:r>
              <a:rPr lang="en-IN" sz="2200" dirty="0"/>
              <a:t>It provides services on the host level, application level, and network level. </a:t>
            </a:r>
          </a:p>
          <a:p>
            <a:pPr lvl="1"/>
            <a:r>
              <a:rPr lang="en-IN" sz="2200" dirty="0"/>
              <a:t>Cloud infrastructure includes hardware and software components such as </a:t>
            </a:r>
            <a:r>
              <a:rPr lang="en-IN" sz="2200" dirty="0">
                <a:solidFill>
                  <a:srgbClr val="C00000"/>
                </a:solidFill>
              </a:rPr>
              <a:t>servers, storage, network devices, virtualization software</a:t>
            </a:r>
            <a:r>
              <a:rPr lang="en-IN" sz="2200" dirty="0"/>
              <a:t>, and other storage resources that are needed to support the cloud computing model.</a:t>
            </a:r>
          </a:p>
          <a:p>
            <a:r>
              <a:rPr lang="en-IN" b="1" dirty="0"/>
              <a:t>Management</a:t>
            </a:r>
          </a:p>
          <a:p>
            <a:pPr lvl="1"/>
            <a:r>
              <a:rPr lang="en-IN" sz="2200" dirty="0"/>
              <a:t>It is used to manage components such as application, service, runtime cloud, storage, infrastructure, and other security issues in the backend and establish coordination between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21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6A69-491D-BC92-8A0B-10B1635C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744C15-B4DF-D909-B097-A4D06A5D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Components of Cloud Computing 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9472D7-F9EE-E925-343C-DF6E1BF40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928475" cy="5591175"/>
          </a:xfrm>
        </p:spPr>
        <p:txBody>
          <a:bodyPr/>
          <a:lstStyle/>
          <a:p>
            <a:r>
              <a:rPr lang="en-IN" b="1" dirty="0"/>
              <a:t>Security</a:t>
            </a:r>
          </a:p>
          <a:p>
            <a:pPr lvl="1"/>
            <a:r>
              <a:rPr lang="en-IN" sz="2200" dirty="0"/>
              <a:t>Security is an in-built back end component of cloud computing. It implements a </a:t>
            </a:r>
            <a:r>
              <a:rPr lang="en-IN" sz="2200" dirty="0">
                <a:solidFill>
                  <a:srgbClr val="C00000"/>
                </a:solidFill>
              </a:rPr>
              <a:t>security mechanism in the back end</a:t>
            </a:r>
            <a:r>
              <a:rPr lang="en-IN" sz="2200" dirty="0"/>
              <a:t>.</a:t>
            </a:r>
          </a:p>
          <a:p>
            <a:r>
              <a:rPr lang="en-IN" b="1" dirty="0"/>
              <a:t>Internet</a:t>
            </a:r>
          </a:p>
          <a:p>
            <a:pPr lvl="1"/>
            <a:r>
              <a:rPr lang="en-IN" sz="2200" dirty="0"/>
              <a:t>The Internet is medium through which </a:t>
            </a:r>
            <a:r>
              <a:rPr lang="en-IN" sz="2200" dirty="0">
                <a:solidFill>
                  <a:srgbClr val="C00000"/>
                </a:solidFill>
              </a:rPr>
              <a:t>front end </a:t>
            </a:r>
            <a:r>
              <a:rPr lang="en-IN" sz="2200" dirty="0"/>
              <a:t>and</a:t>
            </a:r>
            <a:r>
              <a:rPr lang="en-IN" sz="2200" dirty="0">
                <a:solidFill>
                  <a:srgbClr val="C00000"/>
                </a:solidFill>
              </a:rPr>
              <a:t> back end </a:t>
            </a:r>
            <a:r>
              <a:rPr lang="en-IN" sz="2200" dirty="0"/>
              <a:t>can</a:t>
            </a:r>
            <a:r>
              <a:rPr lang="en-IN" sz="2200" dirty="0">
                <a:solidFill>
                  <a:srgbClr val="C00000"/>
                </a:solidFill>
              </a:rPr>
              <a:t> interact </a:t>
            </a:r>
            <a:r>
              <a:rPr lang="en-IN" sz="2200" dirty="0"/>
              <a:t>and communicate with each 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4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A3F0B-458B-E03C-7D97-098D2B71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CA1D9-CD9B-1964-8887-B1B0C4D78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Cloud Computing Technologies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5957E-9E3E-E0AE-671E-D01172906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2990502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87BC-54EC-3F0D-48E9-C918F3B2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FE9D2-2C1C-40AE-8E7B-C5349CC46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  <a:p>
            <a:r>
              <a:rPr lang="en-US" dirty="0"/>
              <a:t>Service-Oriented Architecture (SOA)</a:t>
            </a:r>
          </a:p>
          <a:p>
            <a:r>
              <a:rPr lang="en-US" dirty="0"/>
              <a:t>Grid Computing</a:t>
            </a:r>
          </a:p>
          <a:p>
            <a:r>
              <a:rPr lang="en-US" dirty="0"/>
              <a:t>Utility Computing</a:t>
            </a:r>
          </a:p>
        </p:txBody>
      </p:sp>
    </p:spTree>
    <p:extLst>
      <p:ext uri="{BB962C8B-B14F-4D97-AF65-F5344CB8AC3E}">
        <p14:creationId xmlns:p14="http://schemas.microsoft.com/office/powerpoint/2010/main" val="65594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1F3D-BC7A-2004-8788-00F62C0A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81C1A-9992-CB3F-9DE9-DCE30398E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Virtualization is the process of </a:t>
            </a:r>
            <a:r>
              <a:rPr lang="en-US" dirty="0">
                <a:solidFill>
                  <a:srgbClr val="C00000"/>
                </a:solidFill>
              </a:rPr>
              <a:t>creating a virtual environment </a:t>
            </a:r>
            <a:r>
              <a:rPr lang="en-US" dirty="0"/>
              <a:t>to run multiple applications and operating systems on the same server. </a:t>
            </a:r>
          </a:p>
          <a:p>
            <a:r>
              <a:rPr lang="en-US" dirty="0"/>
              <a:t>The virtual environment can be anything like single instance or a combination of many operating systems, storage devices, network application servers, and other environments.</a:t>
            </a:r>
          </a:p>
          <a:p>
            <a:r>
              <a:rPr lang="en-US" dirty="0"/>
              <a:t>The concept of Virtualization in cloud computing </a:t>
            </a:r>
            <a:r>
              <a:rPr lang="en-US" dirty="0">
                <a:solidFill>
                  <a:srgbClr val="C00000"/>
                </a:solidFill>
              </a:rPr>
              <a:t>increases the use of virtual machines</a:t>
            </a:r>
            <a:r>
              <a:rPr lang="en-US" dirty="0"/>
              <a:t>. </a:t>
            </a:r>
          </a:p>
          <a:p>
            <a:r>
              <a:rPr lang="en-US" dirty="0"/>
              <a:t>A virtual machine is a </a:t>
            </a:r>
            <a:r>
              <a:rPr lang="en-US" dirty="0">
                <a:solidFill>
                  <a:srgbClr val="C00000"/>
                </a:solidFill>
              </a:rPr>
              <a:t>software computer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software program </a:t>
            </a:r>
            <a:r>
              <a:rPr lang="en-US" dirty="0"/>
              <a:t>that not only works as a physical computer. </a:t>
            </a:r>
          </a:p>
          <a:p>
            <a:r>
              <a:rPr lang="en-US" dirty="0"/>
              <a:t>It can function as a physical machine and perform tasks such as running applications or programs as per the user's demand.</a:t>
            </a:r>
          </a:p>
        </p:txBody>
      </p:sp>
    </p:spTree>
    <p:extLst>
      <p:ext uri="{BB962C8B-B14F-4D97-AF65-F5344CB8AC3E}">
        <p14:creationId xmlns:p14="http://schemas.microsoft.com/office/powerpoint/2010/main" val="235296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BE08-69EC-638A-A211-E692F638D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F04AF-0E99-AE08-91A4-0C10DBD12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Hardware virtualization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Server virtualization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Storage virtualization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Operating system virtualization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232511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BE08-69EC-638A-A211-E692F638D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Service-Oriented Architecture (SOA)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F04AF-0E99-AE08-91A4-0C10DBD12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2089093"/>
            <a:ext cx="7065686" cy="4280965"/>
          </a:xfrm>
        </p:spPr>
        <p:txBody>
          <a:bodyPr/>
          <a:lstStyle/>
          <a:p>
            <a:r>
              <a:rPr lang="en-US" dirty="0"/>
              <a:t>The advantages of using SOA is that it is </a:t>
            </a:r>
            <a:r>
              <a:rPr lang="en-US" dirty="0">
                <a:solidFill>
                  <a:srgbClr val="C00000"/>
                </a:solidFill>
              </a:rPr>
              <a:t>easy to maintain</a:t>
            </a:r>
            <a:r>
              <a:rPr lang="en-US" dirty="0"/>
              <a:t>,</a:t>
            </a:r>
            <a:r>
              <a:rPr lang="en-US" dirty="0">
                <a:solidFill>
                  <a:srgbClr val="C00000"/>
                </a:solidFill>
              </a:rPr>
              <a:t> platform independent </a:t>
            </a:r>
            <a:r>
              <a:rPr lang="en-US" dirty="0"/>
              <a:t>and</a:t>
            </a:r>
            <a:r>
              <a:rPr lang="en-US" dirty="0">
                <a:solidFill>
                  <a:srgbClr val="C00000"/>
                </a:solidFill>
              </a:rPr>
              <a:t> highly scalable</a:t>
            </a:r>
            <a:r>
              <a:rPr lang="en-US" dirty="0"/>
              <a:t>.</a:t>
            </a:r>
          </a:p>
          <a:p>
            <a:r>
              <a:rPr lang="en-US" dirty="0"/>
              <a:t>Service Provider and Service consumer are the two major roles within SOA.</a:t>
            </a:r>
          </a:p>
          <a:p>
            <a:r>
              <a:rPr lang="en-US" dirty="0"/>
              <a:t>Application:</a:t>
            </a:r>
          </a:p>
          <a:p>
            <a:pPr lvl="1"/>
            <a:r>
              <a:rPr lang="en-US" sz="2200" dirty="0"/>
              <a:t>Healthcare Industry</a:t>
            </a:r>
          </a:p>
          <a:p>
            <a:pPr lvl="1"/>
            <a:r>
              <a:rPr lang="en-US" sz="2200" dirty="0"/>
              <a:t>To create many mobile applications and games</a:t>
            </a:r>
          </a:p>
          <a:p>
            <a:pPr lvl="1"/>
            <a:r>
              <a:rPr lang="en-US" sz="2200" dirty="0"/>
              <a:t>In the air force, SOA infrastructure is used to deploy situational awareness systems</a:t>
            </a:r>
          </a:p>
          <a:p>
            <a:endParaRPr lang="en-US" dirty="0"/>
          </a:p>
        </p:txBody>
      </p:sp>
      <p:pic>
        <p:nvPicPr>
          <p:cNvPr id="1026" name="Picture 2" descr="Cloud Computing Technologies">
            <a:extLst>
              <a:ext uri="{FF2B5EF4-FFF2-40B4-BE49-F238E27FC236}">
                <a16:creationId xmlns:a16="http://schemas.microsoft.com/office/drawing/2014/main" id="{FFD7AF72-7B1E-7608-0492-0EBC1F564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305" y="1636991"/>
            <a:ext cx="4163395" cy="401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843ADF-1069-3CBD-5407-32D2913AB580}"/>
              </a:ext>
            </a:extLst>
          </p:cNvPr>
          <p:cNvSpPr txBox="1">
            <a:spLocks/>
          </p:cNvSpPr>
          <p:nvPr/>
        </p:nvSpPr>
        <p:spPr>
          <a:xfrm>
            <a:off x="131180" y="818496"/>
            <a:ext cx="11929640" cy="711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It allows organizations to access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on-demand cloud-based computing solutions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according to the change of business needs. </a:t>
            </a: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It can work without or with cloud computing. </a:t>
            </a: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4742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84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BE08-69EC-638A-A211-E692F638D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F04AF-0E99-AE08-91A4-0C10DBD12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Grid computing is also known as </a:t>
            </a:r>
            <a:r>
              <a:rPr lang="en-US" dirty="0">
                <a:solidFill>
                  <a:srgbClr val="C00000"/>
                </a:solidFill>
              </a:rPr>
              <a:t>distributed computing</a:t>
            </a:r>
            <a:r>
              <a:rPr lang="en-US" dirty="0"/>
              <a:t>. </a:t>
            </a:r>
          </a:p>
          <a:p>
            <a:r>
              <a:rPr lang="en-US" dirty="0"/>
              <a:t>It is a processor architecture that </a:t>
            </a:r>
            <a:r>
              <a:rPr lang="en-US" dirty="0">
                <a:solidFill>
                  <a:srgbClr val="C00000"/>
                </a:solidFill>
              </a:rPr>
              <a:t>combines various different computing resources </a:t>
            </a:r>
            <a:r>
              <a:rPr lang="en-US" dirty="0"/>
              <a:t>from multiple locations to achieve a common goal.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grid is connected by parallel nodes to form a computer cluster. </a:t>
            </a:r>
          </a:p>
          <a:p>
            <a:r>
              <a:rPr lang="en-US" dirty="0"/>
              <a:t>These computer clusters are in </a:t>
            </a:r>
            <a:r>
              <a:rPr lang="en-US" dirty="0">
                <a:solidFill>
                  <a:srgbClr val="C00000"/>
                </a:solidFill>
              </a:rPr>
              <a:t>different sizes </a:t>
            </a:r>
            <a:r>
              <a:rPr lang="en-US" dirty="0"/>
              <a:t>and can run on any operating system.</a:t>
            </a:r>
          </a:p>
        </p:txBody>
      </p:sp>
      <p:pic>
        <p:nvPicPr>
          <p:cNvPr id="2050" name="Picture 2" descr="Cloud Computing Technologies">
            <a:extLst>
              <a:ext uri="{FF2B5EF4-FFF2-40B4-BE49-F238E27FC236}">
                <a16:creationId xmlns:a16="http://schemas.microsoft.com/office/drawing/2014/main" id="{F19A1E2C-EB81-7209-D798-6213750A3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447" y="2172296"/>
            <a:ext cx="2977971" cy="251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6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BE08-69EC-638A-A211-E692F638D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F04AF-0E99-AE08-91A4-0C10DBD12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Grid computing contains the following three types of machines: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Control Node </a:t>
            </a:r>
            <a:r>
              <a:rPr lang="en-US" dirty="0"/>
              <a:t>: </a:t>
            </a:r>
          </a:p>
          <a:p>
            <a:pPr lvl="1"/>
            <a:r>
              <a:rPr lang="en-US" sz="2200" dirty="0"/>
              <a:t>It is a group of server which administrates the whole network.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Provider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: </a:t>
            </a:r>
          </a:p>
          <a:p>
            <a:pPr lvl="1"/>
            <a:r>
              <a:rPr lang="en-US" sz="2200" dirty="0"/>
              <a:t>It is a computer which contributes its resources in the network resource pool.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User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: </a:t>
            </a:r>
          </a:p>
          <a:p>
            <a:pPr lvl="1"/>
            <a:r>
              <a:rPr lang="en-US" sz="2200" dirty="0"/>
              <a:t>It is a computer which uses the resources on the network.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Application: </a:t>
            </a:r>
          </a:p>
          <a:p>
            <a:pPr lvl="1"/>
            <a:r>
              <a:rPr lang="en-US" sz="2200" dirty="0"/>
              <a:t>ATMs</a:t>
            </a:r>
          </a:p>
          <a:p>
            <a:pPr lvl="1"/>
            <a:r>
              <a:rPr lang="en-US" sz="2200" dirty="0"/>
              <a:t>Back-end infrastructures and marketing research.</a:t>
            </a:r>
          </a:p>
        </p:txBody>
      </p:sp>
    </p:spTree>
    <p:extLst>
      <p:ext uri="{BB962C8B-B14F-4D97-AF65-F5344CB8AC3E}">
        <p14:creationId xmlns:p14="http://schemas.microsoft.com/office/powerpoint/2010/main" val="406521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E8A4-B5A0-B695-B49C-D6D6D544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40A9-CCA3-4007-A505-1CE0BEF71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the most trending IT service model. </a:t>
            </a:r>
          </a:p>
          <a:p>
            <a:r>
              <a:rPr lang="en-US" dirty="0"/>
              <a:t>It provides </a:t>
            </a:r>
            <a:r>
              <a:rPr lang="en-US" dirty="0">
                <a:solidFill>
                  <a:srgbClr val="C00000"/>
                </a:solidFill>
              </a:rPr>
              <a:t>on-demand computing resources </a:t>
            </a:r>
            <a:r>
              <a:rPr lang="en-US" dirty="0"/>
              <a:t>like computation, storage, and programming services via API and infrastructure based on the pay per use method.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</a:t>
            </a:r>
            <a:r>
              <a:rPr lang="en-US" dirty="0">
                <a:solidFill>
                  <a:srgbClr val="C00000"/>
                </a:solidFill>
              </a:rPr>
              <a:t>minimizes the associated costs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maximizes the efficient use of resources</a:t>
            </a:r>
            <a:r>
              <a:rPr lang="en-US" dirty="0"/>
              <a:t>. </a:t>
            </a:r>
          </a:p>
          <a:p>
            <a:r>
              <a:rPr lang="en-US" dirty="0"/>
              <a:t>The advantage is that it reduced the IT cost, provides greater flexibility, and easier to manage.</a:t>
            </a:r>
          </a:p>
          <a:p>
            <a:r>
              <a:rPr lang="en-US" dirty="0"/>
              <a:t>Large organizations such as Google and Amazon established their own utility services for computing storage and application.</a:t>
            </a:r>
          </a:p>
          <a:p>
            <a:endParaRPr lang="en-US" dirty="0"/>
          </a:p>
        </p:txBody>
      </p:sp>
      <p:pic>
        <p:nvPicPr>
          <p:cNvPr id="3078" name="Picture 6" descr="What Is Utility Computing? Definition, Process, Examples, and Best  Practices - Spiceworks">
            <a:extLst>
              <a:ext uri="{FF2B5EF4-FFF2-40B4-BE49-F238E27FC236}">
                <a16:creationId xmlns:a16="http://schemas.microsoft.com/office/drawing/2014/main" id="{192C16B4-1724-0076-AC84-F21ADD04B0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21"/>
          <a:stretch/>
        </p:blipFill>
        <p:spPr bwMode="auto">
          <a:xfrm>
            <a:off x="1912433" y="2064773"/>
            <a:ext cx="3651515" cy="2261421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76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866C-81C7-C76B-F02D-B9A67417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A5C50-096B-D84A-FF7E-5FF7AF7BC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Cloud Computing Vs Grid Computing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084DE-959D-806E-B075-67C932E9C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3299782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E8A213D-6E2F-2567-6EF5-0C64B51A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 Vs Grid Computing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57E599-1DB6-6C99-C282-0F21D9D5C4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470347"/>
              </p:ext>
            </p:extLst>
          </p:nvPr>
        </p:nvGraphicFramePr>
        <p:xfrm>
          <a:off x="180629" y="831327"/>
          <a:ext cx="11830742" cy="504962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5915371">
                  <a:extLst>
                    <a:ext uri="{9D8B030D-6E8A-4147-A177-3AD203B41FA5}">
                      <a16:colId xmlns:a16="http://schemas.microsoft.com/office/drawing/2014/main" val="3600816515"/>
                    </a:ext>
                  </a:extLst>
                </a:gridCol>
                <a:gridCol w="5915371">
                  <a:extLst>
                    <a:ext uri="{9D8B030D-6E8A-4147-A177-3AD203B41FA5}">
                      <a16:colId xmlns:a16="http://schemas.microsoft.com/office/drawing/2014/main" val="3634934851"/>
                    </a:ext>
                  </a:extLst>
                </a:gridCol>
              </a:tblGrid>
              <a:tr h="383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Cloud Computing</a:t>
                      </a:r>
                      <a:endParaRPr lang="en-IN" sz="2000" b="1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00081" marR="100081" marT="100081" marB="10008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Grid Computing</a:t>
                      </a:r>
                      <a:endParaRPr lang="en-IN" sz="2000" b="1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00081" marR="100081" marT="100081" marB="100081"/>
                </a:tc>
                <a:extLst>
                  <a:ext uri="{0D108BD9-81ED-4DB2-BD59-A6C34878D82A}">
                    <a16:rowId xmlns:a16="http://schemas.microsoft.com/office/drawing/2014/main" val="418010743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0FE0E2-5E0E-6834-B665-346285A586C7}"/>
              </a:ext>
            </a:extLst>
          </p:cNvPr>
          <p:cNvGraphicFramePr>
            <a:graphicFrameLocks noGrp="1"/>
          </p:cNvGraphicFramePr>
          <p:nvPr/>
        </p:nvGraphicFramePr>
        <p:xfrm>
          <a:off x="180629" y="1887713"/>
          <a:ext cx="11830742" cy="431578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5915371">
                  <a:extLst>
                    <a:ext uri="{9D8B030D-6E8A-4147-A177-3AD203B41FA5}">
                      <a16:colId xmlns:a16="http://schemas.microsoft.com/office/drawing/2014/main" val="1089212859"/>
                    </a:ext>
                  </a:extLst>
                </a:gridCol>
                <a:gridCol w="5915371">
                  <a:extLst>
                    <a:ext uri="{9D8B030D-6E8A-4147-A177-3AD203B41FA5}">
                      <a16:colId xmlns:a16="http://schemas.microsoft.com/office/drawing/2014/main" val="2367183088"/>
                    </a:ext>
                  </a:extLst>
                </a:gridCol>
              </a:tblGrid>
              <a:tr h="43157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Scalability is high.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Scalability is normal.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extLst>
                  <a:ext uri="{0D108BD9-81ED-4DB2-BD59-A6C34878D82A}">
                    <a16:rowId xmlns:a16="http://schemas.microsoft.com/office/drawing/2014/main" val="319515135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845522-BD46-9001-8F33-4C1BA3257744}"/>
              </a:ext>
            </a:extLst>
          </p:cNvPr>
          <p:cNvGraphicFramePr>
            <a:graphicFrameLocks noGrp="1"/>
          </p:cNvGraphicFramePr>
          <p:nvPr/>
        </p:nvGraphicFramePr>
        <p:xfrm>
          <a:off x="180629" y="2322755"/>
          <a:ext cx="11830742" cy="45046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5915371">
                  <a:extLst>
                    <a:ext uri="{9D8B030D-6E8A-4147-A177-3AD203B41FA5}">
                      <a16:colId xmlns:a16="http://schemas.microsoft.com/office/drawing/2014/main" val="4076570521"/>
                    </a:ext>
                  </a:extLst>
                </a:gridCol>
                <a:gridCol w="5915371">
                  <a:extLst>
                    <a:ext uri="{9D8B030D-6E8A-4147-A177-3AD203B41FA5}">
                      <a16:colId xmlns:a16="http://schemas.microsoft.com/office/drawing/2014/main" val="677939199"/>
                    </a:ext>
                  </a:extLst>
                </a:gridCol>
              </a:tblGrid>
              <a:tr h="45046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It is more flexible than grid computing.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It is less flexible than cloud computing.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extLst>
                  <a:ext uri="{0D108BD9-81ED-4DB2-BD59-A6C34878D82A}">
                    <a16:rowId xmlns:a16="http://schemas.microsoft.com/office/drawing/2014/main" val="2008118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88B937-C114-AA44-AFA2-1B50DFCAF341}"/>
              </a:ext>
            </a:extLst>
          </p:cNvPr>
          <p:cNvGraphicFramePr>
            <a:graphicFrameLocks noGrp="1"/>
          </p:cNvGraphicFramePr>
          <p:nvPr/>
        </p:nvGraphicFramePr>
        <p:xfrm>
          <a:off x="180629" y="2770060"/>
          <a:ext cx="11830742" cy="72701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5915371">
                  <a:extLst>
                    <a:ext uri="{9D8B030D-6E8A-4147-A177-3AD203B41FA5}">
                      <a16:colId xmlns:a16="http://schemas.microsoft.com/office/drawing/2014/main" val="3270390219"/>
                    </a:ext>
                  </a:extLst>
                </a:gridCol>
                <a:gridCol w="5915371">
                  <a:extLst>
                    <a:ext uri="{9D8B030D-6E8A-4147-A177-3AD203B41FA5}">
                      <a16:colId xmlns:a16="http://schemas.microsoft.com/office/drawing/2014/main" val="3584350168"/>
                    </a:ext>
                  </a:extLst>
                </a:gridCol>
              </a:tblGrid>
              <a:tr h="72701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Cloud operates as a centralized management system.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Grid operates as a decentralized management system.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extLst>
                  <a:ext uri="{0D108BD9-81ED-4DB2-BD59-A6C34878D82A}">
                    <a16:rowId xmlns:a16="http://schemas.microsoft.com/office/drawing/2014/main" val="101850386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7E242B-7078-1A0A-A4BE-C3FAAAE8BF0D}"/>
              </a:ext>
            </a:extLst>
          </p:cNvPr>
          <p:cNvGraphicFramePr>
            <a:graphicFrameLocks noGrp="1"/>
          </p:cNvGraphicFramePr>
          <p:nvPr/>
        </p:nvGraphicFramePr>
        <p:xfrm>
          <a:off x="180629" y="3497076"/>
          <a:ext cx="11830742" cy="44022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5915371">
                  <a:extLst>
                    <a:ext uri="{9D8B030D-6E8A-4147-A177-3AD203B41FA5}">
                      <a16:colId xmlns:a16="http://schemas.microsoft.com/office/drawing/2014/main" val="1858476169"/>
                    </a:ext>
                  </a:extLst>
                </a:gridCol>
                <a:gridCol w="5915371">
                  <a:extLst>
                    <a:ext uri="{9D8B030D-6E8A-4147-A177-3AD203B41FA5}">
                      <a16:colId xmlns:a16="http://schemas.microsoft.com/office/drawing/2014/main" val="3577660472"/>
                    </a:ext>
                  </a:extLst>
                </a:gridCol>
              </a:tblGrid>
              <a:tr h="440223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Cloud servers are owned by infrastructure providers.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grids are owned and managed by the organization.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extLst>
                  <a:ext uri="{0D108BD9-81ED-4DB2-BD59-A6C34878D82A}">
                    <a16:rowId xmlns:a16="http://schemas.microsoft.com/office/drawing/2014/main" val="26503218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1ED4D8-12B0-C24F-2FF4-CD018555E7BE}"/>
              </a:ext>
            </a:extLst>
          </p:cNvPr>
          <p:cNvGraphicFramePr>
            <a:graphicFrameLocks noGrp="1"/>
          </p:cNvGraphicFramePr>
          <p:nvPr/>
        </p:nvGraphicFramePr>
        <p:xfrm>
          <a:off x="180629" y="3933625"/>
          <a:ext cx="11830742" cy="71256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5915371">
                  <a:extLst>
                    <a:ext uri="{9D8B030D-6E8A-4147-A177-3AD203B41FA5}">
                      <a16:colId xmlns:a16="http://schemas.microsoft.com/office/drawing/2014/main" val="74604630"/>
                    </a:ext>
                  </a:extLst>
                </a:gridCol>
                <a:gridCol w="5915371">
                  <a:extLst>
                    <a:ext uri="{9D8B030D-6E8A-4147-A177-3AD203B41FA5}">
                      <a16:colId xmlns:a16="http://schemas.microsoft.com/office/drawing/2014/main" val="1509892376"/>
                    </a:ext>
                  </a:extLst>
                </a:gridCol>
              </a:tblGrid>
              <a:tr h="692159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It uses services like </a:t>
                      </a:r>
                      <a:r>
                        <a:rPr lang="en-IN" sz="1900" dirty="0" err="1">
                          <a:solidFill>
                            <a:srgbClr val="333333"/>
                          </a:solidFill>
                          <a:effectLst/>
                        </a:rPr>
                        <a:t>Iaas</a:t>
                      </a:r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, PaaS, and SaaS.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It uses systems like distributed computing, distributed information, and distributed pervasive.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extLst>
                  <a:ext uri="{0D108BD9-81ED-4DB2-BD59-A6C34878D82A}">
                    <a16:rowId xmlns:a16="http://schemas.microsoft.com/office/drawing/2014/main" val="402575799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BAB4C2-D6D3-A96A-8209-73345AC6C3D4}"/>
              </a:ext>
            </a:extLst>
          </p:cNvPr>
          <p:cNvGraphicFramePr>
            <a:graphicFrameLocks noGrp="1"/>
          </p:cNvGraphicFramePr>
          <p:nvPr/>
        </p:nvGraphicFramePr>
        <p:xfrm>
          <a:off x="180629" y="4640398"/>
          <a:ext cx="11830742" cy="43157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5915371">
                  <a:extLst>
                    <a:ext uri="{9D8B030D-6E8A-4147-A177-3AD203B41FA5}">
                      <a16:colId xmlns:a16="http://schemas.microsoft.com/office/drawing/2014/main" val="2950450189"/>
                    </a:ext>
                  </a:extLst>
                </a:gridCol>
                <a:gridCol w="5915371">
                  <a:extLst>
                    <a:ext uri="{9D8B030D-6E8A-4147-A177-3AD203B41FA5}">
                      <a16:colId xmlns:a16="http://schemas.microsoft.com/office/drawing/2014/main" val="1119998841"/>
                    </a:ext>
                  </a:extLst>
                </a:gridCol>
              </a:tblGrid>
              <a:tr h="43157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It is Service-oriented.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It is Application-oriented.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extLst>
                  <a:ext uri="{0D108BD9-81ED-4DB2-BD59-A6C34878D82A}">
                    <a16:rowId xmlns:a16="http://schemas.microsoft.com/office/drawing/2014/main" val="186195528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F44885-4039-C367-93CF-7714B8C1479C}"/>
              </a:ext>
            </a:extLst>
          </p:cNvPr>
          <p:cNvGraphicFramePr>
            <a:graphicFrameLocks noGrp="1"/>
          </p:cNvGraphicFramePr>
          <p:nvPr/>
        </p:nvGraphicFramePr>
        <p:xfrm>
          <a:off x="180629" y="5075676"/>
          <a:ext cx="11830742" cy="431578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5915371">
                  <a:extLst>
                    <a:ext uri="{9D8B030D-6E8A-4147-A177-3AD203B41FA5}">
                      <a16:colId xmlns:a16="http://schemas.microsoft.com/office/drawing/2014/main" val="1016782467"/>
                    </a:ext>
                  </a:extLst>
                </a:gridCol>
                <a:gridCol w="5915371">
                  <a:extLst>
                    <a:ext uri="{9D8B030D-6E8A-4147-A177-3AD203B41FA5}">
                      <a16:colId xmlns:a16="http://schemas.microsoft.com/office/drawing/2014/main" val="1527805643"/>
                    </a:ext>
                  </a:extLst>
                </a:gridCol>
              </a:tblGrid>
              <a:tr h="43157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It is accessible through standard web protocols.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It is accessible through grid middleware.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extLst>
                  <a:ext uri="{0D108BD9-81ED-4DB2-BD59-A6C34878D82A}">
                    <a16:rowId xmlns:a16="http://schemas.microsoft.com/office/drawing/2014/main" val="277368585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97AA0A7-6862-DC47-A3C0-54A8125ED663}"/>
              </a:ext>
            </a:extLst>
          </p:cNvPr>
          <p:cNvGraphicFramePr>
            <a:graphicFrameLocks noGrp="1"/>
          </p:cNvGraphicFramePr>
          <p:nvPr/>
        </p:nvGraphicFramePr>
        <p:xfrm>
          <a:off x="180629" y="1332538"/>
          <a:ext cx="11830742" cy="55267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5915371">
                  <a:extLst>
                    <a:ext uri="{9D8B030D-6E8A-4147-A177-3AD203B41FA5}">
                      <a16:colId xmlns:a16="http://schemas.microsoft.com/office/drawing/2014/main" val="1809059751"/>
                    </a:ext>
                  </a:extLst>
                </a:gridCol>
                <a:gridCol w="5915371">
                  <a:extLst>
                    <a:ext uri="{9D8B030D-6E8A-4147-A177-3AD203B41FA5}">
                      <a16:colId xmlns:a16="http://schemas.microsoft.com/office/drawing/2014/main" val="311304800"/>
                    </a:ext>
                  </a:extLst>
                </a:gridCol>
              </a:tblGrid>
              <a:tr h="55267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It follows client-server computing architecture.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900" dirty="0">
                          <a:solidFill>
                            <a:srgbClr val="333333"/>
                          </a:solidFill>
                          <a:effectLst/>
                        </a:rPr>
                        <a:t>It follows a distributed computing architecture.</a:t>
                      </a:r>
                      <a:endParaRPr lang="en-IN" sz="19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720" marR="66720" marT="66720" marB="66720"/>
                </a:tc>
                <a:extLst>
                  <a:ext uri="{0D108BD9-81ED-4DB2-BD59-A6C34878D82A}">
                    <a16:rowId xmlns:a16="http://schemas.microsoft.com/office/drawing/2014/main" val="1978675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92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E8A4-B5A0-B695-B49C-D6D6D544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&amp; Security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40A9-CCA3-4007-A505-1CE0BEF71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Application:</a:t>
            </a:r>
          </a:p>
          <a:p>
            <a:pPr lvl="1"/>
            <a:r>
              <a:rPr lang="en-US" sz="2200" dirty="0"/>
              <a:t>Entertainment </a:t>
            </a:r>
          </a:p>
          <a:p>
            <a:pPr lvl="1"/>
            <a:r>
              <a:rPr lang="en-US" sz="2200" dirty="0"/>
              <a:t>Business</a:t>
            </a:r>
          </a:p>
          <a:p>
            <a:pPr lvl="1"/>
            <a:r>
              <a:rPr lang="en-US" sz="2200" dirty="0"/>
              <a:t>Education</a:t>
            </a:r>
          </a:p>
          <a:p>
            <a:pPr lvl="1"/>
            <a:r>
              <a:rPr lang="en-US" sz="2200" dirty="0"/>
              <a:t>Social Media Application</a:t>
            </a:r>
          </a:p>
          <a:p>
            <a:pPr lvl="1"/>
            <a:r>
              <a:rPr lang="en-US" sz="2200" dirty="0"/>
              <a:t>Art Application</a:t>
            </a:r>
          </a:p>
          <a:p>
            <a:pPr lvl="1"/>
            <a:r>
              <a:rPr lang="en-US" sz="2200" dirty="0"/>
              <a:t>Data Storage Application</a:t>
            </a:r>
          </a:p>
          <a:p>
            <a:r>
              <a:rPr lang="en-US" b="1" dirty="0"/>
              <a:t>Security Risk</a:t>
            </a:r>
          </a:p>
          <a:p>
            <a:pPr lvl="1"/>
            <a:r>
              <a:rPr lang="en-US" sz="2200" dirty="0"/>
              <a:t>Data Loss</a:t>
            </a:r>
          </a:p>
          <a:p>
            <a:pPr lvl="1"/>
            <a:r>
              <a:rPr lang="en-US" sz="2200" dirty="0"/>
              <a:t>Hacked Interfaces and Insecure APIs</a:t>
            </a:r>
          </a:p>
          <a:p>
            <a:pPr lvl="1"/>
            <a:r>
              <a:rPr lang="en-US" sz="2200" dirty="0"/>
              <a:t>Data Breach</a:t>
            </a:r>
          </a:p>
          <a:p>
            <a:pPr lvl="1"/>
            <a:r>
              <a:rPr lang="en-US" sz="2200" dirty="0"/>
              <a:t>Vendor Lock-in</a:t>
            </a:r>
          </a:p>
          <a:p>
            <a:pPr lvl="1"/>
            <a:r>
              <a:rPr lang="en-US" sz="2200" dirty="0"/>
              <a:t>Complexity - Skill IT staff</a:t>
            </a:r>
          </a:p>
          <a:p>
            <a:pPr lvl="1"/>
            <a:r>
              <a:rPr lang="en-US" sz="2200" dirty="0"/>
              <a:t>Cyber attack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9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F4ED9-C92C-BA39-3DB5-CE8164F6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680D-8A3F-8675-84B6-6044AD9E0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Types of cloud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11D87-3D57-4082-20E8-612B75A8D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</p:txBody>
      </p:sp>
    </p:spTree>
    <p:extLst>
      <p:ext uri="{BB962C8B-B14F-4D97-AF65-F5344CB8AC3E}">
        <p14:creationId xmlns:p14="http://schemas.microsoft.com/office/powerpoint/2010/main" val="2239849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E8A4-B5A0-B695-B49C-D6D6D544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40A9-CCA3-4007-A505-1CE0BEF71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4808669"/>
            <a:ext cx="11929641" cy="144094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Public cloud </a:t>
            </a:r>
            <a:r>
              <a:rPr lang="en-US" dirty="0"/>
              <a:t>is a type of computing where resources are offered by a third-party provider via the internet and shared by organizations and individuals who want to use or purchase them.</a:t>
            </a:r>
          </a:p>
          <a:p>
            <a:endParaRPr lang="en-US" dirty="0"/>
          </a:p>
        </p:txBody>
      </p:sp>
      <p:pic>
        <p:nvPicPr>
          <p:cNvPr id="1030" name="Picture 6" descr="What are the Four Cloud Computing Service Delivery Models in 2023?">
            <a:extLst>
              <a:ext uri="{FF2B5EF4-FFF2-40B4-BE49-F238E27FC236}">
                <a16:creationId xmlns:a16="http://schemas.microsoft.com/office/drawing/2014/main" id="{053B7023-3582-D812-3728-F46A3B02D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286" b="7374"/>
          <a:stretch/>
        </p:blipFill>
        <p:spPr bwMode="auto">
          <a:xfrm>
            <a:off x="1835971" y="711201"/>
            <a:ext cx="8520057" cy="386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25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E8A4-B5A0-B695-B49C-D6D6D544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40A9-CCA3-4007-A505-1CE0BEF71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4894733"/>
            <a:ext cx="11929641" cy="144094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Private cloud </a:t>
            </a:r>
            <a:r>
              <a:rPr lang="en-US" dirty="0"/>
              <a:t>is defined as computing services offered either over the Internet or a private internal network and only to select users instead of the general public.</a:t>
            </a:r>
          </a:p>
        </p:txBody>
      </p:sp>
      <p:pic>
        <p:nvPicPr>
          <p:cNvPr id="1030" name="Picture 6" descr="What are the Four Cloud Computing Service Delivery Models in 2023?">
            <a:extLst>
              <a:ext uri="{FF2B5EF4-FFF2-40B4-BE49-F238E27FC236}">
                <a16:creationId xmlns:a16="http://schemas.microsoft.com/office/drawing/2014/main" id="{053B7023-3582-D812-3728-F46A3B02D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286" b="7374"/>
          <a:stretch/>
        </p:blipFill>
        <p:spPr bwMode="auto">
          <a:xfrm>
            <a:off x="1835971" y="711201"/>
            <a:ext cx="8520057" cy="386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42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E8A4-B5A0-B695-B49C-D6D6D544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40A9-CCA3-4007-A505-1CE0BEF71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4894733"/>
            <a:ext cx="11929641" cy="144094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Hybrid cloud </a:t>
            </a:r>
            <a:r>
              <a:rPr lang="en-US" dirty="0"/>
              <a:t>is a mixed computing environment where applications are run using a combination of computing, storage, and services in different environments - public clouds and private clouds, including on-premises data centers.</a:t>
            </a:r>
          </a:p>
        </p:txBody>
      </p:sp>
      <p:pic>
        <p:nvPicPr>
          <p:cNvPr id="1030" name="Picture 6" descr="What are the Four Cloud Computing Service Delivery Models in 2023?">
            <a:extLst>
              <a:ext uri="{FF2B5EF4-FFF2-40B4-BE49-F238E27FC236}">
                <a16:creationId xmlns:a16="http://schemas.microsoft.com/office/drawing/2014/main" id="{053B7023-3582-D812-3728-F46A3B02D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286" b="7374"/>
          <a:stretch/>
        </p:blipFill>
        <p:spPr bwMode="auto">
          <a:xfrm>
            <a:off x="1835971" y="711201"/>
            <a:ext cx="8520057" cy="386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55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E8A4-B5A0-B695-B49C-D6D6D544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40A9-CCA3-4007-A505-1CE0BEF71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4894733"/>
            <a:ext cx="11929641" cy="144094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Community cloud </a:t>
            </a:r>
            <a:r>
              <a:rPr lang="en-US" dirty="0"/>
              <a:t>computing refers to a shared cloud computing service environment that is targeted to a limited set of organizations or employees (such as banks or heads of trading firms).</a:t>
            </a:r>
          </a:p>
        </p:txBody>
      </p:sp>
      <p:pic>
        <p:nvPicPr>
          <p:cNvPr id="1030" name="Picture 6" descr="What are the Four Cloud Computing Service Delivery Models in 2023?">
            <a:extLst>
              <a:ext uri="{FF2B5EF4-FFF2-40B4-BE49-F238E27FC236}">
                <a16:creationId xmlns:a16="http://schemas.microsoft.com/office/drawing/2014/main" id="{053B7023-3582-D812-3728-F46A3B02D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286" b="7374"/>
          <a:stretch/>
        </p:blipFill>
        <p:spPr bwMode="auto">
          <a:xfrm>
            <a:off x="1835971" y="711201"/>
            <a:ext cx="8520057" cy="386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61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A6296-9CDE-4E59-C9CA-BEE0F084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Public </a:t>
            </a:r>
            <a:r>
              <a:rPr lang="en-US" dirty="0"/>
              <a:t>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23FAC-B2A1-443E-5582-138B69C3D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cloud is </a:t>
            </a:r>
            <a:r>
              <a:rPr lang="en-US" dirty="0">
                <a:solidFill>
                  <a:srgbClr val="C00000"/>
                </a:solidFill>
              </a:rPr>
              <a:t>open to all </a:t>
            </a:r>
            <a:r>
              <a:rPr lang="en-US" dirty="0"/>
              <a:t>to store and access information via the Internet using the </a:t>
            </a:r>
            <a:r>
              <a:rPr lang="en-US" dirty="0">
                <a:solidFill>
                  <a:srgbClr val="C00000"/>
                </a:solidFill>
              </a:rPr>
              <a:t>pay-per-usage method</a:t>
            </a:r>
            <a:r>
              <a:rPr lang="en-US" dirty="0"/>
              <a:t>.</a:t>
            </a:r>
          </a:p>
          <a:p>
            <a:r>
              <a:rPr lang="en-US" dirty="0"/>
              <a:t>Computing resources are managed and operated by the </a:t>
            </a:r>
            <a:r>
              <a:rPr lang="en-US" dirty="0">
                <a:solidFill>
                  <a:srgbClr val="C00000"/>
                </a:solidFill>
              </a:rPr>
              <a:t>Cloud Service Provider </a:t>
            </a:r>
            <a:r>
              <a:rPr lang="en-US" dirty="0"/>
              <a:t>(CSP).</a:t>
            </a:r>
          </a:p>
          <a:p>
            <a:r>
              <a:rPr lang="en-US" dirty="0">
                <a:solidFill>
                  <a:srgbClr val="C00000"/>
                </a:solidFill>
              </a:rPr>
              <a:t>Example</a:t>
            </a:r>
            <a:r>
              <a:rPr lang="en-US" dirty="0"/>
              <a:t>: Amazon elastic compute cloud (EC2), IBM </a:t>
            </a:r>
            <a:r>
              <a:rPr lang="en-US" dirty="0" err="1"/>
              <a:t>SmartCloud</a:t>
            </a:r>
            <a:r>
              <a:rPr lang="en-US" dirty="0"/>
              <a:t> Enterprise, Microsoft, Google App Engine, Windows Azure Services Platform.</a:t>
            </a:r>
          </a:p>
        </p:txBody>
      </p:sp>
      <p:pic>
        <p:nvPicPr>
          <p:cNvPr id="5122" name="Picture 2" descr="Public Cloud">
            <a:extLst>
              <a:ext uri="{FF2B5EF4-FFF2-40B4-BE49-F238E27FC236}">
                <a16:creationId xmlns:a16="http://schemas.microsoft.com/office/drawing/2014/main" id="{1F97CA8A-EEFA-96A1-A341-C3B276A32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520" y="3429000"/>
            <a:ext cx="4582800" cy="253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82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668EB-B599-D4D7-204F-517E33C5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Cloud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4CB342-6D04-C91A-8CE9-A48ECBC47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 of Public Cloud</a:t>
            </a:r>
          </a:p>
          <a:p>
            <a:pPr lvl="1"/>
            <a:r>
              <a:rPr lang="en-US" sz="2200" dirty="0"/>
              <a:t>It is owned at a </a:t>
            </a:r>
            <a:r>
              <a:rPr lang="en-US" sz="2200" dirty="0">
                <a:solidFill>
                  <a:srgbClr val="C00000"/>
                </a:solidFill>
              </a:rPr>
              <a:t>lower cost </a:t>
            </a:r>
            <a:r>
              <a:rPr lang="en-US" sz="2200" dirty="0"/>
              <a:t>than the private and hybrid cloud.</a:t>
            </a:r>
          </a:p>
          <a:p>
            <a:pPr lvl="1"/>
            <a:r>
              <a:rPr lang="en-US" sz="2200" dirty="0"/>
              <a:t>It is </a:t>
            </a:r>
            <a:r>
              <a:rPr lang="en-US" sz="2200" dirty="0">
                <a:solidFill>
                  <a:srgbClr val="C00000"/>
                </a:solidFill>
              </a:rPr>
              <a:t>maintained by the cloud service provider</a:t>
            </a:r>
            <a:r>
              <a:rPr lang="en-US" sz="2200" dirty="0"/>
              <a:t>, so do not need to worry about the maintenance.</a:t>
            </a:r>
          </a:p>
          <a:p>
            <a:pPr lvl="1"/>
            <a:r>
              <a:rPr lang="en-US" sz="2200" dirty="0"/>
              <a:t>It is </a:t>
            </a:r>
            <a:r>
              <a:rPr lang="en-US" sz="2200" dirty="0">
                <a:solidFill>
                  <a:srgbClr val="C00000"/>
                </a:solidFill>
              </a:rPr>
              <a:t>easier </a:t>
            </a:r>
            <a:r>
              <a:rPr lang="en-US" sz="2200" dirty="0"/>
              <a:t>to </a:t>
            </a:r>
            <a:r>
              <a:rPr lang="en-US" sz="2200" dirty="0">
                <a:solidFill>
                  <a:srgbClr val="C00000"/>
                </a:solidFill>
              </a:rPr>
              <a:t>integrate</a:t>
            </a:r>
            <a:r>
              <a:rPr lang="en-US" sz="2200" dirty="0"/>
              <a:t>. Hence it offers a </a:t>
            </a:r>
            <a:r>
              <a:rPr lang="en-US" sz="2200" dirty="0">
                <a:solidFill>
                  <a:srgbClr val="C00000"/>
                </a:solidFill>
              </a:rPr>
              <a:t>better flexibility </a:t>
            </a:r>
            <a:r>
              <a:rPr lang="en-US" sz="2200" dirty="0"/>
              <a:t>approach to consumers.</a:t>
            </a:r>
          </a:p>
          <a:p>
            <a:pPr lvl="1"/>
            <a:r>
              <a:rPr lang="en-US" sz="2200" dirty="0"/>
              <a:t>It is </a:t>
            </a:r>
            <a:r>
              <a:rPr lang="en-US" sz="2200" dirty="0">
                <a:solidFill>
                  <a:srgbClr val="C00000"/>
                </a:solidFill>
              </a:rPr>
              <a:t>location independent </a:t>
            </a:r>
            <a:r>
              <a:rPr lang="en-US" sz="2200" dirty="0"/>
              <a:t>because its services are delivered through the internet.</a:t>
            </a:r>
          </a:p>
          <a:p>
            <a:pPr lvl="1"/>
            <a:r>
              <a:rPr lang="en-US" sz="2200" dirty="0"/>
              <a:t>It is </a:t>
            </a:r>
            <a:r>
              <a:rPr lang="en-US" sz="2200" dirty="0">
                <a:solidFill>
                  <a:srgbClr val="C00000"/>
                </a:solidFill>
              </a:rPr>
              <a:t>highly scalable </a:t>
            </a:r>
            <a:r>
              <a:rPr lang="en-US" sz="2200" dirty="0"/>
              <a:t>as per the requirement of computing resources.</a:t>
            </a:r>
          </a:p>
          <a:p>
            <a:pPr lvl="1"/>
            <a:r>
              <a:rPr lang="en-US" sz="2200" dirty="0"/>
              <a:t>It is </a:t>
            </a:r>
            <a:r>
              <a:rPr lang="en-US" sz="2200" dirty="0">
                <a:solidFill>
                  <a:srgbClr val="C00000"/>
                </a:solidFill>
              </a:rPr>
              <a:t>accessible</a:t>
            </a:r>
            <a:r>
              <a:rPr lang="en-US" sz="2200" dirty="0"/>
              <a:t> by the </a:t>
            </a:r>
            <a:r>
              <a:rPr lang="en-US" sz="2200" dirty="0">
                <a:solidFill>
                  <a:srgbClr val="C00000"/>
                </a:solidFill>
              </a:rPr>
              <a:t>general public</a:t>
            </a:r>
            <a:r>
              <a:rPr lang="en-US" sz="2200" dirty="0"/>
              <a:t>, so there is no limit to the number of users.</a:t>
            </a:r>
          </a:p>
          <a:p>
            <a:r>
              <a:rPr lang="en-US" dirty="0"/>
              <a:t>Disadvantages of Public Cloud</a:t>
            </a:r>
          </a:p>
          <a:p>
            <a:pPr lvl="1"/>
            <a:r>
              <a:rPr lang="en-US" sz="2200" dirty="0"/>
              <a:t>It is </a:t>
            </a:r>
            <a:r>
              <a:rPr lang="en-US" sz="2200" dirty="0">
                <a:solidFill>
                  <a:srgbClr val="C00000"/>
                </a:solidFill>
              </a:rPr>
              <a:t>less secure </a:t>
            </a:r>
            <a:r>
              <a:rPr lang="en-US" sz="2200" dirty="0"/>
              <a:t>because resources are </a:t>
            </a:r>
            <a:r>
              <a:rPr lang="en-US" sz="2200" dirty="0">
                <a:solidFill>
                  <a:srgbClr val="C00000"/>
                </a:solidFill>
              </a:rPr>
              <a:t>shared publicly</a:t>
            </a:r>
            <a:r>
              <a:rPr lang="en-US" sz="2200" dirty="0"/>
              <a:t>.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Performance</a:t>
            </a:r>
            <a:r>
              <a:rPr lang="en-US" sz="2200" dirty="0"/>
              <a:t> depends upon the </a:t>
            </a:r>
            <a:r>
              <a:rPr lang="en-US" sz="2200" dirty="0">
                <a:solidFill>
                  <a:srgbClr val="C00000"/>
                </a:solidFill>
              </a:rPr>
              <a:t>high-speed internet </a:t>
            </a:r>
            <a:r>
              <a:rPr lang="en-US" sz="2200" dirty="0"/>
              <a:t>network link to the cloud provider.</a:t>
            </a:r>
          </a:p>
          <a:p>
            <a:pPr lvl="1"/>
            <a:r>
              <a:rPr lang="en-US" sz="2200" dirty="0"/>
              <a:t>The Client has </a:t>
            </a:r>
            <a:r>
              <a:rPr lang="en-US" sz="2200" dirty="0">
                <a:solidFill>
                  <a:srgbClr val="C00000"/>
                </a:solidFill>
              </a:rPr>
              <a:t>no control </a:t>
            </a:r>
            <a:r>
              <a:rPr lang="en-US" sz="2200" dirty="0"/>
              <a:t>of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76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9FA14D-64C5-E4BE-DBA1-04356B22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Cloud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8F05F6-C959-071E-BA01-422F0DE2B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Private cloud is also known as an </a:t>
            </a:r>
            <a:r>
              <a:rPr lang="en-US" dirty="0">
                <a:solidFill>
                  <a:srgbClr val="C00000"/>
                </a:solidFill>
              </a:rPr>
              <a:t>internal cloud or corporate cloud</a:t>
            </a:r>
            <a:r>
              <a:rPr lang="en-US" dirty="0"/>
              <a:t>. </a:t>
            </a:r>
          </a:p>
          <a:p>
            <a:r>
              <a:rPr lang="en-US" dirty="0"/>
              <a:t>It is used by organizations to </a:t>
            </a:r>
            <a:r>
              <a:rPr lang="en-US" dirty="0">
                <a:solidFill>
                  <a:srgbClr val="C00000"/>
                </a:solidFill>
              </a:rPr>
              <a:t>build and manage their own data centers internally </a:t>
            </a:r>
            <a:r>
              <a:rPr lang="en-US" dirty="0"/>
              <a:t>or by the third party. </a:t>
            </a:r>
          </a:p>
          <a:p>
            <a:r>
              <a:rPr lang="en-US" dirty="0"/>
              <a:t>It can be deployed using Opensource tools such as </a:t>
            </a:r>
            <a:r>
              <a:rPr lang="en-US" dirty="0" err="1"/>
              <a:t>Openstack</a:t>
            </a:r>
            <a:r>
              <a:rPr lang="en-US" dirty="0"/>
              <a:t> and Eucalyptus.</a:t>
            </a:r>
          </a:p>
          <a:p>
            <a:r>
              <a:rPr lang="en-US" dirty="0"/>
              <a:t>Based on the location and management, National Institute of Standards and Technology (NIST) divide private cloud into the following two parts: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On-premise private cloud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Outsourced private cloud</a:t>
            </a:r>
          </a:p>
        </p:txBody>
      </p:sp>
      <p:pic>
        <p:nvPicPr>
          <p:cNvPr id="1026" name="Picture 2" descr="Private Cloud">
            <a:extLst>
              <a:ext uri="{FF2B5EF4-FFF2-40B4-BE49-F238E27FC236}">
                <a16:creationId xmlns:a16="http://schemas.microsoft.com/office/drawing/2014/main" id="{451A98D2-F74C-B6CC-78D7-7F5EA6C36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676" y="3251858"/>
            <a:ext cx="4297380" cy="343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961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22CCB0-F8F8-9078-1970-A9DD47EF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Cloud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4722B9-1DEF-909D-648D-0701E7F58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 of Private Cloud</a:t>
            </a:r>
          </a:p>
          <a:p>
            <a:pPr lvl="1"/>
            <a:r>
              <a:rPr lang="en-US" sz="2200" dirty="0"/>
              <a:t>It provides a </a:t>
            </a:r>
            <a:r>
              <a:rPr lang="en-US" sz="2200" dirty="0">
                <a:solidFill>
                  <a:srgbClr val="C00000"/>
                </a:solidFill>
              </a:rPr>
              <a:t>high level of security </a:t>
            </a:r>
            <a:r>
              <a:rPr lang="en-US" sz="2200" dirty="0"/>
              <a:t>and </a:t>
            </a:r>
            <a:r>
              <a:rPr lang="en-US" sz="2200" dirty="0">
                <a:solidFill>
                  <a:srgbClr val="C00000"/>
                </a:solidFill>
              </a:rPr>
              <a:t>privacy</a:t>
            </a:r>
            <a:r>
              <a:rPr lang="en-US" sz="2200" dirty="0"/>
              <a:t> to the users.</a:t>
            </a:r>
          </a:p>
          <a:p>
            <a:pPr lvl="1"/>
            <a:r>
              <a:rPr lang="en-US" sz="2200" dirty="0"/>
              <a:t>It offers </a:t>
            </a:r>
            <a:r>
              <a:rPr lang="en-US" sz="2200" dirty="0">
                <a:solidFill>
                  <a:srgbClr val="C00000"/>
                </a:solidFill>
              </a:rPr>
              <a:t>better performance </a:t>
            </a:r>
            <a:r>
              <a:rPr lang="en-US" sz="2200" dirty="0"/>
              <a:t>with improved </a:t>
            </a:r>
            <a:r>
              <a:rPr lang="en-US" sz="2200" dirty="0">
                <a:solidFill>
                  <a:srgbClr val="C00000"/>
                </a:solidFill>
              </a:rPr>
              <a:t>speed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space capacity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 allows the IT team to </a:t>
            </a:r>
            <a:r>
              <a:rPr lang="en-US" sz="2200" dirty="0">
                <a:solidFill>
                  <a:srgbClr val="C00000"/>
                </a:solidFill>
              </a:rPr>
              <a:t>quickly allocate </a:t>
            </a:r>
            <a:r>
              <a:rPr lang="en-US" sz="2200" dirty="0"/>
              <a:t>and deliver </a:t>
            </a:r>
            <a:r>
              <a:rPr lang="en-US" sz="2200" dirty="0">
                <a:solidFill>
                  <a:srgbClr val="C00000"/>
                </a:solidFill>
              </a:rPr>
              <a:t>on-demand IT resources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The organization has </a:t>
            </a:r>
            <a:r>
              <a:rPr lang="en-US" sz="2200" dirty="0">
                <a:solidFill>
                  <a:srgbClr val="C00000"/>
                </a:solidFill>
              </a:rPr>
              <a:t>full control </a:t>
            </a:r>
            <a:r>
              <a:rPr lang="en-US" sz="2200" dirty="0"/>
              <a:t>over the cloud because it is managed by the organization itself. So, there is </a:t>
            </a:r>
            <a:r>
              <a:rPr lang="en-US" sz="2200" dirty="0">
                <a:solidFill>
                  <a:srgbClr val="C00000"/>
                </a:solidFill>
              </a:rPr>
              <a:t>no need </a:t>
            </a:r>
            <a:r>
              <a:rPr lang="en-US" sz="2200" dirty="0"/>
              <a:t>for the organization to </a:t>
            </a:r>
            <a:r>
              <a:rPr lang="en-US" sz="2200" dirty="0">
                <a:solidFill>
                  <a:srgbClr val="C00000"/>
                </a:solidFill>
              </a:rPr>
              <a:t>depends on anybody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 is suitable for organizations that require a separate cloud for </a:t>
            </a:r>
            <a:r>
              <a:rPr lang="en-US" sz="2200" dirty="0">
                <a:solidFill>
                  <a:srgbClr val="C00000"/>
                </a:solidFill>
              </a:rPr>
              <a:t>their personal use </a:t>
            </a:r>
            <a:r>
              <a:rPr lang="en-US" sz="2200" dirty="0"/>
              <a:t>and </a:t>
            </a:r>
            <a:r>
              <a:rPr lang="en-US" sz="2200" dirty="0">
                <a:solidFill>
                  <a:srgbClr val="C00000"/>
                </a:solidFill>
              </a:rPr>
              <a:t>data security </a:t>
            </a:r>
            <a:r>
              <a:rPr lang="en-US" sz="2200" dirty="0"/>
              <a:t>is the first priority.</a:t>
            </a:r>
          </a:p>
          <a:p>
            <a:r>
              <a:rPr lang="en-US" dirty="0"/>
              <a:t>Disadvantages of Private Cloud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Skilled people </a:t>
            </a:r>
            <a:r>
              <a:rPr lang="en-US" sz="2200" dirty="0"/>
              <a:t>are required to </a:t>
            </a:r>
            <a:r>
              <a:rPr lang="en-US" sz="2200" dirty="0">
                <a:solidFill>
                  <a:srgbClr val="C00000"/>
                </a:solidFill>
              </a:rPr>
              <a:t>manage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operate</a:t>
            </a:r>
            <a:r>
              <a:rPr lang="en-US" sz="2200" dirty="0"/>
              <a:t> cloud services.</a:t>
            </a:r>
          </a:p>
          <a:p>
            <a:pPr lvl="1"/>
            <a:r>
              <a:rPr lang="en-US" sz="2200" dirty="0"/>
              <a:t>It is accessible </a:t>
            </a:r>
            <a:r>
              <a:rPr lang="en-US" sz="2200" dirty="0">
                <a:solidFill>
                  <a:srgbClr val="C00000"/>
                </a:solidFill>
              </a:rPr>
              <a:t>within the organization</a:t>
            </a:r>
            <a:r>
              <a:rPr lang="en-US" sz="2200" dirty="0"/>
              <a:t>, so the </a:t>
            </a:r>
            <a:r>
              <a:rPr lang="en-US" sz="2200" dirty="0">
                <a:solidFill>
                  <a:srgbClr val="C00000"/>
                </a:solidFill>
              </a:rPr>
              <a:t>area </a:t>
            </a:r>
            <a:r>
              <a:rPr lang="en-US" sz="2200" dirty="0"/>
              <a:t>of operations is </a:t>
            </a:r>
            <a:r>
              <a:rPr lang="en-US" sz="2200" dirty="0">
                <a:solidFill>
                  <a:srgbClr val="C00000"/>
                </a:solidFill>
              </a:rPr>
              <a:t>limited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986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3576B9-E1CE-F63A-0D85-FB97780C6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Cloud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C6536F-987C-4428-4E42-0F7267772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Cloud is a </a:t>
            </a:r>
            <a:r>
              <a:rPr lang="en-US" dirty="0">
                <a:solidFill>
                  <a:srgbClr val="C00000"/>
                </a:solidFill>
              </a:rPr>
              <a:t>combination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public</a:t>
            </a:r>
            <a:r>
              <a:rPr lang="en-US" dirty="0"/>
              <a:t> cloud and the </a:t>
            </a:r>
            <a:r>
              <a:rPr lang="en-US" dirty="0">
                <a:solidFill>
                  <a:srgbClr val="C00000"/>
                </a:solidFill>
              </a:rPr>
              <a:t>private</a:t>
            </a:r>
            <a:r>
              <a:rPr lang="en-US" dirty="0"/>
              <a:t> cloud. </a:t>
            </a:r>
          </a:p>
          <a:p>
            <a:r>
              <a:rPr lang="en-US" dirty="0"/>
              <a:t>Hybrid Cloud = Public Cloud + Private Cloud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rgbClr val="C00000"/>
                </a:solidFill>
              </a:rPr>
              <a:t>partially secure </a:t>
            </a:r>
            <a:r>
              <a:rPr lang="en-US" dirty="0"/>
              <a:t>because the services which are running on the public cloud can be accessed by anyone. </a:t>
            </a:r>
          </a:p>
          <a:p>
            <a:r>
              <a:rPr lang="en-US" dirty="0"/>
              <a:t>While the services which are running on a private cloud can be accessed only by the organization's users.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Example</a:t>
            </a:r>
            <a:r>
              <a:rPr lang="en-US" dirty="0"/>
              <a:t>: Google Application Suite (Gmail, Google Apps, and Google Drive), Office 365 (MS Office on the Web and One Drive), Amazon Web Services.</a:t>
            </a:r>
          </a:p>
        </p:txBody>
      </p:sp>
      <p:pic>
        <p:nvPicPr>
          <p:cNvPr id="2050" name="Picture 2" descr="Hybrid Cloud">
            <a:extLst>
              <a:ext uri="{FF2B5EF4-FFF2-40B4-BE49-F238E27FC236}">
                <a16:creationId xmlns:a16="http://schemas.microsoft.com/office/drawing/2014/main" id="{7C4A2C74-110E-6EC0-8014-AC7C97195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753" y="3042696"/>
            <a:ext cx="3451113" cy="247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1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E0AB0C-B19D-BEAB-D405-06B192C6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Cloud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73CDA7-CAEA-26C2-920E-2210FA57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 of Hybrid Cloud</a:t>
            </a:r>
          </a:p>
          <a:p>
            <a:pPr lvl="1"/>
            <a:r>
              <a:rPr lang="en-US" sz="2200" dirty="0"/>
              <a:t>It is </a:t>
            </a:r>
            <a:r>
              <a:rPr lang="en-US" sz="2200" dirty="0">
                <a:solidFill>
                  <a:srgbClr val="C00000"/>
                </a:solidFill>
              </a:rPr>
              <a:t>suitable for organizations </a:t>
            </a:r>
            <a:r>
              <a:rPr lang="en-US" sz="2200" dirty="0"/>
              <a:t>that </a:t>
            </a:r>
            <a:r>
              <a:rPr lang="en-US" sz="2200" dirty="0">
                <a:solidFill>
                  <a:srgbClr val="C00000"/>
                </a:solidFill>
              </a:rPr>
              <a:t>require more security </a:t>
            </a:r>
            <a:r>
              <a:rPr lang="en-US" sz="2200" dirty="0"/>
              <a:t>than the public cloud.</a:t>
            </a:r>
          </a:p>
          <a:p>
            <a:pPr lvl="1"/>
            <a:r>
              <a:rPr lang="en-US" sz="2200" dirty="0"/>
              <a:t>It helps you to </a:t>
            </a:r>
            <a:r>
              <a:rPr lang="en-US" sz="2200" dirty="0">
                <a:solidFill>
                  <a:srgbClr val="C00000"/>
                </a:solidFill>
              </a:rPr>
              <a:t>deliver new products </a:t>
            </a:r>
            <a:r>
              <a:rPr lang="en-US" sz="2200" dirty="0"/>
              <a:t>and services more </a:t>
            </a:r>
            <a:r>
              <a:rPr lang="en-US" sz="2200" dirty="0">
                <a:solidFill>
                  <a:srgbClr val="C00000"/>
                </a:solidFill>
              </a:rPr>
              <a:t>quickly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 provides an excellent way to </a:t>
            </a:r>
            <a:r>
              <a:rPr lang="en-US" sz="2200" dirty="0">
                <a:solidFill>
                  <a:srgbClr val="C00000"/>
                </a:solidFill>
              </a:rPr>
              <a:t>reduce the risk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 offers </a:t>
            </a:r>
            <a:r>
              <a:rPr lang="en-US" sz="2200" dirty="0">
                <a:solidFill>
                  <a:srgbClr val="C00000"/>
                </a:solidFill>
              </a:rPr>
              <a:t>flexible resources </a:t>
            </a:r>
            <a:r>
              <a:rPr lang="en-US" sz="2200" dirty="0"/>
              <a:t>because of the public cloud and </a:t>
            </a:r>
            <a:r>
              <a:rPr lang="en-US" sz="2200" dirty="0">
                <a:solidFill>
                  <a:srgbClr val="C00000"/>
                </a:solidFill>
              </a:rPr>
              <a:t>secure resources </a:t>
            </a:r>
            <a:r>
              <a:rPr lang="en-US" sz="2200" dirty="0"/>
              <a:t>because of the private cloud.</a:t>
            </a:r>
          </a:p>
          <a:p>
            <a:r>
              <a:rPr lang="en-US" dirty="0"/>
              <a:t>Disadvantages of Hybrid Cloud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Security feature </a:t>
            </a:r>
            <a:r>
              <a:rPr lang="en-US" sz="2200" dirty="0"/>
              <a:t>is not as good as the private cloud.</a:t>
            </a:r>
          </a:p>
          <a:p>
            <a:pPr lvl="1"/>
            <a:r>
              <a:rPr lang="en-US" sz="2200" dirty="0"/>
              <a:t>Managing a hybrid cloud is complex because it is </a:t>
            </a:r>
            <a:r>
              <a:rPr lang="en-US" sz="2200" dirty="0">
                <a:solidFill>
                  <a:srgbClr val="C00000"/>
                </a:solidFill>
              </a:rPr>
              <a:t>difficult to manage </a:t>
            </a:r>
            <a:r>
              <a:rPr lang="en-US" sz="2200" dirty="0"/>
              <a:t>more than one type of </a:t>
            </a:r>
            <a:r>
              <a:rPr lang="en-US" sz="2200" dirty="0">
                <a:solidFill>
                  <a:srgbClr val="C00000"/>
                </a:solidFill>
              </a:rPr>
              <a:t>deployment model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reliability</a:t>
            </a:r>
            <a:r>
              <a:rPr lang="en-US" sz="2200" dirty="0"/>
              <a:t> of the services depends on cloud service providers.</a:t>
            </a:r>
          </a:p>
        </p:txBody>
      </p:sp>
    </p:spTree>
    <p:extLst>
      <p:ext uri="{BB962C8B-B14F-4D97-AF65-F5344CB8AC3E}">
        <p14:creationId xmlns:p14="http://schemas.microsoft.com/office/powerpoint/2010/main" val="90976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F2021-B98B-8490-5A86-7FB4EA75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Cloud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B0ECA4-BDF9-BD6F-EE10-71708557B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Community cloud allows </a:t>
            </a:r>
            <a:r>
              <a:rPr lang="en-US" dirty="0">
                <a:solidFill>
                  <a:srgbClr val="C00000"/>
                </a:solidFill>
              </a:rPr>
              <a:t>systems and services </a:t>
            </a:r>
            <a:r>
              <a:rPr lang="en-US" dirty="0"/>
              <a:t>to be accessible by a </a:t>
            </a:r>
            <a:r>
              <a:rPr lang="en-US" dirty="0">
                <a:solidFill>
                  <a:srgbClr val="C00000"/>
                </a:solidFill>
              </a:rPr>
              <a:t>group</a:t>
            </a:r>
            <a:r>
              <a:rPr lang="en-US" dirty="0"/>
              <a:t> of several organizations.</a:t>
            </a:r>
          </a:p>
          <a:p>
            <a:r>
              <a:rPr lang="en-US" dirty="0"/>
              <a:t>To share the information </a:t>
            </a:r>
            <a:r>
              <a:rPr lang="en-US" dirty="0">
                <a:solidFill>
                  <a:srgbClr val="C00000"/>
                </a:solidFill>
              </a:rPr>
              <a:t>between the organization </a:t>
            </a:r>
            <a:r>
              <a:rPr lang="en-US" dirty="0"/>
              <a:t>and a </a:t>
            </a:r>
            <a:r>
              <a:rPr lang="en-US" dirty="0">
                <a:solidFill>
                  <a:srgbClr val="C00000"/>
                </a:solidFill>
              </a:rPr>
              <a:t>specific community</a:t>
            </a:r>
            <a:r>
              <a:rPr lang="en-US" dirty="0"/>
              <a:t>. 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rgbClr val="C00000"/>
                </a:solidFill>
              </a:rPr>
              <a:t>owned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managed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operated</a:t>
            </a:r>
            <a:r>
              <a:rPr lang="en-US" dirty="0"/>
              <a:t> by one or more organizations in the community, a </a:t>
            </a:r>
            <a:r>
              <a:rPr lang="en-US" dirty="0">
                <a:solidFill>
                  <a:srgbClr val="C00000"/>
                </a:solidFill>
              </a:rPr>
              <a:t>third party</a:t>
            </a:r>
            <a:r>
              <a:rPr lang="en-US" dirty="0"/>
              <a:t>, or a combination of them.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Example</a:t>
            </a:r>
            <a:r>
              <a:rPr lang="en-US" dirty="0"/>
              <a:t>: Health Care community cloud</a:t>
            </a:r>
          </a:p>
        </p:txBody>
      </p:sp>
      <p:pic>
        <p:nvPicPr>
          <p:cNvPr id="3074" name="Picture 2" descr="Community Cloud">
            <a:extLst>
              <a:ext uri="{FF2B5EF4-FFF2-40B4-BE49-F238E27FC236}">
                <a16:creationId xmlns:a16="http://schemas.microsoft.com/office/drawing/2014/main" id="{AB0F6F48-CFC0-D77C-CA08-358A15926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545" y="2772784"/>
            <a:ext cx="4193389" cy="281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9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333BC8-15E4-4630-41A5-64D41325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Cloud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951B2A-F9B1-01B7-FCB7-0A584E4F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 of Community Cloud</a:t>
            </a:r>
          </a:p>
          <a:p>
            <a:pPr lvl="1"/>
            <a:r>
              <a:rPr lang="en-US" sz="2200" dirty="0"/>
              <a:t>It is </a:t>
            </a:r>
            <a:r>
              <a:rPr lang="en-US" sz="2200" dirty="0">
                <a:solidFill>
                  <a:srgbClr val="C00000"/>
                </a:solidFill>
              </a:rPr>
              <a:t>cost-effective</a:t>
            </a:r>
            <a:r>
              <a:rPr lang="en-US" sz="2200" dirty="0"/>
              <a:t> because the whole cloud is being </a:t>
            </a:r>
            <a:r>
              <a:rPr lang="en-US" sz="2200" dirty="0">
                <a:solidFill>
                  <a:srgbClr val="C00000"/>
                </a:solidFill>
              </a:rPr>
              <a:t>shared </a:t>
            </a:r>
            <a:r>
              <a:rPr lang="en-US" sz="2200" dirty="0"/>
              <a:t>by several organizations or communities.</a:t>
            </a:r>
          </a:p>
          <a:p>
            <a:pPr lvl="1"/>
            <a:r>
              <a:rPr lang="en-US" sz="2200" dirty="0"/>
              <a:t>It is suitable for organizations that want to have a </a:t>
            </a:r>
            <a:r>
              <a:rPr lang="en-US" sz="2200" dirty="0">
                <a:solidFill>
                  <a:srgbClr val="C00000"/>
                </a:solidFill>
              </a:rPr>
              <a:t>collaborative cloud </a:t>
            </a:r>
            <a:r>
              <a:rPr lang="en-US" sz="2200" dirty="0"/>
              <a:t>with more security features than the public cloud.</a:t>
            </a:r>
          </a:p>
          <a:p>
            <a:pPr lvl="1"/>
            <a:r>
              <a:rPr lang="en-US" sz="2200" dirty="0"/>
              <a:t>It provides </a:t>
            </a:r>
            <a:r>
              <a:rPr lang="en-US" sz="2200" dirty="0">
                <a:solidFill>
                  <a:srgbClr val="C00000"/>
                </a:solidFill>
              </a:rPr>
              <a:t>better security </a:t>
            </a:r>
            <a:r>
              <a:rPr lang="en-US" sz="2200" dirty="0"/>
              <a:t>than the </a:t>
            </a:r>
            <a:r>
              <a:rPr lang="en-US" sz="2200" dirty="0">
                <a:solidFill>
                  <a:srgbClr val="C00000"/>
                </a:solidFill>
              </a:rPr>
              <a:t>public</a:t>
            </a:r>
            <a:r>
              <a:rPr lang="en-US" sz="2200" dirty="0"/>
              <a:t> cloud.</a:t>
            </a:r>
          </a:p>
          <a:p>
            <a:pPr lvl="1"/>
            <a:r>
              <a:rPr lang="en-US" sz="2200" dirty="0"/>
              <a:t>It provides </a:t>
            </a:r>
            <a:r>
              <a:rPr lang="en-US" sz="2200" dirty="0">
                <a:solidFill>
                  <a:srgbClr val="C00000"/>
                </a:solidFill>
              </a:rPr>
              <a:t>collaborative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distributive</a:t>
            </a:r>
            <a:r>
              <a:rPr lang="en-US" sz="2200" dirty="0"/>
              <a:t> environment.</a:t>
            </a:r>
          </a:p>
          <a:p>
            <a:pPr lvl="1"/>
            <a:r>
              <a:rPr lang="en-US" sz="2200" dirty="0"/>
              <a:t>It allows us </a:t>
            </a:r>
            <a:r>
              <a:rPr lang="en-US" sz="2200" dirty="0">
                <a:solidFill>
                  <a:srgbClr val="C00000"/>
                </a:solidFill>
              </a:rPr>
              <a:t>to share </a:t>
            </a:r>
            <a:r>
              <a:rPr lang="en-US" sz="2200" dirty="0"/>
              <a:t>cloud resources, infrastructure, and other capabilities among various organizations.</a:t>
            </a:r>
          </a:p>
          <a:p>
            <a:r>
              <a:rPr lang="en-US" dirty="0"/>
              <a:t>Disadvantages of Community Cloud</a:t>
            </a:r>
          </a:p>
          <a:p>
            <a:pPr lvl="1"/>
            <a:r>
              <a:rPr lang="en-US" sz="2200" dirty="0"/>
              <a:t>It is not a good choice for every organization.</a:t>
            </a:r>
          </a:p>
          <a:p>
            <a:pPr lvl="1"/>
            <a:r>
              <a:rPr lang="en-US" sz="2200" dirty="0"/>
              <a:t>Security features are not as good as the private cloud.</a:t>
            </a:r>
          </a:p>
          <a:p>
            <a:pPr lvl="1"/>
            <a:r>
              <a:rPr lang="en-US" sz="2200" dirty="0"/>
              <a:t>It is not suitable if there is no collaboration.</a:t>
            </a:r>
          </a:p>
          <a:p>
            <a:pPr lvl="1"/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fixed</a:t>
            </a:r>
            <a:r>
              <a:rPr lang="en-US" sz="2200" dirty="0"/>
              <a:t> amount of </a:t>
            </a:r>
            <a:r>
              <a:rPr lang="en-US" sz="2200" dirty="0">
                <a:solidFill>
                  <a:srgbClr val="C00000"/>
                </a:solidFill>
              </a:rPr>
              <a:t>data storage </a:t>
            </a:r>
            <a:r>
              <a:rPr lang="en-US" sz="2200" dirty="0"/>
              <a:t>and </a:t>
            </a:r>
            <a:r>
              <a:rPr lang="en-US" sz="2200" dirty="0">
                <a:solidFill>
                  <a:srgbClr val="C00000"/>
                </a:solidFill>
              </a:rPr>
              <a:t>bandwidth</a:t>
            </a:r>
            <a:r>
              <a:rPr lang="en-US" sz="2200" dirty="0"/>
              <a:t> is </a:t>
            </a:r>
            <a:r>
              <a:rPr lang="en-US" sz="2200" dirty="0">
                <a:solidFill>
                  <a:srgbClr val="C00000"/>
                </a:solidFill>
              </a:rPr>
              <a:t>shared</a:t>
            </a:r>
            <a:r>
              <a:rPr lang="en-US" sz="2200" dirty="0"/>
              <a:t> among all community members.</a:t>
            </a:r>
          </a:p>
        </p:txBody>
      </p:sp>
    </p:spTree>
    <p:extLst>
      <p:ext uri="{BB962C8B-B14F-4D97-AF65-F5344CB8AC3E}">
        <p14:creationId xmlns:p14="http://schemas.microsoft.com/office/powerpoint/2010/main" val="121697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1D2219-C88F-1C83-7479-965CBF95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Public Cloud Vs. Private Cloud Vs. Hybrid Cloud Vs. Community Cloud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B8A25A9-AB79-3FB0-8DB9-7E52D77767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970" y="973855"/>
          <a:ext cx="11950059" cy="368931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617663">
                  <a:extLst>
                    <a:ext uri="{9D8B030D-6E8A-4147-A177-3AD203B41FA5}">
                      <a16:colId xmlns:a16="http://schemas.microsoft.com/office/drawing/2014/main" val="184455530"/>
                    </a:ext>
                  </a:extLst>
                </a:gridCol>
                <a:gridCol w="2583099">
                  <a:extLst>
                    <a:ext uri="{9D8B030D-6E8A-4147-A177-3AD203B41FA5}">
                      <a16:colId xmlns:a16="http://schemas.microsoft.com/office/drawing/2014/main" val="1677512975"/>
                    </a:ext>
                  </a:extLst>
                </a:gridCol>
                <a:gridCol w="2583099">
                  <a:extLst>
                    <a:ext uri="{9D8B030D-6E8A-4147-A177-3AD203B41FA5}">
                      <a16:colId xmlns:a16="http://schemas.microsoft.com/office/drawing/2014/main" val="477458638"/>
                    </a:ext>
                  </a:extLst>
                </a:gridCol>
                <a:gridCol w="2583099">
                  <a:extLst>
                    <a:ext uri="{9D8B030D-6E8A-4147-A177-3AD203B41FA5}">
                      <a16:colId xmlns:a16="http://schemas.microsoft.com/office/drawing/2014/main" val="405200016"/>
                    </a:ext>
                  </a:extLst>
                </a:gridCol>
                <a:gridCol w="2583099">
                  <a:extLst>
                    <a:ext uri="{9D8B030D-6E8A-4147-A177-3AD203B41FA5}">
                      <a16:colId xmlns:a16="http://schemas.microsoft.com/office/drawing/2014/main" val="1581918320"/>
                    </a:ext>
                  </a:extLst>
                </a:gridCol>
              </a:tblGrid>
              <a:tr h="582229"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b="1" dirty="0">
                          <a:solidFill>
                            <a:srgbClr val="000000"/>
                          </a:solidFill>
                          <a:effectLst/>
                        </a:rPr>
                        <a:t>Parameter</a:t>
                      </a:r>
                      <a:endParaRPr lang="en-IN" sz="22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114300" marB="11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b="1" dirty="0">
                          <a:solidFill>
                            <a:srgbClr val="000000"/>
                          </a:solidFill>
                          <a:effectLst/>
                        </a:rPr>
                        <a:t>Public Cloud</a:t>
                      </a:r>
                      <a:endParaRPr lang="en-IN" sz="22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114300" marB="11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b="1" dirty="0">
                          <a:solidFill>
                            <a:srgbClr val="000000"/>
                          </a:solidFill>
                          <a:effectLst/>
                        </a:rPr>
                        <a:t>Private Cloud</a:t>
                      </a:r>
                      <a:endParaRPr lang="en-IN" sz="22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114300" marB="11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b="1" dirty="0">
                          <a:solidFill>
                            <a:srgbClr val="000000"/>
                          </a:solidFill>
                          <a:effectLst/>
                        </a:rPr>
                        <a:t>Hybrid Cloud</a:t>
                      </a:r>
                      <a:endParaRPr lang="en-IN" sz="22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114300" marB="11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b="1" dirty="0">
                          <a:solidFill>
                            <a:srgbClr val="000000"/>
                          </a:solidFill>
                          <a:effectLst/>
                        </a:rPr>
                        <a:t>Community Cloud</a:t>
                      </a:r>
                      <a:endParaRPr lang="en-IN" sz="22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114300" marB="1143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6907"/>
                  </a:ext>
                </a:extLst>
              </a:tr>
              <a:tr h="860999"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b="1" dirty="0">
                          <a:solidFill>
                            <a:srgbClr val="333333"/>
                          </a:solidFill>
                          <a:effectLst/>
                        </a:rPr>
                        <a:t>Host</a:t>
                      </a:r>
                      <a:endParaRPr lang="en-IN" sz="22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Service provider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Enterprise </a:t>
                      </a:r>
                    </a:p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(Third party)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Enterprise </a:t>
                      </a:r>
                    </a:p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(Third party)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Community </a:t>
                      </a:r>
                    </a:p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(Third party)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164901130"/>
                  </a:ext>
                </a:extLst>
              </a:tr>
              <a:tr h="860999"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b="1" dirty="0">
                          <a:solidFill>
                            <a:srgbClr val="333333"/>
                          </a:solidFill>
                          <a:effectLst/>
                        </a:rPr>
                        <a:t>Users</a:t>
                      </a:r>
                      <a:endParaRPr lang="en-IN" sz="22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General public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Selected users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Selected users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Community members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36197910"/>
                  </a:ext>
                </a:extLst>
              </a:tr>
              <a:tr h="52408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b="1" dirty="0">
                          <a:solidFill>
                            <a:srgbClr val="333333"/>
                          </a:solidFill>
                          <a:effectLst/>
                        </a:rPr>
                        <a:t>Access</a:t>
                      </a:r>
                      <a:endParaRPr lang="en-IN" sz="22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>
                          <a:solidFill>
                            <a:srgbClr val="333333"/>
                          </a:solidFill>
                          <a:effectLst/>
                        </a:rPr>
                        <a:t>Internet</a:t>
                      </a:r>
                      <a:endParaRPr lang="en-IN" sz="22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>
                          <a:solidFill>
                            <a:srgbClr val="333333"/>
                          </a:solidFill>
                          <a:effectLst/>
                        </a:rPr>
                        <a:t>Internet, VPN</a:t>
                      </a:r>
                      <a:endParaRPr lang="en-IN" sz="22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Internet, VPN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Internet, VPN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1728392"/>
                  </a:ext>
                </a:extLst>
              </a:tr>
              <a:tr h="860999"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b="1" dirty="0">
                          <a:solidFill>
                            <a:srgbClr val="333333"/>
                          </a:solidFill>
                          <a:effectLst/>
                        </a:rPr>
                        <a:t>Owner</a:t>
                      </a:r>
                      <a:endParaRPr lang="en-IN" sz="2200" b="1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>
                          <a:solidFill>
                            <a:srgbClr val="333333"/>
                          </a:solidFill>
                          <a:effectLst/>
                        </a:rPr>
                        <a:t>Service provider</a:t>
                      </a:r>
                      <a:endParaRPr lang="en-IN" sz="22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>
                          <a:solidFill>
                            <a:srgbClr val="333333"/>
                          </a:solidFill>
                          <a:effectLst/>
                        </a:rPr>
                        <a:t>Enterprise</a:t>
                      </a:r>
                      <a:endParaRPr lang="en-IN" sz="22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>
                          <a:solidFill>
                            <a:srgbClr val="333333"/>
                          </a:solidFill>
                          <a:effectLst/>
                        </a:rPr>
                        <a:t>Enterprise</a:t>
                      </a:r>
                      <a:endParaRPr lang="en-IN" sz="22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200" dirty="0">
                          <a:solidFill>
                            <a:srgbClr val="333333"/>
                          </a:solidFill>
                          <a:effectLst/>
                        </a:rPr>
                        <a:t>Community</a:t>
                      </a:r>
                      <a:endParaRPr lang="en-IN" sz="22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315721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3498-2C32-D1C2-1D02-FE4CF60B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76F9-0E05-9418-6081-A513A9E0F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Cloud Service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A259C-D16B-59C6-D457-2986AD89D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- 8</a:t>
            </a:r>
          </a:p>
        </p:txBody>
      </p:sp>
    </p:spTree>
    <p:extLst>
      <p:ext uri="{BB962C8B-B14F-4D97-AF65-F5344CB8AC3E}">
        <p14:creationId xmlns:p14="http://schemas.microsoft.com/office/powerpoint/2010/main" val="20778665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33F2AB-595F-75BD-F9C1-456850504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31D28-B71C-5923-E93E-E1CC642BB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the following three types of cloud service models: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200" dirty="0"/>
              <a:t>Infrastructure as a Service (IaaS)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200" dirty="0"/>
              <a:t>Platform as a Service (PaaS)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200" dirty="0"/>
              <a:t>Software as a Service (SaaS)</a:t>
            </a:r>
          </a:p>
        </p:txBody>
      </p:sp>
      <p:pic>
        <p:nvPicPr>
          <p:cNvPr id="5124" name="Picture 4" descr="IaaS vs PaaS vs SaaS: Understanding The Types of Cloud Services">
            <a:extLst>
              <a:ext uri="{FF2B5EF4-FFF2-40B4-BE49-F238E27FC236}">
                <a16:creationId xmlns:a16="http://schemas.microsoft.com/office/drawing/2014/main" id="{7535AC0F-825A-65C9-5ADC-D99542296A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5" r="9613"/>
          <a:stretch/>
        </p:blipFill>
        <p:spPr bwMode="auto">
          <a:xfrm>
            <a:off x="494222" y="2465099"/>
            <a:ext cx="6717556" cy="40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14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8C2178-485B-BDB1-3685-22E429F3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as a Service (IaaS)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22D0E1-9290-5015-6C01-8CB7B6ECF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IaaS is also known as </a:t>
            </a:r>
            <a:r>
              <a:rPr lang="en-US" dirty="0">
                <a:solidFill>
                  <a:srgbClr val="C00000"/>
                </a:solidFill>
              </a:rPr>
              <a:t>Hardware as a Service </a:t>
            </a:r>
            <a:r>
              <a:rPr lang="en-US" dirty="0"/>
              <a:t>(</a:t>
            </a:r>
            <a:r>
              <a:rPr lang="en-US" dirty="0" err="1"/>
              <a:t>HaaS</a:t>
            </a:r>
            <a:r>
              <a:rPr lang="en-US" dirty="0"/>
              <a:t>). </a:t>
            </a:r>
          </a:p>
          <a:p>
            <a:r>
              <a:rPr lang="en-US" dirty="0"/>
              <a:t>It is a </a:t>
            </a:r>
            <a:r>
              <a:rPr lang="en-US" dirty="0">
                <a:solidFill>
                  <a:srgbClr val="C00000"/>
                </a:solidFill>
              </a:rPr>
              <a:t>computing infrastructure </a:t>
            </a:r>
            <a:r>
              <a:rPr lang="en-US" dirty="0"/>
              <a:t>managed over the internet. </a:t>
            </a:r>
          </a:p>
          <a:p>
            <a:r>
              <a:rPr lang="en-US" dirty="0"/>
              <a:t>The main advantage of using IaaS is that it helps users to avoid the cost and complexity of </a:t>
            </a:r>
            <a:r>
              <a:rPr lang="en-US" dirty="0">
                <a:solidFill>
                  <a:srgbClr val="C00000"/>
                </a:solidFill>
              </a:rPr>
              <a:t>purchasing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managing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physical servers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Characteristics of IaaS :</a:t>
            </a:r>
          </a:p>
          <a:p>
            <a:pPr lvl="1"/>
            <a:r>
              <a:rPr lang="en-US" sz="2200" dirty="0"/>
              <a:t>Resources are available as a service</a:t>
            </a:r>
          </a:p>
          <a:p>
            <a:pPr lvl="1"/>
            <a:r>
              <a:rPr lang="en-US" sz="2200" dirty="0"/>
              <a:t>Services are highly scalable</a:t>
            </a:r>
          </a:p>
          <a:p>
            <a:pPr lvl="1"/>
            <a:r>
              <a:rPr lang="en-US" sz="2200" dirty="0"/>
              <a:t>Dynamic and flexible</a:t>
            </a:r>
          </a:p>
          <a:p>
            <a:pPr lvl="1"/>
            <a:r>
              <a:rPr lang="en-US" sz="2200" dirty="0"/>
              <a:t>GUI and API-based access</a:t>
            </a:r>
          </a:p>
          <a:p>
            <a:pPr lvl="1"/>
            <a:r>
              <a:rPr lang="en-US" sz="2200" dirty="0"/>
              <a:t>Automated administrative tasks</a:t>
            </a:r>
          </a:p>
          <a:p>
            <a:r>
              <a:rPr lang="en-US" dirty="0">
                <a:solidFill>
                  <a:srgbClr val="C00000"/>
                </a:solidFill>
              </a:rPr>
              <a:t>Example: </a:t>
            </a:r>
            <a:r>
              <a:rPr lang="en-US" dirty="0" err="1"/>
              <a:t>DigitalOcean</a:t>
            </a:r>
            <a:r>
              <a:rPr lang="en-US" dirty="0"/>
              <a:t>, </a:t>
            </a:r>
            <a:r>
              <a:rPr lang="en-US" dirty="0" err="1"/>
              <a:t>Linode</a:t>
            </a:r>
            <a:r>
              <a:rPr lang="en-US" dirty="0"/>
              <a:t>, Amazon Web Services (AWS), Microsoft Azure, Google Compute Engine (GCE), Rackspace, and Cisco </a:t>
            </a:r>
            <a:r>
              <a:rPr lang="en-US" dirty="0" err="1"/>
              <a:t>Metacloud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079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B5B0F2-1081-035C-96EA-CC89D5DE7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Platform as a Service (PaaS)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5FCDD9-CD87-8750-06DC-C429321E3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PaaS cloud computing platform is </a:t>
            </a:r>
            <a:r>
              <a:rPr lang="en-US" dirty="0">
                <a:solidFill>
                  <a:srgbClr val="C00000"/>
                </a:solidFill>
              </a:rPr>
              <a:t>created for the programmer </a:t>
            </a:r>
            <a:r>
              <a:rPr lang="en-US" dirty="0"/>
              <a:t>to develop, test, run, and manage the applications.</a:t>
            </a:r>
          </a:p>
          <a:p>
            <a:r>
              <a:rPr lang="en-US" dirty="0">
                <a:solidFill>
                  <a:srgbClr val="C00000"/>
                </a:solidFill>
              </a:rPr>
              <a:t>Characteristics of PaaS :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Accessible to various users </a:t>
            </a:r>
            <a:r>
              <a:rPr lang="en-US" sz="2200" dirty="0"/>
              <a:t>via the same development application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Integrates</a:t>
            </a:r>
            <a:r>
              <a:rPr lang="en-US" sz="2200" dirty="0"/>
              <a:t> with web services and databases</a:t>
            </a:r>
          </a:p>
          <a:p>
            <a:pPr lvl="1"/>
            <a:r>
              <a:rPr lang="en-US" sz="2200" dirty="0"/>
              <a:t>Builds on </a:t>
            </a:r>
            <a:r>
              <a:rPr lang="en-US" sz="2200" dirty="0">
                <a:solidFill>
                  <a:srgbClr val="C00000"/>
                </a:solidFill>
              </a:rPr>
              <a:t>virtualization technology</a:t>
            </a:r>
            <a:r>
              <a:rPr lang="en-US" sz="2200" dirty="0"/>
              <a:t>, so resources can easily be scaled up or down as per the organization's need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Support</a:t>
            </a:r>
            <a:r>
              <a:rPr lang="en-US" sz="2200" dirty="0"/>
              <a:t> multiple languages and frameworks</a:t>
            </a:r>
          </a:p>
          <a:p>
            <a:pPr lvl="1"/>
            <a:r>
              <a:rPr lang="en-US" sz="2200" dirty="0"/>
              <a:t>Provides an ability to "</a:t>
            </a:r>
            <a:r>
              <a:rPr lang="en-US" sz="2200" dirty="0">
                <a:solidFill>
                  <a:srgbClr val="C00000"/>
                </a:solidFill>
              </a:rPr>
              <a:t>Auto-scale</a:t>
            </a:r>
            <a:r>
              <a:rPr lang="en-US" sz="2200" dirty="0"/>
              <a:t>"</a:t>
            </a:r>
          </a:p>
          <a:p>
            <a:r>
              <a:rPr lang="en-US" dirty="0">
                <a:solidFill>
                  <a:srgbClr val="C00000"/>
                </a:solidFill>
              </a:rPr>
              <a:t>Example:</a:t>
            </a:r>
            <a:r>
              <a:rPr lang="en-US" dirty="0"/>
              <a:t> AWS Elastic Beanstalk, Windows Azure, Heroku, Force.com, Google App Engine, Apache Stratos, Magento Commerce Cloud, and OpenShift.</a:t>
            </a:r>
          </a:p>
        </p:txBody>
      </p:sp>
    </p:spTree>
    <p:extLst>
      <p:ext uri="{BB962C8B-B14F-4D97-AF65-F5344CB8AC3E}">
        <p14:creationId xmlns:p14="http://schemas.microsoft.com/office/powerpoint/2010/main" val="330228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BD8423-B91C-F650-4233-ECAE5E1E6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as a Service (SaaS)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482270-019F-2D3A-CEE7-71312B1AE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SaaS is also known as "</a:t>
            </a:r>
            <a:r>
              <a:rPr lang="en-US" dirty="0">
                <a:solidFill>
                  <a:srgbClr val="C00000"/>
                </a:solidFill>
              </a:rPr>
              <a:t>on-demand software</a:t>
            </a:r>
            <a:r>
              <a:rPr lang="en-US" dirty="0"/>
              <a:t>". </a:t>
            </a:r>
          </a:p>
          <a:p>
            <a:r>
              <a:rPr lang="en-US" dirty="0"/>
              <a:t>It is a </a:t>
            </a:r>
            <a:r>
              <a:rPr lang="en-US" dirty="0">
                <a:solidFill>
                  <a:srgbClr val="C00000"/>
                </a:solidFill>
              </a:rPr>
              <a:t>software</a:t>
            </a:r>
            <a:r>
              <a:rPr lang="en-US" dirty="0"/>
              <a:t> in which the applications are hosted by a cloud service provider. </a:t>
            </a:r>
          </a:p>
          <a:p>
            <a:r>
              <a:rPr lang="en-US" dirty="0"/>
              <a:t>Users can </a:t>
            </a:r>
            <a:r>
              <a:rPr lang="en-US" dirty="0">
                <a:solidFill>
                  <a:srgbClr val="C00000"/>
                </a:solidFill>
              </a:rPr>
              <a:t>access</a:t>
            </a:r>
            <a:r>
              <a:rPr lang="en-US" dirty="0"/>
              <a:t> these applications with the help of internet connection and web browser.</a:t>
            </a:r>
          </a:p>
          <a:p>
            <a:r>
              <a:rPr lang="en-US" dirty="0">
                <a:solidFill>
                  <a:srgbClr val="C00000"/>
                </a:solidFill>
              </a:rPr>
              <a:t>Characteristics of SaaS :</a:t>
            </a:r>
          </a:p>
          <a:p>
            <a:pPr lvl="1"/>
            <a:r>
              <a:rPr lang="en-US" sz="2200" dirty="0"/>
              <a:t>Managed from a central location</a:t>
            </a:r>
          </a:p>
          <a:p>
            <a:pPr lvl="1"/>
            <a:r>
              <a:rPr lang="en-US" sz="2200" dirty="0"/>
              <a:t>Hosted on a remote server</a:t>
            </a:r>
          </a:p>
          <a:p>
            <a:pPr lvl="1"/>
            <a:r>
              <a:rPr lang="en-US" sz="2200" dirty="0"/>
              <a:t>Accessible over the internet</a:t>
            </a:r>
          </a:p>
          <a:p>
            <a:pPr lvl="1"/>
            <a:r>
              <a:rPr lang="en-US" sz="2200" dirty="0"/>
              <a:t>Users are not responsible for hardware and software updates. Updates are applied automatically</a:t>
            </a:r>
          </a:p>
          <a:p>
            <a:pPr lvl="1"/>
            <a:r>
              <a:rPr lang="en-US" sz="2200" dirty="0"/>
              <a:t>The services are purchased on the pay-as-per-use basis</a:t>
            </a:r>
          </a:p>
          <a:p>
            <a:r>
              <a:rPr lang="en-US" dirty="0">
                <a:solidFill>
                  <a:srgbClr val="C00000"/>
                </a:solidFill>
              </a:rPr>
              <a:t>Example: </a:t>
            </a:r>
            <a:r>
              <a:rPr lang="en-US" dirty="0"/>
              <a:t>BigCommerce, Google Apps, Salesforce, Dropbox, </a:t>
            </a:r>
            <a:r>
              <a:rPr lang="en-US" dirty="0" err="1"/>
              <a:t>ZenDesk</a:t>
            </a:r>
            <a:r>
              <a:rPr lang="en-US" dirty="0"/>
              <a:t>, Cisco WebEx, </a:t>
            </a:r>
            <a:r>
              <a:rPr lang="en-US" dirty="0" err="1"/>
              <a:t>ZenDesk</a:t>
            </a:r>
            <a:r>
              <a:rPr lang="en-US" dirty="0"/>
              <a:t>, Slack, and GoToMeeting.</a:t>
            </a:r>
          </a:p>
        </p:txBody>
      </p:sp>
    </p:spTree>
    <p:extLst>
      <p:ext uri="{BB962C8B-B14F-4D97-AF65-F5344CB8AC3E}">
        <p14:creationId xmlns:p14="http://schemas.microsoft.com/office/powerpoint/2010/main" val="210384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A2F1A1-0DA6-BACF-7DA3-F98866F1E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84514"/>
              </p:ext>
            </p:extLst>
          </p:nvPr>
        </p:nvGraphicFramePr>
        <p:xfrm>
          <a:off x="152107" y="984655"/>
          <a:ext cx="11908713" cy="4719547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969571">
                  <a:extLst>
                    <a:ext uri="{9D8B030D-6E8A-4147-A177-3AD203B41FA5}">
                      <a16:colId xmlns:a16="http://schemas.microsoft.com/office/drawing/2014/main" val="641741477"/>
                    </a:ext>
                  </a:extLst>
                </a:gridCol>
                <a:gridCol w="3969571">
                  <a:extLst>
                    <a:ext uri="{9D8B030D-6E8A-4147-A177-3AD203B41FA5}">
                      <a16:colId xmlns:a16="http://schemas.microsoft.com/office/drawing/2014/main" val="1131895484"/>
                    </a:ext>
                  </a:extLst>
                </a:gridCol>
                <a:gridCol w="3969571">
                  <a:extLst>
                    <a:ext uri="{9D8B030D-6E8A-4147-A177-3AD203B41FA5}">
                      <a16:colId xmlns:a16="http://schemas.microsoft.com/office/drawing/2014/main" val="980351588"/>
                    </a:ext>
                  </a:extLst>
                </a:gridCol>
              </a:tblGrid>
              <a:tr h="4495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</a:rPr>
                        <a:t>IaaS</a:t>
                      </a:r>
                      <a:endParaRPr lang="en-IN" sz="20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146" marR="95146" marT="95146" marB="9514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</a:rPr>
                        <a:t>PaaS</a:t>
                      </a:r>
                      <a:endParaRPr lang="en-IN" sz="20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146" marR="95146" marT="95146" marB="9514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</a:rPr>
                        <a:t>SaaS</a:t>
                      </a:r>
                      <a:endParaRPr lang="en-IN" sz="2000" b="1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146" marR="95146" marT="95146" marB="95146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426669"/>
                  </a:ext>
                </a:extLst>
              </a:tr>
              <a:tr h="1608096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>
                          <a:solidFill>
                            <a:srgbClr val="333333"/>
                          </a:solidFill>
                          <a:effectLst/>
                        </a:rPr>
                        <a:t>It provides a virtual data center to store information and create platforms for app development, testing, and deployment.</a:t>
                      </a:r>
                      <a:endParaRPr lang="en-IN" sz="20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</a:rPr>
                        <a:t>It provides virtual platforms and tools to create, test, and deploy apps.</a:t>
                      </a:r>
                      <a:endParaRPr lang="en-IN" sz="20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>
                          <a:solidFill>
                            <a:srgbClr val="333333"/>
                          </a:solidFill>
                          <a:effectLst/>
                        </a:rPr>
                        <a:t>It provides web software and apps to complete business tasks.</a:t>
                      </a:r>
                      <a:endParaRPr lang="en-IN" sz="20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extLst>
                  <a:ext uri="{0D108BD9-81ED-4DB2-BD59-A6C34878D82A}">
                    <a16:rowId xmlns:a16="http://schemas.microsoft.com/office/drawing/2014/main" val="3660320621"/>
                  </a:ext>
                </a:extLst>
              </a:tr>
              <a:tr h="1117445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</a:rPr>
                        <a:t>It provides access to resources such as virtual machines, virtual storage, etc.</a:t>
                      </a:r>
                      <a:endParaRPr lang="en-IN" sz="20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>
                          <a:solidFill>
                            <a:srgbClr val="333333"/>
                          </a:solidFill>
                          <a:effectLst/>
                        </a:rPr>
                        <a:t>It provides runtime environments and deployment tools for applications.</a:t>
                      </a:r>
                      <a:endParaRPr lang="en-IN" sz="20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>
                          <a:solidFill>
                            <a:srgbClr val="333333"/>
                          </a:solidFill>
                          <a:effectLst/>
                        </a:rPr>
                        <a:t>It provides software as a service to the end-users.</a:t>
                      </a:r>
                      <a:endParaRPr lang="en-IN" sz="20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extLst>
                  <a:ext uri="{0D108BD9-81ED-4DB2-BD59-A6C34878D82A}">
                    <a16:rowId xmlns:a16="http://schemas.microsoft.com/office/drawing/2014/main" val="3794799129"/>
                  </a:ext>
                </a:extLst>
              </a:tr>
              <a:tr h="626794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>
                          <a:solidFill>
                            <a:srgbClr val="333333"/>
                          </a:solidFill>
                          <a:effectLst/>
                        </a:rPr>
                        <a:t>It is used by network architects.</a:t>
                      </a:r>
                      <a:endParaRPr lang="en-IN" sz="20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>
                          <a:solidFill>
                            <a:srgbClr val="333333"/>
                          </a:solidFill>
                          <a:effectLst/>
                        </a:rPr>
                        <a:t>It is used by developers.</a:t>
                      </a:r>
                      <a:endParaRPr lang="en-IN" sz="20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>
                          <a:solidFill>
                            <a:srgbClr val="333333"/>
                          </a:solidFill>
                          <a:effectLst/>
                        </a:rPr>
                        <a:t>It is used by end users.</a:t>
                      </a:r>
                      <a:endParaRPr lang="en-IN" sz="20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extLst>
                  <a:ext uri="{0D108BD9-81ED-4DB2-BD59-A6C34878D82A}">
                    <a16:rowId xmlns:a16="http://schemas.microsoft.com/office/drawing/2014/main" val="873259921"/>
                  </a:ext>
                </a:extLst>
              </a:tr>
              <a:tr h="87212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>
                          <a:solidFill>
                            <a:srgbClr val="333333"/>
                          </a:solidFill>
                          <a:effectLst/>
                        </a:rPr>
                        <a:t>IaaS provides only Infrastructure.</a:t>
                      </a:r>
                      <a:endParaRPr lang="en-IN" sz="20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</a:rPr>
                        <a:t>PaaS provides Infrastructure + Platform.</a:t>
                      </a:r>
                      <a:endParaRPr lang="en-IN" sz="20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</a:rPr>
                        <a:t>SaaS provides </a:t>
                      </a:r>
                    </a:p>
                    <a:p>
                      <a:pPr algn="just" fontAlgn="t"/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</a:rPr>
                        <a:t>Infrastructure + Platform + Software.</a:t>
                      </a:r>
                      <a:endParaRPr lang="en-IN" sz="20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3431" marR="63431" marT="63431" marB="63431"/>
                </a:tc>
                <a:extLst>
                  <a:ext uri="{0D108BD9-81ED-4DB2-BD59-A6C34878D82A}">
                    <a16:rowId xmlns:a16="http://schemas.microsoft.com/office/drawing/2014/main" val="985150650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6E3F5954-EB7B-F190-881C-18A49215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IaaS Vs. PaaS Vs. SaaS</a:t>
            </a:r>
          </a:p>
        </p:txBody>
      </p:sp>
    </p:spTree>
    <p:extLst>
      <p:ext uri="{BB962C8B-B14F-4D97-AF65-F5344CB8AC3E}">
        <p14:creationId xmlns:p14="http://schemas.microsoft.com/office/powerpoint/2010/main" val="257987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Cloud Service Models (IaaS, PaaS, SaaS) Diagram | David Chou">
            <a:extLst>
              <a:ext uri="{FF2B5EF4-FFF2-40B4-BE49-F238E27FC236}">
                <a16:creationId xmlns:a16="http://schemas.microsoft.com/office/drawing/2014/main" id="{74315FF5-9099-F24A-1802-783A4F6A8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13" y="225911"/>
            <a:ext cx="9903684" cy="615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06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AB01B-7E55-D2DD-361B-3F2BDB82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in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10BA-4420-4A28-BDA2-EC4A9FFDB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Virtualization is the "creation of a virtual (rather than actual) version of something, such as a server, a desktop, a storage device, an operating system or network resources".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Virtualization is a technique, which allows to share a single physical instance of a resource or an application among multiple customers and organizations. </a:t>
            </a:r>
          </a:p>
          <a:p>
            <a:endParaRPr lang="en-US" dirty="0"/>
          </a:p>
        </p:txBody>
      </p:sp>
      <p:pic>
        <p:nvPicPr>
          <p:cNvPr id="7170" name="Picture 2" descr="Virtualization Technology vs. Cloud Computing Virtualization - DNSstuff">
            <a:extLst>
              <a:ext uri="{FF2B5EF4-FFF2-40B4-BE49-F238E27FC236}">
                <a16:creationId xmlns:a16="http://schemas.microsoft.com/office/drawing/2014/main" id="{F8222423-55F6-51E5-F9D9-269606C1B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59" t="23240" r="10177" b="12872"/>
          <a:stretch/>
        </p:blipFill>
        <p:spPr bwMode="auto">
          <a:xfrm>
            <a:off x="2769507" y="1683407"/>
            <a:ext cx="6652986" cy="284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18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1B8CB0-2F4E-D079-7BF0-F6198C499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in Cloud Computing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73BD3C-27B3-DD9C-AA31-72477D395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concept behind the Virtualization?</a:t>
            </a:r>
          </a:p>
          <a:p>
            <a:r>
              <a:rPr lang="en-US" dirty="0"/>
              <a:t>Creation of a </a:t>
            </a:r>
            <a:r>
              <a:rPr lang="en-US" dirty="0">
                <a:solidFill>
                  <a:srgbClr val="C00000"/>
                </a:solidFill>
              </a:rPr>
              <a:t>virtual machine </a:t>
            </a:r>
            <a:r>
              <a:rPr lang="en-US" dirty="0"/>
              <a:t>over </a:t>
            </a:r>
            <a:r>
              <a:rPr lang="en-US" dirty="0">
                <a:solidFill>
                  <a:srgbClr val="C00000"/>
                </a:solidFill>
              </a:rPr>
              <a:t>existing operating system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hardware</a:t>
            </a:r>
            <a:r>
              <a:rPr lang="en-US" dirty="0"/>
              <a:t> is known as </a:t>
            </a:r>
            <a:r>
              <a:rPr lang="en-US" dirty="0">
                <a:solidFill>
                  <a:srgbClr val="C00000"/>
                </a:solidFill>
              </a:rPr>
              <a:t>Hardware Virtualization</a:t>
            </a:r>
            <a:r>
              <a:rPr lang="en-US" dirty="0"/>
              <a:t>. </a:t>
            </a:r>
          </a:p>
          <a:p>
            <a:r>
              <a:rPr lang="en-US" dirty="0"/>
              <a:t>A virtual machine provides an environment that is logically separated from the underlying hardware.</a:t>
            </a:r>
          </a:p>
          <a:p>
            <a:r>
              <a:rPr lang="en-US" dirty="0"/>
              <a:t>The machine on which the virtual machine is going to create is known as Host Machine and that virtual machine is referred as a Guest Machine.</a:t>
            </a:r>
          </a:p>
          <a:p>
            <a:r>
              <a:rPr lang="en-US" dirty="0"/>
              <a:t>Types of Virtualization: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200" dirty="0"/>
              <a:t>Hardware Virtualization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200" dirty="0"/>
              <a:t>Operating system Virtualization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200" dirty="0"/>
              <a:t>Server Virtualization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200" dirty="0"/>
              <a:t>Storage Virtualization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98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96F69B-5840-EF4D-7494-23E5FB60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 Virtualization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CC92B0-01C3-60D7-5B2C-D8C36ABDD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virtual machine software or virtual machine manager (VMM) is directly installed on the hardware system is known as hardware virtualization.</a:t>
            </a:r>
          </a:p>
          <a:p>
            <a:r>
              <a:rPr lang="en-US" dirty="0"/>
              <a:t>The main job of hypervisor is to control and monitoring the processor, memory and other hardware resources.</a:t>
            </a:r>
          </a:p>
          <a:p>
            <a:r>
              <a:rPr lang="en-US" dirty="0"/>
              <a:t>After virtualization of hardware system, we can install different operating system on it and run different applications on those OS.</a:t>
            </a:r>
          </a:p>
          <a:p>
            <a:r>
              <a:rPr lang="en-US" dirty="0">
                <a:solidFill>
                  <a:srgbClr val="C00000"/>
                </a:solidFill>
              </a:rPr>
              <a:t>Usage:</a:t>
            </a:r>
          </a:p>
          <a:p>
            <a:pPr lvl="1"/>
            <a:r>
              <a:rPr lang="en-US" sz="2200" dirty="0"/>
              <a:t>Hardware virtualization is mainly done for the server platforms, because controlling virtual machines is much easier than controlling a physical server.</a:t>
            </a:r>
          </a:p>
        </p:txBody>
      </p:sp>
    </p:spTree>
    <p:extLst>
      <p:ext uri="{BB962C8B-B14F-4D97-AF65-F5344CB8AC3E}">
        <p14:creationId xmlns:p14="http://schemas.microsoft.com/office/powerpoint/2010/main" val="263471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0B0071-F4E0-71B4-1C1F-EB9DEC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Operating System Virtualization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6CCA09-051B-4FE1-F70D-640D792B2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virtual machine software or virtual machine manager (VMM) is installed on the Host operating system instead of directly on the hardware system is known as operating system virtualization.</a:t>
            </a:r>
          </a:p>
          <a:p>
            <a:r>
              <a:rPr lang="en-US" dirty="0">
                <a:solidFill>
                  <a:srgbClr val="C00000"/>
                </a:solidFill>
              </a:rPr>
              <a:t>Usage:</a:t>
            </a:r>
          </a:p>
          <a:p>
            <a:pPr lvl="1"/>
            <a:r>
              <a:rPr lang="en-US" sz="2200" dirty="0"/>
              <a:t>Operating System Virtualization is mainly used for testing the applications on different platforms of OS.</a:t>
            </a:r>
          </a:p>
        </p:txBody>
      </p:sp>
    </p:spTree>
    <p:extLst>
      <p:ext uri="{BB962C8B-B14F-4D97-AF65-F5344CB8AC3E}">
        <p14:creationId xmlns:p14="http://schemas.microsoft.com/office/powerpoint/2010/main" val="187578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F82E83-E83A-5FB4-17F6-F303C35C5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Server Virtualization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952CCD-08FF-6363-A241-D1E6478D1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virtual machine software or virtual machine manager (VMM) is directly installed on the Server system is known as server virtualization.</a:t>
            </a:r>
          </a:p>
          <a:p>
            <a:r>
              <a:rPr lang="en-US" dirty="0">
                <a:solidFill>
                  <a:srgbClr val="C00000"/>
                </a:solidFill>
              </a:rPr>
              <a:t>Usage:</a:t>
            </a:r>
          </a:p>
          <a:p>
            <a:pPr lvl="1"/>
            <a:r>
              <a:rPr lang="en-US" sz="2200" dirty="0"/>
              <a:t>Server virtualization is done because a single physical server can be divided into multiple servers on the demand basis and for balancing the load.</a:t>
            </a:r>
          </a:p>
        </p:txBody>
      </p:sp>
    </p:spTree>
    <p:extLst>
      <p:ext uri="{BB962C8B-B14F-4D97-AF65-F5344CB8AC3E}">
        <p14:creationId xmlns:p14="http://schemas.microsoft.com/office/powerpoint/2010/main" val="405974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D8CAEF-CF6A-83AA-7B58-7849982C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Storage Virtualization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B27436-ADF3-96FA-0C6F-2E73B0A57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Storage virtualization is the process of grouping the physical storage from multiple network storage devices so that it looks like a single storage device.</a:t>
            </a:r>
          </a:p>
          <a:p>
            <a:r>
              <a:rPr lang="en-US" dirty="0"/>
              <a:t>Storage virtualization is also implemented by using software applications.</a:t>
            </a:r>
          </a:p>
          <a:p>
            <a:r>
              <a:rPr lang="en-US" dirty="0">
                <a:solidFill>
                  <a:srgbClr val="C00000"/>
                </a:solidFill>
              </a:rPr>
              <a:t>Usage:</a:t>
            </a:r>
          </a:p>
          <a:p>
            <a:pPr lvl="1"/>
            <a:r>
              <a:rPr lang="en-US" sz="2200" dirty="0"/>
              <a:t>Storage virtualization is mainly done for back-up and recovery purposes.</a:t>
            </a:r>
          </a:p>
        </p:txBody>
      </p:sp>
    </p:spTree>
    <p:extLst>
      <p:ext uri="{BB962C8B-B14F-4D97-AF65-F5344CB8AC3E}">
        <p14:creationId xmlns:p14="http://schemas.microsoft.com/office/powerpoint/2010/main" val="305382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7CAF6-2431-5775-6B6F-DCFDAF7D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543F1-7D12-BF44-E1B5-86117A4D6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Cloud Service Providers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FBBCD-5315-E58B-0670-03EEEEB26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- 9</a:t>
            </a:r>
          </a:p>
        </p:txBody>
      </p:sp>
    </p:spTree>
    <p:extLst>
      <p:ext uri="{BB962C8B-B14F-4D97-AF65-F5344CB8AC3E}">
        <p14:creationId xmlns:p14="http://schemas.microsoft.com/office/powerpoint/2010/main" val="16288066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56294-D866-2E6A-0D1F-DE358052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A37461-E50D-45C1-3BDC-32558C1D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 Provider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028031-EC8C-310F-5DFE-85086FC20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Cloud Service Provider (CSP) is a company or organization that provides computing resources and IT services over the Internet.</a:t>
            </a:r>
          </a:p>
          <a:p>
            <a:r>
              <a:rPr lang="en-US" dirty="0"/>
              <a:t>Instead of an organization purchasing and maintaining its own:</a:t>
            </a:r>
          </a:p>
          <a:p>
            <a:pPr lvl="1"/>
            <a:r>
              <a:rPr lang="en-US" dirty="0"/>
              <a:t>Physical servers</a:t>
            </a:r>
          </a:p>
          <a:p>
            <a:pPr lvl="1"/>
            <a:r>
              <a:rPr lang="en-US" dirty="0"/>
              <a:t>Storage systems</a:t>
            </a:r>
          </a:p>
          <a:p>
            <a:pPr lvl="1"/>
            <a:r>
              <a:rPr lang="en-US" dirty="0"/>
              <a:t>Networking equipment</a:t>
            </a:r>
          </a:p>
          <a:p>
            <a:pPr lvl="1"/>
            <a:r>
              <a:rPr lang="en-US" dirty="0"/>
              <a:t>Databases</a:t>
            </a:r>
          </a:p>
          <a:p>
            <a:pPr lvl="1"/>
            <a:r>
              <a:rPr lang="en-US" dirty="0"/>
              <a:t>Data centers</a:t>
            </a:r>
          </a:p>
          <a:p>
            <a:pPr lvl="1"/>
            <a:r>
              <a:rPr lang="en-US" dirty="0"/>
              <a:t>Security infrastructure</a:t>
            </a:r>
          </a:p>
          <a:p>
            <a:r>
              <a:rPr lang="en-US" dirty="0"/>
              <a:t>it can rent these resources from a cloud provider and pay according to its usage.</a:t>
            </a:r>
            <a:endParaRPr lang="en-US" sz="2200" dirty="0"/>
          </a:p>
        </p:txBody>
      </p:sp>
      <p:pic>
        <p:nvPicPr>
          <p:cNvPr id="9218" name="Picture 2" descr="Cloud Service Provider Companies">
            <a:extLst>
              <a:ext uri="{FF2B5EF4-FFF2-40B4-BE49-F238E27FC236}">
                <a16:creationId xmlns:a16="http://schemas.microsoft.com/office/drawing/2014/main" id="{57A49C91-AD49-C8F2-BE7A-C83392620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523" y="-31227"/>
            <a:ext cx="773655" cy="77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27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8C96C-6597-8D96-F34D-730A36469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8BA57A-55E9-036F-B79D-85861895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Service Provider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A60E88-85F1-0EE5-DB56-118B3E332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Amazon Web Services (AWS)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Microsoft Azure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Google Cloud Platform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IBM Cloud Services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VMware Cloud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Oracle Cloud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Red Hat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Digital Ocean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Rackspace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Alibaba Cloud</a:t>
            </a:r>
          </a:p>
        </p:txBody>
      </p:sp>
    </p:spTree>
    <p:extLst>
      <p:ext uri="{BB962C8B-B14F-4D97-AF65-F5344CB8AC3E}">
        <p14:creationId xmlns:p14="http://schemas.microsoft.com/office/powerpoint/2010/main" val="331698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F0C48-32EB-6CB5-3AA3-BC24527B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Amazon Web Services (AWS)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FD92AA-F764-C224-AF47-8B1B22388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AWS (Amazon Web Services) is a secure cloud service platform provided by Amazon</a:t>
            </a:r>
            <a:r>
              <a:rPr lang="en-US" dirty="0"/>
              <a:t>. </a:t>
            </a:r>
          </a:p>
          <a:p>
            <a:r>
              <a:rPr lang="en-US" dirty="0"/>
              <a:t>It offers various services such as database storage, computing power, content delivery, Relational Database, Simple Email, Simple Queue, and other functionality to increase the organization’s growth.</a:t>
            </a:r>
          </a:p>
          <a:p>
            <a:r>
              <a:rPr lang="en-US" b="1" dirty="0"/>
              <a:t>Features of AWS</a:t>
            </a:r>
          </a:p>
          <a:p>
            <a:pPr lvl="1"/>
            <a:r>
              <a:rPr lang="en-US" sz="2200" dirty="0"/>
              <a:t>AWS is </a:t>
            </a:r>
            <a:r>
              <a:rPr lang="en-US" sz="2200" dirty="0">
                <a:solidFill>
                  <a:srgbClr val="C00000"/>
                </a:solidFill>
              </a:rPr>
              <a:t>scalable</a:t>
            </a:r>
            <a:r>
              <a:rPr lang="en-US" sz="2200" dirty="0"/>
              <a:t> because it can scale the computing resources up or down according to the </a:t>
            </a:r>
            <a:r>
              <a:rPr lang="en-US" sz="2200" dirty="0" err="1"/>
              <a:t>organisation’s</a:t>
            </a:r>
            <a:r>
              <a:rPr lang="en-US" sz="2200" dirty="0"/>
              <a:t> demand.</a:t>
            </a:r>
          </a:p>
          <a:p>
            <a:pPr lvl="1"/>
            <a:r>
              <a:rPr lang="en-US" sz="2200" dirty="0"/>
              <a:t>AWS is </a:t>
            </a:r>
            <a:r>
              <a:rPr lang="en-US" sz="2200" dirty="0">
                <a:solidFill>
                  <a:srgbClr val="C00000"/>
                </a:solidFill>
              </a:rPr>
              <a:t>cost-effective</a:t>
            </a:r>
            <a:r>
              <a:rPr lang="en-US" sz="2200" dirty="0"/>
              <a:t> as it works on a </a:t>
            </a:r>
            <a:r>
              <a:rPr lang="en-US" sz="2200" dirty="0">
                <a:solidFill>
                  <a:srgbClr val="C00000"/>
                </a:solidFill>
              </a:rPr>
              <a:t>pay-as-you-go</a:t>
            </a:r>
            <a:r>
              <a:rPr lang="en-US" sz="2200" dirty="0"/>
              <a:t> pricing model.</a:t>
            </a:r>
          </a:p>
          <a:p>
            <a:pPr lvl="1"/>
            <a:r>
              <a:rPr lang="en-US" sz="2200" dirty="0"/>
              <a:t>It provides various </a:t>
            </a:r>
            <a:r>
              <a:rPr lang="en-US" sz="2200" dirty="0">
                <a:solidFill>
                  <a:srgbClr val="C00000"/>
                </a:solidFill>
              </a:rPr>
              <a:t>flexible</a:t>
            </a:r>
            <a:r>
              <a:rPr lang="en-US" sz="2200" dirty="0"/>
              <a:t> storage options.</a:t>
            </a:r>
          </a:p>
          <a:p>
            <a:pPr lvl="1"/>
            <a:r>
              <a:rPr lang="en-US" sz="2200" dirty="0"/>
              <a:t>It offers various </a:t>
            </a:r>
            <a:r>
              <a:rPr lang="en-US" sz="2200" dirty="0">
                <a:solidFill>
                  <a:srgbClr val="C00000"/>
                </a:solidFill>
              </a:rPr>
              <a:t>security services </a:t>
            </a:r>
            <a:r>
              <a:rPr lang="en-US" sz="2200" dirty="0"/>
              <a:t>such as infrastructure security, data encryption, monitoring &amp; logging, identity &amp; access control, penetration testing, and DDoS attacks.</a:t>
            </a:r>
          </a:p>
          <a:p>
            <a:pPr lvl="1"/>
            <a:r>
              <a:rPr lang="en-US" sz="2200" dirty="0"/>
              <a:t>It can efficiently </a:t>
            </a:r>
            <a:r>
              <a:rPr lang="en-US" sz="2200" dirty="0">
                <a:solidFill>
                  <a:srgbClr val="C00000"/>
                </a:solidFill>
              </a:rPr>
              <a:t>manage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secure</a:t>
            </a:r>
            <a:r>
              <a:rPr lang="en-US" sz="2200" dirty="0"/>
              <a:t> Windows workloads.</a:t>
            </a:r>
          </a:p>
          <a:p>
            <a:pPr marL="457200" lvl="1" indent="0">
              <a:buNone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9E617D-9783-E1CC-A19F-9E5F6AB06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895" y="2038"/>
            <a:ext cx="168592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4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1EC2B-5F0A-23E7-4692-91F53CA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CD2CCB-E4CD-B7AC-CD50-055CEC2D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Amazon Web Services (AWS)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2C6239-1B32-265C-9391-13452AAB8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Real-Time Example: </a:t>
            </a:r>
            <a:r>
              <a:rPr lang="en-US" dirty="0"/>
              <a:t>Suppose an e-commerce company launches a website. It might use:</a:t>
            </a:r>
            <a:endParaRPr lang="en-US" sz="2200" dirty="0"/>
          </a:p>
          <a:p>
            <a:pPr lvl="1"/>
            <a:r>
              <a:rPr lang="en-IN" b="1" dirty="0"/>
              <a:t>EC2</a:t>
            </a:r>
            <a:r>
              <a:rPr lang="en-IN" dirty="0"/>
              <a:t> → runs the application </a:t>
            </a:r>
          </a:p>
          <a:p>
            <a:pPr lvl="1"/>
            <a:r>
              <a:rPr lang="en-IN" b="1" dirty="0"/>
              <a:t>RDS</a:t>
            </a:r>
            <a:r>
              <a:rPr lang="en-IN" dirty="0"/>
              <a:t> → stores customer/order data </a:t>
            </a:r>
          </a:p>
          <a:p>
            <a:pPr lvl="1"/>
            <a:r>
              <a:rPr lang="en-IN" b="1" dirty="0"/>
              <a:t>S3</a:t>
            </a:r>
            <a:r>
              <a:rPr lang="en-IN" dirty="0"/>
              <a:t> → stores images and documents </a:t>
            </a:r>
          </a:p>
          <a:p>
            <a:pPr lvl="1"/>
            <a:r>
              <a:rPr lang="en-IN" b="1" dirty="0"/>
              <a:t>CloudFront</a:t>
            </a:r>
            <a:r>
              <a:rPr lang="en-IN" dirty="0"/>
              <a:t> → delivers content quickly </a:t>
            </a:r>
          </a:p>
          <a:p>
            <a:pPr lvl="1"/>
            <a:r>
              <a:rPr lang="en-IN" b="1" dirty="0"/>
              <a:t>Load Balancer</a:t>
            </a:r>
            <a:r>
              <a:rPr lang="en-IN" dirty="0"/>
              <a:t> → distributes traffic</a:t>
            </a:r>
          </a:p>
          <a:p>
            <a:pPr marL="457200" lvl="1" indent="0">
              <a:buNone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C90135-054D-5AC9-C227-9CC714746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895" y="2038"/>
            <a:ext cx="168592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1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F0C48-32EB-6CB5-3AA3-BC24527B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Amazon Web Services (AWS)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FD92AA-F764-C224-AF47-8B1B22388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8450"/>
            <a:ext cx="11929641" cy="573555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9E617D-9783-E1CC-A19F-9E5F6AB06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895" y="2038"/>
            <a:ext cx="1685925" cy="71437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47C8EC-5B8C-B18D-8542-DB44DBFC9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940282"/>
              </p:ext>
            </p:extLst>
          </p:nvPr>
        </p:nvGraphicFramePr>
        <p:xfrm>
          <a:off x="390328" y="846084"/>
          <a:ext cx="9844606" cy="516583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0873">
                  <a:extLst>
                    <a:ext uri="{9D8B030D-6E8A-4147-A177-3AD203B41FA5}">
                      <a16:colId xmlns:a16="http://schemas.microsoft.com/office/drawing/2014/main" val="9509322"/>
                    </a:ext>
                  </a:extLst>
                </a:gridCol>
                <a:gridCol w="2343561">
                  <a:extLst>
                    <a:ext uri="{9D8B030D-6E8A-4147-A177-3AD203B41FA5}">
                      <a16:colId xmlns:a16="http://schemas.microsoft.com/office/drawing/2014/main" val="537888653"/>
                    </a:ext>
                  </a:extLst>
                </a:gridCol>
                <a:gridCol w="5420172">
                  <a:extLst>
                    <a:ext uri="{9D8B030D-6E8A-4147-A177-3AD203B41FA5}">
                      <a16:colId xmlns:a16="http://schemas.microsoft.com/office/drawing/2014/main" val="2214053338"/>
                    </a:ext>
                  </a:extLst>
                </a:gridCol>
              </a:tblGrid>
              <a:tr h="4304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/>
                        <a:t>Category</a:t>
                      </a:r>
                    </a:p>
                  </a:txBody>
                  <a:tcPr marL="90653" marR="90653" marT="45326" marB="45326"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/>
                        <a:t>AWS Service</a:t>
                      </a:r>
                    </a:p>
                  </a:txBody>
                  <a:tcPr marL="90653" marR="90653" marT="45326" marB="45326"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/>
                        <a:t>Purpose</a:t>
                      </a:r>
                    </a:p>
                  </a:txBody>
                  <a:tcPr marL="90653" marR="90653" marT="45326" marB="45326"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052893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Compute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EC2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Virtual servers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964360247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Storage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Object storage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003426095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Database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RDS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Managed relational database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369557373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Serverless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Lambda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Run code without managing servers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544013416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Networking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VPC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Virtual network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868594096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Containers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ECS/EKS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Container deployment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051069605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Big Data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EMR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Hadoop/Spark processing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893834045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 Warehouse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Redshift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Analytics/data warehouse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13760565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AI/ML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SageMaker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Machine learning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581567679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Security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IAM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Identity and access management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78013720"/>
                  </a:ext>
                </a:extLst>
              </a:tr>
              <a:tr h="43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Monitoring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CloudWatch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Monitoring and logs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86243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71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1D22-8505-1AB7-C82D-215C2507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C3F16B-B9C5-1D03-A1A0-970A98D0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Azure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C2958D-4AE2-4CA3-0C5B-6F19552EB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Microsoft Azure is Microsoft's cloud platform.</a:t>
            </a:r>
          </a:p>
          <a:p>
            <a:r>
              <a:rPr lang="en-IN" dirty="0"/>
              <a:t>Azure is particularly popular among organisations already using Microsoft technologies such as Windows Server, SQL Server, Active Directory, Microsoft 365, and .NET</a:t>
            </a:r>
          </a:p>
          <a:p>
            <a:endParaRPr lang="en-IN" dirty="0"/>
          </a:p>
          <a:p>
            <a:endParaRPr lang="en-US" dirty="0"/>
          </a:p>
        </p:txBody>
      </p:sp>
      <p:pic>
        <p:nvPicPr>
          <p:cNvPr id="9218" name="Picture 2" descr="Cloud Service Provider Companies">
            <a:extLst>
              <a:ext uri="{FF2B5EF4-FFF2-40B4-BE49-F238E27FC236}">
                <a16:creationId xmlns:a16="http://schemas.microsoft.com/office/drawing/2014/main" id="{2820D425-8FCF-3382-7F98-09F02A8AB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523" y="-31227"/>
            <a:ext cx="773655" cy="77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5239CBD-7FBB-3BA9-2C6E-4E42678661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4549900"/>
              </p:ext>
            </p:extLst>
          </p:nvPr>
        </p:nvGraphicFramePr>
        <p:xfrm>
          <a:off x="381001" y="2202024"/>
          <a:ext cx="9882673" cy="402868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60325">
                  <a:extLst>
                    <a:ext uri="{9D8B030D-6E8A-4147-A177-3AD203B41FA5}">
                      <a16:colId xmlns:a16="http://schemas.microsoft.com/office/drawing/2014/main" val="4152399166"/>
                    </a:ext>
                  </a:extLst>
                </a:gridCol>
                <a:gridCol w="2981463">
                  <a:extLst>
                    <a:ext uri="{9D8B030D-6E8A-4147-A177-3AD203B41FA5}">
                      <a16:colId xmlns:a16="http://schemas.microsoft.com/office/drawing/2014/main" val="3572686461"/>
                    </a:ext>
                  </a:extLst>
                </a:gridCol>
                <a:gridCol w="4540885">
                  <a:extLst>
                    <a:ext uri="{9D8B030D-6E8A-4147-A177-3AD203B41FA5}">
                      <a16:colId xmlns:a16="http://schemas.microsoft.com/office/drawing/2014/main" val="1187918172"/>
                    </a:ext>
                  </a:extLst>
                </a:gridCol>
              </a:tblGrid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Azure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993506"/>
                  </a:ext>
                </a:extLst>
              </a:tr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Azure Virtual Machines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Virtual servers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546773"/>
                  </a:ext>
                </a:extLst>
              </a:tr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Blob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Object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741900"/>
                  </a:ext>
                </a:extLst>
              </a:tr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SQL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Managed SQL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721955"/>
                  </a:ext>
                </a:extLst>
              </a:tr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Serverless computing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122661"/>
                  </a:ext>
                </a:extLst>
              </a:tr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Virtual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networking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917531"/>
                  </a:ext>
                </a:extLst>
              </a:tr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Kubernetes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880092"/>
                  </a:ext>
                </a:extLst>
              </a:tr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HDInsight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Hadoop/Spark ecosystem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261309"/>
                  </a:ext>
                </a:extLst>
              </a:tr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AI/ML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2668193"/>
                  </a:ext>
                </a:extLst>
              </a:tr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Entra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460901"/>
                  </a:ext>
                </a:extLst>
              </a:tr>
              <a:tr h="3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Monitor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508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48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41A1D1-8BC9-8D63-C9FD-8ABB7E4A1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Azure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19F377-8466-94A4-9AAB-4766762E5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Azure is also known as </a:t>
            </a:r>
            <a:r>
              <a:rPr lang="en-US" dirty="0">
                <a:solidFill>
                  <a:srgbClr val="C00000"/>
                </a:solidFill>
              </a:rPr>
              <a:t>Windows Azure</a:t>
            </a:r>
            <a:r>
              <a:rPr lang="en-US" dirty="0"/>
              <a:t>. </a:t>
            </a:r>
          </a:p>
          <a:p>
            <a:r>
              <a:rPr lang="en-US" dirty="0"/>
              <a:t>It supports various operating systems, databases, programming languages, and frameworks that allow IT professionals to easily build, deploy, and manage applications through a worldwide network. </a:t>
            </a:r>
          </a:p>
          <a:p>
            <a:r>
              <a:rPr lang="en-US" dirty="0"/>
              <a:t>It also allows users to create different groups for related utilities.</a:t>
            </a:r>
          </a:p>
          <a:p>
            <a:r>
              <a:rPr lang="en-US" b="1" dirty="0"/>
              <a:t>Features of Microsoft Azure</a:t>
            </a:r>
          </a:p>
          <a:p>
            <a:pPr lvl="1"/>
            <a:r>
              <a:rPr lang="en-US" sz="2200" dirty="0"/>
              <a:t> Microsoft Azure provides </a:t>
            </a:r>
            <a:r>
              <a:rPr lang="en-US" sz="2200" dirty="0">
                <a:solidFill>
                  <a:srgbClr val="C00000"/>
                </a:solidFill>
              </a:rPr>
              <a:t>scalable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flexible</a:t>
            </a:r>
            <a:r>
              <a:rPr lang="en-US" sz="2200" dirty="0"/>
              <a:t>, and </a:t>
            </a:r>
            <a:r>
              <a:rPr lang="en-US" sz="2200" dirty="0">
                <a:solidFill>
                  <a:srgbClr val="C00000"/>
                </a:solidFill>
              </a:rPr>
              <a:t>cost-effective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 allows developers to manage applications and websites quickly.</a:t>
            </a:r>
          </a:p>
          <a:p>
            <a:pPr lvl="1"/>
            <a:r>
              <a:rPr lang="en-US" sz="2200" dirty="0"/>
              <a:t>It </a:t>
            </a:r>
            <a:r>
              <a:rPr lang="en-US" sz="2200" dirty="0">
                <a:solidFill>
                  <a:srgbClr val="C00000"/>
                </a:solidFill>
              </a:rPr>
              <a:t>manages</a:t>
            </a:r>
            <a:r>
              <a:rPr lang="en-US" sz="2200" dirty="0"/>
              <a:t> each resource </a:t>
            </a:r>
            <a:r>
              <a:rPr lang="en-US" sz="2200" dirty="0">
                <a:solidFill>
                  <a:srgbClr val="C00000"/>
                </a:solidFill>
              </a:rPr>
              <a:t>individually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Its IaaS infrastructure allows us to launch a general-purpose virtual machine on different platforms such as Windows and Linux.</a:t>
            </a:r>
          </a:p>
          <a:p>
            <a:pPr lvl="1"/>
            <a:r>
              <a:rPr lang="en-US" sz="2200" dirty="0"/>
              <a:t>It offers a </a:t>
            </a:r>
            <a:r>
              <a:rPr lang="en-US" sz="2200" dirty="0">
                <a:solidFill>
                  <a:srgbClr val="C00000"/>
                </a:solidFill>
              </a:rPr>
              <a:t>Content Delivery System (CDS) </a:t>
            </a:r>
            <a:r>
              <a:rPr lang="en-US" sz="2200" dirty="0"/>
              <a:t>for delivering images, videos, audio, and applications.</a:t>
            </a:r>
          </a:p>
        </p:txBody>
      </p:sp>
      <p:pic>
        <p:nvPicPr>
          <p:cNvPr id="9218" name="Picture 2" descr="Cloud Service Provider Companies">
            <a:extLst>
              <a:ext uri="{FF2B5EF4-FFF2-40B4-BE49-F238E27FC236}">
                <a16:creationId xmlns:a16="http://schemas.microsoft.com/office/drawing/2014/main" id="{8746B62B-BDD8-436B-A23D-65B11B5CD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523" y="-31227"/>
            <a:ext cx="773655" cy="77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7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87220-AB22-9F5C-3D03-AC317C86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38813B-0619-FDF2-A849-99F28F7C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Google Cloud Platform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1BEAAD-DC3E-FA66-150E-E35B10E23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Google Cloud is Google's cloud computing platform. </a:t>
            </a:r>
          </a:p>
          <a:p>
            <a:r>
              <a:rPr lang="en-US" sz="2200" dirty="0"/>
              <a:t>Google's strengths are particularly notable in</a:t>
            </a:r>
          </a:p>
          <a:p>
            <a:pPr lvl="1"/>
            <a:r>
              <a:rPr lang="en-US" sz="1800" dirty="0"/>
              <a:t> </a:t>
            </a:r>
            <a:r>
              <a:rPr lang="en-US" sz="1800" dirty="0">
                <a:solidFill>
                  <a:srgbClr val="C00000"/>
                </a:solidFill>
              </a:rPr>
              <a:t>Data analytics,  Artificial Intelligence, Machine Learning </a:t>
            </a:r>
          </a:p>
          <a:p>
            <a:pPr lvl="1"/>
            <a:r>
              <a:rPr lang="en-US" sz="1800" dirty="0">
                <a:solidFill>
                  <a:srgbClr val="C00000"/>
                </a:solidFill>
              </a:rPr>
              <a:t>Big Data, Large-scale distributed computing</a:t>
            </a:r>
          </a:p>
        </p:txBody>
      </p:sp>
      <p:pic>
        <p:nvPicPr>
          <p:cNvPr id="10242" name="Picture 2" descr="Cloud Service Provider Companies">
            <a:extLst>
              <a:ext uri="{FF2B5EF4-FFF2-40B4-BE49-F238E27FC236}">
                <a16:creationId xmlns:a16="http://schemas.microsoft.com/office/drawing/2014/main" id="{8631C2D5-BB52-37E7-655B-37ACF5B15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347" y="-3513"/>
            <a:ext cx="728831" cy="72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758229-0A15-5A04-ABE4-E8FD6EB0B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200735"/>
              </p:ext>
            </p:extLst>
          </p:nvPr>
        </p:nvGraphicFramePr>
        <p:xfrm>
          <a:off x="541175" y="2430649"/>
          <a:ext cx="8901404" cy="4023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80140">
                  <a:extLst>
                    <a:ext uri="{9D8B030D-6E8A-4147-A177-3AD203B41FA5}">
                      <a16:colId xmlns:a16="http://schemas.microsoft.com/office/drawing/2014/main" val="2492247942"/>
                    </a:ext>
                  </a:extLst>
                </a:gridCol>
                <a:gridCol w="2412305">
                  <a:extLst>
                    <a:ext uri="{9D8B030D-6E8A-4147-A177-3AD203B41FA5}">
                      <a16:colId xmlns:a16="http://schemas.microsoft.com/office/drawing/2014/main" val="2002014444"/>
                    </a:ext>
                  </a:extLst>
                </a:gridCol>
                <a:gridCol w="4108959">
                  <a:extLst>
                    <a:ext uri="{9D8B030D-6E8A-4147-A177-3AD203B41FA5}">
                      <a16:colId xmlns:a16="http://schemas.microsoft.com/office/drawing/2014/main" val="1972418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</a:p>
                  </a:txBody>
                  <a:tcPr anchor="ctr"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Service</a:t>
                      </a:r>
                    </a:p>
                  </a:txBody>
                  <a:tcPr anchor="ctr"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609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Compute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Virtual machines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9546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Object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378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Relational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507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BigQuery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Large-scale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375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Kubernetes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301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Container-based serverless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491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AI/ML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Vertex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AI/ML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519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Dataproc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Hadoop/Spark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0762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Virtual networking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77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131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96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B37E-A766-2CFD-4CC7-74EBB491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8BDC17-C7FC-56B8-B3B1-FEA7637A2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Provider Comparison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368E76A-1B87-66EB-DEF0-A38B70CBBC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3267271"/>
              </p:ext>
            </p:extLst>
          </p:nvPr>
        </p:nvGraphicFramePr>
        <p:xfrm>
          <a:off x="203717" y="851606"/>
          <a:ext cx="11338252" cy="4389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34563">
                  <a:extLst>
                    <a:ext uri="{9D8B030D-6E8A-4147-A177-3AD203B41FA5}">
                      <a16:colId xmlns:a16="http://schemas.microsoft.com/office/drawing/2014/main" val="2532933476"/>
                    </a:ext>
                  </a:extLst>
                </a:gridCol>
                <a:gridCol w="2834563">
                  <a:extLst>
                    <a:ext uri="{9D8B030D-6E8A-4147-A177-3AD203B41FA5}">
                      <a16:colId xmlns:a16="http://schemas.microsoft.com/office/drawing/2014/main" val="726407468"/>
                    </a:ext>
                  </a:extLst>
                </a:gridCol>
                <a:gridCol w="2834563">
                  <a:extLst>
                    <a:ext uri="{9D8B030D-6E8A-4147-A177-3AD203B41FA5}">
                      <a16:colId xmlns:a16="http://schemas.microsoft.com/office/drawing/2014/main" val="2622620247"/>
                    </a:ext>
                  </a:extLst>
                </a:gridCol>
                <a:gridCol w="2834563">
                  <a:extLst>
                    <a:ext uri="{9D8B030D-6E8A-4147-A177-3AD203B41FA5}">
                      <a16:colId xmlns:a16="http://schemas.microsoft.com/office/drawing/2014/main" val="40255839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AWS</a:t>
                      </a:r>
                    </a:p>
                  </a:txBody>
                  <a:tcPr anchor="ctr"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Azure</a:t>
                      </a:r>
                    </a:p>
                  </a:txBody>
                  <a:tcPr anchor="ctr"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Google Cloud</a:t>
                      </a:r>
                    </a:p>
                  </a:txBody>
                  <a:tcPr anchor="ctr"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89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Provider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Amazon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239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495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Object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Blob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60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Managed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641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Lambda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Functions / Cloud 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262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Kubernetes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739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HDInsight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Dataproc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972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Synapse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BigQuery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352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AI/ML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SageMaker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Vertex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52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Entra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IAM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969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Virtual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Virtual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VPC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601254"/>
                  </a:ext>
                </a:extLst>
              </a:tr>
            </a:tbl>
          </a:graphicData>
        </a:graphic>
      </p:graphicFrame>
      <p:pic>
        <p:nvPicPr>
          <p:cNvPr id="10242" name="Picture 2" descr="Cloud Service Provider Companies">
            <a:extLst>
              <a:ext uri="{FF2B5EF4-FFF2-40B4-BE49-F238E27FC236}">
                <a16:creationId xmlns:a16="http://schemas.microsoft.com/office/drawing/2014/main" id="{D5DB839A-EFB7-4CB5-CEF1-79A15456D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347" y="-3513"/>
            <a:ext cx="728831" cy="72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65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C5BB9D-E977-9136-F114-581D4F3A4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Google Cloud Platform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13F654-5C27-C7BE-3D28-1F73DAAAC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cloud platform is a product of </a:t>
            </a:r>
            <a:r>
              <a:rPr lang="en-US" dirty="0">
                <a:solidFill>
                  <a:srgbClr val="C00000"/>
                </a:solidFill>
              </a:rPr>
              <a:t>Google</a:t>
            </a:r>
            <a:r>
              <a:rPr lang="en-US" dirty="0"/>
              <a:t>. </a:t>
            </a:r>
          </a:p>
          <a:p>
            <a:r>
              <a:rPr lang="en-US" dirty="0"/>
              <a:t>It consists of a set of physical devices, such as computers, hard disk drives, and virtual machines. </a:t>
            </a:r>
          </a:p>
          <a:p>
            <a:r>
              <a:rPr lang="en-US" dirty="0"/>
              <a:t>It also helps organizations to simplify the migration process.</a:t>
            </a:r>
          </a:p>
          <a:p>
            <a:r>
              <a:rPr lang="en-US" b="1" dirty="0"/>
              <a:t>Features of Google Cloud</a:t>
            </a:r>
          </a:p>
          <a:p>
            <a:pPr lvl="1"/>
            <a:r>
              <a:rPr lang="en-US" sz="2200" dirty="0"/>
              <a:t>Google cloud includes various </a:t>
            </a:r>
            <a:r>
              <a:rPr lang="en-US" sz="2200" dirty="0">
                <a:solidFill>
                  <a:srgbClr val="C00000"/>
                </a:solidFill>
              </a:rPr>
              <a:t>big data services </a:t>
            </a:r>
            <a:r>
              <a:rPr lang="en-US" sz="2200" dirty="0"/>
              <a:t>such as </a:t>
            </a:r>
            <a:r>
              <a:rPr lang="en-US" sz="2200" dirty="0">
                <a:solidFill>
                  <a:srgbClr val="C00000"/>
                </a:solidFill>
              </a:rPr>
              <a:t>Google </a:t>
            </a:r>
            <a:r>
              <a:rPr lang="en-US" sz="2200" dirty="0" err="1">
                <a:solidFill>
                  <a:srgbClr val="C00000"/>
                </a:solidFill>
              </a:rPr>
              <a:t>BigQuery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Google </a:t>
            </a:r>
            <a:r>
              <a:rPr lang="en-US" sz="2200" dirty="0" err="1">
                <a:solidFill>
                  <a:srgbClr val="C00000"/>
                </a:solidFill>
              </a:rPr>
              <a:t>CloudDataproc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Google </a:t>
            </a:r>
            <a:r>
              <a:rPr lang="en-US" sz="2200" dirty="0" err="1">
                <a:solidFill>
                  <a:srgbClr val="C00000"/>
                </a:solidFill>
              </a:rPr>
              <a:t>CloudDatalab</a:t>
            </a:r>
            <a:r>
              <a:rPr lang="en-US" sz="2200" dirty="0"/>
              <a:t>, and </a:t>
            </a:r>
            <a:r>
              <a:rPr lang="en-US" sz="2200" dirty="0">
                <a:solidFill>
                  <a:srgbClr val="C00000"/>
                </a:solidFill>
              </a:rPr>
              <a:t>Google Cloud Pub/Sub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 provides various services related to </a:t>
            </a:r>
            <a:r>
              <a:rPr lang="en-US" sz="2200" dirty="0">
                <a:solidFill>
                  <a:srgbClr val="C00000"/>
                </a:solidFill>
              </a:rPr>
              <a:t>networking</a:t>
            </a:r>
            <a:r>
              <a:rPr lang="en-US" sz="2200" dirty="0"/>
              <a:t>, including Google Virtual Private Cloud (VPC), Content Delivery Network, Google Cloud Load Balancing, Google Cloud Interconnect, and Google Cloud DNS.</a:t>
            </a:r>
          </a:p>
          <a:p>
            <a:pPr lvl="1"/>
            <a:r>
              <a:rPr lang="en-US" sz="2200" dirty="0"/>
              <a:t>It offers various scalable and high-performance.</a:t>
            </a:r>
          </a:p>
          <a:p>
            <a:pPr lvl="1"/>
            <a:r>
              <a:rPr lang="en-US" sz="2200" dirty="0"/>
              <a:t>GCP provides various </a:t>
            </a:r>
            <a:r>
              <a:rPr lang="en-US" sz="2200" dirty="0">
                <a:solidFill>
                  <a:srgbClr val="C00000"/>
                </a:solidFill>
              </a:rPr>
              <a:t>serverless services </a:t>
            </a:r>
            <a:r>
              <a:rPr lang="en-US" sz="2200" dirty="0"/>
              <a:t>such as Messaging, Data Warehouse, Database, Compute, Storage, Data Processing, and Machine learning (ML).</a:t>
            </a:r>
          </a:p>
          <a:p>
            <a:pPr lvl="1"/>
            <a:r>
              <a:rPr lang="en-US" sz="2200" dirty="0"/>
              <a:t>It provides a </a:t>
            </a:r>
            <a:r>
              <a:rPr lang="en-US" sz="2200" dirty="0">
                <a:solidFill>
                  <a:srgbClr val="C00000"/>
                </a:solidFill>
              </a:rPr>
              <a:t>free cloud shell environment </a:t>
            </a:r>
            <a:r>
              <a:rPr lang="en-US" sz="2200" dirty="0"/>
              <a:t>with Boost Mode.</a:t>
            </a:r>
          </a:p>
        </p:txBody>
      </p:sp>
      <p:pic>
        <p:nvPicPr>
          <p:cNvPr id="10242" name="Picture 2" descr="Cloud Service Provider Companies">
            <a:extLst>
              <a:ext uri="{FF2B5EF4-FFF2-40B4-BE49-F238E27FC236}">
                <a16:creationId xmlns:a16="http://schemas.microsoft.com/office/drawing/2014/main" id="{52D70DD4-68D9-07C4-0978-E239FE2A2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347" y="-3513"/>
            <a:ext cx="728831" cy="72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97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2C8B25-C62C-DE8F-4D73-7060A63D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IBM Cloud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D038D3-033B-72EC-BBAA-11D2D2B8F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IBM Cloud focuses strongly on:</a:t>
            </a:r>
          </a:p>
          <a:p>
            <a:pPr lvl="1"/>
            <a:r>
              <a:rPr lang="en-IN" dirty="0"/>
              <a:t>Enterprise computing </a:t>
            </a:r>
          </a:p>
          <a:p>
            <a:pPr lvl="1"/>
            <a:r>
              <a:rPr lang="en-IN" dirty="0"/>
              <a:t>Hybrid cloud </a:t>
            </a:r>
          </a:p>
          <a:p>
            <a:pPr lvl="1"/>
            <a:r>
              <a:rPr lang="en-IN" dirty="0"/>
              <a:t>AI </a:t>
            </a:r>
          </a:p>
          <a:p>
            <a:pPr lvl="1"/>
            <a:r>
              <a:rPr lang="en-IN" dirty="0"/>
              <a:t>Security </a:t>
            </a:r>
          </a:p>
          <a:p>
            <a:pPr lvl="1"/>
            <a:r>
              <a:rPr lang="en-IN" dirty="0"/>
              <a:t>Financial services </a:t>
            </a:r>
          </a:p>
          <a:p>
            <a:pPr lvl="1"/>
            <a:r>
              <a:rPr lang="en-IN" dirty="0"/>
              <a:t>Red Hat OpenShift </a:t>
            </a:r>
          </a:p>
          <a:p>
            <a:r>
              <a:rPr lang="en-IN" dirty="0"/>
              <a:t>IBM is particularly important in enterprise and hybrid-cloud environments.</a:t>
            </a:r>
          </a:p>
        </p:txBody>
      </p:sp>
      <p:pic>
        <p:nvPicPr>
          <p:cNvPr id="11266" name="Picture 2" descr="Cloud Service Provider Companies">
            <a:extLst>
              <a:ext uri="{FF2B5EF4-FFF2-40B4-BE49-F238E27FC236}">
                <a16:creationId xmlns:a16="http://schemas.microsoft.com/office/drawing/2014/main" id="{042D35E2-CE84-8BCC-055F-D31CB5247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9622" y="0"/>
            <a:ext cx="711199" cy="71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84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CE6F-5A08-D8C8-298B-8E569F35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0D2BF1-4D07-192E-8E0C-98DAD2B0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IBM Cloud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3CACA6-9623-EC2F-FB1F-98068AA49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IBM Cloud is an </a:t>
            </a:r>
            <a:r>
              <a:rPr lang="en-US" dirty="0">
                <a:solidFill>
                  <a:srgbClr val="C00000"/>
                </a:solidFill>
              </a:rPr>
              <a:t>open-source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faster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more reliable </a:t>
            </a:r>
            <a:r>
              <a:rPr lang="en-US" dirty="0"/>
              <a:t>platform. </a:t>
            </a:r>
          </a:p>
          <a:p>
            <a:r>
              <a:rPr lang="en-US" dirty="0"/>
              <a:t>It is built with a suite of </a:t>
            </a:r>
            <a:r>
              <a:rPr lang="en-US" dirty="0">
                <a:solidFill>
                  <a:srgbClr val="C00000"/>
                </a:solidFill>
              </a:rPr>
              <a:t>advanced data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AI tools</a:t>
            </a:r>
            <a:r>
              <a:rPr lang="en-US" dirty="0"/>
              <a:t>. </a:t>
            </a:r>
          </a:p>
          <a:p>
            <a:r>
              <a:rPr lang="en-US" dirty="0"/>
              <a:t>It offers various services such as </a:t>
            </a:r>
            <a:r>
              <a:rPr lang="en-US" dirty="0">
                <a:solidFill>
                  <a:srgbClr val="C00000"/>
                </a:solidFill>
              </a:rPr>
              <a:t>Infrastructure as a service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Software as a service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platform as a service</a:t>
            </a:r>
            <a:r>
              <a:rPr lang="en-US" dirty="0"/>
              <a:t>. </a:t>
            </a:r>
          </a:p>
          <a:p>
            <a:r>
              <a:rPr lang="en-US" dirty="0"/>
              <a:t>You can access its services like compute power, cloud data &amp; Analytics, cloud use cases, and storage networking using internet connection.</a:t>
            </a:r>
          </a:p>
          <a:p>
            <a:r>
              <a:rPr lang="en-US" b="1" dirty="0"/>
              <a:t>Feature of IBM Cloud</a:t>
            </a:r>
          </a:p>
          <a:p>
            <a:pPr lvl="1"/>
            <a:r>
              <a:rPr lang="en-US" sz="2200" dirty="0"/>
              <a:t>IBM cloud improves operational efficiency.</a:t>
            </a:r>
          </a:p>
          <a:p>
            <a:pPr lvl="1"/>
            <a:r>
              <a:rPr lang="en-US" sz="2200" dirty="0"/>
              <a:t>Its </a:t>
            </a:r>
            <a:r>
              <a:rPr lang="en-US" sz="2200" dirty="0">
                <a:solidFill>
                  <a:srgbClr val="C00000"/>
                </a:solidFill>
              </a:rPr>
              <a:t>speed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agility</a:t>
            </a:r>
            <a:r>
              <a:rPr lang="en-US" sz="2200" dirty="0"/>
              <a:t> improve the customer's satisfaction.</a:t>
            </a:r>
          </a:p>
          <a:p>
            <a:pPr lvl="1"/>
            <a:r>
              <a:rPr lang="en-US" sz="2200" dirty="0"/>
              <a:t>It offers Infrastructure as a Service (IaaS), Platform as a Service (PaaS), as well as Software as a Service (SaaS).</a:t>
            </a:r>
          </a:p>
          <a:p>
            <a:pPr lvl="1"/>
            <a:r>
              <a:rPr lang="en-US" sz="2200" dirty="0"/>
              <a:t>It offers various </a:t>
            </a:r>
            <a:r>
              <a:rPr lang="en-US" sz="2200" dirty="0">
                <a:solidFill>
                  <a:srgbClr val="C00000"/>
                </a:solidFill>
              </a:rPr>
              <a:t>cloud communications services </a:t>
            </a:r>
            <a:r>
              <a:rPr lang="en-US" sz="2200" dirty="0"/>
              <a:t>to our IT environment.</a:t>
            </a:r>
          </a:p>
        </p:txBody>
      </p:sp>
      <p:pic>
        <p:nvPicPr>
          <p:cNvPr id="11266" name="Picture 2" descr="Cloud Service Provider Companies">
            <a:extLst>
              <a:ext uri="{FF2B5EF4-FFF2-40B4-BE49-F238E27FC236}">
                <a16:creationId xmlns:a16="http://schemas.microsoft.com/office/drawing/2014/main" id="{6872E205-1CB6-D5BF-8661-84EAA8E8C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9622" y="0"/>
            <a:ext cx="711199" cy="71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35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E5AAE3-CA1C-66F0-6545-4E8B9E92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Oracle Cloud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C940D1-C6E4-D2B9-2327-5F78B677E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Oracle Cloud is particularly strong in enterprise databases and applications.</a:t>
            </a:r>
          </a:p>
          <a:p>
            <a:r>
              <a:rPr lang="en-IN" b="1" dirty="0"/>
              <a:t>Major Services</a:t>
            </a:r>
          </a:p>
          <a:p>
            <a:pPr lvl="1"/>
            <a:r>
              <a:rPr lang="en-IN" dirty="0"/>
              <a:t>Compute </a:t>
            </a:r>
          </a:p>
          <a:p>
            <a:pPr lvl="1"/>
            <a:r>
              <a:rPr lang="en-IN" dirty="0"/>
              <a:t>Object Storage </a:t>
            </a:r>
          </a:p>
          <a:p>
            <a:pPr lvl="1"/>
            <a:r>
              <a:rPr lang="en-IN" dirty="0"/>
              <a:t>Autonomous Database </a:t>
            </a:r>
          </a:p>
          <a:p>
            <a:pPr lvl="1"/>
            <a:r>
              <a:rPr lang="en-IN" dirty="0"/>
              <a:t>Oracle Database </a:t>
            </a:r>
          </a:p>
          <a:p>
            <a:pPr lvl="1"/>
            <a:r>
              <a:rPr lang="en-IN" dirty="0"/>
              <a:t>Kubernetes </a:t>
            </a:r>
          </a:p>
          <a:p>
            <a:pPr lvl="1"/>
            <a:r>
              <a:rPr lang="en-IN" dirty="0"/>
              <a:t>Networking </a:t>
            </a:r>
          </a:p>
          <a:p>
            <a:pPr lvl="1"/>
            <a:r>
              <a:rPr lang="en-IN" dirty="0"/>
              <a:t>AI services </a:t>
            </a:r>
          </a:p>
          <a:p>
            <a:r>
              <a:rPr lang="en-IN" b="1" dirty="0"/>
              <a:t>Major Users</a:t>
            </a:r>
          </a:p>
          <a:p>
            <a:pPr lvl="1"/>
            <a:r>
              <a:rPr lang="en-IN" dirty="0"/>
              <a:t>Organizations that already depend heavily on Oracle databases and enterprise applications can use OCI to move those workloads to the cloud.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27766F-9B19-403B-200C-149CDB161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446" y="0"/>
            <a:ext cx="185737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85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D8AE-DAFB-BF2E-4A1A-6CAD45A21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B8B2C6-F1C4-F409-96EB-BBA16765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Oracle Cloud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D4E0E1-D63A-9A6A-FA62-63F8C150B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Oracle cloud platform is offered by the </a:t>
            </a:r>
            <a:r>
              <a:rPr lang="en-US" dirty="0">
                <a:solidFill>
                  <a:srgbClr val="C00000"/>
                </a:solidFill>
              </a:rPr>
              <a:t>Oracle Corporation</a:t>
            </a:r>
            <a:r>
              <a:rPr lang="en-US" dirty="0"/>
              <a:t>. </a:t>
            </a:r>
          </a:p>
          <a:p>
            <a:r>
              <a:rPr lang="en-US" dirty="0"/>
              <a:t>It combines Platform as a Service, Infrastructure as a Service, Software as a Service, and Data as a Service with cloud infrastructure. </a:t>
            </a:r>
          </a:p>
          <a:p>
            <a:r>
              <a:rPr lang="en-US" dirty="0"/>
              <a:t>It is used to perform tasks such as moving applications to the cloud, managing development environment in the cloud, and optimize connection performance.</a:t>
            </a:r>
          </a:p>
          <a:p>
            <a:r>
              <a:rPr lang="en-US" b="1" dirty="0"/>
              <a:t>Features of Oracle cloud</a:t>
            </a:r>
          </a:p>
          <a:p>
            <a:pPr lvl="1"/>
            <a:r>
              <a:rPr lang="en-US" sz="2200" dirty="0"/>
              <a:t>Oracle cloud provides various tools for </a:t>
            </a:r>
            <a:r>
              <a:rPr lang="en-US" sz="2200" dirty="0">
                <a:solidFill>
                  <a:srgbClr val="C00000"/>
                </a:solidFill>
              </a:rPr>
              <a:t>build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integrate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monitor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secure</a:t>
            </a:r>
            <a:r>
              <a:rPr lang="en-US" sz="2200" dirty="0"/>
              <a:t> the applications.</a:t>
            </a:r>
          </a:p>
          <a:p>
            <a:pPr lvl="1"/>
            <a:r>
              <a:rPr lang="en-US" sz="2200" dirty="0"/>
              <a:t>Its infrastructure uses various languages including </a:t>
            </a:r>
            <a:r>
              <a:rPr lang="en-US" sz="2200" dirty="0">
                <a:solidFill>
                  <a:srgbClr val="C00000"/>
                </a:solidFill>
              </a:rPr>
              <a:t>Java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Ruby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PHP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Node.js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 integrates with </a:t>
            </a:r>
            <a:r>
              <a:rPr lang="en-US" sz="2200" dirty="0">
                <a:solidFill>
                  <a:srgbClr val="C00000"/>
                </a:solidFill>
              </a:rPr>
              <a:t>Docker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VMware</a:t>
            </a:r>
            <a:r>
              <a:rPr lang="en-US" sz="2200" dirty="0"/>
              <a:t>, and other </a:t>
            </a:r>
            <a:r>
              <a:rPr lang="en-US" sz="2200" dirty="0">
                <a:solidFill>
                  <a:srgbClr val="C00000"/>
                </a:solidFill>
              </a:rPr>
              <a:t>DevOps tools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Oracle database not only provides </a:t>
            </a:r>
            <a:r>
              <a:rPr lang="en-US" sz="2200" dirty="0">
                <a:solidFill>
                  <a:srgbClr val="C00000"/>
                </a:solidFill>
              </a:rPr>
              <a:t>unparalleled integration </a:t>
            </a:r>
            <a:r>
              <a:rPr lang="en-US" sz="2200" dirty="0"/>
              <a:t>between </a:t>
            </a:r>
            <a:r>
              <a:rPr lang="en-US" sz="2200" dirty="0">
                <a:solidFill>
                  <a:srgbClr val="C00000"/>
                </a:solidFill>
              </a:rPr>
              <a:t>IaaS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PaaS</a:t>
            </a:r>
            <a:r>
              <a:rPr lang="en-US" sz="2200" dirty="0"/>
              <a:t>, and </a:t>
            </a:r>
            <a:r>
              <a:rPr lang="en-US" sz="2200" dirty="0">
                <a:solidFill>
                  <a:srgbClr val="C00000"/>
                </a:solidFill>
              </a:rPr>
              <a:t>SaaS</a:t>
            </a:r>
            <a:r>
              <a:rPr lang="en-US" sz="2200" dirty="0"/>
              <a:t>, but also integrates with the on-premises platform to improve operational efficiency.</a:t>
            </a:r>
          </a:p>
          <a:p>
            <a:pPr lvl="1"/>
            <a:r>
              <a:rPr lang="en-US" sz="2200" dirty="0"/>
              <a:t>It maximizes the value of </a:t>
            </a:r>
            <a:r>
              <a:rPr lang="en-US" sz="2200" dirty="0">
                <a:solidFill>
                  <a:srgbClr val="C00000"/>
                </a:solidFill>
              </a:rPr>
              <a:t>IT investments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 offers customizable </a:t>
            </a:r>
            <a:r>
              <a:rPr lang="en-US" sz="2200" dirty="0">
                <a:solidFill>
                  <a:srgbClr val="C00000"/>
                </a:solidFill>
              </a:rPr>
              <a:t>Virtual Cloud Networks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firewalls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IP addresses </a:t>
            </a:r>
            <a:r>
              <a:rPr lang="en-US" sz="2200" dirty="0"/>
              <a:t>to securely support private networks.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5C04D-80E8-9198-3937-081B8477B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446" y="0"/>
            <a:ext cx="185737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5FF1-995C-B9F0-0B7D-127F7456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71C98-5387-031E-23B1-3C197F7C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Alibaba Cloud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4DBB50-4D73-7A36-9BA3-68C65D22F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Alibaba Cloud is a major cloud provider, particularly strong in the Asian market.</a:t>
            </a:r>
          </a:p>
          <a:p>
            <a:r>
              <a:rPr lang="en-IN" dirty="0"/>
              <a:t>Services include:</a:t>
            </a:r>
          </a:p>
          <a:p>
            <a:pPr lvl="1"/>
            <a:r>
              <a:rPr lang="en-IN" dirty="0"/>
              <a:t>Elastic Compute Service </a:t>
            </a:r>
          </a:p>
          <a:p>
            <a:pPr lvl="1"/>
            <a:r>
              <a:rPr lang="en-IN" dirty="0"/>
              <a:t>Object Storage Service </a:t>
            </a:r>
          </a:p>
          <a:p>
            <a:pPr lvl="1"/>
            <a:r>
              <a:rPr lang="en-IN" dirty="0"/>
              <a:t>Databases </a:t>
            </a:r>
          </a:p>
          <a:p>
            <a:pPr lvl="1"/>
            <a:r>
              <a:rPr lang="en-IN" dirty="0"/>
              <a:t>AI </a:t>
            </a:r>
          </a:p>
          <a:p>
            <a:pPr lvl="1"/>
            <a:r>
              <a:rPr lang="en-IN" dirty="0"/>
              <a:t>Big Data </a:t>
            </a:r>
          </a:p>
          <a:p>
            <a:pPr lvl="1"/>
            <a:r>
              <a:rPr lang="en-IN" dirty="0"/>
              <a:t>Networking </a:t>
            </a:r>
          </a:p>
          <a:p>
            <a:pPr lvl="1"/>
            <a:r>
              <a:rPr lang="en-IN" dirty="0"/>
              <a:t>Security </a:t>
            </a:r>
          </a:p>
          <a:p>
            <a:r>
              <a:rPr lang="en-IN" dirty="0"/>
              <a:t>It is widely associated with Alibaba's large-scale e-commerce ecosystem.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460EC3-7EBB-1B44-9CD2-A47AC8AC3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446" y="0"/>
            <a:ext cx="185737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4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3C7032-5430-9383-F2D3-94923D6A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VMware Cloud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E4DF5D-3919-6F1C-99A4-32B12E744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VMware cloud is a </a:t>
            </a:r>
            <a:r>
              <a:rPr lang="en-US" dirty="0">
                <a:solidFill>
                  <a:srgbClr val="C00000"/>
                </a:solidFill>
              </a:rPr>
              <a:t>Software-Defined Data Center (SSDC) </a:t>
            </a:r>
            <a:r>
              <a:rPr lang="en-US" dirty="0"/>
              <a:t>unified platform for the Hybrid Cloud. </a:t>
            </a:r>
          </a:p>
          <a:p>
            <a:r>
              <a:rPr lang="en-US" dirty="0"/>
              <a:t>It allows cloud providers to build agile, flexible, efficient, and robust cloud services.</a:t>
            </a:r>
          </a:p>
          <a:p>
            <a:r>
              <a:rPr lang="en-US" b="1" dirty="0"/>
              <a:t>Features of VMware</a:t>
            </a:r>
          </a:p>
          <a:p>
            <a:pPr lvl="1"/>
            <a:r>
              <a:rPr lang="en-US" sz="2200" dirty="0"/>
              <a:t>VMware cloud works on the </a:t>
            </a:r>
            <a:r>
              <a:rPr lang="en-US" sz="2200" dirty="0">
                <a:solidFill>
                  <a:srgbClr val="C00000"/>
                </a:solidFill>
              </a:rPr>
              <a:t>pay-as-per-use model </a:t>
            </a:r>
            <a:r>
              <a:rPr lang="en-US" sz="2200" dirty="0"/>
              <a:t>and </a:t>
            </a:r>
            <a:r>
              <a:rPr lang="en-US" sz="2200" dirty="0">
                <a:solidFill>
                  <a:srgbClr val="C00000"/>
                </a:solidFill>
              </a:rPr>
              <a:t>monthly subscription.</a:t>
            </a:r>
          </a:p>
          <a:p>
            <a:pPr lvl="1"/>
            <a:r>
              <a:rPr lang="en-US" sz="2200" dirty="0"/>
              <a:t>It provides better customer satisfaction by protecting the user's data.</a:t>
            </a:r>
          </a:p>
          <a:p>
            <a:pPr lvl="1"/>
            <a:r>
              <a:rPr lang="en-US" sz="2200" dirty="0"/>
              <a:t>It can easily create a new </a:t>
            </a:r>
            <a:r>
              <a:rPr lang="en-US" sz="2200" dirty="0">
                <a:solidFill>
                  <a:srgbClr val="C00000"/>
                </a:solidFill>
              </a:rPr>
              <a:t>VMware Software-Defined Data Center (SDDC) </a:t>
            </a:r>
            <a:r>
              <a:rPr lang="en-US" sz="2200" dirty="0"/>
              <a:t>cluster on AWS cloud by utilizing a </a:t>
            </a:r>
            <a:r>
              <a:rPr lang="en-US" sz="2200" dirty="0">
                <a:solidFill>
                  <a:srgbClr val="C00000"/>
                </a:solidFill>
              </a:rPr>
              <a:t>RESTful API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 provides </a:t>
            </a:r>
            <a:r>
              <a:rPr lang="en-US" sz="2200" dirty="0">
                <a:solidFill>
                  <a:srgbClr val="C00000"/>
                </a:solidFill>
              </a:rPr>
              <a:t>flexible storage options</a:t>
            </a:r>
            <a:r>
              <a:rPr lang="en-US" sz="2200" dirty="0"/>
              <a:t>. We can manage our application storage on a per-application basis.</a:t>
            </a:r>
          </a:p>
          <a:p>
            <a:pPr lvl="1"/>
            <a:r>
              <a:rPr lang="en-US" sz="2200" dirty="0"/>
              <a:t>It provides a dedicated </a:t>
            </a:r>
            <a:r>
              <a:rPr lang="en-US" sz="2200" dirty="0">
                <a:solidFill>
                  <a:srgbClr val="C00000"/>
                </a:solidFill>
              </a:rPr>
              <a:t>high-performance network </a:t>
            </a:r>
            <a:r>
              <a:rPr lang="en-US" sz="2200" dirty="0"/>
              <a:t>for managing the </a:t>
            </a:r>
            <a:r>
              <a:rPr lang="en-US" sz="2200" dirty="0">
                <a:solidFill>
                  <a:srgbClr val="C00000"/>
                </a:solidFill>
              </a:rPr>
              <a:t>application traffic </a:t>
            </a:r>
            <a:r>
              <a:rPr lang="en-US" sz="2200" dirty="0"/>
              <a:t>and also supports </a:t>
            </a:r>
            <a:r>
              <a:rPr lang="en-US" sz="2200" dirty="0">
                <a:solidFill>
                  <a:srgbClr val="C00000"/>
                </a:solidFill>
              </a:rPr>
              <a:t>multicast networking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It eliminates the time and cost complexity.</a:t>
            </a:r>
          </a:p>
        </p:txBody>
      </p:sp>
      <p:pic>
        <p:nvPicPr>
          <p:cNvPr id="12290" name="Picture 2" descr="Cloud Service Provider Companies">
            <a:extLst>
              <a:ext uri="{FF2B5EF4-FFF2-40B4-BE49-F238E27FC236}">
                <a16:creationId xmlns:a16="http://schemas.microsoft.com/office/drawing/2014/main" id="{8D035ABC-3D1D-4ABA-871E-540B2623B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9621" y="1"/>
            <a:ext cx="711200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51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06F3E5-FFD2-4E16-7547-DEEA14CE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Red Hat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1A2562-590A-1757-715A-B6E312354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 Hat virtualization is an </a:t>
            </a:r>
            <a:r>
              <a:rPr lang="en-US" dirty="0">
                <a:solidFill>
                  <a:srgbClr val="C00000"/>
                </a:solidFill>
              </a:rPr>
              <a:t>open standard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desktop virtualization platform </a:t>
            </a:r>
            <a:r>
              <a:rPr lang="en-US" dirty="0"/>
              <a:t>produced by Red Hat. </a:t>
            </a:r>
          </a:p>
          <a:p>
            <a:r>
              <a:rPr lang="en-US" dirty="0"/>
              <a:t>It is very popular for the </a:t>
            </a:r>
            <a:r>
              <a:rPr lang="en-US" dirty="0">
                <a:solidFill>
                  <a:srgbClr val="C00000"/>
                </a:solidFill>
              </a:rPr>
              <a:t>Linux environment </a:t>
            </a:r>
            <a:r>
              <a:rPr lang="en-US" dirty="0"/>
              <a:t>to provide various infrastructure solutions for </a:t>
            </a:r>
            <a:r>
              <a:rPr lang="en-US" dirty="0">
                <a:solidFill>
                  <a:srgbClr val="C00000"/>
                </a:solidFill>
              </a:rPr>
              <a:t>virtualized servers </a:t>
            </a:r>
            <a:r>
              <a:rPr lang="en-US" dirty="0"/>
              <a:t>as well as </a:t>
            </a:r>
            <a:r>
              <a:rPr lang="en-US" dirty="0">
                <a:solidFill>
                  <a:srgbClr val="C00000"/>
                </a:solidFill>
              </a:rPr>
              <a:t>technical workstations</a:t>
            </a:r>
            <a:r>
              <a:rPr lang="en-US" dirty="0"/>
              <a:t>. </a:t>
            </a:r>
          </a:p>
          <a:p>
            <a:r>
              <a:rPr lang="en-US" dirty="0"/>
              <a:t>Most of the small and medium-sized organizations use Red Hat to run their organizations smoothly. </a:t>
            </a:r>
          </a:p>
          <a:p>
            <a:r>
              <a:rPr lang="en-US" dirty="0"/>
              <a:t>It offers </a:t>
            </a:r>
            <a:r>
              <a:rPr lang="en-US" dirty="0">
                <a:solidFill>
                  <a:srgbClr val="C00000"/>
                </a:solidFill>
              </a:rPr>
              <a:t>higher density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better performance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agility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security</a:t>
            </a:r>
            <a:r>
              <a:rPr lang="en-US" dirty="0"/>
              <a:t> to the resources. </a:t>
            </a:r>
          </a:p>
          <a:p>
            <a:r>
              <a:rPr lang="en-US" dirty="0"/>
              <a:t>It also improves the organization's economy by providing cheaper and easier management capabilities.</a:t>
            </a:r>
          </a:p>
          <a:p>
            <a:r>
              <a:rPr lang="en-US" b="1" dirty="0"/>
              <a:t>Features of Rad Hat</a:t>
            </a:r>
          </a:p>
          <a:p>
            <a:pPr lvl="1"/>
            <a:r>
              <a:rPr lang="en-US" sz="2200" dirty="0"/>
              <a:t>It provides </a:t>
            </a:r>
            <a:r>
              <a:rPr lang="en-US" sz="2200" dirty="0">
                <a:solidFill>
                  <a:srgbClr val="C00000"/>
                </a:solidFill>
              </a:rPr>
              <a:t>secure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certified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updated container images </a:t>
            </a:r>
            <a:r>
              <a:rPr lang="en-US" sz="2200" dirty="0"/>
              <a:t>via the Red Hat Container catalog.</a:t>
            </a:r>
          </a:p>
          <a:p>
            <a:pPr lvl="1"/>
            <a:r>
              <a:rPr lang="en-US" sz="2200" dirty="0"/>
              <a:t>It cloud includes OpenShift, which is an app development platform that allows developers to access, modernize, and deploy apps.</a:t>
            </a:r>
          </a:p>
          <a:p>
            <a:pPr lvl="1"/>
            <a:r>
              <a:rPr lang="en-US" sz="2200" dirty="0"/>
              <a:t>It supports up to 16 virtual machines, each having up to 256GB of RAM.</a:t>
            </a:r>
          </a:p>
          <a:p>
            <a:pPr lvl="1"/>
            <a:r>
              <a:rPr lang="en-US" sz="2200" dirty="0"/>
              <a:t>It offers better </a:t>
            </a:r>
            <a:r>
              <a:rPr lang="en-US" sz="2200" dirty="0">
                <a:solidFill>
                  <a:srgbClr val="C00000"/>
                </a:solidFill>
              </a:rPr>
              <a:t>reliability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availability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serviceability</a:t>
            </a:r>
            <a:r>
              <a:rPr lang="en-US" sz="2200" dirty="0"/>
              <a:t>.</a:t>
            </a:r>
          </a:p>
        </p:txBody>
      </p:sp>
      <p:pic>
        <p:nvPicPr>
          <p:cNvPr id="2050" name="Picture 2" descr="Cloud Service Provider Companies">
            <a:extLst>
              <a:ext uri="{FF2B5EF4-FFF2-40B4-BE49-F238E27FC236}">
                <a16:creationId xmlns:a16="http://schemas.microsoft.com/office/drawing/2014/main" id="{92F05D5B-5518-E744-C588-078CE019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8499" y="-21516"/>
            <a:ext cx="787322" cy="78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21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D65CCC-00EC-86B7-BA5E-AA082239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Ocean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8139BE-77DC-AA20-AAC1-C1097B3CC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Ocean is the </a:t>
            </a:r>
            <a:r>
              <a:rPr lang="en-US" dirty="0">
                <a:solidFill>
                  <a:srgbClr val="C00000"/>
                </a:solidFill>
              </a:rPr>
              <a:t>unique cloud provider </a:t>
            </a:r>
            <a:r>
              <a:rPr lang="en-US" dirty="0"/>
              <a:t>that offers computing services to the organization.</a:t>
            </a:r>
          </a:p>
          <a:p>
            <a:r>
              <a:rPr lang="en-US" dirty="0"/>
              <a:t>It was founded in </a:t>
            </a:r>
            <a:r>
              <a:rPr lang="en-US" dirty="0">
                <a:solidFill>
                  <a:srgbClr val="C00000"/>
                </a:solidFill>
              </a:rPr>
              <a:t>2011</a:t>
            </a:r>
            <a:r>
              <a:rPr lang="en-US" dirty="0"/>
              <a:t> by </a:t>
            </a:r>
            <a:r>
              <a:rPr lang="en-US" dirty="0">
                <a:solidFill>
                  <a:srgbClr val="C00000"/>
                </a:solidFill>
              </a:rPr>
              <a:t>Moisey Uretsky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Ben</a:t>
            </a:r>
            <a:r>
              <a:rPr lang="en-US" dirty="0"/>
              <a:t>. </a:t>
            </a:r>
          </a:p>
          <a:p>
            <a:r>
              <a:rPr lang="en-US" dirty="0"/>
              <a:t>It is one of the best cloud provider that allows us to manage and deploy web applications.</a:t>
            </a:r>
          </a:p>
          <a:p>
            <a:r>
              <a:rPr lang="en-US" b="1" dirty="0"/>
              <a:t>Features of Digital Ocean</a:t>
            </a:r>
          </a:p>
          <a:p>
            <a:pPr lvl="1"/>
            <a:r>
              <a:rPr lang="en-US" sz="2200" dirty="0"/>
              <a:t>It uses the </a:t>
            </a:r>
            <a:r>
              <a:rPr lang="en-US" sz="2200" dirty="0">
                <a:solidFill>
                  <a:srgbClr val="C00000"/>
                </a:solidFill>
              </a:rPr>
              <a:t>KVM hypervisor </a:t>
            </a:r>
            <a:r>
              <a:rPr lang="en-US" sz="2200" dirty="0"/>
              <a:t>to allocate physical resources to the virtual servers.</a:t>
            </a:r>
          </a:p>
          <a:p>
            <a:pPr lvl="1"/>
            <a:r>
              <a:rPr lang="en-US" sz="2200" dirty="0"/>
              <a:t>It provides </a:t>
            </a:r>
            <a:r>
              <a:rPr lang="en-US" sz="2200" dirty="0">
                <a:solidFill>
                  <a:srgbClr val="C00000"/>
                </a:solidFill>
              </a:rPr>
              <a:t>high-quality</a:t>
            </a:r>
            <a:r>
              <a:rPr lang="en-US" sz="2200" dirty="0"/>
              <a:t> performance.</a:t>
            </a:r>
          </a:p>
          <a:p>
            <a:pPr lvl="1"/>
            <a:r>
              <a:rPr lang="en-US" sz="2200" dirty="0"/>
              <a:t>It offers a digital community platform that helps to answer queries and holding feedbacks.</a:t>
            </a:r>
          </a:p>
          <a:p>
            <a:pPr lvl="1"/>
            <a:r>
              <a:rPr lang="en-US" sz="2200" dirty="0"/>
              <a:t>It allows developers to use cloud servers to quickly create new virtual machines for their projects.</a:t>
            </a:r>
          </a:p>
          <a:p>
            <a:pPr lvl="1"/>
            <a:r>
              <a:rPr lang="en-US" sz="2200" dirty="0"/>
              <a:t>It offers one-click apps for droplets. These apps include MySQL, Docker, MongoDB, WordPress, PhpMyAdmin, LAMP stack, Ghost, and Machine Learning.</a:t>
            </a:r>
          </a:p>
        </p:txBody>
      </p:sp>
      <p:pic>
        <p:nvPicPr>
          <p:cNvPr id="3074" name="Picture 2" descr="Cloud Service Provider Companies">
            <a:extLst>
              <a:ext uri="{FF2B5EF4-FFF2-40B4-BE49-F238E27FC236}">
                <a16:creationId xmlns:a16="http://schemas.microsoft.com/office/drawing/2014/main" id="{10E18E08-9B7B-34CF-7CA1-61A207D48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1844" y="0"/>
            <a:ext cx="685799" cy="68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46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B7356-E973-AFD5-E602-E035B3A5E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8F1C-E7B9-7E34-970E-28BB9387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Cloud Computing Jobs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F0BDE-203F-EA8B-E60B-C482111A8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- 10</a:t>
            </a:r>
          </a:p>
        </p:txBody>
      </p:sp>
    </p:spTree>
    <p:extLst>
      <p:ext uri="{BB962C8B-B14F-4D97-AF65-F5344CB8AC3E}">
        <p14:creationId xmlns:p14="http://schemas.microsoft.com/office/powerpoint/2010/main" val="9029347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E389-97CC-8A0B-D25D-C0F029BCC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Computing Jobs</a:t>
            </a:r>
          </a:p>
        </p:txBody>
      </p:sp>
      <p:pic>
        <p:nvPicPr>
          <p:cNvPr id="4098" name="Picture 2" descr="Cloud Computing Jobs">
            <a:extLst>
              <a:ext uri="{FF2B5EF4-FFF2-40B4-BE49-F238E27FC236}">
                <a16:creationId xmlns:a16="http://schemas.microsoft.com/office/drawing/2014/main" id="{E378D168-0E11-21F3-CCB1-6090B983E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525" y="863444"/>
            <a:ext cx="9216949" cy="488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57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5CB623-401C-BA12-15FC-7C5EB3F2E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 Jobs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FF931B-10EA-876E-9ED1-EA73E845C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Cloud administrator</a:t>
            </a:r>
          </a:p>
          <a:p>
            <a:pPr lvl="1"/>
            <a:r>
              <a:rPr lang="en-IN" b="1" dirty="0"/>
              <a:t>Average salary</a:t>
            </a:r>
            <a:r>
              <a:rPr lang="en-IN" dirty="0"/>
              <a:t>: $70,501</a:t>
            </a:r>
            <a:endParaRPr lang="en-US" dirty="0"/>
          </a:p>
          <a:p>
            <a:r>
              <a:rPr lang="en-US" dirty="0"/>
              <a:t>Cloud architect</a:t>
            </a:r>
          </a:p>
          <a:p>
            <a:pPr lvl="1"/>
            <a:r>
              <a:rPr lang="en-IN" b="1" dirty="0"/>
              <a:t>Average salary</a:t>
            </a:r>
            <a:r>
              <a:rPr lang="en-IN" dirty="0"/>
              <a:t>: $145,820</a:t>
            </a:r>
            <a:endParaRPr lang="en-US" dirty="0"/>
          </a:p>
          <a:p>
            <a:r>
              <a:rPr lang="en-US" dirty="0"/>
              <a:t>Cloud automation engineer</a:t>
            </a:r>
          </a:p>
          <a:p>
            <a:pPr lvl="1"/>
            <a:r>
              <a:rPr lang="en-IN" b="1" dirty="0"/>
              <a:t>Average salary</a:t>
            </a:r>
            <a:r>
              <a:rPr lang="en-IN" dirty="0"/>
              <a:t>: $141,000</a:t>
            </a:r>
            <a:endParaRPr lang="en-US" dirty="0"/>
          </a:p>
          <a:p>
            <a:r>
              <a:rPr lang="en-US" dirty="0"/>
              <a:t>Cloud consultant</a:t>
            </a:r>
          </a:p>
          <a:p>
            <a:pPr lvl="1"/>
            <a:r>
              <a:rPr lang="en-IN" b="1" dirty="0"/>
              <a:t>Average salary</a:t>
            </a:r>
            <a:r>
              <a:rPr lang="en-IN" dirty="0"/>
              <a:t>: $109,553</a:t>
            </a:r>
            <a:endParaRPr lang="en-US" dirty="0"/>
          </a:p>
          <a:p>
            <a:r>
              <a:rPr lang="en-US" dirty="0"/>
              <a:t>Cloud engineer</a:t>
            </a:r>
          </a:p>
          <a:p>
            <a:pPr lvl="1"/>
            <a:r>
              <a:rPr lang="en-IN" b="1" dirty="0"/>
              <a:t>Average salary</a:t>
            </a:r>
            <a:r>
              <a:rPr lang="en-IN" dirty="0"/>
              <a:t>: $123,663</a:t>
            </a:r>
            <a:endParaRPr lang="en-US" dirty="0"/>
          </a:p>
          <a:p>
            <a:r>
              <a:rPr lang="en-US" dirty="0"/>
              <a:t>Cloud security analyst</a:t>
            </a:r>
          </a:p>
          <a:p>
            <a:pPr lvl="1"/>
            <a:r>
              <a:rPr lang="en-IN" b="1" dirty="0"/>
              <a:t>Average salary</a:t>
            </a:r>
            <a:r>
              <a:rPr lang="en-IN" dirty="0"/>
              <a:t>: $119,198</a:t>
            </a:r>
            <a:endParaRPr lang="en-US" dirty="0"/>
          </a:p>
          <a:p>
            <a:r>
              <a:rPr lang="en-US" dirty="0"/>
              <a:t>Cloud software engineer</a:t>
            </a:r>
          </a:p>
          <a:p>
            <a:pPr lvl="1"/>
            <a:r>
              <a:rPr lang="en-IN" b="1" dirty="0"/>
              <a:t>Average salary</a:t>
            </a:r>
            <a:r>
              <a:rPr lang="en-IN" dirty="0"/>
              <a:t>: $112,897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65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vaseem.ghada@darshan.ac.in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9879531513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37677" y="5563413"/>
            <a:ext cx="4152575" cy="264436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IN" dirty="0" err="1"/>
              <a:t>epartment</a:t>
            </a:r>
            <a:r>
              <a:rPr lang="en-IN" dirty="0"/>
              <a:t> of Computer Science &amp; Engineering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Vassem</a:t>
            </a:r>
            <a:r>
              <a:rPr lang="en-IN" dirty="0"/>
              <a:t> Ghada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sz="1800" b="0" i="0" u="none" strike="noStrike" baseline="0" dirty="0">
                <a:latin typeface="Roboto Condensed" panose="02000000000000000000" pitchFamily="2" charset="0"/>
              </a:rPr>
              <a:t>Introduction to Advanced Technologies</a:t>
            </a:r>
            <a:r>
              <a:rPr lang="en-IN" dirty="0"/>
              <a:t> (2305CS302)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43F8C8D-C9C7-85E0-3B31-DC36CBC13B8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4.xml><?xml version="1.0" encoding="utf-8"?>
<a:theme xmlns:a="http://schemas.openxmlformats.org/drawingml/2006/main" name="1_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5.xml><?xml version="1.0" encoding="utf-8"?>
<a:theme xmlns:a="http://schemas.openxmlformats.org/drawingml/2006/main" name="2_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6.xml><?xml version="1.0" encoding="utf-8"?>
<a:theme xmlns:a="http://schemas.openxmlformats.org/drawingml/2006/main" name="3_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7.xml><?xml version="1.0" encoding="utf-8"?>
<a:theme xmlns:a="http://schemas.openxmlformats.org/drawingml/2006/main" name="4_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8.xml><?xml version="1.0" encoding="utf-8"?>
<a:theme xmlns:a="http://schemas.openxmlformats.org/drawingml/2006/main" name="5_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9.xml><?xml version="1.0" encoding="utf-8"?>
<a:theme xmlns:a="http://schemas.openxmlformats.org/drawingml/2006/main" name="6_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5576</Words>
  <Application>Microsoft Office PowerPoint</Application>
  <PresentationFormat>Widescreen</PresentationFormat>
  <Paragraphs>803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81</vt:i4>
      </vt:variant>
    </vt:vector>
  </HeadingPairs>
  <TitlesOfParts>
    <vt:vector size="97" baseType="lpstr">
      <vt:lpstr>Roboto Condensed</vt:lpstr>
      <vt:lpstr>Roboto Condensed Light</vt:lpstr>
      <vt:lpstr>Calibri</vt:lpstr>
      <vt:lpstr>Wingdings 3</vt:lpstr>
      <vt:lpstr>Arial</vt:lpstr>
      <vt:lpstr>Wingdings 2</vt:lpstr>
      <vt:lpstr>Wingdings</vt:lpstr>
      <vt:lpstr>Office Theme</vt:lpstr>
      <vt:lpstr>1_Office Theme</vt:lpstr>
      <vt:lpstr>VIdeo Lecture 16x9 Light Template</vt:lpstr>
      <vt:lpstr>1_VIdeo Lecture 16x9 Light Template</vt:lpstr>
      <vt:lpstr>2_VIdeo Lecture 16x9 Light Template</vt:lpstr>
      <vt:lpstr>3_VIdeo Lecture 16x9 Light Template</vt:lpstr>
      <vt:lpstr>4_VIdeo Lecture 16x9 Light Template</vt:lpstr>
      <vt:lpstr>5_VIdeo Lecture 16x9 Light Template</vt:lpstr>
      <vt:lpstr>6_VIdeo Lecture 16x9 Light Template</vt:lpstr>
      <vt:lpstr>Unit-01  Introduction to  Cloud Computing </vt:lpstr>
      <vt:lpstr>PowerPoint Presentation</vt:lpstr>
      <vt:lpstr>Basics of Cloud Computing</vt:lpstr>
      <vt:lpstr>What is Cloud Computing?</vt:lpstr>
      <vt:lpstr>What is Cloud Computing?</vt:lpstr>
      <vt:lpstr>Why Cloud Computing?</vt:lpstr>
      <vt:lpstr>Operation of Cloud Computing</vt:lpstr>
      <vt:lpstr>Characteristics of Cloud Computing</vt:lpstr>
      <vt:lpstr>Characteristics of Cloud Computing</vt:lpstr>
      <vt:lpstr>Characteristics of Cloud Computing – Cont.</vt:lpstr>
      <vt:lpstr>Advantages of Cloud Computing</vt:lpstr>
      <vt:lpstr>Disadvantages of Cloud Computing</vt:lpstr>
      <vt:lpstr>Origin of Cloud</vt:lpstr>
      <vt:lpstr>Origin of Cloud</vt:lpstr>
      <vt:lpstr>Cloud Computing Architecture</vt:lpstr>
      <vt:lpstr>Cloud Computing Architecture</vt:lpstr>
      <vt:lpstr>Cloud Computing Architecture </vt:lpstr>
      <vt:lpstr>Components of Cloud Computing Architecture</vt:lpstr>
      <vt:lpstr>Components of Cloud Computing Architecture </vt:lpstr>
      <vt:lpstr>Components of Cloud Computing Architecture</vt:lpstr>
      <vt:lpstr>Cloud Computing Technologies</vt:lpstr>
      <vt:lpstr>Cloud Computing Technology</vt:lpstr>
      <vt:lpstr>Virtualization</vt:lpstr>
      <vt:lpstr>Types of Virtualization</vt:lpstr>
      <vt:lpstr>Service-Oriented Architecture (SOA)</vt:lpstr>
      <vt:lpstr>Grid Computing</vt:lpstr>
      <vt:lpstr>Grid Computing</vt:lpstr>
      <vt:lpstr>Utility Computing</vt:lpstr>
      <vt:lpstr>Cloud Computing Vs Grid Computing</vt:lpstr>
      <vt:lpstr>Cloud Computing Vs Grid Computing</vt:lpstr>
      <vt:lpstr>Application &amp; Security Risk</vt:lpstr>
      <vt:lpstr>Types of cloud</vt:lpstr>
      <vt:lpstr>Types of Cloud</vt:lpstr>
      <vt:lpstr>Types of Cloud</vt:lpstr>
      <vt:lpstr>Types of Cloud</vt:lpstr>
      <vt:lpstr>Types of Cloud</vt:lpstr>
      <vt:lpstr>Public Cloud</vt:lpstr>
      <vt:lpstr>Public Cloud</vt:lpstr>
      <vt:lpstr>Private Cloud</vt:lpstr>
      <vt:lpstr>Private Cloud </vt:lpstr>
      <vt:lpstr>Hybrid Cloud</vt:lpstr>
      <vt:lpstr>Hybrid Cloud </vt:lpstr>
      <vt:lpstr>Community Cloud</vt:lpstr>
      <vt:lpstr>Community Cloud</vt:lpstr>
      <vt:lpstr>Public Cloud Vs. Private Cloud Vs. Hybrid Cloud Vs. Community Cloud</vt:lpstr>
      <vt:lpstr>Cloud Service Models</vt:lpstr>
      <vt:lpstr>Cloud Service Models</vt:lpstr>
      <vt:lpstr>Infrastructure as a Service (IaaS)</vt:lpstr>
      <vt:lpstr>Platform as a Service (PaaS)</vt:lpstr>
      <vt:lpstr>Software as a Service (SaaS)</vt:lpstr>
      <vt:lpstr>IaaS Vs. PaaS Vs. SaaS</vt:lpstr>
      <vt:lpstr>PowerPoint Presentation</vt:lpstr>
      <vt:lpstr>Virtualization in Cloud Computing</vt:lpstr>
      <vt:lpstr>Virtualization in Cloud Computing </vt:lpstr>
      <vt:lpstr>Hardware Virtualization</vt:lpstr>
      <vt:lpstr>Operating System Virtualization</vt:lpstr>
      <vt:lpstr>Server Virtualization</vt:lpstr>
      <vt:lpstr>Storage Virtualization</vt:lpstr>
      <vt:lpstr>Cloud Service Providers</vt:lpstr>
      <vt:lpstr>Cloud Service Provider</vt:lpstr>
      <vt:lpstr>Cloud Service Provider</vt:lpstr>
      <vt:lpstr>Amazon Web Services (AWS)</vt:lpstr>
      <vt:lpstr>Amazon Web Services (AWS)</vt:lpstr>
      <vt:lpstr>Amazon Web Services (AWS)</vt:lpstr>
      <vt:lpstr>Microsoft Azure</vt:lpstr>
      <vt:lpstr>Microsoft Azure</vt:lpstr>
      <vt:lpstr>Google Cloud Platform</vt:lpstr>
      <vt:lpstr>Cloud Provider Comparison</vt:lpstr>
      <vt:lpstr>Google Cloud Platform</vt:lpstr>
      <vt:lpstr>IBM Cloud </vt:lpstr>
      <vt:lpstr>IBM Cloud </vt:lpstr>
      <vt:lpstr>Oracle Cloud</vt:lpstr>
      <vt:lpstr>Oracle Cloud</vt:lpstr>
      <vt:lpstr>Alibaba Cloud</vt:lpstr>
      <vt:lpstr>VMware Cloud</vt:lpstr>
      <vt:lpstr>Red Hat</vt:lpstr>
      <vt:lpstr>Digital Ocean</vt:lpstr>
      <vt:lpstr>Cloud Computing Jobs</vt:lpstr>
      <vt:lpstr>Cloud Computing Jobs</vt:lpstr>
      <vt:lpstr>Cloud Computing Jobs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1415</cp:revision>
  <dcterms:created xsi:type="dcterms:W3CDTF">2020-05-01T05:09:15Z</dcterms:created>
  <dcterms:modified xsi:type="dcterms:W3CDTF">2026-08-17T05:19:24Z</dcterms:modified>
</cp:coreProperties>
</file>