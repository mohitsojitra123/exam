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bookmarkIdSeed="2">
  <p:sldMasterIdLst>
    <p:sldMasterId id="2147483648" r:id="rId1"/>
  </p:sldMasterIdLst>
  <p:notesMasterIdLst>
    <p:notesMasterId r:id="rId53"/>
  </p:notesMasterIdLst>
  <p:sldIdLst>
    <p:sldId id="574" r:id="rId2"/>
    <p:sldId id="575" r:id="rId3"/>
    <p:sldId id="632" r:id="rId4"/>
    <p:sldId id="631" r:id="rId5"/>
    <p:sldId id="773" r:id="rId6"/>
    <p:sldId id="638" r:id="rId7"/>
    <p:sldId id="644" r:id="rId8"/>
    <p:sldId id="790" r:id="rId9"/>
    <p:sldId id="639" r:id="rId10"/>
    <p:sldId id="640" r:id="rId11"/>
    <p:sldId id="641" r:id="rId12"/>
    <p:sldId id="642" r:id="rId13"/>
    <p:sldId id="643" r:id="rId14"/>
    <p:sldId id="775" r:id="rId15"/>
    <p:sldId id="645" r:id="rId16"/>
    <p:sldId id="776" r:id="rId17"/>
    <p:sldId id="651" r:id="rId18"/>
    <p:sldId id="652" r:id="rId19"/>
    <p:sldId id="777" r:id="rId20"/>
    <p:sldId id="791" r:id="rId21"/>
    <p:sldId id="797" r:id="rId22"/>
    <p:sldId id="653" r:id="rId23"/>
    <p:sldId id="766" r:id="rId24"/>
    <p:sldId id="767" r:id="rId25"/>
    <p:sldId id="768" r:id="rId26"/>
    <p:sldId id="769" r:id="rId27"/>
    <p:sldId id="770" r:id="rId28"/>
    <p:sldId id="771" r:id="rId29"/>
    <p:sldId id="779" r:id="rId30"/>
    <p:sldId id="792" r:id="rId31"/>
    <p:sldId id="780" r:id="rId32"/>
    <p:sldId id="794" r:id="rId33"/>
    <p:sldId id="793" r:id="rId34"/>
    <p:sldId id="787" r:id="rId35"/>
    <p:sldId id="796" r:id="rId36"/>
    <p:sldId id="788" r:id="rId37"/>
    <p:sldId id="789" r:id="rId38"/>
    <p:sldId id="798" r:id="rId39"/>
    <p:sldId id="795" r:id="rId40"/>
    <p:sldId id="800" r:id="rId41"/>
    <p:sldId id="799" r:id="rId42"/>
    <p:sldId id="801" r:id="rId43"/>
    <p:sldId id="802" r:id="rId44"/>
    <p:sldId id="803" r:id="rId45"/>
    <p:sldId id="804" r:id="rId46"/>
    <p:sldId id="805" r:id="rId47"/>
    <p:sldId id="806" r:id="rId48"/>
    <p:sldId id="807" r:id="rId49"/>
    <p:sldId id="808" r:id="rId50"/>
    <p:sldId id="809" r:id="rId51"/>
    <p:sldId id="629" r:id="rId52"/>
  </p:sldIdLst>
  <p:sldSz cx="12192000" cy="6858000"/>
  <p:notesSz cx="6858000" cy="9144000"/>
  <p:embeddedFontLst>
    <p:embeddedFont>
      <p:font typeface="Cascadia Mono" panose="020B0609020000020004" pitchFamily="49" charset="0"/>
      <p:regular r:id="rId54"/>
      <p:bold r:id="rId55"/>
      <p:italic r:id="rId56"/>
      <p:boldItalic r:id="rId57"/>
    </p:embeddedFont>
    <p:embeddedFont>
      <p:font typeface="Consolas" panose="020B0609020204030204" pitchFamily="49" charset="0"/>
      <p:regular r:id="rId58"/>
      <p:bold r:id="rId59"/>
      <p:italic r:id="rId60"/>
      <p:boldItalic r:id="rId61"/>
    </p:embeddedFont>
    <p:embeddedFont>
      <p:font typeface="Roboto Condensed" panose="02000000000000000000" pitchFamily="2" charset="0"/>
      <p:regular r:id="rId62"/>
      <p:bold r:id="rId63"/>
      <p:italic r:id="rId64"/>
      <p:boldItalic r:id="rId65"/>
    </p:embeddedFont>
    <p:embeddedFont>
      <p:font typeface="Roboto Condensed Light" panose="02000000000000000000" pitchFamily="2" charset="0"/>
      <p:regular r:id="rId66"/>
      <p:italic r:id="rId67"/>
    </p:embeddedFont>
    <p:embeddedFont>
      <p:font typeface="Wingdings 2" panose="05020102010507070707" pitchFamily="18" charset="2"/>
      <p:regular r:id="rId68"/>
    </p:embeddedFont>
    <p:embeddedFont>
      <p:font typeface="Wingdings 3" panose="05040102010807070707" pitchFamily="18" charset="2"/>
      <p:regular r:id="rId6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bnOqwMgioxK/8OC4u6dZOw==" hashData="k+ABZcY9MrhWF5vel9DKj1r6aVDXugsHcNkL4M7jEnMgIERTShDDa+9Xsw/TtOqH4fDkdgJfjBl8SJezjCq18A=="/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4337"/>
    <a:srgbClr val="890E4F"/>
    <a:srgbClr val="FA6060"/>
    <a:srgbClr val="301B92"/>
    <a:srgbClr val="673BB7"/>
    <a:srgbClr val="607D8B"/>
    <a:srgbClr val="ED524F"/>
    <a:srgbClr val="B71B1C"/>
    <a:srgbClr val="D81A60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7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0.fntdata"/><Relationship Id="rId68" Type="http://schemas.openxmlformats.org/officeDocument/2006/relationships/font" Target="fonts/font1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font" Target="fonts/font5.fntdata"/><Relationship Id="rId66" Type="http://schemas.openxmlformats.org/officeDocument/2006/relationships/font" Target="fonts/font13.fntdata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font" Target="fonts/font8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64" Type="http://schemas.openxmlformats.org/officeDocument/2006/relationships/font" Target="fonts/font11.fntdata"/><Relationship Id="rId69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6.fntdata"/><Relationship Id="rId67" Type="http://schemas.openxmlformats.org/officeDocument/2006/relationships/font" Target="fonts/font1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62" Type="http://schemas.openxmlformats.org/officeDocument/2006/relationships/font" Target="fonts/font9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7.fntdata"/><Relationship Id="rId65" Type="http://schemas.openxmlformats.org/officeDocument/2006/relationships/font" Target="fonts/font12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mish Vadodariya" userId="d2e325c0593a319e" providerId="LiveId" clId="{7C63E82C-E927-4EDC-AE19-8D8AEF8CA678}"/>
    <pc:docChg chg="undo custSel addSld delSld modSld sldOrd modMainMaster">
      <pc:chgData name="Naimish Vadodariya" userId="d2e325c0593a319e" providerId="LiveId" clId="{7C63E82C-E927-4EDC-AE19-8D8AEF8CA678}" dt="2025-06-23T05:50:28.679" v="474" actId="2696"/>
      <pc:docMkLst>
        <pc:docMk/>
      </pc:docMkLst>
      <pc:sldChg chg="modSp mod">
        <pc:chgData name="Naimish Vadodariya" userId="d2e325c0593a319e" providerId="LiveId" clId="{7C63E82C-E927-4EDC-AE19-8D8AEF8CA678}" dt="2025-06-23T04:47:21.614" v="2"/>
        <pc:sldMkLst>
          <pc:docMk/>
          <pc:sldMk cId="3700571047" sldId="574"/>
        </pc:sldMkLst>
        <pc:spChg chg="mod">
          <ac:chgData name="Naimish Vadodariya" userId="d2e325c0593a319e" providerId="LiveId" clId="{7C63E82C-E927-4EDC-AE19-8D8AEF8CA678}" dt="2025-06-23T04:47:21.614" v="2"/>
          <ac:spMkLst>
            <pc:docMk/>
            <pc:sldMk cId="3700571047" sldId="574"/>
            <ac:spMk id="8" creationId="{03F305CB-DBE2-45D5-8D0B-92106F27C4BB}"/>
          </ac:spMkLst>
        </pc:spChg>
        <pc:spChg chg="mod">
          <ac:chgData name="Naimish Vadodariya" userId="d2e325c0593a319e" providerId="LiveId" clId="{7C63E82C-E927-4EDC-AE19-8D8AEF8CA678}" dt="2025-06-23T04:46:26.521" v="1" actId="1076"/>
          <ac:spMkLst>
            <pc:docMk/>
            <pc:sldMk cId="3700571047" sldId="574"/>
            <ac:spMk id="14" creationId="{E2AD8B6E-51EA-4A15-8752-4F221E5E02C5}"/>
          </ac:spMkLst>
        </pc:spChg>
      </pc:sldChg>
      <pc:sldChg chg="addSp delSp modSp mod">
        <pc:chgData name="Naimish Vadodariya" userId="d2e325c0593a319e" providerId="LiveId" clId="{7C63E82C-E927-4EDC-AE19-8D8AEF8CA678}" dt="2025-06-23T04:48:28.565" v="36" actId="20577"/>
        <pc:sldMkLst>
          <pc:docMk/>
          <pc:sldMk cId="1232372448" sldId="575"/>
        </pc:sldMkLst>
        <pc:spChg chg="mod">
          <ac:chgData name="Naimish Vadodariya" userId="d2e325c0593a319e" providerId="LiveId" clId="{7C63E82C-E927-4EDC-AE19-8D8AEF8CA678}" dt="2025-06-23T04:48:28.565" v="36" actId="20577"/>
          <ac:spMkLst>
            <pc:docMk/>
            <pc:sldMk cId="1232372448" sldId="575"/>
            <ac:spMk id="9" creationId="{BDA2F9A4-6988-4274-8384-12496EC9D59D}"/>
          </ac:spMkLst>
        </pc:spChg>
      </pc:sldChg>
      <pc:sldChg chg="modSp mod">
        <pc:chgData name="Naimish Vadodariya" userId="d2e325c0593a319e" providerId="LiveId" clId="{7C63E82C-E927-4EDC-AE19-8D8AEF8CA678}" dt="2025-06-23T04:48:21.153" v="24" actId="20577"/>
        <pc:sldMkLst>
          <pc:docMk/>
          <pc:sldMk cId="2706188795" sldId="576"/>
        </pc:sldMkLst>
        <pc:spChg chg="mod">
          <ac:chgData name="Naimish Vadodariya" userId="d2e325c0593a319e" providerId="LiveId" clId="{7C63E82C-E927-4EDC-AE19-8D8AEF8CA678}" dt="2025-06-23T04:48:03.047" v="13" actId="20577"/>
          <ac:spMkLst>
            <pc:docMk/>
            <pc:sldMk cId="2706188795" sldId="576"/>
            <ac:spMk id="4" creationId="{00000000-0000-0000-0000-000000000000}"/>
          </ac:spMkLst>
        </pc:spChg>
        <pc:spChg chg="mod">
          <ac:chgData name="Naimish Vadodariya" userId="d2e325c0593a319e" providerId="LiveId" clId="{7C63E82C-E927-4EDC-AE19-8D8AEF8CA678}" dt="2025-06-23T04:48:21.153" v="24" actId="20577"/>
          <ac:spMkLst>
            <pc:docMk/>
            <pc:sldMk cId="2706188795" sldId="576"/>
            <ac:spMk id="5" creationId="{00000000-0000-0000-0000-000000000000}"/>
          </ac:spMkLst>
        </pc:spChg>
      </pc:sldChg>
      <pc:sldChg chg="addSp modSp mod modAnim">
        <pc:chgData name="Naimish Vadodariya" userId="d2e325c0593a319e" providerId="LiveId" clId="{7C63E82C-E927-4EDC-AE19-8D8AEF8CA678}" dt="2025-06-23T05:09:30.734" v="149"/>
        <pc:sldMkLst>
          <pc:docMk/>
          <pc:sldMk cId="1759632969" sldId="577"/>
        </pc:sldMkLst>
        <pc:spChg chg="mod">
          <ac:chgData name="Naimish Vadodariya" userId="d2e325c0593a319e" providerId="LiveId" clId="{7C63E82C-E927-4EDC-AE19-8D8AEF8CA678}" dt="2025-06-23T05:09:30.734" v="149"/>
          <ac:spMkLst>
            <pc:docMk/>
            <pc:sldMk cId="1759632969" sldId="577"/>
            <ac:spMk id="2" creationId="{00000000-0000-0000-0000-000000000000}"/>
          </ac:spMkLst>
        </pc:spChg>
        <pc:spChg chg="mod">
          <ac:chgData name="Naimish Vadodariya" userId="d2e325c0593a319e" providerId="LiveId" clId="{7C63E82C-E927-4EDC-AE19-8D8AEF8CA678}" dt="2025-06-23T04:49:17.756" v="63" actId="20577"/>
          <ac:spMkLst>
            <pc:docMk/>
            <pc:sldMk cId="1759632969" sldId="577"/>
            <ac:spMk id="3" creationId="{00000000-0000-0000-0000-000000000000}"/>
          </ac:spMkLst>
        </pc:spChg>
      </pc:sldChg>
      <pc:sldChg chg="modSp add mod">
        <pc:chgData name="Naimish Vadodariya" userId="d2e325c0593a319e" providerId="LiveId" clId="{7C63E82C-E927-4EDC-AE19-8D8AEF8CA678}" dt="2025-06-23T04:48:14.397" v="23" actId="20577"/>
        <pc:sldMkLst>
          <pc:docMk/>
          <pc:sldMk cId="706549988" sldId="631"/>
        </pc:sldMkLst>
        <pc:spChg chg="mod">
          <ac:chgData name="Naimish Vadodariya" userId="d2e325c0593a319e" providerId="LiveId" clId="{7C63E82C-E927-4EDC-AE19-8D8AEF8CA678}" dt="2025-06-23T04:48:14.397" v="23" actId="20577"/>
          <ac:spMkLst>
            <pc:docMk/>
            <pc:sldMk cId="706549988" sldId="631"/>
            <ac:spMk id="4" creationId="{302D6396-2F37-AE1A-5C0E-DE5ADE9F411E}"/>
          </ac:spMkLst>
        </pc:spChg>
      </pc:sldChg>
      <pc:sldChg chg="add">
        <pc:chgData name="Naimish Vadodariya" userId="d2e325c0593a319e" providerId="LiveId" clId="{7C63E82C-E927-4EDC-AE19-8D8AEF8CA678}" dt="2025-06-23T04:48:34.731" v="37"/>
        <pc:sldMkLst>
          <pc:docMk/>
          <pc:sldMk cId="3229348007" sldId="632"/>
        </pc:sldMkLst>
      </pc:sldChg>
      <pc:sldChg chg="addSp modSp add">
        <pc:chgData name="Naimish Vadodariya" userId="d2e325c0593a319e" providerId="LiveId" clId="{7C63E82C-E927-4EDC-AE19-8D8AEF8CA678}" dt="2025-06-23T04:49:03.721" v="40"/>
        <pc:sldMkLst>
          <pc:docMk/>
          <pc:sldMk cId="398078945" sldId="633"/>
        </pc:sldMkLst>
        <pc:spChg chg="mod">
          <ac:chgData name="Naimish Vadodariya" userId="d2e325c0593a319e" providerId="LiveId" clId="{7C63E82C-E927-4EDC-AE19-8D8AEF8CA678}" dt="2025-06-23T04:49:03.721" v="40"/>
          <ac:spMkLst>
            <pc:docMk/>
            <pc:sldMk cId="398078945" sldId="633"/>
            <ac:spMk id="9" creationId="{F3394A93-A575-56B8-C04D-6FE7AD31B6F6}"/>
          </ac:spMkLst>
        </pc:spChg>
      </pc:sldChg>
      <pc:sldChg chg="addSp delSp modSp new mod modAnim">
        <pc:chgData name="Naimish Vadodariya" userId="d2e325c0593a319e" providerId="LiveId" clId="{7C63E82C-E927-4EDC-AE19-8D8AEF8CA678}" dt="2025-06-23T05:42:58.191" v="408"/>
        <pc:sldMkLst>
          <pc:docMk/>
          <pc:sldMk cId="3425691407" sldId="634"/>
        </pc:sldMkLst>
        <pc:spChg chg="mod">
          <ac:chgData name="Naimish Vadodariya" userId="d2e325c0593a319e" providerId="LiveId" clId="{7C63E82C-E927-4EDC-AE19-8D8AEF8CA678}" dt="2025-06-23T05:40:52.326" v="390"/>
          <ac:spMkLst>
            <pc:docMk/>
            <pc:sldMk cId="3425691407" sldId="634"/>
            <ac:spMk id="3" creationId="{50D01C13-2739-12A0-3152-77A5D17E24A1}"/>
          </ac:spMkLst>
        </pc:spChg>
        <pc:spChg chg="add mod">
          <ac:chgData name="Naimish Vadodariya" userId="d2e325c0593a319e" providerId="LiveId" clId="{7C63E82C-E927-4EDC-AE19-8D8AEF8CA678}" dt="2025-06-23T05:33:15.646" v="297" actId="13926"/>
          <ac:spMkLst>
            <pc:docMk/>
            <pc:sldMk cId="3425691407" sldId="634"/>
            <ac:spMk id="4" creationId="{47723C99-14B3-D3F5-E100-A51915730E30}"/>
          </ac:spMkLst>
        </pc:spChg>
        <pc:spChg chg="add mod">
          <ac:chgData name="Naimish Vadodariya" userId="d2e325c0593a319e" providerId="LiveId" clId="{7C63E82C-E927-4EDC-AE19-8D8AEF8CA678}" dt="2025-06-23T05:27:28.348" v="277" actId="20577"/>
          <ac:spMkLst>
            <pc:docMk/>
            <pc:sldMk cId="3425691407" sldId="634"/>
            <ac:spMk id="5" creationId="{EE626A5F-C470-85EF-2F55-7D20308326E7}"/>
          </ac:spMkLst>
        </pc:spChg>
        <pc:spChg chg="add mod">
          <ac:chgData name="Naimish Vadodariya" userId="d2e325c0593a319e" providerId="LiveId" clId="{7C63E82C-E927-4EDC-AE19-8D8AEF8CA678}" dt="2025-06-23T05:27:20.932" v="257" actId="14100"/>
          <ac:spMkLst>
            <pc:docMk/>
            <pc:sldMk cId="3425691407" sldId="634"/>
            <ac:spMk id="6" creationId="{8209CA10-8408-69BC-5075-1A8A5D2A98DC}"/>
          </ac:spMkLst>
        </pc:spChg>
        <pc:spChg chg="add mod">
          <ac:chgData name="Naimish Vadodariya" userId="d2e325c0593a319e" providerId="LiveId" clId="{7C63E82C-E927-4EDC-AE19-8D8AEF8CA678}" dt="2025-06-23T05:41:54.106" v="400" actId="207"/>
          <ac:spMkLst>
            <pc:docMk/>
            <pc:sldMk cId="3425691407" sldId="634"/>
            <ac:spMk id="7" creationId="{14A25946-CD69-F614-FBEC-C950FD778470}"/>
          </ac:spMkLst>
        </pc:spChg>
        <pc:spChg chg="add mod">
          <ac:chgData name="Naimish Vadodariya" userId="d2e325c0593a319e" providerId="LiveId" clId="{7C63E82C-E927-4EDC-AE19-8D8AEF8CA678}" dt="2025-06-23T05:35:18.075" v="335" actId="20577"/>
          <ac:spMkLst>
            <pc:docMk/>
            <pc:sldMk cId="3425691407" sldId="634"/>
            <ac:spMk id="8" creationId="{BEA0CA1C-15C5-937D-E20D-56477F2FE28E}"/>
          </ac:spMkLst>
        </pc:spChg>
        <pc:spChg chg="add mod">
          <ac:chgData name="Naimish Vadodariya" userId="d2e325c0593a319e" providerId="LiveId" clId="{7C63E82C-E927-4EDC-AE19-8D8AEF8CA678}" dt="2025-06-23T05:35:43.229" v="346" actId="14100"/>
          <ac:spMkLst>
            <pc:docMk/>
            <pc:sldMk cId="3425691407" sldId="634"/>
            <ac:spMk id="9" creationId="{4449BD77-6882-E7FA-8C84-D4C6F9DFD94D}"/>
          </ac:spMkLst>
        </pc:spChg>
        <pc:spChg chg="add mod">
          <ac:chgData name="Naimish Vadodariya" userId="d2e325c0593a319e" providerId="LiveId" clId="{7C63E82C-E927-4EDC-AE19-8D8AEF8CA678}" dt="2025-06-23T05:36:33.526" v="364" actId="120"/>
          <ac:spMkLst>
            <pc:docMk/>
            <pc:sldMk cId="3425691407" sldId="634"/>
            <ac:spMk id="11" creationId="{939CC56C-0C60-5A18-0596-48EE8CAD343D}"/>
          </ac:spMkLst>
        </pc:spChg>
        <pc:spChg chg="add mod">
          <ac:chgData name="Naimish Vadodariya" userId="d2e325c0593a319e" providerId="LiveId" clId="{7C63E82C-E927-4EDC-AE19-8D8AEF8CA678}" dt="2025-06-23T05:42:43.019" v="405" actId="14100"/>
          <ac:spMkLst>
            <pc:docMk/>
            <pc:sldMk cId="3425691407" sldId="634"/>
            <ac:spMk id="14" creationId="{38F6A058-9707-B673-E489-1B1AD4A1C5E0}"/>
          </ac:spMkLst>
        </pc:spChg>
        <pc:picChg chg="add mod ord modCrop">
          <ac:chgData name="Naimish Vadodariya" userId="d2e325c0593a319e" providerId="LiveId" clId="{7C63E82C-E927-4EDC-AE19-8D8AEF8CA678}" dt="2025-06-23T05:37:55.900" v="370" actId="1076"/>
          <ac:picMkLst>
            <pc:docMk/>
            <pc:sldMk cId="3425691407" sldId="634"/>
            <ac:picMk id="13" creationId="{F27D8799-25B2-A4E2-A810-44D05925ADA6}"/>
          </ac:picMkLst>
        </pc:picChg>
      </pc:sldChg>
      <pc:sldChg chg="addSp delSp modSp new mod delAnim modAnim">
        <pc:chgData name="Naimish Vadodariya" userId="d2e325c0593a319e" providerId="LiveId" clId="{7C63E82C-E927-4EDC-AE19-8D8AEF8CA678}" dt="2025-06-23T05:43:44.147" v="428" actId="20577"/>
        <pc:sldMkLst>
          <pc:docMk/>
          <pc:sldMk cId="2925484048" sldId="635"/>
        </pc:sldMkLst>
        <pc:spChg chg="mod">
          <ac:chgData name="Naimish Vadodariya" userId="d2e325c0593a319e" providerId="LiveId" clId="{7C63E82C-E927-4EDC-AE19-8D8AEF8CA678}" dt="2025-06-23T05:15:42.805" v="218" actId="14100"/>
          <ac:spMkLst>
            <pc:docMk/>
            <pc:sldMk cId="2925484048" sldId="635"/>
            <ac:spMk id="2" creationId="{46B0816F-AC72-5A61-E7DC-3D1A7A2DF6DE}"/>
          </ac:spMkLst>
        </pc:spChg>
        <pc:spChg chg="mod">
          <ac:chgData name="Naimish Vadodariya" userId="d2e325c0593a319e" providerId="LiveId" clId="{7C63E82C-E927-4EDC-AE19-8D8AEF8CA678}" dt="2025-06-23T05:43:44.147" v="428" actId="20577"/>
          <ac:spMkLst>
            <pc:docMk/>
            <pc:sldMk cId="2925484048" sldId="635"/>
            <ac:spMk id="3" creationId="{BC802CFD-6CBC-F735-DE62-39D590A39AC5}"/>
          </ac:spMkLst>
        </pc:spChg>
        <pc:spChg chg="add mod">
          <ac:chgData name="Naimish Vadodariya" userId="d2e325c0593a319e" providerId="LiveId" clId="{7C63E82C-E927-4EDC-AE19-8D8AEF8CA678}" dt="2025-06-23T05:15:09.830" v="212" actId="14100"/>
          <ac:spMkLst>
            <pc:docMk/>
            <pc:sldMk cId="2925484048" sldId="635"/>
            <ac:spMk id="6" creationId="{194A219B-8C63-DD58-77F1-50025E350F8F}"/>
          </ac:spMkLst>
        </pc:spChg>
        <pc:picChg chg="add mod modCrop">
          <ac:chgData name="Naimish Vadodariya" userId="d2e325c0593a319e" providerId="LiveId" clId="{7C63E82C-E927-4EDC-AE19-8D8AEF8CA678}" dt="2025-06-23T05:15:18.798" v="214" actId="14100"/>
          <ac:picMkLst>
            <pc:docMk/>
            <pc:sldMk cId="2925484048" sldId="635"/>
            <ac:picMk id="8" creationId="{4600D95C-B41A-3DE0-DC92-52C9465EA369}"/>
          </ac:picMkLst>
        </pc:picChg>
        <pc:picChg chg="add mod">
          <ac:chgData name="Naimish Vadodariya" userId="d2e325c0593a319e" providerId="LiveId" clId="{7C63E82C-E927-4EDC-AE19-8D8AEF8CA678}" dt="2025-06-23T05:17:21.047" v="227" actId="14100"/>
          <ac:picMkLst>
            <pc:docMk/>
            <pc:sldMk cId="2925484048" sldId="635"/>
            <ac:picMk id="12" creationId="{248B8BD0-7B5C-6012-FCA4-4F9C0B9E155B}"/>
          </ac:picMkLst>
        </pc:picChg>
      </pc:sldChg>
      <pc:sldChg chg="addSp modSp add mod ord modAnim">
        <pc:chgData name="Naimish Vadodariya" userId="d2e325c0593a319e" providerId="LiveId" clId="{7C63E82C-E927-4EDC-AE19-8D8AEF8CA678}" dt="2025-06-23T05:42:53.639" v="407"/>
        <pc:sldMkLst>
          <pc:docMk/>
          <pc:sldMk cId="571167668" sldId="636"/>
        </pc:sldMkLst>
        <pc:spChg chg="add mod">
          <ac:chgData name="Naimish Vadodariya" userId="d2e325c0593a319e" providerId="LiveId" clId="{7C63E82C-E927-4EDC-AE19-8D8AEF8CA678}" dt="2025-06-23T05:42:49.789" v="406"/>
          <ac:spMkLst>
            <pc:docMk/>
            <pc:sldMk cId="571167668" sldId="636"/>
            <ac:spMk id="2" creationId="{8C97DCEC-C914-DB5D-7D05-F9E07AFEAF80}"/>
          </ac:spMkLst>
        </pc:spChg>
        <pc:spChg chg="mod">
          <ac:chgData name="Naimish Vadodariya" userId="d2e325c0593a319e" providerId="LiveId" clId="{7C63E82C-E927-4EDC-AE19-8D8AEF8CA678}" dt="2025-06-23T05:40:32.081" v="375" actId="20577"/>
          <ac:spMkLst>
            <pc:docMk/>
            <pc:sldMk cId="571167668" sldId="636"/>
            <ac:spMk id="3" creationId="{72B1D5B5-3045-0620-E7C4-1584DC2B158E}"/>
          </ac:spMkLst>
        </pc:spChg>
      </pc:sldChg>
      <pc:sldChg chg="addSp delSp modSp new mod">
        <pc:chgData name="Naimish Vadodariya" userId="d2e325c0593a319e" providerId="LiveId" clId="{7C63E82C-E927-4EDC-AE19-8D8AEF8CA678}" dt="2025-06-23T05:47:55.975" v="451" actId="113"/>
        <pc:sldMkLst>
          <pc:docMk/>
          <pc:sldMk cId="1019463370" sldId="637"/>
        </pc:sldMkLst>
        <pc:spChg chg="mod">
          <ac:chgData name="Naimish Vadodariya" userId="d2e325c0593a319e" providerId="LiveId" clId="{7C63E82C-E927-4EDC-AE19-8D8AEF8CA678}" dt="2025-06-23T05:46:26.568" v="441" actId="20577"/>
          <ac:spMkLst>
            <pc:docMk/>
            <pc:sldMk cId="1019463370" sldId="637"/>
            <ac:spMk id="3" creationId="{8D9AC088-328B-0C8E-E21E-A03EBCB84595}"/>
          </ac:spMkLst>
        </pc:spChg>
        <pc:graphicFrameChg chg="add mod modGraphic">
          <ac:chgData name="Naimish Vadodariya" userId="d2e325c0593a319e" providerId="LiveId" clId="{7C63E82C-E927-4EDC-AE19-8D8AEF8CA678}" dt="2025-06-23T05:47:55.975" v="451" actId="113"/>
          <ac:graphicFrameMkLst>
            <pc:docMk/>
            <pc:sldMk cId="1019463370" sldId="637"/>
            <ac:graphicFrameMk id="5" creationId="{EE440E9A-9F92-E9FC-EA34-171683A8F00C}"/>
          </ac:graphicFrameMkLst>
        </pc:graphicFrameChg>
      </pc:sldChg>
      <pc:sldChg chg="addSp delSp modSp add del mod delAnim modAnim">
        <pc:chgData name="Naimish Vadodariya" userId="d2e325c0593a319e" providerId="LiveId" clId="{7C63E82C-E927-4EDC-AE19-8D8AEF8CA678}" dt="2025-06-23T05:50:28.679" v="474" actId="2696"/>
        <pc:sldMkLst>
          <pc:docMk/>
          <pc:sldMk cId="4153532005" sldId="638"/>
        </pc:sldMkLst>
      </pc:sldChg>
      <pc:sldMasterChg chg="modSldLayout">
        <pc:chgData name="Naimish Vadodariya" userId="d2e325c0593a319e" providerId="LiveId" clId="{7C63E82C-E927-4EDC-AE19-8D8AEF8CA678}" dt="2025-06-23T05:11:26.879" v="165" actId="14100"/>
        <pc:sldMasterMkLst>
          <pc:docMk/>
          <pc:sldMasterMk cId="791954662" sldId="2147483648"/>
        </pc:sldMasterMkLst>
        <pc:sldLayoutChg chg="modSp mod">
          <pc:chgData name="Naimish Vadodariya" userId="d2e325c0593a319e" providerId="LiveId" clId="{7C63E82C-E927-4EDC-AE19-8D8AEF8CA678}" dt="2025-06-23T05:11:26.879" v="165" actId="14100"/>
          <pc:sldLayoutMkLst>
            <pc:docMk/>
            <pc:sldMasterMk cId="791954662" sldId="2147483648"/>
            <pc:sldLayoutMk cId="4202761244" sldId="2147483687"/>
          </pc:sldLayoutMkLst>
          <pc:spChg chg="mod">
            <ac:chgData name="Naimish Vadodariya" userId="d2e325c0593a319e" providerId="LiveId" clId="{7C63E82C-E927-4EDC-AE19-8D8AEF8CA678}" dt="2025-06-23T05:11:26.879" v="165" actId="14100"/>
            <ac:spMkLst>
              <pc:docMk/>
              <pc:sldMasterMk cId="791954662" sldId="2147483648"/>
              <pc:sldLayoutMk cId="4202761244" sldId="2147483687"/>
              <ac:spMk id="22" creationId="{BF2BE79E-EA17-4AB9-8CB5-714A52A6B2F5}"/>
            </ac:spMkLst>
          </pc:spChg>
        </pc:sldLayoutChg>
      </pc:sldMasterChg>
    </pc:docChg>
  </pc:docChgLst>
  <pc:docChgLst>
    <pc:chgData name="Naimish Vadodariya" userId="d2e325c0593a319e" providerId="LiveId" clId="{4D4226A8-18BE-4A11-9342-FEE3AA01D89C}"/>
    <pc:docChg chg="delSld modSld">
      <pc:chgData name="Naimish Vadodariya" userId="d2e325c0593a319e" providerId="LiveId" clId="{4D4226A8-18BE-4A11-9342-FEE3AA01D89C}" dt="2024-12-25T10:33:12.172" v="2" actId="729"/>
      <pc:docMkLst>
        <pc:docMk/>
      </pc:docMkLst>
      <pc:sldChg chg="del">
        <pc:chgData name="Naimish Vadodariya" userId="d2e325c0593a319e" providerId="LiveId" clId="{4D4226A8-18BE-4A11-9342-FEE3AA01D89C}" dt="2024-12-23T05:42:38.144" v="0" actId="2696"/>
        <pc:sldMkLst>
          <pc:docMk/>
          <pc:sldMk cId="1593095195" sldId="620"/>
        </pc:sldMkLst>
      </pc:sldChg>
      <pc:sldChg chg="del">
        <pc:chgData name="Naimish Vadodariya" userId="d2e325c0593a319e" providerId="LiveId" clId="{4D4226A8-18BE-4A11-9342-FEE3AA01D89C}" dt="2024-12-23T05:42:38.144" v="0" actId="2696"/>
        <pc:sldMkLst>
          <pc:docMk/>
          <pc:sldMk cId="1911360136" sldId="621"/>
        </pc:sldMkLst>
      </pc:sldChg>
      <pc:sldChg chg="del">
        <pc:chgData name="Naimish Vadodariya" userId="d2e325c0593a319e" providerId="LiveId" clId="{4D4226A8-18BE-4A11-9342-FEE3AA01D89C}" dt="2024-12-23T05:42:38.144" v="0" actId="2696"/>
        <pc:sldMkLst>
          <pc:docMk/>
          <pc:sldMk cId="624779389" sldId="622"/>
        </pc:sldMkLst>
      </pc:sldChg>
      <pc:sldChg chg="mod modShow">
        <pc:chgData name="Naimish Vadodariya" userId="d2e325c0593a319e" providerId="LiveId" clId="{4D4226A8-18BE-4A11-9342-FEE3AA01D89C}" dt="2024-12-25T10:33:12.172" v="2" actId="729"/>
        <pc:sldMkLst>
          <pc:docMk/>
          <pc:sldMk cId="3318284639" sldId="626"/>
        </pc:sldMkLst>
      </pc:sldChg>
    </pc:docChg>
  </pc:docChgLst>
  <pc:docChgLst>
    <pc:chgData name="Naimish Vadodariya" userId="d2e325c0593a319e" providerId="LiveId" clId="{0F675715-7BC5-419F-A852-9E939943AA9D}"/>
    <pc:docChg chg="undo custSel addSld delSld modSld">
      <pc:chgData name="Naimish Vadodariya" userId="d2e325c0593a319e" providerId="LiveId" clId="{0F675715-7BC5-419F-A852-9E939943AA9D}" dt="2023-01-23T02:54:32.340" v="519" actId="20577"/>
      <pc:docMkLst>
        <pc:docMk/>
      </pc:docMkLst>
      <pc:sldChg chg="modSp modAnim">
        <pc:chgData name="Naimish Vadodariya" userId="d2e325c0593a319e" providerId="LiveId" clId="{0F675715-7BC5-419F-A852-9E939943AA9D}" dt="2023-01-17T04:52:53.679" v="400" actId="20577"/>
        <pc:sldMkLst>
          <pc:docMk/>
          <pc:sldMk cId="4216305698" sldId="292"/>
        </pc:sldMkLst>
      </pc:sldChg>
      <pc:sldChg chg="modSp modAnim">
        <pc:chgData name="Naimish Vadodariya" userId="d2e325c0593a319e" providerId="LiveId" clId="{0F675715-7BC5-419F-A852-9E939943AA9D}" dt="2023-01-17T04:30:52.612" v="166" actId="20577"/>
        <pc:sldMkLst>
          <pc:docMk/>
          <pc:sldMk cId="4119392232" sldId="311"/>
        </pc:sldMkLst>
      </pc:sldChg>
      <pc:sldChg chg="modSp mod modAnim">
        <pc:chgData name="Naimish Vadodariya" userId="d2e325c0593a319e" providerId="LiveId" clId="{0F675715-7BC5-419F-A852-9E939943AA9D}" dt="2023-01-17T04:32:38.728" v="180" actId="1076"/>
        <pc:sldMkLst>
          <pc:docMk/>
          <pc:sldMk cId="2063409194" sldId="312"/>
        </pc:sldMkLst>
      </pc:sldChg>
      <pc:sldChg chg="modSp mod">
        <pc:chgData name="Naimish Vadodariya" userId="d2e325c0593a319e" providerId="LiveId" clId="{0F675715-7BC5-419F-A852-9E939943AA9D}" dt="2023-01-17T04:33:18.217" v="219" actId="20577"/>
        <pc:sldMkLst>
          <pc:docMk/>
          <pc:sldMk cId="2733917320" sldId="314"/>
        </pc:sldMkLst>
      </pc:sldChg>
      <pc:sldChg chg="modSp mod">
        <pc:chgData name="Naimish Vadodariya" userId="d2e325c0593a319e" providerId="LiveId" clId="{0F675715-7BC5-419F-A852-9E939943AA9D}" dt="2023-01-17T04:33:39.587" v="221" actId="14100"/>
        <pc:sldMkLst>
          <pc:docMk/>
          <pc:sldMk cId="1662067996" sldId="318"/>
        </pc:sldMkLst>
      </pc:sldChg>
      <pc:sldChg chg="modSp del mod">
        <pc:chgData name="Naimish Vadodariya" userId="d2e325c0593a319e" providerId="LiveId" clId="{0F675715-7BC5-419F-A852-9E939943AA9D}" dt="2023-01-17T04:34:35.672" v="226" actId="2696"/>
        <pc:sldMkLst>
          <pc:docMk/>
          <pc:sldMk cId="2610991813" sldId="324"/>
        </pc:sldMkLst>
      </pc:sldChg>
      <pc:sldChg chg="modSp modAnim">
        <pc:chgData name="Naimish Vadodariya" userId="d2e325c0593a319e" providerId="LiveId" clId="{0F675715-7BC5-419F-A852-9E939943AA9D}" dt="2023-01-17T04:34:30.058" v="225" actId="404"/>
        <pc:sldMkLst>
          <pc:docMk/>
          <pc:sldMk cId="2466307806" sldId="325"/>
        </pc:sldMkLst>
      </pc:sldChg>
      <pc:sldChg chg="modSp">
        <pc:chgData name="Naimish Vadodariya" userId="d2e325c0593a319e" providerId="LiveId" clId="{0F675715-7BC5-419F-A852-9E939943AA9D}" dt="2023-01-16T02:40:33.553" v="93" actId="113"/>
        <pc:sldMkLst>
          <pc:docMk/>
          <pc:sldMk cId="2121103112" sldId="326"/>
        </pc:sldMkLst>
      </pc:sldChg>
      <pc:sldChg chg="modSp">
        <pc:chgData name="Naimish Vadodariya" userId="d2e325c0593a319e" providerId="LiveId" clId="{0F675715-7BC5-419F-A852-9E939943AA9D}" dt="2023-01-16T02:40:37.715" v="94" actId="113"/>
        <pc:sldMkLst>
          <pc:docMk/>
          <pc:sldMk cId="1453523635" sldId="327"/>
        </pc:sldMkLst>
      </pc:sldChg>
      <pc:sldChg chg="modSp">
        <pc:chgData name="Naimish Vadodariya" userId="d2e325c0593a319e" providerId="LiveId" clId="{0F675715-7BC5-419F-A852-9E939943AA9D}" dt="2023-01-16T02:40:49.528" v="96" actId="113"/>
        <pc:sldMkLst>
          <pc:docMk/>
          <pc:sldMk cId="3425114414" sldId="328"/>
        </pc:sldMkLst>
      </pc:sldChg>
      <pc:sldChg chg="modSp mod">
        <pc:chgData name="Naimish Vadodariya" userId="d2e325c0593a319e" providerId="LiveId" clId="{0F675715-7BC5-419F-A852-9E939943AA9D}" dt="2023-01-16T02:40:58.555" v="98" actId="113"/>
        <pc:sldMkLst>
          <pc:docMk/>
          <pc:sldMk cId="4255081710" sldId="329"/>
        </pc:sldMkLst>
      </pc:sldChg>
      <pc:sldChg chg="del mod modShow">
        <pc:chgData name="Naimish Vadodariya" userId="d2e325c0593a319e" providerId="LiveId" clId="{0F675715-7BC5-419F-A852-9E939943AA9D}" dt="2023-01-23T02:53:29.424" v="403" actId="2696"/>
        <pc:sldMkLst>
          <pc:docMk/>
          <pc:sldMk cId="511572957" sldId="343"/>
        </pc:sldMkLst>
      </pc:sldChg>
      <pc:sldChg chg="del mod modShow">
        <pc:chgData name="Naimish Vadodariya" userId="d2e325c0593a319e" providerId="LiveId" clId="{0F675715-7BC5-419F-A852-9E939943AA9D}" dt="2023-01-23T02:53:29.424" v="403" actId="2696"/>
        <pc:sldMkLst>
          <pc:docMk/>
          <pc:sldMk cId="1940672176" sldId="344"/>
        </pc:sldMkLst>
      </pc:sldChg>
      <pc:sldChg chg="modSp modAnim">
        <pc:chgData name="Naimish Vadodariya" userId="d2e325c0593a319e" providerId="LiveId" clId="{0F675715-7BC5-419F-A852-9E939943AA9D}" dt="2023-01-23T02:54:32.340" v="519" actId="20577"/>
        <pc:sldMkLst>
          <pc:docMk/>
          <pc:sldMk cId="1610840491" sldId="346"/>
        </pc:sldMkLst>
      </pc:sldChg>
      <pc:sldChg chg="delSp modSp del mod delAnim modAnim modShow">
        <pc:chgData name="Naimish Vadodariya" userId="d2e325c0593a319e" providerId="LiveId" clId="{0F675715-7BC5-419F-A852-9E939943AA9D}" dt="2023-01-23T02:53:05.856" v="402" actId="2696"/>
        <pc:sldMkLst>
          <pc:docMk/>
          <pc:sldMk cId="2415440773" sldId="347"/>
        </pc:sldMkLst>
      </pc:sldChg>
      <pc:sldChg chg="del">
        <pc:chgData name="Naimish Vadodariya" userId="d2e325c0593a319e" providerId="LiveId" clId="{0F675715-7BC5-419F-A852-9E939943AA9D}" dt="2023-01-16T02:34:31.958" v="17" actId="2696"/>
        <pc:sldMkLst>
          <pc:docMk/>
          <pc:sldMk cId="2295940979" sldId="348"/>
        </pc:sldMkLst>
      </pc:sldChg>
      <pc:sldChg chg="modSp">
        <pc:chgData name="Naimish Vadodariya" userId="d2e325c0593a319e" providerId="LiveId" clId="{0F675715-7BC5-419F-A852-9E939943AA9D}" dt="2023-01-17T04:30:08.628" v="121" actId="113"/>
        <pc:sldMkLst>
          <pc:docMk/>
          <pc:sldMk cId="3810644495" sldId="349"/>
        </pc:sldMkLst>
      </pc:sldChg>
      <pc:sldChg chg="modSp mod modAnim">
        <pc:chgData name="Naimish Vadodariya" userId="d2e325c0593a319e" providerId="LiveId" clId="{0F675715-7BC5-419F-A852-9E939943AA9D}" dt="2023-01-17T04:27:35.666" v="107"/>
        <pc:sldMkLst>
          <pc:docMk/>
          <pc:sldMk cId="3529687291" sldId="350"/>
        </pc:sldMkLst>
      </pc:sldChg>
      <pc:sldChg chg="modSp mod">
        <pc:chgData name="Naimish Vadodariya" userId="d2e325c0593a319e" providerId="LiveId" clId="{0F675715-7BC5-419F-A852-9E939943AA9D}" dt="2023-01-17T04:28:52.305" v="117" actId="207"/>
        <pc:sldMkLst>
          <pc:docMk/>
          <pc:sldMk cId="1545860125" sldId="351"/>
        </pc:sldMkLst>
      </pc:sldChg>
      <pc:sldChg chg="add mod modShow">
        <pc:chgData name="Naimish Vadodariya" userId="d2e325c0593a319e" providerId="LiveId" clId="{0F675715-7BC5-419F-A852-9E939943AA9D}" dt="2023-01-23T02:53:01.990" v="401" actId="729"/>
        <pc:sldMkLst>
          <pc:docMk/>
          <pc:sldMk cId="3675047237" sldId="352"/>
        </pc:sldMkLst>
      </pc:sldChg>
    </pc:docChg>
  </pc:docChgLst>
  <pc:docChgLst>
    <pc:chgData name="Naimish Vadodariya" userId="d2e325c0593a319e" providerId="LiveId" clId="{C821B5A2-C084-4B60-A302-58D7CC6D3A2E}"/>
    <pc:docChg chg="undo custSel addSld modSld">
      <pc:chgData name="Naimish Vadodariya" userId="d2e325c0593a319e" providerId="LiveId" clId="{C821B5A2-C084-4B60-A302-58D7CC6D3A2E}" dt="2025-07-08T17:23:19.598" v="198" actId="20577"/>
      <pc:docMkLst>
        <pc:docMk/>
      </pc:docMkLst>
      <pc:sldChg chg="modSp">
        <pc:chgData name="Naimish Vadodariya" userId="d2e325c0593a319e" providerId="LiveId" clId="{C821B5A2-C084-4B60-A302-58D7CC6D3A2E}" dt="2025-07-08T17:23:19.598" v="198" actId="20577"/>
        <pc:sldMkLst>
          <pc:docMk/>
          <pc:sldMk cId="3229348007" sldId="632"/>
        </pc:sldMkLst>
        <pc:spChg chg="mod">
          <ac:chgData name="Naimish Vadodariya" userId="d2e325c0593a319e" providerId="LiveId" clId="{C821B5A2-C084-4B60-A302-58D7CC6D3A2E}" dt="2025-07-08T17:23:19.598" v="198" actId="20577"/>
          <ac:spMkLst>
            <pc:docMk/>
            <pc:sldMk cId="3229348007" sldId="632"/>
            <ac:spMk id="9" creationId="{28DBBF06-7FB5-7753-C6D6-776F29B1C563}"/>
          </ac:spMkLst>
        </pc:spChg>
      </pc:sldChg>
      <pc:sldChg chg="modSp">
        <pc:chgData name="Naimish Vadodariya" userId="d2e325c0593a319e" providerId="LiveId" clId="{C821B5A2-C084-4B60-A302-58D7CC6D3A2E}" dt="2025-07-08T17:14:34.427" v="127" actId="20577"/>
        <pc:sldMkLst>
          <pc:docMk/>
          <pc:sldMk cId="398078945" sldId="633"/>
        </pc:sldMkLst>
        <pc:spChg chg="mod">
          <ac:chgData name="Naimish Vadodariya" userId="d2e325c0593a319e" providerId="LiveId" clId="{C821B5A2-C084-4B60-A302-58D7CC6D3A2E}" dt="2025-07-08T17:14:34.427" v="127" actId="20577"/>
          <ac:spMkLst>
            <pc:docMk/>
            <pc:sldMk cId="398078945" sldId="633"/>
            <ac:spMk id="9" creationId="{F3394A93-A575-56B8-C04D-6FE7AD31B6F6}"/>
          </ac:spMkLst>
        </pc:spChg>
      </pc:sldChg>
      <pc:sldChg chg="addSp delSp modSp mod">
        <pc:chgData name="Naimish Vadodariya" userId="d2e325c0593a319e" providerId="LiveId" clId="{C821B5A2-C084-4B60-A302-58D7CC6D3A2E}" dt="2025-07-08T16:56:02.253" v="3" actId="22"/>
        <pc:sldMkLst>
          <pc:docMk/>
          <pc:sldMk cId="525304859" sldId="781"/>
        </pc:sldMkLst>
        <pc:spChg chg="mod">
          <ac:chgData name="Naimish Vadodariya" userId="d2e325c0593a319e" providerId="LiveId" clId="{C821B5A2-C084-4B60-A302-58D7CC6D3A2E}" dt="2025-07-08T16:55:48.359" v="1" actId="20577"/>
          <ac:spMkLst>
            <pc:docMk/>
            <pc:sldMk cId="525304859" sldId="781"/>
            <ac:spMk id="3" creationId="{F97C098F-1BC4-8694-EFEF-4549F4104C95}"/>
          </ac:spMkLst>
        </pc:spChg>
        <pc:spChg chg="add del">
          <ac:chgData name="Naimish Vadodariya" userId="d2e325c0593a319e" providerId="LiveId" clId="{C821B5A2-C084-4B60-A302-58D7CC6D3A2E}" dt="2025-07-08T16:56:02.253" v="3" actId="22"/>
          <ac:spMkLst>
            <pc:docMk/>
            <pc:sldMk cId="525304859" sldId="781"/>
            <ac:spMk id="6" creationId="{02CD54AF-B222-DCA0-593A-6106E0E4F3BB}"/>
          </ac:spMkLst>
        </pc:spChg>
      </pc:sldChg>
      <pc:sldChg chg="modSp add mod">
        <pc:chgData name="Naimish Vadodariya" userId="d2e325c0593a319e" providerId="LiveId" clId="{C821B5A2-C084-4B60-A302-58D7CC6D3A2E}" dt="2025-07-08T17:07:21.823" v="34" actId="20577"/>
        <pc:sldMkLst>
          <pc:docMk/>
          <pc:sldMk cId="694760584" sldId="787"/>
        </pc:sldMkLst>
        <pc:spChg chg="mod">
          <ac:chgData name="Naimish Vadodariya" userId="d2e325c0593a319e" providerId="LiveId" clId="{C821B5A2-C084-4B60-A302-58D7CC6D3A2E}" dt="2025-07-08T17:07:21.823" v="34" actId="20577"/>
          <ac:spMkLst>
            <pc:docMk/>
            <pc:sldMk cId="694760584" sldId="787"/>
            <ac:spMk id="4" creationId="{783D4701-A8C7-47CA-4362-D77728BEA3EA}"/>
          </ac:spMkLst>
        </pc:spChg>
        <pc:spChg chg="mod">
          <ac:chgData name="Naimish Vadodariya" userId="d2e325c0593a319e" providerId="LiveId" clId="{C821B5A2-C084-4B60-A302-58D7CC6D3A2E}" dt="2025-07-08T16:56:12.386" v="7" actId="20577"/>
          <ac:spMkLst>
            <pc:docMk/>
            <pc:sldMk cId="694760584" sldId="787"/>
            <ac:spMk id="5" creationId="{4E2C61D2-EC38-217D-1749-ED90C5F875A7}"/>
          </ac:spMkLst>
        </pc:spChg>
      </pc:sldChg>
      <pc:sldChg chg="addSp delSp modSp add mod delAnim modAnim">
        <pc:chgData name="Naimish Vadodariya" userId="d2e325c0593a319e" providerId="LiveId" clId="{C821B5A2-C084-4B60-A302-58D7CC6D3A2E}" dt="2025-07-08T17:11:31.500" v="124" actId="20577"/>
        <pc:sldMkLst>
          <pc:docMk/>
          <pc:sldMk cId="522328280" sldId="788"/>
        </pc:sldMkLst>
        <pc:spChg chg="mod">
          <ac:chgData name="Naimish Vadodariya" userId="d2e325c0593a319e" providerId="LiveId" clId="{C821B5A2-C084-4B60-A302-58D7CC6D3A2E}" dt="2025-07-08T17:11:31.500" v="124" actId="20577"/>
          <ac:spMkLst>
            <pc:docMk/>
            <pc:sldMk cId="522328280" sldId="788"/>
            <ac:spMk id="2" creationId="{0BAC15D2-4488-C213-58F5-64CC33327118}"/>
          </ac:spMkLst>
        </pc:spChg>
        <pc:spChg chg="mod">
          <ac:chgData name="Naimish Vadodariya" userId="d2e325c0593a319e" providerId="LiveId" clId="{C821B5A2-C084-4B60-A302-58D7CC6D3A2E}" dt="2025-07-08T17:07:39.637" v="61" actId="20577"/>
          <ac:spMkLst>
            <pc:docMk/>
            <pc:sldMk cId="522328280" sldId="788"/>
            <ac:spMk id="3" creationId="{1F97C1C3-1A3E-DFA7-AB69-C7F3BA830BB9}"/>
          </ac:spMkLst>
        </pc:spChg>
        <pc:spChg chg="add">
          <ac:chgData name="Naimish Vadodariya" userId="d2e325c0593a319e" providerId="LiveId" clId="{C821B5A2-C084-4B60-A302-58D7CC6D3A2E}" dt="2025-07-08T17:09:21.919" v="95"/>
          <ac:spMkLst>
            <pc:docMk/>
            <pc:sldMk cId="522328280" sldId="788"/>
            <ac:spMk id="4" creationId="{D00706C1-1145-6C15-0202-44EF5E4DDEA1}"/>
          </ac:spMkLst>
        </pc:spChg>
        <pc:spChg chg="del">
          <ac:chgData name="Naimish Vadodariya" userId="d2e325c0593a319e" providerId="LiveId" clId="{C821B5A2-C084-4B60-A302-58D7CC6D3A2E}" dt="2025-07-08T17:07:43.095" v="62" actId="478"/>
          <ac:spMkLst>
            <pc:docMk/>
            <pc:sldMk cId="522328280" sldId="788"/>
            <ac:spMk id="5" creationId="{AC27A6AE-5FF0-88BD-72EB-9520DF57268B}"/>
          </ac:spMkLst>
        </pc:spChg>
        <pc:spChg chg="add">
          <ac:chgData name="Naimish Vadodariya" userId="d2e325c0593a319e" providerId="LiveId" clId="{C821B5A2-C084-4B60-A302-58D7CC6D3A2E}" dt="2025-07-08T17:11:12.067" v="120"/>
          <ac:spMkLst>
            <pc:docMk/>
            <pc:sldMk cId="522328280" sldId="788"/>
            <ac:spMk id="6" creationId="{B0CD1E11-87E0-1E40-8CFA-F6ED89B3FE5F}"/>
          </ac:spMkLst>
        </pc:spChg>
      </pc:sldChg>
      <pc:sldChg chg="addSp delSp modSp new mod modAnim">
        <pc:chgData name="Naimish Vadodariya" userId="d2e325c0593a319e" providerId="LiveId" clId="{C821B5A2-C084-4B60-A302-58D7CC6D3A2E}" dt="2025-07-08T17:22:56.026" v="184"/>
        <pc:sldMkLst>
          <pc:docMk/>
          <pc:sldMk cId="1862502709" sldId="789"/>
        </pc:sldMkLst>
        <pc:spChg chg="del">
          <ac:chgData name="Naimish Vadodariya" userId="d2e325c0593a319e" providerId="LiveId" clId="{C821B5A2-C084-4B60-A302-58D7CC6D3A2E}" dt="2025-07-08T17:20:37.421" v="175" actId="3680"/>
          <ac:spMkLst>
            <pc:docMk/>
            <pc:sldMk cId="1862502709" sldId="789"/>
            <ac:spMk id="2" creationId="{ECE43BFF-8E41-C6EA-2707-BB37B4DFB28E}"/>
          </ac:spMkLst>
        </pc:spChg>
        <pc:spChg chg="mod">
          <ac:chgData name="Naimish Vadodariya" userId="d2e325c0593a319e" providerId="LiveId" clId="{C821B5A2-C084-4B60-A302-58D7CC6D3A2E}" dt="2025-07-08T17:15:22.725" v="142" actId="20577"/>
          <ac:spMkLst>
            <pc:docMk/>
            <pc:sldMk cId="1862502709" sldId="789"/>
            <ac:spMk id="3" creationId="{BA69E0E5-E8A8-2ADF-6724-959684B8ABF3}"/>
          </ac:spMkLst>
        </pc:spChg>
        <pc:spChg chg="add mod">
          <ac:chgData name="Naimish Vadodariya" userId="d2e325c0593a319e" providerId="LiveId" clId="{C821B5A2-C084-4B60-A302-58D7CC6D3A2E}" dt="2025-07-08T17:19:22.053" v="174" actId="207"/>
          <ac:spMkLst>
            <pc:docMk/>
            <pc:sldMk cId="1862502709" sldId="789"/>
            <ac:spMk id="4" creationId="{8D87C1CF-2F33-9BDF-D387-30074B58A87B}"/>
          </ac:spMkLst>
        </pc:spChg>
        <pc:spChg chg="add mod">
          <ac:chgData name="Naimish Vadodariya" userId="d2e325c0593a319e" providerId="LiveId" clId="{C821B5A2-C084-4B60-A302-58D7CC6D3A2E}" dt="2025-07-08T17:18:44.343" v="170" actId="20577"/>
          <ac:spMkLst>
            <pc:docMk/>
            <pc:sldMk cId="1862502709" sldId="789"/>
            <ac:spMk id="5" creationId="{0D557539-A4AE-8546-A5A4-5F2D543B203C}"/>
          </ac:spMkLst>
        </pc:spChg>
        <pc:spChg chg="add mod">
          <ac:chgData name="Naimish Vadodariya" userId="d2e325c0593a319e" providerId="LiveId" clId="{C821B5A2-C084-4B60-A302-58D7CC6D3A2E}" dt="2025-07-08T17:15:45.193" v="144" actId="1076"/>
          <ac:spMkLst>
            <pc:docMk/>
            <pc:sldMk cId="1862502709" sldId="789"/>
            <ac:spMk id="6" creationId="{7D38F604-1304-E7F4-7390-40598D817182}"/>
          </ac:spMkLst>
        </pc:spChg>
        <pc:graphicFrameChg chg="add mod ord modGraphic">
          <ac:chgData name="Naimish Vadodariya" userId="d2e325c0593a319e" providerId="LiveId" clId="{C821B5A2-C084-4B60-A302-58D7CC6D3A2E}" dt="2025-07-08T17:21:17.941" v="183" actId="14734"/>
          <ac:graphicFrameMkLst>
            <pc:docMk/>
            <pc:sldMk cId="1862502709" sldId="789"/>
            <ac:graphicFrameMk id="7" creationId="{67810993-C9F9-E6D2-4570-873207CC9977}"/>
          </ac:graphicFrameMkLst>
        </pc:graphicFrameChg>
      </pc:sldChg>
    </pc:docChg>
  </pc:docChgLst>
  <pc:docChgLst>
    <pc:chgData name="Naimish Vadodariya" userId="d2e325c0593a319e" providerId="LiveId" clId="{0C20591F-2EC1-4F3F-A659-EF792F057E2D}"/>
    <pc:docChg chg="custSel addSld modSld sldOrd modMainMaster">
      <pc:chgData name="Naimish Vadodariya" userId="d2e325c0593a319e" providerId="LiveId" clId="{0C20591F-2EC1-4F3F-A659-EF792F057E2D}" dt="2022-02-07T03:52:42.776" v="462" actId="20577"/>
      <pc:docMkLst>
        <pc:docMk/>
      </pc:docMkLst>
      <pc:sldChg chg="modSp ord modAnim">
        <pc:chgData name="Naimish Vadodariya" userId="d2e325c0593a319e" providerId="LiveId" clId="{0C20591F-2EC1-4F3F-A659-EF792F057E2D}" dt="2022-02-07T03:09:38.703" v="217"/>
        <pc:sldMkLst>
          <pc:docMk/>
          <pc:sldMk cId="4216305698" sldId="292"/>
        </pc:sldMkLst>
      </pc:sldChg>
      <pc:sldChg chg="modSp mod">
        <pc:chgData name="Naimish Vadodariya" userId="d2e325c0593a319e" providerId="LiveId" clId="{0C20591F-2EC1-4F3F-A659-EF792F057E2D}" dt="2022-02-03T18:58:45.015" v="128" actId="20577"/>
        <pc:sldMkLst>
          <pc:docMk/>
          <pc:sldMk cId="1600834761" sldId="309"/>
        </pc:sldMkLst>
      </pc:sldChg>
      <pc:sldChg chg="modSp modAnim">
        <pc:chgData name="Naimish Vadodariya" userId="d2e325c0593a319e" providerId="LiveId" clId="{0C20591F-2EC1-4F3F-A659-EF792F057E2D}" dt="2022-02-07T03:11:03.441" v="229" actId="20577"/>
        <pc:sldMkLst>
          <pc:docMk/>
          <pc:sldMk cId="4119392232" sldId="311"/>
        </pc:sldMkLst>
      </pc:sldChg>
      <pc:sldChg chg="modSp">
        <pc:chgData name="Naimish Vadodariya" userId="d2e325c0593a319e" providerId="LiveId" clId="{0C20591F-2EC1-4F3F-A659-EF792F057E2D}" dt="2022-02-07T03:15:29.968" v="230" actId="2710"/>
        <pc:sldMkLst>
          <pc:docMk/>
          <pc:sldMk cId="2063409194" sldId="312"/>
        </pc:sldMkLst>
      </pc:sldChg>
      <pc:sldChg chg="modSp mod">
        <pc:chgData name="Naimish Vadodariya" userId="d2e325c0593a319e" providerId="LiveId" clId="{0C20591F-2EC1-4F3F-A659-EF792F057E2D}" dt="2022-02-03T19:05:15.553" v="202" actId="20577"/>
        <pc:sldMkLst>
          <pc:docMk/>
          <pc:sldMk cId="1453459561" sldId="345"/>
        </pc:sldMkLst>
      </pc:sldChg>
      <pc:sldChg chg="addSp modSp add mod ord modAnim modShow">
        <pc:chgData name="Naimish Vadodariya" userId="d2e325c0593a319e" providerId="LiveId" clId="{0C20591F-2EC1-4F3F-A659-EF792F057E2D}" dt="2022-02-07T03:38:20.894" v="339" actId="729"/>
        <pc:sldMkLst>
          <pc:docMk/>
          <pc:sldMk cId="2415440773" sldId="347"/>
        </pc:sldMkLst>
      </pc:sldChg>
      <pc:sldChg chg="modSp add modAnim">
        <pc:chgData name="Naimish Vadodariya" userId="d2e325c0593a319e" providerId="LiveId" clId="{0C20591F-2EC1-4F3F-A659-EF792F057E2D}" dt="2022-02-07T03:38:59.994" v="353" actId="113"/>
        <pc:sldMkLst>
          <pc:docMk/>
          <pc:sldMk cId="2295940979" sldId="348"/>
        </pc:sldMkLst>
      </pc:sldChg>
      <pc:sldChg chg="modSp new mod modAnim">
        <pc:chgData name="Naimish Vadodariya" userId="d2e325c0593a319e" providerId="LiveId" clId="{0C20591F-2EC1-4F3F-A659-EF792F057E2D}" dt="2022-02-07T03:40:18.572" v="432" actId="403"/>
        <pc:sldMkLst>
          <pc:docMk/>
          <pc:sldMk cId="3810644495" sldId="349"/>
        </pc:sldMkLst>
      </pc:sldChg>
      <pc:sldChg chg="addSp delSp modSp new mod modAnim">
        <pc:chgData name="Naimish Vadodariya" userId="d2e325c0593a319e" providerId="LiveId" clId="{0C20591F-2EC1-4F3F-A659-EF792F057E2D}" dt="2022-02-07T03:42:54.219" v="452" actId="20577"/>
        <pc:sldMkLst>
          <pc:docMk/>
          <pc:sldMk cId="3529687291" sldId="350"/>
        </pc:sldMkLst>
      </pc:sldChg>
      <pc:sldChg chg="addSp modSp new mod modAnim">
        <pc:chgData name="Naimish Vadodariya" userId="d2e325c0593a319e" providerId="LiveId" clId="{0C20591F-2EC1-4F3F-A659-EF792F057E2D}" dt="2022-02-07T03:52:42.776" v="462" actId="20577"/>
        <pc:sldMkLst>
          <pc:docMk/>
          <pc:sldMk cId="1545860125" sldId="351"/>
        </pc:sldMkLst>
      </pc:sldChg>
      <pc:sldMasterChg chg="modSldLayout">
        <pc:chgData name="Naimish Vadodariya" userId="d2e325c0593a319e" providerId="LiveId" clId="{0C20591F-2EC1-4F3F-A659-EF792F057E2D}" dt="2022-02-03T19:05:37.797" v="203" actId="20577"/>
        <pc:sldMasterMkLst>
          <pc:docMk/>
          <pc:sldMasterMk cId="791954662" sldId="2147483648"/>
        </pc:sldMasterMkLst>
        <pc:sldLayoutChg chg="addSp delSp modSp mod">
          <pc:chgData name="Naimish Vadodariya" userId="d2e325c0593a319e" providerId="LiveId" clId="{0C20591F-2EC1-4F3F-A659-EF792F057E2D}" dt="2022-02-03T18:58:13.179" v="99" actId="1076"/>
          <pc:sldLayoutMkLst>
            <pc:docMk/>
            <pc:sldMasterMk cId="791954662" sldId="2147483648"/>
            <pc:sldLayoutMk cId="2731625911" sldId="2147483679"/>
          </pc:sldLayoutMkLst>
        </pc:sldLayoutChg>
        <pc:sldLayoutChg chg="modSp mod">
          <pc:chgData name="Naimish Vadodariya" userId="d2e325c0593a319e" providerId="LiveId" clId="{0C20591F-2EC1-4F3F-A659-EF792F057E2D}" dt="2022-02-03T19:05:37.797" v="203" actId="20577"/>
          <pc:sldLayoutMkLst>
            <pc:docMk/>
            <pc:sldMasterMk cId="791954662" sldId="2147483648"/>
            <pc:sldLayoutMk cId="4202761244" sldId="214748368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microsoft.com/office/2007/relationships/hdphoto" Target="../media/hdphoto3.wdp"/><Relationship Id="rId10" Type="http://schemas.openxmlformats.org/officeDocument/2006/relationships/image" Target="../media/image13.png"/><Relationship Id="rId4" Type="http://schemas.openxmlformats.org/officeDocument/2006/relationships/image" Target="../media/image14.png"/><Relationship Id="rId9" Type="http://schemas.openxmlformats.org/officeDocument/2006/relationships/image" Target="../media/image8.jpe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4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6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7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2.png"/><Relationship Id="rId9" Type="http://schemas.openxmlformats.org/officeDocument/2006/relationships/image" Target="../media/image8.jpeg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0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18.jpeg"/></Relationships>
</file>

<file path=ppt/slideLayouts/_rels/slideLayout2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5" name="Picture 34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10150094" y="861192"/>
            <a:ext cx="1910727" cy="741362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Firoz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A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Sherasiya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21CS05101 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of DBMS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Madhuresh R Fichadiya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714044" y="6604000"/>
            <a:ext cx="7281334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#2505CS311 (Building RESTful APIs with ASP.NET Core)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2 – Entity Framework Core &amp; Database Access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131180" y="5712647"/>
            <a:ext cx="1910727" cy="741362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Firoz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A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Sherasiya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21CS05101(DBMS)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of DBMS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105840"/>
            <a:ext cx="1649043" cy="501287"/>
            <a:chOff x="10721798" y="852808"/>
            <a:chExt cx="1339023" cy="407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27313" y="5993448"/>
            <a:ext cx="1649043" cy="501287"/>
            <a:chOff x="10721798" y="852808"/>
            <a:chExt cx="1339023" cy="40704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8" name="Hexagon 37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1" name="Rectangle 40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808333" y="87380"/>
            <a:ext cx="2592372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38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sp>
        <p:nvSpPr>
          <p:cNvPr id="41" name="Hexagon 4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accent6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extBox 41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47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 userDrawn="1"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59" name="Picture 58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808333" y="87380"/>
            <a:ext cx="2592372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27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https://cdn5.vectorstock.com/i/1000x1000/21/59/dbms-database-management-system-computer-data-vector-8212159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4" t="9689" r="5315" b="18089"/>
          <a:stretch/>
        </p:blipFill>
        <p:spPr bwMode="auto">
          <a:xfrm>
            <a:off x="8407803" y="2089594"/>
            <a:ext cx="2880000" cy="267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1" t="10725" r="4439" b="11492"/>
          <a:stretch/>
        </p:blipFill>
        <p:spPr>
          <a:xfrm>
            <a:off x="8236872" y="194986"/>
            <a:ext cx="3313045" cy="1285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3" r:id="rId10"/>
    <p:sldLayoutId id="2147483692" r:id="rId11"/>
    <p:sldLayoutId id="2147483691" r:id="rId12"/>
    <p:sldLayoutId id="2147483674" r:id="rId13"/>
    <p:sldLayoutId id="2147483676" r:id="rId14"/>
    <p:sldLayoutId id="2147483677" r:id="rId15"/>
    <p:sldLayoutId id="2147483678" r:id="rId16"/>
    <p:sldLayoutId id="2147483679" r:id="rId17"/>
    <p:sldLayoutId id="2147483681" r:id="rId18"/>
    <p:sldLayoutId id="2147483683" r:id="rId19"/>
    <p:sldLayoutId id="2147483682" r:id="rId20"/>
    <p:sldLayoutId id="2147483684" r:id="rId21"/>
    <p:sldLayoutId id="2147483685" r:id="rId22"/>
    <p:sldLayoutId id="2147483686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3F305CB-DBE2-45D5-8D0B-92106F27C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89" y="1122364"/>
            <a:ext cx="9916599" cy="2992436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Unit-2</a:t>
            </a:r>
            <a:r>
              <a:rPr lang="en-US" dirty="0"/>
              <a:t> </a:t>
            </a:r>
            <a:br>
              <a:rPr lang="en-US" dirty="0"/>
            </a:br>
            <a:r>
              <a:rPr lang="en-IN" dirty="0">
                <a:effectLst/>
              </a:rPr>
              <a:t>Entity Framework (EF) Core &amp; Database Access</a:t>
            </a:r>
            <a:endParaRPr lang="en-US" sz="6000" dirty="0">
              <a:effectLst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Madhuresh.fichadiya@darshan.ac.in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8866961282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840480" cy="290081"/>
          </a:xfrm>
        </p:spPr>
        <p:txBody>
          <a:bodyPr/>
          <a:lstStyle/>
          <a:p>
            <a:r>
              <a:rPr lang="en-US" dirty="0"/>
              <a:t>Computer Science &amp; Engineering Department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Madhuresh R Fichadiya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8690" y="103428"/>
            <a:ext cx="4646358" cy="734653"/>
          </a:xfrm>
        </p:spPr>
        <p:txBody>
          <a:bodyPr/>
          <a:lstStyle/>
          <a:p>
            <a:r>
              <a:rPr lang="en-US" b="1" dirty="0"/>
              <a:t>Building RESTful APIs with </a:t>
            </a:r>
          </a:p>
          <a:p>
            <a:r>
              <a:rPr lang="en-US" b="1" dirty="0"/>
              <a:t>ASP.NET Core</a:t>
            </a:r>
          </a:p>
          <a:p>
            <a:r>
              <a:rPr lang="en-US" dirty="0"/>
              <a:t>#2505CS311</a:t>
            </a: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211251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3700571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2" y="731706"/>
            <a:ext cx="612648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EF Core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LINQ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Dapper</a:t>
            </a:r>
          </a:p>
        </p:txBody>
      </p:sp>
    </p:spTree>
    <p:extLst>
      <p:ext uri="{BB962C8B-B14F-4D97-AF65-F5344CB8AC3E}">
        <p14:creationId xmlns:p14="http://schemas.microsoft.com/office/powerpoint/2010/main" val="1232372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E84A8-A4BB-665B-9741-A3C36AFBF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68B56D8-7BB5-17F7-1DA3-EEE5963B7A87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92B6B1-C51C-BF99-4FA7-8591CF896B96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8E9425E9-F17C-FCE5-62B6-5D81354B309B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A0C1E-E679-1179-0EB4-7C5A5D192E47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A12AE2-70B1-E4A7-4332-0A2653162C3F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8DBBF06-7FB5-7753-C6D6-776F29B1C563}"/>
              </a:ext>
            </a:extLst>
          </p:cNvPr>
          <p:cNvSpPr txBox="1"/>
          <p:nvPr/>
        </p:nvSpPr>
        <p:spPr>
          <a:xfrm>
            <a:off x="1458962" y="731706"/>
            <a:ext cx="6126480" cy="4570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Introduction to EF Core &amp; ORM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EF Core CRUD Operations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Code-First vs. Database-First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DbContext &amp; DbSet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Migrations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Tracking and No-Tracking Queries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Async/Await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DTOs (Data Transfer Objects)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LINQ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Dapper</a:t>
            </a:r>
          </a:p>
        </p:txBody>
      </p:sp>
    </p:spTree>
    <p:extLst>
      <p:ext uri="{BB962C8B-B14F-4D97-AF65-F5344CB8AC3E}">
        <p14:creationId xmlns:p14="http://schemas.microsoft.com/office/powerpoint/2010/main" val="322934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B9E72-C318-2AB2-DE65-2AE0A344C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2D6396-2F37-AE1A-5C0E-DE5ADE9F4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EF Core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E705A-5709-0638-6804-FC5011DCE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- 1</a:t>
            </a:r>
          </a:p>
        </p:txBody>
      </p:sp>
    </p:spTree>
    <p:extLst>
      <p:ext uri="{BB962C8B-B14F-4D97-AF65-F5344CB8AC3E}">
        <p14:creationId xmlns:p14="http://schemas.microsoft.com/office/powerpoint/2010/main" val="706549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215F8-E14B-AB34-AB5B-FEDDBCF24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CDF295-F3F7-41E8-F12F-B89C98143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Introduction to EF Core &amp; ORM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F5B43E-8F59-678B-80A6-E1C2BFAE8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1.1</a:t>
            </a:r>
          </a:p>
        </p:txBody>
      </p:sp>
    </p:spTree>
    <p:extLst>
      <p:ext uri="{BB962C8B-B14F-4D97-AF65-F5344CB8AC3E}">
        <p14:creationId xmlns:p14="http://schemas.microsoft.com/office/powerpoint/2010/main" val="1389611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6B159-3F4E-B36C-F9F0-CD5F3889C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24D9D4-D016-A871-D667-26DC3732D7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What is EF Core?</a:t>
            </a:r>
          </a:p>
          <a:p>
            <a:pPr lvl="1"/>
            <a:r>
              <a:rPr lang="en-US" dirty="0"/>
              <a:t>EF Core is an ORM (Object-Relational Mapper) that lets you interact with a database using C# classes instead of SQL queries directly.</a:t>
            </a:r>
          </a:p>
          <a:p>
            <a:pPr lvl="1"/>
            <a:r>
              <a:rPr lang="en-IN" dirty="0"/>
              <a:t>Install EF Core Packages</a:t>
            </a:r>
            <a:r>
              <a:rPr lang="en-US" dirty="0"/>
              <a:t>:</a:t>
            </a:r>
          </a:p>
          <a:p>
            <a:pPr lvl="2"/>
            <a:r>
              <a:rPr lang="en-US" dirty="0" err="1"/>
              <a:t>Microsoft.EntityFrameworkCore.SqlServer</a:t>
            </a:r>
            <a:endParaRPr lang="en-US" dirty="0"/>
          </a:p>
          <a:p>
            <a:pPr lvl="2"/>
            <a:r>
              <a:rPr lang="en-US" dirty="0" err="1"/>
              <a:t>Microsoft.EntityFrameworkCore.Tools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chemeClr val="accent6"/>
                </a:solidFill>
              </a:rPr>
              <a:t>What is ORM?</a:t>
            </a:r>
          </a:p>
          <a:p>
            <a:pPr lvl="1"/>
            <a:r>
              <a:rPr lang="en-US" dirty="0"/>
              <a:t>An </a:t>
            </a:r>
            <a:r>
              <a:rPr lang="en-US" b="1" dirty="0"/>
              <a:t>Object-Relational Mapper (ORM)</a:t>
            </a:r>
            <a:r>
              <a:rPr lang="en-US" dirty="0"/>
              <a:t> is a </a:t>
            </a:r>
            <a:r>
              <a:rPr lang="en-US" b="1" dirty="0"/>
              <a:t>software tool</a:t>
            </a:r>
            <a:r>
              <a:rPr lang="en-US" dirty="0"/>
              <a:t> that helps you interact with a </a:t>
            </a:r>
            <a:r>
              <a:rPr lang="en-US" b="1" dirty="0"/>
              <a:t>relational database (like SQL Server, MySQL)</a:t>
            </a:r>
            <a:r>
              <a:rPr lang="en-US" dirty="0"/>
              <a:t> using </a:t>
            </a:r>
            <a:r>
              <a:rPr lang="en-US" b="1" dirty="0"/>
              <a:t>objects in your programming language (like C# classes)</a:t>
            </a:r>
            <a:r>
              <a:rPr lang="en-US" dirty="0"/>
              <a:t> — without writing raw SQL queries.</a:t>
            </a:r>
          </a:p>
          <a:p>
            <a:pPr lvl="1"/>
            <a:r>
              <a:rPr lang="en-US" dirty="0"/>
              <a:t>ORM converts </a:t>
            </a:r>
            <a:r>
              <a:rPr lang="en-US" b="1" dirty="0"/>
              <a:t>database tables</a:t>
            </a:r>
            <a:r>
              <a:rPr lang="en-US" dirty="0"/>
              <a:t> into </a:t>
            </a:r>
            <a:r>
              <a:rPr lang="en-US" b="1" dirty="0"/>
              <a:t>C# classes</a:t>
            </a:r>
            <a:r>
              <a:rPr lang="en-US" dirty="0"/>
              <a:t> and </a:t>
            </a:r>
            <a:r>
              <a:rPr lang="en-US" b="1" dirty="0"/>
              <a:t>rows</a:t>
            </a:r>
            <a:r>
              <a:rPr lang="en-US" dirty="0"/>
              <a:t> into </a:t>
            </a:r>
            <a:r>
              <a:rPr lang="en-US" b="1" dirty="0"/>
              <a:t>objects</a:t>
            </a:r>
            <a:r>
              <a:rPr lang="en-US" dirty="0"/>
              <a:t> — and vice versa.</a:t>
            </a:r>
          </a:p>
          <a:p>
            <a:pPr lvl="1"/>
            <a:endParaRPr lang="en-IN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0107CA-C029-7E6E-7843-C5EA5A296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Intro: EF (Entity Framework) Core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9AF754-556E-5AB3-D561-188A34CA8E64}"/>
              </a:ext>
            </a:extLst>
          </p:cNvPr>
          <p:cNvSpPr/>
          <p:nvPr/>
        </p:nvSpPr>
        <p:spPr>
          <a:xfrm>
            <a:off x="1011055" y="5222761"/>
            <a:ext cx="5220412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SELECT </a:t>
            </a:r>
            <a:r>
              <a:rPr lang="en-US" sz="1600" dirty="0">
                <a:latin typeface="Cascadia Mono" panose="020B0609020000020004" pitchFamily="49" charset="0"/>
              </a:rPr>
              <a:t>*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FROM </a:t>
            </a:r>
            <a:r>
              <a:rPr lang="en-US" sz="1600" dirty="0">
                <a:latin typeface="Cascadia Mono" panose="020B0609020000020004" pitchFamily="49" charset="0"/>
              </a:rPr>
              <a:t>Students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WHERE </a:t>
            </a:r>
            <a:r>
              <a:rPr lang="en-US" sz="1600" dirty="0" err="1">
                <a:latin typeface="Cascadia Mono" panose="020B0609020000020004" pitchFamily="49" charset="0"/>
              </a:rPr>
              <a:t>StudentId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latin typeface="Cascadia Mono" panose="020B0609020000020004" pitchFamily="49" charset="0"/>
              </a:rPr>
              <a:t>=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99BFE0-52C9-F2DA-1946-3FDCE0EE4382}"/>
              </a:ext>
            </a:extLst>
          </p:cNvPr>
          <p:cNvSpPr/>
          <p:nvPr/>
        </p:nvSpPr>
        <p:spPr>
          <a:xfrm>
            <a:off x="447269" y="5222761"/>
            <a:ext cx="579518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B9CC90D-108A-B950-23FC-E808A67699EF}"/>
              </a:ext>
            </a:extLst>
          </p:cNvPr>
          <p:cNvSpPr/>
          <p:nvPr/>
        </p:nvSpPr>
        <p:spPr>
          <a:xfrm>
            <a:off x="447269" y="4893577"/>
            <a:ext cx="177099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Without ORM (SQL)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D150CA-CAFA-38DA-A4F1-3570FA7C3FF1}"/>
              </a:ext>
            </a:extLst>
          </p:cNvPr>
          <p:cNvSpPr/>
          <p:nvPr/>
        </p:nvSpPr>
        <p:spPr>
          <a:xfrm>
            <a:off x="1011055" y="6002977"/>
            <a:ext cx="5220412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var </a:t>
            </a:r>
            <a:r>
              <a:rPr lang="en-US" sz="1600" dirty="0"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_</a:t>
            </a:r>
            <a:r>
              <a:rPr lang="en-US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context</a:t>
            </a:r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.</a:t>
            </a:r>
            <a:r>
              <a:rPr lang="en-US" sz="1600" dirty="0" err="1">
                <a:solidFill>
                  <a:schemeClr val="tx2">
                    <a:lumMod val="50000"/>
                  </a:schemeClr>
                </a:solidFill>
                <a:latin typeface="Cascadia Mono" panose="020B0609020000020004" pitchFamily="49" charset="0"/>
              </a:rPr>
              <a:t>Students</a:t>
            </a:r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.</a:t>
            </a:r>
            <a:r>
              <a:rPr lang="en-US" sz="1600" dirty="0" err="1">
                <a:solidFill>
                  <a:srgbClr val="C00000"/>
                </a:solidFill>
                <a:latin typeface="Cascadia Mono" panose="020B0609020000020004" pitchFamily="49" charset="0"/>
              </a:rPr>
              <a:t>Find</a:t>
            </a:r>
            <a:r>
              <a:rPr lang="en-US" sz="1600" dirty="0">
                <a:solidFill>
                  <a:srgbClr val="C00000"/>
                </a:solidFill>
                <a:latin typeface="Cascadia Mono" panose="020B0609020000020004" pitchFamily="49" charset="0"/>
              </a:rPr>
              <a:t>(1);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8F6646-0AB6-EF29-CDD5-94AE0BCB671D}"/>
              </a:ext>
            </a:extLst>
          </p:cNvPr>
          <p:cNvSpPr/>
          <p:nvPr/>
        </p:nvSpPr>
        <p:spPr>
          <a:xfrm>
            <a:off x="447269" y="6002977"/>
            <a:ext cx="579518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D989D9F8-564B-9965-D90E-52B1D26DB8D9}"/>
              </a:ext>
            </a:extLst>
          </p:cNvPr>
          <p:cNvSpPr/>
          <p:nvPr/>
        </p:nvSpPr>
        <p:spPr>
          <a:xfrm>
            <a:off x="447269" y="5673793"/>
            <a:ext cx="177099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With ORM (C#)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E53ADE08-E1DB-D474-75CB-048645374559}"/>
              </a:ext>
            </a:extLst>
          </p:cNvPr>
          <p:cNvSpPr/>
          <p:nvPr/>
        </p:nvSpPr>
        <p:spPr>
          <a:xfrm>
            <a:off x="6406445" y="5198351"/>
            <a:ext cx="3990622" cy="725928"/>
          </a:xfrm>
          <a:prstGeom prst="wedgeRoundRectCallout">
            <a:avLst>
              <a:gd name="adj1" fmla="val -54433"/>
              <a:gd name="adj2" fmla="val 84156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It generates the SQL query in the background,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Fetch the data from the database,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Convert the row into a </a:t>
            </a:r>
            <a:r>
              <a:rPr lang="en-US" sz="1600" b="1" dirty="0">
                <a:solidFill>
                  <a:schemeClr val="tx1"/>
                </a:solidFill>
              </a:rPr>
              <a:t>Student</a:t>
            </a:r>
            <a:r>
              <a:rPr lang="en-US" sz="1600" dirty="0">
                <a:solidFill>
                  <a:schemeClr val="tx1"/>
                </a:solidFill>
              </a:rPr>
              <a:t> object.</a:t>
            </a:r>
            <a:endParaRPr lang="en-I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766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87D40F-F012-767A-CA31-8585BBC89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📌 Benefits of Using an ORM:</a:t>
            </a:r>
          </a:p>
          <a:p>
            <a:pPr lvl="1"/>
            <a:r>
              <a:rPr lang="en-IN" dirty="0"/>
              <a:t>✅ Less SQL Code</a:t>
            </a:r>
          </a:p>
          <a:p>
            <a:pPr lvl="1"/>
            <a:r>
              <a:rPr lang="en-IN" dirty="0"/>
              <a:t>✅ Compile-time type checking</a:t>
            </a:r>
          </a:p>
          <a:p>
            <a:pPr lvl="1"/>
            <a:r>
              <a:rPr lang="en-IN" dirty="0"/>
              <a:t>✅ Easy data access with LINQ</a:t>
            </a:r>
          </a:p>
          <a:p>
            <a:pPr lvl="1"/>
            <a:r>
              <a:rPr lang="en-IN" dirty="0"/>
              <a:t>✅ Automatic table creation (via migrations)</a:t>
            </a:r>
          </a:p>
          <a:p>
            <a:pPr lvl="1"/>
            <a:r>
              <a:rPr lang="en-IN" dirty="0"/>
              <a:t>✅ Better maintenance &amp; readability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⚙ Popular ORMs</a:t>
            </a:r>
          </a:p>
          <a:p>
            <a:pPr marL="887412" lvl="1" indent="-342900"/>
            <a:r>
              <a:rPr lang="en-US" b="1" dirty="0"/>
              <a:t>EF Core</a:t>
            </a:r>
            <a:r>
              <a:rPr lang="en-US" dirty="0"/>
              <a:t> – for .NET (C#)</a:t>
            </a:r>
          </a:p>
          <a:p>
            <a:pPr marL="887412" lvl="1" indent="-342900"/>
            <a:r>
              <a:rPr lang="en-US" b="1" dirty="0"/>
              <a:t>Hibernate</a:t>
            </a:r>
            <a:r>
              <a:rPr lang="en-US" dirty="0"/>
              <a:t> – for Java</a:t>
            </a:r>
          </a:p>
          <a:p>
            <a:pPr marL="887412" lvl="1" indent="-342900"/>
            <a:r>
              <a:rPr lang="en-US" b="1" dirty="0"/>
              <a:t>Django ORM</a:t>
            </a:r>
            <a:r>
              <a:rPr lang="en-US" dirty="0"/>
              <a:t> – for Python</a:t>
            </a:r>
          </a:p>
          <a:p>
            <a:pPr marL="887412" lvl="1" indent="-342900"/>
            <a:r>
              <a:rPr lang="en-US" b="1" dirty="0"/>
              <a:t>Active Record</a:t>
            </a:r>
            <a:r>
              <a:rPr lang="en-US" dirty="0"/>
              <a:t> – for Ruby on Rails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2BD6D3-F3E4-7384-1827-73A0C95F8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Object-Relational Mapper (ORM)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507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5BBB4-9CC8-1528-FA1C-31ABEFA79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156737-D8C7-92D4-36B7-7C3D40B43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EF Core Basic CRUD Operations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91DE3-1415-4A6C-E116-BB3ED0DBB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1.2</a:t>
            </a:r>
          </a:p>
        </p:txBody>
      </p:sp>
    </p:spTree>
    <p:extLst>
      <p:ext uri="{BB962C8B-B14F-4D97-AF65-F5344CB8AC3E}">
        <p14:creationId xmlns:p14="http://schemas.microsoft.com/office/powerpoint/2010/main" val="813927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1D47F7-D98C-0F80-ED50-DFD08B542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D7F21C-3C46-03FA-8739-630D93E7B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 (Entity Framework) Core Basic CRUD - Steps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3026A9-B9D7-99EF-191E-693C710789F0}"/>
              </a:ext>
            </a:extLst>
          </p:cNvPr>
          <p:cNvSpPr/>
          <p:nvPr/>
        </p:nvSpPr>
        <p:spPr>
          <a:xfrm>
            <a:off x="131178" y="1182421"/>
            <a:ext cx="11365855" cy="53553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Cascadia Mono" panose="020B0609020000020004" pitchFamily="49" charset="0"/>
              </a:rPr>
              <a:t>Install EF Core Packages</a:t>
            </a:r>
          </a:p>
          <a:p>
            <a:pPr lvl="2"/>
            <a:r>
              <a:rPr lang="en-US" dirty="0" err="1"/>
              <a:t>Microsoft.EntityFrameworkCore.SqlServer</a:t>
            </a:r>
            <a:endParaRPr lang="en-US" dirty="0"/>
          </a:p>
          <a:p>
            <a:pPr lvl="2"/>
            <a:r>
              <a:rPr lang="en-US" dirty="0" err="1"/>
              <a:t>Microsoft.EntityFrameworkCore.Tools</a:t>
            </a:r>
            <a:r>
              <a:rPr lang="en-US" dirty="0"/>
              <a:t> </a:t>
            </a:r>
          </a:p>
          <a:p>
            <a:pPr lvl="2"/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Cascadia Mono" panose="020B0609020000020004" pitchFamily="49" charset="0"/>
              </a:rPr>
              <a:t>Define the Student Model (Entity)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StudentId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FullName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Email {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600" b="1" dirty="0">
                <a:latin typeface="Cascadia Mono" panose="020B0609020000020004" pitchFamily="49" charset="0"/>
              </a:rPr>
              <a:t>Create the DbContext Class</a:t>
            </a:r>
          </a:p>
          <a:p>
            <a:pPr lvl="1"/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AppDbContext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DbContext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DbSet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 Students {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lvl="1"/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AppDbContext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DbContextOptions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AppDbContext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 options) :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base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(options)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latin typeface="Cascadia Mono" panose="020B06090200000200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10E96CC2-2EC9-9CB2-4553-783C9AB3A7D6}"/>
              </a:ext>
            </a:extLst>
          </p:cNvPr>
          <p:cNvSpPr/>
          <p:nvPr/>
        </p:nvSpPr>
        <p:spPr>
          <a:xfrm>
            <a:off x="131179" y="863444"/>
            <a:ext cx="918233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Steps </a:t>
            </a:r>
          </a:p>
        </p:txBody>
      </p:sp>
    </p:spTree>
    <p:extLst>
      <p:ext uri="{BB962C8B-B14F-4D97-AF65-F5344CB8AC3E}">
        <p14:creationId xmlns:p14="http://schemas.microsoft.com/office/powerpoint/2010/main" val="2443799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224C-1F0A-4932-5CD1-E780C984F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F124F1-812E-EE9C-40ED-B13474447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250486-43EE-1FFB-E8DF-7E4C4CDE4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 (Entity Framework) Core Basic CRUD – Steps Cont..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AE50BD-5B49-9688-12AB-044ADD65FD36}"/>
              </a:ext>
            </a:extLst>
          </p:cNvPr>
          <p:cNvSpPr/>
          <p:nvPr/>
        </p:nvSpPr>
        <p:spPr>
          <a:xfrm>
            <a:off x="131178" y="1182421"/>
            <a:ext cx="11365855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en-US" sz="1600" b="1" dirty="0">
                <a:latin typeface="Cascadia Mono" panose="020B0609020000020004" pitchFamily="49" charset="0"/>
              </a:rPr>
              <a:t>Add Connection String (</a:t>
            </a:r>
            <a:r>
              <a:rPr lang="en-US" sz="1600" b="1" dirty="0" err="1">
                <a:latin typeface="Cascadia Mono" panose="020B0609020000020004" pitchFamily="49" charset="0"/>
              </a:rPr>
              <a:t>appsettings.json</a:t>
            </a:r>
            <a:r>
              <a:rPr lang="en-US" sz="1600" b="1" dirty="0">
                <a:latin typeface="Cascadia Mono" panose="020B0609020000020004" pitchFamily="49" charset="0"/>
              </a:rPr>
              <a:t>)</a:t>
            </a:r>
          </a:p>
          <a:p>
            <a:pPr lvl="1"/>
            <a:r>
              <a:rPr lang="en-IN" sz="1600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IN" sz="1600" dirty="0" err="1">
                <a:solidFill>
                  <a:srgbClr val="2E75B6"/>
                </a:solidFill>
                <a:latin typeface="Cascadia Mono" panose="020B0609020000020004" pitchFamily="49" charset="0"/>
              </a:rPr>
              <a:t>ConnectionStrings</a:t>
            </a:r>
            <a:r>
              <a:rPr lang="en-IN" sz="1600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: {</a:t>
            </a:r>
          </a:p>
          <a:p>
            <a:pPr lvl="1"/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1600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 err="1">
                <a:solidFill>
                  <a:srgbClr val="2E75B6"/>
                </a:solidFill>
                <a:latin typeface="Cascadia Mono" panose="020B0609020000020004" pitchFamily="49" charset="0"/>
              </a:rPr>
              <a:t>DefaultConnection</a:t>
            </a:r>
            <a:r>
              <a:rPr lang="en-US" sz="1600" dirty="0">
                <a:solidFill>
                  <a:srgbClr val="2E75B6"/>
                </a:solidFill>
                <a:latin typeface="Cascadia Mono" panose="020B06090200000200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: 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"server=Naimish; database=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NRVDemo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; 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trusted_connection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=true; </a:t>
            </a:r>
            <a:r>
              <a:rPr lang="en-US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TrustServerCertificate</a:t>
            </a:r>
            <a:r>
              <a:rPr lang="en-US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=True;"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en-US" sz="1600" b="1" dirty="0">
                <a:latin typeface="Cascadia Mono" panose="020B0609020000020004" pitchFamily="49" charset="0"/>
              </a:rPr>
              <a:t>Configure in </a:t>
            </a:r>
            <a:r>
              <a:rPr lang="en-US" sz="1600" b="1" dirty="0" err="1">
                <a:latin typeface="Cascadia Mono" panose="020B0609020000020004" pitchFamily="49" charset="0"/>
              </a:rPr>
              <a:t>Program.cs</a:t>
            </a:r>
            <a:endParaRPr lang="en-US" sz="1600" b="1" dirty="0">
              <a:latin typeface="Cascadia Mono" panose="020B0609020000020004" pitchFamily="49" charset="0"/>
            </a:endParaRPr>
          </a:p>
          <a:p>
            <a:pPr lvl="1"/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builder.Services.AddDbContext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NrvdemoContext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&gt;(options=&gt;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options.UseSqlServer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builder.Configuration.GetConnectionString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600" dirty="0" err="1">
                <a:solidFill>
                  <a:srgbClr val="A31515"/>
                </a:solidFill>
                <a:latin typeface="Cascadia Mono" panose="020B0609020000020004" pitchFamily="49" charset="0"/>
              </a:rPr>
              <a:t>DefaultConnection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)));</a:t>
            </a:r>
          </a:p>
          <a:p>
            <a:pPr lvl="1"/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en-US" sz="1600" b="1" dirty="0">
                <a:latin typeface="Cascadia Mono" panose="020B0609020000020004" pitchFamily="49" charset="0"/>
              </a:rPr>
              <a:t>Migrations &amp; Database Creation (Package Manager Console / Command)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Add-Migration {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MigrationName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pPr lvl="1"/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Update-database</a:t>
            </a:r>
            <a:endParaRPr lang="en-US" sz="1600" dirty="0">
              <a:latin typeface="Cascadia Mono" panose="020B06090200000200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52F9EC3-7DDF-6538-2EB2-EAE50C11AB87}"/>
              </a:ext>
            </a:extLst>
          </p:cNvPr>
          <p:cNvSpPr/>
          <p:nvPr/>
        </p:nvSpPr>
        <p:spPr>
          <a:xfrm>
            <a:off x="131179" y="863444"/>
            <a:ext cx="918233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Steps </a:t>
            </a:r>
          </a:p>
        </p:txBody>
      </p:sp>
    </p:spTree>
    <p:extLst>
      <p:ext uri="{BB962C8B-B14F-4D97-AF65-F5344CB8AC3E}">
        <p14:creationId xmlns:p14="http://schemas.microsoft.com/office/powerpoint/2010/main" val="312657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7E5311-0060-9018-CC9A-65718E245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142D38B-26F8-E77E-C0C1-4A0DC0D07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 Core Basic CRUD Operations | Students Controller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754026-67FD-AD20-059D-BAD88905365A}"/>
              </a:ext>
            </a:extLst>
          </p:cNvPr>
          <p:cNvSpPr/>
          <p:nvPr/>
        </p:nvSpPr>
        <p:spPr>
          <a:xfrm>
            <a:off x="694965" y="1192628"/>
            <a:ext cx="6970039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HttpPost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InsertStudent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StuStudent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student)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_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context.StuStudents.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Add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(student);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_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SaveChanges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NoContent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C05148-B96C-51A5-DB66-FD24FA50859B}"/>
              </a:ext>
            </a:extLst>
          </p:cNvPr>
          <p:cNvSpPr/>
          <p:nvPr/>
        </p:nvSpPr>
        <p:spPr>
          <a:xfrm>
            <a:off x="131180" y="1192628"/>
            <a:ext cx="579518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F458DB84-01AD-C41A-841C-FC3CC5F02A89}"/>
              </a:ext>
            </a:extLst>
          </p:cNvPr>
          <p:cNvSpPr/>
          <p:nvPr/>
        </p:nvSpPr>
        <p:spPr>
          <a:xfrm>
            <a:off x="131181" y="863444"/>
            <a:ext cx="91823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b="1" dirty="0"/>
              <a:t>C</a:t>
            </a:r>
            <a:r>
              <a:rPr lang="en-IN" sz="1600" dirty="0"/>
              <a:t>reate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18CF1F-07F7-D9F4-CD48-9F33750905BE}"/>
              </a:ext>
            </a:extLst>
          </p:cNvPr>
          <p:cNvSpPr/>
          <p:nvPr/>
        </p:nvSpPr>
        <p:spPr>
          <a:xfrm>
            <a:off x="694964" y="3489937"/>
            <a:ext cx="6970039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HttpGet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"All"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GetStudents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students = _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context.StuStudents.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ToList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Ok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(students);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FE5F59-AE2A-7157-4746-0F91C9A5FB78}"/>
              </a:ext>
            </a:extLst>
          </p:cNvPr>
          <p:cNvSpPr/>
          <p:nvPr/>
        </p:nvSpPr>
        <p:spPr>
          <a:xfrm>
            <a:off x="131179" y="3489937"/>
            <a:ext cx="579518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675D50ED-230B-70DB-F713-84A64971E4DA}"/>
              </a:ext>
            </a:extLst>
          </p:cNvPr>
          <p:cNvSpPr/>
          <p:nvPr/>
        </p:nvSpPr>
        <p:spPr>
          <a:xfrm>
            <a:off x="131180" y="3160753"/>
            <a:ext cx="91823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b="1" dirty="0"/>
              <a:t>R</a:t>
            </a:r>
            <a:r>
              <a:rPr lang="en-IN" sz="1600" dirty="0"/>
              <a:t>ead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00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0CD17-A2D5-BD23-BA7E-9193CB1E0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C168C6-699A-0D7A-E955-42FC11C63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057C02-89D8-748A-7AF2-65C8B0DF3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 Core Basic CRUD Operations | Students Controller Cont..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2E11E1-8CB3-EE7C-4002-1B9504A89B2E}"/>
              </a:ext>
            </a:extLst>
          </p:cNvPr>
          <p:cNvSpPr/>
          <p:nvPr/>
        </p:nvSpPr>
        <p:spPr>
          <a:xfrm>
            <a:off x="694965" y="1192628"/>
            <a:ext cx="11365854" cy="403187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HttpPut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600" dirty="0">
                <a:solidFill>
                  <a:srgbClr val="00A5F4"/>
                </a:solidFill>
                <a:latin typeface="Cascadia Mono" panose="020B0609020000020004" pitchFamily="49" charset="0"/>
              </a:rPr>
              <a:t>{id}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UpdateStudent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id, 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StuStudent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student)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    var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existingStudent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_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context.StuStudents.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Find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(id);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existingStudent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==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NotFound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existingStudent.StudentName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student.StudentName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existingStudent.Age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student.Age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existingStudent.Email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student.Email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_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context.StuStudents.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Update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existingStudent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_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SaveChanges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NoContent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E78E53-EEA1-5B49-691C-88E54FDA51CB}"/>
              </a:ext>
            </a:extLst>
          </p:cNvPr>
          <p:cNvSpPr/>
          <p:nvPr/>
        </p:nvSpPr>
        <p:spPr>
          <a:xfrm>
            <a:off x="131180" y="1192628"/>
            <a:ext cx="579518" cy="403187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22DFF036-DA33-2C4B-E0BD-F398928A9E60}"/>
              </a:ext>
            </a:extLst>
          </p:cNvPr>
          <p:cNvSpPr/>
          <p:nvPr/>
        </p:nvSpPr>
        <p:spPr>
          <a:xfrm>
            <a:off x="131181" y="863444"/>
            <a:ext cx="91823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b="1" dirty="0"/>
              <a:t>U</a:t>
            </a:r>
            <a:r>
              <a:rPr lang="en-IN" sz="1600" dirty="0"/>
              <a:t>pdate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2212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50AAC-B78C-CFB1-98BE-BC9013939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D77B0F-A991-C568-AA62-8C5E22E96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15B2E5-A281-E71D-344E-3BF4A8F64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 Core Basic CRUD Operations | Students Controller Cont..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D4D188-B678-E9F8-A6E3-AB075C0F9155}"/>
              </a:ext>
            </a:extLst>
          </p:cNvPr>
          <p:cNvSpPr/>
          <p:nvPr/>
        </p:nvSpPr>
        <p:spPr>
          <a:xfrm>
            <a:off x="694964" y="1192628"/>
            <a:ext cx="6970039" cy="30469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[</a:t>
            </a:r>
            <a:r>
              <a:rPr lang="en-IN" sz="16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HttpDelete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600" dirty="0">
                <a:solidFill>
                  <a:srgbClr val="00A5F4"/>
                </a:solidFill>
                <a:latin typeface="Cascadia Mono" panose="020B0609020000020004" pitchFamily="49" charset="0"/>
              </a:rPr>
              <a:t>{id}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)]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IActionResult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DeleteStudentById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id)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{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students = _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context.StuStudents.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Find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(id);</a:t>
            </a:r>
          </a:p>
          <a:p>
            <a:pPr lvl="2"/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(students ==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null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pPr lvl="2"/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lvl="2"/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NotFound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pPr lvl="2"/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_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context.StuStudents.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Remove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(students);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_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SaveChanges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NoContent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}</a:t>
            </a:r>
            <a:endParaRPr lang="en-US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949C25-503D-FBC3-43BB-B8393527C7E6}"/>
              </a:ext>
            </a:extLst>
          </p:cNvPr>
          <p:cNvSpPr/>
          <p:nvPr/>
        </p:nvSpPr>
        <p:spPr>
          <a:xfrm>
            <a:off x="131179" y="1192628"/>
            <a:ext cx="579518" cy="304698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E82930E1-4F20-8F01-8C8A-5114C7C57638}"/>
              </a:ext>
            </a:extLst>
          </p:cNvPr>
          <p:cNvSpPr/>
          <p:nvPr/>
        </p:nvSpPr>
        <p:spPr>
          <a:xfrm>
            <a:off x="131180" y="863444"/>
            <a:ext cx="91823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IN" sz="1600" b="1" dirty="0"/>
              <a:t>D</a:t>
            </a:r>
            <a:r>
              <a:rPr lang="en-IN" sz="1600" dirty="0"/>
              <a:t>elete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429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79075-CA18-6388-30BD-D14F69C13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1DBFF7-F12B-4F3F-19D7-04C976082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Code-First v/s Database-First Approach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474EA3-A47F-E5AC-5F5B-1DC3EBECE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1.3</a:t>
            </a:r>
          </a:p>
        </p:txBody>
      </p:sp>
    </p:spTree>
    <p:extLst>
      <p:ext uri="{BB962C8B-B14F-4D97-AF65-F5344CB8AC3E}">
        <p14:creationId xmlns:p14="http://schemas.microsoft.com/office/powerpoint/2010/main" val="15223783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3F955E-B902-A8C8-B7DA-E870FFCA6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Code-First vs. Database-First Approaches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DCCE4B-3F62-F585-0236-AB3274DD3C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131030"/>
              </p:ext>
            </p:extLst>
          </p:nvPr>
        </p:nvGraphicFramePr>
        <p:xfrm>
          <a:off x="154105" y="842404"/>
          <a:ext cx="1184969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398">
                  <a:extLst>
                    <a:ext uri="{9D8B030D-6E8A-4147-A177-3AD203B41FA5}">
                      <a16:colId xmlns:a16="http://schemas.microsoft.com/office/drawing/2014/main" val="2486021971"/>
                    </a:ext>
                  </a:extLst>
                </a:gridCol>
                <a:gridCol w="4547453">
                  <a:extLst>
                    <a:ext uri="{9D8B030D-6E8A-4147-A177-3AD203B41FA5}">
                      <a16:colId xmlns:a16="http://schemas.microsoft.com/office/drawing/2014/main" val="1742950054"/>
                    </a:ext>
                  </a:extLst>
                </a:gridCol>
                <a:gridCol w="4878846">
                  <a:extLst>
                    <a:ext uri="{9D8B030D-6E8A-4147-A177-3AD203B41FA5}">
                      <a16:colId xmlns:a16="http://schemas.microsoft.com/office/drawing/2014/main" val="3290889846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IN" b="1" dirty="0"/>
                        <a:t>Aspect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Code-First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Database-First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0565828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IN" b="1"/>
                        <a:t>Starting Point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C# classes and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Existing database schema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634377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IN" b="1"/>
                        <a:t>Model Definition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Defined in C# (manual or with annotations)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Auto-generated from database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68711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IN" b="1"/>
                        <a:t>Schema Generation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Migrations create/update 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Database schema is pre-defined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269674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IN" b="1"/>
                        <a:t>Tools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Add-Migration, Update-Database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Scaffold-DbContext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6826371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IN" b="1"/>
                        <a:t>Flexibility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High (Fluent API, code-driven)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Limited (tied to database structure)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041074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IN" b="1"/>
                        <a:t>Maintenance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Easier to evolve with migrations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Re-scaffolding needed for schema changes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423957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r>
                        <a:rPr lang="en-IN" b="1"/>
                        <a:t>Use Case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New projects, code-driven teams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Legacy databases, DB-driven teams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3006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19929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2C757-E3D2-C53E-78B5-90E2C8C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9AD98A-BEE3-6D39-3214-10A327021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DbContext &amp; DbSet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34EE26-C9F9-21DC-63CD-6A527DE33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1.4</a:t>
            </a:r>
          </a:p>
        </p:txBody>
      </p:sp>
    </p:spTree>
    <p:extLst>
      <p:ext uri="{BB962C8B-B14F-4D97-AF65-F5344CB8AC3E}">
        <p14:creationId xmlns:p14="http://schemas.microsoft.com/office/powerpoint/2010/main" val="991369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A20425-A1EC-E229-72C8-675096C59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Entity Framework Core (EF Core), </a:t>
            </a:r>
            <a:r>
              <a:rPr lang="en-US" b="1" dirty="0"/>
              <a:t>DbContext</a:t>
            </a:r>
            <a:r>
              <a:rPr lang="en-US" dirty="0"/>
              <a:t> and </a:t>
            </a:r>
            <a:r>
              <a:rPr lang="en-US" b="1" dirty="0"/>
              <a:t>DbSet</a:t>
            </a:r>
            <a:r>
              <a:rPr lang="en-US" dirty="0"/>
              <a:t> are </a:t>
            </a:r>
            <a:r>
              <a:rPr lang="en-US" b="1" dirty="0"/>
              <a:t>fundamental building blocks used to interact with a database using the Object-Relational Mapping (ORM) approach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chemeClr val="accent6"/>
                </a:solidFill>
              </a:rPr>
              <a:t>DbContext </a:t>
            </a:r>
            <a:r>
              <a:rPr lang="en-IN" b="1" dirty="0">
                <a:solidFill>
                  <a:schemeClr val="accent6"/>
                </a:solidFill>
              </a:rPr>
              <a:t>– </a:t>
            </a:r>
            <a:r>
              <a:rPr lang="en-US" b="1" dirty="0">
                <a:solidFill>
                  <a:schemeClr val="accent6"/>
                </a:solidFill>
                <a:highlight>
                  <a:srgbClr val="FFFF00"/>
                </a:highlight>
              </a:rPr>
              <a:t>The Bridge to the Database</a:t>
            </a:r>
          </a:p>
          <a:p>
            <a:pPr lvl="1"/>
            <a:r>
              <a:rPr lang="en-US" dirty="0"/>
              <a:t>Think of DbContext as the </a:t>
            </a:r>
            <a:r>
              <a:rPr lang="en-US" b="1" dirty="0"/>
              <a:t>primary class </a:t>
            </a:r>
            <a:r>
              <a:rPr lang="en-US" dirty="0"/>
              <a:t>that coordinates </a:t>
            </a:r>
            <a:r>
              <a:rPr lang="en-US" b="1" dirty="0"/>
              <a:t>EF Core functionality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It manages the </a:t>
            </a:r>
            <a:r>
              <a:rPr lang="en-US" b="1" dirty="0"/>
              <a:t>connection</a:t>
            </a:r>
            <a:r>
              <a:rPr lang="en-US" dirty="0"/>
              <a:t> to the database, tracks changes, and handles </a:t>
            </a:r>
            <a:r>
              <a:rPr lang="en-US" b="1" dirty="0"/>
              <a:t>CRUD operations </a:t>
            </a:r>
            <a:r>
              <a:rPr lang="en-US" dirty="0"/>
              <a:t>(Create, Read, Update, Delete).</a:t>
            </a:r>
          </a:p>
          <a:p>
            <a:pPr lvl="1"/>
            <a:r>
              <a:rPr lang="en-US" dirty="0"/>
              <a:t>You define your own class that inherits from </a:t>
            </a:r>
            <a:r>
              <a:rPr lang="en-US" b="1" dirty="0"/>
              <a:t>DbContext</a:t>
            </a:r>
            <a:r>
              <a:rPr lang="en-US" dirty="0"/>
              <a:t> and specifies the entities (tables) it will manage.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5F1FA7-FB18-2DC1-92D3-C4D76E7CB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DbContext &amp; DbSet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6A6A0A-6BE3-D729-4468-420EBA101A60}"/>
              </a:ext>
            </a:extLst>
          </p:cNvPr>
          <p:cNvSpPr/>
          <p:nvPr/>
        </p:nvSpPr>
        <p:spPr>
          <a:xfrm>
            <a:off x="954609" y="3679162"/>
            <a:ext cx="9312635" cy="28931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b="1" dirty="0" err="1">
                <a:solidFill>
                  <a:schemeClr val="accent6"/>
                </a:solidFill>
                <a:latin typeface="Cascadia Mono" panose="020B0609020000020004" pitchFamily="49" charset="0"/>
              </a:rPr>
              <a:t>HMSContext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: </a:t>
            </a:r>
            <a:r>
              <a:rPr lang="en-IN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DbContext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b="1" dirty="0" err="1">
                <a:solidFill>
                  <a:schemeClr val="accent6"/>
                </a:solidFill>
                <a:latin typeface="Cascadia Mono" panose="020B0609020000020004" pitchFamily="49" charset="0"/>
              </a:rPr>
              <a:t>HMSContext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fr-FR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400" b="1" dirty="0" err="1">
                <a:solidFill>
                  <a:schemeClr val="accent6"/>
                </a:solidFill>
                <a:latin typeface="Cascadia Mono" panose="020B0609020000020004" pitchFamily="49" charset="0"/>
              </a:rPr>
              <a:t>HMSContext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fr-FR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DbContextOptions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fr-FR" sz="1400" b="1" dirty="0" err="1">
                <a:solidFill>
                  <a:schemeClr val="accent6"/>
                </a:solidFill>
                <a:latin typeface="Cascadia Mono" panose="020B0609020000020004" pitchFamily="49" charset="0"/>
              </a:rPr>
              <a:t>HMSContext</a:t>
            </a:r>
            <a:r>
              <a:rPr lang="fr-FR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 options)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: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base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(options)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DbSet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Doctor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 Doctors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DbSet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Patient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 Patients {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DbSet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Student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 Students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FDE8F0-1945-B1DB-BBE6-ED923CFF59EB}"/>
              </a:ext>
            </a:extLst>
          </p:cNvPr>
          <p:cNvSpPr/>
          <p:nvPr/>
        </p:nvSpPr>
        <p:spPr>
          <a:xfrm>
            <a:off x="390824" y="3679162"/>
            <a:ext cx="579518" cy="28931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53C27B64-C1C6-8990-F6CB-E6FFD127FAF1}"/>
              </a:ext>
            </a:extLst>
          </p:cNvPr>
          <p:cNvSpPr/>
          <p:nvPr/>
        </p:nvSpPr>
        <p:spPr>
          <a:xfrm>
            <a:off x="390825" y="3349978"/>
            <a:ext cx="91823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b="1" dirty="0"/>
              <a:t>Example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277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6410E3-45B7-34EA-B108-42D6D2699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/>
                </a:solidFill>
              </a:rPr>
              <a:t>DbSet&lt;</a:t>
            </a:r>
            <a:r>
              <a:rPr lang="en-US" b="1" dirty="0" err="1">
                <a:solidFill>
                  <a:schemeClr val="accent6"/>
                </a:solidFill>
              </a:rPr>
              <a:t>TEntity</a:t>
            </a:r>
            <a:r>
              <a:rPr lang="en-US" b="1" dirty="0">
                <a:solidFill>
                  <a:schemeClr val="accent6"/>
                </a:solidFill>
              </a:rPr>
              <a:t>&gt; – Represents a Table</a:t>
            </a:r>
          </a:p>
          <a:p>
            <a:pPr lvl="1"/>
            <a:r>
              <a:rPr lang="en-US" b="1" dirty="0"/>
              <a:t>DbSet&lt;</a:t>
            </a:r>
            <a:r>
              <a:rPr lang="en-US" b="1" dirty="0" err="1"/>
              <a:t>TEntity</a:t>
            </a:r>
            <a:r>
              <a:rPr lang="en-US" b="1" dirty="0"/>
              <a:t>&gt; </a:t>
            </a:r>
            <a:r>
              <a:rPr lang="en-US" dirty="0"/>
              <a:t>represents a </a:t>
            </a:r>
            <a:r>
              <a:rPr lang="en-US" b="1" dirty="0"/>
              <a:t>table in the database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Each </a:t>
            </a:r>
            <a:r>
              <a:rPr lang="en-US" b="1" dirty="0"/>
              <a:t>DbSet</a:t>
            </a:r>
            <a:r>
              <a:rPr lang="en-US" dirty="0"/>
              <a:t> property allows querying and saving instances of that entity (</a:t>
            </a:r>
            <a:r>
              <a:rPr lang="en-US" b="1" dirty="0"/>
              <a:t>T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EF Core uses it to perform LINQ queries and track entities.</a:t>
            </a:r>
          </a:p>
          <a:p>
            <a:pPr lvl="1"/>
            <a:r>
              <a:rPr lang="en-US" dirty="0"/>
              <a:t>It allows querying and CRUD operations.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4EE9E9-DDCC-7A8E-214F-6D43034CE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DbContext &amp; DbSet Cont..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D4B80D-FB84-2358-FB8B-9DAB30600DB4}"/>
              </a:ext>
            </a:extLst>
          </p:cNvPr>
          <p:cNvSpPr/>
          <p:nvPr/>
        </p:nvSpPr>
        <p:spPr>
          <a:xfrm>
            <a:off x="694964" y="2945385"/>
            <a:ext cx="5587303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Doctor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DoctorId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DoctorName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ContactNo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? Age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DateTime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? Dob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?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BloodGroup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5A2FE3-24C6-F139-0064-560C20DE4798}"/>
              </a:ext>
            </a:extLst>
          </p:cNvPr>
          <p:cNvSpPr/>
          <p:nvPr/>
        </p:nvSpPr>
        <p:spPr>
          <a:xfrm>
            <a:off x="131179" y="2945385"/>
            <a:ext cx="579518" cy="203132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F092C917-982A-3537-20D5-DDAC09DCE3EE}"/>
              </a:ext>
            </a:extLst>
          </p:cNvPr>
          <p:cNvSpPr/>
          <p:nvPr/>
        </p:nvSpPr>
        <p:spPr>
          <a:xfrm>
            <a:off x="131180" y="2616201"/>
            <a:ext cx="1516998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b="1" dirty="0" err="1"/>
              <a:t>DoctorModel.cs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A075B4-E6EB-A9EB-6B80-FE91E80B3CC2}"/>
              </a:ext>
            </a:extLst>
          </p:cNvPr>
          <p:cNvSpPr/>
          <p:nvPr/>
        </p:nvSpPr>
        <p:spPr>
          <a:xfrm>
            <a:off x="6915142" y="3014566"/>
            <a:ext cx="5214769" cy="3077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DbSet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400" dirty="0">
                <a:solidFill>
                  <a:srgbClr val="2B91AF"/>
                </a:solidFill>
                <a:latin typeface="Cascadia Mono" panose="020B0609020000020004" pitchFamily="49" charset="0"/>
              </a:rPr>
              <a:t>Doctor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&gt; Doctors {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get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set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; }</a:t>
            </a:r>
            <a:endParaRPr lang="en-IN" sz="14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82B677-28B7-E2CC-AFEA-DBDDDC15DACC}"/>
              </a:ext>
            </a:extLst>
          </p:cNvPr>
          <p:cNvSpPr/>
          <p:nvPr/>
        </p:nvSpPr>
        <p:spPr>
          <a:xfrm>
            <a:off x="6351357" y="3014566"/>
            <a:ext cx="579518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AC9A55FF-08BB-E8CF-8DFF-5AAA97A1D149}"/>
              </a:ext>
            </a:extLst>
          </p:cNvPr>
          <p:cNvSpPr/>
          <p:nvPr/>
        </p:nvSpPr>
        <p:spPr>
          <a:xfrm>
            <a:off x="6351357" y="2685382"/>
            <a:ext cx="1412193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b="1" dirty="0"/>
              <a:t>In the Context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0C621E-B8B8-80CE-C276-800D5DE0995C}"/>
              </a:ext>
            </a:extLst>
          </p:cNvPr>
          <p:cNvSpPr/>
          <p:nvPr/>
        </p:nvSpPr>
        <p:spPr>
          <a:xfrm>
            <a:off x="6915142" y="3803770"/>
            <a:ext cx="5214769" cy="7386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allDoctors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= _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context.Doctors.ToList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doctor = _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context.Doctors.Find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(1);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_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</a:t>
            </a:r>
            <a:r>
              <a:rPr lang="en-IN" sz="14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SaveChanges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BFC573-E42C-DD06-688E-A2EE8A8E81E0}"/>
              </a:ext>
            </a:extLst>
          </p:cNvPr>
          <p:cNvSpPr/>
          <p:nvPr/>
        </p:nvSpPr>
        <p:spPr>
          <a:xfrm>
            <a:off x="6351357" y="3803770"/>
            <a:ext cx="579518" cy="73866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D0DCA878-699D-1536-A3D8-7508DF1667F0}"/>
              </a:ext>
            </a:extLst>
          </p:cNvPr>
          <p:cNvSpPr/>
          <p:nvPr/>
        </p:nvSpPr>
        <p:spPr>
          <a:xfrm>
            <a:off x="6351357" y="3474586"/>
            <a:ext cx="155651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b="1" dirty="0"/>
              <a:t>In the Controller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44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84778-3C66-C2E1-464A-BF7A3DBB5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E5CC19-20ED-C14A-B8E3-0DFDFB211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EF Core Migrations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6057B0-3A36-5343-8AEC-7E2706DA4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1.5</a:t>
            </a:r>
          </a:p>
        </p:txBody>
      </p:sp>
    </p:spTree>
    <p:extLst>
      <p:ext uri="{BB962C8B-B14F-4D97-AF65-F5344CB8AC3E}">
        <p14:creationId xmlns:p14="http://schemas.microsoft.com/office/powerpoint/2010/main" val="163892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F2B5FA-3CA3-F6D0-DBC7-9543150C6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Migration</a:t>
            </a:r>
            <a:r>
              <a:rPr lang="en-IN" dirty="0"/>
              <a:t> is a feature of </a:t>
            </a:r>
            <a:r>
              <a:rPr lang="en-IN" b="1" dirty="0"/>
              <a:t>Entity Framework Core (EF Core)</a:t>
            </a:r>
            <a:r>
              <a:rPr lang="en-IN" dirty="0"/>
              <a:t> that automatically creates or updates the database based on your C# model classes.</a:t>
            </a:r>
          </a:p>
          <a:p>
            <a:r>
              <a:rPr lang="en-IN" b="1" dirty="0"/>
              <a:t>Migration is the bridge between your C# Model classes and the SQL Database.</a:t>
            </a:r>
          </a:p>
          <a:p>
            <a:r>
              <a:rPr lang="en-IN" dirty="0"/>
              <a:t>Instead of manually writing SQL statements like CREATE TABLE or ALTER TABLE, EF Core generates them automatically.</a:t>
            </a:r>
          </a:p>
          <a:p>
            <a:r>
              <a:rPr lang="en-IN" b="1" dirty="0"/>
              <a:t>Migration</a:t>
            </a:r>
            <a:r>
              <a:rPr lang="en-IN" dirty="0"/>
              <a:t> keeps your </a:t>
            </a:r>
            <a:r>
              <a:rPr lang="en-IN" b="1" dirty="0"/>
              <a:t>database schema synchronized</a:t>
            </a:r>
            <a:r>
              <a:rPr lang="en-IN" dirty="0"/>
              <a:t> with your </a:t>
            </a:r>
            <a:r>
              <a:rPr lang="en-IN" b="1" dirty="0"/>
              <a:t>C# model classes</a:t>
            </a:r>
            <a:r>
              <a:rPr lang="en-IN" dirty="0"/>
              <a:t>.</a:t>
            </a:r>
          </a:p>
          <a:p>
            <a:r>
              <a:rPr lang="en-IN" b="1" dirty="0">
                <a:solidFill>
                  <a:schemeClr val="accent6"/>
                </a:solidFill>
              </a:rPr>
              <a:t>Prerequisites</a:t>
            </a:r>
          </a:p>
          <a:p>
            <a:pPr lvl="1"/>
            <a:r>
              <a:rPr lang="en-IN" dirty="0"/>
              <a:t>Make sure your project has:</a:t>
            </a:r>
          </a:p>
          <a:p>
            <a:pPr lvl="2"/>
            <a:r>
              <a:rPr lang="en-IN" dirty="0"/>
              <a:t>A </a:t>
            </a:r>
            <a:r>
              <a:rPr lang="en-IN" b="1" dirty="0" err="1">
                <a:solidFill>
                  <a:schemeClr val="accent6"/>
                </a:solidFill>
              </a:rPr>
              <a:t>DbContext</a:t>
            </a:r>
            <a:r>
              <a:rPr lang="en-IN" dirty="0"/>
              <a:t> class.</a:t>
            </a:r>
          </a:p>
          <a:p>
            <a:pPr lvl="2"/>
            <a:r>
              <a:rPr lang="en-IN" dirty="0"/>
              <a:t>A database provider package installed (e.g., </a:t>
            </a:r>
            <a:r>
              <a:rPr lang="en-IN" b="1" dirty="0" err="1">
                <a:solidFill>
                  <a:schemeClr val="accent6"/>
                </a:solidFill>
              </a:rPr>
              <a:t>Microsoft.EntityFrameworkCore.SqlServer</a:t>
            </a:r>
            <a:r>
              <a:rPr lang="en-IN" dirty="0"/>
              <a:t>)</a:t>
            </a:r>
          </a:p>
          <a:p>
            <a:endParaRPr lang="en-IN" dirty="0"/>
          </a:p>
          <a:p>
            <a:endParaRPr lang="en-IN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FB5BA3-D8EE-65FC-35F9-6209719A0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 Core Migrations</a:t>
            </a:r>
          </a:p>
        </p:txBody>
      </p:sp>
    </p:spTree>
    <p:extLst>
      <p:ext uri="{BB962C8B-B14F-4D97-AF65-F5344CB8AC3E}">
        <p14:creationId xmlns:p14="http://schemas.microsoft.com/office/powerpoint/2010/main" val="978131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7151EC-60A4-20A1-CF57-68EB0792F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0" b="5609"/>
          <a:stretch>
            <a:fillRect/>
          </a:stretch>
        </p:blipFill>
        <p:spPr>
          <a:xfrm>
            <a:off x="887502" y="821266"/>
            <a:ext cx="10416995" cy="4923409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9EBC8D2-D91A-F7C1-B6D3-DCAE9FD06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 Core Migrations Cont..</a:t>
            </a:r>
          </a:p>
        </p:txBody>
      </p:sp>
    </p:spTree>
    <p:extLst>
      <p:ext uri="{BB962C8B-B14F-4D97-AF65-F5344CB8AC3E}">
        <p14:creationId xmlns:p14="http://schemas.microsoft.com/office/powerpoint/2010/main" val="39910112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FD1654-6E3E-D722-B01A-D8D5C17AAF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Common Migration Commands (</a:t>
            </a:r>
            <a:r>
              <a:rPr lang="en-US" sz="2000" dirty="0"/>
              <a:t>Use these in the </a:t>
            </a:r>
            <a:r>
              <a:rPr lang="en-US" sz="2000" b="1" dirty="0"/>
              <a:t>Package Manager Console</a:t>
            </a:r>
            <a:r>
              <a:rPr lang="en-US" sz="2000" dirty="0"/>
              <a:t> (or </a:t>
            </a:r>
            <a:r>
              <a:rPr lang="en-US" sz="2000" b="1" dirty="0"/>
              <a:t>CLI</a:t>
            </a:r>
            <a:r>
              <a:rPr lang="en-US" sz="2000" dirty="0"/>
              <a:t>) in Visual Studio</a:t>
            </a:r>
            <a:r>
              <a:rPr lang="en-US" dirty="0"/>
              <a:t>)</a:t>
            </a:r>
            <a:endParaRPr lang="en-IN" b="1" dirty="0"/>
          </a:p>
          <a:p>
            <a:pPr marL="457200" lvl="1" indent="0">
              <a:buNone/>
            </a:pP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AFF3D0-5552-A225-A1AC-23069AB91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EF Core Migrations Commands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00C0A61-BB20-26CA-E1BE-B80C5BC5C1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5132465"/>
              </p:ext>
            </p:extLst>
          </p:nvPr>
        </p:nvGraphicFramePr>
        <p:xfrm>
          <a:off x="524934" y="1270000"/>
          <a:ext cx="10707510" cy="2766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0943">
                  <a:extLst>
                    <a:ext uri="{9D8B030D-6E8A-4147-A177-3AD203B41FA5}">
                      <a16:colId xmlns:a16="http://schemas.microsoft.com/office/drawing/2014/main" val="3840815945"/>
                    </a:ext>
                  </a:extLst>
                </a:gridCol>
                <a:gridCol w="7856567">
                  <a:extLst>
                    <a:ext uri="{9D8B030D-6E8A-4147-A177-3AD203B41FA5}">
                      <a16:colId xmlns:a16="http://schemas.microsoft.com/office/drawing/2014/main" val="540947993"/>
                    </a:ext>
                  </a:extLst>
                </a:gridCol>
              </a:tblGrid>
              <a:tr h="3407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dirty="0">
                          <a:effectLst/>
                        </a:rPr>
                        <a:t>Command</a:t>
                      </a:r>
                    </a:p>
                  </a:txBody>
                  <a:tcPr marL="33867" marR="33867" marT="33867" marB="33867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2000" dirty="0">
                          <a:effectLst/>
                        </a:rPr>
                        <a:t>Purpose</a:t>
                      </a:r>
                    </a:p>
                  </a:txBody>
                  <a:tcPr marL="33867" marR="33867" marT="33867" marB="33867" anchor="b"/>
                </a:tc>
                <a:extLst>
                  <a:ext uri="{0D108BD9-81ED-4DB2-BD59-A6C34878D82A}">
                    <a16:rowId xmlns:a16="http://schemas.microsoft.com/office/drawing/2014/main" val="3869333840"/>
                  </a:ext>
                </a:extLst>
              </a:tr>
              <a:tr h="34078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800" b="1" dirty="0">
                          <a:effectLst/>
                          <a:latin typeface="Consolas" panose="020B0609020204030204" pitchFamily="49" charset="0"/>
                        </a:rPr>
                        <a:t>add-migration [name]</a:t>
                      </a:r>
                    </a:p>
                  </a:txBody>
                  <a:tcPr marL="33867" marR="33867" marT="33867" marB="33867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Create a new migration with the specific migration name.</a:t>
                      </a:r>
                    </a:p>
                  </a:txBody>
                  <a:tcPr marL="33867" marR="33867" marT="33867" marB="33867"/>
                </a:tc>
                <a:extLst>
                  <a:ext uri="{0D108BD9-81ED-4DB2-BD59-A6C34878D82A}">
                    <a16:rowId xmlns:a16="http://schemas.microsoft.com/office/drawing/2014/main" val="2183933107"/>
                  </a:ext>
                </a:extLst>
              </a:tr>
              <a:tr h="34078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800" b="1" dirty="0">
                          <a:effectLst/>
                          <a:latin typeface="Consolas" panose="020B0609020204030204" pitchFamily="49" charset="0"/>
                        </a:rPr>
                        <a:t>remove-migration</a:t>
                      </a:r>
                    </a:p>
                  </a:txBody>
                  <a:tcPr marL="33867" marR="33867" marT="33867" marB="33867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Remove the latest migration.</a:t>
                      </a:r>
                    </a:p>
                  </a:txBody>
                  <a:tcPr marL="33867" marR="33867" marT="33867" marB="33867"/>
                </a:tc>
                <a:extLst>
                  <a:ext uri="{0D108BD9-81ED-4DB2-BD59-A6C34878D82A}">
                    <a16:rowId xmlns:a16="http://schemas.microsoft.com/office/drawing/2014/main" val="1324991873"/>
                  </a:ext>
                </a:extLst>
              </a:tr>
              <a:tr h="34078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800" b="1">
                          <a:effectLst/>
                          <a:latin typeface="Consolas" panose="020B0609020204030204" pitchFamily="49" charset="0"/>
                        </a:rPr>
                        <a:t>update-database</a:t>
                      </a:r>
                    </a:p>
                  </a:txBody>
                  <a:tcPr marL="33867" marR="33867" marT="33867" marB="33867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Update the database to the latest migration.</a:t>
                      </a:r>
                    </a:p>
                  </a:txBody>
                  <a:tcPr marL="33867" marR="33867" marT="33867" marB="33867"/>
                </a:tc>
                <a:extLst>
                  <a:ext uri="{0D108BD9-81ED-4DB2-BD59-A6C34878D82A}">
                    <a16:rowId xmlns:a16="http://schemas.microsoft.com/office/drawing/2014/main" val="2057234890"/>
                  </a:ext>
                </a:extLst>
              </a:tr>
              <a:tr h="34078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800" b="1">
                          <a:effectLst/>
                          <a:latin typeface="Consolas" panose="020B0609020204030204" pitchFamily="49" charset="0"/>
                        </a:rPr>
                        <a:t>update-database [name]</a:t>
                      </a:r>
                    </a:p>
                  </a:txBody>
                  <a:tcPr marL="33867" marR="33867" marT="33867" marB="33867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Update the database to a specific migration name point.</a:t>
                      </a:r>
                    </a:p>
                  </a:txBody>
                  <a:tcPr marL="33867" marR="33867" marT="33867" marB="33867"/>
                </a:tc>
                <a:extLst>
                  <a:ext uri="{0D108BD9-81ED-4DB2-BD59-A6C34878D82A}">
                    <a16:rowId xmlns:a16="http://schemas.microsoft.com/office/drawing/2014/main" val="3085655174"/>
                  </a:ext>
                </a:extLst>
              </a:tr>
              <a:tr h="34078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800" b="1" dirty="0">
                          <a:effectLst/>
                          <a:latin typeface="Consolas" panose="020B0609020204030204" pitchFamily="49" charset="0"/>
                        </a:rPr>
                        <a:t>get-migration(s)</a:t>
                      </a:r>
                    </a:p>
                  </a:txBody>
                  <a:tcPr marL="33867" marR="33867" marT="33867" marB="33867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Lists all available migrations.</a:t>
                      </a:r>
                    </a:p>
                  </a:txBody>
                  <a:tcPr marL="33867" marR="33867" marT="33867" marB="33867"/>
                </a:tc>
                <a:extLst>
                  <a:ext uri="{0D108BD9-81ED-4DB2-BD59-A6C34878D82A}">
                    <a16:rowId xmlns:a16="http://schemas.microsoft.com/office/drawing/2014/main" val="4204503727"/>
                  </a:ext>
                </a:extLst>
              </a:tr>
              <a:tr h="34078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800" b="1">
                          <a:effectLst/>
                          <a:latin typeface="Consolas" panose="020B0609020204030204" pitchFamily="49" charset="0"/>
                        </a:rPr>
                        <a:t>script-migration</a:t>
                      </a:r>
                    </a:p>
                  </a:txBody>
                  <a:tcPr marL="33867" marR="33867" marT="33867" marB="33867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Generates a SQL script for all migrations.</a:t>
                      </a:r>
                    </a:p>
                  </a:txBody>
                  <a:tcPr marL="33867" marR="33867" marT="33867" marB="33867"/>
                </a:tc>
                <a:extLst>
                  <a:ext uri="{0D108BD9-81ED-4DB2-BD59-A6C34878D82A}">
                    <a16:rowId xmlns:a16="http://schemas.microsoft.com/office/drawing/2014/main" val="692673267"/>
                  </a:ext>
                </a:extLst>
              </a:tr>
              <a:tr h="340783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IN" sz="1800" b="1" dirty="0">
                          <a:effectLst/>
                          <a:latin typeface="Consolas" panose="020B0609020204030204" pitchFamily="49" charset="0"/>
                        </a:rPr>
                        <a:t>drop-database</a:t>
                      </a:r>
                    </a:p>
                  </a:txBody>
                  <a:tcPr marL="33867" marR="33867" marT="33867" marB="33867"/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0" hangingPunct="1">
                        <a:buNone/>
                      </a:pPr>
                      <a:r>
                        <a:rPr lang="en-I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Drop the database.</a:t>
                      </a:r>
                    </a:p>
                  </a:txBody>
                  <a:tcPr marL="33867" marR="33867" marT="33867" marB="33867"/>
                </a:tc>
                <a:extLst>
                  <a:ext uri="{0D108BD9-81ED-4DB2-BD59-A6C34878D82A}">
                    <a16:rowId xmlns:a16="http://schemas.microsoft.com/office/drawing/2014/main" val="2003491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732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4435B1-F65E-1A8B-69B3-1C154DAB3A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763" y="971682"/>
            <a:ext cx="11928475" cy="537501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B991A50-8267-449D-FA43-DA656021E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 Migration | </a:t>
            </a:r>
            <a:r>
              <a:rPr lang="en-IN" sz="3600" dirty="0">
                <a:latin typeface="Consolas" panose="020B0609020204030204" pitchFamily="49" charset="0"/>
              </a:rPr>
              <a:t>add-migration [name]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F2B13-DEA8-350C-0CC7-27EA268337D7}"/>
              </a:ext>
            </a:extLst>
          </p:cNvPr>
          <p:cNvSpPr/>
          <p:nvPr/>
        </p:nvSpPr>
        <p:spPr>
          <a:xfrm>
            <a:off x="9414933" y="4199467"/>
            <a:ext cx="2645304" cy="57573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3848181-7FFE-E6B8-9395-832D986991C0}"/>
              </a:ext>
            </a:extLst>
          </p:cNvPr>
          <p:cNvCxnSpPr/>
          <p:nvPr/>
        </p:nvCxnSpPr>
        <p:spPr>
          <a:xfrm>
            <a:off x="784578" y="5046133"/>
            <a:ext cx="1986844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064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399DCF-233E-ECB6-F8D0-E5A06CFEE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8633257" cy="5590565"/>
          </a:xfrm>
        </p:spPr>
        <p:txBody>
          <a:bodyPr/>
          <a:lstStyle/>
          <a:p>
            <a:r>
              <a:rPr lang="en-IN" b="1" dirty="0">
                <a:highlight>
                  <a:srgbClr val="C0C0C0"/>
                </a:highlight>
              </a:rPr>
              <a:t>Add-Migration</a:t>
            </a:r>
            <a:r>
              <a:rPr lang="en-IN" dirty="0"/>
              <a:t> does </a:t>
            </a:r>
            <a:r>
              <a:rPr lang="en-IN" b="1" dirty="0"/>
              <a:t>not</a:t>
            </a:r>
            <a:r>
              <a:rPr lang="en-IN" dirty="0"/>
              <a:t> create the database. It only creates migration files inside the </a:t>
            </a:r>
            <a:r>
              <a:rPr lang="en-IN" b="1" dirty="0"/>
              <a:t>Migrations</a:t>
            </a:r>
            <a:r>
              <a:rPr lang="en-IN" dirty="0"/>
              <a:t> folder.</a:t>
            </a:r>
          </a:p>
          <a:p>
            <a:r>
              <a:rPr lang="en-IN" b="1" dirty="0"/>
              <a:t>&lt;timestamp&gt;_&lt;</a:t>
            </a:r>
            <a:r>
              <a:rPr lang="en-IN" b="1" dirty="0" err="1"/>
              <a:t>MigrationName</a:t>
            </a:r>
            <a:r>
              <a:rPr lang="en-IN" b="1" dirty="0"/>
              <a:t>&gt;.cs</a:t>
            </a:r>
            <a:r>
              <a:rPr lang="en-IN" dirty="0"/>
              <a:t> – Contains the migration code.</a:t>
            </a:r>
          </a:p>
          <a:p>
            <a:pPr lvl="1"/>
            <a:r>
              <a:rPr lang="en-IN" b="1" dirty="0"/>
              <a:t>Up()</a:t>
            </a:r>
            <a:r>
              <a:rPr lang="en-IN" dirty="0"/>
              <a:t> → Applies database changes (Create/Modify objects). </a:t>
            </a:r>
          </a:p>
          <a:p>
            <a:pPr lvl="1"/>
            <a:r>
              <a:rPr lang="en-IN" b="1" dirty="0"/>
              <a:t>Down()</a:t>
            </a:r>
            <a:r>
              <a:rPr lang="en-IN" dirty="0"/>
              <a:t> → Reverts database changes (Undo/Remove objects). </a:t>
            </a:r>
          </a:p>
          <a:p>
            <a:r>
              <a:rPr lang="en-IN" b="1" dirty="0"/>
              <a:t>&lt;</a:t>
            </a:r>
            <a:r>
              <a:rPr lang="en-IN" b="1" dirty="0" err="1"/>
              <a:t>DbContextName</a:t>
            </a:r>
            <a:r>
              <a:rPr lang="en-IN" b="1" dirty="0"/>
              <a:t>&gt;</a:t>
            </a:r>
            <a:r>
              <a:rPr lang="en-IN" b="1" dirty="0" err="1"/>
              <a:t>ModelSnapshot.cs</a:t>
            </a:r>
            <a:r>
              <a:rPr lang="en-IN" dirty="0"/>
              <a:t> – Stores a snapshot of the current model, which EF Core uses to detect changes when creating the next migration.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988BC35-AD98-6789-2486-7FB7D9736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 Migration | </a:t>
            </a:r>
            <a:r>
              <a:rPr lang="en-IN" sz="3600" dirty="0">
                <a:latin typeface="Consolas" panose="020B0609020204030204" pitchFamily="49" charset="0"/>
              </a:rPr>
              <a:t>add-migration [name]</a:t>
            </a:r>
            <a:endParaRPr lang="en-IN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39300A4A-9F95-9708-2401-3A3C126069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5552" t="13538"/>
          <a:stretch>
            <a:fillRect/>
          </a:stretch>
        </p:blipFill>
        <p:spPr>
          <a:xfrm>
            <a:off x="8885207" y="948906"/>
            <a:ext cx="2916238" cy="464728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C682694-10CD-50C2-7E24-D60E3DDF7D49}"/>
              </a:ext>
            </a:extLst>
          </p:cNvPr>
          <p:cNvSpPr/>
          <p:nvPr/>
        </p:nvSpPr>
        <p:spPr>
          <a:xfrm>
            <a:off x="9336637" y="3437627"/>
            <a:ext cx="2410178" cy="62541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875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FB0B46-55FA-36FC-4FE6-D8D5549D7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6FB0AE-198A-4653-EE12-BC1F3F39B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Migrations after Initial Migration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7B6EBE-793D-771E-07D5-78E3215D8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80" y="863444"/>
            <a:ext cx="9532110" cy="557888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681A9A2-3409-126D-0A6D-DA12EA308F01}"/>
              </a:ext>
            </a:extLst>
          </p:cNvPr>
          <p:cNvCxnSpPr/>
          <p:nvPr/>
        </p:nvCxnSpPr>
        <p:spPr>
          <a:xfrm>
            <a:off x="519289" y="5209822"/>
            <a:ext cx="1151467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B75943-F7D7-0F48-62E5-73C72FFE036B}"/>
              </a:ext>
            </a:extLst>
          </p:cNvPr>
          <p:cNvCxnSpPr>
            <a:cxnSpLocks/>
          </p:cNvCxnSpPr>
          <p:nvPr/>
        </p:nvCxnSpPr>
        <p:spPr>
          <a:xfrm>
            <a:off x="7320845" y="3674533"/>
            <a:ext cx="1490133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3498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E0B329-4DD4-9644-A193-A2238C58F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105F0C-9A36-FC56-5AB7-5452CEC40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Removing Migration | </a:t>
            </a:r>
            <a:r>
              <a:rPr lang="en-IN" sz="3600" dirty="0">
                <a:latin typeface="Consolas" panose="020B0609020204030204" pitchFamily="49" charset="0"/>
              </a:rPr>
              <a:t>remove-migration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E70ACF-725C-28AF-ABD1-7032542C4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78" y="863443"/>
            <a:ext cx="9529447" cy="5590565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36C50C0-4004-D579-B50F-63D84B6029D8}"/>
              </a:ext>
            </a:extLst>
          </p:cNvPr>
          <p:cNvCxnSpPr>
            <a:cxnSpLocks/>
          </p:cNvCxnSpPr>
          <p:nvPr/>
        </p:nvCxnSpPr>
        <p:spPr>
          <a:xfrm>
            <a:off x="304800" y="5768622"/>
            <a:ext cx="2190044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9142774-B73E-3AF6-4D83-50825B119EF7}"/>
              </a:ext>
            </a:extLst>
          </p:cNvPr>
          <p:cNvSpPr/>
          <p:nvPr/>
        </p:nvSpPr>
        <p:spPr>
          <a:xfrm>
            <a:off x="7010400" y="3234267"/>
            <a:ext cx="1913467" cy="440266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855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2D44D5-02C5-BA25-BD2A-C229B8E9C1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0059" y="819160"/>
            <a:ext cx="11811882" cy="5079232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02F8FDD-FD9A-FF55-CC6D-7A16E9359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 All Migrations | </a:t>
            </a:r>
            <a:r>
              <a:rPr lang="en-IN" dirty="0">
                <a:latin typeface="Consolas" panose="020B0609020204030204" pitchFamily="49" charset="0"/>
              </a:rPr>
              <a:t>get-migration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5933AE22-F6AD-6E80-DE7F-021EAE824D22}"/>
              </a:ext>
            </a:extLst>
          </p:cNvPr>
          <p:cNvSpPr/>
          <p:nvPr/>
        </p:nvSpPr>
        <p:spPr>
          <a:xfrm>
            <a:off x="1518356" y="2263422"/>
            <a:ext cx="389466" cy="152400"/>
          </a:xfrm>
          <a:prstGeom prst="leftArrow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9E97098D-DA65-8175-1EDB-30CB369D02BE}"/>
              </a:ext>
            </a:extLst>
          </p:cNvPr>
          <p:cNvSpPr/>
          <p:nvPr/>
        </p:nvSpPr>
        <p:spPr>
          <a:xfrm>
            <a:off x="3539068" y="4741333"/>
            <a:ext cx="389466" cy="152400"/>
          </a:xfrm>
          <a:prstGeom prst="leftArrow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AA5D98-ED8B-4998-F189-88D0BA19C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5014430"/>
            <a:ext cx="5542844" cy="123772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9191626-AF65-80E2-24B7-23FF889B0A9D}"/>
              </a:ext>
            </a:extLst>
          </p:cNvPr>
          <p:cNvSpPr/>
          <p:nvPr/>
        </p:nvSpPr>
        <p:spPr>
          <a:xfrm>
            <a:off x="8686800" y="3776135"/>
            <a:ext cx="2410178" cy="69991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A7DA14E-0C0C-BA89-5400-AC0A6679131B}"/>
              </a:ext>
            </a:extLst>
          </p:cNvPr>
          <p:cNvCxnSpPr>
            <a:cxnSpLocks/>
          </p:cNvCxnSpPr>
          <p:nvPr/>
        </p:nvCxnSpPr>
        <p:spPr>
          <a:xfrm>
            <a:off x="632178" y="2415822"/>
            <a:ext cx="801511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0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D695AB-9722-F2A4-8E55-21910AEBA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Updating a database using EF Core Migrations</a:t>
            </a:r>
            <a:r>
              <a:rPr lang="en-IN" dirty="0"/>
              <a:t> means applying or reverting database changes using migration files.</a:t>
            </a:r>
          </a:p>
          <a:p>
            <a:r>
              <a:rPr lang="en-IN" dirty="0"/>
              <a:t>The </a:t>
            </a:r>
            <a:r>
              <a:rPr lang="en-IN" b="1" dirty="0"/>
              <a:t>Update-Database</a:t>
            </a:r>
            <a:r>
              <a:rPr lang="en-IN" dirty="0"/>
              <a:t> command checks which migrations have already been applied. </a:t>
            </a:r>
          </a:p>
          <a:p>
            <a:r>
              <a:rPr lang="en-IN" dirty="0"/>
              <a:t>If a newer migration exists, EF Core runs the </a:t>
            </a:r>
            <a:r>
              <a:rPr lang="en-IN" b="1" dirty="0"/>
              <a:t>Up()</a:t>
            </a:r>
            <a:r>
              <a:rPr lang="en-IN" dirty="0"/>
              <a:t> method to apply changes. </a:t>
            </a:r>
          </a:p>
          <a:p>
            <a:r>
              <a:rPr lang="en-IN" dirty="0"/>
              <a:t>If reverting to an older migration, EF Core runs the </a:t>
            </a:r>
            <a:r>
              <a:rPr lang="en-IN" b="1" dirty="0"/>
              <a:t>Down()</a:t>
            </a:r>
            <a:r>
              <a:rPr lang="en-IN" dirty="0"/>
              <a:t> method to undo changes. </a:t>
            </a:r>
          </a:p>
          <a:p>
            <a:r>
              <a:rPr lang="en-IN" dirty="0"/>
              <a:t>EF Core automatically decides whether to apply or revert migrations based on the current database version.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1F7CD0-68EA-321C-7331-12EA8EFB1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Update-Database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108C2A-488C-BDB2-C143-2D71770737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36" y="3774496"/>
            <a:ext cx="6245966" cy="2090664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84D1D110-7468-E754-2A41-45C5AE31E4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3910" y="1863305"/>
            <a:ext cx="896910" cy="810443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C7AAC88-721E-11DA-0A47-0678E69B642E}"/>
              </a:ext>
            </a:extLst>
          </p:cNvPr>
          <p:cNvSpPr/>
          <p:nvPr/>
        </p:nvSpPr>
        <p:spPr>
          <a:xfrm>
            <a:off x="7713335" y="4138341"/>
            <a:ext cx="3604522" cy="136297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i="1" dirty="0">
                <a:solidFill>
                  <a:schemeClr val="tx1"/>
                </a:solidFill>
                <a:highlight>
                  <a:srgbClr val="FFFF00"/>
                </a:highlight>
              </a:rPr>
              <a:t>Update-Database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>
                <a:solidFill>
                  <a:schemeClr val="accent6"/>
                </a:solidFill>
              </a:rPr>
              <a:t>compares the database with migration files and executes</a:t>
            </a:r>
            <a:r>
              <a:rPr lang="en-US" sz="2000" i="1" dirty="0">
                <a:solidFill>
                  <a:schemeClr val="tx1"/>
                </a:solidFill>
              </a:rPr>
              <a:t> </a:t>
            </a:r>
            <a:r>
              <a:rPr lang="en-US" sz="2000" i="1" dirty="0">
                <a:solidFill>
                  <a:schemeClr val="accent3">
                    <a:lumMod val="75000"/>
                  </a:schemeClr>
                </a:solidFill>
              </a:rPr>
              <a:t>Up() to apply changes </a:t>
            </a:r>
            <a:r>
              <a:rPr lang="en-US" sz="2000" i="1" dirty="0">
                <a:solidFill>
                  <a:schemeClr val="tx1"/>
                </a:solidFill>
              </a:rPr>
              <a:t>or </a:t>
            </a:r>
            <a:r>
              <a:rPr lang="en-US" sz="2000" i="1" dirty="0">
                <a:solidFill>
                  <a:srgbClr val="FF0000"/>
                </a:solidFill>
              </a:rPr>
              <a:t>Down() to undo changes</a:t>
            </a:r>
            <a:r>
              <a:rPr lang="en-US" sz="2000" i="1" dirty="0">
                <a:solidFill>
                  <a:schemeClr val="tx1"/>
                </a:solidFill>
              </a:rPr>
              <a:t>.</a:t>
            </a:r>
            <a:endParaRPr lang="en-IN" sz="2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716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79CE9-DCFB-2D7A-D576-40C40599F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DFF90E-382D-45E3-2158-15DD43CDD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Tracking and No-Tracking Queries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ABDAEC-EDCD-3B44-4F8B-12B930389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1.6</a:t>
            </a:r>
          </a:p>
        </p:txBody>
      </p:sp>
    </p:spTree>
    <p:extLst>
      <p:ext uri="{BB962C8B-B14F-4D97-AF65-F5344CB8AC3E}">
        <p14:creationId xmlns:p14="http://schemas.microsoft.com/office/powerpoint/2010/main" val="27988166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3F2EBE-E64B-42B3-B0A5-1D484DEBE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By default, </a:t>
            </a:r>
            <a:r>
              <a:rPr lang="en-IN" b="1" dirty="0"/>
              <a:t>Entity Framework Core tracks all entities</a:t>
            </a:r>
            <a:r>
              <a:rPr lang="en-IN" dirty="0"/>
              <a:t> that it retrieves from the database.</a:t>
            </a:r>
          </a:p>
          <a:p>
            <a:r>
              <a:rPr lang="en-IN" dirty="0"/>
              <a:t>This means EF Core remembers:</a:t>
            </a:r>
          </a:p>
          <a:p>
            <a:pPr lvl="1"/>
            <a:r>
              <a:rPr lang="en-IN" dirty="0"/>
              <a:t>Which objects were loaded. </a:t>
            </a:r>
          </a:p>
          <a:p>
            <a:pPr lvl="1"/>
            <a:r>
              <a:rPr lang="en-IN" dirty="0"/>
              <a:t>What changes are made to those objects. </a:t>
            </a:r>
          </a:p>
          <a:p>
            <a:pPr lvl="1"/>
            <a:r>
              <a:rPr lang="en-IN" dirty="0"/>
              <a:t>It can automatically update the database when </a:t>
            </a:r>
            <a:r>
              <a:rPr lang="en-IN" b="1" dirty="0" err="1">
                <a:solidFill>
                  <a:schemeClr val="accent5">
                    <a:lumMod val="50000"/>
                  </a:schemeClr>
                </a:solidFill>
              </a:rPr>
              <a:t>SaveChanges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()</a:t>
            </a:r>
            <a:r>
              <a:rPr lang="en-IN" dirty="0"/>
              <a:t> is called.</a:t>
            </a:r>
          </a:p>
          <a:p>
            <a:r>
              <a:rPr lang="en-IN" dirty="0"/>
              <a:t>So in a simple way we can say that, tracking means EF Core keeps an eye on the retrieved data and detects any changes made to it.</a:t>
            </a:r>
          </a:p>
          <a:p>
            <a:r>
              <a:rPr lang="en-IN" b="1" dirty="0"/>
              <a:t>When to Use Which?</a:t>
            </a:r>
          </a:p>
          <a:p>
            <a:pPr lvl="1"/>
            <a:r>
              <a:rPr lang="en-IN" b="1" dirty="0"/>
              <a:t>Tracking : </a:t>
            </a:r>
            <a:r>
              <a:rPr lang="en-IN" dirty="0"/>
              <a:t>Modify/update data (Insert/update/delete operations)</a:t>
            </a:r>
            <a:endParaRPr lang="en-IN" b="1" dirty="0"/>
          </a:p>
          <a:p>
            <a:pPr lvl="1"/>
            <a:r>
              <a:rPr lang="en-IN" b="1" dirty="0"/>
              <a:t>No-Tracking</a:t>
            </a:r>
            <a:r>
              <a:rPr lang="en-IN" dirty="0"/>
              <a:t> : </a:t>
            </a:r>
            <a:r>
              <a:rPr lang="en-US" dirty="0"/>
              <a:t>Read-only data (e.g., reports), </a:t>
            </a:r>
            <a:r>
              <a:rPr lang="en-IN" dirty="0"/>
              <a:t>High-performance querying, Long-running read contexts</a:t>
            </a:r>
          </a:p>
          <a:p>
            <a:pPr lvl="1"/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EDA2DD-B947-FA83-2E6A-D8BD13416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Tracking?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968151C-1E60-432D-2700-C44449C8389B}"/>
              </a:ext>
            </a:extLst>
          </p:cNvPr>
          <p:cNvSpPr/>
          <p:nvPr/>
        </p:nvSpPr>
        <p:spPr>
          <a:xfrm>
            <a:off x="2211334" y="4848161"/>
            <a:ext cx="7769332" cy="82848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i="1" dirty="0">
                <a:solidFill>
                  <a:schemeClr val="tx1"/>
                </a:solidFill>
              </a:rPr>
              <a:t>Use Tracking when you need to modify and save data. </a:t>
            </a:r>
          </a:p>
          <a:p>
            <a:pPr algn="ctr"/>
            <a:r>
              <a:rPr lang="en-IN" sz="2000" i="1" dirty="0">
                <a:solidFill>
                  <a:schemeClr val="tx1"/>
                </a:solidFill>
              </a:rPr>
              <a:t>Use </a:t>
            </a:r>
            <a:r>
              <a:rPr lang="en-IN" sz="2000" i="1" dirty="0" err="1">
                <a:solidFill>
                  <a:schemeClr val="tx1"/>
                </a:solidFill>
              </a:rPr>
              <a:t>AsNoTracking</a:t>
            </a:r>
            <a:r>
              <a:rPr lang="en-IN" sz="2000" i="1" dirty="0">
                <a:solidFill>
                  <a:schemeClr val="tx1"/>
                </a:solidFill>
              </a:rPr>
              <a:t>() when you only need to read data for better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128492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FACD2-0B8B-22A9-C406-D5FBDE0B2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728176F-1CF0-AB2C-9370-6F88E3DEE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5490687" cy="5590565"/>
          </a:xfrm>
        </p:spPr>
        <p:txBody>
          <a:bodyPr/>
          <a:lstStyle/>
          <a:p>
            <a:r>
              <a:rPr lang="en-US" b="1" u="sng" dirty="0"/>
              <a:t>Tracking (Default Behavior)</a:t>
            </a:r>
          </a:p>
          <a:p>
            <a:r>
              <a:rPr lang="en-US" dirty="0"/>
              <a:t>EF Core </a:t>
            </a:r>
            <a:r>
              <a:rPr lang="en-US" b="1" dirty="0"/>
              <a:t>tracks the returned entities </a:t>
            </a:r>
            <a:r>
              <a:rPr lang="en-US" dirty="0"/>
              <a:t>in the </a:t>
            </a:r>
            <a:r>
              <a:rPr lang="en-US" dirty="0" err="1"/>
              <a:t>DbContext's</a:t>
            </a:r>
            <a:r>
              <a:rPr lang="en-US" dirty="0"/>
              <a:t> </a:t>
            </a:r>
            <a:r>
              <a:rPr lang="en-US" b="1" dirty="0"/>
              <a:t>change tracker</a:t>
            </a:r>
            <a:r>
              <a:rPr lang="en-US" dirty="0"/>
              <a:t>.</a:t>
            </a:r>
          </a:p>
          <a:p>
            <a:r>
              <a:rPr lang="en-US" dirty="0"/>
              <a:t>If you modify a tracked entity, EF Core will detect the changes and apply them on </a:t>
            </a:r>
            <a:r>
              <a:rPr lang="en-IN" b="1" dirty="0" err="1">
                <a:solidFill>
                  <a:schemeClr val="accent5">
                    <a:lumMod val="50000"/>
                  </a:schemeClr>
                </a:solidFill>
              </a:rPr>
              <a:t>SaveChanges</a:t>
            </a: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()</a:t>
            </a:r>
            <a:r>
              <a:rPr lang="en-US" dirty="0"/>
              <a:t>.</a:t>
            </a:r>
          </a:p>
          <a:p>
            <a:r>
              <a:rPr lang="en-US" dirty="0"/>
              <a:t>Best suited for read-write scenarios.</a:t>
            </a:r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ECDB00-45D6-CE07-3920-F285A9951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Tracking/No-Tracking Queries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7C8AF7-AE91-59F5-3BB2-135FCE56C903}"/>
              </a:ext>
            </a:extLst>
          </p:cNvPr>
          <p:cNvSpPr/>
          <p:nvPr/>
        </p:nvSpPr>
        <p:spPr>
          <a:xfrm>
            <a:off x="469614" y="3658726"/>
            <a:ext cx="5078620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1F377F"/>
                </a:solidFill>
                <a:latin typeface="Cascadia Mono" panose="020B0609020000020004" pitchFamily="49" charset="0"/>
              </a:rPr>
              <a:t>student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_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context.Students.</a:t>
            </a:r>
            <a:r>
              <a:rPr lang="en-IN" sz="1600" dirty="0" err="1">
                <a:solidFill>
                  <a:srgbClr val="74531F"/>
                </a:solidFill>
                <a:latin typeface="Cascadia Mono" panose="020B0609020000020004" pitchFamily="49" charset="0"/>
              </a:rPr>
              <a:t>FirstOrDefault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IN" sz="1600" dirty="0">
                <a:solidFill>
                  <a:srgbClr val="1F377F"/>
                </a:solidFill>
                <a:latin typeface="Cascadia Mono" panose="020B0609020000020004" pitchFamily="49" charset="0"/>
              </a:rPr>
              <a:t>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=&gt; </a:t>
            </a:r>
            <a:r>
              <a:rPr lang="en-IN" sz="1600" dirty="0" err="1">
                <a:solidFill>
                  <a:srgbClr val="1F377F"/>
                </a:solidFill>
                <a:latin typeface="Cascadia Mono" panose="020B0609020000020004" pitchFamily="49" charset="0"/>
              </a:rPr>
              <a:t>s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.Id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== 1);</a:t>
            </a:r>
          </a:p>
          <a:p>
            <a:pPr>
              <a:buNone/>
            </a:pPr>
            <a:r>
              <a:rPr lang="en-IN" sz="1600" dirty="0" err="1">
                <a:solidFill>
                  <a:srgbClr val="1F377F"/>
                </a:solidFill>
                <a:latin typeface="Cascadia Mono" panose="020B0609020000020004" pitchFamily="49" charset="0"/>
              </a:rPr>
              <a:t>student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.Name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IN" sz="1600" dirty="0">
                <a:solidFill>
                  <a:srgbClr val="A31515"/>
                </a:solidFill>
                <a:latin typeface="Cascadia Mono" panose="020B0609020000020004" pitchFamily="49" charset="0"/>
              </a:rPr>
              <a:t>"Naimish"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_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</a:t>
            </a:r>
            <a:r>
              <a:rPr lang="en-IN" sz="1600" dirty="0" err="1">
                <a:solidFill>
                  <a:srgbClr val="74531F"/>
                </a:solidFill>
                <a:latin typeface="Cascadia Mono" panose="020B0609020000020004" pitchFamily="49" charset="0"/>
              </a:rPr>
              <a:t>SaveChanges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 </a:t>
            </a:r>
            <a:r>
              <a:rPr lang="en-IN" sz="1600" dirty="0">
                <a:solidFill>
                  <a:srgbClr val="008000"/>
                </a:solidFill>
                <a:latin typeface="Cascadia Mono" panose="020B0609020000020004" pitchFamily="49" charset="0"/>
              </a:rPr>
              <a:t>// Changes are tracked and saved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FB0C355B-BB96-BA56-C15B-FB65A9ECDC7D}"/>
              </a:ext>
            </a:extLst>
          </p:cNvPr>
          <p:cNvSpPr txBox="1">
            <a:spLocks/>
          </p:cNvSpPr>
          <p:nvPr/>
        </p:nvSpPr>
        <p:spPr>
          <a:xfrm>
            <a:off x="5836356" y="863444"/>
            <a:ext cx="6224465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u="sng" dirty="0"/>
              <a:t>No-Tracking</a:t>
            </a:r>
            <a:endParaRPr lang="en-US" b="1" u="sng" dirty="0"/>
          </a:p>
          <a:p>
            <a:r>
              <a:rPr lang="en-US" dirty="0"/>
              <a:t>Entities are </a:t>
            </a:r>
            <a:r>
              <a:rPr lang="en-US" b="1" dirty="0"/>
              <a:t>not tracked </a:t>
            </a:r>
            <a:r>
              <a:rPr lang="en-US" dirty="0"/>
              <a:t>by the DbContext.</a:t>
            </a:r>
          </a:p>
          <a:p>
            <a:r>
              <a:rPr lang="en-US" dirty="0"/>
              <a:t>Useful for </a:t>
            </a:r>
            <a:r>
              <a:rPr lang="en-US" b="1" dirty="0"/>
              <a:t>read-only</a:t>
            </a:r>
            <a:r>
              <a:rPr lang="en-US" dirty="0"/>
              <a:t> operations — </a:t>
            </a:r>
            <a:r>
              <a:rPr lang="en-US" b="1" dirty="0"/>
              <a:t>faster and lightweight</a:t>
            </a:r>
            <a:r>
              <a:rPr lang="en-US" dirty="0"/>
              <a:t>.</a:t>
            </a:r>
          </a:p>
          <a:p>
            <a:r>
              <a:rPr lang="en-IN" dirty="0"/>
              <a:t>Suppose displaying data, reports, dashboards, read-only APIs,  large datasets etc.</a:t>
            </a:r>
            <a:endParaRPr lang="en-US" dirty="0"/>
          </a:p>
          <a:p>
            <a:r>
              <a:rPr lang="en-US" dirty="0"/>
              <a:t>Cannot update entities unless you attach them manually.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8D49A2-E677-A650-3369-1BF07B7E9DBD}"/>
              </a:ext>
            </a:extLst>
          </p:cNvPr>
          <p:cNvSpPr/>
          <p:nvPr/>
        </p:nvSpPr>
        <p:spPr>
          <a:xfrm>
            <a:off x="6167577" y="4103003"/>
            <a:ext cx="5825557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600" dirty="0">
                <a:solidFill>
                  <a:srgbClr val="1F377F"/>
                </a:solidFill>
                <a:latin typeface="Cascadia Mono" panose="020B0609020000020004" pitchFamily="49" charset="0"/>
              </a:rPr>
              <a:t>students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_</a:t>
            </a:r>
            <a:r>
              <a:rPr lang="en-IN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context.Students</a:t>
            </a:r>
            <a:endParaRPr lang="en-IN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.</a:t>
            </a:r>
            <a:r>
              <a:rPr lang="en-IN" sz="1600" dirty="0" err="1">
                <a:solidFill>
                  <a:srgbClr val="74531F"/>
                </a:solidFill>
                <a:latin typeface="Cascadia Mono" panose="020B0609020000020004" pitchFamily="49" charset="0"/>
              </a:rPr>
              <a:t>AsNoTracking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.</a:t>
            </a:r>
            <a:r>
              <a:rPr lang="en-IN" sz="1600" dirty="0" err="1">
                <a:solidFill>
                  <a:srgbClr val="74531F"/>
                </a:solidFill>
                <a:latin typeface="Cascadia Mono" panose="020B0609020000020004" pitchFamily="49" charset="0"/>
              </a:rPr>
              <a:t>ToList</a:t>
            </a:r>
            <a:r>
              <a:rPr lang="en-IN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7326FA-01BE-80D4-623A-7B617F0E5DD8}"/>
              </a:ext>
            </a:extLst>
          </p:cNvPr>
          <p:cNvSpPr/>
          <p:nvPr/>
        </p:nvSpPr>
        <p:spPr>
          <a:xfrm>
            <a:off x="530578" y="4662311"/>
            <a:ext cx="2816578" cy="27168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9CD5F8-0A78-15DB-D7BE-412DB555DE63}"/>
              </a:ext>
            </a:extLst>
          </p:cNvPr>
          <p:cNvSpPr/>
          <p:nvPr/>
        </p:nvSpPr>
        <p:spPr>
          <a:xfrm>
            <a:off x="8269112" y="4391123"/>
            <a:ext cx="2060221" cy="254756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099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D2D5EA-4B01-CB79-4C96-010821D00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D07470-CD96-8C24-3701-6450DE0C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Tracking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DD3D24-9447-9FEA-DB84-13507D288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79" y="814783"/>
            <a:ext cx="11929641" cy="56392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A9F8669-50E8-230B-FF57-3D2A628C3DCB}"/>
              </a:ext>
            </a:extLst>
          </p:cNvPr>
          <p:cNvSpPr/>
          <p:nvPr/>
        </p:nvSpPr>
        <p:spPr>
          <a:xfrm>
            <a:off x="1724472" y="2624667"/>
            <a:ext cx="5669750" cy="1591733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828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01564A8-1A46-6D73-13A0-31BAE470A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No-Tracking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468D7A8-36AE-12F4-9EC7-12A3F668E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C724A55-842E-9350-9DD5-676937EFD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78" y="863444"/>
            <a:ext cx="11962305" cy="559056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4F5580F-9359-0D5E-BCBF-E25CE397D7D4}"/>
              </a:ext>
            </a:extLst>
          </p:cNvPr>
          <p:cNvSpPr/>
          <p:nvPr/>
        </p:nvSpPr>
        <p:spPr>
          <a:xfrm>
            <a:off x="1684964" y="2779036"/>
            <a:ext cx="5283882" cy="142990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358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AEB76-F0D7-7048-BA36-3ECE076F9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3D4701-A8C7-47CA-4362-D77728BEA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Async/Await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2C61D2-EC38-217D-1749-ED90C5F87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1.7</a:t>
            </a:r>
          </a:p>
        </p:txBody>
      </p:sp>
    </p:spTree>
    <p:extLst>
      <p:ext uri="{BB962C8B-B14F-4D97-AF65-F5344CB8AC3E}">
        <p14:creationId xmlns:p14="http://schemas.microsoft.com/office/powerpoint/2010/main" val="6947605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E67DCAC-989E-48D5-5049-21EC53FE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Async/Await: Intro | Example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5F2B1DB-F09D-6B43-9EC3-13E123EDD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79" y="817387"/>
            <a:ext cx="3746875" cy="54479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AC5A20-0FEF-7F27-EC2D-09FD4A5C6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803" y="817387"/>
            <a:ext cx="4068935" cy="5447946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D85B8FB-983B-8028-7464-E91548E949A7}"/>
              </a:ext>
            </a:extLst>
          </p:cNvPr>
          <p:cNvCxnSpPr/>
          <p:nvPr/>
        </p:nvCxnSpPr>
        <p:spPr>
          <a:xfrm>
            <a:off x="4238978" y="908227"/>
            <a:ext cx="0" cy="526626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5DAF148-18F4-3088-8C2C-812384D181E4}"/>
              </a:ext>
            </a:extLst>
          </p:cNvPr>
          <p:cNvSpPr txBox="1"/>
          <p:nvPr/>
        </p:nvSpPr>
        <p:spPr>
          <a:xfrm>
            <a:off x="8846256" y="2525697"/>
            <a:ext cx="291341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  <a:latin typeface="Courier New" panose="02070309020205020404" pitchFamily="49" charset="0"/>
              </a:rPr>
              <a:t>async</a:t>
            </a:r>
            <a:r>
              <a:rPr lang="en-IN" b="1" dirty="0"/>
              <a:t> </a:t>
            </a:r>
          </a:p>
          <a:p>
            <a:r>
              <a:rPr lang="en-IN" dirty="0"/>
              <a:t>This method can work asynchronously. </a:t>
            </a:r>
          </a:p>
          <a:p>
            <a:endParaRPr lang="en-IN" dirty="0"/>
          </a:p>
          <a:p>
            <a:r>
              <a:rPr lang="en-IN" b="1" dirty="0">
                <a:solidFill>
                  <a:schemeClr val="accent6"/>
                </a:solidFill>
                <a:latin typeface="Courier New" panose="02070309020205020404" pitchFamily="49" charset="0"/>
              </a:rPr>
              <a:t>await</a:t>
            </a:r>
            <a:r>
              <a:rPr lang="en-IN" b="1" dirty="0"/>
              <a:t> </a:t>
            </a:r>
          </a:p>
          <a:p>
            <a:r>
              <a:rPr lang="en-IN" dirty="0"/>
              <a:t>Wait for the result, but let the thread do other work.</a:t>
            </a:r>
            <a:r>
              <a:rPr lang="en-IN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75325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F33A1-DE51-78DC-CA7B-C77611E25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AC15D2-4488-C213-58F5-64CC33327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our API needs to:</a:t>
            </a:r>
          </a:p>
          <a:p>
            <a:pPr lvl="1"/>
            <a:r>
              <a:rPr lang="en-IN" dirty="0"/>
              <a:t>Read data from SQL Server </a:t>
            </a:r>
          </a:p>
          <a:p>
            <a:pPr lvl="1"/>
            <a:r>
              <a:rPr lang="en-IN" dirty="0"/>
              <a:t>Call another Web API </a:t>
            </a:r>
          </a:p>
          <a:p>
            <a:pPr lvl="1"/>
            <a:r>
              <a:rPr lang="en-IN" dirty="0"/>
              <a:t>Upload a file or Download an image </a:t>
            </a:r>
          </a:p>
          <a:p>
            <a:r>
              <a:rPr lang="en-IN" dirty="0"/>
              <a:t>These operations take time.</a:t>
            </a:r>
          </a:p>
          <a:p>
            <a:endParaRPr lang="en-IN" dirty="0"/>
          </a:p>
          <a:p>
            <a:endParaRPr lang="en-US" dirty="0"/>
          </a:p>
          <a:p>
            <a:endParaRPr lang="en-IN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97C1C3-1A3E-DFA7-AB69-C7F3BA83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Async/Await?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126E0D1-149C-3235-00B9-0C0267BCB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554507"/>
              </p:ext>
            </p:extLst>
          </p:nvPr>
        </p:nvGraphicFramePr>
        <p:xfrm>
          <a:off x="513645" y="2736427"/>
          <a:ext cx="4075289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5289">
                  <a:extLst>
                    <a:ext uri="{9D8B030D-6E8A-4147-A177-3AD203B41FA5}">
                      <a16:colId xmlns:a16="http://schemas.microsoft.com/office/drawing/2014/main" val="7608615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Without Async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849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Client</a:t>
                      </a:r>
                    </a:p>
                    <a:p>
                      <a:r>
                        <a:rPr lang="en-US" dirty="0"/>
                        <a:t>   │</a:t>
                      </a:r>
                    </a:p>
                    <a:p>
                      <a:r>
                        <a:rPr lang="en-US" dirty="0"/>
                        <a:t>   ▼</a:t>
                      </a:r>
                    </a:p>
                    <a:p>
                      <a:r>
                        <a:rPr lang="en-US" dirty="0"/>
                        <a:t>API</a:t>
                      </a:r>
                    </a:p>
                    <a:p>
                      <a:r>
                        <a:rPr lang="en-US" dirty="0"/>
                        <a:t>   │</a:t>
                      </a:r>
                    </a:p>
                    <a:p>
                      <a:r>
                        <a:rPr lang="en-US" dirty="0"/>
                        <a:t>Wait...</a:t>
                      </a:r>
                    </a:p>
                    <a:p>
                      <a:r>
                        <a:rPr lang="en-US" dirty="0"/>
                        <a:t>Wait...</a:t>
                      </a:r>
                    </a:p>
                    <a:p>
                      <a:r>
                        <a:rPr lang="en-US" dirty="0"/>
                        <a:t>Wait...</a:t>
                      </a:r>
                    </a:p>
                    <a:p>
                      <a:r>
                        <a:rPr lang="en-US" dirty="0"/>
                        <a:t>   │</a:t>
                      </a:r>
                    </a:p>
                    <a:p>
                      <a:r>
                        <a:rPr lang="en-US" dirty="0"/>
                        <a:t>Database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36955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E323FD-B364-62D4-CEB4-B0C772EC56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673063"/>
              </p:ext>
            </p:extLst>
          </p:nvPr>
        </p:nvGraphicFramePr>
        <p:xfrm>
          <a:off x="4673600" y="2736427"/>
          <a:ext cx="4075289" cy="3754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5289">
                  <a:extLst>
                    <a:ext uri="{9D8B030D-6E8A-4147-A177-3AD203B41FA5}">
                      <a16:colId xmlns:a16="http://schemas.microsoft.com/office/drawing/2014/main" val="7608615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With Async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849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Client</a:t>
                      </a:r>
                    </a:p>
                    <a:p>
                      <a:r>
                        <a:rPr lang="en-US" dirty="0"/>
                        <a:t>   │</a:t>
                      </a:r>
                    </a:p>
                    <a:p>
                      <a:r>
                        <a:rPr lang="en-US" dirty="0"/>
                        <a:t>   ▼</a:t>
                      </a:r>
                    </a:p>
                    <a:p>
                      <a:r>
                        <a:rPr lang="en-US" dirty="0"/>
                        <a:t>API</a:t>
                      </a:r>
                    </a:p>
                    <a:p>
                      <a:r>
                        <a:rPr lang="en-US" dirty="0"/>
                        <a:t>   │</a:t>
                      </a:r>
                    </a:p>
                    <a:p>
                      <a:r>
                        <a:rPr lang="en-US" dirty="0"/>
                        <a:t>Starts Database Work</a:t>
                      </a:r>
                    </a:p>
                    <a:p>
                      <a:r>
                        <a:rPr lang="en-US" dirty="0"/>
                        <a:t>   │</a:t>
                      </a:r>
                    </a:p>
                    <a:p>
                      <a:r>
                        <a:rPr lang="en-US" dirty="0"/>
                        <a:t>Thread is Free</a:t>
                      </a:r>
                    </a:p>
                    <a:p>
                      <a:r>
                        <a:rPr lang="en-US" dirty="0"/>
                        <a:t>   │</a:t>
                      </a:r>
                    </a:p>
                    <a:p>
                      <a:r>
                        <a:rPr lang="en-US" dirty="0"/>
                        <a:t>Database Responds</a:t>
                      </a:r>
                    </a:p>
                    <a:p>
                      <a:r>
                        <a:rPr lang="en-US" dirty="0"/>
                        <a:t>   │</a:t>
                      </a:r>
                    </a:p>
                    <a:p>
                      <a:r>
                        <a:rPr lang="en-US" dirty="0"/>
                        <a:t>Continue Execution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36955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657908E-1BBF-02BC-6030-5F7B2376B8AB}"/>
              </a:ext>
            </a:extLst>
          </p:cNvPr>
          <p:cNvSpPr txBox="1"/>
          <p:nvPr/>
        </p:nvSpPr>
        <p:spPr>
          <a:xfrm>
            <a:off x="1096432" y="5994556"/>
            <a:ext cx="28772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 thread remains blocked.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02C297-B75E-2BDB-7F72-046E9AC527D7}"/>
              </a:ext>
            </a:extLst>
          </p:cNvPr>
          <p:cNvSpPr txBox="1"/>
          <p:nvPr/>
        </p:nvSpPr>
        <p:spPr>
          <a:xfrm>
            <a:off x="8948825" y="4016001"/>
            <a:ext cx="29120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/>
              <a:t>The server can handle other requests while waiting.</a:t>
            </a:r>
          </a:p>
        </p:txBody>
      </p:sp>
    </p:spTree>
    <p:extLst>
      <p:ext uri="{BB962C8B-B14F-4D97-AF65-F5344CB8AC3E}">
        <p14:creationId xmlns:p14="http://schemas.microsoft.com/office/powerpoint/2010/main" val="522328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7810993-C9F9-E6D2-4570-873207CC99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4149284"/>
              </p:ext>
            </p:extLst>
          </p:nvPr>
        </p:nvGraphicFramePr>
        <p:xfrm>
          <a:off x="131763" y="2703689"/>
          <a:ext cx="9875836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2158768160"/>
                    </a:ext>
                  </a:extLst>
                </a:gridCol>
                <a:gridCol w="7010399">
                  <a:extLst>
                    <a:ext uri="{9D8B030D-6E8A-4147-A177-3AD203B41FA5}">
                      <a16:colId xmlns:a16="http://schemas.microsoft.com/office/drawing/2014/main" val="8626156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Code Part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348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[</a:t>
                      </a:r>
                      <a:r>
                        <a:rPr lang="en-IN" dirty="0" err="1"/>
                        <a:t>HttpGet</a:t>
                      </a:r>
                      <a:r>
                        <a:rPr lang="en-IN" dirty="0"/>
                        <a:t>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API method for GET request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9844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async Task&lt;IActionResult&gt;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Asynchronous API method that returns HTTP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794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Task</a:t>
                      </a:r>
                      <a:endParaRPr lang="en-IN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 </a:t>
                      </a:r>
                      <a:r>
                        <a:rPr lang="en-IN" b="1" dirty="0"/>
                        <a:t>Task</a:t>
                      </a:r>
                      <a:r>
                        <a:rPr lang="en-IN" dirty="0"/>
                        <a:t> represents an operation that will complete in the future.</a:t>
                      </a:r>
                    </a:p>
                    <a:p>
                      <a:r>
                        <a:rPr lang="en-IN" dirty="0"/>
                        <a:t>Think of it as a </a:t>
                      </a:r>
                      <a:r>
                        <a:rPr lang="en-IN" b="1" dirty="0"/>
                        <a:t>promise</a:t>
                      </a:r>
                      <a:r>
                        <a:rPr lang="en-IN" dirty="0"/>
                        <a:t> that the result will be available later.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9480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_context.StuStudents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Accesses the database 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2374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ToListAsync()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Fetch all records asynchronously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094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await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Wait for result (non-blocking)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7566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return Ok(students)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Send data with 200 OK response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5354643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A69E0E5-E8A8-2ADF-6724-959684B8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Async/Await Example in API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87C1CF-2F33-9BDF-D387-30074B58A87B}"/>
              </a:ext>
            </a:extLst>
          </p:cNvPr>
          <p:cNvSpPr/>
          <p:nvPr/>
        </p:nvSpPr>
        <p:spPr>
          <a:xfrm>
            <a:off x="694964" y="1192628"/>
            <a:ext cx="9312635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[</a:t>
            </a:r>
            <a:r>
              <a:rPr lang="en-IN" sz="14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HttpGet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]</a:t>
            </a:r>
          </a:p>
          <a:p>
            <a:r>
              <a:rPr lang="en-US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public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async</a:t>
            </a:r>
            <a:r>
              <a:rPr lang="en-US" sz="1400" b="1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 </a:t>
            </a:r>
            <a:r>
              <a:rPr lang="en-US" sz="1400" b="1" dirty="0">
                <a:solidFill>
                  <a:srgbClr val="2B91A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Task</a:t>
            </a:r>
            <a:r>
              <a:rPr lang="en-US" sz="1400" b="1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&lt;</a:t>
            </a:r>
            <a:r>
              <a:rPr lang="en-US" sz="1400" b="1" dirty="0">
                <a:solidFill>
                  <a:srgbClr val="2B91A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IActionResult</a:t>
            </a:r>
            <a:r>
              <a:rPr lang="en-US" sz="1400" b="1" dirty="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&gt;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GetAllStudents</a:t>
            </a:r>
            <a:r>
              <a:rPr lang="en-US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400" dirty="0">
                <a:solidFill>
                  <a:srgbClr val="0000FF"/>
                </a:solidFill>
                <a:latin typeface="Cascadia Mono" panose="020B0609020000020004" pitchFamily="49" charset="0"/>
              </a:rPr>
              <a:t>var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students = </a:t>
            </a:r>
            <a:r>
              <a:rPr lang="en-IN" sz="1400" b="1" dirty="0">
                <a:solidFill>
                  <a:srgbClr val="7030A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await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_</a:t>
            </a:r>
            <a:r>
              <a:rPr lang="en-IN" sz="14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context.StuStudents.</a:t>
            </a:r>
            <a:r>
              <a:rPr lang="en-IN" sz="14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AsNoTracking</a:t>
            </a:r>
            <a:r>
              <a:rPr lang="en-IN" sz="1400" dirty="0">
                <a:latin typeface="Cascadia Mono" panose="020B0609020000020004" pitchFamily="49" charset="0"/>
              </a:rPr>
              <a:t>().</a:t>
            </a:r>
            <a:r>
              <a:rPr lang="en-IN" sz="1400" dirty="0" err="1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ToList</a:t>
            </a:r>
            <a:r>
              <a:rPr lang="en-IN" sz="1400" b="1" dirty="0" err="1">
                <a:solidFill>
                  <a:schemeClr val="accent5">
                    <a:lumMod val="50000"/>
                  </a:schemeClr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Async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IN" sz="1400" dirty="0">
                <a:solidFill>
                  <a:srgbClr val="7030A0"/>
                </a:solidFill>
                <a:latin typeface="Cascadia Mono" panose="020B0609020000020004" pitchFamily="49" charset="0"/>
              </a:rPr>
              <a:t>return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IN" sz="1400" dirty="0">
                <a:solidFill>
                  <a:schemeClr val="accent5">
                    <a:lumMod val="50000"/>
                  </a:schemeClr>
                </a:solidFill>
                <a:latin typeface="Cascadia Mono" panose="020B0609020000020004" pitchFamily="49" charset="0"/>
              </a:rPr>
              <a:t>Ok</a:t>
            </a:r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(students);</a:t>
            </a:r>
          </a:p>
          <a:p>
            <a:r>
              <a:rPr lang="en-IN" sz="14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557539-A4AE-8546-A5A4-5F2D543B203C}"/>
              </a:ext>
            </a:extLst>
          </p:cNvPr>
          <p:cNvSpPr/>
          <p:nvPr/>
        </p:nvSpPr>
        <p:spPr>
          <a:xfrm>
            <a:off x="131179" y="1192628"/>
            <a:ext cx="579518" cy="13849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I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7D38F604-1304-E7F4-7390-40598D817182}"/>
              </a:ext>
            </a:extLst>
          </p:cNvPr>
          <p:cNvSpPr/>
          <p:nvPr/>
        </p:nvSpPr>
        <p:spPr>
          <a:xfrm>
            <a:off x="131180" y="863444"/>
            <a:ext cx="91823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b="1" dirty="0"/>
              <a:t>Example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2502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F222998-DA9B-C725-5F27-18AA4E359D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05932" y="1183403"/>
            <a:ext cx="6357848" cy="423526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6BCF211-9D0B-E1CD-FC17-E76637B7F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Async/Await Applied in Controller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E40C83-3D43-DF69-0E85-348FAA4E0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72" y="1183403"/>
            <a:ext cx="5415578" cy="42352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FFD81B4-7639-FC94-768F-DAEE0F017AAD}"/>
              </a:ext>
            </a:extLst>
          </p:cNvPr>
          <p:cNvSpPr txBox="1"/>
          <p:nvPr/>
        </p:nvSpPr>
        <p:spPr>
          <a:xfrm>
            <a:off x="5718577" y="811416"/>
            <a:ext cx="242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With Async/Await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6EF9CB-F391-7E29-F689-0FA6C7E8840B}"/>
              </a:ext>
            </a:extLst>
          </p:cNvPr>
          <p:cNvSpPr txBox="1"/>
          <p:nvPr/>
        </p:nvSpPr>
        <p:spPr>
          <a:xfrm>
            <a:off x="40794" y="811416"/>
            <a:ext cx="242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Without Async/Await</a:t>
            </a:r>
            <a:endParaRPr lang="en-IN" b="1" dirty="0"/>
          </a:p>
        </p:txBody>
      </p:sp>
      <p:sp>
        <p:nvSpPr>
          <p:cNvPr id="16" name="Arrow: Curved Up 15">
            <a:extLst>
              <a:ext uri="{FF2B5EF4-FFF2-40B4-BE49-F238E27FC236}">
                <a16:creationId xmlns:a16="http://schemas.microsoft.com/office/drawing/2014/main" id="{817B5054-A2C7-2C05-0E8B-4F2A3112BD87}"/>
              </a:ext>
            </a:extLst>
          </p:cNvPr>
          <p:cNvSpPr/>
          <p:nvPr/>
        </p:nvSpPr>
        <p:spPr>
          <a:xfrm>
            <a:off x="4442178" y="5650089"/>
            <a:ext cx="2308578" cy="609600"/>
          </a:xfrm>
          <a:prstGeom prst="curved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8FF34F-1DA1-4BBA-5681-27069E385C01}"/>
              </a:ext>
            </a:extLst>
          </p:cNvPr>
          <p:cNvSpPr/>
          <p:nvPr/>
        </p:nvSpPr>
        <p:spPr>
          <a:xfrm>
            <a:off x="6417733" y="1608667"/>
            <a:ext cx="2336800" cy="214489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6C08E4-9A86-262F-09EF-4D1F58078858}"/>
              </a:ext>
            </a:extLst>
          </p:cNvPr>
          <p:cNvSpPr/>
          <p:nvPr/>
        </p:nvSpPr>
        <p:spPr>
          <a:xfrm>
            <a:off x="6417733" y="3601156"/>
            <a:ext cx="2336800" cy="214489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39F86E-2A81-C782-B074-00D235B062F2}"/>
              </a:ext>
            </a:extLst>
          </p:cNvPr>
          <p:cNvSpPr/>
          <p:nvPr/>
        </p:nvSpPr>
        <p:spPr>
          <a:xfrm>
            <a:off x="7394222" y="1998138"/>
            <a:ext cx="575734" cy="214489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B777C2A-FB02-A378-D9D0-C7DB3F4D63B7}"/>
              </a:ext>
            </a:extLst>
          </p:cNvPr>
          <p:cNvSpPr/>
          <p:nvPr/>
        </p:nvSpPr>
        <p:spPr>
          <a:xfrm>
            <a:off x="7394222" y="4013203"/>
            <a:ext cx="575734" cy="214489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D77B11-227B-EA1A-86E5-55B981726B92}"/>
              </a:ext>
            </a:extLst>
          </p:cNvPr>
          <p:cNvSpPr/>
          <p:nvPr/>
        </p:nvSpPr>
        <p:spPr>
          <a:xfrm>
            <a:off x="8696989" y="2410175"/>
            <a:ext cx="1400922" cy="214489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548A1E-67FF-918E-3D52-2671757E807C}"/>
              </a:ext>
            </a:extLst>
          </p:cNvPr>
          <p:cNvSpPr/>
          <p:nvPr/>
        </p:nvSpPr>
        <p:spPr>
          <a:xfrm>
            <a:off x="8685698" y="4413952"/>
            <a:ext cx="3478081" cy="214489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05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 animBg="1"/>
      <p:bldP spid="17" grpId="0" animBg="1"/>
      <p:bldP spid="19" grpId="0" animBg="1"/>
      <p:bldP spid="21" grpId="0" animBg="1"/>
      <p:bldP spid="23" grpId="0" animBg="1"/>
      <p:bldP spid="25" grpId="0" animBg="1"/>
      <p:bldP spid="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1AA4D-7939-84C4-6F4A-D028FA8B4C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4378733"/>
              </p:ext>
            </p:extLst>
          </p:nvPr>
        </p:nvGraphicFramePr>
        <p:xfrm>
          <a:off x="223935" y="910253"/>
          <a:ext cx="549725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4968">
                  <a:extLst>
                    <a:ext uri="{9D8B030D-6E8A-4147-A177-3AD203B41FA5}">
                      <a16:colId xmlns:a16="http://schemas.microsoft.com/office/drawing/2014/main" val="132784315"/>
                    </a:ext>
                  </a:extLst>
                </a:gridCol>
                <a:gridCol w="3852290">
                  <a:extLst>
                    <a:ext uri="{9D8B030D-6E8A-4147-A177-3AD203B41FA5}">
                      <a16:colId xmlns:a16="http://schemas.microsoft.com/office/drawing/2014/main" val="1132401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Synchronous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Asynchronous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7792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Roboto Condensed (Body)"/>
                        </a:rPr>
                        <a:t>ToList()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Roboto Condensed (Body)"/>
                        </a:rPr>
                        <a:t>ToList</a:t>
                      </a:r>
                      <a:r>
                        <a:rPr lang="en-IN" b="1" dirty="0" err="1">
                          <a:latin typeface="Roboto Condensed (Body)"/>
                        </a:rPr>
                        <a:t>Async</a:t>
                      </a:r>
                      <a:r>
                        <a:rPr lang="en-IN" dirty="0">
                          <a:latin typeface="Roboto Condensed (Body)"/>
                        </a:rPr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1539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Roboto Condensed (Body)"/>
                        </a:rPr>
                        <a:t>First()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Roboto Condensed (Body)"/>
                        </a:rPr>
                        <a:t>First</a:t>
                      </a:r>
                      <a:r>
                        <a:rPr lang="en-IN" b="1" dirty="0" err="1">
                          <a:latin typeface="Roboto Condensed (Body)"/>
                        </a:rPr>
                        <a:t>Async</a:t>
                      </a:r>
                      <a:r>
                        <a:rPr lang="en-IN" dirty="0">
                          <a:latin typeface="Roboto Condensed (Body)"/>
                        </a:rPr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7862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Roboto Condensed (Body)"/>
                        </a:rPr>
                        <a:t>FirstOrDefault</a:t>
                      </a:r>
                      <a:r>
                        <a:rPr lang="en-IN" dirty="0">
                          <a:latin typeface="Roboto Condensed (Body)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Roboto Condensed (Body)"/>
                        </a:rPr>
                        <a:t>FirstOrDefault</a:t>
                      </a:r>
                      <a:r>
                        <a:rPr lang="en-IN" b="1" dirty="0" err="1">
                          <a:latin typeface="Roboto Condensed (Body)"/>
                        </a:rPr>
                        <a:t>Async</a:t>
                      </a:r>
                      <a:r>
                        <a:rPr lang="en-IN" dirty="0">
                          <a:latin typeface="Roboto Condensed (Body)"/>
                        </a:rPr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9325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Roboto Condensed (Body)"/>
                        </a:rPr>
                        <a:t>Find()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Roboto Condensed (Body)"/>
                        </a:rPr>
                        <a:t>Find</a:t>
                      </a:r>
                      <a:r>
                        <a:rPr lang="en-IN" b="1" dirty="0" err="1">
                          <a:latin typeface="Roboto Condensed (Body)"/>
                        </a:rPr>
                        <a:t>Async</a:t>
                      </a:r>
                      <a:r>
                        <a:rPr lang="en-IN" dirty="0">
                          <a:latin typeface="Roboto Condensed (Body)"/>
                        </a:rPr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840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Roboto Condensed (Body)"/>
                        </a:rPr>
                        <a:t>Add()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Roboto Condensed (Body)"/>
                        </a:rPr>
                        <a:t>Add</a:t>
                      </a:r>
                      <a:r>
                        <a:rPr lang="en-IN" b="1" dirty="0" err="1">
                          <a:latin typeface="Roboto Condensed (Body)"/>
                        </a:rPr>
                        <a:t>Async</a:t>
                      </a:r>
                      <a:r>
                        <a:rPr lang="en-IN" dirty="0">
                          <a:latin typeface="Roboto Condensed (Body)"/>
                        </a:rPr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1497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Roboto Condensed (Body)"/>
                        </a:rPr>
                        <a:t>SaveChanges</a:t>
                      </a:r>
                      <a:r>
                        <a:rPr lang="en-IN" dirty="0">
                          <a:latin typeface="Roboto Condensed (Body)"/>
                        </a:rPr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Roboto Condensed (Body)"/>
                        </a:rPr>
                        <a:t>SaveChanges</a:t>
                      </a:r>
                      <a:r>
                        <a:rPr lang="en-IN" b="1" dirty="0" err="1">
                          <a:latin typeface="Roboto Condensed (Body)"/>
                        </a:rPr>
                        <a:t>Async</a:t>
                      </a:r>
                      <a:r>
                        <a:rPr lang="en-IN" dirty="0">
                          <a:latin typeface="Roboto Condensed (Body)"/>
                        </a:rPr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399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Roboto Condensed (Body)"/>
                        </a:rPr>
                        <a:t>Any()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Roboto Condensed (Body)"/>
                        </a:rPr>
                        <a:t>Any</a:t>
                      </a:r>
                      <a:r>
                        <a:rPr lang="en-IN" b="1" dirty="0" err="1">
                          <a:latin typeface="Roboto Condensed (Body)"/>
                        </a:rPr>
                        <a:t>Async</a:t>
                      </a:r>
                      <a:r>
                        <a:rPr lang="en-IN" dirty="0">
                          <a:latin typeface="Roboto Condensed (Body)"/>
                        </a:rPr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8840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Roboto Condensed (Body)"/>
                        </a:rPr>
                        <a:t>Count()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Roboto Condensed (Body)"/>
                        </a:rPr>
                        <a:t>Count</a:t>
                      </a:r>
                      <a:r>
                        <a:rPr lang="en-IN" b="1" dirty="0" err="1">
                          <a:latin typeface="Roboto Condensed (Body)"/>
                        </a:rPr>
                        <a:t>Async</a:t>
                      </a:r>
                      <a:r>
                        <a:rPr lang="en-IN" dirty="0">
                          <a:latin typeface="Roboto Condensed (Body)"/>
                        </a:rPr>
                        <a:t>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0076400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FDD74F4F-6708-A98D-C23E-F678038EC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 Core Sync/Async Methods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084292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05540-55B5-8E99-6782-568A577C2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D4507C-BAC2-404F-31FF-F34B7FA23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DTOs </a:t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sz="4000" i="1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(Data Transfer Object)</a:t>
            </a:r>
            <a:endParaRPr lang="en-US" i="1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A74B9E-FC5C-B73E-A61B-C45C73459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2</a:t>
            </a:r>
          </a:p>
        </p:txBody>
      </p:sp>
    </p:spTree>
    <p:extLst>
      <p:ext uri="{BB962C8B-B14F-4D97-AF65-F5344CB8AC3E}">
        <p14:creationId xmlns:p14="http://schemas.microsoft.com/office/powerpoint/2010/main" val="38842686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BC943E-51FE-08B2-8CAF-25C8381EE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</a:t>
            </a:r>
            <a:r>
              <a:rPr lang="en-IN" b="1" dirty="0"/>
              <a:t>DTO (Data Transfer Object)</a:t>
            </a:r>
            <a:r>
              <a:rPr lang="en-IN" dirty="0"/>
              <a:t> is an object used </a:t>
            </a:r>
            <a:r>
              <a:rPr lang="en-IN" b="1" dirty="0"/>
              <a:t>only to transfer data between the client and the server</a:t>
            </a:r>
            <a:r>
              <a:rPr lang="en-IN" dirty="0"/>
              <a:t>.</a:t>
            </a:r>
          </a:p>
          <a:p>
            <a:r>
              <a:rPr lang="en-IN" dirty="0"/>
              <a:t>It is </a:t>
            </a:r>
            <a:r>
              <a:rPr lang="en-IN" b="1" dirty="0"/>
              <a:t>NOT</a:t>
            </a:r>
            <a:r>
              <a:rPr lang="en-IN" dirty="0"/>
              <a:t> your database table.</a:t>
            </a:r>
          </a:p>
          <a:p>
            <a:r>
              <a:rPr lang="en-IN" dirty="0"/>
              <a:t>It contains </a:t>
            </a:r>
            <a:r>
              <a:rPr lang="en-IN" b="1" dirty="0"/>
              <a:t>only the information that should be sent or received.</a:t>
            </a:r>
          </a:p>
          <a:p>
            <a:r>
              <a:rPr lang="en-IN" dirty="0"/>
              <a:t>A DTO is a simplified version of an Entity used for communication.</a:t>
            </a:r>
          </a:p>
          <a:p>
            <a:r>
              <a:rPr lang="en-IN" dirty="0"/>
              <a:t>It has no business logic, just fields (and maybe basic validation).</a:t>
            </a:r>
          </a:p>
          <a:p>
            <a:r>
              <a:rPr lang="en-IN" u="sng" dirty="0"/>
              <a:t>Example</a:t>
            </a:r>
          </a:p>
          <a:p>
            <a:endParaRPr lang="en-IN" u="sng" dirty="0"/>
          </a:p>
          <a:p>
            <a:endParaRPr lang="en-IN" u="sng" dirty="0"/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B91A60-4BC8-9650-C28E-154759A7D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DTOs: Intro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A86BCF-9FC6-3441-C6D2-753EF1174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116300"/>
              </p:ext>
            </p:extLst>
          </p:nvPr>
        </p:nvGraphicFramePr>
        <p:xfrm>
          <a:off x="457200" y="3874911"/>
          <a:ext cx="3318933" cy="265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18933">
                  <a:extLst>
                    <a:ext uri="{9D8B030D-6E8A-4147-A177-3AD203B41FA5}">
                      <a16:colId xmlns:a16="http://schemas.microsoft.com/office/drawing/2014/main" val="27328416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Bank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277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Account Number </a:t>
                      </a:r>
                    </a:p>
                    <a:p>
                      <a:r>
                        <a:rPr lang="en-IN" sz="1600" dirty="0"/>
                        <a:t>Password </a:t>
                      </a:r>
                    </a:p>
                    <a:p>
                      <a:r>
                        <a:rPr lang="en-IN" sz="1600" dirty="0"/>
                        <a:t>ATM PIN </a:t>
                      </a:r>
                    </a:p>
                    <a:p>
                      <a:r>
                        <a:rPr lang="en-IN" sz="1600" dirty="0"/>
                        <a:t>Balance </a:t>
                      </a:r>
                    </a:p>
                    <a:p>
                      <a:r>
                        <a:rPr lang="en-IN" sz="1600" dirty="0"/>
                        <a:t>Aadhaar </a:t>
                      </a:r>
                    </a:p>
                    <a:p>
                      <a:r>
                        <a:rPr lang="en-IN" sz="1600" dirty="0"/>
                        <a:t>PAN </a:t>
                      </a:r>
                    </a:p>
                    <a:p>
                      <a:r>
                        <a:rPr lang="en-IN" sz="1600" dirty="0"/>
                        <a:t>Address </a:t>
                      </a:r>
                    </a:p>
                    <a:p>
                      <a:r>
                        <a:rPr lang="en-IN" sz="1600" dirty="0"/>
                        <a:t>Phone Number </a:t>
                      </a:r>
                    </a:p>
                    <a:p>
                      <a:r>
                        <a:rPr lang="en-IN" sz="1600" dirty="0"/>
                        <a:t>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536609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4203DC6-D40B-8213-8ACB-056F35DF445A}"/>
              </a:ext>
            </a:extLst>
          </p:cNvPr>
          <p:cNvSpPr/>
          <p:nvPr/>
        </p:nvSpPr>
        <p:spPr>
          <a:xfrm>
            <a:off x="3819539" y="3886200"/>
            <a:ext cx="6050844" cy="18457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When you open the mobile banking app, does it show everything?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No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It only shows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Name, Account Number &amp; Balance</a:t>
            </a:r>
          </a:p>
          <a:p>
            <a:pPr algn="ctr"/>
            <a:r>
              <a:rPr lang="en-US" dirty="0">
                <a:solidFill>
                  <a:schemeClr val="accent6"/>
                </a:solidFill>
              </a:rPr>
              <a:t>Why?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Because the </a:t>
            </a:r>
            <a:r>
              <a:rPr lang="en-US" dirty="0">
                <a:solidFill>
                  <a:schemeClr val="tx1"/>
                </a:solidFill>
                <a:highlight>
                  <a:srgbClr val="FFFF00"/>
                </a:highlight>
              </a:rPr>
              <a:t>remaining information is private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That mobile app data is like a DTO.</a:t>
            </a:r>
            <a:r>
              <a:rPr lang="en-IN" dirty="0"/>
              <a:t>y?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A76730A-2648-B49B-8ADC-425084BF1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72321"/>
              </p:ext>
            </p:extLst>
          </p:nvPr>
        </p:nvGraphicFramePr>
        <p:xfrm>
          <a:off x="9917682" y="3874911"/>
          <a:ext cx="2099733" cy="128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9733">
                  <a:extLst>
                    <a:ext uri="{9D8B030D-6E8A-4147-A177-3AD203B41FA5}">
                      <a16:colId xmlns:a16="http://schemas.microsoft.com/office/drawing/2014/main" val="1504744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BankDTO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344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  <a:p>
                      <a:r>
                        <a:rPr lang="en-US" dirty="0"/>
                        <a:t>Account Number </a:t>
                      </a:r>
                    </a:p>
                    <a:p>
                      <a:r>
                        <a:rPr lang="en-US" dirty="0"/>
                        <a:t>Balance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577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8273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87F2E7-9A6F-1CA1-CFE8-B1D00C225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1111" y="863444"/>
            <a:ext cx="8109711" cy="5590565"/>
          </a:xfrm>
        </p:spPr>
        <p:txBody>
          <a:bodyPr/>
          <a:lstStyle/>
          <a:p>
            <a:r>
              <a:rPr lang="en-IN" dirty="0"/>
              <a:t>Without DTO Database </a:t>
            </a:r>
            <a:r>
              <a:rPr lang="en-IN" dirty="0">
                <a:sym typeface="Wingdings" panose="05000000000000000000" pitchFamily="2" charset="2"/>
              </a:rPr>
              <a:t> API  Client, so everything goes to the client including confidential fields.</a:t>
            </a:r>
          </a:p>
          <a:p>
            <a:r>
              <a:rPr lang="en-IN" b="1" dirty="0">
                <a:sym typeface="Wingdings" panose="05000000000000000000" pitchFamily="2" charset="2"/>
              </a:rPr>
              <a:t>With DTO </a:t>
            </a:r>
            <a:r>
              <a:rPr lang="en-IN" dirty="0">
                <a:sym typeface="Wingdings" panose="05000000000000000000" pitchFamily="2" charset="2"/>
              </a:rPr>
              <a:t>Database  Entity  DTO  Client (Response), so only require data goes outside.</a:t>
            </a:r>
          </a:p>
          <a:p>
            <a:r>
              <a:rPr lang="en-IN" dirty="0">
                <a:sym typeface="Wingdings" panose="05000000000000000000" pitchFamily="2" charset="2"/>
              </a:rPr>
              <a:t>Entity = Real Database Table</a:t>
            </a:r>
          </a:p>
          <a:p>
            <a:pPr lvl="1"/>
            <a:r>
              <a:rPr lang="en-IN" dirty="0"/>
              <a:t>Entity = Complete Patient File</a:t>
            </a:r>
            <a:endParaRPr lang="en-IN" dirty="0">
              <a:sym typeface="Wingdings" panose="05000000000000000000" pitchFamily="2" charset="2"/>
            </a:endParaRPr>
          </a:p>
          <a:p>
            <a:r>
              <a:rPr lang="en-IN" dirty="0">
                <a:sym typeface="Wingdings" panose="05000000000000000000" pitchFamily="2" charset="2"/>
              </a:rPr>
              <a:t>DTO = </a:t>
            </a:r>
            <a:r>
              <a:rPr lang="en-IN" dirty="0"/>
              <a:t>Transfers data between client and server, Only required fields</a:t>
            </a:r>
          </a:p>
          <a:p>
            <a:pPr lvl="1"/>
            <a:r>
              <a:rPr lang="en-IN" dirty="0"/>
              <a:t>DTO = Patient Appointment Slip</a:t>
            </a:r>
          </a:p>
          <a:p>
            <a:endParaRPr lang="en-IN" dirty="0">
              <a:sym typeface="Wingdings" panose="05000000000000000000" pitchFamily="2" charset="2"/>
            </a:endParaRPr>
          </a:p>
          <a:p>
            <a:r>
              <a:rPr lang="en-IN" b="1" dirty="0"/>
              <a:t>Why Not Return the Entity Directly???????</a:t>
            </a:r>
            <a:endParaRPr lang="en-IN" b="1" dirty="0">
              <a:sym typeface="Wingdings" panose="05000000000000000000" pitchFamily="2" charset="2"/>
            </a:endParaRP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33AACF-A126-A6E0-A70B-7B6E54B7E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Do We Need DTOs?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2B021-A7E9-9247-99F6-2B433A3304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1" r="16008"/>
          <a:stretch>
            <a:fillRect/>
          </a:stretch>
        </p:blipFill>
        <p:spPr>
          <a:xfrm>
            <a:off x="299155" y="778534"/>
            <a:ext cx="3516489" cy="577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47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EA700C-6E17-00EF-9A36-05F0C030D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Suppose you later add new fields to the database:</a:t>
            </a:r>
          </a:p>
          <a:p>
            <a:r>
              <a:rPr lang="en-IN" dirty="0"/>
              <a:t>Let Say I m having </a:t>
            </a:r>
            <a:r>
              <a:rPr lang="en-IN" dirty="0" err="1"/>
              <a:t>StudentModel.cs</a:t>
            </a:r>
            <a:endParaRPr lang="en-IN" dirty="0"/>
          </a:p>
          <a:p>
            <a:pPr lvl="1"/>
            <a:r>
              <a:rPr lang="en-IN" dirty="0" err="1"/>
              <a:t>StudentID</a:t>
            </a:r>
            <a:endParaRPr lang="en-IN" dirty="0"/>
          </a:p>
          <a:p>
            <a:pPr lvl="1"/>
            <a:r>
              <a:rPr lang="en-IN" dirty="0" err="1"/>
              <a:t>StudentName</a:t>
            </a:r>
            <a:endParaRPr lang="en-IN" dirty="0"/>
          </a:p>
          <a:p>
            <a:pPr lvl="1"/>
            <a:r>
              <a:rPr lang="en-IN" dirty="0"/>
              <a:t>Age</a:t>
            </a:r>
          </a:p>
          <a:p>
            <a:pPr lvl="1"/>
            <a:r>
              <a:rPr lang="en-IN" dirty="0"/>
              <a:t>Email</a:t>
            </a:r>
          </a:p>
          <a:p>
            <a:r>
              <a:rPr lang="en-IN" dirty="0"/>
              <a:t>Later on I have added 2-3 more fields like </a:t>
            </a:r>
            <a:r>
              <a:rPr lang="en-IN" dirty="0" err="1"/>
              <a:t>FatherName</a:t>
            </a:r>
            <a:r>
              <a:rPr lang="en-IN" dirty="0"/>
              <a:t>, City, </a:t>
            </a:r>
            <a:r>
              <a:rPr lang="en-IN" dirty="0" err="1"/>
              <a:t>ContactNumber</a:t>
            </a:r>
            <a:r>
              <a:rPr lang="en-IN" dirty="0"/>
              <a:t>.</a:t>
            </a:r>
          </a:p>
          <a:p>
            <a:r>
              <a:rPr lang="en-IN" dirty="0"/>
              <a:t>So whenever I call </a:t>
            </a:r>
            <a:r>
              <a:rPr lang="en-IN" b="1" dirty="0" err="1"/>
              <a:t>api</a:t>
            </a:r>
            <a:r>
              <a:rPr lang="en-IN" b="1" dirty="0"/>
              <a:t>/student/</a:t>
            </a:r>
            <a:r>
              <a:rPr lang="en-IN" b="1" dirty="0" err="1"/>
              <a:t>getallstudents</a:t>
            </a:r>
            <a:r>
              <a:rPr lang="en-IN" b="1" dirty="0"/>
              <a:t>, </a:t>
            </a:r>
            <a:r>
              <a:rPr lang="en-IN" dirty="0"/>
              <a:t>I will get the response with all the columns as </a:t>
            </a:r>
            <a:r>
              <a:rPr lang="en-IN" dirty="0" err="1"/>
              <a:t>StudentID</a:t>
            </a:r>
            <a:r>
              <a:rPr lang="en-IN" dirty="0"/>
              <a:t>, </a:t>
            </a:r>
            <a:r>
              <a:rPr lang="en-IN" dirty="0" err="1"/>
              <a:t>StudentName</a:t>
            </a:r>
            <a:r>
              <a:rPr lang="en-IN" dirty="0"/>
              <a:t>, Age, Email, </a:t>
            </a:r>
            <a:r>
              <a:rPr lang="en-IN" dirty="0" err="1"/>
              <a:t>FatherName</a:t>
            </a:r>
            <a:r>
              <a:rPr lang="en-IN" dirty="0"/>
              <a:t>, City, </a:t>
            </a:r>
            <a:r>
              <a:rPr lang="en-IN" dirty="0" err="1"/>
              <a:t>ContactNumber</a:t>
            </a:r>
            <a:r>
              <a:rPr lang="en-IN" dirty="0"/>
              <a:t>.</a:t>
            </a:r>
          </a:p>
          <a:p>
            <a:r>
              <a:rPr lang="en-IN" dirty="0"/>
              <a:t>But if I used DTOs for the same so newly added columns not comes to me. Only mentioned columns inside the DTOs will come in response.</a:t>
            </a:r>
          </a:p>
          <a:p>
            <a:endParaRPr lang="en-IN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5FDB2D-2266-29DB-086A-CCB60884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Not Return the Entity Directly?</a:t>
            </a:r>
          </a:p>
        </p:txBody>
      </p:sp>
    </p:spTree>
    <p:extLst>
      <p:ext uri="{BB962C8B-B14F-4D97-AF65-F5344CB8AC3E}">
        <p14:creationId xmlns:p14="http://schemas.microsoft.com/office/powerpoint/2010/main" val="261697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55BF2-BFEC-B251-1ADE-0C607092F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314731-86F7-85EF-82E4-39BA68997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Dapper </a:t>
            </a:r>
            <a:br>
              <a:rPr lang="en-US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</a:br>
            <a:r>
              <a:rPr lang="en-US" sz="40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</a:rPr>
              <a:t>(Micro ORM) </a:t>
            </a:r>
            <a:endParaRPr lang="en-US" i="1" dirty="0">
              <a:gradFill flip="none" rotWithShape="1">
                <a:gsLst>
                  <a:gs pos="10000">
                    <a:schemeClr val="accent6">
                      <a:lumMod val="50000"/>
                    </a:schemeClr>
                  </a:gs>
                  <a:gs pos="100000">
                    <a:schemeClr val="accent6"/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C0FF3A-C6FA-82B1-E5C4-D69EC81FA5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– 3</a:t>
            </a:r>
          </a:p>
        </p:txBody>
      </p:sp>
    </p:spTree>
    <p:extLst>
      <p:ext uri="{BB962C8B-B14F-4D97-AF65-F5344CB8AC3E}">
        <p14:creationId xmlns:p14="http://schemas.microsoft.com/office/powerpoint/2010/main" val="33709217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38003-30F2-3B3B-693D-866CA9F3F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989A14-1E9B-8EFE-3F66-C8FFFF87E2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Dapper</a:t>
            </a:r>
            <a:r>
              <a:rPr lang="en-IN" dirty="0"/>
              <a:t> is a </a:t>
            </a:r>
            <a:r>
              <a:rPr lang="en-IN" b="1" dirty="0"/>
              <a:t>lightweight Object Relational Mapper (ORM)</a:t>
            </a:r>
            <a:r>
              <a:rPr lang="en-IN" dirty="0"/>
              <a:t> for .NET developed by Stack Overflow.</a:t>
            </a:r>
          </a:p>
          <a:p>
            <a:r>
              <a:rPr lang="en-IN" dirty="0"/>
              <a:t>It helps us execute </a:t>
            </a:r>
            <a:r>
              <a:rPr lang="en-IN" b="1" dirty="0"/>
              <a:t>SQL queries directly</a:t>
            </a:r>
            <a:r>
              <a:rPr lang="en-IN" dirty="0"/>
              <a:t> and automatically converts the database records into C# objects.</a:t>
            </a:r>
          </a:p>
          <a:p>
            <a:r>
              <a:rPr lang="en-IN" dirty="0"/>
              <a:t>We can say, </a:t>
            </a:r>
            <a:r>
              <a:rPr lang="en-IN" i="1" dirty="0"/>
              <a:t>Dapper is a </a:t>
            </a:r>
            <a:r>
              <a:rPr lang="en-IN" b="1" i="1" dirty="0"/>
              <a:t>micro ORM </a:t>
            </a:r>
            <a:r>
              <a:rPr lang="en-IN" i="1" dirty="0"/>
              <a:t>that </a:t>
            </a:r>
            <a:r>
              <a:rPr lang="en-IN" b="1" i="1" dirty="0"/>
              <a:t>allows us to write SQL queries ourselves while automatically mapping database data to C# objects</a:t>
            </a:r>
            <a:r>
              <a:rPr lang="en-IN" i="1" dirty="0"/>
              <a:t>.</a:t>
            </a:r>
          </a:p>
          <a:p>
            <a:r>
              <a:rPr lang="en-IN" b="1" u="sng" dirty="0"/>
              <a:t>Real Life Analogy</a:t>
            </a:r>
          </a:p>
          <a:p>
            <a:r>
              <a:rPr lang="en-IN" dirty="0"/>
              <a:t>Imagine you order food in a restaurant.</a:t>
            </a:r>
          </a:p>
          <a:p>
            <a:r>
              <a:rPr lang="en-IN" dirty="0"/>
              <a:t>Using ADO.NET, You</a:t>
            </a:r>
          </a:p>
          <a:p>
            <a:pPr lvl="1"/>
            <a:r>
              <a:rPr lang="en-IN" dirty="0"/>
              <a:t>Cook the food yourself </a:t>
            </a:r>
          </a:p>
          <a:p>
            <a:pPr lvl="1"/>
            <a:r>
              <a:rPr lang="en-IN" dirty="0"/>
              <a:t>Prepare the plate </a:t>
            </a:r>
          </a:p>
          <a:p>
            <a:pPr lvl="1"/>
            <a:r>
              <a:rPr lang="en-IN" dirty="0"/>
              <a:t>Serve yourself </a:t>
            </a:r>
          </a:p>
          <a:p>
            <a:pPr lvl="1"/>
            <a:r>
              <a:rPr lang="en-IN" dirty="0"/>
              <a:t>Wash the dishes</a:t>
            </a:r>
          </a:p>
          <a:p>
            <a:r>
              <a:rPr lang="en-IN" dirty="0"/>
              <a:t>Everything is manual in this case.</a:t>
            </a:r>
          </a:p>
          <a:p>
            <a:endParaRPr lang="en-IN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2054D7-5FDD-69B3-8056-423491DDE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Dapper: Intro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F9A96560-409E-E20D-51EB-1EC1E848BF95}"/>
              </a:ext>
            </a:extLst>
          </p:cNvPr>
          <p:cNvSpPr/>
          <p:nvPr/>
        </p:nvSpPr>
        <p:spPr>
          <a:xfrm>
            <a:off x="5889879" y="3066690"/>
            <a:ext cx="6050844" cy="2842404"/>
          </a:xfrm>
          <a:prstGeom prst="wedgeRoundRectCallout">
            <a:avLst>
              <a:gd name="adj1" fmla="val -19835"/>
              <a:gd name="adj2" fmla="val 56127"/>
              <a:gd name="adj3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2400" b="1" dirty="0">
                <a:solidFill>
                  <a:schemeClr val="accent6"/>
                </a:solidFill>
              </a:rPr>
              <a:t>Using Dapper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You tell the waiter: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“Bring me Veg Biryani.”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The waiter understands your request and brings the food.</a:t>
            </a:r>
          </a:p>
          <a:p>
            <a:pPr algn="just"/>
            <a:r>
              <a:rPr lang="en-US" sz="2400" i="1" dirty="0">
                <a:solidFill>
                  <a:schemeClr val="tx1"/>
                </a:solidFill>
              </a:rPr>
              <a:t>You still choose what to eat (SQL Query), </a:t>
            </a:r>
            <a:r>
              <a:rPr lang="en-US" sz="2400" i="1" dirty="0">
                <a:solidFill>
                  <a:schemeClr val="tx1"/>
                </a:solidFill>
                <a:highlight>
                  <a:srgbClr val="FFFF00"/>
                </a:highlight>
              </a:rPr>
              <a:t>but someone else handles the repetitive work</a:t>
            </a:r>
            <a:r>
              <a:rPr lang="en-US" sz="2400" i="1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en-IN" dirty="0"/>
              <a:t>?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02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10ADA2-7BEA-2D08-90B7-FDA7E74AA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5"/>
            <a:ext cx="5432858" cy="3941470"/>
          </a:xfrm>
        </p:spPr>
        <p:txBody>
          <a:bodyPr/>
          <a:lstStyle/>
          <a:p>
            <a:r>
              <a:rPr lang="en-IN" dirty="0"/>
              <a:t>Suppose you have a </a:t>
            </a:r>
            <a:r>
              <a:rPr lang="en-IN" b="1" dirty="0"/>
              <a:t>Students</a:t>
            </a:r>
            <a:r>
              <a:rPr lang="en-IN" dirty="0"/>
              <a:t> table in SQL Server.</a:t>
            </a:r>
          </a:p>
          <a:p>
            <a:r>
              <a:rPr lang="en-IN" dirty="0"/>
              <a:t>Without Dapper, you need to:</a:t>
            </a:r>
          </a:p>
          <a:p>
            <a:pPr lvl="1"/>
            <a:r>
              <a:rPr lang="en-IN" dirty="0"/>
              <a:t>Open the database connection. </a:t>
            </a:r>
          </a:p>
          <a:p>
            <a:pPr lvl="1"/>
            <a:r>
              <a:rPr lang="en-IN" dirty="0"/>
              <a:t>Execute the SQL command. </a:t>
            </a:r>
          </a:p>
          <a:p>
            <a:pPr lvl="1"/>
            <a:r>
              <a:rPr lang="en-IN" dirty="0"/>
              <a:t>Read every row using </a:t>
            </a:r>
            <a:r>
              <a:rPr lang="en-IN" dirty="0" err="1"/>
              <a:t>SqlDataReader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Convert every column manually. </a:t>
            </a:r>
          </a:p>
          <a:p>
            <a:pPr lvl="1"/>
            <a:r>
              <a:rPr lang="en-IN" dirty="0"/>
              <a:t>Create objects one by one. </a:t>
            </a:r>
          </a:p>
          <a:p>
            <a:r>
              <a:rPr lang="en-IN" dirty="0"/>
              <a:t>This requires a </a:t>
            </a:r>
            <a:r>
              <a:rPr lang="en-IN" b="1" dirty="0">
                <a:highlight>
                  <a:srgbClr val="FFFF00"/>
                </a:highlight>
              </a:rPr>
              <a:t>lot of code &amp; repetitive coding.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BBC06F-6284-F040-B400-7988BAB06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Dapper is Required?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1CCD30-1971-80B2-18D0-A29D7E8F5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4039" y="863444"/>
            <a:ext cx="6395592" cy="39414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12BA4A-2E9D-5C82-073D-618B0057229B}"/>
              </a:ext>
            </a:extLst>
          </p:cNvPr>
          <p:cNvSpPr/>
          <p:nvPr/>
        </p:nvSpPr>
        <p:spPr>
          <a:xfrm>
            <a:off x="5900468" y="1768415"/>
            <a:ext cx="6029864" cy="78500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04B5D1-7F49-DD43-03B4-3A30A0FFBDB6}"/>
              </a:ext>
            </a:extLst>
          </p:cNvPr>
          <p:cNvSpPr/>
          <p:nvPr/>
        </p:nvSpPr>
        <p:spPr>
          <a:xfrm>
            <a:off x="5929767" y="4412412"/>
            <a:ext cx="1135267" cy="228599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2943D010-20DA-A1BF-6072-9B7DBBD02576}"/>
              </a:ext>
            </a:extLst>
          </p:cNvPr>
          <p:cNvSpPr txBox="1">
            <a:spLocks/>
          </p:cNvSpPr>
          <p:nvPr/>
        </p:nvSpPr>
        <p:spPr>
          <a:xfrm>
            <a:off x="131181" y="4804914"/>
            <a:ext cx="5432858" cy="15700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With Dapper</a:t>
            </a:r>
          </a:p>
          <a:p>
            <a:r>
              <a:rPr lang="en-IN" dirty="0"/>
              <a:t>Only one line retrieves all students and converts them into Student objects automatically.</a:t>
            </a:r>
            <a:endParaRPr lang="en-IN" b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40BC963-DF3D-3F55-494E-E3BEA06AB587}"/>
              </a:ext>
            </a:extLst>
          </p:cNvPr>
          <p:cNvCxnSpPr>
            <a:cxnSpLocks/>
          </p:cNvCxnSpPr>
          <p:nvPr/>
        </p:nvCxnSpPr>
        <p:spPr>
          <a:xfrm>
            <a:off x="508958" y="4761779"/>
            <a:ext cx="11450673" cy="4313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47020C2-04D2-9110-C639-B6E8C1D4A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928" y="5175512"/>
            <a:ext cx="6395592" cy="128136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C43A2A-0BFA-323B-A537-33B6B3C5EBF7}"/>
              </a:ext>
            </a:extLst>
          </p:cNvPr>
          <p:cNvSpPr/>
          <p:nvPr/>
        </p:nvSpPr>
        <p:spPr>
          <a:xfrm>
            <a:off x="5929767" y="5968678"/>
            <a:ext cx="6124753" cy="31998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467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2B3C83-9204-7822-5F9C-4086AFCA08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0543" y="2359100"/>
            <a:ext cx="1856609" cy="167762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C74E157-341B-D191-0C08-C80164418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is it called Micro ORM &amp; How it Works?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6D81B650-C0C1-B09D-511D-558384D709F4}"/>
              </a:ext>
            </a:extLst>
          </p:cNvPr>
          <p:cNvSpPr txBox="1">
            <a:spLocks/>
          </p:cNvSpPr>
          <p:nvPr/>
        </p:nvSpPr>
        <p:spPr>
          <a:xfrm>
            <a:off x="131180" y="863445"/>
            <a:ext cx="11929641" cy="17934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Large ORMs like Entity Framework manage many things automatically.</a:t>
            </a:r>
          </a:p>
          <a:p>
            <a:r>
              <a:rPr lang="en-IN" dirty="0"/>
              <a:t>Dapper only performs </a:t>
            </a:r>
            <a:r>
              <a:rPr lang="en-IN" b="1" dirty="0"/>
              <a:t>object mapping</a:t>
            </a:r>
            <a:r>
              <a:rPr lang="en-IN" dirty="0"/>
              <a:t>.</a:t>
            </a:r>
          </a:p>
          <a:p>
            <a:r>
              <a:rPr lang="en-IN" dirty="0"/>
              <a:t>That's why it is called a </a:t>
            </a:r>
            <a:r>
              <a:rPr lang="en-IN" b="1" dirty="0"/>
              <a:t>Micro ORM</a:t>
            </a:r>
            <a:r>
              <a:rPr lang="en-IN" dirty="0"/>
              <a:t>.</a:t>
            </a:r>
          </a:p>
          <a:p>
            <a:r>
              <a:rPr lang="en-IN" dirty="0"/>
              <a:t>It is known for its speed and simplicity.</a:t>
            </a:r>
          </a:p>
          <a:p>
            <a:endParaRPr lang="en-IN" i="1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277ACED7-0DDB-63F2-A155-3EAC765DB83D}"/>
              </a:ext>
            </a:extLst>
          </p:cNvPr>
          <p:cNvSpPr txBox="1">
            <a:spLocks/>
          </p:cNvSpPr>
          <p:nvPr/>
        </p:nvSpPr>
        <p:spPr>
          <a:xfrm>
            <a:off x="131179" y="2656937"/>
            <a:ext cx="11929641" cy="3614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u="sng" dirty="0"/>
              <a:t>How Dapper Works? </a:t>
            </a:r>
            <a:r>
              <a:rPr lang="en-IN" u="sng" dirty="0"/>
              <a:t>(</a:t>
            </a:r>
            <a:r>
              <a:rPr lang="en-IN" i="1" u="sng" dirty="0"/>
              <a:t>Do install </a:t>
            </a:r>
            <a:r>
              <a:rPr lang="en-IN" b="1" i="1" u="sng" dirty="0"/>
              <a:t>Dapper</a:t>
            </a:r>
            <a:r>
              <a:rPr lang="en-IN" i="1" u="sng" dirty="0"/>
              <a:t> using </a:t>
            </a:r>
            <a:r>
              <a:rPr lang="en-IN" i="1" u="sng" dirty="0" err="1"/>
              <a:t>Nuget</a:t>
            </a:r>
            <a:r>
              <a:rPr lang="en-IN" i="1" u="sng" dirty="0"/>
              <a:t> Package Manager</a:t>
            </a:r>
            <a:r>
              <a:rPr lang="en-IN" u="sng" dirty="0"/>
              <a:t>)</a:t>
            </a:r>
          </a:p>
          <a:p>
            <a:endParaRPr lang="en-IN" dirty="0"/>
          </a:p>
          <a:p>
            <a:endParaRPr lang="en-IN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DF8EA3-A723-7283-A545-F76A94DFC5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67"/>
          <a:stretch>
            <a:fillRect/>
          </a:stretch>
        </p:blipFill>
        <p:spPr>
          <a:xfrm>
            <a:off x="458983" y="3055336"/>
            <a:ext cx="3033294" cy="349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091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B43A5A0-D5B3-5AB5-2460-46F2025865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4106246"/>
              </p:ext>
            </p:extLst>
          </p:nvPr>
        </p:nvGraphicFramePr>
        <p:xfrm>
          <a:off x="251926" y="923820"/>
          <a:ext cx="11700588" cy="4824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81943">
                  <a:extLst>
                    <a:ext uri="{9D8B030D-6E8A-4147-A177-3AD203B41FA5}">
                      <a16:colId xmlns:a16="http://schemas.microsoft.com/office/drawing/2014/main" val="2682093003"/>
                    </a:ext>
                  </a:extLst>
                </a:gridCol>
                <a:gridCol w="3135086">
                  <a:extLst>
                    <a:ext uri="{9D8B030D-6E8A-4147-A177-3AD203B41FA5}">
                      <a16:colId xmlns:a16="http://schemas.microsoft.com/office/drawing/2014/main" val="3758103919"/>
                    </a:ext>
                  </a:extLst>
                </a:gridCol>
                <a:gridCol w="3158412">
                  <a:extLst>
                    <a:ext uri="{9D8B030D-6E8A-4147-A177-3AD203B41FA5}">
                      <a16:colId xmlns:a16="http://schemas.microsoft.com/office/drawing/2014/main" val="2789128734"/>
                    </a:ext>
                  </a:extLst>
                </a:gridCol>
                <a:gridCol w="2925147">
                  <a:extLst>
                    <a:ext uri="{9D8B030D-6E8A-4147-A177-3AD203B41FA5}">
                      <a16:colId xmlns:a16="http://schemas.microsoft.com/office/drawing/2014/main" val="3597032629"/>
                    </a:ext>
                  </a:extLst>
                </a:gridCol>
              </a:tblGrid>
              <a:tr h="9203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kern="1200" dirty="0">
                          <a:solidFill>
                            <a:schemeClr val="lt1"/>
                          </a:solidFill>
                        </a:rPr>
                        <a:t>Method Name</a:t>
                      </a:r>
                      <a:endParaRPr lang="en-I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009" marR="23009" marT="11504" marB="11504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kern="1200" dirty="0">
                          <a:solidFill>
                            <a:schemeClr val="lt1"/>
                          </a:solidFill>
                        </a:rPr>
                        <a:t>Explanation</a:t>
                      </a:r>
                      <a:endParaRPr lang="en-I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009" marR="23009" marT="11504" marB="11504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kern="1200" dirty="0">
                          <a:solidFill>
                            <a:schemeClr val="lt1"/>
                          </a:solidFill>
                        </a:rPr>
                        <a:t>Code Snippet</a:t>
                      </a:r>
                      <a:endParaRPr lang="en-I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009" marR="23009" marT="11504" marB="11504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</a:rPr>
                        <a:t>UseCase</a:t>
                      </a:r>
                      <a:endParaRPr lang="en-I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009" marR="23009" marT="11504" marB="11504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089517"/>
                  </a:ext>
                </a:extLst>
              </a:tr>
              <a:tr h="368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Query&lt;T&gt;()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Executes a SQL query and returns </a:t>
                      </a:r>
                      <a:r>
                        <a:rPr lang="en-IN" sz="1600" b="1" dirty="0"/>
                        <a:t>multiple records</a:t>
                      </a:r>
                      <a:r>
                        <a:rPr lang="en-IN" sz="1600" dirty="0"/>
                        <a:t> mapped to objects of type T.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var students = connection.Query&lt;Student&gt;("SELECT * FROM Students");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Get all records, search results, lists</a:t>
                      </a:r>
                    </a:p>
                  </a:txBody>
                  <a:tcPr marL="23009" marR="23009" marT="11504" marB="11504" anchor="ctr"/>
                </a:tc>
                <a:extLst>
                  <a:ext uri="{0D108BD9-81ED-4DB2-BD59-A6C34878D82A}">
                    <a16:rowId xmlns:a16="http://schemas.microsoft.com/office/drawing/2014/main" val="2143092632"/>
                  </a:ext>
                </a:extLst>
              </a:tr>
              <a:tr h="437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QueryAsync</a:t>
                      </a:r>
                      <a:r>
                        <a:rPr lang="en-IN" sz="1600" dirty="0"/>
                        <a:t>&lt;T&gt;()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Asynchronously executes a SQL query and returns </a:t>
                      </a:r>
                      <a:r>
                        <a:rPr lang="en-IN" sz="1600" b="1" dirty="0"/>
                        <a:t>multiple records</a:t>
                      </a:r>
                      <a:r>
                        <a:rPr lang="en-IN" sz="1600" dirty="0"/>
                        <a:t> mapped to T.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var students = await </a:t>
                      </a:r>
                      <a:r>
                        <a:rPr lang="en-IN" sz="1600" dirty="0" err="1"/>
                        <a:t>connection.QueryAsync</a:t>
                      </a:r>
                      <a:r>
                        <a:rPr lang="en-IN" sz="1600" dirty="0"/>
                        <a:t>&lt;Student&gt;("SELECT * FROM Students");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Recommended for Web API GET operations</a:t>
                      </a:r>
                    </a:p>
                  </a:txBody>
                  <a:tcPr marL="23009" marR="23009" marT="11504" marB="11504" anchor="ctr"/>
                </a:tc>
                <a:extLst>
                  <a:ext uri="{0D108BD9-81ED-4DB2-BD59-A6C34878D82A}">
                    <a16:rowId xmlns:a16="http://schemas.microsoft.com/office/drawing/2014/main" val="4222350587"/>
                  </a:ext>
                </a:extLst>
              </a:tr>
              <a:tr h="437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QueryFirst&lt;T&gt;()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Returns the </a:t>
                      </a:r>
                      <a:r>
                        <a:rPr lang="en-IN" sz="1600" b="1" dirty="0"/>
                        <a:t>first record</a:t>
                      </a:r>
                      <a:r>
                        <a:rPr lang="en-IN" sz="1600" dirty="0"/>
                        <a:t> from the result. Throws an exception if no record is found.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var student = </a:t>
                      </a:r>
                      <a:r>
                        <a:rPr lang="en-IN" sz="1600" dirty="0" err="1"/>
                        <a:t>connection.QueryFirst</a:t>
                      </a:r>
                      <a:r>
                        <a:rPr lang="en-IN" sz="1600" dirty="0"/>
                        <a:t>&lt;Student&gt;("SELECT * FROM Students ORDER BY Id");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When you are certain that at least one record exists</a:t>
                      </a:r>
                    </a:p>
                  </a:txBody>
                  <a:tcPr marL="23009" marR="23009" marT="11504" marB="11504" anchor="ctr"/>
                </a:tc>
                <a:extLst>
                  <a:ext uri="{0D108BD9-81ED-4DB2-BD59-A6C34878D82A}">
                    <a16:rowId xmlns:a16="http://schemas.microsoft.com/office/drawing/2014/main" val="3666967535"/>
                  </a:ext>
                </a:extLst>
              </a:tr>
              <a:tr h="368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QueryFirstAsync</a:t>
                      </a:r>
                      <a:r>
                        <a:rPr lang="en-IN" sz="1600" dirty="0"/>
                        <a:t>&lt;T&gt;()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Asynchronously returns the </a:t>
                      </a:r>
                      <a:r>
                        <a:rPr lang="en-IN" sz="1600" b="1"/>
                        <a:t>first record</a:t>
                      </a:r>
                      <a:r>
                        <a:rPr lang="en-IN" sz="1600"/>
                        <a:t>. Throws if no record exists.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var student = await </a:t>
                      </a:r>
                      <a:r>
                        <a:rPr lang="en-IN" sz="1600" dirty="0" err="1"/>
                        <a:t>connection.QueryFirstAsync</a:t>
                      </a:r>
                      <a:r>
                        <a:rPr lang="en-IN" sz="1600" dirty="0"/>
                        <a:t>&lt;Student&gt;(</a:t>
                      </a:r>
                      <a:r>
                        <a:rPr lang="en-IN" sz="1600" dirty="0" err="1"/>
                        <a:t>sql</a:t>
                      </a:r>
                      <a:r>
                        <a:rPr lang="en-IN" sz="1600" dirty="0"/>
                        <a:t>);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Async API operations where at least one result is expected</a:t>
                      </a:r>
                    </a:p>
                  </a:txBody>
                  <a:tcPr marL="23009" marR="23009" marT="11504" marB="11504" anchor="ctr"/>
                </a:tc>
                <a:extLst>
                  <a:ext uri="{0D108BD9-81ED-4DB2-BD59-A6C34878D82A}">
                    <a16:rowId xmlns:a16="http://schemas.microsoft.com/office/drawing/2014/main" val="2924667236"/>
                  </a:ext>
                </a:extLst>
              </a:tr>
              <a:tr h="368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QueryFirstOrDefault&lt;T&gt;()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Returns the </a:t>
                      </a:r>
                      <a:r>
                        <a:rPr lang="en-IN" sz="1600" b="1"/>
                        <a:t>first record</a:t>
                      </a:r>
                      <a:r>
                        <a:rPr lang="en-IN" sz="1600"/>
                        <a:t>, or null/default value if no record exists.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var student = </a:t>
                      </a:r>
                      <a:r>
                        <a:rPr lang="en-IN" sz="1600" dirty="0" err="1"/>
                        <a:t>connection.QueryFirstOrDefault</a:t>
                      </a:r>
                      <a:r>
                        <a:rPr lang="en-IN" sz="1600" dirty="0"/>
                        <a:t>&lt;Student&gt;(</a:t>
                      </a:r>
                      <a:r>
                        <a:rPr lang="en-IN" sz="1600" dirty="0" err="1"/>
                        <a:t>sql</a:t>
                      </a:r>
                      <a:r>
                        <a:rPr lang="en-IN" sz="1600" dirty="0"/>
                        <a:t>, new { Id = 1 });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Get a record by ID when the record may not exist</a:t>
                      </a:r>
                    </a:p>
                  </a:txBody>
                  <a:tcPr marL="23009" marR="23009" marT="11504" marB="11504" anchor="ctr"/>
                </a:tc>
                <a:extLst>
                  <a:ext uri="{0D108BD9-81ED-4DB2-BD59-A6C34878D82A}">
                    <a16:rowId xmlns:a16="http://schemas.microsoft.com/office/drawing/2014/main" val="1815031807"/>
                  </a:ext>
                </a:extLst>
              </a:tr>
              <a:tr h="368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QueryFirstOrDefaultAsync</a:t>
                      </a:r>
                      <a:r>
                        <a:rPr lang="en-IN" sz="1600" dirty="0"/>
                        <a:t>&lt;T&gt;()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Asynchronously returns the first record, or null if no record exists.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var student = await </a:t>
                      </a:r>
                      <a:r>
                        <a:rPr lang="en-IN" sz="1600" dirty="0" err="1"/>
                        <a:t>connection.QueryFirstOrDefaultAsync</a:t>
                      </a:r>
                      <a:r>
                        <a:rPr lang="en-IN" sz="1600" dirty="0"/>
                        <a:t>&lt;Student&gt;(</a:t>
                      </a:r>
                      <a:r>
                        <a:rPr lang="en-IN" sz="1600" dirty="0" err="1"/>
                        <a:t>sql</a:t>
                      </a:r>
                      <a:r>
                        <a:rPr lang="en-IN" sz="1600" dirty="0"/>
                        <a:t>, new { Id = id });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Very common in Web APIs</a:t>
                      </a:r>
                      <a:r>
                        <a:rPr lang="en-IN" sz="1600" dirty="0"/>
                        <a:t> for GET /</a:t>
                      </a:r>
                      <a:r>
                        <a:rPr lang="en-IN" sz="1600" dirty="0" err="1"/>
                        <a:t>api</a:t>
                      </a:r>
                      <a:r>
                        <a:rPr lang="en-IN" sz="1600" dirty="0"/>
                        <a:t>/students/{id}</a:t>
                      </a:r>
                    </a:p>
                  </a:txBody>
                  <a:tcPr marL="23009" marR="23009" marT="11504" marB="11504" anchor="ctr"/>
                </a:tc>
                <a:extLst>
                  <a:ext uri="{0D108BD9-81ED-4DB2-BD59-A6C34878D82A}">
                    <a16:rowId xmlns:a16="http://schemas.microsoft.com/office/drawing/2014/main" val="541764469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F3590DB-E89F-5D7A-3FE2-8AC32E674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Different Dapper Methods</a:t>
            </a:r>
          </a:p>
        </p:txBody>
      </p:sp>
    </p:spTree>
    <p:extLst>
      <p:ext uri="{BB962C8B-B14F-4D97-AF65-F5344CB8AC3E}">
        <p14:creationId xmlns:p14="http://schemas.microsoft.com/office/powerpoint/2010/main" val="40187042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1BB41B-EB85-F8A6-DD8C-B77A914DFC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8271915"/>
              </p:ext>
            </p:extLst>
          </p:nvPr>
        </p:nvGraphicFramePr>
        <p:xfrm>
          <a:off x="279918" y="863600"/>
          <a:ext cx="11644604" cy="3386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04662">
                  <a:extLst>
                    <a:ext uri="{9D8B030D-6E8A-4147-A177-3AD203B41FA5}">
                      <a16:colId xmlns:a16="http://schemas.microsoft.com/office/drawing/2014/main" val="2784002220"/>
                    </a:ext>
                  </a:extLst>
                </a:gridCol>
                <a:gridCol w="3051110">
                  <a:extLst>
                    <a:ext uri="{9D8B030D-6E8A-4147-A177-3AD203B41FA5}">
                      <a16:colId xmlns:a16="http://schemas.microsoft.com/office/drawing/2014/main" val="3846469086"/>
                    </a:ext>
                  </a:extLst>
                </a:gridCol>
                <a:gridCol w="3247053">
                  <a:extLst>
                    <a:ext uri="{9D8B030D-6E8A-4147-A177-3AD203B41FA5}">
                      <a16:colId xmlns:a16="http://schemas.microsoft.com/office/drawing/2014/main" val="462094014"/>
                    </a:ext>
                  </a:extLst>
                </a:gridCol>
                <a:gridCol w="3041779">
                  <a:extLst>
                    <a:ext uri="{9D8B030D-6E8A-4147-A177-3AD203B41FA5}">
                      <a16:colId xmlns:a16="http://schemas.microsoft.com/office/drawing/2014/main" val="4019419987"/>
                    </a:ext>
                  </a:extLst>
                </a:gridCol>
              </a:tblGrid>
              <a:tr h="36814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</a:rPr>
                        <a:t>MethodName</a:t>
                      </a:r>
                      <a:endParaRPr lang="en-I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009" marR="23009" marT="11504" marB="11504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lt1"/>
                          </a:solidFill>
                        </a:rPr>
                        <a:t>Explanation</a:t>
                      </a:r>
                      <a:endParaRPr lang="en-I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009" marR="23009" marT="11504" marB="11504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lt1"/>
                          </a:solidFill>
                        </a:rPr>
                        <a:t>Code Snippet</a:t>
                      </a:r>
                      <a:endParaRPr lang="en-I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009" marR="23009" marT="11504" marB="11504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</a:rPr>
                        <a:t>UseCase</a:t>
                      </a:r>
                      <a:endParaRPr lang="en-I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009" marR="23009" marT="11504" marB="11504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426877"/>
                  </a:ext>
                </a:extLst>
              </a:tr>
              <a:tr h="368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QuerySingle</a:t>
                      </a:r>
                      <a:r>
                        <a:rPr lang="en-IN" sz="1600" dirty="0"/>
                        <a:t>&lt;T&gt;()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Expects </a:t>
                      </a:r>
                      <a:r>
                        <a:rPr lang="en-IN" sz="1600" b="1" dirty="0"/>
                        <a:t>exactly one record</a:t>
                      </a:r>
                      <a:r>
                        <a:rPr lang="en-IN" sz="1600" dirty="0"/>
                        <a:t>. Throws if zero or more than one record is returned.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var student = connection.QuerySingle&lt;Student&gt;(sql, new { Id = 1 });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When the query must return exactly one record</a:t>
                      </a:r>
                    </a:p>
                  </a:txBody>
                  <a:tcPr marL="23009" marR="23009" marT="11504" marB="11504" anchor="ctr"/>
                </a:tc>
                <a:extLst>
                  <a:ext uri="{0D108BD9-81ED-4DB2-BD59-A6C34878D82A}">
                    <a16:rowId xmlns:a16="http://schemas.microsoft.com/office/drawing/2014/main" val="2971239364"/>
                  </a:ext>
                </a:extLst>
              </a:tr>
              <a:tr h="437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QuerySingleAsync</a:t>
                      </a:r>
                      <a:r>
                        <a:rPr lang="en-IN" sz="1600" dirty="0"/>
                        <a:t>&lt;T&gt;()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Asynchronously returns exactly one record. Throws if zero or multiple records exist.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var student = await connection.QuerySingleAsync&lt;Student&gt;(sql, new { Id = 1 });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Unique-record queries where exactly one result is guaranteed</a:t>
                      </a:r>
                    </a:p>
                  </a:txBody>
                  <a:tcPr marL="23009" marR="23009" marT="11504" marB="11504" anchor="ctr"/>
                </a:tc>
                <a:extLst>
                  <a:ext uri="{0D108BD9-81ED-4DB2-BD59-A6C34878D82A}">
                    <a16:rowId xmlns:a16="http://schemas.microsoft.com/office/drawing/2014/main" val="1975551358"/>
                  </a:ext>
                </a:extLst>
              </a:tr>
              <a:tr h="368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QuerySingleOrDefault&lt;T&gt;()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Returns exactly one record or null. Throws if </a:t>
                      </a:r>
                      <a:r>
                        <a:rPr lang="en-IN" sz="1600" b="1" dirty="0"/>
                        <a:t>more than one</a:t>
                      </a:r>
                      <a:r>
                        <a:rPr lang="en-IN" sz="1600" dirty="0"/>
                        <a:t> record is returned.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var student = connection.QuerySingleOrDefault&lt;Student&gt;(sql, new { Id = 1 });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Queries using a unique key where the record may not exist</a:t>
                      </a:r>
                    </a:p>
                  </a:txBody>
                  <a:tcPr marL="23009" marR="23009" marT="11504" marB="11504" anchor="ctr"/>
                </a:tc>
                <a:extLst>
                  <a:ext uri="{0D108BD9-81ED-4DB2-BD59-A6C34878D82A}">
                    <a16:rowId xmlns:a16="http://schemas.microsoft.com/office/drawing/2014/main" val="3806199690"/>
                  </a:ext>
                </a:extLst>
              </a:tr>
              <a:tr h="437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 err="1"/>
                        <a:t>QuerySingleOrDefaultAsync</a:t>
                      </a:r>
                      <a:r>
                        <a:rPr lang="en-IN" sz="1600" dirty="0"/>
                        <a:t>&lt;T&gt;()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Asynchronously returns one record or null, but throws if multiple records are returned.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var student = await </a:t>
                      </a:r>
                      <a:r>
                        <a:rPr lang="en-IN" sz="1600" dirty="0" err="1"/>
                        <a:t>connection.QuerySingleOrDefaultAsync</a:t>
                      </a:r>
                      <a:r>
                        <a:rPr lang="en-IN" sz="1600" dirty="0"/>
                        <a:t>&lt;Student&gt;(</a:t>
                      </a:r>
                      <a:r>
                        <a:rPr lang="en-IN" sz="1600" dirty="0" err="1"/>
                        <a:t>sql</a:t>
                      </a:r>
                      <a:r>
                        <a:rPr lang="en-IN" sz="1600" dirty="0"/>
                        <a:t>, new { Id = id });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Async unique-record lookup</a:t>
                      </a:r>
                    </a:p>
                  </a:txBody>
                  <a:tcPr marL="23009" marR="23009" marT="11504" marB="11504" anchor="ctr"/>
                </a:tc>
                <a:extLst>
                  <a:ext uri="{0D108BD9-81ED-4DB2-BD59-A6C34878D82A}">
                    <a16:rowId xmlns:a16="http://schemas.microsoft.com/office/drawing/2014/main" val="1405153221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354F4040-CBC6-7DB4-49FB-4FD97E96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Different Dapper Methods</a:t>
            </a:r>
          </a:p>
        </p:txBody>
      </p:sp>
    </p:spTree>
    <p:extLst>
      <p:ext uri="{BB962C8B-B14F-4D97-AF65-F5344CB8AC3E}">
        <p14:creationId xmlns:p14="http://schemas.microsoft.com/office/powerpoint/2010/main" val="21241177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0FA30-B09E-2CB9-60E5-AC1124527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7C143E-4EA5-9365-F798-EFB2A683E3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4626710"/>
              </p:ext>
            </p:extLst>
          </p:nvPr>
        </p:nvGraphicFramePr>
        <p:xfrm>
          <a:off x="279918" y="863600"/>
          <a:ext cx="11644604" cy="3386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20686">
                  <a:extLst>
                    <a:ext uri="{9D8B030D-6E8A-4147-A177-3AD203B41FA5}">
                      <a16:colId xmlns:a16="http://schemas.microsoft.com/office/drawing/2014/main" val="2784002220"/>
                    </a:ext>
                  </a:extLst>
                </a:gridCol>
                <a:gridCol w="3359020">
                  <a:extLst>
                    <a:ext uri="{9D8B030D-6E8A-4147-A177-3AD203B41FA5}">
                      <a16:colId xmlns:a16="http://schemas.microsoft.com/office/drawing/2014/main" val="3846469086"/>
                    </a:ext>
                  </a:extLst>
                </a:gridCol>
                <a:gridCol w="3377682">
                  <a:extLst>
                    <a:ext uri="{9D8B030D-6E8A-4147-A177-3AD203B41FA5}">
                      <a16:colId xmlns:a16="http://schemas.microsoft.com/office/drawing/2014/main" val="462094014"/>
                    </a:ext>
                  </a:extLst>
                </a:gridCol>
                <a:gridCol w="2687216">
                  <a:extLst>
                    <a:ext uri="{9D8B030D-6E8A-4147-A177-3AD203B41FA5}">
                      <a16:colId xmlns:a16="http://schemas.microsoft.com/office/drawing/2014/main" val="4019419987"/>
                    </a:ext>
                  </a:extLst>
                </a:gridCol>
              </a:tblGrid>
              <a:tr h="36814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</a:rPr>
                        <a:t>MethodName</a:t>
                      </a:r>
                      <a:endParaRPr lang="en-I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009" marR="23009" marT="11504" marB="11504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lt1"/>
                          </a:solidFill>
                        </a:rPr>
                        <a:t>Explanation</a:t>
                      </a:r>
                      <a:endParaRPr lang="en-I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009" marR="23009" marT="11504" marB="11504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>
                          <a:solidFill>
                            <a:schemeClr val="lt1"/>
                          </a:solidFill>
                        </a:rPr>
                        <a:t>Code Snippet</a:t>
                      </a:r>
                      <a:endParaRPr lang="en-I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009" marR="23009" marT="11504" marB="11504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en-IN" sz="1800" b="1" kern="1200" dirty="0" err="1">
                          <a:solidFill>
                            <a:schemeClr val="lt1"/>
                          </a:solidFill>
                        </a:rPr>
                        <a:t>UseCase</a:t>
                      </a:r>
                      <a:endParaRPr lang="en-IN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3009" marR="23009" marT="11504" marB="11504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426877"/>
                  </a:ext>
                </a:extLst>
              </a:tr>
              <a:tr h="437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Execute()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Executes a command that does </a:t>
                      </a:r>
                      <a:r>
                        <a:rPr lang="en-IN" sz="1600" b="1" dirty="0"/>
                        <a:t>not return rows</a:t>
                      </a:r>
                      <a:r>
                        <a:rPr lang="en-IN" sz="1600" dirty="0"/>
                        <a:t> and returns the number of affected rows.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int rows = </a:t>
                      </a:r>
                      <a:r>
                        <a:rPr lang="en-IN" sz="1600" dirty="0" err="1"/>
                        <a:t>connection.Execute</a:t>
                      </a:r>
                      <a:r>
                        <a:rPr lang="en-IN" sz="1600" dirty="0"/>
                        <a:t>("DELETE FROM Students WHERE Id = @Id", new { Id = 1 });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INSERT, UPDATE, DELETE</a:t>
                      </a:r>
                    </a:p>
                  </a:txBody>
                  <a:tcPr marL="23009" marR="23009" marT="11504" marB="11504" anchor="ctr"/>
                </a:tc>
                <a:extLst>
                  <a:ext uri="{0D108BD9-81ED-4DB2-BD59-A6C34878D82A}">
                    <a16:rowId xmlns:a16="http://schemas.microsoft.com/office/drawing/2014/main" val="663451936"/>
                  </a:ext>
                </a:extLst>
              </a:tr>
              <a:tr h="299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ExecuteAsync()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Asynchronously executes a command and returns the number of affected rows.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int rows = await </a:t>
                      </a:r>
                      <a:r>
                        <a:rPr lang="en-IN" sz="1600" dirty="0" err="1"/>
                        <a:t>connection.ExecuteAsync</a:t>
                      </a:r>
                      <a:r>
                        <a:rPr lang="en-IN" sz="1600" dirty="0"/>
                        <a:t>(</a:t>
                      </a:r>
                      <a:r>
                        <a:rPr lang="en-IN" sz="1600" dirty="0" err="1"/>
                        <a:t>sql</a:t>
                      </a:r>
                      <a:r>
                        <a:rPr lang="en-IN" sz="1600" dirty="0"/>
                        <a:t>, new { Id = id });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Recommended for Web API</a:t>
                      </a:r>
                      <a:r>
                        <a:rPr lang="en-IN" sz="1600"/>
                        <a:t> INSERT, UPDATE, DELETE</a:t>
                      </a:r>
                    </a:p>
                  </a:txBody>
                  <a:tcPr marL="23009" marR="23009" marT="11504" marB="11504" anchor="ctr"/>
                </a:tc>
                <a:extLst>
                  <a:ext uri="{0D108BD9-81ED-4DB2-BD59-A6C34878D82A}">
                    <a16:rowId xmlns:a16="http://schemas.microsoft.com/office/drawing/2014/main" val="3555274251"/>
                  </a:ext>
                </a:extLst>
              </a:tr>
              <a:tr h="368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ExecuteScalar&lt;T&gt;()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Executes a query and returns </a:t>
                      </a:r>
                      <a:r>
                        <a:rPr lang="en-IN" sz="1600" b="1" dirty="0"/>
                        <a:t>one single value</a:t>
                      </a:r>
                      <a:r>
                        <a:rPr lang="en-IN" sz="1600" dirty="0"/>
                        <a:t>.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int count = </a:t>
                      </a:r>
                      <a:r>
                        <a:rPr lang="en-IN" sz="1600" dirty="0" err="1"/>
                        <a:t>connection.ExecuteScalar</a:t>
                      </a:r>
                      <a:r>
                        <a:rPr lang="en-IN" sz="1600" dirty="0"/>
                        <a:t>&lt;int&gt;("SELECT COUNT(*) FROM Students");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COUNT, MAX, MIN, generated ID, totals</a:t>
                      </a:r>
                    </a:p>
                  </a:txBody>
                  <a:tcPr marL="23009" marR="23009" marT="11504" marB="11504" anchor="ctr"/>
                </a:tc>
                <a:extLst>
                  <a:ext uri="{0D108BD9-81ED-4DB2-BD59-A6C34878D82A}">
                    <a16:rowId xmlns:a16="http://schemas.microsoft.com/office/drawing/2014/main" val="958364172"/>
                  </a:ext>
                </a:extLst>
              </a:tr>
              <a:tr h="3681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ExecuteScalarAsync&lt;T&gt;()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Asynchronously executes a query and returns one single value.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int count = await </a:t>
                      </a:r>
                      <a:r>
                        <a:rPr lang="en-IN" sz="1600" dirty="0" err="1"/>
                        <a:t>connection.ExecuteScalarAsync</a:t>
                      </a:r>
                      <a:r>
                        <a:rPr lang="en-IN" sz="1600" dirty="0"/>
                        <a:t>&lt;int&gt;("SELECT COUNT(*) FROM Students");</a:t>
                      </a:r>
                    </a:p>
                  </a:txBody>
                  <a:tcPr marL="23009" marR="23009" marT="11504" marB="11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Async aggregate queries and retrieving generated IDs</a:t>
                      </a:r>
                    </a:p>
                  </a:txBody>
                  <a:tcPr marL="23009" marR="23009" marT="11504" marB="11504" anchor="ctr"/>
                </a:tc>
                <a:extLst>
                  <a:ext uri="{0D108BD9-81ED-4DB2-BD59-A6C34878D82A}">
                    <a16:rowId xmlns:a16="http://schemas.microsoft.com/office/drawing/2014/main" val="1074432990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AFF64EF7-BBF3-0775-A532-38513B832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Different Dapper Methods</a:t>
            </a:r>
          </a:p>
        </p:txBody>
      </p:sp>
    </p:spTree>
    <p:extLst>
      <p:ext uri="{BB962C8B-B14F-4D97-AF65-F5344CB8AC3E}">
        <p14:creationId xmlns:p14="http://schemas.microsoft.com/office/powerpoint/2010/main" val="25352546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3">
            <a:extLst>
              <a:ext uri="{FF2B5EF4-FFF2-40B4-BE49-F238E27FC236}">
                <a16:creationId xmlns:a16="http://schemas.microsoft.com/office/drawing/2014/main" id="{E2AD8B6E-51EA-4A15-8752-4F221E5E02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06304" y="107701"/>
            <a:ext cx="4646358" cy="734653"/>
          </a:xfrm>
        </p:spPr>
        <p:txBody>
          <a:bodyPr/>
          <a:lstStyle/>
          <a:p>
            <a:r>
              <a:rPr lang="en-US" b="1" dirty="0"/>
              <a:t>Building RESTful APIs with </a:t>
            </a:r>
          </a:p>
          <a:p>
            <a:r>
              <a:rPr lang="en-US" b="1" dirty="0"/>
              <a:t>ASP.NET Core</a:t>
            </a:r>
          </a:p>
          <a:p>
            <a:r>
              <a:rPr lang="en-US" dirty="0"/>
              <a:t>#2401CS521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F27F027-AAC9-4C88-B3AF-3C4A20BDDD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/>
          <a:lstStyle/>
          <a:p>
            <a:r>
              <a:rPr lang="en-US" dirty="0"/>
              <a:t>Madhuresh.fichadiya@darshan.ac.in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59B646FF-BD32-4C5A-94AF-AC4347EADA2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/>
          <a:lstStyle/>
          <a:p>
            <a:r>
              <a:rPr lang="en-US" dirty="0"/>
              <a:t>8866961282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915CF252-06A8-43C0-BB69-DA7109EA62D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37768"/>
            <a:ext cx="3780000" cy="290081"/>
          </a:xfrm>
        </p:spPr>
        <p:txBody>
          <a:bodyPr/>
          <a:lstStyle/>
          <a:p>
            <a:r>
              <a:rPr lang="en-US"/>
              <a:t>Computer Science &amp; Engineering Department</a:t>
            </a:r>
            <a:endParaRPr lang="en-US" dirty="0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89F5B5F8-350F-4941-B9DE-36BF8B0148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/>
          <a:lstStyle/>
          <a:p>
            <a:r>
              <a:rPr lang="en-US" dirty="0"/>
              <a:t>Prof. Madhuresh R Fichadiya</a:t>
            </a:r>
          </a:p>
        </p:txBody>
      </p:sp>
      <p:pic>
        <p:nvPicPr>
          <p:cNvPr id="32" name="Picture Placeholder 1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3569" y="5211251"/>
            <a:ext cx="1353599" cy="1353599"/>
          </a:xfrm>
        </p:spPr>
      </p:pic>
    </p:spTree>
    <p:extLst>
      <p:ext uri="{BB962C8B-B14F-4D97-AF65-F5344CB8AC3E}">
        <p14:creationId xmlns:p14="http://schemas.microsoft.com/office/powerpoint/2010/main" val="2357509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14630</TotalTime>
  <Words>3593</Words>
  <Application>Microsoft Office PowerPoint</Application>
  <PresentationFormat>Widescreen</PresentationFormat>
  <Paragraphs>632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3" baseType="lpstr">
      <vt:lpstr>Roboto Condensed Light</vt:lpstr>
      <vt:lpstr>Wingdings</vt:lpstr>
      <vt:lpstr>Arial</vt:lpstr>
      <vt:lpstr>Consolas</vt:lpstr>
      <vt:lpstr>Roboto Condensed (Body)</vt:lpstr>
      <vt:lpstr>Courier New</vt:lpstr>
      <vt:lpstr>Calibri</vt:lpstr>
      <vt:lpstr>Cascadia Mono</vt:lpstr>
      <vt:lpstr>Wingdings 3</vt:lpstr>
      <vt:lpstr>Wingdings 2</vt:lpstr>
      <vt:lpstr>Roboto Condensed</vt:lpstr>
      <vt:lpstr>Office Theme</vt:lpstr>
      <vt:lpstr>Unit-2  Entity Framework (EF) Core &amp; Database Access</vt:lpstr>
      <vt:lpstr>PowerPoint Presentation</vt:lpstr>
      <vt:lpstr>PowerPoint Presentation</vt:lpstr>
      <vt:lpstr>EF Core </vt:lpstr>
      <vt:lpstr>Introduction to EF Core &amp; ORM </vt:lpstr>
      <vt:lpstr>Intro: EF (Entity Framework) Core</vt:lpstr>
      <vt:lpstr>Object-Relational Mapper (ORM) </vt:lpstr>
      <vt:lpstr>EF Core Basic CRUD Operations</vt:lpstr>
      <vt:lpstr>EF (Entity Framework) Core Basic CRUD - Steps</vt:lpstr>
      <vt:lpstr>EF (Entity Framework) Core Basic CRUD – Steps Cont..</vt:lpstr>
      <vt:lpstr>EF Core Basic CRUD Operations | Students Controller</vt:lpstr>
      <vt:lpstr>EF Core Basic CRUD Operations | Students Controller Cont..</vt:lpstr>
      <vt:lpstr>EF Core Basic CRUD Operations | Students Controller Cont..</vt:lpstr>
      <vt:lpstr>Code-First v/s Database-First Approach</vt:lpstr>
      <vt:lpstr>Code-First vs. Database-First Approaches</vt:lpstr>
      <vt:lpstr>DbContext &amp; DbSet</vt:lpstr>
      <vt:lpstr>DbContext &amp; DbSet</vt:lpstr>
      <vt:lpstr>DbContext &amp; DbSet Cont..</vt:lpstr>
      <vt:lpstr>EF Core Migrations</vt:lpstr>
      <vt:lpstr>EF Core Migrations</vt:lpstr>
      <vt:lpstr>EF Core Migrations Cont..</vt:lpstr>
      <vt:lpstr>EF Core Migrations Commands</vt:lpstr>
      <vt:lpstr>Add Migration | add-migration [name] </vt:lpstr>
      <vt:lpstr>Add Migration | add-migration [name]</vt:lpstr>
      <vt:lpstr>Adding Migrations after Initial Migration</vt:lpstr>
      <vt:lpstr>Removing Migration | remove-migration</vt:lpstr>
      <vt:lpstr>List All Migrations | get-migration</vt:lpstr>
      <vt:lpstr>Update-Database</vt:lpstr>
      <vt:lpstr>Tracking and No-Tracking Queries </vt:lpstr>
      <vt:lpstr>What is Tracking?</vt:lpstr>
      <vt:lpstr>Tracking/No-Tracking Queries</vt:lpstr>
      <vt:lpstr>Tracking</vt:lpstr>
      <vt:lpstr>No-Tracking</vt:lpstr>
      <vt:lpstr>Async/Await </vt:lpstr>
      <vt:lpstr>Async/Await: Intro | Example </vt:lpstr>
      <vt:lpstr>Why Async/Await?</vt:lpstr>
      <vt:lpstr>Async/Await Example in API</vt:lpstr>
      <vt:lpstr>Async/Await Applied in Controller</vt:lpstr>
      <vt:lpstr>EF Core Sync/Async Methods</vt:lpstr>
      <vt:lpstr>DTOs  (Data Transfer Object)</vt:lpstr>
      <vt:lpstr>DTOs: Intro</vt:lpstr>
      <vt:lpstr>Why Do We Need DTOs?</vt:lpstr>
      <vt:lpstr>Why Not Return the Entity Directly?</vt:lpstr>
      <vt:lpstr>Dapper  (Micro ORM) </vt:lpstr>
      <vt:lpstr>Dapper: Intro</vt:lpstr>
      <vt:lpstr>Why Dapper is Required?</vt:lpstr>
      <vt:lpstr>Why is it called Micro ORM &amp; How it Works?</vt:lpstr>
      <vt:lpstr>Different Dapper Methods</vt:lpstr>
      <vt:lpstr>Different Dapper Methods</vt:lpstr>
      <vt:lpstr>Different Dapper Methods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Madhuresh Fichadiya</cp:lastModifiedBy>
  <cp:revision>1014</cp:revision>
  <dcterms:created xsi:type="dcterms:W3CDTF">2020-05-01T05:09:15Z</dcterms:created>
  <dcterms:modified xsi:type="dcterms:W3CDTF">2026-08-18T03:55:32Z</dcterms:modified>
</cp:coreProperties>
</file>