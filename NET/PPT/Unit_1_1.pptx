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2">
  <p:sldMasterIdLst>
    <p:sldMasterId id="2147483648" r:id="rId1"/>
  </p:sldMasterIdLst>
  <p:notesMasterIdLst>
    <p:notesMasterId r:id="rId56"/>
  </p:notesMasterIdLst>
  <p:sldIdLst>
    <p:sldId id="309" r:id="rId2"/>
    <p:sldId id="441" r:id="rId3"/>
    <p:sldId id="451" r:id="rId4"/>
    <p:sldId id="526" r:id="rId5"/>
    <p:sldId id="527" r:id="rId6"/>
    <p:sldId id="415" r:id="rId7"/>
    <p:sldId id="452" r:id="rId8"/>
    <p:sldId id="460" r:id="rId9"/>
    <p:sldId id="461" r:id="rId10"/>
    <p:sldId id="463" r:id="rId11"/>
    <p:sldId id="462" r:id="rId12"/>
    <p:sldId id="464" r:id="rId13"/>
    <p:sldId id="465" r:id="rId14"/>
    <p:sldId id="466" r:id="rId15"/>
    <p:sldId id="496" r:id="rId16"/>
    <p:sldId id="471" r:id="rId17"/>
    <p:sldId id="495" r:id="rId18"/>
    <p:sldId id="469" r:id="rId19"/>
    <p:sldId id="470" r:id="rId20"/>
    <p:sldId id="413" r:id="rId21"/>
    <p:sldId id="416" r:id="rId22"/>
    <p:sldId id="456" r:id="rId23"/>
    <p:sldId id="457" r:id="rId24"/>
    <p:sldId id="479" r:id="rId25"/>
    <p:sldId id="476" r:id="rId26"/>
    <p:sldId id="478" r:id="rId27"/>
    <p:sldId id="477" r:id="rId28"/>
    <p:sldId id="481" r:id="rId29"/>
    <p:sldId id="482" r:id="rId30"/>
    <p:sldId id="480" r:id="rId31"/>
    <p:sldId id="502" r:id="rId32"/>
    <p:sldId id="503" r:id="rId33"/>
    <p:sldId id="485" r:id="rId34"/>
    <p:sldId id="504" r:id="rId35"/>
    <p:sldId id="505" r:id="rId36"/>
    <p:sldId id="506" r:id="rId37"/>
    <p:sldId id="507" r:id="rId38"/>
    <p:sldId id="508" r:id="rId39"/>
    <p:sldId id="510" r:id="rId40"/>
    <p:sldId id="528" r:id="rId41"/>
    <p:sldId id="529" r:id="rId42"/>
    <p:sldId id="531" r:id="rId43"/>
    <p:sldId id="533" r:id="rId44"/>
    <p:sldId id="534" r:id="rId45"/>
    <p:sldId id="530" r:id="rId46"/>
    <p:sldId id="535" r:id="rId47"/>
    <p:sldId id="536" r:id="rId48"/>
    <p:sldId id="537" r:id="rId49"/>
    <p:sldId id="538" r:id="rId50"/>
    <p:sldId id="539" r:id="rId51"/>
    <p:sldId id="543" r:id="rId52"/>
    <p:sldId id="544" r:id="rId53"/>
    <p:sldId id="540" r:id="rId54"/>
    <p:sldId id="493" r:id="rId55"/>
  </p:sldIdLst>
  <p:sldSz cx="12192000" cy="6858000"/>
  <p:notesSz cx="6858000" cy="9144000"/>
  <p:embeddedFontLst>
    <p:embeddedFont>
      <p:font typeface="Consolas" panose="020B0609020204030204" pitchFamily="49" charset="0"/>
      <p:regular r:id="rId57"/>
      <p:bold r:id="rId58"/>
      <p:italic r:id="rId59"/>
      <p:boldItalic r:id="rId60"/>
    </p:embeddedFont>
    <p:embeddedFont>
      <p:font typeface="Roboto Condensed" panose="02000000000000000000" pitchFamily="2" charset="0"/>
      <p:regular r:id="rId61"/>
      <p:bold r:id="rId62"/>
      <p:italic r:id="rId63"/>
      <p:boldItalic r:id="rId64"/>
    </p:embeddedFont>
    <p:embeddedFont>
      <p:font typeface="Roboto Condensed Light" panose="02000000000000000000" pitchFamily="2" charset="0"/>
      <p:regular r:id="rId65"/>
      <p:italic r:id="rId66"/>
    </p:embeddedFont>
    <p:embeddedFont>
      <p:font typeface="Wingdings 2" panose="05020102010507070707" pitchFamily="18" charset="2"/>
      <p:regular r:id="rId67"/>
    </p:embeddedFont>
    <p:embeddedFont>
      <p:font typeface="Wingdings 3" panose="05040102010807070707" pitchFamily="18" charset="2"/>
      <p:regular r:id="rId6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bnOqwMgioxK/8OC4u6dZOw==" hashData="k+ABZcY9MrhWF5vel9DKj1r6aVDXugsHcNkL4M7jEnMgIERTShDDa+9Xsw/TtOqH4fDkdgJfjBl8SJezjCq18A=="/>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0E4F"/>
    <a:srgbClr val="F54337"/>
    <a:srgbClr val="FA6060"/>
    <a:srgbClr val="301B92"/>
    <a:srgbClr val="673BB7"/>
    <a:srgbClr val="607D8B"/>
    <a:srgbClr val="ED524F"/>
    <a:srgbClr val="B71B1C"/>
    <a:srgbClr val="D81A60"/>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54" autoAdjust="0"/>
    <p:restoredTop sz="94660"/>
  </p:normalViewPr>
  <p:slideViewPr>
    <p:cSldViewPr snapToGrid="0">
      <p:cViewPr varScale="1">
        <p:scale>
          <a:sx n="82" d="100"/>
          <a:sy n="82" d="100"/>
        </p:scale>
        <p:origin x="763" y="72"/>
      </p:cViewPr>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7.fntdata"/><Relationship Id="rId68"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66" Type="http://schemas.openxmlformats.org/officeDocument/2006/relationships/font" Target="fonts/font10.fntdata"/><Relationship Id="rId5" Type="http://schemas.openxmlformats.org/officeDocument/2006/relationships/slide" Target="slides/slide4.xml"/><Relationship Id="rId61"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6.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microsoft.com/office/2007/relationships/hdphoto" Target="../media/hdphoto3.wdp"/><Relationship Id="rId10"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image" Target="../media/image17.jpe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8.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jpeg"/></Relationships>
</file>

<file path=ppt/slideLayouts/_rels/slideLayout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6.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19.jpeg"/></Relationships>
</file>

<file path=ppt/slideLayouts/_rels/slideLayout2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grpSp>
        <p:nvGrpSpPr>
          <p:cNvPr id="30" name="Group 2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31" name="Picture 30">
              <a:extLst>
                <a:ext uri="{FF2B5EF4-FFF2-40B4-BE49-F238E27FC236}">
                  <a16:creationId xmlns:a16="http://schemas.microsoft.com/office/drawing/2014/main" id="{B49C31A0-0173-45C3-B715-F73A797EA642}"/>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34" name="Rectangle 33">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5" name="Picture 34">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4981" t="10725" r="4439" b="11492"/>
          <a:stretch/>
        </p:blipFill>
        <p:spPr>
          <a:xfrm>
            <a:off x="10150094" y="861192"/>
            <a:ext cx="1910727" cy="741362"/>
          </a:xfrm>
          <a:prstGeom prst="rect">
            <a:avLst/>
          </a:prstGeom>
        </p:spPr>
      </p:pic>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Naimish R. Vadodariya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762425" y="65532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5509D182-B13D-AFEF-A048-B6B3303D0A32}"/>
              </a:ext>
            </a:extLst>
          </p:cNvPr>
          <p:cNvSpPr txBox="1">
            <a:spLocks/>
          </p:cNvSpPr>
          <p:nvPr userDrawn="1"/>
        </p:nvSpPr>
        <p:spPr>
          <a:xfrm>
            <a:off x="4026952" y="6602874"/>
            <a:ext cx="655037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#2501CS501 (Building RESTful APIs with ASP.NET Core)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Web API</a:t>
            </a: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Madhuresh R Fichadiya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2993366" y="6604000"/>
            <a:ext cx="7595612"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#2505CS311 (Building RESTful APIs with ASP.NET Core)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.NET Web API</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3" name="Picture 12">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4981" t="10725" r="4439" b="11492"/>
          <a:stretch/>
        </p:blipFill>
        <p:spPr>
          <a:xfrm>
            <a:off x="131180" y="5712647"/>
            <a:ext cx="1910727" cy="741362"/>
          </a:xfrm>
          <a:prstGeom prst="rect">
            <a:avLst/>
          </a:prstGeom>
        </p:spPr>
      </p:pic>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Firoz</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Sherasiya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21CS05101(DBMS)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of DBMS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0"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grpSp>
        <p:nvGrpSpPr>
          <p:cNvPr id="14" name="Group 13">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7" name="Rectangle 16">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0357991" y="105840"/>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27313" y="5993448"/>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31" name="Picture 30"/>
          <p:cNvPicPr>
            <a:picLocks noChangeAspect="1"/>
          </p:cNvPicPr>
          <p:nvPr userDrawn="1"/>
        </p:nvPicPr>
        <p:blipFill rotWithShape="1">
          <a:blip r:embed="rId9" cstate="print">
            <a:extLst>
              <a:ext uri="{28A0092B-C50C-407E-A947-70E740481C1C}">
                <a14:useLocalDpi xmlns:a14="http://schemas.microsoft.com/office/drawing/2010/main" val="0"/>
              </a:ext>
            </a:extLst>
          </a:blip>
          <a:srcRect l="4981" t="10725" r="4439" b="11492"/>
          <a:stretch/>
        </p:blipFill>
        <p:spPr>
          <a:xfrm>
            <a:off x="8808333" y="87380"/>
            <a:ext cx="2592372" cy="1005840"/>
          </a:xfrm>
          <a:prstGeom prst="rect">
            <a:avLst/>
          </a:prstGeom>
        </p:spPr>
      </p:pic>
    </p:spTree>
    <p:extLst>
      <p:ext uri="{BB962C8B-B14F-4D97-AF65-F5344CB8AC3E}">
        <p14:creationId xmlns:p14="http://schemas.microsoft.com/office/powerpoint/2010/main" val="780038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sp>
        <p:nvSpPr>
          <p:cNvPr id="41" name="Hexagon 40"/>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42" name="TextBox 41"/>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3" name="Rectangle 42"/>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47"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cxnSp>
        <p:nvCxnSpPr>
          <p:cNvPr id="48" name="Straight Connector 47">
            <a:extLst>
              <a:ext uri="{FF2B5EF4-FFF2-40B4-BE49-F238E27FC236}">
                <a16:creationId xmlns:a16="http://schemas.microsoft.com/office/drawing/2014/main" id="{E79C5D16-8087-4587-9A0A-A0570C73E0E7}"/>
              </a:ext>
            </a:extLst>
          </p:cNvPr>
          <p:cNvCxnSpPr/>
          <p:nvPr userDrawn="1"/>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id="{9812EDA6-C656-492A-A9CA-44B03C639132}"/>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50" name="Picture 49">
            <a:extLst>
              <a:ext uri="{FF2B5EF4-FFF2-40B4-BE49-F238E27FC236}">
                <a16:creationId xmlns:a16="http://schemas.microsoft.com/office/drawing/2014/main" id="{627AEF91-6492-4B0C-A844-2296473B58D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51"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52"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56"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7"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8" name="Picture 57">
            <a:extLst>
              <a:ext uri="{FF2B5EF4-FFF2-40B4-BE49-F238E27FC236}">
                <a16:creationId xmlns:a16="http://schemas.microsoft.com/office/drawing/2014/main" id="{77B7B864-C091-4493-B14B-F5B61B586EED}"/>
              </a:ext>
            </a:extLst>
          </p:cNvPr>
          <p:cNvPicPr>
            <a:picLocks noChangeAspect="1"/>
          </p:cNvPicPr>
          <p:nvPr userDrawn="1"/>
        </p:nvPicPr>
        <p:blipFill>
          <a:blip r:embed="rId8"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59" name="Picture 58"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6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7" name="Picture 26"/>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808333" y="87380"/>
            <a:ext cx="2592372" cy="1005840"/>
          </a:xfrm>
          <a:prstGeom prst="rect">
            <a:avLst/>
          </a:prstGeom>
        </p:spPr>
      </p:pic>
    </p:spTree>
    <p:extLst>
      <p:ext uri="{BB962C8B-B14F-4D97-AF65-F5344CB8AC3E}">
        <p14:creationId xmlns:p14="http://schemas.microsoft.com/office/powerpoint/2010/main" val="2941827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2708880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7645704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785033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34" name="Picture 4" descr="https://cdn5.vectorstock.com/i/1000x1000/21/59/dbms-database-management-system-computer-data-vector-8212159.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6294" t="9689" r="5315" b="18089"/>
          <a:stretch/>
        </p:blipFill>
        <p:spPr bwMode="auto">
          <a:xfrm>
            <a:off x="8407803" y="2089594"/>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5" name="Picture 4"/>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876306" y="1703110"/>
            <a:ext cx="4950175" cy="2689595"/>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4012280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4" name="Picture 33"/>
          <p:cNvPicPr>
            <a:picLocks noChangeAspect="1"/>
          </p:cNvPicPr>
          <p:nvPr userDrawn="1"/>
        </p:nvPicPr>
        <p:blipFill rotWithShape="1">
          <a:blip r:embed="rId11"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37651319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7/15/2026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3" r:id="rId10"/>
    <p:sldLayoutId id="2147483692" r:id="rId11"/>
    <p:sldLayoutId id="2147483691" r:id="rId12"/>
    <p:sldLayoutId id="2147483674" r:id="rId13"/>
    <p:sldLayoutId id="2147483676" r:id="rId14"/>
    <p:sldLayoutId id="2147483677" r:id="rId15"/>
    <p:sldLayoutId id="2147483678" r:id="rId16"/>
    <p:sldLayoutId id="2147483679" r:id="rId17"/>
    <p:sldLayoutId id="2147483681" r:id="rId18"/>
    <p:sldLayoutId id="2147483683" r:id="rId19"/>
    <p:sldLayoutId id="2147483682" r:id="rId20"/>
    <p:sldLayoutId id="2147483684" r:id="rId21"/>
    <p:sldLayoutId id="2147483685" r:id="rId22"/>
    <p:sldLayoutId id="2147483686"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4" Type="http://schemas.microsoft.com/office/2007/relationships/hdphoto" Target="../media/hdphoto4.wdp"/></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3.xml"/><Relationship Id="rId5" Type="http://schemas.openxmlformats.org/officeDocument/2006/relationships/image" Target="../media/image38.jpe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3F305CB-DBE2-45D5-8D0B-92106F27C4BB}"/>
              </a:ext>
            </a:extLst>
          </p:cNvPr>
          <p:cNvSpPr>
            <a:spLocks noGrp="1"/>
          </p:cNvSpPr>
          <p:nvPr>
            <p:ph type="ctrTitle"/>
          </p:nvPr>
        </p:nvSpPr>
        <p:spPr>
          <a:xfrm>
            <a:off x="559490" y="1122364"/>
            <a:ext cx="7035300" cy="2992436"/>
          </a:xfrm>
        </p:spPr>
        <p:txBody>
          <a:bodyPr/>
          <a:lstStyle/>
          <a:p>
            <a:r>
              <a:rPr lang="en-US" sz="4800" b="0">
                <a:latin typeface="Roboto Condensed Light" panose="02000000000000000000" pitchFamily="2" charset="0"/>
                <a:ea typeface="Roboto Condensed Light" panose="02000000000000000000" pitchFamily="2" charset="0"/>
              </a:rPr>
              <a:t>Unit-1 | Part - I</a:t>
            </a:r>
            <a:r>
              <a:rPr lang="en-US" sz="4800" b="0" dirty="0">
                <a:latin typeface="Roboto Condensed Light" panose="02000000000000000000" pitchFamily="2" charset="0"/>
                <a:ea typeface="Roboto Condensed Light" panose="02000000000000000000" pitchFamily="2" charset="0"/>
              </a:rPr>
              <a:t>I</a:t>
            </a:r>
            <a:br>
              <a:rPr lang="en-US" dirty="0"/>
            </a:br>
            <a:r>
              <a:rPr lang="en-US" dirty="0">
                <a:effectLst/>
              </a:rPr>
              <a:t>Introduction to .NET </a:t>
            </a:r>
            <a:br>
              <a:rPr lang="en-US" dirty="0">
                <a:effectLst/>
              </a:rPr>
            </a:br>
            <a:r>
              <a:rPr lang="en-US" dirty="0">
                <a:effectLst/>
              </a:rPr>
              <a:t>Web API</a:t>
            </a:r>
          </a:p>
        </p:txBody>
      </p:sp>
      <p:sp>
        <p:nvSpPr>
          <p:cNvPr id="10"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p:txBody>
          <a:bodyPr/>
          <a:lstStyle/>
          <a:p>
            <a:r>
              <a:rPr lang="en-US" dirty="0"/>
              <a:t>Madhuresh.fichadiya@darshan.ac.in</a:t>
            </a:r>
          </a:p>
        </p:txBody>
      </p:sp>
      <p:sp>
        <p:nvSpPr>
          <p:cNvPr id="11"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p:txBody>
          <a:bodyPr/>
          <a:lstStyle/>
          <a:p>
            <a:r>
              <a:rPr lang="en-US" dirty="0"/>
              <a:t>8866961282</a:t>
            </a:r>
          </a:p>
        </p:txBody>
      </p:sp>
      <p:sp>
        <p:nvSpPr>
          <p:cNvPr id="12"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840480" cy="290081"/>
          </a:xfrm>
        </p:spPr>
        <p:txBody>
          <a:bodyPr/>
          <a:lstStyle/>
          <a:p>
            <a:r>
              <a:rPr lang="en-US" dirty="0"/>
              <a:t>Computer Science &amp; Engineering Department</a:t>
            </a:r>
          </a:p>
        </p:txBody>
      </p:sp>
      <p:sp>
        <p:nvSpPr>
          <p:cNvPr id="13"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p:txBody>
          <a:bodyPr/>
          <a:lstStyle/>
          <a:p>
            <a:r>
              <a:rPr lang="en-US" dirty="0">
                <a:gradFill>
                  <a:gsLst>
                    <a:gs pos="10000">
                      <a:srgbClr val="5C2321"/>
                    </a:gs>
                    <a:gs pos="100000">
                      <a:srgbClr val="B84742"/>
                    </a:gs>
                  </a:gsLst>
                  <a:lin ang="0" scaled="1"/>
                </a:gradFill>
                <a:latin typeface="Roboto Condensed" panose="02000000000000000000" pitchFamily="2" charset="0"/>
              </a:rPr>
              <a:t>Prof. Madhuresh R Fichadiya</a:t>
            </a:r>
            <a:endParaRPr lang="en-IN" dirty="0"/>
          </a:p>
        </p:txBody>
      </p:sp>
      <p:sp>
        <p:nvSpPr>
          <p:cNvPr id="14"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a:xfrm>
            <a:off x="2576110" y="81450"/>
            <a:ext cx="4925355" cy="734653"/>
          </a:xfrm>
        </p:spPr>
        <p:txBody>
          <a:bodyPr/>
          <a:lstStyle/>
          <a:p>
            <a:r>
              <a:rPr lang="en-US" b="1" dirty="0"/>
              <a:t>Building RESTful APIs with </a:t>
            </a:r>
          </a:p>
          <a:p>
            <a:r>
              <a:rPr lang="en-US" b="1" dirty="0"/>
              <a:t>ASP.NET Core</a:t>
            </a:r>
          </a:p>
          <a:p>
            <a:r>
              <a:rPr lang="en-US" dirty="0"/>
              <a:t>#</a:t>
            </a:r>
            <a:r>
              <a:rPr lang="en-IN" dirty="0"/>
              <a:t>2505CS311</a:t>
            </a:r>
            <a:endParaRPr lang="en-US" dirty="0"/>
          </a:p>
        </p:txBody>
      </p:sp>
      <p:sp>
        <p:nvSpPr>
          <p:cNvPr id="4" name="Picture Placeholder 3">
            <a:extLst>
              <a:ext uri="{FF2B5EF4-FFF2-40B4-BE49-F238E27FC236}">
                <a16:creationId xmlns:a16="http://schemas.microsoft.com/office/drawing/2014/main" id="{D524B64B-4F12-5073-AB83-38DA9A648F46}"/>
              </a:ext>
            </a:extLst>
          </p:cNvPr>
          <p:cNvSpPr>
            <a:spLocks noGrp="1"/>
          </p:cNvSpPr>
          <p:nvPr>
            <p:ph type="pic" sz="quarter" idx="10"/>
          </p:nvPr>
        </p:nvSpPr>
        <p:spPr/>
      </p:sp>
      <p:pic>
        <p:nvPicPr>
          <p:cNvPr id="5" name="Picture Placeholder 1">
            <a:extLst>
              <a:ext uri="{FF2B5EF4-FFF2-40B4-BE49-F238E27FC236}">
                <a16:creationId xmlns:a16="http://schemas.microsoft.com/office/drawing/2014/main" id="{A80A82C9-AABE-15F7-B03A-784D1BE915B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0638"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1600834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731706"/>
            <a:ext cx="6126480" cy="4570482"/>
          </a:xfrm>
          <a:prstGeom prst="rect">
            <a:avLst/>
          </a:prstGeom>
          <a:noFill/>
        </p:spPr>
        <p:txBody>
          <a:bodyPr wrap="square" rtlCol="0">
            <a:spAutoFit/>
          </a:bodyPr>
          <a:lstStyle/>
          <a:p>
            <a:r>
              <a:rPr lang="en-US" sz="2400" b="1" dirty="0"/>
              <a:t>Outline</a:t>
            </a:r>
          </a:p>
          <a:p>
            <a:pPr marL="742950" lvl="1" indent="-285750">
              <a:lnSpc>
                <a:spcPct val="150000"/>
              </a:lnSpc>
              <a:buFont typeface="Arial" panose="020B0604020202020204" pitchFamily="34" charset="0"/>
              <a:buChar char="•"/>
            </a:pPr>
            <a:r>
              <a:rPr lang="en-US" dirty="0">
                <a:solidFill>
                  <a:schemeClr val="bg1">
                    <a:lumMod val="50000"/>
                  </a:schemeClr>
                </a:solidFill>
              </a:rPr>
              <a:t>What is Web API?</a:t>
            </a:r>
          </a:p>
          <a:p>
            <a:pPr marL="742950" lvl="1" indent="-285750">
              <a:lnSpc>
                <a:spcPct val="150000"/>
              </a:lnSpc>
              <a:buFont typeface="Arial" panose="020B0604020202020204" pitchFamily="34" charset="0"/>
              <a:buChar char="•"/>
            </a:pPr>
            <a:r>
              <a:rPr lang="en-US" dirty="0">
                <a:solidFill>
                  <a:schemeClr val="bg1">
                    <a:lumMod val="50000"/>
                  </a:schemeClr>
                </a:solidFill>
              </a:rPr>
              <a:t>Understanding HTTP Protocol </a:t>
            </a:r>
          </a:p>
          <a:p>
            <a:pPr marL="1200150" lvl="2" indent="-285750">
              <a:lnSpc>
                <a:spcPct val="150000"/>
              </a:lnSpc>
              <a:buFont typeface="Arial" panose="020B0604020202020204" pitchFamily="34" charset="0"/>
              <a:buChar char="•"/>
            </a:pPr>
            <a:r>
              <a:rPr lang="en-US" dirty="0">
                <a:solidFill>
                  <a:schemeClr val="bg1">
                    <a:lumMod val="50000"/>
                  </a:schemeClr>
                </a:solidFill>
              </a:rPr>
              <a:t>HTTP Request and Response Components </a:t>
            </a:r>
          </a:p>
          <a:p>
            <a:pPr marL="1200150" lvl="2" indent="-285750">
              <a:lnSpc>
                <a:spcPct val="150000"/>
              </a:lnSpc>
              <a:buFont typeface="Arial" panose="020B0604020202020204" pitchFamily="34" charset="0"/>
              <a:buChar char="•"/>
            </a:pPr>
            <a:r>
              <a:rPr lang="en-US" dirty="0">
                <a:solidFill>
                  <a:schemeClr val="bg1">
                    <a:lumMod val="50000"/>
                  </a:schemeClr>
                </a:solidFill>
              </a:rPr>
              <a:t>HTTP Methods/Verbs</a:t>
            </a:r>
          </a:p>
          <a:p>
            <a:pPr marL="1200150" lvl="2" indent="-285750">
              <a:lnSpc>
                <a:spcPct val="150000"/>
              </a:lnSpc>
              <a:buFont typeface="Arial" panose="020B0604020202020204" pitchFamily="34" charset="0"/>
              <a:buChar char="•"/>
            </a:pPr>
            <a:r>
              <a:rPr lang="en-US" dirty="0">
                <a:solidFill>
                  <a:schemeClr val="bg1">
                    <a:lumMod val="50000"/>
                  </a:schemeClr>
                </a:solidFill>
              </a:rPr>
              <a:t>HTTP Status Codes</a:t>
            </a:r>
          </a:p>
          <a:p>
            <a:pPr marL="742950" lvl="1" indent="-285750">
              <a:lnSpc>
                <a:spcPct val="150000"/>
              </a:lnSpc>
              <a:buFont typeface="Arial" panose="020B0604020202020204" pitchFamily="34" charset="0"/>
              <a:buChar char="•"/>
            </a:pPr>
            <a:r>
              <a:rPr lang="en-US" dirty="0">
                <a:solidFill>
                  <a:schemeClr val="bg1">
                    <a:lumMod val="50000"/>
                  </a:schemeClr>
                </a:solidFill>
              </a:rPr>
              <a:t>Problems Without Web APIs</a:t>
            </a:r>
          </a:p>
          <a:p>
            <a:pPr marL="742950" lvl="1" indent="-285750">
              <a:lnSpc>
                <a:spcPct val="150000"/>
              </a:lnSpc>
              <a:buFont typeface="Arial" panose="020B0604020202020204" pitchFamily="34" charset="0"/>
              <a:buChar char="•"/>
            </a:pPr>
            <a:r>
              <a:rPr lang="en-US" dirty="0">
                <a:solidFill>
                  <a:schemeClr val="bg1">
                    <a:lumMod val="50000"/>
                  </a:schemeClr>
                </a:solidFill>
              </a:rPr>
              <a:t>Key Characteristics of Web APIs</a:t>
            </a:r>
          </a:p>
          <a:p>
            <a:pPr marL="742950" lvl="1" indent="-285750">
              <a:lnSpc>
                <a:spcPct val="150000"/>
              </a:lnSpc>
              <a:buFont typeface="Arial" panose="020B0604020202020204" pitchFamily="34" charset="0"/>
              <a:buChar char="•"/>
            </a:pPr>
            <a:r>
              <a:rPr lang="en-US" dirty="0">
                <a:solidFill>
                  <a:schemeClr val="bg1">
                    <a:lumMod val="50000"/>
                  </a:schemeClr>
                </a:solidFill>
              </a:rPr>
              <a:t>JSON (JavaScript Object Notation)</a:t>
            </a:r>
          </a:p>
          <a:p>
            <a:pPr marL="742950" lvl="1" indent="-285750">
              <a:lnSpc>
                <a:spcPct val="150000"/>
              </a:lnSpc>
              <a:buFont typeface="Arial" panose="020B0604020202020204" pitchFamily="34" charset="0"/>
              <a:buChar char="•"/>
            </a:pPr>
            <a:r>
              <a:rPr lang="en-US" dirty="0">
                <a:solidFill>
                  <a:schemeClr val="bg1">
                    <a:lumMod val="50000"/>
                  </a:schemeClr>
                </a:solidFill>
              </a:rPr>
              <a:t>Middleware</a:t>
            </a:r>
          </a:p>
          <a:p>
            <a:pPr marL="742950" lvl="1" indent="-285750">
              <a:lnSpc>
                <a:spcPct val="150000"/>
              </a:lnSpc>
              <a:buFont typeface="Arial" panose="020B0604020202020204" pitchFamily="34" charset="0"/>
              <a:buChar char="•"/>
            </a:pPr>
            <a:r>
              <a:rPr lang="en-US" dirty="0">
                <a:solidFill>
                  <a:schemeClr val="bg1">
                    <a:lumMod val="50000"/>
                  </a:schemeClr>
                </a:solidFill>
              </a:rPr>
              <a:t>Dependency Injection (DI) &amp; Service Lifetime</a:t>
            </a:r>
          </a:p>
        </p:txBody>
      </p:sp>
    </p:spTree>
    <p:extLst>
      <p:ext uri="{BB962C8B-B14F-4D97-AF65-F5344CB8AC3E}">
        <p14:creationId xmlns:p14="http://schemas.microsoft.com/office/powerpoint/2010/main" val="253436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What is API? </a:t>
            </a:r>
            <a:br>
              <a:rPr lang="en-US" dirty="0">
                <a:gradFill flip="none" rotWithShape="1">
                  <a:gsLst>
                    <a:gs pos="10000">
                      <a:schemeClr val="accent6">
                        <a:lumMod val="50000"/>
                      </a:schemeClr>
                    </a:gs>
                    <a:gs pos="100000">
                      <a:schemeClr val="accent6"/>
                    </a:gs>
                  </a:gsLst>
                  <a:lin ang="0" scaled="1"/>
                  <a:tileRect/>
                </a:gradFill>
              </a:rPr>
            </a:br>
            <a:r>
              <a:rPr lang="en-US" sz="2800" dirty="0">
                <a:gradFill flip="none" rotWithShape="1">
                  <a:gsLst>
                    <a:gs pos="10000">
                      <a:schemeClr val="accent6">
                        <a:lumMod val="50000"/>
                      </a:schemeClr>
                    </a:gs>
                    <a:gs pos="100000">
                      <a:schemeClr val="accent6"/>
                    </a:gs>
                  </a:gsLst>
                  <a:lin ang="0" scaled="1"/>
                  <a:tileRect/>
                </a:gradFill>
              </a:rPr>
              <a:t>(Application Programming Interface)</a:t>
            </a:r>
            <a:endParaRPr lang="en-US" dirty="0">
              <a:gradFill flip="none" rotWithShape="1">
                <a:gsLst>
                  <a:gs pos="10000">
                    <a:schemeClr val="accent6">
                      <a:lumMod val="50000"/>
                    </a:schemeClr>
                  </a:gs>
                  <a:gs pos="100000">
                    <a:schemeClr val="accent6"/>
                  </a:gs>
                </a:gsLst>
                <a:lin ang="0" scaled="1"/>
                <a:tileRect/>
              </a:gradFill>
            </a:endParaRPr>
          </a:p>
        </p:txBody>
      </p:sp>
      <p:sp>
        <p:nvSpPr>
          <p:cNvPr id="5" name="Text Placeholder 4"/>
          <p:cNvSpPr>
            <a:spLocks noGrp="1"/>
          </p:cNvSpPr>
          <p:nvPr>
            <p:ph type="body" idx="1"/>
          </p:nvPr>
        </p:nvSpPr>
        <p:spPr/>
        <p:txBody>
          <a:bodyPr/>
          <a:lstStyle/>
          <a:p>
            <a:r>
              <a:rPr lang="en-US" dirty="0"/>
              <a:t>Section - 1</a:t>
            </a:r>
          </a:p>
        </p:txBody>
      </p:sp>
    </p:spTree>
    <p:extLst>
      <p:ext uri="{BB962C8B-B14F-4D97-AF65-F5344CB8AC3E}">
        <p14:creationId xmlns:p14="http://schemas.microsoft.com/office/powerpoint/2010/main" val="104821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20AD86-637F-ADAA-4EAE-2E8596DD3D09}"/>
              </a:ext>
            </a:extLst>
          </p:cNvPr>
          <p:cNvSpPr>
            <a:spLocks noGrp="1"/>
          </p:cNvSpPr>
          <p:nvPr>
            <p:ph idx="1"/>
          </p:nvPr>
        </p:nvSpPr>
        <p:spPr/>
        <p:txBody>
          <a:bodyPr/>
          <a:lstStyle/>
          <a:p>
            <a:r>
              <a:rPr lang="en-IN" dirty="0"/>
              <a:t>A </a:t>
            </a:r>
            <a:r>
              <a:rPr lang="en-IN" b="1" dirty="0"/>
              <a:t>Web API (Application Programming Interface)</a:t>
            </a:r>
            <a:r>
              <a:rPr lang="en-IN" dirty="0"/>
              <a:t> is a </a:t>
            </a:r>
            <a:r>
              <a:rPr lang="en-IN" b="1" dirty="0"/>
              <a:t>software interface </a:t>
            </a:r>
            <a:r>
              <a:rPr lang="en-IN" dirty="0"/>
              <a:t>that allows one application </a:t>
            </a:r>
            <a:r>
              <a:rPr lang="en-IN" b="1" dirty="0"/>
              <a:t>to communicate with another </a:t>
            </a:r>
            <a:r>
              <a:rPr lang="en-IN" dirty="0"/>
              <a:t>over the internet </a:t>
            </a:r>
            <a:r>
              <a:rPr lang="en-IN" b="1" dirty="0"/>
              <a:t>using HTTP</a:t>
            </a:r>
            <a:r>
              <a:rPr lang="en-IN" dirty="0"/>
              <a:t>.</a:t>
            </a:r>
          </a:p>
          <a:p>
            <a:r>
              <a:rPr lang="en-IN" dirty="0"/>
              <a:t>Simply, </a:t>
            </a:r>
            <a:r>
              <a:rPr lang="en-IN" b="1" dirty="0"/>
              <a:t>A Web API is a messenger between Client and Server.</a:t>
            </a:r>
          </a:p>
          <a:p>
            <a:endParaRPr lang="en-IN" b="1" dirty="0"/>
          </a:p>
        </p:txBody>
      </p:sp>
      <p:sp>
        <p:nvSpPr>
          <p:cNvPr id="3" name="Title 2">
            <a:extLst>
              <a:ext uri="{FF2B5EF4-FFF2-40B4-BE49-F238E27FC236}">
                <a16:creationId xmlns:a16="http://schemas.microsoft.com/office/drawing/2014/main" id="{534DC56D-8C60-A337-B90B-B50207414D96}"/>
              </a:ext>
            </a:extLst>
          </p:cNvPr>
          <p:cNvSpPr>
            <a:spLocks noGrp="1"/>
          </p:cNvSpPr>
          <p:nvPr>
            <p:ph type="title"/>
          </p:nvPr>
        </p:nvSpPr>
        <p:spPr/>
        <p:txBody>
          <a:bodyPr/>
          <a:lstStyle/>
          <a:p>
            <a:r>
              <a:rPr lang="en-US" dirty="0"/>
              <a:t>What is Web API?</a:t>
            </a:r>
            <a:endParaRPr lang="en-IN" dirty="0"/>
          </a:p>
        </p:txBody>
      </p:sp>
      <p:pic>
        <p:nvPicPr>
          <p:cNvPr id="5" name="Picture 4">
            <a:extLst>
              <a:ext uri="{FF2B5EF4-FFF2-40B4-BE49-F238E27FC236}">
                <a16:creationId xmlns:a16="http://schemas.microsoft.com/office/drawing/2014/main" id="{F8905074-CD66-3500-C136-7CEAC037C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179" y="2155418"/>
            <a:ext cx="6180668" cy="4120445"/>
          </a:xfrm>
          <a:prstGeom prst="rect">
            <a:avLst/>
          </a:prstGeom>
        </p:spPr>
      </p:pic>
      <p:sp>
        <p:nvSpPr>
          <p:cNvPr id="6" name="Rectangle 5">
            <a:extLst>
              <a:ext uri="{FF2B5EF4-FFF2-40B4-BE49-F238E27FC236}">
                <a16:creationId xmlns:a16="http://schemas.microsoft.com/office/drawing/2014/main" id="{1AD30C55-791F-4468-A478-7CA383F63B11}"/>
              </a:ext>
            </a:extLst>
          </p:cNvPr>
          <p:cNvSpPr/>
          <p:nvPr/>
        </p:nvSpPr>
        <p:spPr>
          <a:xfrm>
            <a:off x="4759026" y="2393244"/>
            <a:ext cx="1461911" cy="1490133"/>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8" name="Rectangle 7">
            <a:extLst>
              <a:ext uri="{FF2B5EF4-FFF2-40B4-BE49-F238E27FC236}">
                <a16:creationId xmlns:a16="http://schemas.microsoft.com/office/drawing/2014/main" id="{925A99B4-AA39-8ACA-55A8-67A52313EACD}"/>
              </a:ext>
            </a:extLst>
          </p:cNvPr>
          <p:cNvSpPr/>
          <p:nvPr/>
        </p:nvSpPr>
        <p:spPr>
          <a:xfrm>
            <a:off x="2590801" y="2534355"/>
            <a:ext cx="869244" cy="1095022"/>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9" name="TextBox 8">
            <a:extLst>
              <a:ext uri="{FF2B5EF4-FFF2-40B4-BE49-F238E27FC236}">
                <a16:creationId xmlns:a16="http://schemas.microsoft.com/office/drawing/2014/main" id="{CAE9CC89-DF30-6005-5EE2-48DA8169B47B}"/>
              </a:ext>
            </a:extLst>
          </p:cNvPr>
          <p:cNvSpPr txBox="1"/>
          <p:nvPr/>
        </p:nvSpPr>
        <p:spPr>
          <a:xfrm>
            <a:off x="2649361" y="3629377"/>
            <a:ext cx="829733" cy="369332"/>
          </a:xfrm>
          <a:prstGeom prst="rect">
            <a:avLst/>
          </a:prstGeom>
          <a:noFill/>
        </p:spPr>
        <p:txBody>
          <a:bodyPr wrap="square" rtlCol="0">
            <a:spAutoFit/>
          </a:bodyPr>
          <a:lstStyle/>
          <a:p>
            <a:r>
              <a:rPr lang="en-US" dirty="0">
                <a:solidFill>
                  <a:schemeClr val="accent6"/>
                </a:solidFill>
              </a:rPr>
              <a:t>Client</a:t>
            </a:r>
            <a:endParaRPr lang="en-IN" dirty="0">
              <a:solidFill>
                <a:schemeClr val="accent6"/>
              </a:solidFill>
            </a:endParaRPr>
          </a:p>
        </p:txBody>
      </p:sp>
      <p:sp>
        <p:nvSpPr>
          <p:cNvPr id="11" name="Rectangle 10">
            <a:extLst>
              <a:ext uri="{FF2B5EF4-FFF2-40B4-BE49-F238E27FC236}">
                <a16:creationId xmlns:a16="http://schemas.microsoft.com/office/drawing/2014/main" id="{8AEA2E23-640F-2F0F-0008-945584CD2880}"/>
              </a:ext>
            </a:extLst>
          </p:cNvPr>
          <p:cNvSpPr/>
          <p:nvPr/>
        </p:nvSpPr>
        <p:spPr>
          <a:xfrm>
            <a:off x="2590801" y="4724399"/>
            <a:ext cx="869244" cy="1095022"/>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3" name="TextBox 12">
            <a:extLst>
              <a:ext uri="{FF2B5EF4-FFF2-40B4-BE49-F238E27FC236}">
                <a16:creationId xmlns:a16="http://schemas.microsoft.com/office/drawing/2014/main" id="{A7F8BA8F-238E-AEC9-B332-C9E22847102D}"/>
              </a:ext>
            </a:extLst>
          </p:cNvPr>
          <p:cNvSpPr txBox="1"/>
          <p:nvPr/>
        </p:nvSpPr>
        <p:spPr>
          <a:xfrm>
            <a:off x="2649361" y="5819421"/>
            <a:ext cx="829733" cy="369332"/>
          </a:xfrm>
          <a:prstGeom prst="rect">
            <a:avLst/>
          </a:prstGeom>
          <a:noFill/>
        </p:spPr>
        <p:txBody>
          <a:bodyPr wrap="square" rtlCol="0">
            <a:spAutoFit/>
          </a:bodyPr>
          <a:lstStyle/>
          <a:p>
            <a:r>
              <a:rPr lang="en-US" dirty="0">
                <a:solidFill>
                  <a:schemeClr val="accent6"/>
                </a:solidFill>
              </a:rPr>
              <a:t>Client</a:t>
            </a:r>
            <a:endParaRPr lang="en-IN" dirty="0">
              <a:solidFill>
                <a:schemeClr val="accent6"/>
              </a:solidFill>
            </a:endParaRPr>
          </a:p>
        </p:txBody>
      </p:sp>
      <p:sp>
        <p:nvSpPr>
          <p:cNvPr id="15" name="TextBox 14">
            <a:extLst>
              <a:ext uri="{FF2B5EF4-FFF2-40B4-BE49-F238E27FC236}">
                <a16:creationId xmlns:a16="http://schemas.microsoft.com/office/drawing/2014/main" id="{93C2C1ED-FA8F-D984-0E80-DA78A1507E75}"/>
              </a:ext>
            </a:extLst>
          </p:cNvPr>
          <p:cNvSpPr txBox="1"/>
          <p:nvPr/>
        </p:nvSpPr>
        <p:spPr>
          <a:xfrm>
            <a:off x="5008739" y="2023912"/>
            <a:ext cx="1160639" cy="369332"/>
          </a:xfrm>
          <a:prstGeom prst="rect">
            <a:avLst/>
          </a:prstGeom>
          <a:noFill/>
        </p:spPr>
        <p:txBody>
          <a:bodyPr wrap="square" rtlCol="0">
            <a:spAutoFit/>
          </a:bodyPr>
          <a:lstStyle/>
          <a:p>
            <a:r>
              <a:rPr lang="en-US" dirty="0">
                <a:solidFill>
                  <a:schemeClr val="accent6"/>
                </a:solidFill>
              </a:rPr>
              <a:t>Web API</a:t>
            </a:r>
            <a:endParaRPr lang="en-IN" dirty="0">
              <a:solidFill>
                <a:schemeClr val="accent6"/>
              </a:solidFill>
            </a:endParaRPr>
          </a:p>
        </p:txBody>
      </p:sp>
      <p:sp>
        <p:nvSpPr>
          <p:cNvPr id="17" name="Speech Bubble: Oval 16">
            <a:extLst>
              <a:ext uri="{FF2B5EF4-FFF2-40B4-BE49-F238E27FC236}">
                <a16:creationId xmlns:a16="http://schemas.microsoft.com/office/drawing/2014/main" id="{7A09EAB5-332C-37BA-138D-708D993C008B}"/>
              </a:ext>
            </a:extLst>
          </p:cNvPr>
          <p:cNvSpPr/>
          <p:nvPr/>
        </p:nvSpPr>
        <p:spPr>
          <a:xfrm>
            <a:off x="7657891" y="2712670"/>
            <a:ext cx="3056885" cy="2341413"/>
          </a:xfrm>
          <a:prstGeom prst="wedgeEllipseCallou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Here Client can be </a:t>
            </a:r>
            <a:r>
              <a:rPr lang="en-US" b="1" dirty="0">
                <a:solidFill>
                  <a:schemeClr val="tx1"/>
                </a:solidFill>
              </a:rPr>
              <a:t>Mobile Apps, Web Browsers, Smart Devices, Postman, Scalar</a:t>
            </a:r>
            <a:r>
              <a:rPr lang="en-US" dirty="0">
                <a:solidFill>
                  <a:schemeClr val="tx1"/>
                </a:solidFill>
              </a:rPr>
              <a:t>. </a:t>
            </a:r>
            <a:r>
              <a:rPr lang="en-US" sz="1600" i="1" dirty="0">
                <a:solidFill>
                  <a:schemeClr val="tx1"/>
                </a:solidFill>
              </a:rPr>
              <a:t>(For Request &amp; Response Handling)</a:t>
            </a:r>
            <a:endParaRPr lang="en-IN" i="1" dirty="0">
              <a:solidFill>
                <a:schemeClr val="tx1"/>
              </a:solidFill>
            </a:endParaRPr>
          </a:p>
        </p:txBody>
      </p:sp>
      <p:pic>
        <p:nvPicPr>
          <p:cNvPr id="18" name="Picture 17">
            <a:extLst>
              <a:ext uri="{FF2B5EF4-FFF2-40B4-BE49-F238E27FC236}">
                <a16:creationId xmlns:a16="http://schemas.microsoft.com/office/drawing/2014/main" id="{CF8AE396-2F8B-C0F3-4954-D8B1C8FC386E}"/>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11458222" y="-539"/>
            <a:ext cx="733779" cy="711200"/>
          </a:xfrm>
          <a:prstGeom prst="rect">
            <a:avLst/>
          </a:prstGeom>
        </p:spPr>
      </p:pic>
    </p:spTree>
    <p:extLst>
      <p:ext uri="{BB962C8B-B14F-4D97-AF65-F5344CB8AC3E}">
        <p14:creationId xmlns:p14="http://schemas.microsoft.com/office/powerpoint/2010/main" val="1851453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p:bldP spid="11" grpId="0" animBg="1"/>
      <p:bldP spid="13" grpId="0"/>
      <p:bldP spid="15" grpId="0"/>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1BE0272-9E74-C1DF-1F14-94F0C996EB4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1538" r="2905"/>
          <a:stretch>
            <a:fillRect/>
          </a:stretch>
        </p:blipFill>
        <p:spPr>
          <a:xfrm>
            <a:off x="428979" y="869244"/>
            <a:ext cx="3002842" cy="5264607"/>
          </a:xfrm>
          <a:prstGeom prst="rect">
            <a:avLst/>
          </a:prstGeom>
        </p:spPr>
      </p:pic>
      <p:sp>
        <p:nvSpPr>
          <p:cNvPr id="3" name="Title 2">
            <a:extLst>
              <a:ext uri="{FF2B5EF4-FFF2-40B4-BE49-F238E27FC236}">
                <a16:creationId xmlns:a16="http://schemas.microsoft.com/office/drawing/2014/main" id="{E4B6BA8B-D823-6762-204C-52517673BFBC}"/>
              </a:ext>
            </a:extLst>
          </p:cNvPr>
          <p:cNvSpPr>
            <a:spLocks noGrp="1"/>
          </p:cNvSpPr>
          <p:nvPr>
            <p:ph type="title"/>
          </p:nvPr>
        </p:nvSpPr>
        <p:spPr/>
        <p:txBody>
          <a:bodyPr/>
          <a:lstStyle/>
          <a:p>
            <a:r>
              <a:rPr lang="en-US" dirty="0"/>
              <a:t>Web API Examples</a:t>
            </a:r>
            <a:endParaRPr lang="en-IN" dirty="0"/>
          </a:p>
        </p:txBody>
      </p:sp>
      <p:pic>
        <p:nvPicPr>
          <p:cNvPr id="7" name="Picture 6">
            <a:extLst>
              <a:ext uri="{FF2B5EF4-FFF2-40B4-BE49-F238E27FC236}">
                <a16:creationId xmlns:a16="http://schemas.microsoft.com/office/drawing/2014/main" id="{8BFA0815-F14F-7573-1C95-68485CF4DE7C}"/>
              </a:ext>
            </a:extLst>
          </p:cNvPr>
          <p:cNvPicPr>
            <a:picLocks noChangeAspect="1"/>
          </p:cNvPicPr>
          <p:nvPr/>
        </p:nvPicPr>
        <p:blipFill>
          <a:blip r:embed="rId3">
            <a:extLst>
              <a:ext uri="{28A0092B-C50C-407E-A947-70E740481C1C}">
                <a14:useLocalDpi xmlns:a14="http://schemas.microsoft.com/office/drawing/2010/main" val="0"/>
              </a:ext>
            </a:extLst>
          </a:blip>
          <a:srcRect b="6756"/>
          <a:stretch>
            <a:fillRect/>
          </a:stretch>
        </p:blipFill>
        <p:spPr>
          <a:xfrm>
            <a:off x="3996273" y="869244"/>
            <a:ext cx="3719689" cy="5202587"/>
          </a:xfrm>
          <a:prstGeom prst="rect">
            <a:avLst/>
          </a:prstGeom>
        </p:spPr>
      </p:pic>
      <p:cxnSp>
        <p:nvCxnSpPr>
          <p:cNvPr id="9" name="Straight Connector 8">
            <a:extLst>
              <a:ext uri="{FF2B5EF4-FFF2-40B4-BE49-F238E27FC236}">
                <a16:creationId xmlns:a16="http://schemas.microsoft.com/office/drawing/2014/main" id="{A1E39217-598A-9129-8D8A-01BA47482B27}"/>
              </a:ext>
            </a:extLst>
          </p:cNvPr>
          <p:cNvCxnSpPr>
            <a:cxnSpLocks/>
          </p:cNvCxnSpPr>
          <p:nvPr/>
        </p:nvCxnSpPr>
        <p:spPr>
          <a:xfrm>
            <a:off x="3623727" y="852312"/>
            <a:ext cx="0" cy="5202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580022B7-A96D-E069-5B99-2A010241FEA9}"/>
              </a:ext>
            </a:extLst>
          </p:cNvPr>
          <p:cNvPicPr>
            <a:picLocks noChangeAspect="1"/>
          </p:cNvPicPr>
          <p:nvPr/>
        </p:nvPicPr>
        <p:blipFill>
          <a:blip r:embed="rId4">
            <a:extLst>
              <a:ext uri="{28A0092B-C50C-407E-A947-70E740481C1C}">
                <a14:useLocalDpi xmlns:a14="http://schemas.microsoft.com/office/drawing/2010/main" val="0"/>
              </a:ext>
            </a:extLst>
          </a:blip>
          <a:srcRect b="7464"/>
          <a:stretch>
            <a:fillRect/>
          </a:stretch>
        </p:blipFill>
        <p:spPr>
          <a:xfrm>
            <a:off x="8325555" y="807155"/>
            <a:ext cx="3719689" cy="5163076"/>
          </a:xfrm>
          <a:prstGeom prst="rect">
            <a:avLst/>
          </a:prstGeom>
        </p:spPr>
      </p:pic>
      <p:cxnSp>
        <p:nvCxnSpPr>
          <p:cNvPr id="15" name="Straight Connector 14">
            <a:extLst>
              <a:ext uri="{FF2B5EF4-FFF2-40B4-BE49-F238E27FC236}">
                <a16:creationId xmlns:a16="http://schemas.microsoft.com/office/drawing/2014/main" id="{E918D203-DB74-8230-A146-9E9A0E9B6955}"/>
              </a:ext>
            </a:extLst>
          </p:cNvPr>
          <p:cNvCxnSpPr>
            <a:cxnSpLocks/>
          </p:cNvCxnSpPr>
          <p:nvPr/>
        </p:nvCxnSpPr>
        <p:spPr>
          <a:xfrm>
            <a:off x="7924800" y="874014"/>
            <a:ext cx="0" cy="51978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828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31180" y="863444"/>
            <a:ext cx="5988370" cy="5590565"/>
          </a:xfrm>
        </p:spPr>
        <p:txBody>
          <a:bodyPr/>
          <a:lstStyle/>
          <a:p>
            <a:r>
              <a:rPr lang="en-US" dirty="0"/>
              <a:t>We aim to establish communication between all these Android, iOS &amp; web applications to the database. </a:t>
            </a:r>
          </a:p>
          <a:p>
            <a:r>
              <a:rPr lang="en-US" dirty="0"/>
              <a:t>So, what will we do? We will create a new separate project for all the platforms. </a:t>
            </a:r>
          </a:p>
          <a:p>
            <a:r>
              <a:rPr lang="en-US" dirty="0"/>
              <a:t>This individual application will interact with the database.</a:t>
            </a:r>
          </a:p>
          <a:p>
            <a:r>
              <a:rPr lang="en-US" dirty="0"/>
              <a:t>But this is totally wrong practice, </a:t>
            </a:r>
            <a:r>
              <a:rPr lang="en-US" b="1" dirty="0"/>
              <a:t>because separate coding, separate logic &amp; separate files</a:t>
            </a:r>
            <a:r>
              <a:rPr lang="en-US" dirty="0"/>
              <a:t>.</a:t>
            </a:r>
          </a:p>
          <a:p>
            <a:r>
              <a:rPr lang="en-US" dirty="0"/>
              <a:t>So, what we have to do is to create an API Project and all these applications (frontend) will connect to it.</a:t>
            </a:r>
          </a:p>
        </p:txBody>
      </p:sp>
      <p:sp>
        <p:nvSpPr>
          <p:cNvPr id="3" name="Title 2"/>
          <p:cNvSpPr>
            <a:spLocks noGrp="1"/>
          </p:cNvSpPr>
          <p:nvPr>
            <p:ph type="title"/>
          </p:nvPr>
        </p:nvSpPr>
        <p:spPr/>
        <p:txBody>
          <a:bodyPr/>
          <a:lstStyle/>
          <a:p>
            <a:r>
              <a:rPr lang="en-US" dirty="0"/>
              <a:t>Need of API</a:t>
            </a:r>
          </a:p>
        </p:txBody>
      </p:sp>
      <p:sp>
        <p:nvSpPr>
          <p:cNvPr id="6" name="TextBox 4"/>
          <p:cNvSpPr txBox="1"/>
          <p:nvPr/>
        </p:nvSpPr>
        <p:spPr>
          <a:xfrm>
            <a:off x="10823380" y="5180787"/>
            <a:ext cx="117695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2"/>
                </a:solidFill>
              </a:rPr>
              <a:t>Database</a:t>
            </a:r>
          </a:p>
        </p:txBody>
      </p:sp>
      <p:cxnSp>
        <p:nvCxnSpPr>
          <p:cNvPr id="21" name="Straight Arrow Connector 20"/>
          <p:cNvCxnSpPr>
            <a:cxnSpLocks/>
          </p:cNvCxnSpPr>
          <p:nvPr/>
        </p:nvCxnSpPr>
        <p:spPr>
          <a:xfrm>
            <a:off x="6962992" y="4519927"/>
            <a:ext cx="919570" cy="11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1" name="Picture 3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92832" y="3810885"/>
            <a:ext cx="1345445" cy="1345445"/>
          </a:xfrm>
          <a:prstGeom prst="rect">
            <a:avLst/>
          </a:prstGeom>
        </p:spPr>
      </p:pic>
      <p:pic>
        <p:nvPicPr>
          <p:cNvPr id="32" name="Picture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35861" y="5017001"/>
            <a:ext cx="403468" cy="403468"/>
          </a:xfrm>
          <a:prstGeom prst="rect">
            <a:avLst/>
          </a:prstGeom>
        </p:spPr>
      </p:pic>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4267" y="3547557"/>
            <a:ext cx="526657" cy="526657"/>
          </a:xfrm>
          <a:prstGeom prst="rect">
            <a:avLst/>
          </a:prstGeom>
        </p:spPr>
      </p:pic>
      <p:pic>
        <p:nvPicPr>
          <p:cNvPr id="34" name="Picture 3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12198" y="4177694"/>
            <a:ext cx="650794" cy="650794"/>
          </a:xfrm>
          <a:prstGeom prst="rect">
            <a:avLst/>
          </a:prstGeom>
        </p:spPr>
      </p:pic>
      <p:sp>
        <p:nvSpPr>
          <p:cNvPr id="36" name="Round Diagonal Corner Rectangle 35"/>
          <p:cNvSpPr/>
          <p:nvPr/>
        </p:nvSpPr>
        <p:spPr>
          <a:xfrm>
            <a:off x="7958762" y="4094844"/>
            <a:ext cx="1638300" cy="790575"/>
          </a:xfrm>
          <a:prstGeom prst="round2DiagRect">
            <a:avLst/>
          </a:prstGeom>
          <a:solidFill>
            <a:schemeClr val="bg2">
              <a:lumMod val="95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Web API</a:t>
            </a:r>
          </a:p>
        </p:txBody>
      </p:sp>
      <p:cxnSp>
        <p:nvCxnSpPr>
          <p:cNvPr id="37" name="Straight Arrow Connector 36"/>
          <p:cNvCxnSpPr>
            <a:cxnSpLocks/>
          </p:cNvCxnSpPr>
          <p:nvPr/>
        </p:nvCxnSpPr>
        <p:spPr>
          <a:xfrm>
            <a:off x="9673262" y="4494127"/>
            <a:ext cx="919570" cy="11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a:off x="6967599" y="3825395"/>
            <a:ext cx="914963" cy="5388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cxnSpLocks/>
          </p:cNvCxnSpPr>
          <p:nvPr/>
        </p:nvCxnSpPr>
        <p:spPr>
          <a:xfrm flipV="1">
            <a:off x="6915529" y="4706527"/>
            <a:ext cx="967033" cy="47426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9F4A961-7B44-47B1-4495-37DE1FFC57E0}"/>
              </a:ext>
            </a:extLst>
          </p:cNvPr>
          <p:cNvCxnSpPr>
            <a:cxnSpLocks/>
          </p:cNvCxnSpPr>
          <p:nvPr/>
        </p:nvCxnSpPr>
        <p:spPr>
          <a:xfrm>
            <a:off x="8036677" y="1880667"/>
            <a:ext cx="1203449" cy="6477"/>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30C8408C-10EA-6D31-706C-36D19A2519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94843" y="1240034"/>
            <a:ext cx="1281266" cy="1281266"/>
          </a:xfrm>
          <a:prstGeom prst="rect">
            <a:avLst/>
          </a:prstGeom>
        </p:spPr>
      </p:pic>
      <p:pic>
        <p:nvPicPr>
          <p:cNvPr id="11" name="Picture 10">
            <a:extLst>
              <a:ext uri="{FF2B5EF4-FFF2-40B4-BE49-F238E27FC236}">
                <a16:creationId xmlns:a16="http://schemas.microsoft.com/office/drawing/2014/main" id="{AF3B7A98-DB1B-6109-FEDB-505AEBEDC4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64488" y="2339348"/>
            <a:ext cx="510466" cy="510466"/>
          </a:xfrm>
          <a:prstGeom prst="rect">
            <a:avLst/>
          </a:prstGeom>
        </p:spPr>
      </p:pic>
      <p:pic>
        <p:nvPicPr>
          <p:cNvPr id="12" name="Picture 11">
            <a:extLst>
              <a:ext uri="{FF2B5EF4-FFF2-40B4-BE49-F238E27FC236}">
                <a16:creationId xmlns:a16="http://schemas.microsoft.com/office/drawing/2014/main" id="{CF5E74E5-0858-F26E-C460-2E046D524F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20851" y="896510"/>
            <a:ext cx="554103" cy="554103"/>
          </a:xfrm>
          <a:prstGeom prst="rect">
            <a:avLst/>
          </a:prstGeom>
        </p:spPr>
      </p:pic>
      <p:pic>
        <p:nvPicPr>
          <p:cNvPr id="13" name="Picture 12">
            <a:extLst>
              <a:ext uri="{FF2B5EF4-FFF2-40B4-BE49-F238E27FC236}">
                <a16:creationId xmlns:a16="http://schemas.microsoft.com/office/drawing/2014/main" id="{784C2193-FB09-1200-1453-624AD77C587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54840" y="1531631"/>
            <a:ext cx="698073" cy="698073"/>
          </a:xfrm>
          <a:prstGeom prst="rect">
            <a:avLst/>
          </a:prstGeom>
        </p:spPr>
      </p:pic>
      <p:cxnSp>
        <p:nvCxnSpPr>
          <p:cNvPr id="14" name="Straight Arrow Connector 13">
            <a:extLst>
              <a:ext uri="{FF2B5EF4-FFF2-40B4-BE49-F238E27FC236}">
                <a16:creationId xmlns:a16="http://schemas.microsoft.com/office/drawing/2014/main" id="{C18013E6-4BF3-3B31-66A5-1E2056A24DE2}"/>
              </a:ext>
            </a:extLst>
          </p:cNvPr>
          <p:cNvCxnSpPr>
            <a:cxnSpLocks/>
          </p:cNvCxnSpPr>
          <p:nvPr/>
        </p:nvCxnSpPr>
        <p:spPr>
          <a:xfrm>
            <a:off x="8036677" y="1196582"/>
            <a:ext cx="1203449" cy="290314"/>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58B6640-1002-EA53-FB3A-7C60471563C3}"/>
              </a:ext>
            </a:extLst>
          </p:cNvPr>
          <p:cNvCxnSpPr>
            <a:cxnSpLocks/>
          </p:cNvCxnSpPr>
          <p:nvPr/>
        </p:nvCxnSpPr>
        <p:spPr>
          <a:xfrm flipV="1">
            <a:off x="8036677" y="2229704"/>
            <a:ext cx="1203449" cy="364877"/>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4">
            <a:extLst>
              <a:ext uri="{FF2B5EF4-FFF2-40B4-BE49-F238E27FC236}">
                <a16:creationId xmlns:a16="http://schemas.microsoft.com/office/drawing/2014/main" id="{276C0264-6BD4-B835-820C-0C1230B675EB}"/>
              </a:ext>
            </a:extLst>
          </p:cNvPr>
          <p:cNvSpPr txBox="1"/>
          <p:nvPr/>
        </p:nvSpPr>
        <p:spPr>
          <a:xfrm>
            <a:off x="9668171" y="2521300"/>
            <a:ext cx="117695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2"/>
                </a:solidFill>
              </a:rPr>
              <a:t>Database</a:t>
            </a:r>
          </a:p>
        </p:txBody>
      </p:sp>
      <p:cxnSp>
        <p:nvCxnSpPr>
          <p:cNvPr id="30" name="Straight Connector 29">
            <a:extLst>
              <a:ext uri="{FF2B5EF4-FFF2-40B4-BE49-F238E27FC236}">
                <a16:creationId xmlns:a16="http://schemas.microsoft.com/office/drawing/2014/main" id="{A973246D-1C94-A01C-7061-CAFE07FAB74B}"/>
              </a:ext>
            </a:extLst>
          </p:cNvPr>
          <p:cNvCxnSpPr/>
          <p:nvPr/>
        </p:nvCxnSpPr>
        <p:spPr>
          <a:xfrm>
            <a:off x="6474385" y="3105509"/>
            <a:ext cx="5525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60AAA16B-D3E6-D626-4173-E7B61FA0FC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34162" y="3292285"/>
            <a:ext cx="526658" cy="526658"/>
          </a:xfrm>
          <a:prstGeom prst="rect">
            <a:avLst/>
          </a:prstGeom>
        </p:spPr>
      </p:pic>
      <p:pic>
        <p:nvPicPr>
          <p:cNvPr id="47" name="Picture 46">
            <a:extLst>
              <a:ext uri="{FF2B5EF4-FFF2-40B4-BE49-F238E27FC236}">
                <a16:creationId xmlns:a16="http://schemas.microsoft.com/office/drawing/2014/main" id="{AA10B3F0-AC75-01FB-F66E-562E835AD6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68941" y="814151"/>
            <a:ext cx="531389" cy="526659"/>
          </a:xfrm>
          <a:prstGeom prst="rect">
            <a:avLst/>
          </a:prstGeom>
        </p:spPr>
      </p:pic>
    </p:spTree>
    <p:extLst>
      <p:ext uri="{BB962C8B-B14F-4D97-AF65-F5344CB8AC3E}">
        <p14:creationId xmlns:p14="http://schemas.microsoft.com/office/powerpoint/2010/main" val="4116041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6" grpId="0"/>
      <p:bldP spid="36" grpId="0" animBg="1"/>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8950" y="1244444"/>
            <a:ext cx="5238750" cy="4537231"/>
          </a:xfrm>
        </p:spPr>
        <p:txBody>
          <a:bodyPr/>
          <a:lstStyle/>
          <a:p>
            <a:r>
              <a:rPr lang="en-US" dirty="0"/>
              <a:t>So, these websites, Android and </a:t>
            </a:r>
            <a:r>
              <a:rPr lang="en-US" dirty="0" err="1"/>
              <a:t>iOS</a:t>
            </a:r>
            <a:r>
              <a:rPr lang="en-US" dirty="0"/>
              <a:t> applications, </a:t>
            </a:r>
            <a:r>
              <a:rPr lang="en-US" b="1" dirty="0">
                <a:solidFill>
                  <a:schemeClr val="accent6"/>
                </a:solidFill>
              </a:rPr>
              <a:t>do not have direct access to the database</a:t>
            </a:r>
            <a:r>
              <a:rPr lang="en-US" dirty="0"/>
              <a:t>. </a:t>
            </a:r>
          </a:p>
          <a:p>
            <a:r>
              <a:rPr lang="en-US" b="1" dirty="0">
                <a:solidFill>
                  <a:schemeClr val="accent6"/>
                </a:solidFill>
              </a:rPr>
              <a:t>They only need to communicate with the Web APIs</a:t>
            </a:r>
            <a:r>
              <a:rPr lang="en-US" dirty="0"/>
              <a:t>, and it is the Web API project’s responsibility to interact with the database. </a:t>
            </a:r>
          </a:p>
          <a:p>
            <a:r>
              <a:rPr lang="en-US" dirty="0"/>
              <a:t>The </a:t>
            </a:r>
            <a:r>
              <a:rPr lang="en-US" b="1" dirty="0">
                <a:solidFill>
                  <a:schemeClr val="accent6"/>
                </a:solidFill>
              </a:rPr>
              <a:t>entire business logic will be written in the Web API project only</a:t>
            </a:r>
            <a:r>
              <a:rPr lang="en-US" dirty="0"/>
              <a:t>.</a:t>
            </a:r>
          </a:p>
          <a:p>
            <a:r>
              <a:rPr lang="en-US" dirty="0"/>
              <a:t>So, Web API </a:t>
            </a:r>
            <a:r>
              <a:rPr lang="en-US" b="1" dirty="0">
                <a:solidFill>
                  <a:schemeClr val="accent6"/>
                </a:solidFill>
              </a:rPr>
              <a:t>acts as a mediator between</a:t>
            </a:r>
            <a:r>
              <a:rPr lang="en-US" dirty="0"/>
              <a:t> the Front-End and Back-End.</a:t>
            </a:r>
          </a:p>
        </p:txBody>
      </p:sp>
      <p:sp>
        <p:nvSpPr>
          <p:cNvPr id="3" name="Title 2"/>
          <p:cNvSpPr>
            <a:spLocks noGrp="1"/>
          </p:cNvSpPr>
          <p:nvPr>
            <p:ph type="title"/>
          </p:nvPr>
        </p:nvSpPr>
        <p:spPr/>
        <p:txBody>
          <a:bodyPr/>
          <a:lstStyle/>
          <a:p>
            <a:r>
              <a:rPr lang="en-US" dirty="0"/>
              <a:t>Need of API Cont..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10570" y="2671751"/>
            <a:ext cx="1345445" cy="1345445"/>
          </a:xfrm>
          <a:prstGeom prst="rect">
            <a:avLst/>
          </a:prstGeom>
        </p:spPr>
      </p:pic>
      <p:sp>
        <p:nvSpPr>
          <p:cNvPr id="6" name="TextBox 4"/>
          <p:cNvSpPr txBox="1"/>
          <p:nvPr/>
        </p:nvSpPr>
        <p:spPr>
          <a:xfrm>
            <a:off x="5267278" y="4016851"/>
            <a:ext cx="117695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2"/>
                </a:solidFill>
              </a:rPr>
              <a:t>Database</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437" y="4170566"/>
            <a:ext cx="926693" cy="926693"/>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1962" y="1808366"/>
            <a:ext cx="972410" cy="972410"/>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6712" y="2875166"/>
            <a:ext cx="1126718" cy="1126718"/>
          </a:xfrm>
          <a:prstGeom prst="rect">
            <a:avLst/>
          </a:prstGeom>
        </p:spPr>
      </p:pic>
      <p:sp>
        <p:nvSpPr>
          <p:cNvPr id="13" name="Rounded Rectangle 12"/>
          <p:cNvSpPr/>
          <p:nvPr/>
        </p:nvSpPr>
        <p:spPr>
          <a:xfrm>
            <a:off x="214312" y="1713116"/>
            <a:ext cx="6410325" cy="343038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9" name="Round Diagonal Corner Rectangle 18"/>
          <p:cNvSpPr/>
          <p:nvPr/>
        </p:nvSpPr>
        <p:spPr>
          <a:xfrm>
            <a:off x="2505075" y="2952750"/>
            <a:ext cx="1638300" cy="790575"/>
          </a:xfrm>
          <a:prstGeom prst="round2DiagRect">
            <a:avLst/>
          </a:prstGeom>
          <a:solidFill>
            <a:schemeClr val="bg2">
              <a:lumMod val="95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Web API</a:t>
            </a:r>
          </a:p>
        </p:txBody>
      </p:sp>
      <p:cxnSp>
        <p:nvCxnSpPr>
          <p:cNvPr id="21" name="Straight Arrow Connector 20"/>
          <p:cNvCxnSpPr/>
          <p:nvPr/>
        </p:nvCxnSpPr>
        <p:spPr>
          <a:xfrm>
            <a:off x="4219575" y="3343275"/>
            <a:ext cx="919570" cy="11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1409700" y="2290763"/>
            <a:ext cx="1019175" cy="690562"/>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1483905" y="3392099"/>
            <a:ext cx="921565" cy="2737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1504950" y="3790950"/>
            <a:ext cx="885825" cy="804863"/>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825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HTTP </a:t>
            </a:r>
            <a:br>
              <a:rPr lang="en-US" dirty="0">
                <a:gradFill flip="none" rotWithShape="1">
                  <a:gsLst>
                    <a:gs pos="10000">
                      <a:schemeClr val="accent6">
                        <a:lumMod val="50000"/>
                      </a:schemeClr>
                    </a:gs>
                    <a:gs pos="100000">
                      <a:schemeClr val="accent6"/>
                    </a:gs>
                  </a:gsLst>
                  <a:lin ang="0" scaled="1"/>
                  <a:tileRect/>
                </a:gradFill>
              </a:rPr>
            </a:br>
            <a:r>
              <a:rPr lang="en-US" sz="2800" dirty="0">
                <a:gradFill flip="none" rotWithShape="1">
                  <a:gsLst>
                    <a:gs pos="10000">
                      <a:schemeClr val="accent6">
                        <a:lumMod val="50000"/>
                      </a:schemeClr>
                    </a:gs>
                    <a:gs pos="100000">
                      <a:schemeClr val="accent6"/>
                    </a:gs>
                  </a:gsLst>
                  <a:lin ang="0" scaled="1"/>
                  <a:tileRect/>
                </a:gradFill>
              </a:rPr>
              <a:t>(HyperText Transport Protocol)</a:t>
            </a:r>
          </a:p>
        </p:txBody>
      </p:sp>
      <p:sp>
        <p:nvSpPr>
          <p:cNvPr id="5" name="Text Placeholder 4"/>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1989966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fontAlgn="base">
              <a:buFont typeface="+mj-lt"/>
              <a:buAutoNum type="arabicPeriod"/>
            </a:pPr>
            <a:r>
              <a:rPr lang="en-US" dirty="0"/>
              <a:t>How Browser and Server Communicate with Each Other?</a:t>
            </a:r>
          </a:p>
          <a:p>
            <a:pPr marL="457200" indent="-457200" fontAlgn="base">
              <a:buFont typeface="+mj-lt"/>
              <a:buAutoNum type="arabicPeriod"/>
            </a:pPr>
            <a:r>
              <a:rPr lang="en-US" dirty="0"/>
              <a:t>What is HTTP?</a:t>
            </a:r>
          </a:p>
          <a:p>
            <a:pPr marL="457200" indent="-457200" fontAlgn="base">
              <a:buFont typeface="+mj-lt"/>
              <a:buAutoNum type="arabicPeriod"/>
            </a:pPr>
            <a:r>
              <a:rPr lang="en-US" dirty="0"/>
              <a:t>HTTP Request/Response Components</a:t>
            </a:r>
          </a:p>
          <a:p>
            <a:pPr marL="457200" indent="-457200" fontAlgn="base">
              <a:buFont typeface="+mj-lt"/>
              <a:buAutoNum type="arabicPeriod"/>
            </a:pPr>
            <a:r>
              <a:rPr lang="en-US" dirty="0"/>
              <a:t>HTTP Verbs or HTTP Methods</a:t>
            </a:r>
          </a:p>
          <a:p>
            <a:pPr marL="457200" indent="-457200" fontAlgn="base">
              <a:buFont typeface="+mj-lt"/>
              <a:buAutoNum type="arabicPeriod"/>
            </a:pPr>
            <a:r>
              <a:rPr lang="en-US" dirty="0"/>
              <a:t>HTTP Status Codes</a:t>
            </a:r>
          </a:p>
          <a:p>
            <a:pPr lvl="1" fontAlgn="base"/>
            <a:endParaRPr lang="en-US" dirty="0"/>
          </a:p>
        </p:txBody>
      </p:sp>
      <p:sp>
        <p:nvSpPr>
          <p:cNvPr id="3" name="Title 2"/>
          <p:cNvSpPr>
            <a:spLocks noGrp="1"/>
          </p:cNvSpPr>
          <p:nvPr>
            <p:ph type="title"/>
          </p:nvPr>
        </p:nvSpPr>
        <p:spPr/>
        <p:txBody>
          <a:bodyPr/>
          <a:lstStyle/>
          <a:p>
            <a:r>
              <a:rPr lang="en-US" dirty="0"/>
              <a:t>HTTP (HyperText Transport Protocol)</a:t>
            </a:r>
          </a:p>
        </p:txBody>
      </p:sp>
    </p:spTree>
    <p:extLst>
      <p:ext uri="{BB962C8B-B14F-4D97-AF65-F5344CB8AC3E}">
        <p14:creationId xmlns:p14="http://schemas.microsoft.com/office/powerpoint/2010/main" val="58153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Suppose, we open the web browser, type the URL in the browser and press the enter button. </a:t>
            </a:r>
          </a:p>
          <a:p>
            <a:pPr fontAlgn="base"/>
            <a:r>
              <a:rPr lang="en-US" dirty="0"/>
              <a:t>As soon as you press enter, </a:t>
            </a:r>
            <a:r>
              <a:rPr lang="en-US" b="1" dirty="0"/>
              <a:t>a request is going to the server </a:t>
            </a:r>
            <a:r>
              <a:rPr lang="en-US" dirty="0"/>
              <a:t>(called a web server). </a:t>
            </a:r>
          </a:p>
          <a:p>
            <a:pPr fontAlgn="base"/>
            <a:r>
              <a:rPr lang="en-US" dirty="0"/>
              <a:t>Whatever data you are sending from the web browser to the web server is called a </a:t>
            </a:r>
            <a:r>
              <a:rPr lang="en-US" b="1" dirty="0"/>
              <a:t>Request</a:t>
            </a:r>
            <a:r>
              <a:rPr lang="en-US" dirty="0"/>
              <a:t> and whatever data you are receiving from the web server is called a </a:t>
            </a:r>
            <a:r>
              <a:rPr lang="en-US" b="1" dirty="0"/>
              <a:t>Response</a:t>
            </a:r>
            <a:r>
              <a:rPr lang="en-US" dirty="0"/>
              <a:t> &amp; this type of communication is only possible by using HTTP Protocol. </a:t>
            </a:r>
          </a:p>
          <a:p>
            <a:pPr fontAlgn="base"/>
            <a:r>
              <a:rPr lang="en-US" dirty="0"/>
              <a:t>So, the request can be termed an HTTP Request and the response can be called HTTP Response.</a:t>
            </a:r>
          </a:p>
          <a:p>
            <a:pPr fontAlgn="base"/>
            <a:endParaRPr lang="en-US" dirty="0"/>
          </a:p>
          <a:p>
            <a:pPr fontAlgn="base"/>
            <a:endParaRPr lang="en-US" dirty="0"/>
          </a:p>
          <a:p>
            <a:pPr fontAlgn="base"/>
            <a:endParaRPr lang="en-US" dirty="0"/>
          </a:p>
          <a:p>
            <a:pPr fontAlgn="base"/>
            <a:endParaRPr lang="en-US" dirty="0"/>
          </a:p>
          <a:p>
            <a:pPr fontAlgn="base"/>
            <a:r>
              <a:rPr lang="en-US" dirty="0"/>
              <a:t>For example, if you are using a mobile application, then your mobile is a client.</a:t>
            </a:r>
          </a:p>
        </p:txBody>
      </p:sp>
      <p:sp>
        <p:nvSpPr>
          <p:cNvPr id="3" name="Title 2"/>
          <p:cNvSpPr>
            <a:spLocks noGrp="1"/>
          </p:cNvSpPr>
          <p:nvPr>
            <p:ph type="title"/>
          </p:nvPr>
        </p:nvSpPr>
        <p:spPr/>
        <p:txBody>
          <a:bodyPr/>
          <a:lstStyle/>
          <a:p>
            <a:pPr fontAlgn="base"/>
            <a:r>
              <a:rPr lang="en-US" dirty="0"/>
              <a:t>1. How Browser and Server Communicate with Each Other?</a:t>
            </a:r>
          </a:p>
        </p:txBody>
      </p:sp>
      <p:sp>
        <p:nvSpPr>
          <p:cNvPr id="4" name="Rectangle 3"/>
          <p:cNvSpPr/>
          <p:nvPr/>
        </p:nvSpPr>
        <p:spPr>
          <a:xfrm>
            <a:off x="1765426" y="3766241"/>
            <a:ext cx="3069125" cy="1484769"/>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https://darshan.ac.in/</a:t>
            </a:r>
          </a:p>
        </p:txBody>
      </p:sp>
      <p:sp>
        <p:nvSpPr>
          <p:cNvPr id="5" name="Rectangle 4"/>
          <p:cNvSpPr/>
          <p:nvPr/>
        </p:nvSpPr>
        <p:spPr>
          <a:xfrm>
            <a:off x="7494761" y="3764732"/>
            <a:ext cx="3069125" cy="1484769"/>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Server</a:t>
            </a:r>
          </a:p>
        </p:txBody>
      </p:sp>
      <p:sp>
        <p:nvSpPr>
          <p:cNvPr id="6" name="Right Arrow 5"/>
          <p:cNvSpPr/>
          <p:nvPr/>
        </p:nvSpPr>
        <p:spPr>
          <a:xfrm>
            <a:off x="5024674" y="4101220"/>
            <a:ext cx="2353901" cy="31687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p:cNvSpPr/>
          <p:nvPr/>
        </p:nvSpPr>
        <p:spPr>
          <a:xfrm rot="10800000">
            <a:off x="4996004" y="4679133"/>
            <a:ext cx="2353901" cy="31687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477346" y="3847722"/>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HTTP Request</a:t>
            </a:r>
          </a:p>
        </p:txBody>
      </p:sp>
      <p:sp>
        <p:nvSpPr>
          <p:cNvPr id="9" name="Rectangle 8"/>
          <p:cNvSpPr/>
          <p:nvPr/>
        </p:nvSpPr>
        <p:spPr>
          <a:xfrm>
            <a:off x="5439623" y="4959788"/>
            <a:ext cx="1667348" cy="2821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HTTP Response</a:t>
            </a:r>
          </a:p>
        </p:txBody>
      </p:sp>
      <p:sp>
        <p:nvSpPr>
          <p:cNvPr id="10" name="Rectangle 9"/>
          <p:cNvSpPr/>
          <p:nvPr/>
        </p:nvSpPr>
        <p:spPr>
          <a:xfrm>
            <a:off x="2442926" y="5303821"/>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Browser </a:t>
            </a:r>
          </a:p>
        </p:txBody>
      </p:sp>
      <p:sp>
        <p:nvSpPr>
          <p:cNvPr id="11" name="Rectangle 10"/>
          <p:cNvSpPr/>
          <p:nvPr/>
        </p:nvSpPr>
        <p:spPr>
          <a:xfrm>
            <a:off x="8291465" y="5312874"/>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spTree>
    <p:extLst>
      <p:ext uri="{BB962C8B-B14F-4D97-AF65-F5344CB8AC3E}">
        <p14:creationId xmlns:p14="http://schemas.microsoft.com/office/powerpoint/2010/main" val="126197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HTTP stands for </a:t>
            </a:r>
            <a:r>
              <a:rPr lang="en-US" b="1" dirty="0">
                <a:solidFill>
                  <a:schemeClr val="accent6"/>
                </a:solidFill>
              </a:rPr>
              <a:t>HyperText Transfer Protocol</a:t>
            </a:r>
            <a:r>
              <a:rPr lang="en-US" dirty="0"/>
              <a:t>. </a:t>
            </a:r>
          </a:p>
          <a:p>
            <a:pPr fontAlgn="base"/>
            <a:r>
              <a:rPr lang="en-US" dirty="0"/>
              <a:t>It is an </a:t>
            </a:r>
            <a:r>
              <a:rPr lang="en-US" b="1" dirty="0">
                <a:solidFill>
                  <a:schemeClr val="accent6"/>
                </a:solidFill>
              </a:rPr>
              <a:t>application-layer protocol used for communication on the World Wide Web</a:t>
            </a:r>
            <a:r>
              <a:rPr lang="en-US" dirty="0"/>
              <a:t>.</a:t>
            </a:r>
          </a:p>
          <a:p>
            <a:pPr fontAlgn="base"/>
            <a:r>
              <a:rPr lang="en-US" dirty="0"/>
              <a:t>It is also called as </a:t>
            </a:r>
            <a:r>
              <a:rPr lang="en-US" b="1" dirty="0">
                <a:solidFill>
                  <a:schemeClr val="accent6"/>
                </a:solidFill>
              </a:rPr>
              <a:t>communication protocol</a:t>
            </a:r>
            <a:r>
              <a:rPr lang="en-US" dirty="0"/>
              <a:t>.</a:t>
            </a:r>
          </a:p>
          <a:p>
            <a:pPr fontAlgn="base"/>
            <a:r>
              <a:rPr lang="en-US" dirty="0"/>
              <a:t>It is used to </a:t>
            </a:r>
            <a:r>
              <a:rPr lang="en-US" b="1" dirty="0">
                <a:solidFill>
                  <a:schemeClr val="accent6"/>
                </a:solidFill>
              </a:rPr>
              <a:t>send and receive web pages and files on the internet</a:t>
            </a:r>
            <a:r>
              <a:rPr lang="en-US" dirty="0"/>
              <a:t>.</a:t>
            </a:r>
          </a:p>
          <a:p>
            <a:pPr fontAlgn="base"/>
            <a:r>
              <a:rPr lang="en-US" dirty="0"/>
              <a:t>It serves as a foundation for </a:t>
            </a:r>
            <a:r>
              <a:rPr lang="en-US" b="1" dirty="0">
                <a:solidFill>
                  <a:schemeClr val="accent6"/>
                </a:solidFill>
              </a:rPr>
              <a:t>exchanging information between a web server and a client, typically a web browser</a:t>
            </a:r>
            <a:r>
              <a:rPr lang="en-US" dirty="0"/>
              <a:t>.</a:t>
            </a:r>
          </a:p>
          <a:p>
            <a:pPr fontAlgn="base"/>
            <a:r>
              <a:rPr lang="en-US" dirty="0"/>
              <a:t>HTTP enables the </a:t>
            </a:r>
            <a:r>
              <a:rPr lang="en-US" b="1" dirty="0">
                <a:solidFill>
                  <a:schemeClr val="accent6"/>
                </a:solidFill>
              </a:rPr>
              <a:t>retrieval of resources such as HTML documents, images, videos, and other media files</a:t>
            </a:r>
            <a:r>
              <a:rPr lang="en-US" dirty="0"/>
              <a:t>, allowing users to access websites and navigate the internet.</a:t>
            </a:r>
          </a:p>
          <a:p>
            <a:pPr fontAlgn="base"/>
            <a:r>
              <a:rPr lang="en-US" dirty="0"/>
              <a:t>It </a:t>
            </a:r>
            <a:r>
              <a:rPr lang="en-US" b="1" dirty="0">
                <a:solidFill>
                  <a:schemeClr val="accent6"/>
                </a:solidFill>
              </a:rPr>
              <a:t>follows a request-response model</a:t>
            </a:r>
            <a:r>
              <a:rPr lang="en-US" dirty="0"/>
              <a:t>, where a client sends an HTTP request to a server, and the server responds with an HTTP response containing the requested information.</a:t>
            </a:r>
          </a:p>
          <a:p>
            <a:pPr fontAlgn="base"/>
            <a:endParaRPr lang="en-US" dirty="0"/>
          </a:p>
          <a:p>
            <a:pPr lvl="1" fontAlgn="base"/>
            <a:endParaRPr lang="en-US" dirty="0"/>
          </a:p>
        </p:txBody>
      </p:sp>
      <p:sp>
        <p:nvSpPr>
          <p:cNvPr id="3" name="Title 2"/>
          <p:cNvSpPr>
            <a:spLocks noGrp="1"/>
          </p:cNvSpPr>
          <p:nvPr>
            <p:ph type="title"/>
          </p:nvPr>
        </p:nvSpPr>
        <p:spPr/>
        <p:txBody>
          <a:bodyPr/>
          <a:lstStyle/>
          <a:p>
            <a:r>
              <a:rPr lang="en-US" dirty="0"/>
              <a:t>2. What is HTTP?</a:t>
            </a:r>
          </a:p>
        </p:txBody>
      </p:sp>
    </p:spTree>
    <p:extLst>
      <p:ext uri="{BB962C8B-B14F-4D97-AF65-F5344CB8AC3E}">
        <p14:creationId xmlns:p14="http://schemas.microsoft.com/office/powerpoint/2010/main" val="2335341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An HTTP request is made by the client to request a resource from the server, and the server responds with an HTTP response containing the requested resource or an error message.</a:t>
            </a:r>
          </a:p>
          <a:p>
            <a:r>
              <a:rPr lang="en-US" dirty="0"/>
              <a:t>When we send something from the client (browser, mobile, postman etc.) to the server (webserver) is called a Request.</a:t>
            </a:r>
          </a:p>
          <a:p>
            <a:r>
              <a:rPr lang="en-US" dirty="0"/>
              <a:t>The request is formed with a couple of components, are as follows.</a:t>
            </a:r>
          </a:p>
          <a:p>
            <a:endParaRPr lang="en-US" dirty="0"/>
          </a:p>
        </p:txBody>
      </p:sp>
      <p:sp>
        <p:nvSpPr>
          <p:cNvPr id="3" name="Title 2"/>
          <p:cNvSpPr>
            <a:spLocks noGrp="1"/>
          </p:cNvSpPr>
          <p:nvPr>
            <p:ph type="title"/>
          </p:nvPr>
        </p:nvSpPr>
        <p:spPr/>
        <p:txBody>
          <a:bodyPr>
            <a:normAutofit/>
          </a:bodyPr>
          <a:lstStyle/>
          <a:p>
            <a:r>
              <a:rPr lang="en-US" dirty="0"/>
              <a:t>3. HTTP Request Components</a:t>
            </a:r>
          </a:p>
        </p:txBody>
      </p:sp>
      <p:graphicFrame>
        <p:nvGraphicFramePr>
          <p:cNvPr id="4" name="Table 3"/>
          <p:cNvGraphicFramePr>
            <a:graphicFrameLocks noGrp="1"/>
          </p:cNvGraphicFramePr>
          <p:nvPr/>
        </p:nvGraphicFramePr>
        <p:xfrm>
          <a:off x="461818" y="2890212"/>
          <a:ext cx="11065164" cy="1854200"/>
        </p:xfrm>
        <a:graphic>
          <a:graphicData uri="http://schemas.openxmlformats.org/drawingml/2006/table">
            <a:tbl>
              <a:tblPr firstRow="1" bandRow="1">
                <a:tableStyleId>{5C22544A-7EE6-4342-B048-85BDC9FD1C3A}</a:tableStyleId>
              </a:tblPr>
              <a:tblGrid>
                <a:gridCol w="1939637">
                  <a:extLst>
                    <a:ext uri="{9D8B030D-6E8A-4147-A177-3AD203B41FA5}">
                      <a16:colId xmlns:a16="http://schemas.microsoft.com/office/drawing/2014/main" val="20000"/>
                    </a:ext>
                  </a:extLst>
                </a:gridCol>
                <a:gridCol w="9125527">
                  <a:extLst>
                    <a:ext uri="{9D8B030D-6E8A-4147-A177-3AD203B41FA5}">
                      <a16:colId xmlns:a16="http://schemas.microsoft.com/office/drawing/2014/main" val="20001"/>
                    </a:ext>
                  </a:extLst>
                </a:gridCol>
              </a:tblGrid>
              <a:tr h="370840">
                <a:tc>
                  <a:txBody>
                    <a:bodyPr/>
                    <a:lstStyle/>
                    <a:p>
                      <a:r>
                        <a:rPr lang="en-US" dirty="0"/>
                        <a:t>Component</a:t>
                      </a:r>
                    </a:p>
                  </a:txBody>
                  <a:tcPr/>
                </a:tc>
                <a:tc>
                  <a:txBody>
                    <a:bodyPr/>
                    <a:lstStyle/>
                    <a:p>
                      <a:r>
                        <a:rPr lang="en-US" dirty="0"/>
                        <a:t>Description </a:t>
                      </a:r>
                    </a:p>
                  </a:txBody>
                  <a:tcPr/>
                </a:tc>
                <a:extLst>
                  <a:ext uri="{0D108BD9-81ED-4DB2-BD59-A6C34878D82A}">
                    <a16:rowId xmlns:a16="http://schemas.microsoft.com/office/drawing/2014/main" val="10000"/>
                  </a:ext>
                </a:extLst>
              </a:tr>
              <a:tr h="370840">
                <a:tc>
                  <a:txBody>
                    <a:bodyPr/>
                    <a:lstStyle/>
                    <a:p>
                      <a:r>
                        <a:rPr lang="en-US" sz="1800" b="1" i="0" kern="1200" dirty="0">
                          <a:solidFill>
                            <a:schemeClr val="dk1"/>
                          </a:solidFill>
                          <a:effectLst/>
                          <a:latin typeface="+mn-lt"/>
                          <a:ea typeface="+mn-ea"/>
                          <a:cs typeface="+mn-cs"/>
                        </a:rPr>
                        <a:t>URL</a:t>
                      </a:r>
                      <a:endParaRPr lang="en-US" dirty="0"/>
                    </a:p>
                  </a:txBody>
                  <a:tcPr/>
                </a:tc>
                <a:tc>
                  <a:txBody>
                    <a:bodyPr/>
                    <a:lstStyle/>
                    <a:p>
                      <a:r>
                        <a:rPr lang="en-US" sz="1800" b="0" i="0" kern="1200" dirty="0">
                          <a:solidFill>
                            <a:schemeClr val="dk1"/>
                          </a:solidFill>
                          <a:effectLst/>
                          <a:latin typeface="+mn-lt"/>
                          <a:ea typeface="+mn-ea"/>
                          <a:cs typeface="+mn-cs"/>
                        </a:rPr>
                        <a:t>Each Request must have a unique URL</a:t>
                      </a:r>
                      <a:endParaRPr lang="en-US" dirty="0"/>
                    </a:p>
                  </a:txBody>
                  <a:tcPr/>
                </a:tc>
                <a:extLst>
                  <a:ext uri="{0D108BD9-81ED-4DB2-BD59-A6C34878D82A}">
                    <a16:rowId xmlns:a16="http://schemas.microsoft.com/office/drawing/2014/main" val="10001"/>
                  </a:ext>
                </a:extLst>
              </a:tr>
              <a:tr h="370840">
                <a:tc>
                  <a:txBody>
                    <a:bodyPr/>
                    <a:lstStyle/>
                    <a:p>
                      <a:r>
                        <a:rPr lang="en-US" sz="1800" b="1" i="0" kern="1200" dirty="0">
                          <a:solidFill>
                            <a:schemeClr val="dk1"/>
                          </a:solidFill>
                          <a:effectLst/>
                          <a:latin typeface="+mn-lt"/>
                          <a:ea typeface="+mn-ea"/>
                          <a:cs typeface="+mn-cs"/>
                        </a:rPr>
                        <a:t>Verb (Method)</a:t>
                      </a:r>
                      <a:endParaRPr lang="en-US" dirty="0"/>
                    </a:p>
                  </a:txBody>
                  <a:tcPr/>
                </a:tc>
                <a:tc>
                  <a:txBody>
                    <a:bodyPr/>
                    <a:lstStyle/>
                    <a:p>
                      <a:r>
                        <a:rPr lang="en-US" sz="1800" b="0" i="0" kern="1200" dirty="0">
                          <a:solidFill>
                            <a:schemeClr val="dk1"/>
                          </a:solidFill>
                          <a:effectLst/>
                          <a:latin typeface="+mn-lt"/>
                          <a:ea typeface="+mn-ea"/>
                          <a:cs typeface="+mn-cs"/>
                        </a:rPr>
                        <a:t>Each Request must have an HTTP Verb (Majorly GET, POST, PUT &amp; DELETE)</a:t>
                      </a:r>
                      <a:endParaRPr lang="en-US" dirty="0"/>
                    </a:p>
                  </a:txBody>
                  <a:tcPr/>
                </a:tc>
                <a:extLst>
                  <a:ext uri="{0D108BD9-81ED-4DB2-BD59-A6C34878D82A}">
                    <a16:rowId xmlns:a16="http://schemas.microsoft.com/office/drawing/2014/main" val="10002"/>
                  </a:ext>
                </a:extLst>
              </a:tr>
              <a:tr h="370840">
                <a:tc>
                  <a:txBody>
                    <a:bodyPr/>
                    <a:lstStyle/>
                    <a:p>
                      <a:r>
                        <a:rPr lang="en-US" sz="1800" b="1" i="0" kern="1200" dirty="0">
                          <a:solidFill>
                            <a:schemeClr val="dk1"/>
                          </a:solidFill>
                          <a:effectLst/>
                          <a:latin typeface="+mn-lt"/>
                          <a:ea typeface="+mn-ea"/>
                          <a:cs typeface="+mn-cs"/>
                        </a:rPr>
                        <a:t>Header(s)</a:t>
                      </a:r>
                      <a:endParaRPr lang="en-US" dirty="0"/>
                    </a:p>
                  </a:txBody>
                  <a:tcPr/>
                </a:tc>
                <a:tc>
                  <a:txBody>
                    <a:bodyPr/>
                    <a:lstStyle/>
                    <a:p>
                      <a:r>
                        <a:rPr lang="en-US" sz="1800" b="0" i="0" kern="1200" dirty="0">
                          <a:solidFill>
                            <a:schemeClr val="dk1"/>
                          </a:solidFill>
                          <a:effectLst/>
                          <a:latin typeface="+mn-lt"/>
                          <a:ea typeface="+mn-ea"/>
                          <a:cs typeface="+mn-cs"/>
                        </a:rPr>
                        <a:t>Each Request can contain one or more Headers</a:t>
                      </a:r>
                      <a:endParaRPr lang="en-US" dirty="0"/>
                    </a:p>
                  </a:txBody>
                  <a:tcPr/>
                </a:tc>
                <a:extLst>
                  <a:ext uri="{0D108BD9-81ED-4DB2-BD59-A6C34878D82A}">
                    <a16:rowId xmlns:a16="http://schemas.microsoft.com/office/drawing/2014/main" val="10003"/>
                  </a:ext>
                </a:extLst>
              </a:tr>
              <a:tr h="370840">
                <a:tc>
                  <a:txBody>
                    <a:bodyPr/>
                    <a:lstStyle/>
                    <a:p>
                      <a:r>
                        <a:rPr lang="en-US" sz="1800" b="1" i="0" kern="1200" dirty="0">
                          <a:solidFill>
                            <a:schemeClr val="dk1"/>
                          </a:solidFill>
                          <a:effectLst/>
                          <a:latin typeface="+mn-lt"/>
                          <a:ea typeface="+mn-ea"/>
                          <a:cs typeface="+mn-cs"/>
                        </a:rPr>
                        <a:t>Body</a:t>
                      </a:r>
                      <a:endParaRPr lang="en-US" dirty="0"/>
                    </a:p>
                  </a:txBody>
                  <a:tcPr/>
                </a:tc>
                <a:tc>
                  <a:txBody>
                    <a:bodyPr/>
                    <a:lstStyle/>
                    <a:p>
                      <a:r>
                        <a:rPr lang="en-US" sz="1800" b="0" i="0" kern="1200" dirty="0">
                          <a:solidFill>
                            <a:schemeClr val="dk1"/>
                          </a:solidFill>
                          <a:effectLst/>
                          <a:latin typeface="+mn-lt"/>
                          <a:ea typeface="+mn-ea"/>
                          <a:cs typeface="+mn-cs"/>
                        </a:rPr>
                        <a:t>Each request can have a body. The body contains the data that we want to send to the server.</a:t>
                      </a:r>
                      <a:endParaRPr lang="en-US" dirty="0"/>
                    </a:p>
                  </a:txBody>
                  <a:tcPr/>
                </a:tc>
                <a:extLst>
                  <a:ext uri="{0D108BD9-81ED-4DB2-BD59-A6C34878D82A}">
                    <a16:rowId xmlns:a16="http://schemas.microsoft.com/office/drawing/2014/main" val="10004"/>
                  </a:ext>
                </a:extLst>
              </a:tr>
            </a:tbl>
          </a:graphicData>
        </a:graphic>
      </p:graphicFrame>
      <p:sp>
        <p:nvSpPr>
          <p:cNvPr id="5" name="Rectangle 4"/>
          <p:cNvSpPr/>
          <p:nvPr/>
        </p:nvSpPr>
        <p:spPr>
          <a:xfrm>
            <a:off x="1377499" y="4837660"/>
            <a:ext cx="3069125" cy="81499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Web Browser, Mobile App, Postman, Scalar</a:t>
            </a:r>
          </a:p>
        </p:txBody>
      </p:sp>
      <p:sp>
        <p:nvSpPr>
          <p:cNvPr id="6" name="Rectangle 5"/>
          <p:cNvSpPr/>
          <p:nvPr/>
        </p:nvSpPr>
        <p:spPr>
          <a:xfrm>
            <a:off x="7106834" y="4836150"/>
            <a:ext cx="3069125" cy="8349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Server</a:t>
            </a:r>
          </a:p>
        </p:txBody>
      </p:sp>
      <p:sp>
        <p:nvSpPr>
          <p:cNvPr id="7" name="Right Arrow 6"/>
          <p:cNvSpPr/>
          <p:nvPr/>
        </p:nvSpPr>
        <p:spPr>
          <a:xfrm>
            <a:off x="4636747" y="5172638"/>
            <a:ext cx="2353901" cy="31687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5089419" y="4919140"/>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HTTP Request</a:t>
            </a:r>
          </a:p>
        </p:txBody>
      </p:sp>
      <p:sp>
        <p:nvSpPr>
          <p:cNvPr id="10" name="Rectangle 9"/>
          <p:cNvSpPr/>
          <p:nvPr/>
        </p:nvSpPr>
        <p:spPr>
          <a:xfrm>
            <a:off x="7949720" y="5700801"/>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sp>
        <p:nvSpPr>
          <p:cNvPr id="11" name="Right Arrow 10"/>
          <p:cNvSpPr/>
          <p:nvPr/>
        </p:nvSpPr>
        <p:spPr>
          <a:xfrm rot="5400000">
            <a:off x="5424854" y="5675243"/>
            <a:ext cx="702969" cy="30681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ounded Rectangle 11"/>
          <p:cNvSpPr/>
          <p:nvPr/>
        </p:nvSpPr>
        <p:spPr>
          <a:xfrm>
            <a:off x="4516582" y="6234545"/>
            <a:ext cx="2604654" cy="33251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4"/>
                </a:solidFill>
              </a:rPr>
              <a:t>URL, Verb, Header, Body</a:t>
            </a:r>
          </a:p>
        </p:txBody>
      </p:sp>
      <p:sp>
        <p:nvSpPr>
          <p:cNvPr id="13" name="Rectangle 12"/>
          <p:cNvSpPr/>
          <p:nvPr/>
        </p:nvSpPr>
        <p:spPr>
          <a:xfrm>
            <a:off x="2033829" y="5686946"/>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Clients</a:t>
            </a:r>
          </a:p>
        </p:txBody>
      </p:sp>
    </p:spTree>
    <p:extLst>
      <p:ext uri="{BB962C8B-B14F-4D97-AF65-F5344CB8AC3E}">
        <p14:creationId xmlns:p14="http://schemas.microsoft.com/office/powerpoint/2010/main" val="1352973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10" grpId="0"/>
      <p:bldP spid="11" grpId="0" animBg="1"/>
      <p:bldP spid="12" grpId="0" animBg="1"/>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Whatever we get from the webserver to the clients is called HTTP Response. </a:t>
            </a:r>
          </a:p>
          <a:p>
            <a:r>
              <a:rPr lang="en-US" dirty="0"/>
              <a:t>The HTTP response contains the following components.</a:t>
            </a:r>
          </a:p>
        </p:txBody>
      </p:sp>
      <p:sp>
        <p:nvSpPr>
          <p:cNvPr id="3" name="Title 2"/>
          <p:cNvSpPr>
            <a:spLocks noGrp="1"/>
          </p:cNvSpPr>
          <p:nvPr>
            <p:ph type="title"/>
          </p:nvPr>
        </p:nvSpPr>
        <p:spPr/>
        <p:txBody>
          <a:bodyPr>
            <a:normAutofit/>
          </a:bodyPr>
          <a:lstStyle/>
          <a:p>
            <a:r>
              <a:rPr lang="en-US" dirty="0"/>
              <a:t>3. HTTP Response Components</a:t>
            </a:r>
          </a:p>
        </p:txBody>
      </p:sp>
      <p:graphicFrame>
        <p:nvGraphicFramePr>
          <p:cNvPr id="4" name="Table 3"/>
          <p:cNvGraphicFramePr>
            <a:graphicFrameLocks noGrp="1"/>
          </p:cNvGraphicFramePr>
          <p:nvPr/>
        </p:nvGraphicFramePr>
        <p:xfrm>
          <a:off x="480290" y="1791085"/>
          <a:ext cx="11065164" cy="1483360"/>
        </p:xfrm>
        <a:graphic>
          <a:graphicData uri="http://schemas.openxmlformats.org/drawingml/2006/table">
            <a:tbl>
              <a:tblPr firstRow="1" bandRow="1">
                <a:tableStyleId>{5C22544A-7EE6-4342-B048-85BDC9FD1C3A}</a:tableStyleId>
              </a:tblPr>
              <a:tblGrid>
                <a:gridCol w="1939637">
                  <a:extLst>
                    <a:ext uri="{9D8B030D-6E8A-4147-A177-3AD203B41FA5}">
                      <a16:colId xmlns:a16="http://schemas.microsoft.com/office/drawing/2014/main" val="20000"/>
                    </a:ext>
                  </a:extLst>
                </a:gridCol>
                <a:gridCol w="9125527">
                  <a:extLst>
                    <a:ext uri="{9D8B030D-6E8A-4147-A177-3AD203B41FA5}">
                      <a16:colId xmlns:a16="http://schemas.microsoft.com/office/drawing/2014/main" val="20001"/>
                    </a:ext>
                  </a:extLst>
                </a:gridCol>
              </a:tblGrid>
              <a:tr h="370840">
                <a:tc>
                  <a:txBody>
                    <a:bodyPr/>
                    <a:lstStyle/>
                    <a:p>
                      <a:r>
                        <a:rPr lang="en-US" dirty="0"/>
                        <a:t>Component</a:t>
                      </a:r>
                    </a:p>
                  </a:txBody>
                  <a:tcPr/>
                </a:tc>
                <a:tc>
                  <a:txBody>
                    <a:bodyPr/>
                    <a:lstStyle/>
                    <a:p>
                      <a:r>
                        <a:rPr lang="en-US" dirty="0"/>
                        <a:t>Description </a:t>
                      </a:r>
                    </a:p>
                  </a:txBody>
                  <a:tcPr/>
                </a:tc>
                <a:extLst>
                  <a:ext uri="{0D108BD9-81ED-4DB2-BD59-A6C34878D82A}">
                    <a16:rowId xmlns:a16="http://schemas.microsoft.com/office/drawing/2014/main" val="10000"/>
                  </a:ext>
                </a:extLst>
              </a:tr>
              <a:tr h="370840">
                <a:tc>
                  <a:txBody>
                    <a:bodyPr/>
                    <a:lstStyle/>
                    <a:p>
                      <a:r>
                        <a:rPr lang="en-US" sz="1800" b="1" i="0" kern="1200" dirty="0">
                          <a:solidFill>
                            <a:schemeClr val="dk1"/>
                          </a:solidFill>
                          <a:effectLst/>
                          <a:latin typeface="+mn-lt"/>
                          <a:ea typeface="+mn-ea"/>
                          <a:cs typeface="+mn-cs"/>
                        </a:rPr>
                        <a:t>HTTP Status Code</a:t>
                      </a:r>
                      <a:endParaRPr lang="en-US" dirty="0"/>
                    </a:p>
                  </a:txBody>
                  <a:tcPr/>
                </a:tc>
                <a:tc>
                  <a:txBody>
                    <a:bodyPr/>
                    <a:lstStyle/>
                    <a:p>
                      <a:r>
                        <a:rPr lang="en-US" sz="1800" b="0" i="0" kern="1200" dirty="0">
                          <a:solidFill>
                            <a:schemeClr val="dk1"/>
                          </a:solidFill>
                          <a:effectLst/>
                          <a:latin typeface="+mn-lt"/>
                          <a:ea typeface="+mn-ea"/>
                          <a:cs typeface="+mn-cs"/>
                        </a:rPr>
                        <a:t>It must have a Status Code</a:t>
                      </a:r>
                      <a:endParaRPr lang="en-US" dirty="0"/>
                    </a:p>
                  </a:txBody>
                  <a:tcPr/>
                </a:tc>
                <a:extLst>
                  <a:ext uri="{0D108BD9-81ED-4DB2-BD59-A6C34878D82A}">
                    <a16:rowId xmlns:a16="http://schemas.microsoft.com/office/drawing/2014/main" val="10001"/>
                  </a:ext>
                </a:extLst>
              </a:tr>
              <a:tr h="370840">
                <a:tc>
                  <a:txBody>
                    <a:bodyPr/>
                    <a:lstStyle/>
                    <a:p>
                      <a:r>
                        <a:rPr lang="en-US" sz="1800" b="1" i="0" kern="1200" dirty="0">
                          <a:solidFill>
                            <a:schemeClr val="dk1"/>
                          </a:solidFill>
                          <a:effectLst/>
                          <a:latin typeface="+mn-lt"/>
                          <a:ea typeface="+mn-ea"/>
                          <a:cs typeface="+mn-cs"/>
                        </a:rPr>
                        <a:t>Response Headers</a:t>
                      </a:r>
                      <a:endParaRPr lang="en-US" dirty="0"/>
                    </a:p>
                  </a:txBody>
                  <a:tcPr/>
                </a:tc>
                <a:tc>
                  <a:txBody>
                    <a:bodyPr/>
                    <a:lstStyle/>
                    <a:p>
                      <a:r>
                        <a:rPr lang="en-US" sz="1800" b="0" i="0" kern="1200" dirty="0">
                          <a:solidFill>
                            <a:schemeClr val="dk1"/>
                          </a:solidFill>
                          <a:effectLst/>
                          <a:latin typeface="+mn-lt"/>
                          <a:ea typeface="+mn-ea"/>
                          <a:cs typeface="+mn-cs"/>
                        </a:rPr>
                        <a:t>It can have one or more response headers</a:t>
                      </a:r>
                      <a:endParaRPr lang="en-US" dirty="0"/>
                    </a:p>
                  </a:txBody>
                  <a:tcPr/>
                </a:tc>
                <a:extLst>
                  <a:ext uri="{0D108BD9-81ED-4DB2-BD59-A6C34878D82A}">
                    <a16:rowId xmlns:a16="http://schemas.microsoft.com/office/drawing/2014/main" val="10002"/>
                  </a:ext>
                </a:extLst>
              </a:tr>
              <a:tr h="370840">
                <a:tc>
                  <a:txBody>
                    <a:bodyPr/>
                    <a:lstStyle/>
                    <a:p>
                      <a:r>
                        <a:rPr lang="en-US" sz="1800" b="1" i="0" kern="1200" dirty="0">
                          <a:solidFill>
                            <a:schemeClr val="dk1"/>
                          </a:solidFill>
                          <a:effectLst/>
                          <a:latin typeface="+mn-lt"/>
                          <a:ea typeface="+mn-ea"/>
                          <a:cs typeface="+mn-cs"/>
                        </a:rPr>
                        <a:t>Data</a:t>
                      </a:r>
                      <a:endParaRPr lang="en-US" dirty="0"/>
                    </a:p>
                  </a:txBody>
                  <a:tcPr/>
                </a:tc>
                <a:tc>
                  <a:txBody>
                    <a:bodyPr/>
                    <a:lstStyle/>
                    <a:p>
                      <a:r>
                        <a:rPr lang="en-US" sz="1800" b="0" i="0" kern="1200" dirty="0">
                          <a:solidFill>
                            <a:schemeClr val="dk1"/>
                          </a:solidFill>
                          <a:effectLst/>
                          <a:latin typeface="+mn-lt"/>
                          <a:ea typeface="+mn-ea"/>
                          <a:cs typeface="+mn-cs"/>
                        </a:rPr>
                        <a:t>Response can have data i.e. return to the client</a:t>
                      </a:r>
                      <a:endParaRPr lang="en-US" dirty="0"/>
                    </a:p>
                  </a:txBody>
                  <a:tcPr/>
                </a:tc>
                <a:extLst>
                  <a:ext uri="{0D108BD9-81ED-4DB2-BD59-A6C34878D82A}">
                    <a16:rowId xmlns:a16="http://schemas.microsoft.com/office/drawing/2014/main" val="10003"/>
                  </a:ext>
                </a:extLst>
              </a:tr>
            </a:tbl>
          </a:graphicData>
        </a:graphic>
      </p:graphicFrame>
      <p:sp>
        <p:nvSpPr>
          <p:cNvPr id="5" name="Rectangle 4"/>
          <p:cNvSpPr/>
          <p:nvPr/>
        </p:nvSpPr>
        <p:spPr>
          <a:xfrm>
            <a:off x="1442153" y="3489151"/>
            <a:ext cx="3069125" cy="81499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Web Browser, Mobile App, Postman</a:t>
            </a:r>
            <a:r>
              <a:rPr lang="en-US" sz="2000">
                <a:solidFill>
                  <a:schemeClr val="tx2"/>
                </a:solidFill>
              </a:rPr>
              <a:t>, Scalar</a:t>
            </a:r>
            <a:endParaRPr lang="en-US" sz="2000" dirty="0">
              <a:solidFill>
                <a:schemeClr val="tx2"/>
              </a:solidFill>
            </a:endParaRPr>
          </a:p>
        </p:txBody>
      </p:sp>
      <p:sp>
        <p:nvSpPr>
          <p:cNvPr id="6" name="Rectangle 5"/>
          <p:cNvSpPr/>
          <p:nvPr/>
        </p:nvSpPr>
        <p:spPr>
          <a:xfrm>
            <a:off x="7171488" y="3487641"/>
            <a:ext cx="3069125" cy="8349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Server</a:t>
            </a:r>
          </a:p>
        </p:txBody>
      </p:sp>
      <p:sp>
        <p:nvSpPr>
          <p:cNvPr id="7" name="Right Arrow 6"/>
          <p:cNvSpPr/>
          <p:nvPr/>
        </p:nvSpPr>
        <p:spPr>
          <a:xfrm rot="10800000">
            <a:off x="4701401" y="3824129"/>
            <a:ext cx="2353901" cy="31687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5098655" y="3579868"/>
            <a:ext cx="1690072" cy="2255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HTTP Response</a:t>
            </a:r>
          </a:p>
        </p:txBody>
      </p:sp>
      <p:sp>
        <p:nvSpPr>
          <p:cNvPr id="9" name="Rectangle 8"/>
          <p:cNvSpPr/>
          <p:nvPr/>
        </p:nvSpPr>
        <p:spPr>
          <a:xfrm>
            <a:off x="8014374" y="4352292"/>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sp>
        <p:nvSpPr>
          <p:cNvPr id="10" name="Right Arrow 9"/>
          <p:cNvSpPr/>
          <p:nvPr/>
        </p:nvSpPr>
        <p:spPr>
          <a:xfrm rot="5400000">
            <a:off x="5489508" y="4326734"/>
            <a:ext cx="702969" cy="30681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ounded Rectangle 10"/>
          <p:cNvSpPr/>
          <p:nvPr/>
        </p:nvSpPr>
        <p:spPr>
          <a:xfrm>
            <a:off x="3685307" y="4886036"/>
            <a:ext cx="4294909" cy="33250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4"/>
                </a:solidFill>
              </a:rPr>
              <a:t>Http Status Code, Response Header(s), Data</a:t>
            </a:r>
          </a:p>
        </p:txBody>
      </p:sp>
      <p:sp>
        <p:nvSpPr>
          <p:cNvPr id="12" name="Rectangle 11"/>
          <p:cNvSpPr/>
          <p:nvPr/>
        </p:nvSpPr>
        <p:spPr>
          <a:xfrm>
            <a:off x="2098483" y="4338437"/>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Clients</a:t>
            </a:r>
          </a:p>
        </p:txBody>
      </p:sp>
    </p:spTree>
    <p:extLst>
      <p:ext uri="{BB962C8B-B14F-4D97-AF65-F5344CB8AC3E}">
        <p14:creationId xmlns:p14="http://schemas.microsoft.com/office/powerpoint/2010/main" val="64669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animBg="1"/>
      <p:bldP spid="11" grpId="0" animBg="1"/>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31180" y="863444"/>
            <a:ext cx="4621975" cy="5590565"/>
          </a:xfrm>
        </p:spPr>
        <p:txBody>
          <a:bodyPr/>
          <a:lstStyle/>
          <a:p>
            <a:r>
              <a:rPr lang="en-US" dirty="0"/>
              <a:t>HTTP verbs, also known as HTTP methods, are a set of standardized actions that can be performed on resources using the HTTP (Hypertext Transfer Protocol) protocol.</a:t>
            </a:r>
          </a:p>
          <a:p>
            <a:r>
              <a:rPr lang="en-US" dirty="0"/>
              <a:t>Each HTTP request typically includes a verb/method to indicate the desired action to be taken.</a:t>
            </a:r>
          </a:p>
          <a:p>
            <a:r>
              <a:rPr lang="en-US" dirty="0"/>
              <a:t>The primary or most-commonly-used HTTP verbs are </a:t>
            </a:r>
            <a:r>
              <a:rPr lang="en-US" b="1" dirty="0"/>
              <a:t>POST</a:t>
            </a:r>
            <a:r>
              <a:rPr lang="en-US" dirty="0"/>
              <a:t>, </a:t>
            </a:r>
            <a:r>
              <a:rPr lang="en-US" b="1" dirty="0"/>
              <a:t>GET</a:t>
            </a:r>
            <a:r>
              <a:rPr lang="en-US" dirty="0"/>
              <a:t>, </a:t>
            </a:r>
            <a:r>
              <a:rPr lang="en-US" b="1" dirty="0"/>
              <a:t>PUT</a:t>
            </a:r>
            <a:r>
              <a:rPr lang="en-US" dirty="0"/>
              <a:t>, and </a:t>
            </a:r>
            <a:r>
              <a:rPr lang="en-US" b="1" dirty="0"/>
              <a:t>DELETE</a:t>
            </a:r>
            <a:r>
              <a:rPr lang="en-US" dirty="0"/>
              <a:t>. </a:t>
            </a:r>
          </a:p>
          <a:p>
            <a:endParaRPr lang="en-US" dirty="0"/>
          </a:p>
        </p:txBody>
      </p:sp>
      <p:sp>
        <p:nvSpPr>
          <p:cNvPr id="3" name="Title 2"/>
          <p:cNvSpPr>
            <a:spLocks noGrp="1"/>
          </p:cNvSpPr>
          <p:nvPr>
            <p:ph type="title"/>
          </p:nvPr>
        </p:nvSpPr>
        <p:spPr/>
        <p:txBody>
          <a:bodyPr>
            <a:normAutofit/>
          </a:bodyPr>
          <a:lstStyle/>
          <a:p>
            <a:r>
              <a:rPr lang="en-US" dirty="0"/>
              <a:t>4. HTTP Verbs or HTTP Methods</a:t>
            </a:r>
          </a:p>
        </p:txBody>
      </p:sp>
      <p:pic>
        <p:nvPicPr>
          <p:cNvPr id="8" name="Picture 7">
            <a:extLst>
              <a:ext uri="{FF2B5EF4-FFF2-40B4-BE49-F238E27FC236}">
                <a16:creationId xmlns:a16="http://schemas.microsoft.com/office/drawing/2014/main" id="{51EF2FE4-C736-8740-7E07-215EF15497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0372" y="3886895"/>
            <a:ext cx="7080448" cy="2641690"/>
          </a:xfrm>
          <a:prstGeom prst="rect">
            <a:avLst/>
          </a:prstGeom>
          <a:ln>
            <a:solidFill>
              <a:schemeClr val="tx1"/>
            </a:solidFill>
          </a:ln>
        </p:spPr>
      </p:pic>
      <p:pic>
        <p:nvPicPr>
          <p:cNvPr id="10" name="Picture 9">
            <a:extLst>
              <a:ext uri="{FF2B5EF4-FFF2-40B4-BE49-F238E27FC236}">
                <a16:creationId xmlns:a16="http://schemas.microsoft.com/office/drawing/2014/main" id="{AE9FE505-CE80-F7AE-6C14-037FF37B9E14}"/>
              </a:ext>
            </a:extLst>
          </p:cNvPr>
          <p:cNvPicPr>
            <a:picLocks noChangeAspect="1"/>
          </p:cNvPicPr>
          <p:nvPr/>
        </p:nvPicPr>
        <p:blipFill>
          <a:blip r:embed="rId3"/>
          <a:stretch>
            <a:fillRect/>
          </a:stretch>
        </p:blipFill>
        <p:spPr>
          <a:xfrm>
            <a:off x="4980372" y="845688"/>
            <a:ext cx="5192291" cy="3023451"/>
          </a:xfrm>
          <a:prstGeom prst="rect">
            <a:avLst/>
          </a:prstGeom>
          <a:ln>
            <a:solidFill>
              <a:schemeClr val="tx1"/>
            </a:solidFill>
          </a:ln>
        </p:spPr>
      </p:pic>
    </p:spTree>
    <p:extLst>
      <p:ext uri="{BB962C8B-B14F-4D97-AF65-F5344CB8AC3E}">
        <p14:creationId xmlns:p14="http://schemas.microsoft.com/office/powerpoint/2010/main" val="1430575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FFE245-2082-F0FF-DACC-2F6008E25A44}"/>
              </a:ext>
            </a:extLst>
          </p:cNvPr>
          <p:cNvSpPr>
            <a:spLocks noGrp="1"/>
          </p:cNvSpPr>
          <p:nvPr>
            <p:ph type="title"/>
          </p:nvPr>
        </p:nvSpPr>
        <p:spPr/>
        <p:txBody>
          <a:bodyPr/>
          <a:lstStyle/>
          <a:p>
            <a:r>
              <a:rPr lang="en-IN" dirty="0"/>
              <a:t>4. HTTP Verbs or Methods – Real-World Analogies</a:t>
            </a:r>
          </a:p>
        </p:txBody>
      </p:sp>
      <p:graphicFrame>
        <p:nvGraphicFramePr>
          <p:cNvPr id="5" name="Content Placeholder 3">
            <a:extLst>
              <a:ext uri="{FF2B5EF4-FFF2-40B4-BE49-F238E27FC236}">
                <a16:creationId xmlns:a16="http://schemas.microsoft.com/office/drawing/2014/main" id="{B6FBD991-797A-C8D8-C81C-911D29F43B77}"/>
              </a:ext>
            </a:extLst>
          </p:cNvPr>
          <p:cNvGraphicFramePr>
            <a:graphicFrameLocks/>
          </p:cNvGraphicFramePr>
          <p:nvPr>
            <p:extLst>
              <p:ext uri="{D42A27DB-BD31-4B8C-83A1-F6EECF244321}">
                <p14:modId xmlns:p14="http://schemas.microsoft.com/office/powerpoint/2010/main" val="1655373316"/>
              </p:ext>
            </p:extLst>
          </p:nvPr>
        </p:nvGraphicFramePr>
        <p:xfrm>
          <a:off x="86207" y="817401"/>
          <a:ext cx="11784060" cy="2194560"/>
        </p:xfrm>
        <a:graphic>
          <a:graphicData uri="http://schemas.openxmlformats.org/drawingml/2006/table">
            <a:tbl>
              <a:tblPr firstRow="1" bandRow="1">
                <a:tableStyleId>{5C22544A-7EE6-4342-B048-85BDC9FD1C3A}</a:tableStyleId>
              </a:tblPr>
              <a:tblGrid>
                <a:gridCol w="2497195">
                  <a:extLst>
                    <a:ext uri="{9D8B030D-6E8A-4147-A177-3AD203B41FA5}">
                      <a16:colId xmlns:a16="http://schemas.microsoft.com/office/drawing/2014/main" val="4251189214"/>
                    </a:ext>
                  </a:extLst>
                </a:gridCol>
                <a:gridCol w="3130112">
                  <a:extLst>
                    <a:ext uri="{9D8B030D-6E8A-4147-A177-3AD203B41FA5}">
                      <a16:colId xmlns:a16="http://schemas.microsoft.com/office/drawing/2014/main" val="4078970561"/>
                    </a:ext>
                  </a:extLst>
                </a:gridCol>
                <a:gridCol w="3420558">
                  <a:extLst>
                    <a:ext uri="{9D8B030D-6E8A-4147-A177-3AD203B41FA5}">
                      <a16:colId xmlns:a16="http://schemas.microsoft.com/office/drawing/2014/main" val="3172010251"/>
                    </a:ext>
                  </a:extLst>
                </a:gridCol>
                <a:gridCol w="2736195">
                  <a:extLst>
                    <a:ext uri="{9D8B030D-6E8A-4147-A177-3AD203B41FA5}">
                      <a16:colId xmlns:a16="http://schemas.microsoft.com/office/drawing/2014/main" val="894977358"/>
                    </a:ext>
                  </a:extLst>
                </a:gridCol>
              </a:tblGrid>
              <a:tr h="348000">
                <a:tc>
                  <a:txBody>
                    <a:bodyPr/>
                    <a:lstStyle/>
                    <a:p>
                      <a:r>
                        <a:rPr lang="en-IN" b="1"/>
                        <a:t>HTTP Method</a:t>
                      </a:r>
                      <a:endParaRPr lang="en-IN"/>
                    </a:p>
                  </a:txBody>
                  <a:tcPr anchor="ctr"/>
                </a:tc>
                <a:tc>
                  <a:txBody>
                    <a:bodyPr/>
                    <a:lstStyle/>
                    <a:p>
                      <a:r>
                        <a:rPr lang="en-IN" b="1" dirty="0"/>
                        <a:t>Usage</a:t>
                      </a:r>
                      <a:endParaRPr lang="en-IN" dirty="0"/>
                    </a:p>
                  </a:txBody>
                  <a:tcPr anchor="ctr"/>
                </a:tc>
                <a:tc>
                  <a:txBody>
                    <a:bodyPr/>
                    <a:lstStyle/>
                    <a:p>
                      <a:r>
                        <a:rPr lang="en-IN" b="1"/>
                        <a:t>Response</a:t>
                      </a:r>
                      <a:endParaRPr lang="en-IN"/>
                    </a:p>
                  </a:txBody>
                  <a:tcPr anchor="ctr"/>
                </a:tc>
                <a:tc>
                  <a:txBody>
                    <a:bodyPr/>
                    <a:lstStyle/>
                    <a:p>
                      <a:r>
                        <a:rPr lang="en-IN" b="1" dirty="0"/>
                        <a:t>Idempotent</a:t>
                      </a:r>
                      <a:endParaRPr lang="en-IN" dirty="0"/>
                    </a:p>
                  </a:txBody>
                  <a:tcPr anchor="ctr"/>
                </a:tc>
                <a:extLst>
                  <a:ext uri="{0D108BD9-81ED-4DB2-BD59-A6C34878D82A}">
                    <a16:rowId xmlns:a16="http://schemas.microsoft.com/office/drawing/2014/main" val="3740976029"/>
                  </a:ext>
                </a:extLst>
              </a:tr>
              <a:tr h="348000">
                <a:tc>
                  <a:txBody>
                    <a:bodyPr/>
                    <a:lstStyle/>
                    <a:p>
                      <a:r>
                        <a:rPr lang="en-IN" b="1" dirty="0"/>
                        <a:t>GET (Read)</a:t>
                      </a:r>
                      <a:endParaRPr lang="en-IN" dirty="0"/>
                    </a:p>
                  </a:txBody>
                  <a:tcPr anchor="ctr"/>
                </a:tc>
                <a:tc>
                  <a:txBody>
                    <a:bodyPr/>
                    <a:lstStyle/>
                    <a:p>
                      <a:r>
                        <a:rPr lang="en-IN" dirty="0"/>
                        <a:t>Fetch data</a:t>
                      </a:r>
                    </a:p>
                  </a:txBody>
                  <a:tcPr anchor="ctr"/>
                </a:tc>
                <a:tc>
                  <a:txBody>
                    <a:bodyPr/>
                    <a:lstStyle/>
                    <a:p>
                      <a:r>
                        <a:rPr lang="en-IN"/>
                        <a:t>200 OK with data</a:t>
                      </a:r>
                    </a:p>
                  </a:txBody>
                  <a:tcPr anchor="ctr"/>
                </a:tc>
                <a:tc>
                  <a:txBody>
                    <a:bodyPr/>
                    <a:lstStyle/>
                    <a:p>
                      <a:r>
                        <a:rPr lang="en-IN"/>
                        <a:t>✅ Yes</a:t>
                      </a:r>
                    </a:p>
                  </a:txBody>
                  <a:tcPr anchor="ctr"/>
                </a:tc>
                <a:extLst>
                  <a:ext uri="{0D108BD9-81ED-4DB2-BD59-A6C34878D82A}">
                    <a16:rowId xmlns:a16="http://schemas.microsoft.com/office/drawing/2014/main" val="657403722"/>
                  </a:ext>
                </a:extLst>
              </a:tr>
              <a:tr h="348000">
                <a:tc>
                  <a:txBody>
                    <a:bodyPr/>
                    <a:lstStyle/>
                    <a:p>
                      <a:r>
                        <a:rPr lang="en-IN" b="1" dirty="0"/>
                        <a:t>POST (Create)</a:t>
                      </a:r>
                      <a:endParaRPr lang="en-IN" dirty="0"/>
                    </a:p>
                  </a:txBody>
                  <a:tcPr anchor="ctr"/>
                </a:tc>
                <a:tc>
                  <a:txBody>
                    <a:bodyPr/>
                    <a:lstStyle/>
                    <a:p>
                      <a:r>
                        <a:rPr lang="en-IN" dirty="0"/>
                        <a:t>Submit new resource</a:t>
                      </a:r>
                    </a:p>
                  </a:txBody>
                  <a:tcPr anchor="ctr"/>
                </a:tc>
                <a:tc>
                  <a:txBody>
                    <a:bodyPr/>
                    <a:lstStyle/>
                    <a:p>
                      <a:r>
                        <a:rPr lang="en-IN"/>
                        <a:t>201 Created / 200 OK</a:t>
                      </a:r>
                    </a:p>
                  </a:txBody>
                  <a:tcPr anchor="ctr"/>
                </a:tc>
                <a:tc>
                  <a:txBody>
                    <a:bodyPr/>
                    <a:lstStyle/>
                    <a:p>
                      <a:r>
                        <a:rPr lang="en-IN" dirty="0"/>
                        <a:t>❌ No</a:t>
                      </a:r>
                    </a:p>
                  </a:txBody>
                  <a:tcPr anchor="ctr"/>
                </a:tc>
                <a:extLst>
                  <a:ext uri="{0D108BD9-81ED-4DB2-BD59-A6C34878D82A}">
                    <a16:rowId xmlns:a16="http://schemas.microsoft.com/office/drawing/2014/main" val="3456468742"/>
                  </a:ext>
                </a:extLst>
              </a:tr>
              <a:tr h="348000">
                <a:tc>
                  <a:txBody>
                    <a:bodyPr/>
                    <a:lstStyle/>
                    <a:p>
                      <a:r>
                        <a:rPr lang="en-IN" b="1" dirty="0"/>
                        <a:t>PUT (Update)</a:t>
                      </a:r>
                      <a:endParaRPr lang="en-IN" dirty="0"/>
                    </a:p>
                  </a:txBody>
                  <a:tcPr anchor="ctr"/>
                </a:tc>
                <a:tc>
                  <a:txBody>
                    <a:bodyPr/>
                    <a:lstStyle/>
                    <a:p>
                      <a:r>
                        <a:rPr lang="en-IN"/>
                        <a:t>Update full resource</a:t>
                      </a:r>
                    </a:p>
                  </a:txBody>
                  <a:tcPr anchor="ctr"/>
                </a:tc>
                <a:tc>
                  <a:txBody>
                    <a:bodyPr/>
                    <a:lstStyle/>
                    <a:p>
                      <a:r>
                        <a:rPr lang="en-IN"/>
                        <a:t>200 OK / 204 No Content</a:t>
                      </a:r>
                    </a:p>
                  </a:txBody>
                  <a:tcPr anchor="ctr"/>
                </a:tc>
                <a:tc>
                  <a:txBody>
                    <a:bodyPr/>
                    <a:lstStyle/>
                    <a:p>
                      <a:r>
                        <a:rPr lang="en-IN" dirty="0"/>
                        <a:t>✅ Yes</a:t>
                      </a:r>
                    </a:p>
                  </a:txBody>
                  <a:tcPr anchor="ctr"/>
                </a:tc>
                <a:extLst>
                  <a:ext uri="{0D108BD9-81ED-4DB2-BD59-A6C34878D82A}">
                    <a16:rowId xmlns:a16="http://schemas.microsoft.com/office/drawing/2014/main" val="794412173"/>
                  </a:ext>
                </a:extLst>
              </a:tr>
              <a:tr h="348000">
                <a:tc>
                  <a:txBody>
                    <a:bodyPr/>
                    <a:lstStyle/>
                    <a:p>
                      <a:r>
                        <a:rPr lang="en-IN" b="1" dirty="0"/>
                        <a:t>PATCH (Update[Partial])</a:t>
                      </a:r>
                      <a:endParaRPr lang="en-IN" dirty="0"/>
                    </a:p>
                  </a:txBody>
                  <a:tcPr anchor="ctr"/>
                </a:tc>
                <a:tc>
                  <a:txBody>
                    <a:bodyPr/>
                    <a:lstStyle/>
                    <a:p>
                      <a:r>
                        <a:rPr lang="en-US"/>
                        <a:t>Update part of a resource</a:t>
                      </a:r>
                    </a:p>
                  </a:txBody>
                  <a:tcPr anchor="ctr"/>
                </a:tc>
                <a:tc>
                  <a:txBody>
                    <a:bodyPr/>
                    <a:lstStyle/>
                    <a:p>
                      <a:r>
                        <a:rPr lang="en-IN"/>
                        <a:t>200 OK / 204 No Content</a:t>
                      </a:r>
                    </a:p>
                  </a:txBody>
                  <a:tcPr anchor="ctr"/>
                </a:tc>
                <a:tc>
                  <a:txBody>
                    <a:bodyPr/>
                    <a:lstStyle/>
                    <a:p>
                      <a:r>
                        <a:rPr lang="en-IN" dirty="0"/>
                        <a:t>✅ Yes (ideally)</a:t>
                      </a:r>
                    </a:p>
                  </a:txBody>
                  <a:tcPr anchor="ctr"/>
                </a:tc>
                <a:extLst>
                  <a:ext uri="{0D108BD9-81ED-4DB2-BD59-A6C34878D82A}">
                    <a16:rowId xmlns:a16="http://schemas.microsoft.com/office/drawing/2014/main" val="262595674"/>
                  </a:ext>
                </a:extLst>
              </a:tr>
              <a:tr h="348000">
                <a:tc>
                  <a:txBody>
                    <a:bodyPr/>
                    <a:lstStyle/>
                    <a:p>
                      <a:r>
                        <a:rPr lang="en-IN" b="1" dirty="0"/>
                        <a:t>DELETE (Delete)</a:t>
                      </a:r>
                      <a:endParaRPr lang="en-IN" dirty="0"/>
                    </a:p>
                  </a:txBody>
                  <a:tcPr anchor="ctr"/>
                </a:tc>
                <a:tc>
                  <a:txBody>
                    <a:bodyPr/>
                    <a:lstStyle/>
                    <a:p>
                      <a:r>
                        <a:rPr lang="en-IN" dirty="0"/>
                        <a:t>Remove resource</a:t>
                      </a:r>
                    </a:p>
                  </a:txBody>
                  <a:tcPr anchor="ctr"/>
                </a:tc>
                <a:tc>
                  <a:txBody>
                    <a:bodyPr/>
                    <a:lstStyle/>
                    <a:p>
                      <a:r>
                        <a:rPr lang="en-IN" dirty="0"/>
                        <a:t>204 No Content</a:t>
                      </a:r>
                    </a:p>
                  </a:txBody>
                  <a:tcPr anchor="ctr"/>
                </a:tc>
                <a:tc>
                  <a:txBody>
                    <a:bodyPr/>
                    <a:lstStyle/>
                    <a:p>
                      <a:r>
                        <a:rPr lang="en-IN" dirty="0"/>
                        <a:t>✅ Yes</a:t>
                      </a:r>
                    </a:p>
                  </a:txBody>
                  <a:tcPr anchor="ctr"/>
                </a:tc>
                <a:extLst>
                  <a:ext uri="{0D108BD9-81ED-4DB2-BD59-A6C34878D82A}">
                    <a16:rowId xmlns:a16="http://schemas.microsoft.com/office/drawing/2014/main" val="2621648671"/>
                  </a:ext>
                </a:extLst>
              </a:tr>
            </a:tbl>
          </a:graphicData>
        </a:graphic>
      </p:graphicFrame>
      <p:sp>
        <p:nvSpPr>
          <p:cNvPr id="6" name="TextBox 5">
            <a:extLst>
              <a:ext uri="{FF2B5EF4-FFF2-40B4-BE49-F238E27FC236}">
                <a16:creationId xmlns:a16="http://schemas.microsoft.com/office/drawing/2014/main" id="{DF3B4DB9-F786-B868-2CC8-2BAA0CCA226D}"/>
              </a:ext>
            </a:extLst>
          </p:cNvPr>
          <p:cNvSpPr txBox="1"/>
          <p:nvPr/>
        </p:nvSpPr>
        <p:spPr>
          <a:xfrm>
            <a:off x="10532534" y="147919"/>
            <a:ext cx="1337733" cy="442674"/>
          </a:xfrm>
          <a:prstGeom prst="roundRect">
            <a:avLst/>
          </a:prstGeom>
          <a:solidFill>
            <a:schemeClr val="accent1">
              <a:lumMod val="20000"/>
              <a:lumOff val="80000"/>
            </a:schemeClr>
          </a:solidFill>
        </p:spPr>
        <p:txBody>
          <a:bodyPr wrap="square" rtlCol="0">
            <a:spAutoFit/>
          </a:bodyPr>
          <a:lstStyle/>
          <a:p>
            <a:r>
              <a:rPr lang="en-US" sz="2000" b="1" dirty="0">
                <a:solidFill>
                  <a:schemeClr val="accent6"/>
                </a:solidFill>
              </a:rPr>
              <a:t>Remember</a:t>
            </a:r>
            <a:endParaRPr lang="en-IN" sz="2000" b="1" dirty="0">
              <a:solidFill>
                <a:schemeClr val="accent6"/>
              </a:solidFill>
            </a:endParaRPr>
          </a:p>
        </p:txBody>
      </p:sp>
    </p:spTree>
    <p:extLst>
      <p:ext uri="{BB962C8B-B14F-4D97-AF65-F5344CB8AC3E}">
        <p14:creationId xmlns:p14="http://schemas.microsoft.com/office/powerpoint/2010/main" val="879204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717183798"/>
              </p:ext>
            </p:extLst>
          </p:nvPr>
        </p:nvGraphicFramePr>
        <p:xfrm>
          <a:off x="131763" y="863600"/>
          <a:ext cx="11928476" cy="4668520"/>
        </p:xfrm>
        <a:graphic>
          <a:graphicData uri="http://schemas.openxmlformats.org/drawingml/2006/table">
            <a:tbl>
              <a:tblPr firstRow="1" bandRow="1">
                <a:tableStyleId>{5C22544A-7EE6-4342-B048-85BDC9FD1C3A}</a:tableStyleId>
              </a:tblPr>
              <a:tblGrid>
                <a:gridCol w="1697037">
                  <a:extLst>
                    <a:ext uri="{9D8B030D-6E8A-4147-A177-3AD203B41FA5}">
                      <a16:colId xmlns:a16="http://schemas.microsoft.com/office/drawing/2014/main" val="20000"/>
                    </a:ext>
                  </a:extLst>
                </a:gridCol>
                <a:gridCol w="10231439">
                  <a:extLst>
                    <a:ext uri="{9D8B030D-6E8A-4147-A177-3AD203B41FA5}">
                      <a16:colId xmlns:a16="http://schemas.microsoft.com/office/drawing/2014/main" val="20001"/>
                    </a:ext>
                  </a:extLst>
                </a:gridCol>
              </a:tblGrid>
              <a:tr h="370840">
                <a:tc>
                  <a:txBody>
                    <a:bodyPr/>
                    <a:lstStyle/>
                    <a:p>
                      <a:pPr algn="ctr"/>
                      <a:r>
                        <a:rPr lang="en-US" dirty="0"/>
                        <a:t>Method</a:t>
                      </a:r>
                    </a:p>
                  </a:txBody>
                  <a:tcPr/>
                </a:tc>
                <a:tc>
                  <a:txBody>
                    <a:bodyPr/>
                    <a:lstStyle/>
                    <a:p>
                      <a:r>
                        <a:rPr lang="en-US" dirty="0"/>
                        <a:t>Description</a:t>
                      </a:r>
                    </a:p>
                  </a:txBody>
                  <a:tcPr/>
                </a:tc>
                <a:extLst>
                  <a:ext uri="{0D108BD9-81ED-4DB2-BD59-A6C34878D82A}">
                    <a16:rowId xmlns:a16="http://schemas.microsoft.com/office/drawing/2014/main" val="10000"/>
                  </a:ext>
                </a:extLst>
              </a:tr>
              <a:tr h="370840">
                <a:tc>
                  <a:txBody>
                    <a:bodyPr/>
                    <a:lstStyle/>
                    <a:p>
                      <a:pPr algn="ctr"/>
                      <a:r>
                        <a:rPr lang="en-US" b="1" dirty="0"/>
                        <a:t>PUT</a:t>
                      </a:r>
                    </a:p>
                  </a:txBody>
                  <a:tcPr anchor="ctr"/>
                </a:tc>
                <a:tc>
                  <a:txBody>
                    <a:bodyPr/>
                    <a:lstStyle/>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The PUT method is used to update all the properties of the current resource in the database.</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If we want to update all properties of a particular product (i.e. current resource) then we need to use PUT HTTP Request.</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So, whenever you want to update all the properties (column) of a resource (existing record in the database)</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It is idempotent.</a:t>
                      </a:r>
                      <a:endParaRPr lang="en-US" sz="1800" dirty="0"/>
                    </a:p>
                  </a:txBody>
                  <a:tcPr/>
                </a:tc>
                <a:extLst>
                  <a:ext uri="{0D108BD9-81ED-4DB2-BD59-A6C34878D82A}">
                    <a16:rowId xmlns:a16="http://schemas.microsoft.com/office/drawing/2014/main" val="10002"/>
                  </a:ext>
                </a:extLst>
              </a:tr>
              <a:tr h="370840">
                <a:tc>
                  <a:txBody>
                    <a:bodyPr/>
                    <a:lstStyle/>
                    <a:p>
                      <a:pPr algn="ctr"/>
                      <a:r>
                        <a:rPr lang="en-US" sz="1800" b="1" i="0" kern="1200" dirty="0">
                          <a:solidFill>
                            <a:schemeClr val="dk1"/>
                          </a:solidFill>
                          <a:effectLst/>
                          <a:latin typeface="+mn-lt"/>
                          <a:ea typeface="+mn-ea"/>
                          <a:cs typeface="+mn-cs"/>
                        </a:rPr>
                        <a:t>PATCH</a:t>
                      </a:r>
                      <a:endParaRPr lang="en-US" dirty="0"/>
                    </a:p>
                  </a:txBody>
                  <a:tcPr anchor="ctr"/>
                </a:tc>
                <a:tc>
                  <a:txBody>
                    <a:bodyPr/>
                    <a:lstStyle/>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There are some situations where you don’t want to update all the properties of an existing resource instead you want to update a few of the properties, then you need to use the PATCH method.</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So, the PATCH method is similar to the PUT method, but it is used to update a few properties of the current resource in the database.</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For example, if you want to update a few properties (columns) of an existing product then you need to use the PATCH method. </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That means if your Product table contains 10 columns, and you want to update only four columns of an existing product, then you need to use the PATCH method.</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So, it applies partial modifications to a resource. It is used to update only specific parts of a resource, rather than replacing the entire resource.</a:t>
                      </a:r>
                      <a:endParaRPr lang="en-US" sz="1800" dirty="0"/>
                    </a:p>
                  </a:txBody>
                  <a:tcPr/>
                </a:tc>
                <a:extLst>
                  <a:ext uri="{0D108BD9-81ED-4DB2-BD59-A6C34878D82A}">
                    <a16:rowId xmlns:a16="http://schemas.microsoft.com/office/drawing/2014/main" val="985029143"/>
                  </a:ext>
                </a:extLst>
              </a:tr>
            </a:tbl>
          </a:graphicData>
        </a:graphic>
      </p:graphicFrame>
      <p:sp>
        <p:nvSpPr>
          <p:cNvPr id="3" name="Title 2"/>
          <p:cNvSpPr>
            <a:spLocks noGrp="1"/>
          </p:cNvSpPr>
          <p:nvPr>
            <p:ph type="title"/>
          </p:nvPr>
        </p:nvSpPr>
        <p:spPr/>
        <p:txBody>
          <a:bodyPr/>
          <a:lstStyle/>
          <a:p>
            <a:r>
              <a:rPr lang="en-US" dirty="0"/>
              <a:t>4. HTTP Verbs or HTTP Methods (PUT v/s PATCH)</a:t>
            </a:r>
          </a:p>
        </p:txBody>
      </p:sp>
    </p:spTree>
    <p:extLst>
      <p:ext uri="{BB962C8B-B14F-4D97-AF65-F5344CB8AC3E}">
        <p14:creationId xmlns:p14="http://schemas.microsoft.com/office/powerpoint/2010/main" val="3010756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3A7896-DA25-FB37-0A5D-A31807537B46}"/>
              </a:ext>
            </a:extLst>
          </p:cNvPr>
          <p:cNvSpPr>
            <a:spLocks noGrp="1"/>
          </p:cNvSpPr>
          <p:nvPr>
            <p:ph type="title"/>
          </p:nvPr>
        </p:nvSpPr>
        <p:spPr/>
        <p:txBody>
          <a:bodyPr/>
          <a:lstStyle/>
          <a:p>
            <a:r>
              <a:rPr lang="en-US" dirty="0"/>
              <a:t>5. HTTP Status Codes</a:t>
            </a:r>
            <a:endParaRPr lang="en-IN" dirty="0"/>
          </a:p>
        </p:txBody>
      </p:sp>
      <p:pic>
        <p:nvPicPr>
          <p:cNvPr id="7" name="Picture 6">
            <a:extLst>
              <a:ext uri="{FF2B5EF4-FFF2-40B4-BE49-F238E27FC236}">
                <a16:creationId xmlns:a16="http://schemas.microsoft.com/office/drawing/2014/main" id="{AEC523D1-C513-9A5B-119A-82A4118BE7B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1713390" y="965702"/>
            <a:ext cx="7981026" cy="5320684"/>
          </a:xfrm>
          <a:prstGeom prst="rect">
            <a:avLst/>
          </a:prstGeom>
        </p:spPr>
      </p:pic>
    </p:spTree>
    <p:extLst>
      <p:ext uri="{BB962C8B-B14F-4D97-AF65-F5344CB8AC3E}">
        <p14:creationId xmlns:p14="http://schemas.microsoft.com/office/powerpoint/2010/main" val="528397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fr-FR" b="1" dirty="0"/>
              <a:t>1XX</a:t>
            </a:r>
            <a:r>
              <a:rPr lang="fr-FR" dirty="0"/>
              <a:t>: </a:t>
            </a:r>
            <a:r>
              <a:rPr lang="fr-FR" b="1" dirty="0">
                <a:solidFill>
                  <a:schemeClr val="tx2"/>
                </a:solidFill>
              </a:rPr>
              <a:t>Informational Response </a:t>
            </a:r>
            <a:r>
              <a:rPr lang="fr-FR" b="1" dirty="0"/>
              <a:t>(</a:t>
            </a:r>
            <a:r>
              <a:rPr lang="fr-FR" sz="2000" i="1" dirty="0"/>
              <a:t>Example: 100, 101, 102, etc.</a:t>
            </a:r>
            <a:r>
              <a:rPr lang="fr-FR" b="1" dirty="0"/>
              <a:t>)</a:t>
            </a:r>
            <a:endParaRPr lang="fr-FR" dirty="0"/>
          </a:p>
          <a:p>
            <a:pPr lvl="1"/>
            <a:r>
              <a:rPr lang="en-US" dirty="0"/>
              <a:t>Status codes in the 1xx range </a:t>
            </a:r>
            <a:r>
              <a:rPr lang="en-US" b="1" dirty="0"/>
              <a:t>indicate that the server has received the client’s request</a:t>
            </a:r>
            <a:r>
              <a:rPr lang="en-US" dirty="0"/>
              <a:t> and is continuing the process.</a:t>
            </a:r>
          </a:p>
          <a:p>
            <a:pPr lvl="1"/>
            <a:r>
              <a:rPr lang="en-US" dirty="0"/>
              <a:t>These codes are primarily used for informational purposes and do not typically require any action from the client.</a:t>
            </a:r>
          </a:p>
          <a:p>
            <a:r>
              <a:rPr lang="en-US" b="1" dirty="0"/>
              <a:t>2XX</a:t>
            </a:r>
            <a:r>
              <a:rPr lang="en-US" dirty="0"/>
              <a:t>: </a:t>
            </a:r>
            <a:r>
              <a:rPr lang="en-US" b="1" dirty="0">
                <a:solidFill>
                  <a:schemeClr val="accent4"/>
                </a:solidFill>
              </a:rPr>
              <a:t>Successful Response </a:t>
            </a:r>
            <a:r>
              <a:rPr lang="en-US" b="1" dirty="0"/>
              <a:t>(</a:t>
            </a:r>
            <a:r>
              <a:rPr lang="en-US" sz="2000" i="1" dirty="0"/>
              <a:t>Example. 200, 201, 203, 204, etc.</a:t>
            </a:r>
            <a:r>
              <a:rPr lang="en-US" b="1" dirty="0"/>
              <a:t>)</a:t>
            </a:r>
          </a:p>
          <a:p>
            <a:pPr lvl="1"/>
            <a:r>
              <a:rPr lang="en-US" dirty="0"/>
              <a:t>Whenever you get 2XX as the response code, </a:t>
            </a:r>
            <a:r>
              <a:rPr lang="en-US" b="1" dirty="0"/>
              <a:t>it means the request is successful</a:t>
            </a:r>
            <a:r>
              <a:rPr lang="en-US" dirty="0"/>
              <a:t>. </a:t>
            </a:r>
          </a:p>
          <a:p>
            <a:pPr lvl="1"/>
            <a:r>
              <a:rPr lang="en-US" dirty="0"/>
              <a:t>Status codes in the 2xx range indicate that the client’s request was successfully received, understood, and accepted by the server. </a:t>
            </a:r>
          </a:p>
          <a:p>
            <a:pPr lvl="1"/>
            <a:r>
              <a:rPr lang="en-US" dirty="0"/>
              <a:t>These codes typically indicate that the requested action was successfully completed.</a:t>
            </a:r>
          </a:p>
          <a:p>
            <a:r>
              <a:rPr lang="fr-FR" b="1" dirty="0"/>
              <a:t>3XX</a:t>
            </a:r>
            <a:r>
              <a:rPr lang="fr-FR" dirty="0"/>
              <a:t>: </a:t>
            </a:r>
            <a:r>
              <a:rPr lang="fr-FR" b="1" dirty="0">
                <a:solidFill>
                  <a:schemeClr val="accent5"/>
                </a:solidFill>
              </a:rPr>
              <a:t>Redirection Response </a:t>
            </a:r>
            <a:r>
              <a:rPr lang="fr-FR" b="1" dirty="0"/>
              <a:t>(</a:t>
            </a:r>
            <a:r>
              <a:rPr lang="fr-FR" sz="2000" i="1" dirty="0"/>
              <a:t>Example. 301, 302, 304, etc.</a:t>
            </a:r>
            <a:r>
              <a:rPr lang="fr-FR" b="1" dirty="0"/>
              <a:t>)</a:t>
            </a:r>
          </a:p>
          <a:p>
            <a:pPr lvl="1"/>
            <a:r>
              <a:rPr lang="en-US" dirty="0"/>
              <a:t>Whenever you get 3XX as the response code, </a:t>
            </a:r>
            <a:r>
              <a:rPr lang="en-US" b="1" dirty="0"/>
              <a:t>it means it is re-directional </a:t>
            </a:r>
            <a:r>
              <a:rPr lang="en-US" dirty="0"/>
              <a:t>i.e. some re-directional is happening on the server.</a:t>
            </a:r>
          </a:p>
          <a:p>
            <a:pPr lvl="1"/>
            <a:r>
              <a:rPr lang="en-US" dirty="0"/>
              <a:t>Status codes in the 3xx range indicate that further action is needed by the client to complete the request.</a:t>
            </a:r>
          </a:p>
          <a:p>
            <a:pPr lvl="1"/>
            <a:r>
              <a:rPr lang="en-US" dirty="0"/>
              <a:t>These codes are used when a resource has been moved or is temporarily unavailable, and the client needs to take additional steps to access the resource.	</a:t>
            </a:r>
            <a:endParaRPr lang="fr-FR" dirty="0"/>
          </a:p>
        </p:txBody>
      </p:sp>
      <p:sp>
        <p:nvSpPr>
          <p:cNvPr id="3" name="Title 2"/>
          <p:cNvSpPr>
            <a:spLocks noGrp="1"/>
          </p:cNvSpPr>
          <p:nvPr>
            <p:ph type="title"/>
          </p:nvPr>
        </p:nvSpPr>
        <p:spPr/>
        <p:txBody>
          <a:bodyPr/>
          <a:lstStyle/>
          <a:p>
            <a:r>
              <a:rPr lang="en-US" dirty="0"/>
              <a:t>5. HTTP Status Codes Cont..</a:t>
            </a:r>
          </a:p>
        </p:txBody>
      </p:sp>
    </p:spTree>
    <p:extLst>
      <p:ext uri="{BB962C8B-B14F-4D97-AF65-F5344CB8AC3E}">
        <p14:creationId xmlns:p14="http://schemas.microsoft.com/office/powerpoint/2010/main" val="1895787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b="1" dirty="0"/>
              <a:t>4XX</a:t>
            </a:r>
            <a:r>
              <a:rPr lang="en-US" dirty="0"/>
              <a:t>: </a:t>
            </a:r>
            <a:r>
              <a:rPr lang="en-US" b="1" dirty="0">
                <a:solidFill>
                  <a:schemeClr val="accent6"/>
                </a:solidFill>
              </a:rPr>
              <a:t>Client Error Response </a:t>
            </a:r>
            <a:r>
              <a:rPr lang="en-US" b="1" dirty="0"/>
              <a:t>(</a:t>
            </a:r>
            <a:r>
              <a:rPr lang="en-US" sz="2000" i="1" dirty="0"/>
              <a:t>Example: 400, 401, 404, 405, etc.</a:t>
            </a:r>
            <a:r>
              <a:rPr lang="en-US" b="1" dirty="0"/>
              <a:t>)</a:t>
            </a:r>
            <a:endParaRPr lang="en-US" dirty="0"/>
          </a:p>
          <a:p>
            <a:pPr lvl="1" fontAlgn="base"/>
            <a:r>
              <a:rPr lang="en-US" dirty="0"/>
              <a:t>Whenever you get 4XX as the response code, </a:t>
            </a:r>
            <a:r>
              <a:rPr lang="en-US" b="1" dirty="0"/>
              <a:t>it means there is some problem with your request</a:t>
            </a:r>
            <a:r>
              <a:rPr lang="en-US" dirty="0"/>
              <a:t>.</a:t>
            </a:r>
          </a:p>
          <a:p>
            <a:pPr lvl="1" fontAlgn="base"/>
            <a:r>
              <a:rPr lang="en-US" dirty="0"/>
              <a:t>Status codes in the 4xx range indicate that the client’s request was not successful due to an error on the client’s side.</a:t>
            </a:r>
          </a:p>
          <a:p>
            <a:pPr lvl="1" fontAlgn="base"/>
            <a:r>
              <a:rPr lang="en-US" dirty="0"/>
              <a:t>These codes are often associated with issues such as </a:t>
            </a:r>
            <a:r>
              <a:rPr lang="en-US" b="1" dirty="0"/>
              <a:t>invalid requests, unauthorized access, or missing resources</a:t>
            </a:r>
            <a:r>
              <a:rPr lang="en-US" dirty="0"/>
              <a:t>.</a:t>
            </a:r>
          </a:p>
          <a:p>
            <a:pPr fontAlgn="base"/>
            <a:r>
              <a:rPr lang="en-US" b="1" dirty="0"/>
              <a:t>5XX</a:t>
            </a:r>
            <a:r>
              <a:rPr lang="en-US" dirty="0"/>
              <a:t>: </a:t>
            </a:r>
            <a:r>
              <a:rPr lang="en-US" b="1" dirty="0">
                <a:solidFill>
                  <a:srgbClr val="F54337"/>
                </a:solidFill>
              </a:rPr>
              <a:t>Server Error Response </a:t>
            </a:r>
            <a:r>
              <a:rPr lang="en-US" b="1" dirty="0"/>
              <a:t>(</a:t>
            </a:r>
            <a:r>
              <a:rPr lang="en-US" sz="2000" i="1" dirty="0"/>
              <a:t>Example: 500, 502, 503, 504, etc.</a:t>
            </a:r>
            <a:r>
              <a:rPr lang="en-US" b="1" dirty="0"/>
              <a:t>)</a:t>
            </a:r>
            <a:endParaRPr lang="en-US" dirty="0"/>
          </a:p>
          <a:p>
            <a:pPr lvl="1" fontAlgn="base"/>
            <a:r>
              <a:rPr lang="en-US" dirty="0"/>
              <a:t>Whenever you get 5XX as the response code, it means there is some problem in the server.</a:t>
            </a:r>
          </a:p>
          <a:p>
            <a:pPr lvl="1" fontAlgn="base"/>
            <a:r>
              <a:rPr lang="en-US" dirty="0"/>
              <a:t>Status codes in the 5xx range indicate that the server encountered an error while processing the client’s request.</a:t>
            </a:r>
          </a:p>
          <a:p>
            <a:pPr lvl="1" fontAlgn="base"/>
            <a:r>
              <a:rPr lang="en-US" dirty="0"/>
              <a:t>These codes are typically associated with issues on the server side, indicating that the requested action could not be completed due to server-related problems.</a:t>
            </a:r>
          </a:p>
        </p:txBody>
      </p:sp>
      <p:sp>
        <p:nvSpPr>
          <p:cNvPr id="3" name="Title 2"/>
          <p:cNvSpPr>
            <a:spLocks noGrp="1"/>
          </p:cNvSpPr>
          <p:nvPr>
            <p:ph type="title"/>
          </p:nvPr>
        </p:nvSpPr>
        <p:spPr/>
        <p:txBody>
          <a:bodyPr/>
          <a:lstStyle/>
          <a:p>
            <a:r>
              <a:rPr lang="en-US" dirty="0"/>
              <a:t>5. HTTP Status Codes Cont..</a:t>
            </a:r>
          </a:p>
        </p:txBody>
      </p:sp>
    </p:spTree>
    <p:extLst>
      <p:ext uri="{BB962C8B-B14F-4D97-AF65-F5344CB8AC3E}">
        <p14:creationId xmlns:p14="http://schemas.microsoft.com/office/powerpoint/2010/main" val="717447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Problems Without Web APIs</a:t>
            </a:r>
          </a:p>
        </p:txBody>
      </p:sp>
      <p:sp>
        <p:nvSpPr>
          <p:cNvPr id="5" name="Text Placeholder 4"/>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1275177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37250794"/>
              </p:ext>
            </p:extLst>
          </p:nvPr>
        </p:nvGraphicFramePr>
        <p:xfrm>
          <a:off x="84137" y="863600"/>
          <a:ext cx="4325938" cy="2621280"/>
        </p:xfrm>
        <a:graphic>
          <a:graphicData uri="http://schemas.openxmlformats.org/drawingml/2006/table">
            <a:tbl>
              <a:tblPr firstRow="1" bandRow="1">
                <a:tableStyleId>{5C22544A-7EE6-4342-B048-85BDC9FD1C3A}</a:tableStyleId>
              </a:tblPr>
              <a:tblGrid>
                <a:gridCol w="4325938">
                  <a:extLst>
                    <a:ext uri="{9D8B030D-6E8A-4147-A177-3AD203B41FA5}">
                      <a16:colId xmlns:a16="http://schemas.microsoft.com/office/drawing/2014/main" val="20000"/>
                    </a:ext>
                  </a:extLst>
                </a:gridCol>
              </a:tblGrid>
              <a:tr h="370840">
                <a:tc>
                  <a:txBody>
                    <a:bodyPr/>
                    <a:lstStyle/>
                    <a:p>
                      <a:r>
                        <a:rPr lang="en-US" sz="2000" b="1" i="0" kern="1200" dirty="0">
                          <a:solidFill>
                            <a:schemeClr val="lt1"/>
                          </a:solidFill>
                          <a:effectLst/>
                          <a:latin typeface="+mn-lt"/>
                          <a:ea typeface="+mn-ea"/>
                          <a:cs typeface="+mn-cs"/>
                        </a:rPr>
                        <a:t>1. Duplicate logic for each Application</a:t>
                      </a:r>
                      <a:endParaRPr lang="en-US" sz="2000" dirty="0"/>
                    </a:p>
                  </a:txBody>
                  <a:tcPr/>
                </a:tc>
                <a:extLst>
                  <a:ext uri="{0D108BD9-81ED-4DB2-BD59-A6C34878D82A}">
                    <a16:rowId xmlns:a16="http://schemas.microsoft.com/office/drawing/2014/main" val="10000"/>
                  </a:ext>
                </a:extLst>
              </a:tr>
              <a:tr h="370840">
                <a:tc>
                  <a:txBody>
                    <a:bodyPr/>
                    <a:lstStyle/>
                    <a:p>
                      <a:pPr marL="285750" indent="-285750" algn="just">
                        <a:buFont typeface="Wingdings" panose="05000000000000000000" pitchFamily="2" charset="2"/>
                        <a:buChar char="Ø"/>
                      </a:pPr>
                      <a:r>
                        <a:rPr lang="en-US" sz="2000" b="0" i="0" kern="1200" dirty="0">
                          <a:solidFill>
                            <a:schemeClr val="dk1"/>
                          </a:solidFill>
                          <a:effectLst/>
                          <a:latin typeface="+mn-lt"/>
                          <a:ea typeface="+mn-ea"/>
                          <a:cs typeface="+mn-cs"/>
                        </a:rPr>
                        <a:t>The business should have some business logic. </a:t>
                      </a:r>
                    </a:p>
                    <a:p>
                      <a:pPr marL="285750" indent="-285750" algn="just">
                        <a:buFont typeface="Wingdings" panose="05000000000000000000" pitchFamily="2" charset="2"/>
                        <a:buChar char="Ø"/>
                      </a:pPr>
                      <a:r>
                        <a:rPr lang="en-US" sz="2000" b="0" i="0" kern="1200" dirty="0">
                          <a:solidFill>
                            <a:schemeClr val="dk1"/>
                          </a:solidFill>
                          <a:effectLst/>
                          <a:latin typeface="+mn-lt"/>
                          <a:ea typeface="+mn-ea"/>
                          <a:cs typeface="+mn-cs"/>
                        </a:rPr>
                        <a:t>We will write the same logic for each application type, which means repeating the same logic for each type of application. </a:t>
                      </a:r>
                    </a:p>
                    <a:p>
                      <a:pPr marL="285750" indent="-285750" algn="just">
                        <a:buFont typeface="Wingdings" panose="05000000000000000000" pitchFamily="2" charset="2"/>
                        <a:buChar char="Ø"/>
                      </a:pPr>
                      <a:r>
                        <a:rPr lang="en-US" sz="2000" b="0" i="0" kern="1200" dirty="0">
                          <a:solidFill>
                            <a:schemeClr val="dk1"/>
                          </a:solidFill>
                          <a:effectLst/>
                          <a:latin typeface="+mn-lt"/>
                          <a:ea typeface="+mn-ea"/>
                          <a:cs typeface="+mn-cs"/>
                        </a:rPr>
                        <a:t>This will duplicate our code.</a:t>
                      </a:r>
                      <a:endParaRPr lang="en-US" sz="2000" dirty="0"/>
                    </a:p>
                  </a:txBody>
                  <a:tcPr/>
                </a:tc>
                <a:extLst>
                  <a:ext uri="{0D108BD9-81ED-4DB2-BD59-A6C34878D82A}">
                    <a16:rowId xmlns:a16="http://schemas.microsoft.com/office/drawing/2014/main" val="10001"/>
                  </a:ext>
                </a:extLst>
              </a:tr>
            </a:tbl>
          </a:graphicData>
        </a:graphic>
      </p:graphicFrame>
      <p:sp>
        <p:nvSpPr>
          <p:cNvPr id="3" name="Title 2"/>
          <p:cNvSpPr>
            <a:spLocks noGrp="1"/>
          </p:cNvSpPr>
          <p:nvPr>
            <p:ph type="title"/>
          </p:nvPr>
        </p:nvSpPr>
        <p:spPr>
          <a:xfrm>
            <a:off x="0" y="0"/>
            <a:ext cx="12192000" cy="711200"/>
          </a:xfrm>
        </p:spPr>
        <p:txBody>
          <a:bodyPr/>
          <a:lstStyle/>
          <a:p>
            <a:r>
              <a:rPr lang="en-US" dirty="0"/>
              <a:t>Problems Without Web APIs</a:t>
            </a:r>
          </a:p>
        </p:txBody>
      </p:sp>
      <p:graphicFrame>
        <p:nvGraphicFramePr>
          <p:cNvPr id="6" name="Content Placeholder 3"/>
          <p:cNvGraphicFramePr>
            <a:graphicFrameLocks/>
          </p:cNvGraphicFramePr>
          <p:nvPr>
            <p:extLst>
              <p:ext uri="{D42A27DB-BD31-4B8C-83A1-F6EECF244321}">
                <p14:modId xmlns:p14="http://schemas.microsoft.com/office/powerpoint/2010/main" val="3147537203"/>
              </p:ext>
            </p:extLst>
          </p:nvPr>
        </p:nvGraphicFramePr>
        <p:xfrm>
          <a:off x="74613" y="3549650"/>
          <a:ext cx="4325938" cy="2926080"/>
        </p:xfrm>
        <a:graphic>
          <a:graphicData uri="http://schemas.openxmlformats.org/drawingml/2006/table">
            <a:tbl>
              <a:tblPr firstRow="1" bandRow="1">
                <a:tableStyleId>{93296810-A885-4BE3-A3E7-6D5BEEA58F35}</a:tableStyleId>
              </a:tblPr>
              <a:tblGrid>
                <a:gridCol w="4325938">
                  <a:extLst>
                    <a:ext uri="{9D8B030D-6E8A-4147-A177-3AD203B41FA5}">
                      <a16:colId xmlns:a16="http://schemas.microsoft.com/office/drawing/2014/main" val="20000"/>
                    </a:ext>
                  </a:extLst>
                </a:gridCol>
              </a:tblGrid>
              <a:tr h="370840">
                <a:tc>
                  <a:txBody>
                    <a:bodyPr/>
                    <a:lstStyle/>
                    <a:p>
                      <a:r>
                        <a:rPr lang="en-US" sz="2000" kern="1200" dirty="0">
                          <a:effectLst/>
                        </a:rPr>
                        <a:t>2. Error-Prone Code</a:t>
                      </a:r>
                      <a:endParaRPr lang="en-US" sz="2000" dirty="0"/>
                    </a:p>
                  </a:txBody>
                  <a:tcPr/>
                </a:tc>
                <a:extLst>
                  <a:ext uri="{0D108BD9-81ED-4DB2-BD59-A6C34878D82A}">
                    <a16:rowId xmlns:a16="http://schemas.microsoft.com/office/drawing/2014/main" val="10000"/>
                  </a:ext>
                </a:extLst>
              </a:tr>
              <a:tr h="370840">
                <a:tc>
                  <a:txBody>
                    <a:bodyPr/>
                    <a:lstStyle/>
                    <a:p>
                      <a:pPr marL="285750" indent="-285750" algn="just">
                        <a:buFont typeface="Wingdings" panose="05000000000000000000" pitchFamily="2" charset="2"/>
                        <a:buChar char="Ø"/>
                      </a:pPr>
                      <a:r>
                        <a:rPr lang="en-US" sz="2000" kern="1200" dirty="0">
                          <a:effectLst/>
                        </a:rPr>
                        <a:t>The business logic has been written in each type of application. </a:t>
                      </a:r>
                    </a:p>
                    <a:p>
                      <a:pPr marL="285750" indent="-285750" algn="just">
                        <a:buFont typeface="Wingdings" panose="05000000000000000000" pitchFamily="2" charset="2"/>
                        <a:buChar char="Ø"/>
                      </a:pPr>
                      <a:r>
                        <a:rPr lang="en-US" sz="2000" kern="1200" dirty="0">
                          <a:effectLst/>
                        </a:rPr>
                        <a:t>We have to write the code in three different applications in our example. </a:t>
                      </a:r>
                    </a:p>
                    <a:p>
                      <a:pPr marL="285750" indent="-285750" algn="just">
                        <a:buFont typeface="Wingdings" panose="05000000000000000000" pitchFamily="2" charset="2"/>
                        <a:buChar char="Ø"/>
                      </a:pPr>
                      <a:r>
                        <a:rPr lang="en-US" sz="2000" kern="1200" dirty="0">
                          <a:effectLst/>
                        </a:rPr>
                        <a:t>So, you might miss some code or logic in some applications. </a:t>
                      </a:r>
                    </a:p>
                    <a:p>
                      <a:pPr marL="285750" indent="-285750" algn="just">
                        <a:buFont typeface="Wingdings" panose="05000000000000000000" pitchFamily="2" charset="2"/>
                        <a:buChar char="Ø"/>
                      </a:pPr>
                      <a:r>
                        <a:rPr lang="en-US" sz="2000" kern="1200" dirty="0">
                          <a:effectLst/>
                        </a:rPr>
                        <a:t>This will add more errors to your application.</a:t>
                      </a:r>
                      <a:endParaRPr lang="en-US" sz="2000" dirty="0"/>
                    </a:p>
                  </a:txBody>
                  <a:tcPr/>
                </a:tc>
                <a:extLst>
                  <a:ext uri="{0D108BD9-81ED-4DB2-BD59-A6C34878D82A}">
                    <a16:rowId xmlns:a16="http://schemas.microsoft.com/office/drawing/2014/main" val="10001"/>
                  </a:ext>
                </a:extLst>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2286168318"/>
              </p:ext>
            </p:extLst>
          </p:nvPr>
        </p:nvGraphicFramePr>
        <p:xfrm>
          <a:off x="4446588" y="863600"/>
          <a:ext cx="4211637" cy="2926080"/>
        </p:xfrm>
        <a:graphic>
          <a:graphicData uri="http://schemas.openxmlformats.org/drawingml/2006/table">
            <a:tbl>
              <a:tblPr firstRow="1" bandRow="1">
                <a:tableStyleId>{00A15C55-8517-42AA-B614-E9B94910E393}</a:tableStyleId>
              </a:tblPr>
              <a:tblGrid>
                <a:gridCol w="4211637">
                  <a:extLst>
                    <a:ext uri="{9D8B030D-6E8A-4147-A177-3AD203B41FA5}">
                      <a16:colId xmlns:a16="http://schemas.microsoft.com/office/drawing/2014/main" val="20000"/>
                    </a:ext>
                  </a:extLst>
                </a:gridCol>
              </a:tblGrid>
              <a:tr h="370840">
                <a:tc>
                  <a:txBody>
                    <a:bodyPr/>
                    <a:lstStyle/>
                    <a:p>
                      <a:pPr algn="just"/>
                      <a:r>
                        <a:rPr lang="en-US" sz="2000" kern="1200" dirty="0">
                          <a:effectLst/>
                        </a:rPr>
                        <a:t>3. Some Front-end frameworks cannot communicate directly with the Database</a:t>
                      </a:r>
                      <a:endParaRPr lang="en-US" sz="2000" dirty="0"/>
                    </a:p>
                  </a:txBody>
                  <a:tcPr/>
                </a:tc>
                <a:extLst>
                  <a:ext uri="{0D108BD9-81ED-4DB2-BD59-A6C34878D82A}">
                    <a16:rowId xmlns:a16="http://schemas.microsoft.com/office/drawing/2014/main" val="10000"/>
                  </a:ext>
                </a:extLst>
              </a:tr>
              <a:tr h="370840">
                <a:tc>
                  <a:txBody>
                    <a:bodyPr/>
                    <a:lstStyle/>
                    <a:p>
                      <a:pPr marL="285750" indent="-285750" algn="just">
                        <a:buFont typeface="Wingdings" panose="05000000000000000000" pitchFamily="2" charset="2"/>
                        <a:buChar char="Ø"/>
                      </a:pPr>
                      <a:r>
                        <a:rPr lang="en-US" sz="2000" kern="1200" dirty="0">
                          <a:effectLst/>
                        </a:rPr>
                        <a:t>If you are developing the website (i.e., front-end) using the angular framework, then the angular framework cannot communicate with the database directly. </a:t>
                      </a:r>
                    </a:p>
                    <a:p>
                      <a:pPr marL="285750" indent="-285750" algn="just">
                        <a:buFont typeface="Wingdings" panose="05000000000000000000" pitchFamily="2" charset="2"/>
                        <a:buChar char="Ø"/>
                      </a:pPr>
                      <a:r>
                        <a:rPr lang="en-US" sz="2000" kern="1200" dirty="0">
                          <a:effectLst/>
                        </a:rPr>
                        <a:t>Angular is a front-end framework.</a:t>
                      </a:r>
                      <a:endParaRPr lang="en-US" sz="2000" dirty="0"/>
                    </a:p>
                  </a:txBody>
                  <a:tcPr/>
                </a:tc>
                <a:extLst>
                  <a:ext uri="{0D108BD9-81ED-4DB2-BD59-A6C34878D82A}">
                    <a16:rowId xmlns:a16="http://schemas.microsoft.com/office/drawing/2014/main" val="10001"/>
                  </a:ext>
                </a:extLst>
              </a:tr>
            </a:tbl>
          </a:graphicData>
        </a:graphic>
      </p:graphicFrame>
      <p:graphicFrame>
        <p:nvGraphicFramePr>
          <p:cNvPr id="8" name="Content Placeholder 3"/>
          <p:cNvGraphicFramePr>
            <a:graphicFrameLocks/>
          </p:cNvGraphicFramePr>
          <p:nvPr>
            <p:extLst>
              <p:ext uri="{D42A27DB-BD31-4B8C-83A1-F6EECF244321}">
                <p14:modId xmlns:p14="http://schemas.microsoft.com/office/powerpoint/2010/main" val="2058176156"/>
              </p:ext>
            </p:extLst>
          </p:nvPr>
        </p:nvGraphicFramePr>
        <p:xfrm>
          <a:off x="4446588" y="3854450"/>
          <a:ext cx="4211637" cy="2621280"/>
        </p:xfrm>
        <a:graphic>
          <a:graphicData uri="http://schemas.openxmlformats.org/drawingml/2006/table">
            <a:tbl>
              <a:tblPr firstRow="1" bandRow="1">
                <a:tableStyleId>{073A0DAA-6AF3-43AB-8588-CEC1D06C72B9}</a:tableStyleId>
              </a:tblPr>
              <a:tblGrid>
                <a:gridCol w="4211637">
                  <a:extLst>
                    <a:ext uri="{9D8B030D-6E8A-4147-A177-3AD203B41FA5}">
                      <a16:colId xmlns:a16="http://schemas.microsoft.com/office/drawing/2014/main" val="20000"/>
                    </a:ext>
                  </a:extLst>
                </a:gridCol>
              </a:tblGrid>
              <a:tr h="370840">
                <a:tc>
                  <a:txBody>
                    <a:bodyPr/>
                    <a:lstStyle/>
                    <a:p>
                      <a:pPr algn="just"/>
                      <a:r>
                        <a:rPr lang="en-US" sz="2000" kern="1200" dirty="0">
                          <a:effectLst/>
                        </a:rPr>
                        <a:t>4. Hard to Maintain</a:t>
                      </a:r>
                      <a:endParaRPr lang="en-US" sz="2000" dirty="0"/>
                    </a:p>
                  </a:txBody>
                  <a:tcPr/>
                </a:tc>
                <a:extLst>
                  <a:ext uri="{0D108BD9-81ED-4DB2-BD59-A6C34878D82A}">
                    <a16:rowId xmlns:a16="http://schemas.microsoft.com/office/drawing/2014/main" val="10000"/>
                  </a:ext>
                </a:extLst>
              </a:tr>
              <a:tr h="370840">
                <a:tc>
                  <a:txBody>
                    <a:bodyPr/>
                    <a:lstStyle/>
                    <a:p>
                      <a:pPr marL="285750" indent="-285750" algn="just">
                        <a:buFont typeface="Wingdings" panose="05000000000000000000" pitchFamily="2" charset="2"/>
                        <a:buChar char="Ø"/>
                      </a:pPr>
                      <a:r>
                        <a:rPr lang="en-US" sz="2000" dirty="0"/>
                        <a:t>This type of structure is hard to maintain. </a:t>
                      </a:r>
                    </a:p>
                    <a:p>
                      <a:pPr marL="285750" indent="-285750" algn="just">
                        <a:buFont typeface="Wingdings" panose="05000000000000000000" pitchFamily="2" charset="2"/>
                        <a:buChar char="Ø"/>
                      </a:pPr>
                      <a:r>
                        <a:rPr lang="en-US" sz="2000" dirty="0"/>
                        <a:t>This is because we have written the code in many places, and if we want to improve something in our application, we need to do the same thing in many places.</a:t>
                      </a:r>
                    </a:p>
                  </a:txBody>
                  <a:tcPr/>
                </a:tc>
                <a:extLst>
                  <a:ext uri="{0D108BD9-81ED-4DB2-BD59-A6C34878D82A}">
                    <a16:rowId xmlns:a16="http://schemas.microsoft.com/office/drawing/2014/main" val="10001"/>
                  </a:ext>
                </a:extLst>
              </a:tr>
            </a:tbl>
          </a:graphicData>
        </a:graphic>
      </p:graphicFrame>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1880" y="1095375"/>
            <a:ext cx="1783533" cy="1086659"/>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47381" y="2201213"/>
            <a:ext cx="1787557" cy="1012760"/>
          </a:xfrm>
          <a:prstGeom prst="rect">
            <a:avLst/>
          </a:prstGeom>
        </p:spPr>
      </p:pic>
      <p:pic>
        <p:nvPicPr>
          <p:cNvPr id="12" name="Picture 11"/>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549897" y="3233551"/>
            <a:ext cx="1784147" cy="1042036"/>
          </a:xfrm>
          <a:prstGeom prst="rect">
            <a:avLst/>
          </a:prstGeom>
        </p:spPr>
      </p:pic>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7425" y="4305582"/>
            <a:ext cx="1786564" cy="1281065"/>
          </a:xfrm>
          <a:prstGeom prst="rect">
            <a:avLst/>
          </a:prstGeom>
        </p:spPr>
      </p:pic>
    </p:spTree>
    <p:extLst>
      <p:ext uri="{BB962C8B-B14F-4D97-AF65-F5344CB8AC3E}">
        <p14:creationId xmlns:p14="http://schemas.microsoft.com/office/powerpoint/2010/main" val="650317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Key Characteristics of Web APIs</a:t>
            </a:r>
          </a:p>
        </p:txBody>
      </p:sp>
      <p:sp>
        <p:nvSpPr>
          <p:cNvPr id="5" name="Text Placeholder 4"/>
          <p:cNvSpPr>
            <a:spLocks noGrp="1"/>
          </p:cNvSpPr>
          <p:nvPr>
            <p:ph type="body" idx="1"/>
          </p:nvPr>
        </p:nvSpPr>
        <p:spPr/>
        <p:txBody>
          <a:bodyPr/>
          <a:lstStyle/>
          <a:p>
            <a:r>
              <a:rPr lang="en-US" dirty="0"/>
              <a:t>Section - 4</a:t>
            </a:r>
          </a:p>
        </p:txBody>
      </p:sp>
    </p:spTree>
    <p:extLst>
      <p:ext uri="{BB962C8B-B14F-4D97-AF65-F5344CB8AC3E}">
        <p14:creationId xmlns:p14="http://schemas.microsoft.com/office/powerpoint/2010/main" val="3884742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b="1" dirty="0"/>
              <a:t>HTTP-based Communication:</a:t>
            </a:r>
            <a:r>
              <a:rPr lang="en-US" dirty="0"/>
              <a:t> </a:t>
            </a:r>
          </a:p>
          <a:p>
            <a:pPr lvl="1" fontAlgn="base"/>
            <a:r>
              <a:rPr lang="en-US" dirty="0"/>
              <a:t>Most Web APIs are designed to work over HTTP, the same protocol used for web browsing. </a:t>
            </a:r>
          </a:p>
          <a:p>
            <a:pPr lvl="1" fontAlgn="base"/>
            <a:r>
              <a:rPr lang="en-US" dirty="0"/>
              <a:t>This means APIs can be accessed using standard HTTP methods like GET, POST, PUT, DELETE, etc. </a:t>
            </a:r>
          </a:p>
          <a:p>
            <a:pPr lvl="1" fontAlgn="base"/>
            <a:r>
              <a:rPr lang="en-US" dirty="0"/>
              <a:t>The API endpoints are typically represented as URLs (Uniform Resource Locators).</a:t>
            </a:r>
          </a:p>
          <a:p>
            <a:pPr fontAlgn="base"/>
            <a:r>
              <a:rPr lang="en-US" b="1" dirty="0"/>
              <a:t>Data Exchange Formats:</a:t>
            </a:r>
            <a:r>
              <a:rPr lang="en-US" dirty="0"/>
              <a:t> </a:t>
            </a:r>
          </a:p>
          <a:p>
            <a:pPr lvl="1" fontAlgn="base"/>
            <a:r>
              <a:rPr lang="en-US" dirty="0"/>
              <a:t>Web APIs use standardized data exchange formats such as </a:t>
            </a:r>
            <a:r>
              <a:rPr lang="en-US" b="1" dirty="0">
                <a:solidFill>
                  <a:schemeClr val="accent6"/>
                </a:solidFill>
              </a:rPr>
              <a:t>JSON</a:t>
            </a:r>
            <a:r>
              <a:rPr lang="en-US" dirty="0"/>
              <a:t> (JavaScript Object Notation) and </a:t>
            </a:r>
            <a:r>
              <a:rPr lang="en-US" b="1" dirty="0">
                <a:solidFill>
                  <a:schemeClr val="accent6"/>
                </a:solidFill>
              </a:rPr>
              <a:t>XML</a:t>
            </a:r>
            <a:r>
              <a:rPr lang="en-US" dirty="0"/>
              <a:t> (</a:t>
            </a:r>
            <a:r>
              <a:rPr lang="en-US" dirty="0" err="1"/>
              <a:t>eXtensible</a:t>
            </a:r>
            <a:r>
              <a:rPr lang="en-US" dirty="0"/>
              <a:t> Markup Language) to structure and transmit data between the client and server. </a:t>
            </a:r>
          </a:p>
          <a:p>
            <a:pPr lvl="1" fontAlgn="base"/>
            <a:r>
              <a:rPr lang="en-US" b="1" i="1" dirty="0">
                <a:solidFill>
                  <a:schemeClr val="accent6"/>
                </a:solidFill>
              </a:rPr>
              <a:t>JSON has become the most popular format due to its simplicity and ease of use</a:t>
            </a:r>
            <a:r>
              <a:rPr lang="en-US" dirty="0"/>
              <a:t>.</a:t>
            </a:r>
          </a:p>
          <a:p>
            <a:pPr fontAlgn="base"/>
            <a:r>
              <a:rPr lang="en-US" b="1" dirty="0"/>
              <a:t>RESTful Architecture:</a:t>
            </a:r>
            <a:r>
              <a:rPr lang="en-US" dirty="0"/>
              <a:t> </a:t>
            </a:r>
          </a:p>
          <a:p>
            <a:pPr lvl="1" fontAlgn="base"/>
            <a:r>
              <a:rPr lang="en-US" dirty="0"/>
              <a:t>Many Web APIs are designed following </a:t>
            </a:r>
            <a:r>
              <a:rPr lang="en-US" b="1" dirty="0">
                <a:solidFill>
                  <a:schemeClr val="accent6"/>
                </a:solidFill>
              </a:rPr>
              <a:t>Representational State Transfer </a:t>
            </a:r>
            <a:r>
              <a:rPr lang="en-US" dirty="0"/>
              <a:t>(REST) principles. </a:t>
            </a:r>
          </a:p>
          <a:p>
            <a:pPr lvl="1" fontAlgn="base"/>
            <a:r>
              <a:rPr lang="en-US" dirty="0"/>
              <a:t>A RESTful API is stateless, uses standard HTTP methods, and organizes resources into a hierarchy with unique URLs for each resource.</a:t>
            </a:r>
          </a:p>
          <a:p>
            <a:pPr fontAlgn="base"/>
            <a:r>
              <a:rPr lang="en-US" b="1" dirty="0"/>
              <a:t>Authentication and Authorization:</a:t>
            </a:r>
            <a:r>
              <a:rPr lang="en-US" dirty="0"/>
              <a:t> </a:t>
            </a:r>
          </a:p>
          <a:p>
            <a:pPr lvl="1" fontAlgn="base"/>
            <a:r>
              <a:rPr lang="en-US" dirty="0"/>
              <a:t>Web APIs often implement security mechanisms for authentication and authorization </a:t>
            </a:r>
            <a:r>
              <a:rPr lang="en-US" b="1" dirty="0">
                <a:solidFill>
                  <a:schemeClr val="accent6"/>
                </a:solidFill>
              </a:rPr>
              <a:t>to ensure that only authorized clients can access certain resources </a:t>
            </a:r>
            <a:r>
              <a:rPr lang="en-US" dirty="0">
                <a:solidFill>
                  <a:schemeClr val="accent6"/>
                </a:solidFill>
              </a:rPr>
              <a:t>or </a:t>
            </a:r>
            <a:r>
              <a:rPr lang="en-US" b="1" dirty="0">
                <a:solidFill>
                  <a:schemeClr val="accent6"/>
                </a:solidFill>
              </a:rPr>
              <a:t>perform specific actions</a:t>
            </a:r>
            <a:r>
              <a:rPr lang="en-US" dirty="0"/>
              <a:t>. </a:t>
            </a:r>
          </a:p>
          <a:p>
            <a:pPr lvl="1" fontAlgn="base"/>
            <a:r>
              <a:rPr lang="en-US" dirty="0"/>
              <a:t>Common authentication methods include </a:t>
            </a:r>
            <a:r>
              <a:rPr lang="en-US" b="1" dirty="0">
                <a:solidFill>
                  <a:schemeClr val="accent6"/>
                </a:solidFill>
              </a:rPr>
              <a:t>API Keys</a:t>
            </a:r>
            <a:r>
              <a:rPr lang="en-US" dirty="0"/>
              <a:t>, </a:t>
            </a:r>
            <a:r>
              <a:rPr lang="en-US" b="1" dirty="0" err="1">
                <a:solidFill>
                  <a:schemeClr val="accent6"/>
                </a:solidFill>
              </a:rPr>
              <a:t>OAuth</a:t>
            </a:r>
            <a:r>
              <a:rPr lang="en-US" dirty="0"/>
              <a:t>, and </a:t>
            </a:r>
            <a:r>
              <a:rPr lang="en-US" b="1" dirty="0">
                <a:solidFill>
                  <a:schemeClr val="accent6"/>
                </a:solidFill>
              </a:rPr>
              <a:t>JWT</a:t>
            </a:r>
            <a:r>
              <a:rPr lang="en-US" dirty="0"/>
              <a:t> (</a:t>
            </a:r>
            <a:r>
              <a:rPr lang="en-US" b="1" dirty="0">
                <a:solidFill>
                  <a:schemeClr val="accent6"/>
                </a:solidFill>
              </a:rPr>
              <a:t>JSON Web Tokens</a:t>
            </a:r>
            <a:r>
              <a:rPr lang="en-US" dirty="0"/>
              <a:t>).</a:t>
            </a:r>
          </a:p>
          <a:p>
            <a:pPr lvl="1" fontAlgn="base"/>
            <a:endParaRPr lang="en-US" dirty="0"/>
          </a:p>
          <a:p>
            <a:pPr lvl="1" fontAlgn="base"/>
            <a:endParaRPr lang="en-US" dirty="0"/>
          </a:p>
        </p:txBody>
      </p:sp>
      <p:sp>
        <p:nvSpPr>
          <p:cNvPr id="3" name="Title 2"/>
          <p:cNvSpPr>
            <a:spLocks noGrp="1"/>
          </p:cNvSpPr>
          <p:nvPr>
            <p:ph type="title"/>
          </p:nvPr>
        </p:nvSpPr>
        <p:spPr/>
        <p:txBody>
          <a:bodyPr/>
          <a:lstStyle/>
          <a:p>
            <a:r>
              <a:rPr lang="en-US" dirty="0"/>
              <a:t>Key Characteristics of Web APIs</a:t>
            </a:r>
          </a:p>
        </p:txBody>
      </p:sp>
    </p:spTree>
    <p:extLst>
      <p:ext uri="{BB962C8B-B14F-4D97-AF65-F5344CB8AC3E}">
        <p14:creationId xmlns:p14="http://schemas.microsoft.com/office/powerpoint/2010/main" val="1604742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JSON </a:t>
            </a:r>
            <a:br>
              <a:rPr lang="en-US" dirty="0">
                <a:gradFill flip="none" rotWithShape="1">
                  <a:gsLst>
                    <a:gs pos="10000">
                      <a:schemeClr val="accent6">
                        <a:lumMod val="50000"/>
                      </a:schemeClr>
                    </a:gs>
                    <a:gs pos="100000">
                      <a:schemeClr val="accent6"/>
                    </a:gs>
                  </a:gsLst>
                  <a:lin ang="0" scaled="1"/>
                  <a:tileRect/>
                </a:gradFill>
              </a:rPr>
            </a:br>
            <a:r>
              <a:rPr lang="en-US" sz="2800" dirty="0">
                <a:gradFill flip="none" rotWithShape="1">
                  <a:gsLst>
                    <a:gs pos="10000">
                      <a:schemeClr val="accent6">
                        <a:lumMod val="50000"/>
                      </a:schemeClr>
                    </a:gs>
                    <a:gs pos="100000">
                      <a:schemeClr val="accent6"/>
                    </a:gs>
                  </a:gsLst>
                  <a:lin ang="0" scaled="1"/>
                  <a:tileRect/>
                </a:gradFill>
              </a:rPr>
              <a:t>(JavaScript Object Notation)</a:t>
            </a:r>
          </a:p>
        </p:txBody>
      </p:sp>
      <p:sp>
        <p:nvSpPr>
          <p:cNvPr id="5" name="Text Placeholder 4"/>
          <p:cNvSpPr>
            <a:spLocks noGrp="1"/>
          </p:cNvSpPr>
          <p:nvPr>
            <p:ph type="body" idx="1"/>
          </p:nvPr>
        </p:nvSpPr>
        <p:spPr/>
        <p:txBody>
          <a:bodyPr/>
          <a:lstStyle/>
          <a:p>
            <a:r>
              <a:rPr lang="en-US" dirty="0"/>
              <a:t>Section - 5</a:t>
            </a:r>
          </a:p>
        </p:txBody>
      </p:sp>
    </p:spTree>
    <p:extLst>
      <p:ext uri="{BB962C8B-B14F-4D97-AF65-F5344CB8AC3E}">
        <p14:creationId xmlns:p14="http://schemas.microsoft.com/office/powerpoint/2010/main" val="275373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JSON (JavaScript Object Notation) is a lightweight data-interchange format that is easy for humans to read and write and for machines to parse and generate. </a:t>
            </a:r>
          </a:p>
          <a:p>
            <a:pPr fontAlgn="base"/>
            <a:r>
              <a:rPr lang="en-US" dirty="0"/>
              <a:t>Many different programming languages use JSON which is a great way to ensure that different systems can work together and understand each other’s data.</a:t>
            </a:r>
          </a:p>
          <a:p>
            <a:pPr fontAlgn="base"/>
            <a:r>
              <a:rPr lang="en-US" dirty="0"/>
              <a:t>It uses human-readable text to store and transmit data objects consisting of attribute–value pairs and arrays (or other serializable values). </a:t>
            </a:r>
          </a:p>
          <a:p>
            <a:pPr fontAlgn="base"/>
            <a:r>
              <a:rPr lang="en-US" dirty="0"/>
              <a:t>JSON is a language-independent data format.</a:t>
            </a:r>
          </a:p>
          <a:p>
            <a:pPr fontAlgn="base"/>
            <a:r>
              <a:rPr lang="en-US" dirty="0"/>
              <a:t>JSON is “name/value” assembly. Its structure is made up with {}, [], comma, colon and double quotation marks.</a:t>
            </a:r>
          </a:p>
          <a:p>
            <a:pPr fontAlgn="base"/>
            <a:r>
              <a:rPr lang="en-US" dirty="0"/>
              <a:t>Valid data types in JSON are Object, Number, Boolean, String, Array, Null.</a:t>
            </a:r>
          </a:p>
          <a:p>
            <a:pPr fontAlgn="base"/>
            <a:r>
              <a:rPr lang="en-US" dirty="0"/>
              <a:t>JSON filenames use the extension .</a:t>
            </a:r>
            <a:r>
              <a:rPr lang="en-US" dirty="0" err="1"/>
              <a:t>json</a:t>
            </a:r>
            <a:r>
              <a:rPr lang="en-US" dirty="0"/>
              <a:t>.</a:t>
            </a:r>
          </a:p>
          <a:p>
            <a:pPr fontAlgn="base"/>
            <a:r>
              <a:rPr lang="en-US" dirty="0"/>
              <a:t>It is commonly used for transmitting data between a server and a web application as an alternative to XML, and has many business applications. </a:t>
            </a:r>
          </a:p>
        </p:txBody>
      </p:sp>
      <p:sp>
        <p:nvSpPr>
          <p:cNvPr id="3" name="Title 2"/>
          <p:cNvSpPr>
            <a:spLocks noGrp="1"/>
          </p:cNvSpPr>
          <p:nvPr>
            <p:ph type="title"/>
          </p:nvPr>
        </p:nvSpPr>
        <p:spPr/>
        <p:txBody>
          <a:bodyPr/>
          <a:lstStyle/>
          <a:p>
            <a:r>
              <a:rPr lang="en-US" dirty="0"/>
              <a:t>What is JSON?</a:t>
            </a:r>
          </a:p>
        </p:txBody>
      </p:sp>
    </p:spTree>
    <p:extLst>
      <p:ext uri="{BB962C8B-B14F-4D97-AF65-F5344CB8AC3E}">
        <p14:creationId xmlns:p14="http://schemas.microsoft.com/office/powerpoint/2010/main" val="251663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449078" y="970384"/>
            <a:ext cx="6403513" cy="5483625"/>
          </a:xfrm>
        </p:spPr>
        <p:txBody>
          <a:bodyPr/>
          <a:lstStyle/>
          <a:p>
            <a:r>
              <a:rPr lang="en-US" sz="2200" dirty="0"/>
              <a:t>In .NET, we have two most common libraries to handle JSON:</a:t>
            </a:r>
          </a:p>
          <a:p>
            <a:r>
              <a:rPr lang="en-US" b="1" dirty="0" err="1"/>
              <a:t>Newtonsoft.Json</a:t>
            </a:r>
            <a:endParaRPr lang="en-US" dirty="0"/>
          </a:p>
          <a:p>
            <a:pPr lvl="1"/>
            <a:r>
              <a:rPr lang="en-US" dirty="0"/>
              <a:t>Third-party powerful library with many features, including support for complex object graphs, custom converters, and more.</a:t>
            </a:r>
          </a:p>
          <a:p>
            <a:r>
              <a:rPr lang="en-US" b="1" dirty="0" err="1"/>
              <a:t>System.Text.Json</a:t>
            </a:r>
            <a:endParaRPr lang="en-US" dirty="0"/>
          </a:p>
          <a:p>
            <a:pPr lvl="1"/>
            <a:r>
              <a:rPr lang="en-US" dirty="0"/>
              <a:t>High-performance JSON serialization and deserialization library introduced by Microsoft.</a:t>
            </a:r>
          </a:p>
          <a:p>
            <a:pPr marL="0" indent="-87312">
              <a:buNone/>
            </a:pPr>
            <a:r>
              <a:rPr lang="en-US" sz="1900" dirty="0">
                <a:solidFill>
                  <a:srgbClr val="0000FF"/>
                </a:solidFill>
                <a:latin typeface="Consolas" panose="020B0609020204030204" pitchFamily="49" charset="0"/>
              </a:rPr>
              <a:t>using</a:t>
            </a:r>
            <a:r>
              <a:rPr lang="en-US" sz="1900" dirty="0">
                <a:solidFill>
                  <a:srgbClr val="000000"/>
                </a:solidFill>
                <a:latin typeface="Consolas" panose="020B0609020204030204" pitchFamily="49" charset="0"/>
              </a:rPr>
              <a:t> </a:t>
            </a:r>
            <a:r>
              <a:rPr lang="en-US" sz="1900" dirty="0" err="1">
                <a:solidFill>
                  <a:srgbClr val="000000"/>
                </a:solidFill>
                <a:latin typeface="Consolas" panose="020B0609020204030204" pitchFamily="49" charset="0"/>
              </a:rPr>
              <a:t>System.Text.Json</a:t>
            </a:r>
            <a:r>
              <a:rPr lang="en-US" sz="1900" dirty="0">
                <a:solidFill>
                  <a:srgbClr val="000000"/>
                </a:solidFill>
                <a:latin typeface="Consolas" panose="020B0609020204030204" pitchFamily="49" charset="0"/>
              </a:rPr>
              <a:t>; </a:t>
            </a:r>
            <a:endParaRPr lang="en-US" sz="1900" dirty="0">
              <a:latin typeface="Arial" panose="020B0604020202020204" pitchFamily="34" charset="0"/>
            </a:endParaRPr>
          </a:p>
          <a:p>
            <a:pPr marL="36513" indent="0">
              <a:buNone/>
            </a:pPr>
            <a:r>
              <a:rPr lang="en-US" sz="1800" dirty="0">
                <a:solidFill>
                  <a:srgbClr val="066555"/>
                </a:solidFill>
                <a:latin typeface="Consolas" panose="020B0609020204030204" pitchFamily="49" charset="0"/>
              </a:rPr>
              <a:t>//To serialize</a:t>
            </a:r>
            <a:r>
              <a:rPr lang="en-US" sz="1800" dirty="0">
                <a:solidFill>
                  <a:srgbClr val="000000"/>
                </a:solidFill>
                <a:latin typeface="Consolas" panose="020B0609020204030204" pitchFamily="49" charset="0"/>
              </a:rPr>
              <a:t>             </a:t>
            </a:r>
          </a:p>
          <a:p>
            <a:pPr marL="36513" indent="0">
              <a:buNone/>
            </a:pPr>
            <a:r>
              <a:rPr lang="en-US" sz="1800" dirty="0" err="1">
                <a:solidFill>
                  <a:srgbClr val="0000FF"/>
                </a:solidFill>
                <a:latin typeface="Consolas" panose="020B0609020204030204" pitchFamily="49" charset="0"/>
              </a:rPr>
              <a:t>var</a:t>
            </a:r>
            <a:r>
              <a:rPr lang="en-US" sz="1800" dirty="0">
                <a:solidFill>
                  <a:srgbClr val="000000"/>
                </a:solidFill>
                <a:latin typeface="Consolas" panose="020B0609020204030204" pitchFamily="49" charset="0"/>
              </a:rPr>
              <a:t> </a:t>
            </a:r>
            <a:r>
              <a:rPr lang="en-US" sz="1800" b="1" dirty="0" err="1">
                <a:solidFill>
                  <a:srgbClr val="1F377F"/>
                </a:solidFill>
                <a:latin typeface="Consolas" panose="020B0609020204030204" pitchFamily="49" charset="0"/>
              </a:rPr>
              <a:t>jsonStr</a:t>
            </a:r>
            <a:r>
              <a:rPr lang="en-US" sz="1800" dirty="0">
                <a:solidFill>
                  <a:srgbClr val="000000"/>
                </a:solidFill>
                <a:latin typeface="Consolas" panose="020B0609020204030204" pitchFamily="49" charset="0"/>
              </a:rPr>
              <a:t> = </a:t>
            </a:r>
            <a:r>
              <a:rPr lang="en-US" sz="1800" dirty="0" err="1">
                <a:solidFill>
                  <a:srgbClr val="066555"/>
                </a:solidFill>
                <a:latin typeface="Consolas" panose="020B0609020204030204" pitchFamily="49" charset="0"/>
              </a:rPr>
              <a:t>JsonSerializer</a:t>
            </a:r>
            <a:r>
              <a:rPr lang="en-US" sz="1800" dirty="0" err="1">
                <a:solidFill>
                  <a:srgbClr val="000000"/>
                </a:solidFill>
                <a:latin typeface="Consolas" panose="020B0609020204030204" pitchFamily="49" charset="0"/>
              </a:rPr>
              <a:t>.</a:t>
            </a:r>
            <a:r>
              <a:rPr lang="en-US" sz="1800" dirty="0" err="1">
                <a:solidFill>
                  <a:srgbClr val="890E4F"/>
                </a:solidFill>
                <a:latin typeface="Consolas" panose="020B0609020204030204" pitchFamily="49" charset="0"/>
              </a:rPr>
              <a:t>Serialize</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MyObject</a:t>
            </a:r>
            <a:r>
              <a:rPr lang="en-US" sz="1800" dirty="0">
                <a:solidFill>
                  <a:srgbClr val="000000"/>
                </a:solidFill>
                <a:latin typeface="Consolas" panose="020B0609020204030204" pitchFamily="49" charset="0"/>
              </a:rPr>
              <a:t>);</a:t>
            </a:r>
            <a:endParaRPr lang="en-US" sz="1800" dirty="0">
              <a:latin typeface="Arial" panose="020B0604020202020204" pitchFamily="34" charset="0"/>
            </a:endParaRPr>
          </a:p>
          <a:p>
            <a:pPr marL="36513" indent="0">
              <a:buNone/>
            </a:pPr>
            <a:r>
              <a:rPr lang="en-US" sz="1800" dirty="0">
                <a:solidFill>
                  <a:srgbClr val="066555"/>
                </a:solidFill>
                <a:latin typeface="Consolas" panose="020B0609020204030204" pitchFamily="49" charset="0"/>
              </a:rPr>
              <a:t>//To </a:t>
            </a:r>
            <a:r>
              <a:rPr lang="en-US" sz="1800" dirty="0" err="1">
                <a:solidFill>
                  <a:srgbClr val="066555"/>
                </a:solidFill>
                <a:latin typeface="Consolas" panose="020B0609020204030204" pitchFamily="49" charset="0"/>
              </a:rPr>
              <a:t>Deserialize</a:t>
            </a:r>
            <a:r>
              <a:rPr lang="en-US" sz="1800" dirty="0">
                <a:solidFill>
                  <a:srgbClr val="000000"/>
                </a:solidFill>
                <a:latin typeface="Consolas" panose="020B0609020204030204" pitchFamily="49" charset="0"/>
              </a:rPr>
              <a:t>             </a:t>
            </a:r>
          </a:p>
          <a:p>
            <a:pPr marL="36513" indent="0">
              <a:buNone/>
            </a:pPr>
            <a:r>
              <a:rPr lang="en-US" sz="1750" dirty="0" err="1">
                <a:solidFill>
                  <a:srgbClr val="0000FF"/>
                </a:solidFill>
                <a:latin typeface="Consolas" panose="020B0609020204030204" pitchFamily="49" charset="0"/>
              </a:rPr>
              <a:t>var</a:t>
            </a:r>
            <a:r>
              <a:rPr lang="en-US" sz="1750" dirty="0">
                <a:solidFill>
                  <a:srgbClr val="000000"/>
                </a:solidFill>
                <a:latin typeface="Consolas" panose="020B0609020204030204" pitchFamily="49" charset="0"/>
              </a:rPr>
              <a:t> </a:t>
            </a:r>
            <a:r>
              <a:rPr lang="en-US" sz="1750" b="1" dirty="0">
                <a:solidFill>
                  <a:srgbClr val="1F377F"/>
                </a:solidFill>
                <a:latin typeface="Consolas" panose="020B0609020204030204" pitchFamily="49" charset="0"/>
              </a:rPr>
              <a:t>weather</a:t>
            </a:r>
            <a:r>
              <a:rPr lang="en-US" sz="1750" dirty="0">
                <a:solidFill>
                  <a:srgbClr val="000000"/>
                </a:solidFill>
                <a:latin typeface="Consolas" panose="020B0609020204030204" pitchFamily="49" charset="0"/>
              </a:rPr>
              <a:t> = </a:t>
            </a:r>
            <a:r>
              <a:rPr lang="en-US" sz="1750" dirty="0" err="1">
                <a:solidFill>
                  <a:srgbClr val="066555"/>
                </a:solidFill>
                <a:latin typeface="Consolas" panose="020B0609020204030204" pitchFamily="49" charset="0"/>
              </a:rPr>
              <a:t>JsonSerializer</a:t>
            </a:r>
            <a:r>
              <a:rPr lang="en-US" sz="1750" dirty="0" err="1">
                <a:solidFill>
                  <a:srgbClr val="000000"/>
                </a:solidFill>
                <a:latin typeface="Consolas" panose="020B0609020204030204" pitchFamily="49" charset="0"/>
              </a:rPr>
              <a:t>.</a:t>
            </a:r>
            <a:r>
              <a:rPr lang="en-US" sz="1750" dirty="0" err="1">
                <a:solidFill>
                  <a:srgbClr val="890E4F"/>
                </a:solidFill>
                <a:latin typeface="Consolas" panose="020B0609020204030204" pitchFamily="49" charset="0"/>
              </a:rPr>
              <a:t>Deserialize</a:t>
            </a:r>
            <a:r>
              <a:rPr lang="en-US" sz="1750" dirty="0">
                <a:solidFill>
                  <a:srgbClr val="000000"/>
                </a:solidFill>
                <a:latin typeface="Consolas" panose="020B0609020204030204" pitchFamily="49" charset="0"/>
              </a:rPr>
              <a:t>&lt;</a:t>
            </a:r>
            <a:r>
              <a:rPr lang="en-US" sz="1750" dirty="0" err="1">
                <a:solidFill>
                  <a:srgbClr val="000000"/>
                </a:solidFill>
                <a:latin typeface="Consolas" panose="020B0609020204030204" pitchFamily="49" charset="0"/>
              </a:rPr>
              <a:t>MyObject</a:t>
            </a:r>
            <a:r>
              <a:rPr lang="en-US" sz="1750" dirty="0">
                <a:solidFill>
                  <a:srgbClr val="000000"/>
                </a:solidFill>
                <a:latin typeface="Consolas" panose="020B0609020204030204" pitchFamily="49" charset="0"/>
              </a:rPr>
              <a:t>&gt;(</a:t>
            </a:r>
            <a:r>
              <a:rPr lang="en-US" sz="1750" b="1" dirty="0" err="1">
                <a:solidFill>
                  <a:srgbClr val="1F377F"/>
                </a:solidFill>
                <a:latin typeface="Consolas" panose="020B0609020204030204" pitchFamily="49" charset="0"/>
              </a:rPr>
              <a:t>jsonStr</a:t>
            </a:r>
            <a:r>
              <a:rPr lang="en-US" sz="1750" dirty="0">
                <a:solidFill>
                  <a:srgbClr val="000000"/>
                </a:solidFill>
                <a:latin typeface="Consolas" panose="020B0609020204030204" pitchFamily="49" charset="0"/>
              </a:rPr>
              <a:t>);</a:t>
            </a:r>
            <a:endParaRPr lang="en-US" dirty="0"/>
          </a:p>
          <a:p>
            <a:endParaRPr lang="en-US" dirty="0"/>
          </a:p>
        </p:txBody>
      </p:sp>
      <p:sp>
        <p:nvSpPr>
          <p:cNvPr id="3" name="Title 2"/>
          <p:cNvSpPr>
            <a:spLocks noGrp="1"/>
          </p:cNvSpPr>
          <p:nvPr>
            <p:ph type="title"/>
          </p:nvPr>
        </p:nvSpPr>
        <p:spPr/>
        <p:txBody>
          <a:bodyPr/>
          <a:lstStyle/>
          <a:p>
            <a:r>
              <a:rPr lang="en-US" dirty="0"/>
              <a:t>Example: JSON string returned from the API</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p:blipFill>
        <p:spPr>
          <a:xfrm>
            <a:off x="153294" y="1063861"/>
            <a:ext cx="5220915" cy="5504892"/>
          </a:xfrm>
          <a:prstGeom prst="rect">
            <a:avLst/>
          </a:prstGeom>
        </p:spPr>
      </p:pic>
      <p:sp>
        <p:nvSpPr>
          <p:cNvPr id="7" name="Rectangle 3"/>
          <p:cNvSpPr>
            <a:spLocks noChangeArrowheads="1"/>
          </p:cNvSpPr>
          <p:nvPr/>
        </p:nvSpPr>
        <p:spPr bwMode="auto">
          <a:xfrm>
            <a:off x="-20823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p:nvPr/>
        </p:nvSpPr>
        <p:spPr>
          <a:xfrm>
            <a:off x="65314" y="727787"/>
            <a:ext cx="1502229" cy="345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Sample JSON</a:t>
            </a:r>
          </a:p>
        </p:txBody>
      </p:sp>
    </p:spTree>
    <p:extLst>
      <p:ext uri="{BB962C8B-B14F-4D97-AF65-F5344CB8AC3E}">
        <p14:creationId xmlns:p14="http://schemas.microsoft.com/office/powerpoint/2010/main" val="16430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solidFill>
                  <a:schemeClr val="accent6"/>
                </a:solidFill>
              </a:rPr>
              <a:t>Serialization</a:t>
            </a:r>
          </a:p>
          <a:p>
            <a:pPr lvl="1"/>
            <a:r>
              <a:rPr lang="en-US" dirty="0"/>
              <a:t>Serialization means to </a:t>
            </a:r>
            <a:r>
              <a:rPr lang="en-US" b="1" dirty="0"/>
              <a:t>convert an object into that string</a:t>
            </a:r>
            <a:r>
              <a:rPr lang="en-US" dirty="0"/>
              <a:t>. (Object </a:t>
            </a:r>
            <a:r>
              <a:rPr lang="en-US" dirty="0">
                <a:sym typeface="Wingdings" panose="05000000000000000000" pitchFamily="2" charset="2"/>
              </a:rPr>
              <a:t> String)</a:t>
            </a:r>
            <a:endParaRPr lang="en-US" dirty="0"/>
          </a:p>
          <a:p>
            <a:pPr lvl="1"/>
            <a:r>
              <a:rPr lang="en-US" dirty="0"/>
              <a:t>Serialization is the process of converting the state of an object, that is, the values of its properties, into a form that can be stored or transmitted. </a:t>
            </a:r>
          </a:p>
          <a:p>
            <a:pPr lvl="1"/>
            <a:r>
              <a:rPr lang="en-US" dirty="0"/>
              <a:t>The serialized form doesn't include any information about an object's associated methods.</a:t>
            </a:r>
          </a:p>
          <a:p>
            <a:pPr lvl="1"/>
            <a:r>
              <a:rPr lang="en-US" b="1" dirty="0"/>
              <a:t>So, serialization converts the object into a shareable format.</a:t>
            </a:r>
            <a:endParaRPr lang="en-US" dirty="0"/>
          </a:p>
          <a:p>
            <a:r>
              <a:rPr lang="en-US" b="1" dirty="0">
                <a:solidFill>
                  <a:schemeClr val="accent6"/>
                </a:solidFill>
              </a:rPr>
              <a:t>Deserialization</a:t>
            </a:r>
          </a:p>
          <a:p>
            <a:pPr lvl="1"/>
            <a:r>
              <a:rPr lang="en-US" dirty="0"/>
              <a:t>Deserialization is its </a:t>
            </a:r>
            <a:r>
              <a:rPr lang="en-US" b="1" dirty="0"/>
              <a:t>inverse operation</a:t>
            </a:r>
            <a:r>
              <a:rPr lang="en-US" dirty="0"/>
              <a:t> (String </a:t>
            </a:r>
            <a:r>
              <a:rPr lang="en-US" dirty="0">
                <a:sym typeface="Wingdings" panose="05000000000000000000" pitchFamily="2" charset="2"/>
              </a:rPr>
              <a:t></a:t>
            </a:r>
            <a:r>
              <a:rPr lang="en-US" dirty="0"/>
              <a:t> Object).</a:t>
            </a:r>
          </a:p>
          <a:p>
            <a:pPr lvl="1"/>
            <a:r>
              <a:rPr lang="en-US" dirty="0"/>
              <a:t>Deserialization is the process of converting the serialized stream of data into the original object state. </a:t>
            </a:r>
          </a:p>
          <a:p>
            <a:pPr lvl="1"/>
            <a:r>
              <a:rPr lang="en-US" dirty="0"/>
              <a:t>This ensures that the original state is not altered and is recreated when we need it.</a:t>
            </a:r>
          </a:p>
          <a:p>
            <a:pPr lvl="1"/>
            <a:endParaRPr lang="en-US" dirty="0"/>
          </a:p>
          <a:p>
            <a:pPr lvl="1"/>
            <a:endParaRPr lang="en-US" dirty="0"/>
          </a:p>
          <a:p>
            <a:pPr lvl="1"/>
            <a:endParaRPr lang="en-US" dirty="0"/>
          </a:p>
          <a:p>
            <a:endParaRPr lang="en-US" dirty="0"/>
          </a:p>
          <a:p>
            <a:endParaRPr lang="en-US" dirty="0"/>
          </a:p>
        </p:txBody>
      </p:sp>
      <p:sp>
        <p:nvSpPr>
          <p:cNvPr id="3" name="Title 2"/>
          <p:cNvSpPr>
            <a:spLocks noGrp="1"/>
          </p:cNvSpPr>
          <p:nvPr>
            <p:ph type="title"/>
          </p:nvPr>
        </p:nvSpPr>
        <p:spPr/>
        <p:txBody>
          <a:bodyPr/>
          <a:lstStyle/>
          <a:p>
            <a:r>
              <a:rPr lang="en-US" dirty="0"/>
              <a:t>Difference between JSON serialize and JSON deserialize?</a:t>
            </a:r>
          </a:p>
        </p:txBody>
      </p:sp>
    </p:spTree>
    <p:extLst>
      <p:ext uri="{BB962C8B-B14F-4D97-AF65-F5344CB8AC3E}">
        <p14:creationId xmlns:p14="http://schemas.microsoft.com/office/powerpoint/2010/main" val="3792865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JSON Serialization Example</a:t>
            </a:r>
          </a:p>
        </p:txBody>
      </p:sp>
      <p:sp>
        <p:nvSpPr>
          <p:cNvPr id="4" name="TextBox 3"/>
          <p:cNvSpPr txBox="1"/>
          <p:nvPr/>
        </p:nvSpPr>
        <p:spPr>
          <a:xfrm>
            <a:off x="5680365" y="805166"/>
            <a:ext cx="6384118" cy="2954655"/>
          </a:xfrm>
          <a:prstGeom prst="rect">
            <a:avLst/>
          </a:prstGeom>
          <a:solidFill>
            <a:schemeClr val="bg1">
              <a:lumMod val="95000"/>
            </a:schemeClr>
          </a:solidFill>
        </p:spPr>
        <p:txBody>
          <a:bodyPr wrap="square" rtlCol="0">
            <a:spAutoFit/>
          </a:bodyPr>
          <a:lstStyle/>
          <a:p>
            <a:pPr eaLnBrk="0" fontAlgn="base" hangingPunct="0">
              <a:spcBef>
                <a:spcPct val="0"/>
              </a:spcBef>
              <a:spcAft>
                <a:spcPct val="0"/>
              </a:spcAft>
            </a:pPr>
            <a:r>
              <a:rPr lang="en-US" dirty="0">
                <a:solidFill>
                  <a:srgbClr val="066555"/>
                </a:solidFill>
                <a:latin typeface="Consolas" panose="020B0609020204030204" pitchFamily="49" charset="0"/>
              </a:rPr>
              <a:t>//</a:t>
            </a:r>
            <a:r>
              <a:rPr lang="en-US" dirty="0" err="1">
                <a:solidFill>
                  <a:srgbClr val="066555"/>
                </a:solidFill>
                <a:latin typeface="Consolas" panose="020B0609020204030204" pitchFamily="49" charset="0"/>
              </a:rPr>
              <a:t>Program.cs</a:t>
            </a:r>
            <a:r>
              <a:rPr lang="en-US" dirty="0">
                <a:solidFill>
                  <a:srgbClr val="000000"/>
                </a:solidFill>
                <a:latin typeface="Consolas" panose="020B0609020204030204" pitchFamily="49" charset="0"/>
              </a:rPr>
              <a:t> </a:t>
            </a:r>
            <a:endParaRPr lang="en-US" sz="4400" dirty="0">
              <a:latin typeface="Arial" panose="020B0604020202020204" pitchFamily="34" charset="0"/>
            </a:endParaRPr>
          </a:p>
          <a:p>
            <a:pPr lvl="0" eaLnBrk="0" fontAlgn="base" hangingPunct="0">
              <a:spcBef>
                <a:spcPct val="0"/>
              </a:spcBef>
              <a:spcAft>
                <a:spcPct val="0"/>
              </a:spcAft>
            </a:pPr>
            <a:endParaRPr lang="en-US" sz="1400" dirty="0">
              <a:solidFill>
                <a:srgbClr val="0000FF"/>
              </a:solidFill>
              <a:latin typeface="Consolas" panose="020B0609020204030204" pitchFamily="49" charset="0"/>
            </a:endParaRPr>
          </a:p>
          <a:p>
            <a:pPr lvl="0" eaLnBrk="0" fontAlgn="base" hangingPunct="0">
              <a:spcBef>
                <a:spcPct val="0"/>
              </a:spcBef>
              <a:spcAft>
                <a:spcPct val="0"/>
              </a:spcAft>
            </a:pPr>
            <a:r>
              <a:rPr lang="en-US" sz="1400" dirty="0">
                <a:solidFill>
                  <a:srgbClr val="0000FF"/>
                </a:solidFill>
                <a:latin typeface="Consolas" panose="020B0609020204030204" pitchFamily="49" charset="0"/>
              </a:rPr>
              <a:t>using</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SerializeDemo</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FF"/>
                </a:solidFill>
                <a:latin typeface="Consolas" panose="020B0609020204030204" pitchFamily="49" charset="0"/>
              </a:rPr>
              <a:t>using</a:t>
            </a:r>
            <a:r>
              <a:rPr lang="en-US" sz="1400" dirty="0">
                <a:solidFill>
                  <a:srgbClr val="000000"/>
                </a:solidFill>
                <a:latin typeface="Consolas" panose="020B0609020204030204" pitchFamily="49" charset="0"/>
              </a:rPr>
              <a:t> </a:t>
            </a:r>
            <a:r>
              <a:rPr lang="en-US" sz="1400" b="1" dirty="0" err="1">
                <a:solidFill>
                  <a:schemeClr val="tx2"/>
                </a:solidFill>
                <a:latin typeface="Consolas" panose="020B0609020204030204" pitchFamily="49" charset="0"/>
              </a:rPr>
              <a:t>Newtonsoft.Json</a:t>
            </a:r>
            <a:r>
              <a:rPr lang="en-US" sz="1400" dirty="0">
                <a:solidFill>
                  <a:srgbClr val="000000"/>
                </a:solidFill>
                <a:latin typeface="Consolas" panose="020B0609020204030204" pitchFamily="49" charset="0"/>
              </a:rPr>
              <a:t>;</a:t>
            </a:r>
          </a:p>
          <a:p>
            <a:pPr lvl="0" eaLnBrk="0" fontAlgn="base" hangingPunct="0">
              <a:spcBef>
                <a:spcPct val="0"/>
              </a:spcBef>
              <a:spcAft>
                <a:spcPct val="0"/>
              </a:spcAft>
            </a:pPr>
            <a:endParaRPr lang="en-US" sz="1400" dirty="0">
              <a:solidFill>
                <a:srgbClr val="000000"/>
              </a:solidFill>
              <a:latin typeface="Consolas" panose="020B0609020204030204" pitchFamily="49" charset="0"/>
            </a:endParaRPr>
          </a:p>
          <a:p>
            <a:pPr lvl="0" eaLnBrk="0" fontAlgn="base" hangingPunct="0">
              <a:spcBef>
                <a:spcPct val="0"/>
              </a:spcBef>
              <a:spcAft>
                <a:spcPct val="0"/>
              </a:spcAft>
            </a:pPr>
            <a:r>
              <a:rPr lang="en-US" sz="1400" dirty="0">
                <a:solidFill>
                  <a:srgbClr val="066555"/>
                </a:solidFill>
                <a:latin typeface="Consolas" panose="020B0609020204030204" pitchFamily="49" charset="0"/>
              </a:rPr>
              <a:t>Student</a:t>
            </a:r>
            <a:r>
              <a:rPr lang="en-US" sz="1400" dirty="0">
                <a:solidFill>
                  <a:srgbClr val="000000"/>
                </a:solidFill>
                <a:latin typeface="Consolas" panose="020B0609020204030204" pitchFamily="49" charset="0"/>
              </a:rPr>
              <a:t> </a:t>
            </a:r>
            <a:r>
              <a:rPr lang="en-US" sz="1400" b="1" dirty="0" err="1">
                <a:solidFill>
                  <a:srgbClr val="1F377F"/>
                </a:solidFill>
                <a:latin typeface="Consolas" panose="020B0609020204030204" pitchFamily="49" charset="0"/>
              </a:rPr>
              <a:t>std</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new</a:t>
            </a:r>
            <a:r>
              <a:rPr lang="en-US" sz="1400" dirty="0">
                <a:solidFill>
                  <a:srgbClr val="000000"/>
                </a:solidFill>
                <a:latin typeface="Consolas" panose="020B0609020204030204" pitchFamily="49" charset="0"/>
              </a:rPr>
              <a:t> </a:t>
            </a:r>
            <a:r>
              <a:rPr lang="en-US" sz="1400" dirty="0">
                <a:solidFill>
                  <a:srgbClr val="066555"/>
                </a:solidFill>
                <a:latin typeface="Consolas" panose="020B0609020204030204" pitchFamily="49" charset="0"/>
              </a:rPr>
              <a:t>Student</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StudentID</a:t>
            </a:r>
            <a:r>
              <a:rPr lang="en-US" sz="1400" dirty="0">
                <a:solidFill>
                  <a:srgbClr val="000000"/>
                </a:solidFill>
                <a:latin typeface="Consolas" panose="020B0609020204030204" pitchFamily="49" charset="0"/>
              </a:rPr>
              <a:t> = 101,     </a:t>
            </a:r>
          </a:p>
          <a:p>
            <a:pPr lvl="0" eaLnBrk="0" fontAlgn="base" hangingPunct="0">
              <a:spcBef>
                <a:spcPct val="0"/>
              </a:spcBef>
              <a:spcAft>
                <a:spcPct val="0"/>
              </a:spcAft>
            </a:pPr>
            <a:r>
              <a:rPr lang="en-US" sz="1400" dirty="0">
                <a:solidFill>
                  <a:srgbClr val="000000"/>
                </a:solidFill>
                <a:latin typeface="Consolas" panose="020B0609020204030204" pitchFamily="49" charset="0"/>
              </a:rPr>
              <a:t>	Name = </a:t>
            </a:r>
            <a:r>
              <a:rPr lang="en-US" sz="1400" dirty="0">
                <a:solidFill>
                  <a:srgbClr val="A31515"/>
                </a:solidFill>
                <a:latin typeface="Consolas" panose="020B0609020204030204" pitchFamily="49" charset="0"/>
              </a:rPr>
              <a:t>"</a:t>
            </a:r>
            <a:r>
              <a:rPr lang="en-US" sz="1400" dirty="0" err="1">
                <a:solidFill>
                  <a:srgbClr val="A31515"/>
                </a:solidFill>
                <a:latin typeface="Consolas" panose="020B0609020204030204" pitchFamily="49" charset="0"/>
              </a:rPr>
              <a:t>Naimish</a:t>
            </a:r>
            <a:r>
              <a:rPr lang="en-US" sz="1400" dirty="0">
                <a:solidFill>
                  <a:srgbClr val="A31515"/>
                </a:solidFill>
                <a:latin typeface="Consolas" panose="020B0609020204030204" pitchFamily="49" charset="0"/>
              </a:rPr>
              <a:t>"</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00"/>
                </a:solidFill>
                <a:latin typeface="Consolas" panose="020B0609020204030204" pitchFamily="49" charset="0"/>
              </a:rPr>
              <a:t>	City = </a:t>
            </a:r>
            <a:r>
              <a:rPr lang="en-US" sz="1400" dirty="0">
                <a:solidFill>
                  <a:srgbClr val="A31515"/>
                </a:solidFill>
                <a:latin typeface="Consolas" panose="020B0609020204030204" pitchFamily="49" charset="0"/>
              </a:rPr>
              <a:t>"Rajkot"</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a:t>
            </a:r>
            <a:r>
              <a:rPr lang="en-US" sz="1400" b="1" dirty="0" err="1">
                <a:solidFill>
                  <a:srgbClr val="1F377F"/>
                </a:solidFill>
                <a:latin typeface="Consolas" panose="020B0609020204030204" pitchFamily="49" charset="0"/>
              </a:rPr>
              <a:t>jsonData</a:t>
            </a:r>
            <a:r>
              <a:rPr lang="en-US" sz="1400" dirty="0">
                <a:solidFill>
                  <a:srgbClr val="000000"/>
                </a:solidFill>
                <a:latin typeface="Consolas" panose="020B0609020204030204" pitchFamily="49" charset="0"/>
              </a:rPr>
              <a:t> = </a:t>
            </a:r>
            <a:r>
              <a:rPr lang="en-US" sz="1400" dirty="0" err="1">
                <a:solidFill>
                  <a:srgbClr val="066555"/>
                </a:solidFill>
                <a:latin typeface="Consolas" panose="020B0609020204030204" pitchFamily="49" charset="0"/>
              </a:rPr>
              <a:t>JsonConvert</a:t>
            </a:r>
            <a:r>
              <a:rPr lang="en-US" sz="1400" dirty="0" err="1">
                <a:solidFill>
                  <a:srgbClr val="000000"/>
                </a:solidFill>
                <a:latin typeface="Consolas" panose="020B0609020204030204" pitchFamily="49" charset="0"/>
              </a:rPr>
              <a:t>.</a:t>
            </a:r>
            <a:r>
              <a:rPr lang="en-US" sz="1400" dirty="0" err="1">
                <a:solidFill>
                  <a:schemeClr val="accent6">
                    <a:lumMod val="50000"/>
                  </a:schemeClr>
                </a:solidFill>
                <a:latin typeface="Consolas" panose="020B0609020204030204" pitchFamily="49" charset="0"/>
              </a:rPr>
              <a:t>SerializeObject</a:t>
            </a:r>
            <a:r>
              <a:rPr lang="en-US" sz="1400" dirty="0">
                <a:solidFill>
                  <a:srgbClr val="000000"/>
                </a:solidFill>
                <a:latin typeface="Consolas" panose="020B0609020204030204" pitchFamily="49" charset="0"/>
              </a:rPr>
              <a:t>(</a:t>
            </a:r>
            <a:r>
              <a:rPr lang="en-US" sz="1400" b="1" dirty="0" err="1">
                <a:solidFill>
                  <a:srgbClr val="1F377F"/>
                </a:solidFill>
                <a:latin typeface="Consolas" panose="020B0609020204030204" pitchFamily="49" charset="0"/>
              </a:rPr>
              <a:t>std</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err="1">
                <a:solidFill>
                  <a:srgbClr val="066555"/>
                </a:solidFill>
                <a:latin typeface="Consolas" panose="020B0609020204030204" pitchFamily="49" charset="0"/>
              </a:rPr>
              <a:t>Console</a:t>
            </a:r>
            <a:r>
              <a:rPr lang="en-US" sz="1400" dirty="0" err="1">
                <a:solidFill>
                  <a:srgbClr val="000000"/>
                </a:solidFill>
                <a:latin typeface="Consolas" panose="020B0609020204030204" pitchFamily="49" charset="0"/>
              </a:rPr>
              <a:t>.</a:t>
            </a:r>
            <a:r>
              <a:rPr lang="en-US" sz="1400" dirty="0" err="1">
                <a:solidFill>
                  <a:schemeClr val="accent6">
                    <a:lumMod val="50000"/>
                  </a:schemeClr>
                </a:solidFill>
                <a:latin typeface="Consolas" panose="020B0609020204030204" pitchFamily="49" charset="0"/>
              </a:rPr>
              <a:t>WriteLine</a:t>
            </a:r>
            <a:r>
              <a:rPr lang="en-US" sz="1400" dirty="0">
                <a:solidFill>
                  <a:srgbClr val="000000"/>
                </a:solidFill>
                <a:latin typeface="Consolas" panose="020B0609020204030204" pitchFamily="49" charset="0"/>
              </a:rPr>
              <a:t>(</a:t>
            </a:r>
            <a:r>
              <a:rPr lang="en-US" sz="1400" b="1" dirty="0" err="1">
                <a:solidFill>
                  <a:srgbClr val="1F377F"/>
                </a:solidFill>
                <a:latin typeface="Consolas" panose="020B0609020204030204" pitchFamily="49" charset="0"/>
              </a:rPr>
              <a:t>jsonData</a:t>
            </a:r>
            <a:r>
              <a:rPr lang="en-US" sz="1400" dirty="0">
                <a:solidFill>
                  <a:srgbClr val="000000"/>
                </a:solidFill>
                <a:latin typeface="Consolas" panose="020B0609020204030204" pitchFamily="49" charset="0"/>
              </a:rPr>
              <a:t>);</a:t>
            </a:r>
            <a:endParaRPr lang="en-US" sz="1400" dirty="0">
              <a:latin typeface="Arial" panose="020B0604020202020204" pitchFamily="34" charset="0"/>
            </a:endParaRPr>
          </a:p>
        </p:txBody>
      </p:sp>
      <p:sp>
        <p:nvSpPr>
          <p:cNvPr id="7" name="TextBox 6"/>
          <p:cNvSpPr txBox="1"/>
          <p:nvPr/>
        </p:nvSpPr>
        <p:spPr>
          <a:xfrm>
            <a:off x="124691" y="808181"/>
            <a:ext cx="5344273" cy="2739211"/>
          </a:xfrm>
          <a:prstGeom prst="rect">
            <a:avLst/>
          </a:prstGeom>
          <a:solidFill>
            <a:schemeClr val="bg1">
              <a:lumMod val="95000"/>
            </a:schemeClr>
          </a:solidFill>
        </p:spPr>
        <p:txBody>
          <a:bodyPr wrap="square" rtlCol="0">
            <a:spAutoFit/>
          </a:bodyPr>
          <a:lstStyle/>
          <a:p>
            <a:pPr lvl="0" eaLnBrk="0" fontAlgn="base" hangingPunct="0">
              <a:spcBef>
                <a:spcPct val="0"/>
              </a:spcBef>
              <a:spcAft>
                <a:spcPct val="0"/>
              </a:spcAft>
            </a:pPr>
            <a:r>
              <a:rPr lang="en-US" dirty="0">
                <a:solidFill>
                  <a:srgbClr val="066555"/>
                </a:solidFill>
                <a:latin typeface="Consolas" panose="020B0609020204030204" pitchFamily="49" charset="0"/>
              </a:rPr>
              <a:t>//</a:t>
            </a:r>
            <a:r>
              <a:rPr lang="en-US" dirty="0" err="1">
                <a:solidFill>
                  <a:srgbClr val="066555"/>
                </a:solidFill>
                <a:latin typeface="Consolas" panose="020B0609020204030204" pitchFamily="49" charset="0"/>
              </a:rPr>
              <a:t>Student.cs</a:t>
            </a:r>
            <a:endParaRPr lang="en-US" dirty="0">
              <a:solidFill>
                <a:srgbClr val="066555"/>
              </a:solidFill>
              <a:latin typeface="Consolas" panose="020B0609020204030204" pitchFamily="49" charset="0"/>
            </a:endParaRPr>
          </a:p>
          <a:p>
            <a:pPr lvl="0" eaLnBrk="0" fontAlgn="base" hangingPunct="0">
              <a:spcBef>
                <a:spcPct val="0"/>
              </a:spcBef>
              <a:spcAft>
                <a:spcPct val="0"/>
              </a:spcAft>
            </a:pPr>
            <a:r>
              <a:rPr lang="en-US" sz="1400" dirty="0">
                <a:solidFill>
                  <a:srgbClr val="000000"/>
                </a:solidFill>
                <a:latin typeface="Consolas" panose="020B0609020204030204" pitchFamily="49" charset="0"/>
              </a:rPr>
              <a:t> </a:t>
            </a:r>
            <a:endParaRPr lang="en-US" sz="3600" dirty="0">
              <a:latin typeface="Arial" panose="020B0604020202020204" pitchFamily="34" charset="0"/>
            </a:endParaRPr>
          </a:p>
          <a:p>
            <a:pPr lvl="0"/>
            <a:r>
              <a:rPr lang="en-US" sz="1400" dirty="0">
                <a:solidFill>
                  <a:srgbClr val="0000FF"/>
                </a:solidFill>
                <a:latin typeface="Consolas" panose="020B0609020204030204" pitchFamily="49" charset="0"/>
              </a:rPr>
              <a:t>namespace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SerializeDemo</a:t>
            </a:r>
            <a:endParaRPr lang="en-US" sz="1400" dirty="0">
              <a:solidFill>
                <a:srgbClr val="000000"/>
              </a:solidFill>
              <a:latin typeface="Consolas" panose="020B0609020204030204" pitchFamily="49" charset="0"/>
            </a:endParaRPr>
          </a:p>
          <a:p>
            <a:pPr lvl="0"/>
            <a:r>
              <a:rPr lang="en-US" sz="1400" dirty="0">
                <a:solidFill>
                  <a:srgbClr val="000000"/>
                </a:solidFill>
                <a:latin typeface="Consolas" panose="020B0609020204030204" pitchFamily="49" charset="0"/>
              </a:rPr>
              <a:t>{     </a:t>
            </a:r>
          </a:p>
          <a:p>
            <a:pPr lvl="0"/>
            <a:r>
              <a:rPr lang="en-US" sz="1400" dirty="0">
                <a:solidFill>
                  <a:srgbClr val="0000FF"/>
                </a:solidFill>
                <a:latin typeface="Consolas" panose="020B0609020204030204" pitchFamily="49" charset="0"/>
              </a:rPr>
              <a:t>	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a:t>
            </a:r>
            <a:r>
              <a:rPr lang="en-US" sz="1400" dirty="0">
                <a:solidFill>
                  <a:srgbClr val="066555"/>
                </a:solidFill>
                <a:latin typeface="Consolas" panose="020B0609020204030204" pitchFamily="49" charset="0"/>
              </a:rPr>
              <a:t>Student</a:t>
            </a:r>
            <a:r>
              <a:rPr lang="en-US" sz="1400" dirty="0">
                <a:solidFill>
                  <a:srgbClr val="000000"/>
                </a:solidFill>
                <a:latin typeface="Consolas" panose="020B0609020204030204" pitchFamily="49" charset="0"/>
              </a:rPr>
              <a:t>     </a:t>
            </a:r>
          </a:p>
          <a:p>
            <a:pPr lvl="0"/>
            <a:r>
              <a:rPr lang="en-US" sz="1400" dirty="0">
                <a:solidFill>
                  <a:srgbClr val="000000"/>
                </a:solidFill>
                <a:latin typeface="Consolas" panose="020B0609020204030204" pitchFamily="49" charset="0"/>
              </a:rPr>
              <a:t>	{         </a:t>
            </a:r>
          </a:p>
          <a:p>
            <a:pPr lvl="2"/>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StudentID</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Name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p>
          <a:p>
            <a:pPr lvl="4"/>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City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    </a:t>
            </a:r>
          </a:p>
          <a:p>
            <a:pPr lvl="0"/>
            <a:r>
              <a:rPr lang="en-US" sz="1400" dirty="0">
                <a:solidFill>
                  <a:srgbClr val="000000"/>
                </a:solidFill>
                <a:latin typeface="Consolas" panose="020B0609020204030204" pitchFamily="49" charset="0"/>
              </a:rPr>
              <a:t>	} </a:t>
            </a:r>
          </a:p>
          <a:p>
            <a:pPr lvl="0"/>
            <a:r>
              <a:rPr lang="en-US" sz="1400" dirty="0">
                <a:solidFill>
                  <a:srgbClr val="000000"/>
                </a:solidFill>
                <a:latin typeface="Consolas" panose="020B0609020204030204" pitchFamily="49" charset="0"/>
              </a:rPr>
              <a:t>} </a:t>
            </a:r>
            <a:endParaRPr lang="en-US" sz="3600" dirty="0">
              <a:latin typeface="Arial" panose="020B0604020202020204" pitchFamily="34" charset="0"/>
            </a:endParaRPr>
          </a:p>
        </p:txBody>
      </p:sp>
      <p:pic>
        <p:nvPicPr>
          <p:cNvPr id="11" name="Picture 10"/>
          <p:cNvPicPr>
            <a:picLocks noChangeAspect="1"/>
          </p:cNvPicPr>
          <p:nvPr/>
        </p:nvPicPr>
        <p:blipFill>
          <a:blip r:embed="rId2"/>
          <a:stretch>
            <a:fillRect/>
          </a:stretch>
        </p:blipFill>
        <p:spPr>
          <a:xfrm>
            <a:off x="1168864" y="4441731"/>
            <a:ext cx="9593014" cy="419158"/>
          </a:xfrm>
          <a:prstGeom prst="rect">
            <a:avLst/>
          </a:prstGeom>
        </p:spPr>
      </p:pic>
      <p:sp>
        <p:nvSpPr>
          <p:cNvPr id="12" name="TextBox 11"/>
          <p:cNvSpPr txBox="1"/>
          <p:nvPr/>
        </p:nvSpPr>
        <p:spPr>
          <a:xfrm>
            <a:off x="1073020" y="4002833"/>
            <a:ext cx="1455576" cy="400110"/>
          </a:xfrm>
          <a:prstGeom prst="rect">
            <a:avLst/>
          </a:prstGeom>
          <a:noFill/>
        </p:spPr>
        <p:txBody>
          <a:bodyPr wrap="square" rtlCol="0">
            <a:spAutoFit/>
          </a:bodyPr>
          <a:lstStyle/>
          <a:p>
            <a:r>
              <a:rPr lang="en-US" sz="2000" b="1" dirty="0">
                <a:solidFill>
                  <a:schemeClr val="tx2"/>
                </a:solidFill>
              </a:rPr>
              <a:t>Output</a:t>
            </a:r>
          </a:p>
        </p:txBody>
      </p:sp>
    </p:spTree>
    <p:extLst>
      <p:ext uri="{BB962C8B-B14F-4D97-AF65-F5344CB8AC3E}">
        <p14:creationId xmlns:p14="http://schemas.microsoft.com/office/powerpoint/2010/main" val="1277441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JSON Deserialization Example</a:t>
            </a:r>
          </a:p>
        </p:txBody>
      </p:sp>
      <p:sp>
        <p:nvSpPr>
          <p:cNvPr id="12" name="TextBox 11"/>
          <p:cNvSpPr txBox="1"/>
          <p:nvPr/>
        </p:nvSpPr>
        <p:spPr>
          <a:xfrm>
            <a:off x="0" y="4900550"/>
            <a:ext cx="1455576" cy="400110"/>
          </a:xfrm>
          <a:prstGeom prst="rect">
            <a:avLst/>
          </a:prstGeom>
          <a:noFill/>
        </p:spPr>
        <p:txBody>
          <a:bodyPr wrap="square" rtlCol="0">
            <a:spAutoFit/>
          </a:bodyPr>
          <a:lstStyle/>
          <a:p>
            <a:r>
              <a:rPr lang="en-US" sz="2000" b="1" dirty="0">
                <a:solidFill>
                  <a:schemeClr val="tx2"/>
                </a:solidFill>
              </a:rPr>
              <a:t>Output</a:t>
            </a:r>
          </a:p>
        </p:txBody>
      </p:sp>
      <p:pic>
        <p:nvPicPr>
          <p:cNvPr id="2" name="Picture 1"/>
          <p:cNvPicPr>
            <a:picLocks noChangeAspect="1"/>
          </p:cNvPicPr>
          <p:nvPr/>
        </p:nvPicPr>
        <p:blipFill>
          <a:blip r:embed="rId2"/>
          <a:stretch>
            <a:fillRect/>
          </a:stretch>
        </p:blipFill>
        <p:spPr>
          <a:xfrm>
            <a:off x="87071" y="813049"/>
            <a:ext cx="9983593" cy="3943900"/>
          </a:xfrm>
          <a:prstGeom prst="rect">
            <a:avLst/>
          </a:prstGeom>
          <a:ln>
            <a:solidFill>
              <a:schemeClr val="tx1"/>
            </a:solidFill>
          </a:ln>
        </p:spPr>
      </p:pic>
      <p:pic>
        <p:nvPicPr>
          <p:cNvPr id="5" name="Picture 4"/>
          <p:cNvPicPr>
            <a:picLocks noChangeAspect="1"/>
          </p:cNvPicPr>
          <p:nvPr/>
        </p:nvPicPr>
        <p:blipFill>
          <a:blip r:embed="rId3"/>
          <a:stretch>
            <a:fillRect/>
          </a:stretch>
        </p:blipFill>
        <p:spPr>
          <a:xfrm>
            <a:off x="87962" y="5275244"/>
            <a:ext cx="3534268" cy="352474"/>
          </a:xfrm>
          <a:prstGeom prst="rect">
            <a:avLst/>
          </a:prstGeom>
        </p:spPr>
      </p:pic>
    </p:spTree>
    <p:extLst>
      <p:ext uri="{BB962C8B-B14F-4D97-AF65-F5344CB8AC3E}">
        <p14:creationId xmlns:p14="http://schemas.microsoft.com/office/powerpoint/2010/main" val="208583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i="1" dirty="0"/>
              <a:t>Object</a:t>
            </a:r>
          </a:p>
          <a:p>
            <a:pPr lvl="1"/>
            <a:r>
              <a:rPr lang="en-US" dirty="0"/>
              <a:t>An unordered “name/value” assembly. </a:t>
            </a:r>
          </a:p>
          <a:p>
            <a:pPr lvl="1"/>
            <a:r>
              <a:rPr lang="en-US" dirty="0"/>
              <a:t>An object begins with “{“ and ends with “}”. </a:t>
            </a:r>
          </a:p>
          <a:p>
            <a:pPr lvl="1"/>
            <a:r>
              <a:rPr lang="en-US" dirty="0"/>
              <a:t>Behind each “name”, there is a colon. And comma is used to separate much “name/value”.</a:t>
            </a:r>
          </a:p>
          <a:p>
            <a:pPr marL="457200" lvl="1" indent="0">
              <a:buNone/>
            </a:pPr>
            <a:endParaRPr lang="en-US" dirty="0"/>
          </a:p>
          <a:p>
            <a:r>
              <a:rPr lang="en-US" b="1" i="1" dirty="0"/>
              <a:t>Array (Multiple Objects)</a:t>
            </a:r>
          </a:p>
          <a:p>
            <a:pPr lvl="1"/>
            <a:r>
              <a:rPr lang="en-US" dirty="0"/>
              <a:t>Value order sets, an array begins with “[“ and end with “]”. </a:t>
            </a:r>
          </a:p>
          <a:p>
            <a:pPr lvl="1"/>
            <a:r>
              <a:rPr lang="en-US" dirty="0"/>
              <a:t>Values are separated with commas.</a:t>
            </a:r>
          </a:p>
          <a:p>
            <a:pPr lvl="1"/>
            <a:endParaRPr lang="en-US" dirty="0"/>
          </a:p>
          <a:p>
            <a:pPr lvl="1"/>
            <a:endParaRPr lang="en-US" dirty="0"/>
          </a:p>
          <a:p>
            <a:r>
              <a:rPr lang="en-US" b="1" i="1" dirty="0"/>
              <a:t>String</a:t>
            </a:r>
          </a:p>
          <a:p>
            <a:pPr lvl="1"/>
            <a:r>
              <a:rPr lang="en-US" dirty="0"/>
              <a:t>Any quantity Unicode character assembly which is enclosed with quotation marks. </a:t>
            </a:r>
          </a:p>
          <a:p>
            <a:pPr lvl="1"/>
            <a:r>
              <a:rPr lang="en-US" dirty="0"/>
              <a:t>It uses a backslash to escape.</a:t>
            </a:r>
          </a:p>
          <a:p>
            <a:pPr lvl="1"/>
            <a:endParaRPr lang="en-US" dirty="0"/>
          </a:p>
          <a:p>
            <a:pPr lvl="1"/>
            <a:endParaRPr lang="en-US" dirty="0"/>
          </a:p>
        </p:txBody>
      </p:sp>
      <p:sp>
        <p:nvSpPr>
          <p:cNvPr id="3" name="Title 2"/>
          <p:cNvSpPr>
            <a:spLocks noGrp="1"/>
          </p:cNvSpPr>
          <p:nvPr>
            <p:ph type="title"/>
          </p:nvPr>
        </p:nvSpPr>
        <p:spPr/>
        <p:txBody>
          <a:bodyPr/>
          <a:lstStyle/>
          <a:p>
            <a:r>
              <a:rPr lang="en-US" dirty="0"/>
              <a:t>Different styles of JSON</a:t>
            </a:r>
          </a:p>
        </p:txBody>
      </p:sp>
      <p:pic>
        <p:nvPicPr>
          <p:cNvPr id="4" name="Picture 3"/>
          <p:cNvPicPr>
            <a:picLocks noChangeAspect="1"/>
          </p:cNvPicPr>
          <p:nvPr/>
        </p:nvPicPr>
        <p:blipFill>
          <a:blip r:embed="rId2"/>
          <a:stretch>
            <a:fillRect/>
          </a:stretch>
        </p:blipFill>
        <p:spPr>
          <a:xfrm>
            <a:off x="1005413" y="2315525"/>
            <a:ext cx="7792537" cy="304843"/>
          </a:xfrm>
          <a:prstGeom prst="rect">
            <a:avLst/>
          </a:prstGeom>
        </p:spPr>
      </p:pic>
      <p:pic>
        <p:nvPicPr>
          <p:cNvPr id="5" name="Picture 4"/>
          <p:cNvPicPr>
            <a:picLocks noChangeAspect="1"/>
          </p:cNvPicPr>
          <p:nvPr/>
        </p:nvPicPr>
        <p:blipFill>
          <a:blip r:embed="rId3"/>
          <a:stretch>
            <a:fillRect/>
          </a:stretch>
        </p:blipFill>
        <p:spPr>
          <a:xfrm>
            <a:off x="1016179" y="3778279"/>
            <a:ext cx="8106906" cy="514422"/>
          </a:xfrm>
          <a:prstGeom prst="rect">
            <a:avLst/>
          </a:prstGeom>
        </p:spPr>
      </p:pic>
      <p:pic>
        <p:nvPicPr>
          <p:cNvPr id="6" name="Picture 5"/>
          <p:cNvPicPr>
            <a:picLocks noChangeAspect="1"/>
          </p:cNvPicPr>
          <p:nvPr/>
        </p:nvPicPr>
        <p:blipFill>
          <a:blip r:embed="rId4"/>
          <a:stretch>
            <a:fillRect/>
          </a:stretch>
        </p:blipFill>
        <p:spPr>
          <a:xfrm>
            <a:off x="947863" y="5538959"/>
            <a:ext cx="7944959" cy="333422"/>
          </a:xfrm>
          <a:prstGeom prst="rect">
            <a:avLst/>
          </a:prstGeom>
        </p:spPr>
      </p:pic>
    </p:spTree>
    <p:extLst>
      <p:ext uri="{BB962C8B-B14F-4D97-AF65-F5344CB8AC3E}">
        <p14:creationId xmlns:p14="http://schemas.microsoft.com/office/powerpoint/2010/main" val="361172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Middleware</a:t>
            </a:r>
            <a:endParaRPr lang="en-US" sz="5400" dirty="0">
              <a:gradFill flip="none" rotWithShape="1">
                <a:gsLst>
                  <a:gs pos="10000">
                    <a:schemeClr val="accent6">
                      <a:lumMod val="50000"/>
                    </a:schemeClr>
                  </a:gs>
                  <a:gs pos="100000">
                    <a:schemeClr val="accent6"/>
                  </a:gs>
                </a:gsLst>
                <a:lin ang="0" scaled="1"/>
                <a:tileRect/>
              </a:gradFill>
            </a:endParaRPr>
          </a:p>
        </p:txBody>
      </p:sp>
      <p:sp>
        <p:nvSpPr>
          <p:cNvPr id="5" name="Text Placeholder 4"/>
          <p:cNvSpPr>
            <a:spLocks noGrp="1"/>
          </p:cNvSpPr>
          <p:nvPr>
            <p:ph type="body" idx="1"/>
          </p:nvPr>
        </p:nvSpPr>
        <p:spPr/>
        <p:txBody>
          <a:bodyPr/>
          <a:lstStyle/>
          <a:p>
            <a:r>
              <a:rPr lang="en-US" dirty="0"/>
              <a:t>Section – 6</a:t>
            </a:r>
          </a:p>
        </p:txBody>
      </p:sp>
    </p:spTree>
    <p:extLst>
      <p:ext uri="{BB962C8B-B14F-4D97-AF65-F5344CB8AC3E}">
        <p14:creationId xmlns:p14="http://schemas.microsoft.com/office/powerpoint/2010/main" val="887094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Middleware is one of the core functionalities of any ASP.NET Core Web Application. </a:t>
            </a:r>
          </a:p>
          <a:p>
            <a:r>
              <a:rPr lang="en-US" dirty="0"/>
              <a:t>When we send a request from the client to the server, middleware comes into the picture.</a:t>
            </a:r>
          </a:p>
          <a:p>
            <a:r>
              <a:rPr lang="en-US" b="1" dirty="0"/>
              <a:t>HTTP Request Pipeline:</a:t>
            </a:r>
          </a:p>
          <a:p>
            <a:pPr lvl="1"/>
            <a:r>
              <a:rPr lang="en-US" dirty="0"/>
              <a:t>Before understanding ASP.NET Core Middleware components, let us first understand what is HTTP Request Pipeline and how does it work. </a:t>
            </a:r>
          </a:p>
          <a:p>
            <a:pPr lvl="1"/>
            <a:r>
              <a:rPr lang="en-US" dirty="0"/>
              <a:t>Please have a look at the following image for a better understanding of the HTTP Request Pipeline. </a:t>
            </a:r>
          </a:p>
          <a:p>
            <a:pPr lvl="1"/>
            <a:endParaRPr lang="en-US" dirty="0"/>
          </a:p>
          <a:p>
            <a:pPr lvl="1"/>
            <a:endParaRPr lang="en-US" dirty="0"/>
          </a:p>
          <a:p>
            <a:pPr lvl="1"/>
            <a:endParaRPr lang="en-US" dirty="0"/>
          </a:p>
          <a:p>
            <a:pPr marL="457200" lvl="1" indent="0">
              <a:buNone/>
            </a:pPr>
            <a:endParaRPr lang="en-US" dirty="0"/>
          </a:p>
          <a:p>
            <a:pPr lvl="1"/>
            <a:r>
              <a:rPr lang="en-US" dirty="0"/>
              <a:t>As you can see in the below image, on the left-hand side, we have the client i.e. a browser and on the right-hand side, we have the server where our ASP.NET Core Web API application is hosted. </a:t>
            </a:r>
          </a:p>
          <a:p>
            <a:pPr lvl="1"/>
            <a:r>
              <a:rPr lang="en-US" dirty="0"/>
              <a:t>Further, the Web API Application has three controllers. </a:t>
            </a:r>
          </a:p>
          <a:p>
            <a:pPr lvl="1"/>
            <a:r>
              <a:rPr lang="en-US" dirty="0"/>
              <a:t>So, when the client sends a request to the server, we generally believe that it is the controller action method that is going to serve the request and then we get the response.</a:t>
            </a:r>
          </a:p>
          <a:p>
            <a:pPr lvl="1"/>
            <a:endParaRPr lang="en-US" dirty="0"/>
          </a:p>
          <a:p>
            <a:endParaRPr lang="en-US" dirty="0"/>
          </a:p>
          <a:p>
            <a:endParaRPr lang="en-US" dirty="0"/>
          </a:p>
        </p:txBody>
      </p:sp>
      <p:sp>
        <p:nvSpPr>
          <p:cNvPr id="3" name="Title 2"/>
          <p:cNvSpPr>
            <a:spLocks noGrp="1"/>
          </p:cNvSpPr>
          <p:nvPr>
            <p:ph type="title"/>
          </p:nvPr>
        </p:nvSpPr>
        <p:spPr/>
        <p:txBody>
          <a:bodyPr/>
          <a:lstStyle/>
          <a:p>
            <a:r>
              <a:rPr lang="en-US" dirty="0"/>
              <a:t>Middleware</a:t>
            </a:r>
          </a:p>
        </p:txBody>
      </p:sp>
      <p:sp>
        <p:nvSpPr>
          <p:cNvPr id="4" name="Rectangle 3"/>
          <p:cNvSpPr/>
          <p:nvPr/>
        </p:nvSpPr>
        <p:spPr>
          <a:xfrm>
            <a:off x="1484872" y="3433732"/>
            <a:ext cx="3069125" cy="62911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Client</a:t>
            </a:r>
          </a:p>
        </p:txBody>
      </p:sp>
      <p:sp>
        <p:nvSpPr>
          <p:cNvPr id="5" name="Rectangle 4"/>
          <p:cNvSpPr/>
          <p:nvPr/>
        </p:nvSpPr>
        <p:spPr>
          <a:xfrm>
            <a:off x="7338898" y="3224405"/>
            <a:ext cx="3069125" cy="931959"/>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Controller1</a:t>
            </a:r>
          </a:p>
          <a:p>
            <a:pPr algn="ctr"/>
            <a:r>
              <a:rPr lang="en-US" sz="2000" dirty="0">
                <a:solidFill>
                  <a:schemeClr val="tx2"/>
                </a:solidFill>
              </a:rPr>
              <a:t>Controller2</a:t>
            </a:r>
          </a:p>
          <a:p>
            <a:pPr algn="ctr"/>
            <a:r>
              <a:rPr lang="en-US" sz="2000" dirty="0">
                <a:solidFill>
                  <a:schemeClr val="tx2"/>
                </a:solidFill>
              </a:rPr>
              <a:t>Controller3</a:t>
            </a:r>
          </a:p>
        </p:txBody>
      </p:sp>
      <p:sp>
        <p:nvSpPr>
          <p:cNvPr id="6" name="Right Arrow 5"/>
          <p:cNvSpPr/>
          <p:nvPr/>
        </p:nvSpPr>
        <p:spPr>
          <a:xfrm>
            <a:off x="4796074" y="3488156"/>
            <a:ext cx="2353901" cy="183813"/>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7" name="Right Arrow 6"/>
          <p:cNvSpPr/>
          <p:nvPr/>
        </p:nvSpPr>
        <p:spPr>
          <a:xfrm rot="10800000">
            <a:off x="4777794" y="3868640"/>
            <a:ext cx="2353901" cy="183813"/>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 name="Rectangle 7"/>
          <p:cNvSpPr/>
          <p:nvPr/>
        </p:nvSpPr>
        <p:spPr>
          <a:xfrm>
            <a:off x="5207182" y="3276222"/>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HTTP Request</a:t>
            </a:r>
          </a:p>
        </p:txBody>
      </p:sp>
      <p:sp>
        <p:nvSpPr>
          <p:cNvPr id="9" name="Rectangle 8"/>
          <p:cNvSpPr/>
          <p:nvPr/>
        </p:nvSpPr>
        <p:spPr>
          <a:xfrm>
            <a:off x="5138287" y="3671314"/>
            <a:ext cx="1667348" cy="2821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HTTP Response</a:t>
            </a:r>
          </a:p>
        </p:txBody>
      </p:sp>
      <p:sp>
        <p:nvSpPr>
          <p:cNvPr id="10" name="Rectangle 9"/>
          <p:cNvSpPr/>
          <p:nvPr/>
        </p:nvSpPr>
        <p:spPr>
          <a:xfrm>
            <a:off x="2193545" y="4067303"/>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Browser </a:t>
            </a:r>
          </a:p>
        </p:txBody>
      </p:sp>
      <p:sp>
        <p:nvSpPr>
          <p:cNvPr id="11" name="Rectangle 10"/>
          <p:cNvSpPr/>
          <p:nvPr/>
        </p:nvSpPr>
        <p:spPr>
          <a:xfrm>
            <a:off x="8197948" y="4180266"/>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spTree>
    <p:extLst>
      <p:ext uri="{BB962C8B-B14F-4D97-AF65-F5344CB8AC3E}">
        <p14:creationId xmlns:p14="http://schemas.microsoft.com/office/powerpoint/2010/main" val="1776627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But in reality, before hitting the controller action method, the request has to pass through a pipeline. </a:t>
            </a:r>
          </a:p>
          <a:p>
            <a:r>
              <a:rPr lang="en-US" dirty="0"/>
              <a:t>Once the pipeline is completed, then only it navigates the request to the corresponding controller action method as shown in the below image.</a:t>
            </a:r>
          </a:p>
          <a:p>
            <a:endParaRPr lang="en-US" dirty="0"/>
          </a:p>
        </p:txBody>
      </p:sp>
      <p:sp>
        <p:nvSpPr>
          <p:cNvPr id="3" name="Title 2"/>
          <p:cNvSpPr>
            <a:spLocks noGrp="1"/>
          </p:cNvSpPr>
          <p:nvPr>
            <p:ph type="title"/>
          </p:nvPr>
        </p:nvSpPr>
        <p:spPr/>
        <p:txBody>
          <a:bodyPr/>
          <a:lstStyle/>
          <a:p>
            <a:r>
              <a:rPr lang="en-US" dirty="0"/>
              <a:t>Middleware Cont..</a:t>
            </a:r>
          </a:p>
        </p:txBody>
      </p:sp>
      <p:sp>
        <p:nvSpPr>
          <p:cNvPr id="4" name="Rectangle 3"/>
          <p:cNvSpPr/>
          <p:nvPr/>
        </p:nvSpPr>
        <p:spPr>
          <a:xfrm>
            <a:off x="1822488" y="3092593"/>
            <a:ext cx="3069125" cy="62911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Client</a:t>
            </a:r>
          </a:p>
        </p:txBody>
      </p:sp>
      <p:sp>
        <p:nvSpPr>
          <p:cNvPr id="5" name="Rectangle 4"/>
          <p:cNvSpPr/>
          <p:nvPr/>
        </p:nvSpPr>
        <p:spPr>
          <a:xfrm>
            <a:off x="7850242" y="3101475"/>
            <a:ext cx="1409496" cy="931959"/>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Controller1</a:t>
            </a:r>
          </a:p>
          <a:p>
            <a:pPr algn="ctr"/>
            <a:r>
              <a:rPr lang="en-US" sz="2000" dirty="0">
                <a:solidFill>
                  <a:schemeClr val="tx2"/>
                </a:solidFill>
              </a:rPr>
              <a:t>Controller2</a:t>
            </a:r>
          </a:p>
          <a:p>
            <a:pPr algn="ctr"/>
            <a:r>
              <a:rPr lang="en-US" sz="2000" dirty="0">
                <a:solidFill>
                  <a:schemeClr val="tx2"/>
                </a:solidFill>
              </a:rPr>
              <a:t>Controller3</a:t>
            </a:r>
          </a:p>
        </p:txBody>
      </p:sp>
      <p:sp>
        <p:nvSpPr>
          <p:cNvPr id="6" name="Right Arrow 5"/>
          <p:cNvSpPr/>
          <p:nvPr/>
        </p:nvSpPr>
        <p:spPr>
          <a:xfrm>
            <a:off x="5133690" y="3147017"/>
            <a:ext cx="2353901" cy="183813"/>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7" name="Right Arrow 6"/>
          <p:cNvSpPr/>
          <p:nvPr/>
        </p:nvSpPr>
        <p:spPr>
          <a:xfrm rot="10800000">
            <a:off x="5115410" y="3527501"/>
            <a:ext cx="2353901" cy="183813"/>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 name="Rectangle 7"/>
          <p:cNvSpPr/>
          <p:nvPr/>
        </p:nvSpPr>
        <p:spPr>
          <a:xfrm>
            <a:off x="5544798" y="2935083"/>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HTTP Request</a:t>
            </a:r>
          </a:p>
        </p:txBody>
      </p:sp>
      <p:sp>
        <p:nvSpPr>
          <p:cNvPr id="9" name="Rectangle 8"/>
          <p:cNvSpPr/>
          <p:nvPr/>
        </p:nvSpPr>
        <p:spPr>
          <a:xfrm>
            <a:off x="5475903" y="3330175"/>
            <a:ext cx="1667348" cy="2821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HTTP Response</a:t>
            </a:r>
          </a:p>
        </p:txBody>
      </p:sp>
      <p:sp>
        <p:nvSpPr>
          <p:cNvPr id="10" name="Rectangle 9"/>
          <p:cNvSpPr/>
          <p:nvPr/>
        </p:nvSpPr>
        <p:spPr>
          <a:xfrm>
            <a:off x="2603897" y="3798900"/>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Browser </a:t>
            </a:r>
          </a:p>
        </p:txBody>
      </p:sp>
      <p:sp>
        <p:nvSpPr>
          <p:cNvPr id="11" name="Rectangle 10"/>
          <p:cNvSpPr/>
          <p:nvPr/>
        </p:nvSpPr>
        <p:spPr>
          <a:xfrm>
            <a:off x="7891327" y="4171636"/>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sp>
        <p:nvSpPr>
          <p:cNvPr id="12" name="Rectangle 11"/>
          <p:cNvSpPr/>
          <p:nvPr/>
        </p:nvSpPr>
        <p:spPr>
          <a:xfrm>
            <a:off x="7756725" y="2547294"/>
            <a:ext cx="1579418" cy="16004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2"/>
              </a:solidFill>
            </a:endParaRPr>
          </a:p>
        </p:txBody>
      </p:sp>
      <p:sp>
        <p:nvSpPr>
          <p:cNvPr id="13" name="Rectangle 12"/>
          <p:cNvSpPr/>
          <p:nvPr/>
        </p:nvSpPr>
        <p:spPr>
          <a:xfrm>
            <a:off x="7773564" y="2578364"/>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Pipeline</a:t>
            </a:r>
          </a:p>
        </p:txBody>
      </p:sp>
      <p:sp>
        <p:nvSpPr>
          <p:cNvPr id="14" name="Down Arrow 13"/>
          <p:cNvSpPr/>
          <p:nvPr/>
        </p:nvSpPr>
        <p:spPr>
          <a:xfrm>
            <a:off x="8473698" y="2828089"/>
            <a:ext cx="166254" cy="218209"/>
          </a:xfrm>
          <a:prstGeom prst="downArrow">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3470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p:bldP spid="11" grpId="0"/>
      <p:bldP spid="12" grpId="0" animBg="1"/>
      <p:bldP spid="13" grpId="0"/>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Now the confusion is what is Middleware?</a:t>
            </a:r>
          </a:p>
          <a:p>
            <a:r>
              <a:rPr lang="en-US" dirty="0"/>
              <a:t>Let us assume a middleware is a piece of code with some logic. </a:t>
            </a:r>
          </a:p>
          <a:p>
            <a:endParaRPr lang="en-US" dirty="0"/>
          </a:p>
        </p:txBody>
      </p:sp>
      <p:sp>
        <p:nvSpPr>
          <p:cNvPr id="3" name="Title 2"/>
          <p:cNvSpPr>
            <a:spLocks noGrp="1"/>
          </p:cNvSpPr>
          <p:nvPr>
            <p:ph type="title"/>
          </p:nvPr>
        </p:nvSpPr>
        <p:spPr/>
        <p:txBody>
          <a:bodyPr/>
          <a:lstStyle/>
          <a:p>
            <a:r>
              <a:rPr lang="en-US" dirty="0"/>
              <a:t>HTTP Request Pipeline</a:t>
            </a:r>
          </a:p>
        </p:txBody>
      </p:sp>
      <p:sp>
        <p:nvSpPr>
          <p:cNvPr id="5" name="Rounded Rectangle 4"/>
          <p:cNvSpPr/>
          <p:nvPr/>
        </p:nvSpPr>
        <p:spPr>
          <a:xfrm>
            <a:off x="2254829" y="2098963"/>
            <a:ext cx="1995054" cy="3626427"/>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4644739" y="2098963"/>
            <a:ext cx="1995054" cy="3626427"/>
          </a:xfrm>
          <a:prstGeom prst="roundRect">
            <a:avLst/>
          </a:prstGeom>
          <a:no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7034648" y="2098963"/>
            <a:ext cx="1995054" cy="3626427"/>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432536" y="5747167"/>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Controller</a:t>
            </a:r>
          </a:p>
        </p:txBody>
      </p:sp>
      <p:sp>
        <p:nvSpPr>
          <p:cNvPr id="9" name="Rectangle 8"/>
          <p:cNvSpPr/>
          <p:nvPr/>
        </p:nvSpPr>
        <p:spPr>
          <a:xfrm>
            <a:off x="4881327" y="5747167"/>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BAL</a:t>
            </a:r>
          </a:p>
        </p:txBody>
      </p:sp>
      <p:sp>
        <p:nvSpPr>
          <p:cNvPr id="10" name="Rectangle 9"/>
          <p:cNvSpPr/>
          <p:nvPr/>
        </p:nvSpPr>
        <p:spPr>
          <a:xfrm>
            <a:off x="7319727" y="5747167"/>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DAL</a:t>
            </a:r>
          </a:p>
        </p:txBody>
      </p:sp>
      <p:sp>
        <p:nvSpPr>
          <p:cNvPr id="11" name="Rectangle 10"/>
          <p:cNvSpPr/>
          <p:nvPr/>
        </p:nvSpPr>
        <p:spPr>
          <a:xfrm>
            <a:off x="2460245" y="2117277"/>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Middleware 1</a:t>
            </a:r>
          </a:p>
        </p:txBody>
      </p:sp>
      <p:sp>
        <p:nvSpPr>
          <p:cNvPr id="12" name="Rectangle 11"/>
          <p:cNvSpPr/>
          <p:nvPr/>
        </p:nvSpPr>
        <p:spPr>
          <a:xfrm>
            <a:off x="4881327" y="2117277"/>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Middleware 2</a:t>
            </a:r>
          </a:p>
        </p:txBody>
      </p:sp>
      <p:sp>
        <p:nvSpPr>
          <p:cNvPr id="13" name="Rectangle 12"/>
          <p:cNvSpPr/>
          <p:nvPr/>
        </p:nvSpPr>
        <p:spPr>
          <a:xfrm>
            <a:off x="7281627" y="2117277"/>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Middleware 3</a:t>
            </a:r>
          </a:p>
        </p:txBody>
      </p:sp>
      <p:sp>
        <p:nvSpPr>
          <p:cNvPr id="14" name="Rectangle 13"/>
          <p:cNvSpPr/>
          <p:nvPr/>
        </p:nvSpPr>
        <p:spPr>
          <a:xfrm>
            <a:off x="2701636" y="2566555"/>
            <a:ext cx="1039091" cy="83127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Logic</a:t>
            </a:r>
          </a:p>
          <a:p>
            <a:pPr algn="ctr"/>
            <a:r>
              <a:rPr lang="en-US" dirty="0">
                <a:solidFill>
                  <a:schemeClr val="tx1"/>
                </a:solidFill>
              </a:rPr>
              <a:t>Next();</a:t>
            </a:r>
          </a:p>
        </p:txBody>
      </p:sp>
      <p:sp>
        <p:nvSpPr>
          <p:cNvPr id="15" name="Rectangle 14"/>
          <p:cNvSpPr/>
          <p:nvPr/>
        </p:nvSpPr>
        <p:spPr>
          <a:xfrm>
            <a:off x="5129645" y="3435928"/>
            <a:ext cx="1039091" cy="83127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Logic</a:t>
            </a:r>
          </a:p>
          <a:p>
            <a:pPr algn="ctr"/>
            <a:r>
              <a:rPr lang="en-US" dirty="0">
                <a:solidFill>
                  <a:schemeClr val="tx1"/>
                </a:solidFill>
              </a:rPr>
              <a:t>Next();</a:t>
            </a:r>
          </a:p>
        </p:txBody>
      </p:sp>
      <p:sp>
        <p:nvSpPr>
          <p:cNvPr id="16" name="Rectangle 15"/>
          <p:cNvSpPr/>
          <p:nvPr/>
        </p:nvSpPr>
        <p:spPr>
          <a:xfrm>
            <a:off x="7568045" y="3983182"/>
            <a:ext cx="1039091" cy="83127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Logic</a:t>
            </a:r>
          </a:p>
        </p:txBody>
      </p:sp>
      <p:sp>
        <p:nvSpPr>
          <p:cNvPr id="17" name="Rectangle 16"/>
          <p:cNvSpPr/>
          <p:nvPr/>
        </p:nvSpPr>
        <p:spPr>
          <a:xfrm>
            <a:off x="5133109" y="4613564"/>
            <a:ext cx="1039091" cy="83127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Logic</a:t>
            </a:r>
          </a:p>
        </p:txBody>
      </p:sp>
      <p:sp>
        <p:nvSpPr>
          <p:cNvPr id="18" name="Rectangle 17"/>
          <p:cNvSpPr/>
          <p:nvPr/>
        </p:nvSpPr>
        <p:spPr>
          <a:xfrm>
            <a:off x="2670463" y="4821382"/>
            <a:ext cx="1039091" cy="83127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Logic</a:t>
            </a:r>
          </a:p>
        </p:txBody>
      </p:sp>
      <p:sp>
        <p:nvSpPr>
          <p:cNvPr id="19" name="Right Arrow 18"/>
          <p:cNvSpPr/>
          <p:nvPr/>
        </p:nvSpPr>
        <p:spPr>
          <a:xfrm>
            <a:off x="4260273" y="3273136"/>
            <a:ext cx="384463" cy="176646"/>
          </a:xfrm>
          <a:prstGeom prst="rightArrow">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6646719" y="4069773"/>
            <a:ext cx="384463" cy="176646"/>
          </a:xfrm>
          <a:prstGeom prst="rightArrow">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p:cNvSpPr/>
          <p:nvPr/>
        </p:nvSpPr>
        <p:spPr>
          <a:xfrm rot="10800000">
            <a:off x="6203373" y="4641272"/>
            <a:ext cx="1336964" cy="200892"/>
          </a:xfrm>
          <a:prstGeom prst="rightArrow">
            <a:avLst/>
          </a:prstGeom>
          <a:no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rot="10800000">
            <a:off x="3778828" y="5240481"/>
            <a:ext cx="1336964" cy="200892"/>
          </a:xfrm>
          <a:prstGeom prst="rightArrow">
            <a:avLst/>
          </a:prstGeom>
          <a:no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p:cNvSpPr/>
          <p:nvPr/>
        </p:nvSpPr>
        <p:spPr>
          <a:xfrm>
            <a:off x="1517073" y="2615318"/>
            <a:ext cx="676438" cy="24218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24" name="Rectangle 23"/>
          <p:cNvSpPr/>
          <p:nvPr/>
        </p:nvSpPr>
        <p:spPr>
          <a:xfrm>
            <a:off x="519547" y="2618509"/>
            <a:ext cx="1279316" cy="2525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2"/>
                </a:solidFill>
              </a:rPr>
              <a:t>HTTP </a:t>
            </a:r>
          </a:p>
          <a:p>
            <a:pPr algn="ctr"/>
            <a:r>
              <a:rPr lang="en-US" sz="1400" b="1" dirty="0">
                <a:solidFill>
                  <a:schemeClr val="tx2"/>
                </a:solidFill>
              </a:rPr>
              <a:t>Request</a:t>
            </a:r>
          </a:p>
        </p:txBody>
      </p:sp>
      <p:sp>
        <p:nvSpPr>
          <p:cNvPr id="25" name="Right Arrow 24"/>
          <p:cNvSpPr/>
          <p:nvPr/>
        </p:nvSpPr>
        <p:spPr>
          <a:xfrm rot="10800000">
            <a:off x="1524000" y="5053718"/>
            <a:ext cx="676438" cy="24218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26" name="Rectangle 25"/>
          <p:cNvSpPr/>
          <p:nvPr/>
        </p:nvSpPr>
        <p:spPr>
          <a:xfrm>
            <a:off x="516083" y="5036127"/>
            <a:ext cx="1279316" cy="2525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2"/>
                </a:solidFill>
              </a:rPr>
              <a:t>HTTP </a:t>
            </a:r>
          </a:p>
          <a:p>
            <a:pPr algn="ctr"/>
            <a:r>
              <a:rPr lang="en-US" sz="1400" b="1" dirty="0">
                <a:solidFill>
                  <a:schemeClr val="tx2"/>
                </a:solidFill>
              </a:rPr>
              <a:t>Response</a:t>
            </a:r>
          </a:p>
        </p:txBody>
      </p:sp>
    </p:spTree>
    <p:extLst>
      <p:ext uri="{BB962C8B-B14F-4D97-AF65-F5344CB8AC3E}">
        <p14:creationId xmlns:p14="http://schemas.microsoft.com/office/powerpoint/2010/main" val="312066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p:bldP spid="11" grpId="0"/>
      <p:bldP spid="12" grpId="0"/>
      <p:bldP spid="13" grpId="0"/>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p:bldP spid="25" grpId="0" animBg="1"/>
      <p:bldP spid="2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200" dirty="0"/>
              <a:t>Whenever a request comes from a client to the server, then the request comes to the first middleware which is registered in the request pipeline. </a:t>
            </a:r>
          </a:p>
          <a:p>
            <a:r>
              <a:rPr lang="en-US" sz="2200" dirty="0"/>
              <a:t>In our case it is Middleware1. The code or logic which is there in Middleware1 will be executed and then if it will call the next method, then the request goes to the next middleware which is registered in the request processing pipeline i.e. Middlware2. </a:t>
            </a:r>
          </a:p>
          <a:p>
            <a:r>
              <a:rPr lang="en-US" sz="2200" dirty="0"/>
              <a:t>The code or logic which is there in Middleware2 will be executed and if it calls the next method, then it navigates to the request to the next middleware i.e. Middleware3. Let us assume, in Middleware3, we don’t have the next method. </a:t>
            </a:r>
          </a:p>
          <a:p>
            <a:r>
              <a:rPr lang="en-US" sz="2200" dirty="0"/>
              <a:t>So, the code or logic which is there in Middleware3 will be executed and as there is no next method call, so the request will come back to the previous middleware i.e. Middleware2. </a:t>
            </a:r>
          </a:p>
          <a:p>
            <a:r>
              <a:rPr lang="en-US" sz="2200" dirty="0"/>
              <a:t>And if there is some code after the next method in Middleware2, then those codes will be executed and once the code executed the request again comes back to the previous middleware i.e. Middlwware1. </a:t>
            </a:r>
          </a:p>
          <a:p>
            <a:r>
              <a:rPr lang="en-US" sz="2200" dirty="0"/>
              <a:t>Similarly, if there is some code after the next method in Middleware1, then those codes will be executed and once the code gets executed the final response sends to the client who initially made the request.</a:t>
            </a:r>
          </a:p>
        </p:txBody>
      </p:sp>
      <p:sp>
        <p:nvSpPr>
          <p:cNvPr id="3" name="Title 2"/>
          <p:cNvSpPr>
            <a:spLocks noGrp="1"/>
          </p:cNvSpPr>
          <p:nvPr>
            <p:ph type="title"/>
          </p:nvPr>
        </p:nvSpPr>
        <p:spPr/>
        <p:txBody>
          <a:bodyPr>
            <a:normAutofit/>
          </a:bodyPr>
          <a:lstStyle/>
          <a:p>
            <a:r>
              <a:rPr lang="en-US" dirty="0"/>
              <a:t>HTTP Request Pipeline Cont..</a:t>
            </a:r>
          </a:p>
        </p:txBody>
      </p:sp>
    </p:spTree>
    <p:extLst>
      <p:ext uri="{BB962C8B-B14F-4D97-AF65-F5344CB8AC3E}">
        <p14:creationId xmlns:p14="http://schemas.microsoft.com/office/powerpoint/2010/main" val="186652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59426" y="867105"/>
            <a:ext cx="11932574" cy="4934605"/>
          </a:xfrm>
          <a:prstGeom prst="rect">
            <a:avLst/>
          </a:prstGeom>
        </p:spPr>
      </p:pic>
      <p:sp>
        <p:nvSpPr>
          <p:cNvPr id="3" name="Title 2"/>
          <p:cNvSpPr>
            <a:spLocks noGrp="1"/>
          </p:cNvSpPr>
          <p:nvPr>
            <p:ph type="title"/>
          </p:nvPr>
        </p:nvSpPr>
        <p:spPr/>
        <p:txBody>
          <a:bodyPr>
            <a:normAutofit/>
          </a:bodyPr>
          <a:lstStyle/>
          <a:p>
            <a:r>
              <a:rPr lang="en-US" dirty="0"/>
              <a:t>HTTP Request Pipeline in ASP.NET Core Example Cont..</a:t>
            </a:r>
          </a:p>
        </p:txBody>
      </p:sp>
    </p:spTree>
    <p:extLst>
      <p:ext uri="{BB962C8B-B14F-4D97-AF65-F5344CB8AC3E}">
        <p14:creationId xmlns:p14="http://schemas.microsoft.com/office/powerpoint/2010/main" val="177847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Middleware is a piece of code that is used in the HTTP Request Pipeline. </a:t>
            </a:r>
          </a:p>
          <a:p>
            <a:pPr fontAlgn="base"/>
            <a:r>
              <a:rPr lang="en-US" dirty="0"/>
              <a:t>An ASP.NET Core Web API Application can have n number of </a:t>
            </a:r>
            <a:r>
              <a:rPr lang="en-US" dirty="0" err="1"/>
              <a:t>middlewares</a:t>
            </a:r>
            <a:r>
              <a:rPr lang="en-US" dirty="0"/>
              <a:t>. </a:t>
            </a:r>
          </a:p>
          <a:p>
            <a:pPr fontAlgn="base"/>
            <a:r>
              <a:rPr lang="en-US" dirty="0"/>
              <a:t>So, depending upon the requirement, we can configure n number of </a:t>
            </a:r>
            <a:r>
              <a:rPr lang="en-US" dirty="0" err="1"/>
              <a:t>middlewares</a:t>
            </a:r>
            <a:r>
              <a:rPr lang="en-US" dirty="0"/>
              <a:t> in the application request processing pipeline.</a:t>
            </a:r>
          </a:p>
          <a:p>
            <a:pPr fontAlgn="base"/>
            <a:r>
              <a:rPr lang="en-US" dirty="0"/>
              <a:t>The </a:t>
            </a:r>
            <a:r>
              <a:rPr lang="en-US" b="1" dirty="0"/>
              <a:t>order of middleware matters a lot </a:t>
            </a:r>
            <a:r>
              <a:rPr lang="en-US" dirty="0"/>
              <a:t>in the execution. </a:t>
            </a:r>
          </a:p>
          <a:p>
            <a:pPr fontAlgn="base"/>
            <a:r>
              <a:rPr lang="en-US" dirty="0"/>
              <a:t>That means in the order they are configured into the request processing pipeline; in the same order, they are going to be executed when a request comes (response). </a:t>
            </a:r>
          </a:p>
          <a:p>
            <a:pPr fontAlgn="base"/>
            <a:r>
              <a:rPr lang="en-US" dirty="0"/>
              <a:t>Each middleware in the ASP.NET Core Web API Application performs the following tasks.</a:t>
            </a:r>
          </a:p>
          <a:p>
            <a:pPr lvl="1" fontAlgn="base"/>
            <a:r>
              <a:rPr lang="en-US" dirty="0"/>
              <a:t>Chooses whether to pass the HTTP Request to the next component in the pipeline. This can be achieved by calling the next() method within the middleware.</a:t>
            </a:r>
          </a:p>
          <a:p>
            <a:pPr lvl="1" fontAlgn="base"/>
            <a:r>
              <a:rPr lang="en-US" dirty="0"/>
              <a:t>It can perform work before and after the next component in the pipeline.</a:t>
            </a:r>
          </a:p>
          <a:p>
            <a:pPr fontAlgn="base"/>
            <a:r>
              <a:rPr lang="en-US" dirty="0"/>
              <a:t>ASP.NET Core provides some built-in middleware that is ready to be used, even if you want then you can also create your own custom middleware. </a:t>
            </a:r>
          </a:p>
          <a:p>
            <a:pPr fontAlgn="base"/>
            <a:endParaRPr lang="en-US" dirty="0"/>
          </a:p>
          <a:p>
            <a:endParaRPr lang="en-US" dirty="0"/>
          </a:p>
        </p:txBody>
      </p:sp>
      <p:sp>
        <p:nvSpPr>
          <p:cNvPr id="3" name="Title 2"/>
          <p:cNvSpPr>
            <a:spLocks noGrp="1"/>
          </p:cNvSpPr>
          <p:nvPr>
            <p:ph type="title"/>
          </p:nvPr>
        </p:nvSpPr>
        <p:spPr/>
        <p:txBody>
          <a:bodyPr>
            <a:normAutofit/>
          </a:bodyPr>
          <a:lstStyle/>
          <a:p>
            <a:r>
              <a:rPr lang="en-US" dirty="0"/>
              <a:t>Middleware Cont..</a:t>
            </a:r>
          </a:p>
        </p:txBody>
      </p:sp>
    </p:spTree>
    <p:extLst>
      <p:ext uri="{BB962C8B-B14F-4D97-AF65-F5344CB8AC3E}">
        <p14:creationId xmlns:p14="http://schemas.microsoft.com/office/powerpoint/2010/main" val="2061774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3125" y="863444"/>
            <a:ext cx="6429276" cy="5590565"/>
          </a:xfrm>
        </p:spPr>
        <p:txBody>
          <a:bodyPr/>
          <a:lstStyle/>
          <a:p>
            <a:pPr fontAlgn="base"/>
            <a:r>
              <a:rPr lang="en-US" dirty="0"/>
              <a:t>The most important point that you need to keep in mind is, in ASP.NET Core a given Middleware component should only have a specific purpose i.e. </a:t>
            </a:r>
            <a:r>
              <a:rPr lang="en-US" b="1" dirty="0"/>
              <a:t>single responsibility</a:t>
            </a:r>
            <a:r>
              <a:rPr lang="en-US" dirty="0"/>
              <a:t>.</a:t>
            </a:r>
          </a:p>
          <a:p>
            <a:pPr fontAlgn="base"/>
            <a:r>
              <a:rPr lang="en-US" dirty="0"/>
              <a:t> </a:t>
            </a:r>
            <a:r>
              <a:rPr lang="en-US" b="1" dirty="0"/>
              <a:t>Middleware Examples:</a:t>
            </a:r>
          </a:p>
          <a:p>
            <a:pPr lvl="1" fontAlgn="base"/>
            <a:r>
              <a:rPr lang="en-US" b="1" dirty="0"/>
              <a:t>Routing</a:t>
            </a:r>
            <a:r>
              <a:rPr lang="en-US" dirty="0"/>
              <a:t>: If you want to implement Routing in your application, then you need to use Routing Middleware in the HTTP Request Processing pipeline.</a:t>
            </a:r>
          </a:p>
          <a:p>
            <a:pPr lvl="1" fontAlgn="base"/>
            <a:r>
              <a:rPr lang="en-US" b="1" dirty="0"/>
              <a:t>Authentication</a:t>
            </a:r>
            <a:r>
              <a:rPr lang="en-US" dirty="0"/>
              <a:t>: If you want to authenticate the user then you need to use Authentication Middleware.</a:t>
            </a:r>
          </a:p>
          <a:p>
            <a:pPr lvl="1" fontAlgn="base"/>
            <a:r>
              <a:rPr lang="en-US" b="1" dirty="0"/>
              <a:t>Authorize</a:t>
            </a:r>
            <a:r>
              <a:rPr lang="en-US" dirty="0"/>
              <a:t>: The Authorize Middleware is used to Authorize the users while accessing a specific resource.</a:t>
            </a:r>
          </a:p>
          <a:p>
            <a:pPr lvl="1" fontAlgn="base"/>
            <a:r>
              <a:rPr lang="en-US" b="1" dirty="0"/>
              <a:t>Log</a:t>
            </a:r>
            <a:r>
              <a:rPr lang="en-US" dirty="0"/>
              <a:t>: If you want to log request and response while processing, then you need Middleware.</a:t>
            </a:r>
          </a:p>
          <a:p>
            <a:pPr lvl="1" fontAlgn="base"/>
            <a:r>
              <a:rPr lang="en-US" b="1" dirty="0"/>
              <a:t>Exception Middleware:</a:t>
            </a:r>
            <a:r>
              <a:rPr lang="en-US" dirty="0"/>
              <a:t> You can also use Middleware to handle the exception globally.</a:t>
            </a:r>
          </a:p>
          <a:p>
            <a:pPr fontAlgn="base"/>
            <a:endParaRPr lang="en-US" dirty="0"/>
          </a:p>
          <a:p>
            <a:pPr fontAlgn="base"/>
            <a:endParaRPr lang="en-US" dirty="0"/>
          </a:p>
          <a:p>
            <a:endParaRPr lang="en-US" dirty="0"/>
          </a:p>
        </p:txBody>
      </p:sp>
      <p:sp>
        <p:nvSpPr>
          <p:cNvPr id="3" name="Title 2"/>
          <p:cNvSpPr>
            <a:spLocks noGrp="1"/>
          </p:cNvSpPr>
          <p:nvPr>
            <p:ph type="title"/>
          </p:nvPr>
        </p:nvSpPr>
        <p:spPr/>
        <p:txBody>
          <a:bodyPr>
            <a:normAutofit/>
          </a:bodyPr>
          <a:lstStyle/>
          <a:p>
            <a:r>
              <a:rPr lang="en-US" dirty="0"/>
              <a:t>Middleware in Cont..</a:t>
            </a:r>
          </a:p>
        </p:txBody>
      </p:sp>
      <p:pic>
        <p:nvPicPr>
          <p:cNvPr id="4" name="Picture 3"/>
          <p:cNvPicPr>
            <a:picLocks noChangeAspect="1"/>
          </p:cNvPicPr>
          <p:nvPr/>
        </p:nvPicPr>
        <p:blipFill rotWithShape="1">
          <a:blip r:embed="rId2"/>
          <a:srcRect r="162"/>
          <a:stretch/>
        </p:blipFill>
        <p:spPr>
          <a:xfrm>
            <a:off x="6761309" y="1248229"/>
            <a:ext cx="5255358" cy="4238171"/>
          </a:xfrm>
          <a:prstGeom prst="rect">
            <a:avLst/>
          </a:prstGeom>
        </p:spPr>
      </p:pic>
      <p:sp>
        <p:nvSpPr>
          <p:cNvPr id="5" name="Rectangle 4"/>
          <p:cNvSpPr/>
          <p:nvPr/>
        </p:nvSpPr>
        <p:spPr>
          <a:xfrm>
            <a:off x="7803931" y="2349062"/>
            <a:ext cx="2806262" cy="2222938"/>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568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fontAlgn="base"/>
            <a:r>
              <a:rPr lang="en-US" dirty="0"/>
              <a:t>Run, Use, Next, and Map Methods in Middleware</a:t>
            </a:r>
          </a:p>
        </p:txBody>
      </p:sp>
      <p:sp>
        <p:nvSpPr>
          <p:cNvPr id="6" name="Content Placeholder 5"/>
          <p:cNvSpPr>
            <a:spLocks noGrp="1"/>
          </p:cNvSpPr>
          <p:nvPr>
            <p:ph idx="1"/>
          </p:nvPr>
        </p:nvSpPr>
        <p:spPr/>
        <p:txBody>
          <a:bodyPr/>
          <a:lstStyle/>
          <a:p>
            <a:r>
              <a:rPr lang="en-US" dirty="0"/>
              <a:t>In order to work with ASP.NET Core Middleware Components, we need to learn about few methods are as follows:</a:t>
            </a:r>
          </a:p>
          <a:p>
            <a:pPr fontAlgn="base"/>
            <a:r>
              <a:rPr lang="en-US" b="1" dirty="0"/>
              <a:t>Run() Method:</a:t>
            </a:r>
            <a:r>
              <a:rPr lang="en-US" dirty="0"/>
              <a:t> </a:t>
            </a:r>
          </a:p>
          <a:p>
            <a:pPr lvl="1" fontAlgn="base"/>
            <a:r>
              <a:rPr lang="en-US" dirty="0"/>
              <a:t>The Run() Extension Method is used to complete the Middleware Execution.</a:t>
            </a:r>
          </a:p>
          <a:p>
            <a:pPr lvl="1" fontAlgn="base"/>
            <a:r>
              <a:rPr lang="en-US" dirty="0"/>
              <a:t>i.e. </a:t>
            </a:r>
            <a:r>
              <a:rPr lang="en-US" dirty="0" err="1"/>
              <a:t>app.Run</a:t>
            </a:r>
            <a:r>
              <a:rPr lang="en-US" dirty="0"/>
              <a:t>();</a:t>
            </a:r>
          </a:p>
          <a:p>
            <a:pPr fontAlgn="base"/>
            <a:r>
              <a:rPr lang="en-US" b="1" dirty="0"/>
              <a:t>Use() Method:</a:t>
            </a:r>
            <a:r>
              <a:rPr lang="en-US" dirty="0"/>
              <a:t> </a:t>
            </a:r>
          </a:p>
          <a:p>
            <a:pPr lvl="1" fontAlgn="base"/>
            <a:r>
              <a:rPr lang="en-US" dirty="0"/>
              <a:t>The Use() Extension Method is used to insert a new Middleware component to the Request Processing Pipeline.</a:t>
            </a:r>
          </a:p>
          <a:p>
            <a:pPr lvl="1" fontAlgn="base"/>
            <a:r>
              <a:rPr lang="en-US" dirty="0"/>
              <a:t>i.e. </a:t>
            </a:r>
            <a:r>
              <a:rPr lang="en-US" dirty="0" err="1"/>
              <a:t>app.UseSwagger</a:t>
            </a:r>
            <a:r>
              <a:rPr lang="en-US" dirty="0"/>
              <a:t>(); | </a:t>
            </a:r>
            <a:r>
              <a:rPr lang="en-US" dirty="0" err="1"/>
              <a:t>app.UseSwaggerUI</a:t>
            </a:r>
            <a:r>
              <a:rPr lang="en-US" dirty="0"/>
              <a:t>(); | </a:t>
            </a:r>
            <a:r>
              <a:rPr lang="en-US" dirty="0" err="1"/>
              <a:t>app.UseAuthorization</a:t>
            </a:r>
            <a:r>
              <a:rPr lang="en-US" dirty="0"/>
              <a:t>();  etc.</a:t>
            </a:r>
          </a:p>
          <a:p>
            <a:pPr fontAlgn="base"/>
            <a:r>
              <a:rPr lang="en-US" b="1" dirty="0"/>
              <a:t>Next() Method:</a:t>
            </a:r>
            <a:r>
              <a:rPr lang="en-US" dirty="0"/>
              <a:t> </a:t>
            </a:r>
          </a:p>
          <a:p>
            <a:pPr lvl="1" fontAlgn="base"/>
            <a:r>
              <a:rPr lang="en-US" dirty="0"/>
              <a:t>The Next() Extension Method is used to call the next middleware component in the request processing pipeline.</a:t>
            </a:r>
          </a:p>
          <a:p>
            <a:pPr fontAlgn="base"/>
            <a:r>
              <a:rPr lang="en-US" b="1" dirty="0"/>
              <a:t>Map() Method:</a:t>
            </a:r>
            <a:r>
              <a:rPr lang="en-US" dirty="0"/>
              <a:t> </a:t>
            </a:r>
          </a:p>
          <a:p>
            <a:pPr lvl="1" fontAlgn="base"/>
            <a:r>
              <a:rPr lang="en-US" dirty="0"/>
              <a:t>The Map() Extension Method is used to map the Middleware to a specific URL.</a:t>
            </a:r>
          </a:p>
          <a:p>
            <a:pPr lvl="1" fontAlgn="base"/>
            <a:r>
              <a:rPr lang="en-US" dirty="0"/>
              <a:t>i.e. </a:t>
            </a:r>
            <a:r>
              <a:rPr lang="en-US" dirty="0" err="1"/>
              <a:t>app.MapControllers</a:t>
            </a:r>
            <a:r>
              <a:rPr lang="en-US" dirty="0"/>
              <a:t>();</a:t>
            </a:r>
          </a:p>
          <a:p>
            <a:endParaRPr lang="en-US" dirty="0"/>
          </a:p>
        </p:txBody>
      </p:sp>
    </p:spTree>
    <p:extLst>
      <p:ext uri="{BB962C8B-B14F-4D97-AF65-F5344CB8AC3E}">
        <p14:creationId xmlns:p14="http://schemas.microsoft.com/office/powerpoint/2010/main" val="319727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CD548-F460-7736-71AE-27392EE7A4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4E40F98-0934-A7D7-0087-2E6994F54EDB}"/>
              </a:ext>
            </a:extLst>
          </p:cNvPr>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Dependency Injection (DI) &amp; Service Lifetime</a:t>
            </a:r>
            <a:endParaRPr lang="en-US" sz="5400" dirty="0">
              <a:gradFill flip="none" rotWithShape="1">
                <a:gsLst>
                  <a:gs pos="10000">
                    <a:schemeClr val="accent6">
                      <a:lumMod val="50000"/>
                    </a:schemeClr>
                  </a:gs>
                  <a:gs pos="100000">
                    <a:schemeClr val="accent6"/>
                  </a:gs>
                </a:gsLst>
                <a:lin ang="0" scaled="1"/>
                <a:tileRect/>
              </a:gradFill>
            </a:endParaRPr>
          </a:p>
        </p:txBody>
      </p:sp>
      <p:sp>
        <p:nvSpPr>
          <p:cNvPr id="5" name="Text Placeholder 4">
            <a:extLst>
              <a:ext uri="{FF2B5EF4-FFF2-40B4-BE49-F238E27FC236}">
                <a16:creationId xmlns:a16="http://schemas.microsoft.com/office/drawing/2014/main" id="{20435D7F-F717-36F6-A7B3-36FDB7619355}"/>
              </a:ext>
            </a:extLst>
          </p:cNvPr>
          <p:cNvSpPr>
            <a:spLocks noGrp="1"/>
          </p:cNvSpPr>
          <p:nvPr>
            <p:ph type="body" idx="1"/>
          </p:nvPr>
        </p:nvSpPr>
        <p:spPr/>
        <p:txBody>
          <a:bodyPr/>
          <a:lstStyle/>
          <a:p>
            <a:r>
              <a:rPr lang="en-US" dirty="0"/>
              <a:t>Section – 7</a:t>
            </a:r>
          </a:p>
        </p:txBody>
      </p:sp>
    </p:spTree>
    <p:extLst>
      <p:ext uri="{BB962C8B-B14F-4D97-AF65-F5344CB8AC3E}">
        <p14:creationId xmlns:p14="http://schemas.microsoft.com/office/powerpoint/2010/main" val="7878103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0A9A0-2339-469E-A0E4-9C3F00FF36F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94B5EC-193D-7015-A2C4-4D8926801B10}"/>
              </a:ext>
            </a:extLst>
          </p:cNvPr>
          <p:cNvSpPr>
            <a:spLocks noGrp="1"/>
          </p:cNvSpPr>
          <p:nvPr>
            <p:ph idx="1"/>
          </p:nvPr>
        </p:nvSpPr>
        <p:spPr/>
        <p:txBody>
          <a:bodyPr/>
          <a:lstStyle/>
          <a:p>
            <a:r>
              <a:rPr lang="en-IN" dirty="0"/>
              <a:t>In every application, one class often needs the help of another class to complete its work. The class that provides this help is called a </a:t>
            </a:r>
            <a:r>
              <a:rPr lang="en-IN" b="1" dirty="0"/>
              <a:t>dependency</a:t>
            </a:r>
            <a:r>
              <a:rPr lang="en-IN" dirty="0"/>
              <a:t>.</a:t>
            </a:r>
          </a:p>
          <a:p>
            <a:r>
              <a:rPr lang="en-IN" dirty="0"/>
              <a:t>For example, imagine an application where users can register an account.</a:t>
            </a:r>
          </a:p>
          <a:p>
            <a:r>
              <a:rPr lang="en-IN" dirty="0"/>
              <a:t>After successful registration, the application needs to send a notification to the user.</a:t>
            </a:r>
          </a:p>
          <a:p>
            <a:r>
              <a:rPr lang="en-IN" dirty="0"/>
              <a:t>The notification can be sent through: Email, SMS, WhatsApp</a:t>
            </a:r>
          </a:p>
          <a:p>
            <a:r>
              <a:rPr lang="en-IN" dirty="0"/>
              <a:t>The </a:t>
            </a:r>
            <a:r>
              <a:rPr lang="en-IN" b="1" dirty="0"/>
              <a:t>User Registration</a:t>
            </a:r>
            <a:r>
              <a:rPr lang="en-IN" dirty="0"/>
              <a:t> module depends on a </a:t>
            </a:r>
            <a:r>
              <a:rPr lang="en-IN" b="1" dirty="0"/>
              <a:t>Notification Service</a:t>
            </a:r>
            <a:r>
              <a:rPr lang="en-IN" dirty="0"/>
              <a:t>.</a:t>
            </a:r>
          </a:p>
          <a:p>
            <a:r>
              <a:rPr lang="en-IN" dirty="0"/>
              <a:t>The important question is:</a:t>
            </a:r>
          </a:p>
          <a:p>
            <a:pPr lvl="1"/>
            <a:r>
              <a:rPr lang="en-IN" dirty="0"/>
              <a:t>Who should create the dependency?</a:t>
            </a:r>
          </a:p>
          <a:p>
            <a:pPr lvl="1"/>
            <a:r>
              <a:rPr lang="en-IN" dirty="0"/>
              <a:t>Should the User Registration class create it by itself, or should someone else provide it?</a:t>
            </a:r>
          </a:p>
          <a:p>
            <a:r>
              <a:rPr lang="en-IN" dirty="0"/>
              <a:t>This is where </a:t>
            </a:r>
            <a:r>
              <a:rPr lang="en-IN" b="1" dirty="0"/>
              <a:t>Dependency Injection (DI)</a:t>
            </a:r>
            <a:r>
              <a:rPr lang="en-IN" dirty="0"/>
              <a:t> comes into the picture.</a:t>
            </a:r>
            <a:endParaRPr lang="en-US" dirty="0"/>
          </a:p>
          <a:p>
            <a:endParaRPr lang="en-US" dirty="0"/>
          </a:p>
          <a:p>
            <a:endParaRPr lang="en-US" dirty="0"/>
          </a:p>
          <a:p>
            <a:endParaRPr lang="en-US" dirty="0"/>
          </a:p>
        </p:txBody>
      </p:sp>
      <p:sp>
        <p:nvSpPr>
          <p:cNvPr id="3" name="Title 2">
            <a:extLst>
              <a:ext uri="{FF2B5EF4-FFF2-40B4-BE49-F238E27FC236}">
                <a16:creationId xmlns:a16="http://schemas.microsoft.com/office/drawing/2014/main" id="{7F589F85-FD21-FA54-5984-27D823FC7C69}"/>
              </a:ext>
            </a:extLst>
          </p:cNvPr>
          <p:cNvSpPr>
            <a:spLocks noGrp="1"/>
          </p:cNvSpPr>
          <p:nvPr>
            <p:ph type="title"/>
          </p:nvPr>
        </p:nvSpPr>
        <p:spPr/>
        <p:txBody>
          <a:bodyPr/>
          <a:lstStyle/>
          <a:p>
            <a:r>
              <a:rPr lang="en-IN" dirty="0"/>
              <a:t>Introduction</a:t>
            </a:r>
            <a:endParaRPr lang="en-US" dirty="0"/>
          </a:p>
        </p:txBody>
      </p:sp>
    </p:spTree>
    <p:extLst>
      <p:ext uri="{BB962C8B-B14F-4D97-AF65-F5344CB8AC3E}">
        <p14:creationId xmlns:p14="http://schemas.microsoft.com/office/powerpoint/2010/main" val="379341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D546F8-FEF7-27A1-FFC0-0F6219E026C6}"/>
              </a:ext>
            </a:extLst>
          </p:cNvPr>
          <p:cNvSpPr>
            <a:spLocks noGrp="1"/>
          </p:cNvSpPr>
          <p:nvPr>
            <p:ph idx="1"/>
          </p:nvPr>
        </p:nvSpPr>
        <p:spPr/>
        <p:txBody>
          <a:bodyPr/>
          <a:lstStyle/>
          <a:p>
            <a:r>
              <a:rPr lang="en-IN" dirty="0"/>
              <a:t>Suppose the developer writes,</a:t>
            </a:r>
          </a:p>
          <a:p>
            <a:endParaRPr lang="en-IN" dirty="0"/>
          </a:p>
          <a:p>
            <a:endParaRPr lang="en-IN" dirty="0"/>
          </a:p>
          <a:p>
            <a:endParaRPr lang="en-IN" dirty="0"/>
          </a:p>
          <a:p>
            <a:endParaRPr lang="en-IN" dirty="0"/>
          </a:p>
          <a:p>
            <a:endParaRPr lang="en-IN" dirty="0"/>
          </a:p>
          <a:p>
            <a:endParaRPr lang="en-IN" dirty="0"/>
          </a:p>
          <a:p>
            <a:endParaRPr lang="en-IN" dirty="0"/>
          </a:p>
          <a:p>
            <a:r>
              <a:rPr lang="en-IN" dirty="0"/>
              <a:t>Here, the </a:t>
            </a:r>
            <a:r>
              <a:rPr lang="en-IN" dirty="0" err="1"/>
              <a:t>UserRegistration</a:t>
            </a:r>
            <a:r>
              <a:rPr lang="en-IN" dirty="0"/>
              <a:t> class creates the </a:t>
            </a:r>
            <a:r>
              <a:rPr lang="en-IN" dirty="0" err="1"/>
              <a:t>EmailNotification</a:t>
            </a:r>
            <a:r>
              <a:rPr lang="en-IN" dirty="0"/>
              <a:t> object using the new keyword.</a:t>
            </a:r>
          </a:p>
          <a:p>
            <a:r>
              <a:rPr lang="en-IN" dirty="0"/>
              <a:t>The code works, but it creates several problems.</a:t>
            </a:r>
          </a:p>
          <a:p>
            <a:endParaRPr lang="en-IN" dirty="0"/>
          </a:p>
          <a:p>
            <a:endParaRPr lang="en-IN" dirty="0"/>
          </a:p>
        </p:txBody>
      </p:sp>
      <p:sp>
        <p:nvSpPr>
          <p:cNvPr id="3" name="Title 2">
            <a:extLst>
              <a:ext uri="{FF2B5EF4-FFF2-40B4-BE49-F238E27FC236}">
                <a16:creationId xmlns:a16="http://schemas.microsoft.com/office/drawing/2014/main" id="{A688BD5F-DE38-3844-9B88-9262EAFA4CCB}"/>
              </a:ext>
            </a:extLst>
          </p:cNvPr>
          <p:cNvSpPr>
            <a:spLocks noGrp="1"/>
          </p:cNvSpPr>
          <p:nvPr>
            <p:ph type="title"/>
          </p:nvPr>
        </p:nvSpPr>
        <p:spPr/>
        <p:txBody>
          <a:bodyPr/>
          <a:lstStyle/>
          <a:p>
            <a:r>
              <a:rPr lang="en-IN" dirty="0"/>
              <a:t>What Happens Without Dependency Injection?</a:t>
            </a:r>
          </a:p>
        </p:txBody>
      </p:sp>
      <p:pic>
        <p:nvPicPr>
          <p:cNvPr id="13" name="Picture 12">
            <a:extLst>
              <a:ext uri="{FF2B5EF4-FFF2-40B4-BE49-F238E27FC236}">
                <a16:creationId xmlns:a16="http://schemas.microsoft.com/office/drawing/2014/main" id="{EE5243EA-61B9-EAAA-A967-227EC2DF79AD}"/>
              </a:ext>
            </a:extLst>
          </p:cNvPr>
          <p:cNvPicPr>
            <a:picLocks noChangeAspect="1"/>
          </p:cNvPicPr>
          <p:nvPr/>
        </p:nvPicPr>
        <p:blipFill>
          <a:blip r:embed="rId2"/>
          <a:stretch>
            <a:fillRect/>
          </a:stretch>
        </p:blipFill>
        <p:spPr>
          <a:xfrm>
            <a:off x="439833" y="1310309"/>
            <a:ext cx="5121084" cy="3025402"/>
          </a:xfrm>
          <a:prstGeom prst="rect">
            <a:avLst/>
          </a:prstGeom>
        </p:spPr>
      </p:pic>
      <p:pic>
        <p:nvPicPr>
          <p:cNvPr id="15" name="Picture 14">
            <a:extLst>
              <a:ext uri="{FF2B5EF4-FFF2-40B4-BE49-F238E27FC236}">
                <a16:creationId xmlns:a16="http://schemas.microsoft.com/office/drawing/2014/main" id="{83446B9C-73EF-F070-CC32-DF95E567E887}"/>
              </a:ext>
            </a:extLst>
          </p:cNvPr>
          <p:cNvPicPr>
            <a:picLocks noChangeAspect="1"/>
          </p:cNvPicPr>
          <p:nvPr/>
        </p:nvPicPr>
        <p:blipFill>
          <a:blip r:embed="rId3"/>
          <a:stretch>
            <a:fillRect/>
          </a:stretch>
        </p:blipFill>
        <p:spPr>
          <a:xfrm>
            <a:off x="5869570" y="1310309"/>
            <a:ext cx="4930567" cy="2072820"/>
          </a:xfrm>
          <a:prstGeom prst="rect">
            <a:avLst/>
          </a:prstGeom>
        </p:spPr>
      </p:pic>
    </p:spTree>
    <p:extLst>
      <p:ext uri="{BB962C8B-B14F-4D97-AF65-F5344CB8AC3E}">
        <p14:creationId xmlns:p14="http://schemas.microsoft.com/office/powerpoint/2010/main" val="160445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FB7CD5-796C-C32C-DE93-B75FDA7FD3C0}"/>
              </a:ext>
            </a:extLst>
          </p:cNvPr>
          <p:cNvSpPr>
            <a:spLocks noGrp="1"/>
          </p:cNvSpPr>
          <p:nvPr>
            <p:ph idx="1"/>
          </p:nvPr>
        </p:nvSpPr>
        <p:spPr>
          <a:xfrm>
            <a:off x="131180" y="863444"/>
            <a:ext cx="11877318" cy="5590565"/>
          </a:xfrm>
        </p:spPr>
        <p:txBody>
          <a:bodyPr/>
          <a:lstStyle/>
          <a:p>
            <a:r>
              <a:rPr lang="en-IN" b="1" dirty="0"/>
              <a:t>Tight Coupling</a:t>
            </a:r>
          </a:p>
          <a:p>
            <a:pPr lvl="1"/>
            <a:r>
              <a:rPr lang="en-IN" dirty="0"/>
              <a:t>The </a:t>
            </a:r>
            <a:r>
              <a:rPr lang="en-IN" dirty="0" err="1"/>
              <a:t>UserRegistration</a:t>
            </a:r>
            <a:r>
              <a:rPr lang="en-IN" dirty="0"/>
              <a:t> class is directly connected to the </a:t>
            </a:r>
            <a:r>
              <a:rPr lang="en-IN" dirty="0" err="1"/>
              <a:t>EmailNotification</a:t>
            </a:r>
            <a:r>
              <a:rPr lang="en-IN" dirty="0"/>
              <a:t> class.</a:t>
            </a:r>
          </a:p>
          <a:p>
            <a:pPr lvl="1"/>
            <a:r>
              <a:rPr lang="en-IN" dirty="0"/>
              <a:t>Suppose the company decides to send SMS instead of Email, we must change class from </a:t>
            </a:r>
            <a:r>
              <a:rPr lang="en-IN" dirty="0" err="1"/>
              <a:t>EmailNotification</a:t>
            </a:r>
            <a:r>
              <a:rPr lang="en-IN" dirty="0"/>
              <a:t> to </a:t>
            </a:r>
            <a:r>
              <a:rPr lang="en-IN" dirty="0" err="1"/>
              <a:t>SMSNotification</a:t>
            </a:r>
            <a:r>
              <a:rPr lang="en-IN" dirty="0"/>
              <a:t>.</a:t>
            </a:r>
          </a:p>
          <a:p>
            <a:pPr lvl="1"/>
            <a:r>
              <a:rPr lang="en-IN" dirty="0"/>
              <a:t>Again, if the company decides to send WhatsApp messages, we must </a:t>
            </a:r>
            <a:r>
              <a:rPr lang="en-IN" b="1" dirty="0"/>
              <a:t>change the code again</a:t>
            </a:r>
            <a:r>
              <a:rPr lang="en-IN" dirty="0"/>
              <a:t>.</a:t>
            </a:r>
          </a:p>
          <a:p>
            <a:pPr lvl="1"/>
            <a:r>
              <a:rPr lang="en-IN" dirty="0"/>
              <a:t>Every business change requires modifying the </a:t>
            </a:r>
            <a:r>
              <a:rPr lang="en-IN" dirty="0" err="1"/>
              <a:t>UserRegistration</a:t>
            </a:r>
            <a:r>
              <a:rPr lang="en-IN" dirty="0"/>
              <a:t> class.</a:t>
            </a:r>
          </a:p>
          <a:p>
            <a:pPr lvl="1"/>
            <a:r>
              <a:rPr lang="en-IN" dirty="0"/>
              <a:t>This creates </a:t>
            </a:r>
            <a:r>
              <a:rPr lang="en-IN" b="1" dirty="0"/>
              <a:t>tight coupling</a:t>
            </a:r>
            <a:r>
              <a:rPr lang="en-IN" dirty="0"/>
              <a:t>.</a:t>
            </a:r>
          </a:p>
          <a:p>
            <a:r>
              <a:rPr lang="en-IN" b="1" dirty="0"/>
              <a:t>Difficult to Test </a:t>
            </a:r>
          </a:p>
          <a:p>
            <a:pPr lvl="1"/>
            <a:r>
              <a:rPr lang="en-IN" dirty="0"/>
              <a:t>Suppose you are testing the registration process. You don't want to send real emails every time because:</a:t>
            </a:r>
          </a:p>
          <a:p>
            <a:pPr lvl="2"/>
            <a:r>
              <a:rPr lang="en-IN" dirty="0"/>
              <a:t>Users may receive unwanted emails. </a:t>
            </a:r>
          </a:p>
          <a:p>
            <a:pPr lvl="2"/>
            <a:r>
              <a:rPr lang="en-IN" dirty="0"/>
              <a:t>It increases testing time. </a:t>
            </a:r>
          </a:p>
          <a:p>
            <a:pPr lvl="2"/>
            <a:r>
              <a:rPr lang="en-IN" dirty="0"/>
              <a:t>It may require an internet connection. </a:t>
            </a:r>
          </a:p>
          <a:p>
            <a:pPr lvl="2"/>
            <a:r>
              <a:rPr lang="en-IN" dirty="0"/>
              <a:t>It may use a paid email service.</a:t>
            </a:r>
          </a:p>
          <a:p>
            <a:pPr lvl="1"/>
            <a:r>
              <a:rPr lang="en-IN" dirty="0"/>
              <a:t>During testing, you only want to check whether the </a:t>
            </a:r>
            <a:r>
              <a:rPr lang="en-IN" b="1" dirty="0"/>
              <a:t>notification method was called</a:t>
            </a:r>
            <a:r>
              <a:rPr lang="en-IN" dirty="0"/>
              <a:t>.</a:t>
            </a:r>
          </a:p>
          <a:p>
            <a:pPr lvl="1"/>
            <a:r>
              <a:rPr lang="en-IN" dirty="0"/>
              <a:t>Without DI, the class always creates a real </a:t>
            </a:r>
            <a:r>
              <a:rPr lang="en-IN" dirty="0" err="1"/>
              <a:t>EmailNotification</a:t>
            </a:r>
            <a:r>
              <a:rPr lang="en-IN" dirty="0"/>
              <a:t> object. </a:t>
            </a:r>
          </a:p>
          <a:p>
            <a:pPr lvl="1"/>
            <a:r>
              <a:rPr lang="en-IN" dirty="0"/>
              <a:t>Replacing it with a fake notification becomes difficult.</a:t>
            </a:r>
          </a:p>
          <a:p>
            <a:endParaRPr lang="en-IN" dirty="0"/>
          </a:p>
          <a:p>
            <a:endParaRPr lang="en-IN" dirty="0"/>
          </a:p>
        </p:txBody>
      </p:sp>
      <p:sp>
        <p:nvSpPr>
          <p:cNvPr id="3" name="Title 2">
            <a:extLst>
              <a:ext uri="{FF2B5EF4-FFF2-40B4-BE49-F238E27FC236}">
                <a16:creationId xmlns:a16="http://schemas.microsoft.com/office/drawing/2014/main" id="{15DA5ECB-EC93-7900-0DE6-D463923BC393}"/>
              </a:ext>
            </a:extLst>
          </p:cNvPr>
          <p:cNvSpPr>
            <a:spLocks noGrp="1"/>
          </p:cNvSpPr>
          <p:nvPr>
            <p:ph type="title"/>
          </p:nvPr>
        </p:nvSpPr>
        <p:spPr/>
        <p:txBody>
          <a:bodyPr/>
          <a:lstStyle/>
          <a:p>
            <a:r>
              <a:rPr lang="en-IN" dirty="0"/>
              <a:t>Problems Without Dependency Injection</a:t>
            </a:r>
          </a:p>
        </p:txBody>
      </p:sp>
    </p:spTree>
    <p:extLst>
      <p:ext uri="{BB962C8B-B14F-4D97-AF65-F5344CB8AC3E}">
        <p14:creationId xmlns:p14="http://schemas.microsoft.com/office/powerpoint/2010/main" val="3075021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xEl>
                                              <p:pRg st="13" end="1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08D3C-AEC6-A000-44A4-09C193E8CD4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1BC4D0-3BC1-D625-87D7-3A29B0D43C97}"/>
              </a:ext>
            </a:extLst>
          </p:cNvPr>
          <p:cNvSpPr>
            <a:spLocks noGrp="1"/>
          </p:cNvSpPr>
          <p:nvPr>
            <p:ph idx="1"/>
          </p:nvPr>
        </p:nvSpPr>
        <p:spPr>
          <a:xfrm>
            <a:off x="131180" y="863444"/>
            <a:ext cx="11849325" cy="5590565"/>
          </a:xfrm>
        </p:spPr>
        <p:txBody>
          <a:bodyPr/>
          <a:lstStyle/>
          <a:p>
            <a:r>
              <a:rPr lang="en-IN" b="1" dirty="0"/>
              <a:t>Difficult to Replace Implementations</a:t>
            </a:r>
          </a:p>
          <a:p>
            <a:pPr lvl="1"/>
            <a:r>
              <a:rPr lang="en-IN" dirty="0"/>
              <a:t>Initially, the application uses Email notifications.</a:t>
            </a:r>
          </a:p>
          <a:p>
            <a:pPr lvl="1"/>
            <a:r>
              <a:rPr lang="en-IN" dirty="0"/>
              <a:t>Later, the business wants:</a:t>
            </a:r>
          </a:p>
          <a:p>
            <a:pPr lvl="2"/>
            <a:r>
              <a:rPr lang="en-IN" dirty="0"/>
              <a:t>SMS, WhatsApp, Push Notification</a:t>
            </a:r>
          </a:p>
          <a:p>
            <a:pPr lvl="1"/>
            <a:r>
              <a:rPr lang="en-IN" dirty="0"/>
              <a:t>Without DI, the developer must modify every place where </a:t>
            </a:r>
            <a:r>
              <a:rPr lang="en-IN" dirty="0" err="1"/>
              <a:t>EmailNotification</a:t>
            </a:r>
            <a:r>
              <a:rPr lang="en-IN" dirty="0"/>
              <a:t> is created.</a:t>
            </a:r>
          </a:p>
          <a:p>
            <a:pPr lvl="1"/>
            <a:r>
              <a:rPr lang="en-IN" dirty="0"/>
              <a:t>This </a:t>
            </a:r>
            <a:r>
              <a:rPr lang="en-IN" b="1" dirty="0"/>
              <a:t>increases development effort</a:t>
            </a:r>
            <a:r>
              <a:rPr lang="en-IN" dirty="0"/>
              <a:t> and introduces </a:t>
            </a:r>
            <a:r>
              <a:rPr lang="en-IN" b="1" dirty="0"/>
              <a:t>unnecessary risks</a:t>
            </a:r>
            <a:r>
              <a:rPr lang="en-IN" dirty="0"/>
              <a:t>.</a:t>
            </a:r>
          </a:p>
          <a:p>
            <a:r>
              <a:rPr lang="en-IN" b="1" dirty="0"/>
              <a:t>Less Flexible </a:t>
            </a:r>
          </a:p>
          <a:p>
            <a:pPr lvl="1"/>
            <a:r>
              <a:rPr lang="en-IN" dirty="0"/>
              <a:t>The </a:t>
            </a:r>
            <a:r>
              <a:rPr lang="en-IN" dirty="0" err="1"/>
              <a:t>UserRegistration</a:t>
            </a:r>
            <a:r>
              <a:rPr lang="en-IN" dirty="0"/>
              <a:t> class only knows how to send emails.</a:t>
            </a:r>
          </a:p>
          <a:p>
            <a:pPr lvl="1"/>
            <a:r>
              <a:rPr lang="en-IN" dirty="0"/>
              <a:t>If tomorrow a new notification method is introduced, existing code must be modified.</a:t>
            </a:r>
          </a:p>
          <a:p>
            <a:pPr lvl="1"/>
            <a:r>
              <a:rPr lang="en-IN" dirty="0"/>
              <a:t>A good application should allow </a:t>
            </a:r>
            <a:r>
              <a:rPr lang="en-IN" b="1" dirty="0"/>
              <a:t>adding new features without changing existing business logic</a:t>
            </a:r>
            <a:r>
              <a:rPr lang="en-IN" dirty="0"/>
              <a:t>.</a:t>
            </a:r>
          </a:p>
          <a:p>
            <a:r>
              <a:rPr lang="en-IN" b="1" dirty="0"/>
              <a:t>Difficult to Maintain</a:t>
            </a:r>
          </a:p>
          <a:p>
            <a:pPr lvl="1"/>
            <a:r>
              <a:rPr lang="en-IN" dirty="0"/>
              <a:t>In a real project, notifications may be sent from many different modules. Like Login, Forget Password, Orders, Payments etc.</a:t>
            </a:r>
          </a:p>
          <a:p>
            <a:pPr lvl="1"/>
            <a:r>
              <a:rPr lang="en-IN" dirty="0"/>
              <a:t>If every module creates its own </a:t>
            </a:r>
            <a:r>
              <a:rPr lang="en-IN" dirty="0" err="1"/>
              <a:t>EmailNotification</a:t>
            </a:r>
            <a:r>
              <a:rPr lang="en-IN" dirty="0"/>
              <a:t> object, changing the notification system later becomes a large task.</a:t>
            </a:r>
          </a:p>
          <a:p>
            <a:pPr lvl="1"/>
            <a:r>
              <a:rPr lang="en-IN" dirty="0"/>
              <a:t>Maintenance becomes difficult.</a:t>
            </a:r>
          </a:p>
          <a:p>
            <a:endParaRPr lang="en-IN" dirty="0"/>
          </a:p>
          <a:p>
            <a:endParaRPr lang="en-IN" dirty="0"/>
          </a:p>
        </p:txBody>
      </p:sp>
      <p:sp>
        <p:nvSpPr>
          <p:cNvPr id="3" name="Title 2">
            <a:extLst>
              <a:ext uri="{FF2B5EF4-FFF2-40B4-BE49-F238E27FC236}">
                <a16:creationId xmlns:a16="http://schemas.microsoft.com/office/drawing/2014/main" id="{AB6B36D0-762C-549F-9351-5F4308D96ED8}"/>
              </a:ext>
            </a:extLst>
          </p:cNvPr>
          <p:cNvSpPr>
            <a:spLocks noGrp="1"/>
          </p:cNvSpPr>
          <p:nvPr>
            <p:ph type="title"/>
          </p:nvPr>
        </p:nvSpPr>
        <p:spPr/>
        <p:txBody>
          <a:bodyPr/>
          <a:lstStyle/>
          <a:p>
            <a:r>
              <a:rPr lang="en-IN" dirty="0"/>
              <a:t>Problems Without Dependency Injection Cont..</a:t>
            </a:r>
          </a:p>
        </p:txBody>
      </p:sp>
      <p:sp>
        <p:nvSpPr>
          <p:cNvPr id="4" name="Content Placeholder 1">
            <a:extLst>
              <a:ext uri="{FF2B5EF4-FFF2-40B4-BE49-F238E27FC236}">
                <a16:creationId xmlns:a16="http://schemas.microsoft.com/office/drawing/2014/main" id="{D6C9DFC9-74E4-2AE8-700F-A400488C205A}"/>
              </a:ext>
            </a:extLst>
          </p:cNvPr>
          <p:cNvSpPr txBox="1">
            <a:spLocks/>
          </p:cNvSpPr>
          <p:nvPr/>
        </p:nvSpPr>
        <p:spPr>
          <a:xfrm>
            <a:off x="171337" y="3065371"/>
            <a:ext cx="11769010" cy="264916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Tree>
    <p:extLst>
      <p:ext uri="{BB962C8B-B14F-4D97-AF65-F5344CB8AC3E}">
        <p14:creationId xmlns:p14="http://schemas.microsoft.com/office/powerpoint/2010/main" val="1358959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xEl>
                                              <p:pRg st="12" end="1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DD36A-F0F5-3E8E-C831-5E549292D89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643C96-1CF5-B74C-9B7A-533EA8056DB7}"/>
              </a:ext>
            </a:extLst>
          </p:cNvPr>
          <p:cNvSpPr>
            <a:spLocks noGrp="1"/>
          </p:cNvSpPr>
          <p:nvPr>
            <p:ph idx="1"/>
          </p:nvPr>
        </p:nvSpPr>
        <p:spPr/>
        <p:txBody>
          <a:bodyPr/>
          <a:lstStyle/>
          <a:p>
            <a:r>
              <a:rPr lang="en-IN" dirty="0"/>
              <a:t>Dependency Injection is a design pattern in which a class </a:t>
            </a:r>
            <a:r>
              <a:rPr lang="en-IN" b="1" dirty="0"/>
              <a:t>does not create its own dependency</a:t>
            </a:r>
            <a:r>
              <a:rPr lang="en-IN" dirty="0"/>
              <a:t>(objects or services).</a:t>
            </a:r>
          </a:p>
          <a:p>
            <a:r>
              <a:rPr lang="en-IN" dirty="0"/>
              <a:t>Instead of creating dependencies (objects or services) directly within a class, dependencies are injected into the class from outside, typically through constructor parameters.</a:t>
            </a:r>
          </a:p>
          <a:p>
            <a:r>
              <a:rPr lang="en-IN" dirty="0"/>
              <a:t>The class only uses the object.</a:t>
            </a:r>
          </a:p>
          <a:p>
            <a:r>
              <a:rPr lang="en-IN" dirty="0"/>
              <a:t>It does not know:</a:t>
            </a:r>
          </a:p>
          <a:p>
            <a:pPr lvl="1"/>
            <a:r>
              <a:rPr lang="en-IN" dirty="0"/>
              <a:t>How the object is created.</a:t>
            </a:r>
          </a:p>
          <a:p>
            <a:pPr lvl="1"/>
            <a:r>
              <a:rPr lang="en-IN" dirty="0"/>
              <a:t>Which implementation is being used.</a:t>
            </a:r>
          </a:p>
          <a:p>
            <a:pPr lvl="1"/>
            <a:r>
              <a:rPr lang="en-IN" dirty="0"/>
              <a:t>When the object is created.</a:t>
            </a:r>
          </a:p>
          <a:p>
            <a:r>
              <a:rPr lang="en-IN" dirty="0"/>
              <a:t>This responsibility is handled by the </a:t>
            </a:r>
            <a:r>
              <a:rPr lang="en-IN" b="1" dirty="0"/>
              <a:t>Dependency Injection Container</a:t>
            </a:r>
            <a:r>
              <a:rPr lang="en-IN" dirty="0"/>
              <a:t>.</a:t>
            </a:r>
          </a:p>
          <a:p>
            <a:endParaRPr lang="en-IN" dirty="0"/>
          </a:p>
          <a:p>
            <a:endParaRPr lang="en-US" dirty="0"/>
          </a:p>
          <a:p>
            <a:endParaRPr lang="en-US" dirty="0"/>
          </a:p>
          <a:p>
            <a:endParaRPr lang="en-US" dirty="0"/>
          </a:p>
          <a:p>
            <a:endParaRPr lang="en-US" dirty="0"/>
          </a:p>
        </p:txBody>
      </p:sp>
      <p:sp>
        <p:nvSpPr>
          <p:cNvPr id="3" name="Title 2">
            <a:extLst>
              <a:ext uri="{FF2B5EF4-FFF2-40B4-BE49-F238E27FC236}">
                <a16:creationId xmlns:a16="http://schemas.microsoft.com/office/drawing/2014/main" id="{2FC86741-CF28-78B3-6B57-2787EB192A72}"/>
              </a:ext>
            </a:extLst>
          </p:cNvPr>
          <p:cNvSpPr>
            <a:spLocks noGrp="1"/>
          </p:cNvSpPr>
          <p:nvPr>
            <p:ph type="title"/>
          </p:nvPr>
        </p:nvSpPr>
        <p:spPr/>
        <p:txBody>
          <a:bodyPr/>
          <a:lstStyle/>
          <a:p>
            <a:r>
              <a:rPr lang="en-IN" dirty="0"/>
              <a:t>What is Dependency Injection?</a:t>
            </a:r>
            <a:endParaRPr lang="en-US" dirty="0"/>
          </a:p>
        </p:txBody>
      </p:sp>
    </p:spTree>
    <p:extLst>
      <p:ext uri="{BB962C8B-B14F-4D97-AF65-F5344CB8AC3E}">
        <p14:creationId xmlns:p14="http://schemas.microsoft.com/office/powerpoint/2010/main" val="59715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9C9404-1114-2406-1A0E-FEA0A47EBC76}"/>
              </a:ext>
            </a:extLst>
          </p:cNvPr>
          <p:cNvSpPr>
            <a:spLocks noGrp="1"/>
          </p:cNvSpPr>
          <p:nvPr>
            <p:ph idx="1"/>
          </p:nvPr>
        </p:nvSpPr>
        <p:spPr/>
        <p:txBody>
          <a:bodyPr/>
          <a:lstStyle/>
          <a:p>
            <a:r>
              <a:rPr lang="en-IN" dirty="0"/>
              <a:t>First, create an interface.</a:t>
            </a:r>
          </a:p>
          <a:p>
            <a:endParaRPr lang="en-IN" dirty="0"/>
          </a:p>
          <a:p>
            <a:endParaRPr lang="en-IN" dirty="0"/>
          </a:p>
          <a:p>
            <a:endParaRPr lang="en-IN" dirty="0"/>
          </a:p>
          <a:p>
            <a:r>
              <a:rPr lang="en-IN" dirty="0"/>
              <a:t>Now different notification classes implement the interface.</a:t>
            </a:r>
          </a:p>
        </p:txBody>
      </p:sp>
      <p:sp>
        <p:nvSpPr>
          <p:cNvPr id="3" name="Title 2">
            <a:extLst>
              <a:ext uri="{FF2B5EF4-FFF2-40B4-BE49-F238E27FC236}">
                <a16:creationId xmlns:a16="http://schemas.microsoft.com/office/drawing/2014/main" id="{FF9698A9-C3F2-7882-D5F7-0C88D0F83186}"/>
              </a:ext>
            </a:extLst>
          </p:cNvPr>
          <p:cNvSpPr>
            <a:spLocks noGrp="1"/>
          </p:cNvSpPr>
          <p:nvPr>
            <p:ph type="title"/>
          </p:nvPr>
        </p:nvSpPr>
        <p:spPr/>
        <p:txBody>
          <a:bodyPr/>
          <a:lstStyle/>
          <a:p>
            <a:r>
              <a:rPr lang="en-IN" dirty="0"/>
              <a:t>Using Dependency Injection</a:t>
            </a:r>
          </a:p>
        </p:txBody>
      </p:sp>
      <p:pic>
        <p:nvPicPr>
          <p:cNvPr id="5" name="Picture 4">
            <a:extLst>
              <a:ext uri="{FF2B5EF4-FFF2-40B4-BE49-F238E27FC236}">
                <a16:creationId xmlns:a16="http://schemas.microsoft.com/office/drawing/2014/main" id="{C45EE7DA-BF5D-6117-34F8-15D53E881D76}"/>
              </a:ext>
            </a:extLst>
          </p:cNvPr>
          <p:cNvPicPr>
            <a:picLocks noChangeAspect="1"/>
          </p:cNvPicPr>
          <p:nvPr/>
        </p:nvPicPr>
        <p:blipFill>
          <a:blip r:embed="rId2"/>
          <a:stretch>
            <a:fillRect/>
          </a:stretch>
        </p:blipFill>
        <p:spPr>
          <a:xfrm>
            <a:off x="461323" y="1409644"/>
            <a:ext cx="3543607" cy="1295512"/>
          </a:xfrm>
          <a:prstGeom prst="rect">
            <a:avLst/>
          </a:prstGeom>
        </p:spPr>
      </p:pic>
      <p:pic>
        <p:nvPicPr>
          <p:cNvPr id="9" name="Picture 8">
            <a:extLst>
              <a:ext uri="{FF2B5EF4-FFF2-40B4-BE49-F238E27FC236}">
                <a16:creationId xmlns:a16="http://schemas.microsoft.com/office/drawing/2014/main" id="{B9DAEE5B-9FD9-CA26-481B-12D7F6403871}"/>
              </a:ext>
            </a:extLst>
          </p:cNvPr>
          <p:cNvPicPr>
            <a:picLocks noChangeAspect="1"/>
          </p:cNvPicPr>
          <p:nvPr/>
        </p:nvPicPr>
        <p:blipFill>
          <a:blip r:embed="rId3"/>
          <a:stretch>
            <a:fillRect/>
          </a:stretch>
        </p:blipFill>
        <p:spPr>
          <a:xfrm>
            <a:off x="461323" y="3459364"/>
            <a:ext cx="5410669" cy="1988992"/>
          </a:xfrm>
          <a:prstGeom prst="rect">
            <a:avLst/>
          </a:prstGeom>
        </p:spPr>
      </p:pic>
      <p:pic>
        <p:nvPicPr>
          <p:cNvPr id="11" name="Picture 10">
            <a:extLst>
              <a:ext uri="{FF2B5EF4-FFF2-40B4-BE49-F238E27FC236}">
                <a16:creationId xmlns:a16="http://schemas.microsoft.com/office/drawing/2014/main" id="{A9F5E165-6791-3337-1A3B-A3E7D65BA4B6}"/>
              </a:ext>
            </a:extLst>
          </p:cNvPr>
          <p:cNvPicPr>
            <a:picLocks noChangeAspect="1"/>
          </p:cNvPicPr>
          <p:nvPr/>
        </p:nvPicPr>
        <p:blipFill>
          <a:blip r:embed="rId4"/>
          <a:stretch>
            <a:fillRect/>
          </a:stretch>
        </p:blipFill>
        <p:spPr>
          <a:xfrm>
            <a:off x="6096000" y="3429000"/>
            <a:ext cx="5220152" cy="1958510"/>
          </a:xfrm>
          <a:prstGeom prst="rect">
            <a:avLst/>
          </a:prstGeom>
        </p:spPr>
      </p:pic>
    </p:spTree>
    <p:extLst>
      <p:ext uri="{BB962C8B-B14F-4D97-AF65-F5344CB8AC3E}">
        <p14:creationId xmlns:p14="http://schemas.microsoft.com/office/powerpoint/2010/main" val="307257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EE2314-6E99-3074-1B99-ECC81F5DB312}"/>
              </a:ext>
            </a:extLst>
          </p:cNvPr>
          <p:cNvSpPr>
            <a:spLocks noGrp="1"/>
          </p:cNvSpPr>
          <p:nvPr>
            <p:ph idx="1"/>
          </p:nvPr>
        </p:nvSpPr>
        <p:spPr>
          <a:xfrm>
            <a:off x="131181" y="863444"/>
            <a:ext cx="7491930" cy="5590565"/>
          </a:xfrm>
        </p:spPr>
        <p:txBody>
          <a:bodyPr/>
          <a:lstStyle/>
          <a:p>
            <a:r>
              <a:rPr lang="en-IN" dirty="0"/>
              <a:t>Now the </a:t>
            </a:r>
            <a:r>
              <a:rPr lang="en-IN" dirty="0" err="1"/>
              <a:t>UserRegistration</a:t>
            </a:r>
            <a:r>
              <a:rPr lang="en-IN" dirty="0"/>
              <a:t> class receives the dependency.</a:t>
            </a:r>
          </a:p>
        </p:txBody>
      </p:sp>
      <p:sp>
        <p:nvSpPr>
          <p:cNvPr id="3" name="Title 2">
            <a:extLst>
              <a:ext uri="{FF2B5EF4-FFF2-40B4-BE49-F238E27FC236}">
                <a16:creationId xmlns:a16="http://schemas.microsoft.com/office/drawing/2014/main" id="{214E0AAA-F676-5D89-C903-9C0F6664C9C2}"/>
              </a:ext>
            </a:extLst>
          </p:cNvPr>
          <p:cNvSpPr>
            <a:spLocks noGrp="1"/>
          </p:cNvSpPr>
          <p:nvPr>
            <p:ph type="title"/>
          </p:nvPr>
        </p:nvSpPr>
        <p:spPr/>
        <p:txBody>
          <a:bodyPr/>
          <a:lstStyle/>
          <a:p>
            <a:r>
              <a:rPr lang="en-IN" dirty="0"/>
              <a:t>Using Dependency Injection Cont..</a:t>
            </a:r>
          </a:p>
        </p:txBody>
      </p:sp>
      <p:pic>
        <p:nvPicPr>
          <p:cNvPr id="5" name="Picture 4">
            <a:extLst>
              <a:ext uri="{FF2B5EF4-FFF2-40B4-BE49-F238E27FC236}">
                <a16:creationId xmlns:a16="http://schemas.microsoft.com/office/drawing/2014/main" id="{FB87E0F5-73E3-83C0-7938-5E7FFCE13FED}"/>
              </a:ext>
            </a:extLst>
          </p:cNvPr>
          <p:cNvPicPr>
            <a:picLocks noChangeAspect="1"/>
          </p:cNvPicPr>
          <p:nvPr/>
        </p:nvPicPr>
        <p:blipFill>
          <a:blip r:embed="rId2"/>
          <a:stretch>
            <a:fillRect/>
          </a:stretch>
        </p:blipFill>
        <p:spPr>
          <a:xfrm>
            <a:off x="411185" y="1345855"/>
            <a:ext cx="6797629" cy="4625741"/>
          </a:xfrm>
          <a:prstGeom prst="rect">
            <a:avLst/>
          </a:prstGeom>
        </p:spPr>
      </p:pic>
      <p:sp>
        <p:nvSpPr>
          <p:cNvPr id="6" name="Content Placeholder 1">
            <a:extLst>
              <a:ext uri="{FF2B5EF4-FFF2-40B4-BE49-F238E27FC236}">
                <a16:creationId xmlns:a16="http://schemas.microsoft.com/office/drawing/2014/main" id="{3149D29C-89F6-4B40-97AD-DA2F9499E4E0}"/>
              </a:ext>
            </a:extLst>
          </p:cNvPr>
          <p:cNvSpPr txBox="1">
            <a:spLocks/>
          </p:cNvSpPr>
          <p:nvPr/>
        </p:nvSpPr>
        <p:spPr>
          <a:xfrm>
            <a:off x="7623111" y="886404"/>
            <a:ext cx="4310742"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Here, </a:t>
            </a:r>
            <a:r>
              <a:rPr lang="en-IN" dirty="0" err="1"/>
              <a:t>UserRegistration</a:t>
            </a:r>
            <a:r>
              <a:rPr lang="en-IN" dirty="0"/>
              <a:t> no longer creates an </a:t>
            </a:r>
            <a:r>
              <a:rPr lang="en-IN" dirty="0" err="1"/>
              <a:t>EmailNotification</a:t>
            </a:r>
            <a:r>
              <a:rPr lang="en-IN" dirty="0"/>
              <a:t>.</a:t>
            </a:r>
          </a:p>
          <a:p>
            <a:r>
              <a:rPr lang="en-IN" dirty="0"/>
              <a:t>It only depends on </a:t>
            </a:r>
            <a:r>
              <a:rPr lang="en-IN" dirty="0" err="1"/>
              <a:t>INotification</a:t>
            </a:r>
            <a:r>
              <a:rPr lang="en-IN" dirty="0"/>
              <a:t>.</a:t>
            </a:r>
          </a:p>
        </p:txBody>
      </p:sp>
    </p:spTree>
    <p:extLst>
      <p:ext uri="{BB962C8B-B14F-4D97-AF65-F5344CB8AC3E}">
        <p14:creationId xmlns:p14="http://schemas.microsoft.com/office/powerpoint/2010/main" val="2471191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8050CF-6E09-C0AF-C9A5-041B03D99C99}"/>
              </a:ext>
            </a:extLst>
          </p:cNvPr>
          <p:cNvSpPr>
            <a:spLocks noGrp="1"/>
          </p:cNvSpPr>
          <p:nvPr>
            <p:ph idx="1"/>
          </p:nvPr>
        </p:nvSpPr>
        <p:spPr/>
        <p:txBody>
          <a:bodyPr/>
          <a:lstStyle/>
          <a:p>
            <a:r>
              <a:rPr lang="en-IN" dirty="0"/>
              <a:t>In </a:t>
            </a:r>
            <a:r>
              <a:rPr lang="en-IN" dirty="0" err="1"/>
              <a:t>Program.cs</a:t>
            </a:r>
            <a:r>
              <a:rPr lang="en-IN" dirty="0"/>
              <a:t>, register the dependency.</a:t>
            </a:r>
          </a:p>
          <a:p>
            <a:endParaRPr lang="en-IN" dirty="0"/>
          </a:p>
          <a:p>
            <a:r>
              <a:rPr lang="en-IN" dirty="0"/>
              <a:t>This tells, </a:t>
            </a:r>
            <a:r>
              <a:rPr lang="en-IN" b="1" dirty="0"/>
              <a:t>Whenever a class requests an </a:t>
            </a:r>
            <a:r>
              <a:rPr lang="en-IN" b="1" dirty="0" err="1"/>
              <a:t>INotification</a:t>
            </a:r>
            <a:r>
              <a:rPr lang="en-IN" b="1" dirty="0"/>
              <a:t>, provide an instance of </a:t>
            </a:r>
            <a:r>
              <a:rPr lang="en-IN" b="1" dirty="0" err="1"/>
              <a:t>EmailNotification</a:t>
            </a:r>
            <a:r>
              <a:rPr lang="en-IN" b="1" dirty="0"/>
              <a:t>.</a:t>
            </a:r>
          </a:p>
          <a:p>
            <a:r>
              <a:rPr lang="en-IN" dirty="0"/>
              <a:t>Now, when </a:t>
            </a:r>
            <a:r>
              <a:rPr lang="en-IN" dirty="0" err="1"/>
              <a:t>UserRegistration</a:t>
            </a:r>
            <a:r>
              <a:rPr lang="en-IN" dirty="0"/>
              <a:t> is created, .NET automatically creates the </a:t>
            </a:r>
            <a:r>
              <a:rPr lang="en-IN" dirty="0" err="1"/>
              <a:t>EmailNotification</a:t>
            </a:r>
            <a:r>
              <a:rPr lang="en-IN" dirty="0"/>
              <a:t> object and passes it to the constructor.</a:t>
            </a:r>
          </a:p>
          <a:p>
            <a:r>
              <a:rPr lang="en-IN" dirty="0"/>
              <a:t>If the business later decides to use SMS instead of Email, only one line changes:</a:t>
            </a:r>
          </a:p>
          <a:p>
            <a:endParaRPr lang="en-IN" b="1" dirty="0"/>
          </a:p>
          <a:p>
            <a:r>
              <a:rPr lang="en-IN" dirty="0"/>
              <a:t>No changes are required in the </a:t>
            </a:r>
            <a:r>
              <a:rPr lang="en-IN" dirty="0" err="1"/>
              <a:t>UserRegistration</a:t>
            </a:r>
            <a:r>
              <a:rPr lang="en-IN" dirty="0"/>
              <a:t> class</a:t>
            </a:r>
            <a:endParaRPr lang="en-IN" b="1" dirty="0"/>
          </a:p>
          <a:p>
            <a:endParaRPr lang="en-IN" b="1" dirty="0"/>
          </a:p>
        </p:txBody>
      </p:sp>
      <p:sp>
        <p:nvSpPr>
          <p:cNvPr id="3" name="Title 2">
            <a:extLst>
              <a:ext uri="{FF2B5EF4-FFF2-40B4-BE49-F238E27FC236}">
                <a16:creationId xmlns:a16="http://schemas.microsoft.com/office/drawing/2014/main" id="{5234D73E-4868-EEA8-EF9E-BD042392A2EF}"/>
              </a:ext>
            </a:extLst>
          </p:cNvPr>
          <p:cNvSpPr>
            <a:spLocks noGrp="1"/>
          </p:cNvSpPr>
          <p:nvPr>
            <p:ph type="title"/>
          </p:nvPr>
        </p:nvSpPr>
        <p:spPr/>
        <p:txBody>
          <a:bodyPr/>
          <a:lstStyle/>
          <a:p>
            <a:r>
              <a:rPr lang="en-US" dirty="0"/>
              <a:t>How </a:t>
            </a:r>
            <a:r>
              <a:rPr lang="en-IN" dirty="0"/>
              <a:t>Dependency Injection is Performed?</a:t>
            </a:r>
          </a:p>
        </p:txBody>
      </p:sp>
      <p:pic>
        <p:nvPicPr>
          <p:cNvPr id="5" name="Picture 4">
            <a:extLst>
              <a:ext uri="{FF2B5EF4-FFF2-40B4-BE49-F238E27FC236}">
                <a16:creationId xmlns:a16="http://schemas.microsoft.com/office/drawing/2014/main" id="{1113F763-C6CA-AA94-93BB-133704CCA033}"/>
              </a:ext>
            </a:extLst>
          </p:cNvPr>
          <p:cNvPicPr>
            <a:picLocks noChangeAspect="1"/>
          </p:cNvPicPr>
          <p:nvPr/>
        </p:nvPicPr>
        <p:blipFill>
          <a:blip r:embed="rId2"/>
          <a:stretch>
            <a:fillRect/>
          </a:stretch>
        </p:blipFill>
        <p:spPr>
          <a:xfrm>
            <a:off x="982507" y="1393513"/>
            <a:ext cx="7315834" cy="320068"/>
          </a:xfrm>
          <a:prstGeom prst="rect">
            <a:avLst/>
          </a:prstGeom>
        </p:spPr>
      </p:pic>
      <p:pic>
        <p:nvPicPr>
          <p:cNvPr id="7" name="Picture 6">
            <a:extLst>
              <a:ext uri="{FF2B5EF4-FFF2-40B4-BE49-F238E27FC236}">
                <a16:creationId xmlns:a16="http://schemas.microsoft.com/office/drawing/2014/main" id="{EC71E566-9BBC-5DB5-C17D-61E13AB62B91}"/>
              </a:ext>
            </a:extLst>
          </p:cNvPr>
          <p:cNvPicPr>
            <a:picLocks noChangeAspect="1"/>
          </p:cNvPicPr>
          <p:nvPr/>
        </p:nvPicPr>
        <p:blipFill>
          <a:blip r:embed="rId3"/>
          <a:stretch>
            <a:fillRect/>
          </a:stretch>
        </p:blipFill>
        <p:spPr>
          <a:xfrm>
            <a:off x="982507" y="3829041"/>
            <a:ext cx="7125317" cy="320068"/>
          </a:xfrm>
          <a:prstGeom prst="rect">
            <a:avLst/>
          </a:prstGeom>
        </p:spPr>
      </p:pic>
    </p:spTree>
    <p:extLst>
      <p:ext uri="{BB962C8B-B14F-4D97-AF65-F5344CB8AC3E}">
        <p14:creationId xmlns:p14="http://schemas.microsoft.com/office/powerpoint/2010/main" val="96029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2A2B59-2D51-C8B6-2338-7FFE737FE83F}"/>
              </a:ext>
            </a:extLst>
          </p:cNvPr>
          <p:cNvSpPr>
            <a:spLocks noGrp="1"/>
          </p:cNvSpPr>
          <p:nvPr>
            <p:ph idx="1"/>
          </p:nvPr>
        </p:nvSpPr>
        <p:spPr/>
        <p:txBody>
          <a:bodyPr/>
          <a:lstStyle/>
          <a:p>
            <a:r>
              <a:rPr lang="en-IN" dirty="0"/>
              <a:t>When we register a service in the Dependency Injection (DI) container, we also tell </a:t>
            </a:r>
            <a:r>
              <a:rPr lang="en-IN" b="1" dirty="0"/>
              <a:t>how long that service object should stay alive.</a:t>
            </a:r>
          </a:p>
          <a:p>
            <a:r>
              <a:rPr lang="en-IN" dirty="0"/>
              <a:t>This is called the </a:t>
            </a:r>
            <a:r>
              <a:rPr lang="en-IN" b="1" dirty="0"/>
              <a:t>Service Lifetime</a:t>
            </a:r>
            <a:r>
              <a:rPr lang="en-IN" dirty="0"/>
              <a:t>. </a:t>
            </a:r>
          </a:p>
          <a:p>
            <a:r>
              <a:rPr lang="en-IN" dirty="0"/>
              <a:t>There are </a:t>
            </a:r>
            <a:r>
              <a:rPr lang="en-IN" b="1" dirty="0"/>
              <a:t>three service lifetimes</a:t>
            </a:r>
            <a:r>
              <a:rPr lang="en-IN" dirty="0"/>
              <a:t>:</a:t>
            </a:r>
          </a:p>
          <a:p>
            <a:pPr lvl="1"/>
            <a:r>
              <a:rPr lang="en-IN" b="1" dirty="0"/>
              <a:t>Transient: </a:t>
            </a:r>
            <a:r>
              <a:rPr lang="en-IN" dirty="0"/>
              <a:t>New object every time</a:t>
            </a:r>
            <a:endParaRPr lang="en-IN" b="1" dirty="0"/>
          </a:p>
          <a:p>
            <a:pPr lvl="1"/>
            <a:r>
              <a:rPr lang="en-IN" b="1" dirty="0"/>
              <a:t>Scoped: </a:t>
            </a:r>
            <a:r>
              <a:rPr lang="en-IN" dirty="0"/>
              <a:t>One object per HTTP request</a:t>
            </a:r>
            <a:endParaRPr lang="en-IN" b="1" dirty="0"/>
          </a:p>
          <a:p>
            <a:pPr lvl="1"/>
            <a:r>
              <a:rPr lang="en-IN" b="1" dirty="0"/>
              <a:t>Singleton: </a:t>
            </a:r>
            <a:r>
              <a:rPr lang="en-IN" dirty="0"/>
              <a:t>One object for the entire application</a:t>
            </a:r>
            <a:endParaRPr lang="en-IN" b="1" dirty="0"/>
          </a:p>
          <a:p>
            <a:r>
              <a:rPr lang="en-IN" dirty="0"/>
              <a:t>The lifetime determines </a:t>
            </a:r>
            <a:r>
              <a:rPr lang="en-IN" b="1" dirty="0"/>
              <a:t>when a new object is created</a:t>
            </a:r>
            <a:r>
              <a:rPr lang="en-IN" dirty="0"/>
              <a:t> and </a:t>
            </a:r>
            <a:r>
              <a:rPr lang="en-IN" b="1" dirty="0"/>
              <a:t>how long it is reused.</a:t>
            </a:r>
            <a:endParaRPr lang="en-IN" dirty="0"/>
          </a:p>
          <a:p>
            <a:pPr lvl="1"/>
            <a:endParaRPr lang="en-IN" dirty="0"/>
          </a:p>
        </p:txBody>
      </p:sp>
      <p:sp>
        <p:nvSpPr>
          <p:cNvPr id="3" name="Title 2">
            <a:extLst>
              <a:ext uri="{FF2B5EF4-FFF2-40B4-BE49-F238E27FC236}">
                <a16:creationId xmlns:a16="http://schemas.microsoft.com/office/drawing/2014/main" id="{A8C930B2-1D03-EB84-537C-04C955DDBE4F}"/>
              </a:ext>
            </a:extLst>
          </p:cNvPr>
          <p:cNvSpPr>
            <a:spLocks noGrp="1"/>
          </p:cNvSpPr>
          <p:nvPr>
            <p:ph type="title"/>
          </p:nvPr>
        </p:nvSpPr>
        <p:spPr/>
        <p:txBody>
          <a:bodyPr/>
          <a:lstStyle/>
          <a:p>
            <a:r>
              <a:rPr lang="en-IN" dirty="0"/>
              <a:t>Service Lifetimes in Dependency Injection</a:t>
            </a:r>
          </a:p>
        </p:txBody>
      </p:sp>
    </p:spTree>
    <p:extLst>
      <p:ext uri="{BB962C8B-B14F-4D97-AF65-F5344CB8AC3E}">
        <p14:creationId xmlns:p14="http://schemas.microsoft.com/office/powerpoint/2010/main" val="41898094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857612-09E9-37D2-0288-B945F08C26F5}"/>
              </a:ext>
            </a:extLst>
          </p:cNvPr>
          <p:cNvSpPr>
            <a:spLocks noGrp="1"/>
          </p:cNvSpPr>
          <p:nvPr>
            <p:ph idx="1"/>
          </p:nvPr>
        </p:nvSpPr>
        <p:spPr>
          <a:xfrm>
            <a:off x="131180" y="863445"/>
            <a:ext cx="11929641" cy="2299634"/>
          </a:xfrm>
        </p:spPr>
        <p:txBody>
          <a:bodyPr/>
          <a:lstStyle/>
          <a:p>
            <a:pPr marL="0" indent="0">
              <a:buNone/>
            </a:pPr>
            <a:r>
              <a:rPr lang="en-IN" sz="2800" b="1" dirty="0"/>
              <a:t>1. Transient Lifetime</a:t>
            </a:r>
          </a:p>
          <a:p>
            <a:r>
              <a:rPr lang="en-IN" dirty="0"/>
              <a:t>A </a:t>
            </a:r>
            <a:r>
              <a:rPr lang="en-IN" b="1" dirty="0"/>
              <a:t>Transient</a:t>
            </a:r>
            <a:r>
              <a:rPr lang="en-IN" dirty="0"/>
              <a:t> service creates a </a:t>
            </a:r>
            <a:r>
              <a:rPr lang="en-IN" b="1" dirty="0"/>
              <a:t>new object every time</a:t>
            </a:r>
            <a:r>
              <a:rPr lang="en-IN" dirty="0"/>
              <a:t> it is requested from the DI container.</a:t>
            </a:r>
          </a:p>
          <a:p>
            <a:r>
              <a:rPr lang="en-IN" dirty="0"/>
              <a:t>Even if the same service is requested multiple times during the same HTTP request, .NET creates a new instance each time.</a:t>
            </a:r>
          </a:p>
          <a:p>
            <a:endParaRPr lang="en-IN" dirty="0"/>
          </a:p>
          <a:p>
            <a:endParaRPr lang="en-IN" dirty="0"/>
          </a:p>
        </p:txBody>
      </p:sp>
      <p:sp>
        <p:nvSpPr>
          <p:cNvPr id="3" name="Title 2">
            <a:extLst>
              <a:ext uri="{FF2B5EF4-FFF2-40B4-BE49-F238E27FC236}">
                <a16:creationId xmlns:a16="http://schemas.microsoft.com/office/drawing/2014/main" id="{EB64797D-575E-515A-5CF6-ADF9965B3D4E}"/>
              </a:ext>
            </a:extLst>
          </p:cNvPr>
          <p:cNvSpPr>
            <a:spLocks noGrp="1"/>
          </p:cNvSpPr>
          <p:nvPr>
            <p:ph type="title"/>
          </p:nvPr>
        </p:nvSpPr>
        <p:spPr/>
        <p:txBody>
          <a:bodyPr/>
          <a:lstStyle/>
          <a:p>
            <a:r>
              <a:rPr lang="en-IN" dirty="0"/>
              <a:t>Service Lifetimes in Dependency Injection Cont..</a:t>
            </a:r>
          </a:p>
        </p:txBody>
      </p:sp>
      <p:pic>
        <p:nvPicPr>
          <p:cNvPr id="5" name="Picture 4">
            <a:extLst>
              <a:ext uri="{FF2B5EF4-FFF2-40B4-BE49-F238E27FC236}">
                <a16:creationId xmlns:a16="http://schemas.microsoft.com/office/drawing/2014/main" id="{08ACE966-ABFA-BE1C-92CF-F14387700CAB}"/>
              </a:ext>
            </a:extLst>
          </p:cNvPr>
          <p:cNvPicPr>
            <a:picLocks noChangeAspect="1"/>
          </p:cNvPicPr>
          <p:nvPr/>
        </p:nvPicPr>
        <p:blipFill>
          <a:blip r:embed="rId2"/>
          <a:stretch>
            <a:fillRect/>
          </a:stretch>
        </p:blipFill>
        <p:spPr>
          <a:xfrm>
            <a:off x="859405" y="2577721"/>
            <a:ext cx="7674005" cy="396274"/>
          </a:xfrm>
          <a:prstGeom prst="rect">
            <a:avLst/>
          </a:prstGeom>
        </p:spPr>
      </p:pic>
      <p:sp>
        <p:nvSpPr>
          <p:cNvPr id="6" name="Content Placeholder 1">
            <a:extLst>
              <a:ext uri="{FF2B5EF4-FFF2-40B4-BE49-F238E27FC236}">
                <a16:creationId xmlns:a16="http://schemas.microsoft.com/office/drawing/2014/main" id="{EC6BFEE2-46A7-998F-C197-74FA8CB3FE8D}"/>
              </a:ext>
            </a:extLst>
          </p:cNvPr>
          <p:cNvSpPr txBox="1">
            <a:spLocks/>
          </p:cNvSpPr>
          <p:nvPr/>
        </p:nvSpPr>
        <p:spPr>
          <a:xfrm>
            <a:off x="7529805" y="3073203"/>
            <a:ext cx="4452708" cy="229963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Characteristics:</a:t>
            </a:r>
          </a:p>
          <a:p>
            <a:pPr lvl="1"/>
            <a:r>
              <a:rPr lang="en-IN" dirty="0"/>
              <a:t>A </a:t>
            </a:r>
            <a:r>
              <a:rPr lang="en-IN" b="1" dirty="0"/>
              <a:t>new object is created </a:t>
            </a:r>
            <a:r>
              <a:rPr lang="en-IN" dirty="0"/>
              <a:t>every time.</a:t>
            </a:r>
          </a:p>
          <a:p>
            <a:pPr lvl="1"/>
            <a:r>
              <a:rPr lang="en-IN" b="1" dirty="0"/>
              <a:t>Objects are not shared. </a:t>
            </a:r>
          </a:p>
          <a:p>
            <a:pPr lvl="1"/>
            <a:r>
              <a:rPr lang="en-IN" dirty="0"/>
              <a:t>Best for lightweight and stateless services.</a:t>
            </a:r>
          </a:p>
          <a:p>
            <a:endParaRPr lang="en-IN" dirty="0"/>
          </a:p>
          <a:p>
            <a:endParaRPr lang="en-IN" dirty="0"/>
          </a:p>
        </p:txBody>
      </p:sp>
      <p:sp>
        <p:nvSpPr>
          <p:cNvPr id="8" name="Content Placeholder 1">
            <a:extLst>
              <a:ext uri="{FF2B5EF4-FFF2-40B4-BE49-F238E27FC236}">
                <a16:creationId xmlns:a16="http://schemas.microsoft.com/office/drawing/2014/main" id="{FF564490-A459-F38B-D471-C4788143A979}"/>
              </a:ext>
            </a:extLst>
          </p:cNvPr>
          <p:cNvSpPr txBox="1">
            <a:spLocks/>
          </p:cNvSpPr>
          <p:nvPr/>
        </p:nvSpPr>
        <p:spPr>
          <a:xfrm>
            <a:off x="131179" y="2983327"/>
            <a:ext cx="7193352" cy="229963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Example:</a:t>
            </a:r>
          </a:p>
          <a:p>
            <a:pPr lvl="1"/>
            <a:r>
              <a:rPr lang="en-IN" dirty="0"/>
              <a:t>Suppose an application generates a </a:t>
            </a:r>
            <a:r>
              <a:rPr lang="en-IN" b="1" dirty="0"/>
              <a:t>PDF Invoice, </a:t>
            </a:r>
            <a:r>
              <a:rPr lang="en-IN" dirty="0"/>
              <a:t>Every invoice is different as it contains different customer details, products, and prices.</a:t>
            </a:r>
          </a:p>
          <a:p>
            <a:pPr lvl="1"/>
            <a:r>
              <a:rPr lang="en-IN" dirty="0"/>
              <a:t>Whenever someone requests an invoice, a </a:t>
            </a:r>
            <a:r>
              <a:rPr lang="en-IN" b="1" dirty="0"/>
              <a:t>new </a:t>
            </a:r>
            <a:r>
              <a:rPr lang="en-IN" b="1" dirty="0" err="1"/>
              <a:t>InvoiceGenerator</a:t>
            </a:r>
            <a:r>
              <a:rPr lang="en-IN" b="1" dirty="0"/>
              <a:t> object</a:t>
            </a:r>
            <a:r>
              <a:rPr lang="en-IN" dirty="0"/>
              <a:t> should be created.</a:t>
            </a:r>
          </a:p>
          <a:p>
            <a:pPr lvl="2"/>
            <a:r>
              <a:rPr lang="en-IN" dirty="0"/>
              <a:t>User A downloads Invoice 101 → New object is created.</a:t>
            </a:r>
          </a:p>
          <a:p>
            <a:pPr lvl="2"/>
            <a:r>
              <a:rPr lang="en-IN" dirty="0"/>
              <a:t>User A downloads Invoice 102 → Another new object is created.</a:t>
            </a:r>
          </a:p>
          <a:p>
            <a:pPr lvl="2"/>
            <a:r>
              <a:rPr lang="en-IN" dirty="0"/>
              <a:t>User B downloads Invoice 103 → Another new object is created.</a:t>
            </a:r>
          </a:p>
          <a:p>
            <a:r>
              <a:rPr lang="en-IN" dirty="0"/>
              <a:t>Each request gets a completely new object.</a:t>
            </a:r>
          </a:p>
          <a:p>
            <a:endParaRPr lang="en-IN" dirty="0">
              <a:effectLst/>
            </a:endParaRPr>
          </a:p>
        </p:txBody>
      </p:sp>
    </p:spTree>
    <p:extLst>
      <p:ext uri="{BB962C8B-B14F-4D97-AF65-F5344CB8AC3E}">
        <p14:creationId xmlns:p14="http://schemas.microsoft.com/office/powerpoint/2010/main" val="3584163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51776-AF1E-7A75-F8FB-EF57B3B6E6A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71B03C-D350-F116-C479-0DE6144734B3}"/>
              </a:ext>
            </a:extLst>
          </p:cNvPr>
          <p:cNvSpPr>
            <a:spLocks noGrp="1"/>
          </p:cNvSpPr>
          <p:nvPr>
            <p:ph idx="1"/>
          </p:nvPr>
        </p:nvSpPr>
        <p:spPr>
          <a:xfrm>
            <a:off x="131180" y="863445"/>
            <a:ext cx="11929641" cy="2299634"/>
          </a:xfrm>
        </p:spPr>
        <p:txBody>
          <a:bodyPr/>
          <a:lstStyle/>
          <a:p>
            <a:pPr marL="0" indent="0">
              <a:buNone/>
            </a:pPr>
            <a:r>
              <a:rPr lang="en-IN" sz="2800" b="1" dirty="0"/>
              <a:t>2. Scoped Lifetime</a:t>
            </a:r>
          </a:p>
          <a:p>
            <a:r>
              <a:rPr lang="en-IN" dirty="0"/>
              <a:t>A </a:t>
            </a:r>
            <a:r>
              <a:rPr lang="en-IN" b="1" dirty="0"/>
              <a:t>Scoped</a:t>
            </a:r>
            <a:r>
              <a:rPr lang="en-IN" dirty="0"/>
              <a:t> service creates </a:t>
            </a:r>
            <a:r>
              <a:rPr lang="en-IN" b="1" dirty="0"/>
              <a:t>one object for each HTTP request</a:t>
            </a:r>
            <a:r>
              <a:rPr lang="en-IN" dirty="0"/>
              <a:t>.</a:t>
            </a:r>
          </a:p>
          <a:p>
            <a:r>
              <a:rPr lang="en-IN" dirty="0"/>
              <a:t>If multiple classes use the same service during that request, they all receive the </a:t>
            </a:r>
            <a:r>
              <a:rPr lang="en-IN" b="1" dirty="0"/>
              <a:t>same object</a:t>
            </a:r>
            <a:r>
              <a:rPr lang="en-IN" dirty="0"/>
              <a:t>.</a:t>
            </a:r>
          </a:p>
          <a:p>
            <a:r>
              <a:rPr lang="en-IN" dirty="0"/>
              <a:t>When the request is completed, the object is destroyed.</a:t>
            </a:r>
          </a:p>
          <a:p>
            <a:endParaRPr lang="en-IN" dirty="0"/>
          </a:p>
        </p:txBody>
      </p:sp>
      <p:sp>
        <p:nvSpPr>
          <p:cNvPr id="3" name="Title 2">
            <a:extLst>
              <a:ext uri="{FF2B5EF4-FFF2-40B4-BE49-F238E27FC236}">
                <a16:creationId xmlns:a16="http://schemas.microsoft.com/office/drawing/2014/main" id="{C7FF49FB-382C-FBEF-6532-D3F2EBCCCB96}"/>
              </a:ext>
            </a:extLst>
          </p:cNvPr>
          <p:cNvSpPr>
            <a:spLocks noGrp="1"/>
          </p:cNvSpPr>
          <p:nvPr>
            <p:ph type="title"/>
          </p:nvPr>
        </p:nvSpPr>
        <p:spPr/>
        <p:txBody>
          <a:bodyPr/>
          <a:lstStyle/>
          <a:p>
            <a:r>
              <a:rPr lang="en-IN" dirty="0"/>
              <a:t>Service Lifetimes in Dependency Injection Cont..</a:t>
            </a:r>
          </a:p>
        </p:txBody>
      </p:sp>
      <p:sp>
        <p:nvSpPr>
          <p:cNvPr id="6" name="Content Placeholder 1">
            <a:extLst>
              <a:ext uri="{FF2B5EF4-FFF2-40B4-BE49-F238E27FC236}">
                <a16:creationId xmlns:a16="http://schemas.microsoft.com/office/drawing/2014/main" id="{101BADA1-E701-13D5-9495-A4E0BF0CD588}"/>
              </a:ext>
            </a:extLst>
          </p:cNvPr>
          <p:cNvSpPr txBox="1">
            <a:spLocks/>
          </p:cNvSpPr>
          <p:nvPr/>
        </p:nvSpPr>
        <p:spPr>
          <a:xfrm>
            <a:off x="7317032" y="3163079"/>
            <a:ext cx="4601998" cy="229963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Characteristics:</a:t>
            </a:r>
          </a:p>
          <a:p>
            <a:pPr lvl="1"/>
            <a:r>
              <a:rPr lang="en-IN" dirty="0"/>
              <a:t>One object per HTTP request.</a:t>
            </a:r>
          </a:p>
          <a:p>
            <a:pPr lvl="1"/>
            <a:r>
              <a:rPr lang="en-IN" dirty="0"/>
              <a:t>Shared within the same request. </a:t>
            </a:r>
          </a:p>
          <a:p>
            <a:pPr lvl="1"/>
            <a:r>
              <a:rPr lang="en-IN" dirty="0"/>
              <a:t>New object for every new request.</a:t>
            </a:r>
          </a:p>
          <a:p>
            <a:r>
              <a:rPr lang="en-IN" b="1" dirty="0"/>
              <a:t>This is the most commonly used lifetime in Web APIs.</a:t>
            </a:r>
          </a:p>
          <a:p>
            <a:endParaRPr lang="en-IN" dirty="0"/>
          </a:p>
          <a:p>
            <a:endParaRPr lang="en-IN" dirty="0"/>
          </a:p>
        </p:txBody>
      </p:sp>
      <p:sp>
        <p:nvSpPr>
          <p:cNvPr id="8" name="Content Placeholder 1">
            <a:extLst>
              <a:ext uri="{FF2B5EF4-FFF2-40B4-BE49-F238E27FC236}">
                <a16:creationId xmlns:a16="http://schemas.microsoft.com/office/drawing/2014/main" id="{C861E82C-5733-626C-93F2-3FB6B8F24080}"/>
              </a:ext>
            </a:extLst>
          </p:cNvPr>
          <p:cNvSpPr txBox="1">
            <a:spLocks/>
          </p:cNvSpPr>
          <p:nvPr/>
        </p:nvSpPr>
        <p:spPr>
          <a:xfrm>
            <a:off x="131179" y="3163079"/>
            <a:ext cx="7044062" cy="229963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Example:</a:t>
            </a:r>
          </a:p>
          <a:p>
            <a:pPr lvl="1"/>
            <a:r>
              <a:rPr lang="en-IN" dirty="0"/>
              <a:t>Suppose a user places an order.</a:t>
            </a:r>
          </a:p>
          <a:p>
            <a:pPr lvl="1"/>
            <a:r>
              <a:rPr lang="en-IN" dirty="0"/>
              <a:t>During one request, multiple components like Order Service, Payment Service Invoice Service need notification details.</a:t>
            </a:r>
          </a:p>
          <a:p>
            <a:pPr lvl="1"/>
            <a:r>
              <a:rPr lang="en-IN" dirty="0"/>
              <a:t>All of them use the </a:t>
            </a:r>
            <a:r>
              <a:rPr lang="en-IN" b="1" dirty="0"/>
              <a:t>same Notification Service object</a:t>
            </a:r>
            <a:r>
              <a:rPr lang="en-IN" dirty="0"/>
              <a:t> during that request.</a:t>
            </a:r>
          </a:p>
          <a:p>
            <a:pPr lvl="1"/>
            <a:r>
              <a:rPr lang="en-IN" dirty="0"/>
              <a:t>When another user places a new order, .NET creates a new Notification Service object.</a:t>
            </a:r>
          </a:p>
          <a:p>
            <a:endParaRPr lang="en-IN" dirty="0">
              <a:effectLst/>
            </a:endParaRPr>
          </a:p>
        </p:txBody>
      </p:sp>
      <p:pic>
        <p:nvPicPr>
          <p:cNvPr id="7" name="Picture 6">
            <a:extLst>
              <a:ext uri="{FF2B5EF4-FFF2-40B4-BE49-F238E27FC236}">
                <a16:creationId xmlns:a16="http://schemas.microsoft.com/office/drawing/2014/main" id="{BA8A9D6E-55F6-4637-C596-FEBB5FFBBC17}"/>
              </a:ext>
            </a:extLst>
          </p:cNvPr>
          <p:cNvPicPr>
            <a:picLocks noChangeAspect="1"/>
          </p:cNvPicPr>
          <p:nvPr/>
        </p:nvPicPr>
        <p:blipFill>
          <a:blip r:embed="rId2"/>
          <a:stretch>
            <a:fillRect/>
          </a:stretch>
        </p:blipFill>
        <p:spPr>
          <a:xfrm>
            <a:off x="1327740" y="2706957"/>
            <a:ext cx="7315834" cy="327688"/>
          </a:xfrm>
          <a:prstGeom prst="rect">
            <a:avLst/>
          </a:prstGeom>
        </p:spPr>
      </p:pic>
    </p:spTree>
    <p:extLst>
      <p:ext uri="{BB962C8B-B14F-4D97-AF65-F5344CB8AC3E}">
        <p14:creationId xmlns:p14="http://schemas.microsoft.com/office/powerpoint/2010/main" val="1132543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731C8-986D-D810-BA23-E9F3C8C402C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CB5B0B-2052-784B-9A43-1E7C086C3435}"/>
              </a:ext>
            </a:extLst>
          </p:cNvPr>
          <p:cNvSpPr>
            <a:spLocks noGrp="1"/>
          </p:cNvSpPr>
          <p:nvPr>
            <p:ph idx="1"/>
          </p:nvPr>
        </p:nvSpPr>
        <p:spPr>
          <a:xfrm>
            <a:off x="131180" y="863445"/>
            <a:ext cx="11929641" cy="2299634"/>
          </a:xfrm>
        </p:spPr>
        <p:txBody>
          <a:bodyPr/>
          <a:lstStyle/>
          <a:p>
            <a:pPr marL="0" indent="0">
              <a:buNone/>
            </a:pPr>
            <a:r>
              <a:rPr lang="en-IN" sz="2800" b="1" dirty="0"/>
              <a:t>3. Singleton Lifetime</a:t>
            </a:r>
          </a:p>
          <a:p>
            <a:r>
              <a:rPr lang="en-IN" dirty="0"/>
              <a:t>A </a:t>
            </a:r>
            <a:r>
              <a:rPr lang="en-IN" b="1" dirty="0"/>
              <a:t>Singleton</a:t>
            </a:r>
            <a:r>
              <a:rPr lang="en-IN" dirty="0"/>
              <a:t> service creates </a:t>
            </a:r>
            <a:r>
              <a:rPr lang="en-IN" b="1" dirty="0"/>
              <a:t>only one object</a:t>
            </a:r>
            <a:r>
              <a:rPr lang="en-IN" dirty="0"/>
              <a:t> for the entire application.</a:t>
            </a:r>
          </a:p>
          <a:p>
            <a:r>
              <a:rPr lang="en-US" dirty="0"/>
              <a:t>The same </a:t>
            </a:r>
            <a:r>
              <a:rPr lang="en-US" b="1" dirty="0"/>
              <a:t>object is shared by every user and every request</a:t>
            </a:r>
            <a:r>
              <a:rPr lang="en-US" dirty="0"/>
              <a:t> until the application stops.</a:t>
            </a:r>
            <a:endParaRPr lang="en-IN" dirty="0"/>
          </a:p>
          <a:p>
            <a:endParaRPr lang="en-IN" dirty="0"/>
          </a:p>
        </p:txBody>
      </p:sp>
      <p:sp>
        <p:nvSpPr>
          <p:cNvPr id="3" name="Title 2">
            <a:extLst>
              <a:ext uri="{FF2B5EF4-FFF2-40B4-BE49-F238E27FC236}">
                <a16:creationId xmlns:a16="http://schemas.microsoft.com/office/drawing/2014/main" id="{1578F9F8-2732-32BC-15C7-6F81F93408FF}"/>
              </a:ext>
            </a:extLst>
          </p:cNvPr>
          <p:cNvSpPr>
            <a:spLocks noGrp="1"/>
          </p:cNvSpPr>
          <p:nvPr>
            <p:ph type="title"/>
          </p:nvPr>
        </p:nvSpPr>
        <p:spPr/>
        <p:txBody>
          <a:bodyPr/>
          <a:lstStyle/>
          <a:p>
            <a:r>
              <a:rPr lang="en-IN" dirty="0"/>
              <a:t>Service Lifetimes in Dependency Injection Cont..</a:t>
            </a:r>
          </a:p>
        </p:txBody>
      </p:sp>
      <p:sp>
        <p:nvSpPr>
          <p:cNvPr id="6" name="Content Placeholder 1">
            <a:extLst>
              <a:ext uri="{FF2B5EF4-FFF2-40B4-BE49-F238E27FC236}">
                <a16:creationId xmlns:a16="http://schemas.microsoft.com/office/drawing/2014/main" id="{F1D8A4AD-A81D-C987-3904-617308598B23}"/>
              </a:ext>
            </a:extLst>
          </p:cNvPr>
          <p:cNvSpPr txBox="1">
            <a:spLocks/>
          </p:cNvSpPr>
          <p:nvPr/>
        </p:nvSpPr>
        <p:spPr>
          <a:xfrm>
            <a:off x="7518918" y="3007891"/>
            <a:ext cx="4207555" cy="229963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Characteristics:</a:t>
            </a:r>
          </a:p>
          <a:p>
            <a:pPr lvl="1"/>
            <a:r>
              <a:rPr lang="en-IN" dirty="0"/>
              <a:t>Only one object is created.</a:t>
            </a:r>
          </a:p>
          <a:p>
            <a:pPr lvl="1"/>
            <a:r>
              <a:rPr lang="en-IN" dirty="0"/>
              <a:t>Shared across the entire application.</a:t>
            </a:r>
          </a:p>
          <a:p>
            <a:pPr lvl="1"/>
            <a:r>
              <a:rPr lang="en-IN" dirty="0"/>
              <a:t>Exists until the application stops.</a:t>
            </a:r>
          </a:p>
          <a:p>
            <a:endParaRPr lang="en-IN" dirty="0"/>
          </a:p>
        </p:txBody>
      </p:sp>
      <p:sp>
        <p:nvSpPr>
          <p:cNvPr id="8" name="Content Placeholder 1">
            <a:extLst>
              <a:ext uri="{FF2B5EF4-FFF2-40B4-BE49-F238E27FC236}">
                <a16:creationId xmlns:a16="http://schemas.microsoft.com/office/drawing/2014/main" id="{FD8C9585-542B-A4B8-DF3B-904D4188F895}"/>
              </a:ext>
            </a:extLst>
          </p:cNvPr>
          <p:cNvSpPr txBox="1">
            <a:spLocks/>
          </p:cNvSpPr>
          <p:nvPr/>
        </p:nvSpPr>
        <p:spPr>
          <a:xfrm>
            <a:off x="131179" y="2985798"/>
            <a:ext cx="7053392" cy="312575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Example:</a:t>
            </a:r>
          </a:p>
          <a:p>
            <a:pPr lvl="1"/>
            <a:r>
              <a:rPr lang="en-IN" dirty="0"/>
              <a:t>Suppose your application stores </a:t>
            </a:r>
            <a:r>
              <a:rPr lang="en-IN" b="1" dirty="0"/>
              <a:t>Application Configuration Settings</a:t>
            </a:r>
            <a:r>
              <a:rPr lang="en-IN" dirty="0"/>
              <a:t>.</a:t>
            </a:r>
          </a:p>
          <a:p>
            <a:pPr lvl="1"/>
            <a:r>
              <a:rPr lang="en-IN" dirty="0"/>
              <a:t>For Example, Company Name, Support Email, Website URL, Tax Percentage</a:t>
            </a:r>
          </a:p>
          <a:p>
            <a:pPr lvl="1"/>
            <a:r>
              <a:rPr lang="en-IN" dirty="0"/>
              <a:t>These values are the same for every user.</a:t>
            </a:r>
          </a:p>
          <a:p>
            <a:pPr lvl="1"/>
            <a:r>
              <a:rPr lang="en-IN" dirty="0"/>
              <a:t>Instead of creating the configuration object again and again, .NET creates it only once.</a:t>
            </a:r>
          </a:p>
          <a:p>
            <a:pPr lvl="1"/>
            <a:r>
              <a:rPr lang="en-IN" dirty="0"/>
              <a:t>Every request uses the same object.</a:t>
            </a:r>
          </a:p>
          <a:p>
            <a:endParaRPr lang="en-IN" dirty="0">
              <a:effectLst/>
            </a:endParaRPr>
          </a:p>
        </p:txBody>
      </p:sp>
      <p:pic>
        <p:nvPicPr>
          <p:cNvPr id="5" name="Picture 4">
            <a:extLst>
              <a:ext uri="{FF2B5EF4-FFF2-40B4-BE49-F238E27FC236}">
                <a16:creationId xmlns:a16="http://schemas.microsoft.com/office/drawing/2014/main" id="{756D0ACD-E7F4-A469-D80A-2AEC55034210}"/>
              </a:ext>
            </a:extLst>
          </p:cNvPr>
          <p:cNvPicPr>
            <a:picLocks noChangeAspect="1"/>
          </p:cNvPicPr>
          <p:nvPr/>
        </p:nvPicPr>
        <p:blipFill>
          <a:blip r:embed="rId2"/>
          <a:stretch>
            <a:fillRect/>
          </a:stretch>
        </p:blipFill>
        <p:spPr>
          <a:xfrm>
            <a:off x="1049438" y="2482547"/>
            <a:ext cx="7704488" cy="320068"/>
          </a:xfrm>
          <a:prstGeom prst="rect">
            <a:avLst/>
          </a:prstGeom>
        </p:spPr>
      </p:pic>
    </p:spTree>
    <p:extLst>
      <p:ext uri="{BB962C8B-B14F-4D97-AF65-F5344CB8AC3E}">
        <p14:creationId xmlns:p14="http://schemas.microsoft.com/office/powerpoint/2010/main" val="2134116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1" end="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A4829-2324-D66D-1FE8-7F65DF117E2F}"/>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7CD8A2F-3B72-1BB7-DFCF-D564A8A20566}"/>
              </a:ext>
            </a:extLst>
          </p:cNvPr>
          <p:cNvGraphicFramePr>
            <a:graphicFrameLocks noGrp="1"/>
          </p:cNvGraphicFramePr>
          <p:nvPr>
            <p:ph idx="1"/>
            <p:extLst>
              <p:ext uri="{D42A27DB-BD31-4B8C-83A1-F6EECF244321}">
                <p14:modId xmlns:p14="http://schemas.microsoft.com/office/powerpoint/2010/main" val="2018738298"/>
              </p:ext>
            </p:extLst>
          </p:nvPr>
        </p:nvGraphicFramePr>
        <p:xfrm>
          <a:off x="553617" y="985032"/>
          <a:ext cx="11084766" cy="4130040"/>
        </p:xfrm>
        <a:graphic>
          <a:graphicData uri="http://schemas.openxmlformats.org/drawingml/2006/table">
            <a:tbl>
              <a:tblPr>
                <a:tableStyleId>{0660B408-B3CF-4A94-85FC-2B1E0A45F4A2}</a:tableStyleId>
              </a:tblPr>
              <a:tblGrid>
                <a:gridCol w="1108393">
                  <a:extLst>
                    <a:ext uri="{9D8B030D-6E8A-4147-A177-3AD203B41FA5}">
                      <a16:colId xmlns:a16="http://schemas.microsoft.com/office/drawing/2014/main" val="259852549"/>
                    </a:ext>
                  </a:extLst>
                </a:gridCol>
                <a:gridCol w="1867853">
                  <a:extLst>
                    <a:ext uri="{9D8B030D-6E8A-4147-A177-3AD203B41FA5}">
                      <a16:colId xmlns:a16="http://schemas.microsoft.com/office/drawing/2014/main" val="1314834611"/>
                    </a:ext>
                  </a:extLst>
                </a:gridCol>
                <a:gridCol w="1763485">
                  <a:extLst>
                    <a:ext uri="{9D8B030D-6E8A-4147-A177-3AD203B41FA5}">
                      <a16:colId xmlns:a16="http://schemas.microsoft.com/office/drawing/2014/main" val="2733745492"/>
                    </a:ext>
                  </a:extLst>
                </a:gridCol>
                <a:gridCol w="3918858">
                  <a:extLst>
                    <a:ext uri="{9D8B030D-6E8A-4147-A177-3AD203B41FA5}">
                      <a16:colId xmlns:a16="http://schemas.microsoft.com/office/drawing/2014/main" val="3919376912"/>
                    </a:ext>
                  </a:extLst>
                </a:gridCol>
                <a:gridCol w="2426177">
                  <a:extLst>
                    <a:ext uri="{9D8B030D-6E8A-4147-A177-3AD203B41FA5}">
                      <a16:colId xmlns:a16="http://schemas.microsoft.com/office/drawing/2014/main" val="2476382112"/>
                    </a:ext>
                  </a:extLst>
                </a:gridCol>
              </a:tblGrid>
              <a:tr h="0">
                <a:tc>
                  <a:txBody>
                    <a:bodyPr/>
                    <a:lstStyle/>
                    <a:p>
                      <a:pPr>
                        <a:buNone/>
                      </a:pPr>
                      <a:r>
                        <a:rPr lang="en-IN" sz="1900" b="1" dirty="0"/>
                        <a:t>Lifetime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IN" sz="1900" b="1" dirty="0"/>
                        <a:t>Object Creation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IN" sz="1900" b="1" dirty="0"/>
                        <a:t>Object Sharing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IN" sz="1900" b="1" dirty="0"/>
                        <a:t>When to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IN" sz="1900" b="1" dirty="0"/>
                        <a:t>Best Use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446750882"/>
                  </a:ext>
                </a:extLst>
              </a:tr>
              <a:tr h="0">
                <a:tc>
                  <a:txBody>
                    <a:bodyPr/>
                    <a:lstStyle/>
                    <a:p>
                      <a:pPr>
                        <a:buNone/>
                      </a:pPr>
                      <a:r>
                        <a:rPr lang="en-IN" sz="1900" b="1"/>
                        <a:t>Transient</a:t>
                      </a:r>
                      <a:endParaRPr lang="en-IN"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900" dirty="0"/>
                        <a:t>New object every time it is requested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900" dirty="0"/>
                        <a:t>Not shared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IN" sz="1900" dirty="0"/>
                        <a:t>The service does not store data.</a:t>
                      </a:r>
                    </a:p>
                    <a:p>
                      <a:pPr marL="285750" indent="-285750">
                        <a:buFont typeface="Arial" panose="020B0604020202020204" pitchFamily="34" charset="0"/>
                        <a:buChar char="•"/>
                      </a:pPr>
                      <a:r>
                        <a:rPr lang="en-IN" sz="1900" dirty="0"/>
                        <a:t>Every operation should use a new object.</a:t>
                      </a:r>
                    </a:p>
                    <a:p>
                      <a:pPr marL="285750" indent="-285750">
                        <a:buFont typeface="Arial" panose="020B0604020202020204" pitchFamily="34" charset="0"/>
                        <a:buChar char="•"/>
                      </a:pPr>
                      <a:r>
                        <a:rPr lang="en-IN" sz="1900" dirty="0"/>
                        <a:t>The service is lightweight.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IN" sz="1900" dirty="0"/>
                        <a:t>PDF Generator</a:t>
                      </a:r>
                    </a:p>
                    <a:p>
                      <a:pPr marL="285750" indent="-285750">
                        <a:buFont typeface="Arial" panose="020B0604020202020204" pitchFamily="34" charset="0"/>
                        <a:buChar char="•"/>
                      </a:pPr>
                      <a:r>
                        <a:rPr lang="en-IN" sz="1900" dirty="0"/>
                        <a:t>Email Formatter</a:t>
                      </a:r>
                    </a:p>
                    <a:p>
                      <a:pPr marL="285750" indent="-285750">
                        <a:buFont typeface="Arial" panose="020B0604020202020204" pitchFamily="34" charset="0"/>
                        <a:buChar char="•"/>
                      </a:pPr>
                      <a:r>
                        <a:rPr lang="en-IN" sz="1900" dirty="0"/>
                        <a:t>Validation Service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3168283"/>
                  </a:ext>
                </a:extLst>
              </a:tr>
              <a:tr h="0">
                <a:tc>
                  <a:txBody>
                    <a:bodyPr/>
                    <a:lstStyle/>
                    <a:p>
                      <a:pPr>
                        <a:buNone/>
                      </a:pPr>
                      <a:r>
                        <a:rPr lang="en-IN" sz="1900" b="1"/>
                        <a:t>Scoped</a:t>
                      </a:r>
                      <a:endParaRPr lang="en-IN"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900" dirty="0"/>
                        <a:t>One object per HTTP request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900" dirty="0"/>
                        <a:t>Shared within the same request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IN" sz="1900" dirty="0"/>
                        <a:t>The object should remain the same throughout one HTTP request. </a:t>
                      </a:r>
                    </a:p>
                    <a:p>
                      <a:pPr marL="285750" indent="-285750">
                        <a:buFont typeface="Arial" panose="020B0604020202020204" pitchFamily="34" charset="0"/>
                        <a:buChar char="•"/>
                      </a:pPr>
                      <a:r>
                        <a:rPr lang="en-IN" sz="1900" dirty="0"/>
                        <a:t>Multiple services need to share the same instance during that request.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IN" sz="1900" dirty="0"/>
                        <a:t>Business Services</a:t>
                      </a:r>
                    </a:p>
                    <a:p>
                      <a:pPr marL="285750" indent="-285750">
                        <a:buFont typeface="Arial" panose="020B0604020202020204" pitchFamily="34" charset="0"/>
                        <a:buChar char="•"/>
                      </a:pPr>
                      <a:r>
                        <a:rPr lang="en-IN" sz="1900" dirty="0"/>
                        <a:t>Database Context (</a:t>
                      </a:r>
                      <a:r>
                        <a:rPr lang="en-IN" sz="1900" dirty="0" err="1"/>
                        <a:t>DbContext</a:t>
                      </a:r>
                      <a:r>
                        <a:rPr lang="en-IN" sz="1900" dirty="0"/>
                        <a:t>), </a:t>
                      </a:r>
                    </a:p>
                    <a:p>
                      <a:pPr marL="285750" indent="-285750">
                        <a:buFont typeface="Arial" panose="020B0604020202020204" pitchFamily="34" charset="0"/>
                        <a:buChar char="•"/>
                      </a:pPr>
                      <a:r>
                        <a:rPr lang="en-IN" sz="1900" dirty="0"/>
                        <a:t>Repository Classes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968723"/>
                  </a:ext>
                </a:extLst>
              </a:tr>
              <a:tr h="0">
                <a:tc>
                  <a:txBody>
                    <a:bodyPr/>
                    <a:lstStyle/>
                    <a:p>
                      <a:pPr>
                        <a:buNone/>
                      </a:pPr>
                      <a:r>
                        <a:rPr lang="en-IN" sz="1900" b="1"/>
                        <a:t>Singleton</a:t>
                      </a:r>
                      <a:endParaRPr lang="en-IN"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900"/>
                        <a:t>Only one object for the whole 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900"/>
                        <a:t>Shared by all users and requests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IN" sz="1900" dirty="0"/>
                        <a:t>The object contains common data shared by everyone. </a:t>
                      </a:r>
                    </a:p>
                    <a:p>
                      <a:pPr marL="285750" indent="-285750">
                        <a:buFont typeface="Arial" panose="020B0604020202020204" pitchFamily="34" charset="0"/>
                        <a:buChar char="•"/>
                      </a:pPr>
                      <a:r>
                        <a:rPr lang="en-IN" sz="1900" dirty="0"/>
                        <a:t>The object is expensive to create. </a:t>
                      </a:r>
                    </a:p>
                    <a:p>
                      <a:pPr marL="285750" indent="-285750">
                        <a:buFont typeface="Arial" panose="020B0604020202020204" pitchFamily="34" charset="0"/>
                        <a:buChar char="•"/>
                      </a:pPr>
                      <a:r>
                        <a:rPr lang="en-IN" sz="1900" dirty="0"/>
                        <a:t>The data rarely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IN" sz="1900" dirty="0"/>
                        <a:t>Configuration </a:t>
                      </a:r>
                    </a:p>
                    <a:p>
                      <a:pPr marL="285750" indent="-285750">
                        <a:buFont typeface="Arial" panose="020B0604020202020204" pitchFamily="34" charset="0"/>
                        <a:buChar char="•"/>
                      </a:pPr>
                      <a:r>
                        <a:rPr lang="en-IN" sz="1900" dirty="0"/>
                        <a:t>Logging Service</a:t>
                      </a:r>
                    </a:p>
                    <a:p>
                      <a:pPr marL="285750" indent="-285750">
                        <a:buFont typeface="Arial" panose="020B0604020202020204" pitchFamily="34" charset="0"/>
                        <a:buChar char="•"/>
                      </a:pPr>
                      <a:r>
                        <a:rPr lang="en-IN" sz="1900" dirty="0"/>
                        <a:t>Memory Cache</a:t>
                      </a:r>
                    </a:p>
                    <a:p>
                      <a:pPr marL="285750" indent="-285750">
                        <a:buFont typeface="Arial" panose="020B0604020202020204" pitchFamily="34" charset="0"/>
                        <a:buChar char="•"/>
                      </a:pPr>
                      <a:r>
                        <a:rPr lang="en-IN" sz="1900" dirty="0"/>
                        <a:t>Application Settings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9532278"/>
                  </a:ext>
                </a:extLst>
              </a:tr>
            </a:tbl>
          </a:graphicData>
        </a:graphic>
      </p:graphicFrame>
      <p:sp>
        <p:nvSpPr>
          <p:cNvPr id="3" name="Title 2">
            <a:extLst>
              <a:ext uri="{FF2B5EF4-FFF2-40B4-BE49-F238E27FC236}">
                <a16:creationId xmlns:a16="http://schemas.microsoft.com/office/drawing/2014/main" id="{85C7F281-F165-DE66-F3A0-74638B97D2A4}"/>
              </a:ext>
            </a:extLst>
          </p:cNvPr>
          <p:cNvSpPr>
            <a:spLocks noGrp="1"/>
          </p:cNvSpPr>
          <p:nvPr>
            <p:ph type="title"/>
          </p:nvPr>
        </p:nvSpPr>
        <p:spPr/>
        <p:txBody>
          <a:bodyPr/>
          <a:lstStyle/>
          <a:p>
            <a:r>
              <a:rPr lang="en-IN" dirty="0"/>
              <a:t>Comparison of Service Lifetimes</a:t>
            </a:r>
          </a:p>
        </p:txBody>
      </p:sp>
    </p:spTree>
    <p:extLst>
      <p:ext uri="{BB962C8B-B14F-4D97-AF65-F5344CB8AC3E}">
        <p14:creationId xmlns:p14="http://schemas.microsoft.com/office/powerpoint/2010/main" val="8164740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a:xfrm>
            <a:off x="2581756" y="102057"/>
            <a:ext cx="4646358" cy="734653"/>
          </a:xfrm>
        </p:spPr>
        <p:txBody>
          <a:bodyPr/>
          <a:lstStyle/>
          <a:p>
            <a:r>
              <a:rPr lang="en-US" b="1" dirty="0"/>
              <a:t>Building RESTful APIs with </a:t>
            </a:r>
          </a:p>
          <a:p>
            <a:r>
              <a:rPr lang="en-US" b="1" dirty="0"/>
              <a:t>ASP.NET Core</a:t>
            </a:r>
          </a:p>
          <a:p>
            <a:r>
              <a:rPr lang="en-US" dirty="0"/>
              <a:t>#</a:t>
            </a:r>
            <a:r>
              <a:rPr lang="en-IN" dirty="0"/>
              <a:t>2505CS311</a:t>
            </a:r>
            <a:endParaRPr lang="en-US" dirty="0"/>
          </a:p>
        </p:txBody>
      </p:sp>
      <p:sp>
        <p:nvSpPr>
          <p:cNvPr id="28"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a:xfrm>
            <a:off x="2180943" y="6175935"/>
            <a:ext cx="3735998" cy="290081"/>
          </a:xfrm>
        </p:spPr>
        <p:txBody>
          <a:bodyPr/>
          <a:lstStyle/>
          <a:p>
            <a:r>
              <a:rPr lang="en-US" dirty="0"/>
              <a:t>Madhuresh.fichadiya@darshan.ac.in</a:t>
            </a:r>
          </a:p>
        </p:txBody>
      </p:sp>
      <p:sp>
        <p:nvSpPr>
          <p:cNvPr id="29"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a:xfrm>
            <a:off x="2183874" y="6460218"/>
            <a:ext cx="3735998" cy="290081"/>
          </a:xfrm>
        </p:spPr>
        <p:txBody>
          <a:bodyPr/>
          <a:lstStyle/>
          <a:p>
            <a:r>
              <a:rPr lang="en-US" dirty="0"/>
              <a:t>8866961282</a:t>
            </a:r>
            <a:endParaRPr lang="en-IN" dirty="0"/>
          </a:p>
        </p:txBody>
      </p:sp>
      <p:sp>
        <p:nvSpPr>
          <p:cNvPr id="30"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780000" cy="290081"/>
          </a:xfrm>
        </p:spPr>
        <p:txBody>
          <a:bodyPr/>
          <a:lstStyle/>
          <a:p>
            <a:r>
              <a:rPr lang="en-US"/>
              <a:t>Computer Science &amp; Engineering Department</a:t>
            </a:r>
            <a:endParaRPr lang="en-US" dirty="0"/>
          </a:p>
        </p:txBody>
      </p:sp>
      <p:sp>
        <p:nvSpPr>
          <p:cNvPr id="31"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a:xfrm>
            <a:off x="1837677" y="5273332"/>
            <a:ext cx="5581039" cy="290081"/>
          </a:xfrm>
        </p:spPr>
        <p:txBody>
          <a:bodyPr/>
          <a:lstStyle/>
          <a:p>
            <a:r>
              <a:rPr lang="en-US" dirty="0"/>
              <a:t>Prof. Madhuresh R Fichadiya</a:t>
            </a:r>
            <a:endParaRPr lang="en-IN" dirty="0"/>
          </a:p>
        </p:txBody>
      </p:sp>
      <p:pic>
        <p:nvPicPr>
          <p:cNvPr id="32" name="Picture Placeholder 1"/>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p:blipFill>
        <p:spPr>
          <a:xfrm>
            <a:off x="353569" y="5211251"/>
            <a:ext cx="1353599" cy="1353599"/>
          </a:xfrm>
        </p:spPr>
      </p:pic>
    </p:spTree>
    <p:extLst>
      <p:ext uri="{BB962C8B-B14F-4D97-AF65-F5344CB8AC3E}">
        <p14:creationId xmlns:p14="http://schemas.microsoft.com/office/powerpoint/2010/main" val="3034825592"/>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9778</TotalTime>
  <Words>5092</Words>
  <Application>Microsoft Office PowerPoint</Application>
  <PresentationFormat>Widescreen</PresentationFormat>
  <Paragraphs>566</Paragraphs>
  <Slides>54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Arial</vt:lpstr>
      <vt:lpstr>Wingdings 3</vt:lpstr>
      <vt:lpstr>Wingdings 2</vt:lpstr>
      <vt:lpstr>Wingdings</vt:lpstr>
      <vt:lpstr>Calibri</vt:lpstr>
      <vt:lpstr>Roboto Condensed</vt:lpstr>
      <vt:lpstr>Consolas</vt:lpstr>
      <vt:lpstr>Roboto Condensed Light</vt:lpstr>
      <vt:lpstr>Office Theme</vt:lpstr>
      <vt:lpstr>Unit-1 | Part - II Introduction to .NET  Web API</vt:lpstr>
      <vt:lpstr>PowerPoint Presentation</vt:lpstr>
      <vt:lpstr>What is API?  (Application Programming Interface)</vt:lpstr>
      <vt:lpstr>What is Web API?</vt:lpstr>
      <vt:lpstr>Web API Examples</vt:lpstr>
      <vt:lpstr>Need of API</vt:lpstr>
      <vt:lpstr>Need of API Cont..</vt:lpstr>
      <vt:lpstr>HTTP  (HyperText Transport Protocol)</vt:lpstr>
      <vt:lpstr>HTTP (HyperText Transport Protocol)</vt:lpstr>
      <vt:lpstr>1. How Browser and Server Communicate with Each Other?</vt:lpstr>
      <vt:lpstr>2. What is HTTP?</vt:lpstr>
      <vt:lpstr>3. HTTP Request Components</vt:lpstr>
      <vt:lpstr>3. HTTP Response Components</vt:lpstr>
      <vt:lpstr>4. HTTP Verbs or HTTP Methods</vt:lpstr>
      <vt:lpstr>4. HTTP Verbs or Methods – Real-World Analogies</vt:lpstr>
      <vt:lpstr>4. HTTP Verbs or HTTP Methods (PUT v/s PATCH)</vt:lpstr>
      <vt:lpstr>5. HTTP Status Codes</vt:lpstr>
      <vt:lpstr>5. HTTP Status Codes Cont..</vt:lpstr>
      <vt:lpstr>5. HTTP Status Codes Cont..</vt:lpstr>
      <vt:lpstr>Problems Without Web APIs</vt:lpstr>
      <vt:lpstr>Problems Without Web APIs</vt:lpstr>
      <vt:lpstr>Key Characteristics of Web APIs</vt:lpstr>
      <vt:lpstr>Key Characteristics of Web APIs</vt:lpstr>
      <vt:lpstr>JSON  (JavaScript Object Notation)</vt:lpstr>
      <vt:lpstr>What is JSON?</vt:lpstr>
      <vt:lpstr>Example: JSON string returned from the API</vt:lpstr>
      <vt:lpstr>Difference between JSON serialize and JSON deserialize?</vt:lpstr>
      <vt:lpstr>JSON Serialization Example</vt:lpstr>
      <vt:lpstr>JSON Deserialization Example</vt:lpstr>
      <vt:lpstr>Different styles of JSON</vt:lpstr>
      <vt:lpstr>Middleware</vt:lpstr>
      <vt:lpstr>Middleware</vt:lpstr>
      <vt:lpstr>Middleware Cont..</vt:lpstr>
      <vt:lpstr>HTTP Request Pipeline</vt:lpstr>
      <vt:lpstr>HTTP Request Pipeline Cont..</vt:lpstr>
      <vt:lpstr>HTTP Request Pipeline in ASP.NET Core Example Cont..</vt:lpstr>
      <vt:lpstr>Middleware Cont..</vt:lpstr>
      <vt:lpstr>Middleware in Cont..</vt:lpstr>
      <vt:lpstr>Run, Use, Next, and Map Methods in Middleware</vt:lpstr>
      <vt:lpstr>Dependency Injection (DI) &amp; Service Lifetime</vt:lpstr>
      <vt:lpstr>Introduction</vt:lpstr>
      <vt:lpstr>What Happens Without Dependency Injection?</vt:lpstr>
      <vt:lpstr>Problems Without Dependency Injection</vt:lpstr>
      <vt:lpstr>Problems Without Dependency Injection Cont..</vt:lpstr>
      <vt:lpstr>What is Dependency Injection?</vt:lpstr>
      <vt:lpstr>Using Dependency Injection</vt:lpstr>
      <vt:lpstr>Using Dependency Injection Cont..</vt:lpstr>
      <vt:lpstr>How Dependency Injection is Performed?</vt:lpstr>
      <vt:lpstr>Service Lifetimes in Dependency Injection</vt:lpstr>
      <vt:lpstr>Service Lifetimes in Dependency Injection Cont..</vt:lpstr>
      <vt:lpstr>Service Lifetimes in Dependency Injection Cont..</vt:lpstr>
      <vt:lpstr>Service Lifetimes in Dependency Injection Cont..</vt:lpstr>
      <vt:lpstr>Comparison of Service Lifetimes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Madhuresh Fichadiya</cp:lastModifiedBy>
  <cp:revision>775</cp:revision>
  <dcterms:created xsi:type="dcterms:W3CDTF">2020-05-01T05:09:15Z</dcterms:created>
  <dcterms:modified xsi:type="dcterms:W3CDTF">2026-07-15T14:38:17Z</dcterms:modified>
</cp:coreProperties>
</file>