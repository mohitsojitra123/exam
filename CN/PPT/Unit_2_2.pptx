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tiff" ContentType="image/tiff"/>
  <Default Extension="gif" ContentType="image/gif"/>
  <Default Extension="jpg" ContentType="image/jpeg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47"/>
  </p:notesMasterIdLst>
  <p:sldIdLst>
    <p:sldId id="590" r:id="rId2"/>
    <p:sldId id="447" r:id="rId3"/>
    <p:sldId id="582" r:id="rId4"/>
    <p:sldId id="291" r:id="rId5"/>
    <p:sldId id="332" r:id="rId6"/>
    <p:sldId id="577" r:id="rId7"/>
    <p:sldId id="592" r:id="rId8"/>
    <p:sldId id="637" r:id="rId9"/>
    <p:sldId id="638" r:id="rId10"/>
    <p:sldId id="639" r:id="rId11"/>
    <p:sldId id="641" r:id="rId12"/>
    <p:sldId id="583" r:id="rId13"/>
    <p:sldId id="333" r:id="rId14"/>
    <p:sldId id="293" r:id="rId15"/>
    <p:sldId id="296" r:id="rId16"/>
    <p:sldId id="315" r:id="rId17"/>
    <p:sldId id="579" r:id="rId18"/>
    <p:sldId id="297" r:id="rId19"/>
    <p:sldId id="334" r:id="rId20"/>
    <p:sldId id="299" r:id="rId21"/>
    <p:sldId id="632" r:id="rId22"/>
    <p:sldId id="633" r:id="rId23"/>
    <p:sldId id="634" r:id="rId24"/>
    <p:sldId id="635" r:id="rId25"/>
    <p:sldId id="636" r:id="rId26"/>
    <p:sldId id="631" r:id="rId27"/>
    <p:sldId id="628" r:id="rId28"/>
    <p:sldId id="629" r:id="rId29"/>
    <p:sldId id="630" r:id="rId30"/>
    <p:sldId id="584" r:id="rId31"/>
    <p:sldId id="300" r:id="rId32"/>
    <p:sldId id="303" r:id="rId33"/>
    <p:sldId id="314" r:id="rId34"/>
    <p:sldId id="304" r:id="rId35"/>
    <p:sldId id="325" r:id="rId36"/>
    <p:sldId id="305" r:id="rId37"/>
    <p:sldId id="306" r:id="rId38"/>
    <p:sldId id="301" r:id="rId39"/>
    <p:sldId id="585" r:id="rId40"/>
    <p:sldId id="307" r:id="rId41"/>
    <p:sldId id="308" r:id="rId42"/>
    <p:sldId id="309" r:id="rId43"/>
    <p:sldId id="310" r:id="rId44"/>
    <p:sldId id="311" r:id="rId45"/>
    <p:sldId id="591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d7/4JEV/gJ6Sj8swQGxAtw==" hashData="EbAzfhDZfym8RYgAIBT1Na5BLc7IAXBWmN/96UpzkMHpB08fEmvLZ09HiGI9x/jI7A67kPCMdejdbMcm/GQu2A=="/>
  <p:extLst>
    <p:ext uri="{EFAFB233-063F-42B5-8137-9DF3F51BA10A}">
      <p15:sldGuideLst xmlns:p15="http://schemas.microsoft.com/office/powerpoint/2012/main">
        <p15:guide id="1" orient="horz" pos="324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4FC"/>
    <a:srgbClr val="FF5B5B"/>
    <a:srgbClr val="FF5D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78"/>
    <p:restoredTop sz="94783"/>
  </p:normalViewPr>
  <p:slideViewPr>
    <p:cSldViewPr snapToGrid="0" snapToObjects="1">
      <p:cViewPr varScale="1">
        <p:scale>
          <a:sx n="74" d="100"/>
          <a:sy n="74" d="100"/>
        </p:scale>
        <p:origin x="1075" y="67"/>
      </p:cViewPr>
      <p:guideLst>
        <p:guide orient="horz" pos="324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F390E7-7720-6346-B70B-19F583BE4EB9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8C442F-C52E-1F42-A6BA-4466C2815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090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microsoft.com/office/2007/relationships/hdphoto" Target="../media/hdphoto1.wdp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tif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microsoft.com/office/2007/relationships/hdphoto" Target="../media/hdphoto2.wdp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4.png"/><Relationship Id="rId9" Type="http://schemas.microsoft.com/office/2007/relationships/hdphoto" Target="../media/hdphoto3.wdp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4.png"/><Relationship Id="rId9" Type="http://schemas.microsoft.com/office/2007/relationships/hdphoto" Target="../media/hdphoto4.wdp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4.png"/><Relationship Id="rId9" Type="http://schemas.microsoft.com/office/2007/relationships/hdphoto" Target="../media/hdphoto4.wdp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4.png"/><Relationship Id="rId9" Type="http://schemas.microsoft.com/office/2007/relationships/hdphoto" Target="../media/hdphoto5.wdp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4.png"/><Relationship Id="rId9" Type="http://schemas.microsoft.com/office/2007/relationships/hdphoto" Target="../media/hdphoto4.wdp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4.png"/><Relationship Id="rId9" Type="http://schemas.microsoft.com/office/2007/relationships/hdphoto" Target="../media/hdphoto5.wdp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4.png"/><Relationship Id="rId9" Type="http://schemas.microsoft.com/office/2007/relationships/hdphoto" Target="../media/hdphoto6.wdp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4.png"/><Relationship Id="rId9" Type="http://schemas.microsoft.com/office/2007/relationships/hdphoto" Target="../media/hdphoto7.wdp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4.png"/><Relationship Id="rId9" Type="http://schemas.microsoft.com/office/2007/relationships/hdphoto" Target="../media/hdphoto4.wdp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12" Type="http://schemas.openxmlformats.org/officeDocument/2006/relationships/image" Target="../media/image8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11" Type="http://schemas.openxmlformats.org/officeDocument/2006/relationships/image" Target="../media/image7.jpeg"/><Relationship Id="rId5" Type="http://schemas.openxmlformats.org/officeDocument/2006/relationships/image" Target="../media/image3.png"/><Relationship Id="rId10" Type="http://schemas.openxmlformats.org/officeDocument/2006/relationships/image" Target="../media/image16.jpeg"/><Relationship Id="rId4" Type="http://schemas.openxmlformats.org/officeDocument/2006/relationships/image" Target="../media/image14.png"/><Relationship Id="rId9" Type="http://schemas.microsoft.com/office/2007/relationships/hdphoto" Target="../media/hdphoto4.wdp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4.png"/><Relationship Id="rId9" Type="http://schemas.microsoft.com/office/2007/relationships/hdphoto" Target="../media/hdphoto4.wdp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8" Type="http://schemas.microsoft.com/office/2007/relationships/hdphoto" Target="../media/hdphoto8.wdp"/><Relationship Id="rId13" Type="http://schemas.openxmlformats.org/officeDocument/2006/relationships/image" Target="../media/image9.png"/><Relationship Id="rId3" Type="http://schemas.openxmlformats.org/officeDocument/2006/relationships/image" Target="../media/image17.png"/><Relationship Id="rId7" Type="http://schemas.openxmlformats.org/officeDocument/2006/relationships/image" Target="../media/image18.png"/><Relationship Id="rId12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11" Type="http://schemas.openxmlformats.org/officeDocument/2006/relationships/image" Target="../media/image21.png"/><Relationship Id="rId5" Type="http://schemas.openxmlformats.org/officeDocument/2006/relationships/image" Target="../media/image4.png"/><Relationship Id="rId15" Type="http://schemas.openxmlformats.org/officeDocument/2006/relationships/image" Target="../media/image23.jpeg"/><Relationship Id="rId10" Type="http://schemas.openxmlformats.org/officeDocument/2006/relationships/image" Target="../media/image20.png"/><Relationship Id="rId4" Type="http://schemas.openxmlformats.org/officeDocument/2006/relationships/image" Target="../media/image3.png"/><Relationship Id="rId9" Type="http://schemas.openxmlformats.org/officeDocument/2006/relationships/image" Target="../media/image19.jpeg"/><Relationship Id="rId14" Type="http://schemas.microsoft.com/office/2007/relationships/hdphoto" Target="../media/hdphoto1.wdp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jpeg"/><Relationship Id="rId5" Type="http://schemas.openxmlformats.org/officeDocument/2006/relationships/image" Target="../media/image5.pn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17.png"/><Relationship Id="rId7" Type="http://schemas.microsoft.com/office/2007/relationships/hdphoto" Target="../media/hdphoto8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451730" y="244174"/>
            <a:ext cx="3395148" cy="1442867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/>
          <a:stretch/>
        </p:blipFill>
        <p:spPr>
          <a:xfrm>
            <a:off x="959767" y="3827036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screen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D370FB6-7031-0A4B-838F-03DBE8CD8D6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83130" y="2329344"/>
            <a:ext cx="2199311" cy="219931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1946227-18C8-F84C-AE02-FA328FFAD9DD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870E076-9CDA-F11A-050B-71BF6E4B6123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8983130" y="2329344"/>
            <a:ext cx="2199311" cy="2199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256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Maulik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Trivedi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67FE28E9-05C7-BA4A-A6B9-63B6ED98C64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/>
          <a:stretch/>
        </p:blipFill>
        <p:spPr>
          <a:xfrm>
            <a:off x="9971896" y="711201"/>
            <a:ext cx="2088924" cy="887749"/>
          </a:xfrm>
          <a:prstGeom prst="rect">
            <a:avLst/>
          </a:prstGeom>
        </p:spPr>
      </p:pic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538D31E1-44EA-57F8-3809-9C68FBC125D3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5257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2305CS332 (CN)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Application Layer</a:t>
            </a:r>
          </a:p>
        </p:txBody>
      </p:sp>
    </p:spTree>
    <p:extLst>
      <p:ext uri="{BB962C8B-B14F-4D97-AF65-F5344CB8AC3E}">
        <p14:creationId xmlns:p14="http://schemas.microsoft.com/office/powerpoint/2010/main" val="330633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Devangi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L. Kotak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5257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2305CS332 (CN)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Application Layer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33C8C9CD-3693-C144-BADE-D675A404947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/>
          <a:stretch/>
        </p:blipFill>
        <p:spPr>
          <a:xfrm>
            <a:off x="9982200" y="5715125"/>
            <a:ext cx="2088924" cy="887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191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F5FC6D43-BEAC-0E4A-874E-F9975D500D3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/>
          <a:stretch/>
        </p:blipFill>
        <p:spPr>
          <a:xfrm>
            <a:off x="131178" y="5715125"/>
            <a:ext cx="2088924" cy="887749"/>
          </a:xfrm>
          <a:prstGeom prst="rect">
            <a:avLst/>
          </a:prstGeom>
        </p:spPr>
      </p:pic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C5B474E-21B5-7771-2075-A337C9D1CA11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5257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2305CS332 (CN)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Application Layer</a:t>
            </a:r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8FBD38E1-BE11-47B4-B228-284D3C69F57F}"/>
              </a:ext>
            </a:extLst>
          </p:cNvPr>
          <p:cNvSpPr txBox="1">
            <a:spLocks/>
          </p:cNvSpPr>
          <p:nvPr userDrawn="1"/>
        </p:nvSpPr>
        <p:spPr>
          <a:xfrm>
            <a:off x="990600" y="6608503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Devangi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L. Kotak</a:t>
            </a:r>
          </a:p>
        </p:txBody>
      </p:sp>
    </p:spTree>
    <p:extLst>
      <p:ext uri="{BB962C8B-B14F-4D97-AF65-F5344CB8AC3E}">
        <p14:creationId xmlns:p14="http://schemas.microsoft.com/office/powerpoint/2010/main" val="3452651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  <a:noFill/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15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7654904-961B-A345-A19E-7B2A7EBCBC44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5000"/>
          </a:blip>
          <a:srcRect/>
          <a:stretch/>
        </p:blipFill>
        <p:spPr>
          <a:xfrm>
            <a:off x="9982200" y="5715125"/>
            <a:ext cx="2088924" cy="887749"/>
          </a:xfrm>
          <a:prstGeom prst="rect">
            <a:avLst/>
          </a:prstGeom>
        </p:spPr>
      </p:pic>
      <p:sp>
        <p:nvSpPr>
          <p:cNvPr id="4" name="Freeform 17">
            <a:extLst>
              <a:ext uri="{FF2B5EF4-FFF2-40B4-BE49-F238E27FC236}">
                <a16:creationId xmlns:a16="http://schemas.microsoft.com/office/drawing/2014/main" id="{1E69838E-7B90-433A-1AB9-72115E290C3D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79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FE191CF5-3D57-422B-B2EB-FF235E30DB22}"/>
              </a:ext>
            </a:extLst>
          </p:cNvPr>
          <p:cNvGrpSpPr/>
          <p:nvPr/>
        </p:nvGrpSpPr>
        <p:grpSpPr>
          <a:xfrm>
            <a:off x="9576895" y="991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9B183D5-5DE8-48E7-85E7-60CE9D0FD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2445F4B-50F2-4CA0-A5C5-6D690A29F3F2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66575C76-7F7A-4470-83A0-D8A3A549F601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Devangi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L. Kotak</a:t>
            </a:r>
          </a:p>
        </p:txBody>
      </p:sp>
    </p:spTree>
    <p:extLst>
      <p:ext uri="{BB962C8B-B14F-4D97-AF65-F5344CB8AC3E}">
        <p14:creationId xmlns:p14="http://schemas.microsoft.com/office/powerpoint/2010/main" val="1321780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2305CS332 (CN)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Application Layer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A2A403C4-E5D8-5803-9BBA-B869D28944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rcRect/>
          <a:stretch/>
        </p:blipFill>
        <p:spPr>
          <a:xfrm>
            <a:off x="9982200" y="5715125"/>
            <a:ext cx="2088924" cy="887749"/>
          </a:xfrm>
          <a:prstGeom prst="rect">
            <a:avLst/>
          </a:prstGeom>
        </p:spPr>
      </p:pic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76368811-2036-43A2-842E-0A1FC1322485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Devangi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L. Kotak</a:t>
            </a:r>
          </a:p>
        </p:txBody>
      </p:sp>
    </p:spTree>
    <p:extLst>
      <p:ext uri="{BB962C8B-B14F-4D97-AF65-F5344CB8AC3E}">
        <p14:creationId xmlns:p14="http://schemas.microsoft.com/office/powerpoint/2010/main" val="3740204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15C60ED7-12D4-496E-AF73-0995BE8C12FD}"/>
              </a:ext>
            </a:extLst>
          </p:cNvPr>
          <p:cNvGrpSpPr/>
          <p:nvPr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0CB04CE-0025-4B1F-B962-A759D179D8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3F480CB-A4AF-424E-90DB-5B677403441A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9A5391ED-3E5D-4E2F-AC82-7839F3339F83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Devangi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L. Kotak</a:t>
            </a:r>
          </a:p>
        </p:txBody>
      </p:sp>
    </p:spTree>
    <p:extLst>
      <p:ext uri="{BB962C8B-B14F-4D97-AF65-F5344CB8AC3E}">
        <p14:creationId xmlns:p14="http://schemas.microsoft.com/office/powerpoint/2010/main" val="3321591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0452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968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screen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screen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5461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screen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screen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3944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screen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screen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4769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screen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screen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2725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screen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screen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2880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screen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screen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3554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screen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screen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8182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screen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screen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0943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screen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screen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3803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screen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screen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55F40B-A87E-26C1-9A57-C85970C727F2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8983130" y="2079962"/>
            <a:ext cx="2199311" cy="2199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1132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screen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screen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464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D524B-3775-8E40-83BE-42D237CCC7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9AE7A3-9159-0C4C-9D60-90C19B2801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DC548-CD30-6D4B-B09B-48C5FDD36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84CCD-0C21-864C-9026-5993C0EB128B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0D054-4F39-4A45-A001-51EB6C63B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BCF83-C468-B444-B66A-90B5162E0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A3A2B-9384-7841-8AB4-BFE375740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1365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screen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screen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8" name="Hexagon 37"/>
          <p:cNvSpPr/>
          <p:nvPr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78346" y="2221532"/>
            <a:ext cx="4513654" cy="1951692"/>
          </a:xfrm>
          <a:prstGeom prst="rect">
            <a:avLst/>
          </a:pr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0" y="2221532"/>
            <a:ext cx="4402106" cy="1951692"/>
          </a:xfrm>
          <a:prstGeom prst="rect">
            <a:avLst/>
          </a:pr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0F1EDFD-D879-9301-2CD6-8D4417A063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1C4A32A-20EC-A446-575E-9997D380688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5" name="Freeform 13">
            <a:extLst>
              <a:ext uri="{FF2B5EF4-FFF2-40B4-BE49-F238E27FC236}">
                <a16:creationId xmlns:a16="http://schemas.microsoft.com/office/drawing/2014/main" id="{D1E75772-EA89-4B01-396C-998E217A2B10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6" name="Freeform 17">
            <a:extLst>
              <a:ext uri="{FF2B5EF4-FFF2-40B4-BE49-F238E27FC236}">
                <a16:creationId xmlns:a16="http://schemas.microsoft.com/office/drawing/2014/main" id="{E1357B68-C602-9A5D-D324-03129075BBE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484463-B26B-278F-DDBD-95F487D180B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7002880-DD4D-5AE5-253F-701377551C54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229B4C-D24B-2E29-5880-F9AD450E79DC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4E0A092A-7A47-BAA3-00A9-DA38F7409EC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7499CB5-48EC-5798-2436-99FE52A29B2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81C4E31-2A34-AED5-581F-6124934A9F53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E26BFA3-2CB8-B236-CA9F-39343C7C95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pic>
        <p:nvPicPr>
          <p:cNvPr id="14" name="Picture 13" descr="User icon Royalty Free Vector Image - VectorStock">
            <a:extLst>
              <a:ext uri="{FF2B5EF4-FFF2-40B4-BE49-F238E27FC236}">
                <a16:creationId xmlns:a16="http://schemas.microsoft.com/office/drawing/2014/main" id="{20E57B25-9533-DEF7-658D-34D00E263B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Hexagon 14">
            <a:extLst>
              <a:ext uri="{FF2B5EF4-FFF2-40B4-BE49-F238E27FC236}">
                <a16:creationId xmlns:a16="http://schemas.microsoft.com/office/drawing/2014/main" id="{15F99E02-2FA5-1F89-2ECC-BFA46B6ECF6A}"/>
              </a:ext>
            </a:extLst>
          </p:cNvPr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1A576D-587C-A112-DFC2-7C0059FE14FA}"/>
              </a:ext>
            </a:extLst>
          </p:cNvPr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80D8C1-B6E5-3045-049C-25F0C8CE86D6}"/>
              </a:ext>
            </a:extLst>
          </p:cNvPr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6E6CC3-8535-D10E-3489-3B708EB9C498}"/>
              </a:ext>
            </a:extLst>
          </p:cNvPr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17784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000" y="106364"/>
            <a:ext cx="11684000" cy="808037"/>
          </a:xfrm>
        </p:spPr>
        <p:txBody>
          <a:bodyPr/>
          <a:lstStyle>
            <a:lvl1pPr algn="l">
              <a:defRPr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0" y="990600"/>
            <a:ext cx="11684000" cy="5334000"/>
          </a:xfrm>
        </p:spPr>
        <p:txBody>
          <a:bodyPr>
            <a:normAutofit/>
          </a:bodyPr>
          <a:lstStyle>
            <a:lvl1pPr marL="342900" indent="-342900">
              <a:lnSpc>
                <a:spcPct val="114000"/>
              </a:lnSpc>
              <a:buClrTx/>
              <a:buFont typeface="Wingdings" charset="2"/>
              <a:buChar char="§"/>
              <a:defRPr sz="24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114000"/>
              </a:lnSpc>
              <a:buClrTx/>
              <a:buFont typeface="ZapfDingbatsITC" charset="0"/>
              <a:buChar char="✔"/>
              <a:defRPr sz="20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14000"/>
              </a:lnSpc>
              <a:buClrTx/>
              <a:buFont typeface="Wingdings" charset="2"/>
              <a:buChar char="§"/>
              <a:defRPr sz="18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14000"/>
              </a:lnSpc>
              <a:buClrTx/>
              <a:buFont typeface="Wingdings" charset="2"/>
              <a:buChar char="§"/>
              <a:defRPr sz="1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14000"/>
              </a:lnSpc>
              <a:buClrTx/>
              <a:buFont typeface="Wingdings" charset="2"/>
              <a:buChar char="§"/>
              <a:defRPr sz="1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Rektangel 11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>
              <a:defRPr/>
            </a:pPr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4000" y="914400"/>
            <a:ext cx="1168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0" y="6477000"/>
          <a:ext cx="12192000" cy="391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9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195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bg1"/>
                          </a:solidFill>
                          <a:latin typeface="+mn-lt"/>
                          <a:ea typeface="Open Sans SemiBold" panose="020B0706030804020204" pitchFamily="34" charset="0"/>
                          <a:cs typeface="Open Sans SemiBold" panose="020B0706030804020204" pitchFamily="34" charset="0"/>
                        </a:rPr>
                        <a:t>Course Details</a:t>
                      </a:r>
                      <a:endParaRPr lang="da-DK" sz="1400" b="1" kern="1200" noProof="1">
                        <a:solidFill>
                          <a:srgbClr val="FFFFFF"/>
                        </a:solidFill>
                        <a:latin typeface="+mn-lt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400" b="1" kern="1200" noProof="1">
                        <a:solidFill>
                          <a:schemeClr val="bg1"/>
                        </a:solidFill>
                        <a:latin typeface="+mn-lt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b="1" kern="1200" noProof="1">
                          <a:solidFill>
                            <a:schemeClr val="bg1"/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Darshan Institute of Engineering &amp; Technology</a:t>
                      </a:r>
                    </a:p>
                  </a:txBody>
                  <a:tcPr marL="121920" marR="12192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99200" y="6513612"/>
            <a:ext cx="711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879C56B-9442-4A46-A8E3-D0BE8591F40A}" type="slidenum">
              <a:rPr lang="en-US" sz="1400" b="1" smtClean="0">
                <a:solidFill>
                  <a:schemeClr val="bg1"/>
                </a:solidFill>
              </a:rPr>
              <a:t>‹#›</a:t>
            </a:fld>
            <a:endParaRPr lang="en-US" sz="1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782131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800" y="215182"/>
            <a:ext cx="11678400" cy="8064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6800" y="1143000"/>
            <a:ext cx="5737600" cy="5181600"/>
          </a:xfrm>
        </p:spPr>
        <p:txBody>
          <a:bodyPr/>
          <a:lstStyle>
            <a:lvl1pPr marL="342900" indent="-342900">
              <a:buFont typeface="Wingdings" charset="2"/>
              <a:buChar char="§"/>
              <a:defRPr sz="2800"/>
            </a:lvl1pPr>
            <a:lvl2pPr marL="742950" indent="-285750">
              <a:buFont typeface="ZapfDingbatsITC" charset="0"/>
              <a:buChar char="✔"/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43000"/>
            <a:ext cx="5737600" cy="5181600"/>
          </a:xfrm>
        </p:spPr>
        <p:txBody>
          <a:bodyPr/>
          <a:lstStyle>
            <a:lvl1pPr marL="342900" indent="-342900">
              <a:buFont typeface="Wingdings" charset="2"/>
              <a:buChar char="§"/>
              <a:defRPr sz="2800"/>
            </a:lvl1pPr>
            <a:lvl2pPr marL="742950" indent="-285750">
              <a:buFont typeface="ZapfDingbatsITC" charset="0"/>
              <a:buChar char="✔"/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Rektangel 11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>
              <a:defRPr/>
            </a:pPr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0" y="6477000"/>
          <a:ext cx="12192000" cy="391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195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bg1"/>
                          </a:solidFill>
                          <a:latin typeface="+mn-lt"/>
                          <a:ea typeface="Open Sans SemiBold" panose="020B0706030804020204" pitchFamily="34" charset="0"/>
                          <a:cs typeface="Open Sans SemiBold" panose="020B0706030804020204" pitchFamily="34" charset="0"/>
                        </a:rPr>
                        <a:t>Unit: 1 - Introduction to Computer Networks and Internet</a:t>
                      </a:r>
                      <a:endParaRPr lang="da-DK" sz="1400" b="1" kern="1200" noProof="1">
                        <a:solidFill>
                          <a:srgbClr val="FFFFFF"/>
                        </a:solidFill>
                        <a:latin typeface="+mn-lt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b="1" kern="1200" noProof="1">
                          <a:solidFill>
                            <a:schemeClr val="bg1"/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Darshan Institute of Engineering &amp; Technology</a:t>
                      </a:r>
                    </a:p>
                  </a:txBody>
                  <a:tcPr marL="121920" marR="12192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Straight Connector 9"/>
          <p:cNvCxnSpPr/>
          <p:nvPr/>
        </p:nvCxnSpPr>
        <p:spPr>
          <a:xfrm>
            <a:off x="254000" y="914400"/>
            <a:ext cx="1168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695131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6665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Computer Application,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451730" y="244174"/>
            <a:ext cx="3395148" cy="1442867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D370FB6-7031-0A4B-838F-03DBE8CD8D6E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8983130" y="2329344"/>
            <a:ext cx="2199311" cy="219931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1946227-18C8-F84C-AE02-FA328FFAD9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62397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6665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Computer Application,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8832523" y="186561"/>
            <a:ext cx="3064414" cy="1302312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screen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sp>
        <p:nvSpPr>
          <p:cNvPr id="38" name="Hexagon 37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Box 38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41" name="Rectangle 40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2793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584CCD-0C21-864C-9026-5993C0EB128B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EA3A2B-9384-7841-8AB4-BFE375740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718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  <p:sldLayoutId id="2147483702" r:id="rId18"/>
    <p:sldLayoutId id="2147483703" r:id="rId19"/>
    <p:sldLayoutId id="2147483704" r:id="rId20"/>
    <p:sldLayoutId id="2147483705" r:id="rId21"/>
    <p:sldLayoutId id="2147483706" r:id="rId22"/>
    <p:sldLayoutId id="2147483707" r:id="rId23"/>
    <p:sldLayoutId id="2147483708" r:id="rId24"/>
    <p:sldLayoutId id="2147483709" r:id="rId25"/>
    <p:sldLayoutId id="2147483711" r:id="rId26"/>
    <p:sldLayoutId id="2147483712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tiff"/><Relationship Id="rId2" Type="http://schemas.openxmlformats.org/officeDocument/2006/relationships/image" Target="../media/image25.tif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tif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gi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tiff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mailto:computer@darshan.ac.in" TargetMode="External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tiff"/><Relationship Id="rId2" Type="http://schemas.openxmlformats.org/officeDocument/2006/relationships/image" Target="../media/image36.tif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0.tiff"/><Relationship Id="rId5" Type="http://schemas.openxmlformats.org/officeDocument/2006/relationships/image" Target="../media/image39.tiff"/><Relationship Id="rId4" Type="http://schemas.openxmlformats.org/officeDocument/2006/relationships/image" Target="../media/image38.tif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gi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gif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gif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tiff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tiff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48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747E4E-823D-614A-B4B7-AC128FF382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9242" y="1103123"/>
            <a:ext cx="8297907" cy="2578780"/>
          </a:xfrm>
        </p:spPr>
        <p:txBody>
          <a:bodyPr/>
          <a:lstStyle/>
          <a:p>
            <a:r>
              <a:rPr lang="en-US" sz="4400" b="0" dirty="0"/>
              <a:t>Unit-2</a:t>
            </a:r>
            <a:br>
              <a:rPr lang="en-US" dirty="0"/>
            </a:br>
            <a:r>
              <a:rPr lang="en-US" sz="6000" dirty="0"/>
              <a:t>Application Layer</a:t>
            </a:r>
            <a:br>
              <a:rPr lang="en-US" dirty="0"/>
            </a:b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EBD4442-5C83-5F4A-8AEA-1614164C877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Devangi.kotak@darshan.ac.in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E4F568A-30BE-2049-9622-DC2108A446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Department of Computer Application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71A5B73-F4FC-AC48-953E-993670B73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</a:t>
            </a:r>
            <a:r>
              <a:rPr lang="en-US" dirty="0" err="1"/>
              <a:t>Devangi</a:t>
            </a:r>
            <a:r>
              <a:rPr lang="en-US"/>
              <a:t> L. Kotak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73BE456-33E7-B748-B5B3-F501CA8044F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Computer Networks </a:t>
            </a:r>
            <a:r>
              <a:rPr lang="en-US" dirty="0"/>
              <a:t>(CN)</a:t>
            </a:r>
          </a:p>
          <a:p>
            <a:pPr>
              <a:spcAft>
                <a:spcPts val="600"/>
              </a:spcAft>
            </a:pPr>
            <a:r>
              <a:rPr lang="en-US" dirty="0"/>
              <a:t>DU #2305CS332</a:t>
            </a:r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A90813FE-E67E-4024-95C5-6A5CFC1D5FA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3855" r="385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682515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5063613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397907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2" y="731706"/>
            <a:ext cx="77724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Outline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Principles of Network Applications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Web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HTTP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Cookies, Web Cache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FTP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E-mail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SMTP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IMAP, POP3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DNS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Socket programming with TCP and UDP</a:t>
            </a:r>
          </a:p>
        </p:txBody>
      </p:sp>
    </p:spTree>
    <p:extLst>
      <p:ext uri="{BB962C8B-B14F-4D97-AF65-F5344CB8AC3E}">
        <p14:creationId xmlns:p14="http://schemas.microsoft.com/office/powerpoint/2010/main" val="98909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53ED476-E04A-870C-D7B6-7D81C591C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FTP – File Transfer Protocol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05CB22-9F88-2C4D-D124-4078C9C540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419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FTP (File Transfer Protocol)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File Transfer Protocol (FTP) is the commonly used protocol for </a:t>
            </a:r>
            <a:r>
              <a:rPr lang="en-IN" dirty="0">
                <a:solidFill>
                  <a:schemeClr val="accent6"/>
                </a:solidFill>
              </a:rPr>
              <a:t>exchanging files </a:t>
            </a:r>
            <a:r>
              <a:rPr lang="en-IN" dirty="0"/>
              <a:t>over the Network or Internet. </a:t>
            </a:r>
          </a:p>
          <a:p>
            <a:pPr lvl="1"/>
            <a:r>
              <a:rPr lang="en-IN" dirty="0"/>
              <a:t>Example: </a:t>
            </a:r>
            <a:r>
              <a:rPr lang="en-IN" dirty="0" err="1"/>
              <a:t>Filezilla</a:t>
            </a:r>
            <a:endParaRPr lang="en-US" dirty="0"/>
          </a:p>
          <a:p>
            <a:pPr lvl="0"/>
            <a:r>
              <a:rPr lang="en-IN" dirty="0"/>
              <a:t>FTP uses the </a:t>
            </a:r>
            <a:r>
              <a:rPr lang="en-IN" dirty="0">
                <a:solidFill>
                  <a:schemeClr val="accent6"/>
                </a:solidFill>
              </a:rPr>
              <a:t>Internet's TCP/IP protocols </a:t>
            </a:r>
            <a:r>
              <a:rPr lang="en-IN" dirty="0"/>
              <a:t>to enable data transfer. </a:t>
            </a:r>
            <a:endParaRPr lang="en-US" dirty="0"/>
          </a:p>
          <a:p>
            <a:pPr lvl="0"/>
            <a:r>
              <a:rPr lang="en-IN" dirty="0"/>
              <a:t>FTP uses </a:t>
            </a:r>
            <a:r>
              <a:rPr lang="en-IN" dirty="0">
                <a:solidFill>
                  <a:schemeClr val="accent6"/>
                </a:solidFill>
              </a:rPr>
              <a:t>client-server architecture</a:t>
            </a:r>
            <a:r>
              <a:rPr lang="en-IN" dirty="0"/>
              <a:t>. </a:t>
            </a:r>
            <a:endParaRPr lang="en-US" dirty="0"/>
          </a:p>
          <a:p>
            <a:pPr lvl="0"/>
            <a:r>
              <a:rPr lang="en-IN" dirty="0"/>
              <a:t>FTP promotes sharing of files via remote computers with </a:t>
            </a:r>
            <a:r>
              <a:rPr lang="en-IN" dirty="0">
                <a:solidFill>
                  <a:schemeClr val="accent6"/>
                </a:solidFill>
              </a:rPr>
              <a:t>reliable and efficient </a:t>
            </a:r>
            <a:r>
              <a:rPr lang="en-IN" dirty="0"/>
              <a:t>data transfer.</a:t>
            </a:r>
            <a:endParaRPr lang="en-US" dirty="0"/>
          </a:p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C87F0B-D0E2-D949-9CFA-8B5987259EC3}"/>
              </a:ext>
            </a:extLst>
          </p:cNvPr>
          <p:cNvSpPr/>
          <p:nvPr/>
        </p:nvSpPr>
        <p:spPr>
          <a:xfrm>
            <a:off x="3476625" y="4151938"/>
            <a:ext cx="1219200" cy="762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FTP user interface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1EB7DE-A912-4D41-9763-5B7EC29253C3}"/>
              </a:ext>
            </a:extLst>
          </p:cNvPr>
          <p:cNvSpPr/>
          <p:nvPr/>
        </p:nvSpPr>
        <p:spPr>
          <a:xfrm>
            <a:off x="4867275" y="4151938"/>
            <a:ext cx="990600" cy="762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FTP client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4CA04D-20F9-5B4F-9D2B-4F2455DFCF02}"/>
              </a:ext>
            </a:extLst>
          </p:cNvPr>
          <p:cNvSpPr/>
          <p:nvPr/>
        </p:nvSpPr>
        <p:spPr>
          <a:xfrm>
            <a:off x="8658225" y="4151938"/>
            <a:ext cx="990600" cy="762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FTP server</a:t>
            </a:r>
          </a:p>
        </p:txBody>
      </p:sp>
      <p:sp>
        <p:nvSpPr>
          <p:cNvPr id="4" name="Can 3">
            <a:extLst>
              <a:ext uri="{FF2B5EF4-FFF2-40B4-BE49-F238E27FC236}">
                <a16:creationId xmlns:a16="http://schemas.microsoft.com/office/drawing/2014/main" id="{36481C9A-5B87-C042-B5DC-4E529EAFDAA3}"/>
              </a:ext>
            </a:extLst>
          </p:cNvPr>
          <p:cNvSpPr/>
          <p:nvPr/>
        </p:nvSpPr>
        <p:spPr>
          <a:xfrm>
            <a:off x="4429125" y="5334000"/>
            <a:ext cx="533400" cy="709422"/>
          </a:xfrm>
          <a:prstGeom prst="can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an 9">
            <a:extLst>
              <a:ext uri="{FF2B5EF4-FFF2-40B4-BE49-F238E27FC236}">
                <a16:creationId xmlns:a16="http://schemas.microsoft.com/office/drawing/2014/main" id="{95A93C04-A451-4E40-B3A4-82188E91E51A}"/>
              </a:ext>
            </a:extLst>
          </p:cNvPr>
          <p:cNvSpPr/>
          <p:nvPr/>
        </p:nvSpPr>
        <p:spPr>
          <a:xfrm>
            <a:off x="8886825" y="5334000"/>
            <a:ext cx="533400" cy="709422"/>
          </a:xfrm>
          <a:prstGeom prst="can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1BC5CDE-F600-D84B-AC37-7B0F9EF16FC8}"/>
              </a:ext>
            </a:extLst>
          </p:cNvPr>
          <p:cNvCxnSpPr>
            <a:cxnSpLocks/>
            <a:endCxn id="3" idx="2"/>
          </p:cNvCxnSpPr>
          <p:nvPr/>
        </p:nvCxnSpPr>
        <p:spPr>
          <a:xfrm flipH="1" flipV="1">
            <a:off x="4086226" y="4913938"/>
            <a:ext cx="504825" cy="49530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FDEFD01-A737-C740-B0B6-2AB43F5F9021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4867275" y="4913938"/>
            <a:ext cx="495300" cy="49530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6F89B13-2B64-1A48-8D57-C1BBB9A541D3}"/>
              </a:ext>
            </a:extLst>
          </p:cNvPr>
          <p:cNvCxnSpPr>
            <a:cxnSpLocks/>
            <a:stCxn id="9" idx="2"/>
            <a:endCxn id="10" idx="1"/>
          </p:cNvCxnSpPr>
          <p:nvPr/>
        </p:nvCxnSpPr>
        <p:spPr>
          <a:xfrm>
            <a:off x="9153525" y="4913938"/>
            <a:ext cx="0" cy="420062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BFBAA13-486B-CF40-89EF-73B2EC894C66}"/>
              </a:ext>
            </a:extLst>
          </p:cNvPr>
          <p:cNvSpPr txBox="1"/>
          <p:nvPr/>
        </p:nvSpPr>
        <p:spPr>
          <a:xfrm>
            <a:off x="3714750" y="6087694"/>
            <a:ext cx="196215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Local file system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3384563-1487-0841-B05C-4E133BE23294}"/>
              </a:ext>
            </a:extLst>
          </p:cNvPr>
          <p:cNvCxnSpPr>
            <a:cxnSpLocks/>
            <a:stCxn id="9" idx="1"/>
            <a:endCxn id="8" idx="3"/>
          </p:cNvCxnSpPr>
          <p:nvPr/>
        </p:nvCxnSpPr>
        <p:spPr>
          <a:xfrm flipH="1">
            <a:off x="5857875" y="4532938"/>
            <a:ext cx="2800350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47372F2-2A33-5549-96BE-4D24E338DBEB}"/>
              </a:ext>
            </a:extLst>
          </p:cNvPr>
          <p:cNvSpPr txBox="1"/>
          <p:nvPr/>
        </p:nvSpPr>
        <p:spPr>
          <a:xfrm>
            <a:off x="6276975" y="4178427"/>
            <a:ext cx="196215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File transfer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D2FCB03-2FE7-5640-94DC-215AC9356F86}"/>
              </a:ext>
            </a:extLst>
          </p:cNvPr>
          <p:cNvSpPr txBox="1"/>
          <p:nvPr/>
        </p:nvSpPr>
        <p:spPr>
          <a:xfrm>
            <a:off x="7872248" y="6120574"/>
            <a:ext cx="226235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Remote file system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3D1EFED-F279-6A48-8E78-DD2B615AE8F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20800" y="3731876"/>
            <a:ext cx="621500" cy="621500"/>
          </a:xfrm>
          <a:prstGeom prst="rect">
            <a:avLst/>
          </a:prstGeom>
          <a:scene3d>
            <a:camera prst="orthographicFront">
              <a:rot lat="0" lon="10799999" rev="0"/>
            </a:camera>
            <a:lightRig rig="threePt" dir="t"/>
          </a:scene3d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4B096EB2-AD31-2E4C-B851-1A954B933A79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58225" y="3669392"/>
            <a:ext cx="623524" cy="62352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A10E2AB-964C-2F4F-8DA0-935BAC7867E9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9983" y="4202738"/>
            <a:ext cx="660400" cy="6604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FA15205-34B5-0F43-88EA-85B309C3580C}"/>
              </a:ext>
            </a:extLst>
          </p:cNvPr>
          <p:cNvSpPr txBox="1"/>
          <p:nvPr/>
        </p:nvSpPr>
        <p:spPr>
          <a:xfrm>
            <a:off x="2312361" y="4913939"/>
            <a:ext cx="937878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User or Host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9A40CBD-CFC0-5C47-9014-718493074F94}"/>
              </a:ext>
            </a:extLst>
          </p:cNvPr>
          <p:cNvCxnSpPr>
            <a:cxnSpLocks/>
            <a:endCxn id="3" idx="1"/>
          </p:cNvCxnSpPr>
          <p:nvPr/>
        </p:nvCxnSpPr>
        <p:spPr>
          <a:xfrm flipV="1">
            <a:off x="2955843" y="4532939"/>
            <a:ext cx="520783" cy="8633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0488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9" grpId="0" animBg="1"/>
      <p:bldP spid="4" grpId="0" animBg="1"/>
      <p:bldP spid="10" grpId="0" animBg="1"/>
      <p:bldP spid="22" grpId="0"/>
      <p:bldP spid="26" grpId="0"/>
      <p:bldP spid="27" grpId="0"/>
      <p:bldP spid="3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FTP (File Transfer Protocol) – Cont</a:t>
            </a:r>
            <a:r>
              <a:rPr lang="is-IS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FTP client connect FTP server at </a:t>
            </a:r>
            <a:r>
              <a:rPr lang="en-US" altLang="en-US">
                <a:solidFill>
                  <a:schemeClr val="accent6"/>
                </a:solidFill>
              </a:rPr>
              <a:t>port 21 </a:t>
            </a:r>
            <a:r>
              <a:rPr lang="en-US" altLang="en-US"/>
              <a:t>using TCP.</a:t>
            </a:r>
          </a:p>
          <a:p>
            <a:r>
              <a:rPr lang="en-US" altLang="en-US"/>
              <a:t>FTP uses </a:t>
            </a:r>
            <a:r>
              <a:rPr lang="en-US" altLang="en-US">
                <a:solidFill>
                  <a:schemeClr val="accent6"/>
                </a:solidFill>
              </a:rPr>
              <a:t>two parallel TCP connections </a:t>
            </a:r>
            <a:r>
              <a:rPr lang="en-US" altLang="en-US"/>
              <a:t>to transfer a file, 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US" altLang="en-US">
                <a:solidFill>
                  <a:schemeClr val="accent6"/>
                </a:solidFill>
              </a:rPr>
              <a:t>Control Connection</a:t>
            </a:r>
            <a:r>
              <a:rPr lang="en-US" altLang="en-US"/>
              <a:t>: Used for sending control information between two hosts. 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US" altLang="en-US">
                <a:solidFill>
                  <a:schemeClr val="accent6"/>
                </a:solidFill>
              </a:rPr>
              <a:t>Data Connection</a:t>
            </a:r>
            <a:r>
              <a:rPr lang="en-US" altLang="en-US"/>
              <a:t>: To send a file.</a:t>
            </a:r>
          </a:p>
          <a:p>
            <a:r>
              <a:rPr lang="en-US" altLang="en-US">
                <a:solidFill>
                  <a:srgbClr val="C00000"/>
                </a:solidFill>
              </a:rPr>
              <a:t>Control Information </a:t>
            </a:r>
            <a:r>
              <a:rPr lang="en-US" altLang="en-US"/>
              <a:t>like user identification, password, commands to change remote directory, commands to “put” and “get” files</a:t>
            </a:r>
          </a:p>
          <a:p>
            <a:r>
              <a:rPr lang="en-US" altLang="en-US"/>
              <a:t>Client will browse remote file directory, sends commands over control connection.</a:t>
            </a:r>
          </a:p>
          <a:p>
            <a:r>
              <a:rPr lang="en-US" altLang="en-US"/>
              <a:t>FTP server maintains </a:t>
            </a:r>
            <a:r>
              <a:rPr lang="ja-JP" altLang="en-US"/>
              <a:t>“</a:t>
            </a:r>
            <a:r>
              <a:rPr lang="en-US" altLang="ja-JP"/>
              <a:t>state</a:t>
            </a:r>
            <a:r>
              <a:rPr lang="ja-JP" altLang="en-US"/>
              <a:t>”</a:t>
            </a:r>
            <a:r>
              <a:rPr lang="en-US" altLang="ja-JP"/>
              <a:t> about user like current directory, earlier authentication.</a:t>
            </a:r>
          </a:p>
          <a:p>
            <a:endParaRPr lang="en-US" altLang="ja-JP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4029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3647E-07FE-7D43-AFBA-84815420D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FTP (File Transfer Protocol) –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D45E8-7107-7548-8A49-9C78510A1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FTP Protocol_How it works.mp4">
            <a:hlinkClick r:id="" action="ppaction://media"/>
            <a:extLst>
              <a:ext uri="{FF2B5EF4-FFF2-40B4-BE49-F238E27FC236}">
                <a16:creationId xmlns:a16="http://schemas.microsoft.com/office/drawing/2014/main" id="{B8C21730-68B9-0F4F-901E-C96CD8BD3C5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t="13333"/>
          <a:stretch/>
        </p:blipFill>
        <p:spPr>
          <a:xfrm>
            <a:off x="1503812" y="711201"/>
            <a:ext cx="8457521" cy="559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000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9443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3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 fullScrn="1">
              <p:cMediaNode vol="80000">
                <p:cTn id="14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88D10-3B2F-4E02-BD71-96FF03B56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0323C-5B1E-4771-A861-372318065D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026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23484CF-659F-3039-AAFF-8FCC7A68B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Telnet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F6A3E4-7370-EEBB-29E7-17907F03DF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993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CD19080-9328-6518-D788-900F40EEB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Telnet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2A79E9-6409-257A-620E-8C7D8F9B6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TELNET (</a:t>
            </a:r>
            <a:r>
              <a:rPr lang="en-US" dirty="0" err="1">
                <a:solidFill>
                  <a:srgbClr val="C00000"/>
                </a:solidFill>
              </a:rPr>
              <a:t>TELecommunication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NETwork</a:t>
            </a:r>
            <a:r>
              <a:rPr lang="en-US" dirty="0"/>
              <a:t>) is an </a:t>
            </a:r>
            <a:r>
              <a:rPr lang="en-US" dirty="0">
                <a:solidFill>
                  <a:srgbClr val="C00000"/>
                </a:solidFill>
              </a:rPr>
              <a:t>Application Layer protocol </a:t>
            </a:r>
            <a:r>
              <a:rPr lang="en-US" dirty="0"/>
              <a:t>used for </a:t>
            </a:r>
            <a:r>
              <a:rPr lang="en-US" dirty="0">
                <a:solidFill>
                  <a:srgbClr val="C00000"/>
                </a:solidFill>
              </a:rPr>
              <a:t>remote login and command execution </a:t>
            </a:r>
            <a:r>
              <a:rPr lang="en-US" dirty="0"/>
              <a:t>on another computer over a TCP/IP network.</a:t>
            </a:r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183FEAF-D18D-B570-EB72-CFD570EF333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78971" y="2263934"/>
          <a:ext cx="10961916" cy="2651760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2906486">
                  <a:extLst>
                    <a:ext uri="{9D8B030D-6E8A-4147-A177-3AD203B41FA5}">
                      <a16:colId xmlns:a16="http://schemas.microsoft.com/office/drawing/2014/main" val="1150339906"/>
                    </a:ext>
                  </a:extLst>
                </a:gridCol>
                <a:gridCol w="8055430">
                  <a:extLst>
                    <a:ext uri="{9D8B030D-6E8A-4147-A177-3AD203B41FA5}">
                      <a16:colId xmlns:a16="http://schemas.microsoft.com/office/drawing/2014/main" val="8116139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solidFill>
                            <a:srgbClr val="C00000"/>
                          </a:solidFill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solidFill>
                            <a:srgbClr val="C00000"/>
                          </a:solidFill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6037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Protocol Type</a:t>
                      </a:r>
                      <a:endParaRPr lang="en-I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Application Layer (OSI Model), uses TCP port </a:t>
                      </a:r>
                      <a:r>
                        <a:rPr lang="en-IN" sz="2400" b="1" dirty="0"/>
                        <a:t>23</a:t>
                      </a:r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15561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Main Purpose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Remote terminal access to another system </a:t>
                      </a:r>
                    </a:p>
                    <a:p>
                      <a:pPr>
                        <a:buNone/>
                      </a:pPr>
                      <a:r>
                        <a:rPr lang="en-IN" sz="2400" dirty="0"/>
                        <a:t>(as if you're using local terminal)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0116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Connection Type</a:t>
                      </a:r>
                      <a:endParaRPr lang="en-I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Text-based, Full-duplex, Reliable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08121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Transport Layer</a:t>
                      </a:r>
                      <a:endParaRPr lang="en-I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Uses TCP (ensures reliable delivery)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29520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4373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733B2-8155-9716-08AD-57B038B00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TELNET Works?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1CB4F-BB95-473F-D111-4F47D1DEB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6704497" cy="5590565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Client</a:t>
            </a:r>
            <a:r>
              <a:rPr lang="en-IN" dirty="0"/>
              <a:t> runs a TELNET program.</a:t>
            </a:r>
          </a:p>
          <a:p>
            <a:r>
              <a:rPr lang="en-IN" b="1" dirty="0">
                <a:solidFill>
                  <a:srgbClr val="C00000"/>
                </a:solidFill>
              </a:rPr>
              <a:t>Connects</a:t>
            </a:r>
            <a:r>
              <a:rPr lang="en-IN" dirty="0"/>
              <a:t> to TELNET </a:t>
            </a:r>
            <a:r>
              <a:rPr lang="en-IN" b="1" dirty="0">
                <a:solidFill>
                  <a:srgbClr val="C00000"/>
                </a:solidFill>
              </a:rPr>
              <a:t>server</a:t>
            </a:r>
            <a:r>
              <a:rPr lang="en-IN" dirty="0"/>
              <a:t> on </a:t>
            </a:r>
            <a:r>
              <a:rPr lang="en-IN" b="1" dirty="0">
                <a:solidFill>
                  <a:srgbClr val="C00000"/>
                </a:solidFill>
              </a:rPr>
              <a:t>port 23</a:t>
            </a:r>
            <a:r>
              <a:rPr lang="en-IN" dirty="0">
                <a:solidFill>
                  <a:srgbClr val="C00000"/>
                </a:solidFill>
              </a:rPr>
              <a:t>.</a:t>
            </a:r>
          </a:p>
          <a:p>
            <a:r>
              <a:rPr lang="en-IN" b="1" dirty="0">
                <a:solidFill>
                  <a:srgbClr val="C00000"/>
                </a:solidFill>
              </a:rPr>
              <a:t>Authenticates</a:t>
            </a:r>
            <a:r>
              <a:rPr lang="en-IN" dirty="0"/>
              <a:t> with username and password.</a:t>
            </a:r>
          </a:p>
          <a:p>
            <a:r>
              <a:rPr lang="en-IN" dirty="0"/>
              <a:t>Allows </a:t>
            </a:r>
            <a:r>
              <a:rPr lang="en-IN" b="1" dirty="0">
                <a:solidFill>
                  <a:srgbClr val="C00000"/>
                </a:solidFill>
              </a:rPr>
              <a:t>remote command execution</a:t>
            </a:r>
            <a:r>
              <a:rPr lang="en-IN" dirty="0"/>
              <a:t>.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TELNET is replaced by </a:t>
            </a:r>
            <a:r>
              <a:rPr lang="en-IN" b="1" dirty="0">
                <a:solidFill>
                  <a:srgbClr val="C00000"/>
                </a:solidFill>
              </a:rPr>
              <a:t>SSH</a:t>
            </a:r>
            <a:r>
              <a:rPr lang="en-IN" dirty="0"/>
              <a:t> in most secure environments.</a:t>
            </a:r>
          </a:p>
          <a:p>
            <a:r>
              <a:rPr lang="en-IN" dirty="0"/>
              <a:t>SSH uses </a:t>
            </a:r>
            <a:r>
              <a:rPr lang="en-IN" b="1" dirty="0">
                <a:solidFill>
                  <a:srgbClr val="C00000"/>
                </a:solidFill>
              </a:rPr>
              <a:t>encryption</a:t>
            </a:r>
            <a:r>
              <a:rPr lang="en-IN" dirty="0"/>
              <a:t> and runs on port </a:t>
            </a:r>
            <a:r>
              <a:rPr lang="en-IN" b="1" dirty="0"/>
              <a:t>22</a:t>
            </a:r>
            <a:r>
              <a:rPr lang="en-IN" dirty="0"/>
              <a:t>.</a:t>
            </a:r>
          </a:p>
          <a:p>
            <a:endParaRPr lang="en-IN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ED7C1C-9E9F-F14D-ED6B-60F39564F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66857" y="711200"/>
            <a:ext cx="5093963" cy="5849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01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2829B-6DE3-8181-3A9D-A4C978742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29678B-E115-5DAD-4193-727FC648E0CE}"/>
              </a:ext>
            </a:extLst>
          </p:cNvPr>
          <p:cNvSpPr txBox="1"/>
          <p:nvPr/>
        </p:nvSpPr>
        <p:spPr>
          <a:xfrm>
            <a:off x="3635828" y="1982147"/>
            <a:ext cx="8233543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just">
              <a:buFont typeface="Wingdings" pitchFamily="2" charset="2"/>
              <a:buChar char="ü"/>
            </a:pPr>
            <a:r>
              <a:rPr lang="en-IN" sz="4400" b="0" i="0" u="none" strike="noStrike" dirty="0">
                <a:solidFill>
                  <a:srgbClr val="C00000"/>
                </a:solidFill>
                <a:effectLst/>
                <a:latin typeface="-webkit-standard"/>
              </a:rPr>
              <a:t>Set up a local TELNET server.</a:t>
            </a:r>
          </a:p>
          <a:p>
            <a:pPr marL="571500" indent="-571500" algn="just">
              <a:buFont typeface="Wingdings" pitchFamily="2" charset="2"/>
              <a:buChar char="ü"/>
            </a:pPr>
            <a:r>
              <a:rPr lang="en-IN" sz="4400" b="0" i="0" u="none" strike="noStrike" dirty="0">
                <a:solidFill>
                  <a:srgbClr val="C00000"/>
                </a:solidFill>
                <a:effectLst/>
                <a:latin typeface="-webkit-standard"/>
              </a:rPr>
              <a:t>You have to connect from another system using telnet.</a:t>
            </a:r>
          </a:p>
        </p:txBody>
      </p:sp>
      <p:pic>
        <p:nvPicPr>
          <p:cNvPr id="4" name="Picture 2" descr="Question Words Clipart Images | Free Download | PNG Transparent Background  - Pngtree">
            <a:extLst>
              <a:ext uri="{FF2B5EF4-FFF2-40B4-BE49-F238E27FC236}">
                <a16:creationId xmlns:a16="http://schemas.microsoft.com/office/drawing/2014/main" id="{94ADB78B-1D9F-940B-6B0F-7E58AC5DBE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14102" y="904461"/>
            <a:ext cx="2524539" cy="2524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Minion Dancing GIF - Minion Dancing Excited - Discover &amp; Share GIFs">
            <a:extLst>
              <a:ext uri="{FF2B5EF4-FFF2-40B4-BE49-F238E27FC236}">
                <a16:creationId xmlns:a16="http://schemas.microsoft.com/office/drawing/2014/main" id="{3AAD0E59-8610-1ADA-2526-CCF58D925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743" y="2962068"/>
            <a:ext cx="3162300" cy="236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B17F67E-6F52-E4B3-D230-3B549C9DE64F}"/>
              </a:ext>
            </a:extLst>
          </p:cNvPr>
          <p:cNvSpPr txBox="1"/>
          <p:nvPr/>
        </p:nvSpPr>
        <p:spPr>
          <a:xfrm>
            <a:off x="0" y="1257336"/>
            <a:ext cx="229416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solidFill>
                  <a:srgbClr val="C00000"/>
                </a:solidFill>
                <a:latin typeface="-webkit-standard"/>
              </a:rPr>
              <a:t>Challenge </a:t>
            </a:r>
          </a:p>
          <a:p>
            <a:pPr algn="ctr"/>
            <a:r>
              <a:rPr lang="en-IN" sz="4000" b="1" dirty="0">
                <a:solidFill>
                  <a:srgbClr val="C00000"/>
                </a:solidFill>
                <a:latin typeface="-webkit-standard"/>
              </a:rPr>
              <a:t>Task</a:t>
            </a:r>
          </a:p>
        </p:txBody>
      </p:sp>
    </p:spTree>
    <p:extLst>
      <p:ext uri="{BB962C8B-B14F-4D97-AF65-F5344CB8AC3E}">
        <p14:creationId xmlns:p14="http://schemas.microsoft.com/office/powerpoint/2010/main" val="10973379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5177B7-01AD-67AA-80A6-A8F16B42F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Email – SMTP, POP3, IMAP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7EF609-AAC1-A5D9-C45D-5F8E4A5A38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227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Electronic Mail (Email)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7525543" cy="5590565"/>
          </a:xfrm>
        </p:spPr>
        <p:txBody>
          <a:bodyPr>
            <a:normAutofit/>
          </a:bodyPr>
          <a:lstStyle/>
          <a:p>
            <a:r>
              <a:rPr lang="en-IN" dirty="0"/>
              <a:t>Email is an </a:t>
            </a:r>
            <a:r>
              <a:rPr lang="en-IN" dirty="0">
                <a:solidFill>
                  <a:schemeClr val="accent6"/>
                </a:solidFill>
              </a:rPr>
              <a:t>asynchronous communication </a:t>
            </a:r>
            <a:r>
              <a:rPr lang="en-IN" dirty="0"/>
              <a:t>medium in which people send and read messages as </a:t>
            </a:r>
            <a:r>
              <a:rPr lang="en-IN" dirty="0">
                <a:solidFill>
                  <a:schemeClr val="accent6"/>
                </a:solidFill>
              </a:rPr>
              <a:t>convenient</a:t>
            </a:r>
            <a:r>
              <a:rPr lang="en-IN" dirty="0"/>
              <a:t> for them</a:t>
            </a:r>
            <a:r>
              <a:rPr lang="en-US" dirty="0"/>
              <a:t>.</a:t>
            </a:r>
          </a:p>
          <a:p>
            <a:r>
              <a:rPr lang="en-IN" dirty="0"/>
              <a:t>Modern Email has many powerful features like: </a:t>
            </a:r>
          </a:p>
          <a:p>
            <a:pPr lvl="1"/>
            <a:r>
              <a:rPr lang="en-IN" dirty="0"/>
              <a:t>A messages with attachments</a:t>
            </a:r>
          </a:p>
          <a:p>
            <a:pPr lvl="1"/>
            <a:r>
              <a:rPr lang="en-IN" dirty="0"/>
              <a:t>Hyperlinks </a:t>
            </a:r>
          </a:p>
          <a:p>
            <a:pPr lvl="1"/>
            <a:r>
              <a:rPr lang="en-IN" dirty="0"/>
              <a:t>HTML-formatted text</a:t>
            </a:r>
          </a:p>
          <a:p>
            <a:pPr lvl="1"/>
            <a:r>
              <a:rPr lang="en-IN" dirty="0"/>
              <a:t>Embedded photos</a:t>
            </a:r>
          </a:p>
          <a:p>
            <a:r>
              <a:rPr lang="en-IN" dirty="0"/>
              <a:t>Email is fast, easy to distribute, and inexpensive. </a:t>
            </a:r>
          </a:p>
          <a:p>
            <a:r>
              <a:rPr lang="en-IN" dirty="0"/>
              <a:t>High level view of Internet mail system and its key components.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User agents 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Mail servers 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Simple Mail Transfer Protocol (SMTP)</a:t>
            </a:r>
            <a:endParaRPr lang="en-US" dirty="0"/>
          </a:p>
          <a:p>
            <a:pPr lvl="0"/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A36B13-0F58-5340-953A-515C56D4C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6723" y="1600200"/>
            <a:ext cx="442205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823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Email - </a:t>
            </a:r>
            <a:r>
              <a:rPr lang="en-IN" dirty="0" err="1"/>
              <a:t>Cont</a:t>
            </a:r>
            <a:r>
              <a:rPr lang="is-IS" dirty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4"/>
            <a:ext cx="6909396" cy="5590565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solidFill>
                  <a:schemeClr val="accent6"/>
                </a:solidFill>
              </a:rPr>
              <a:t>User Agent</a:t>
            </a:r>
          </a:p>
          <a:p>
            <a:pPr lvl="1"/>
            <a:r>
              <a:rPr lang="en-IN" dirty="0"/>
              <a:t>User agents allow users to read, reply to, forward, save, and compose messages.</a:t>
            </a:r>
            <a:endParaRPr lang="en-US" dirty="0"/>
          </a:p>
          <a:p>
            <a:pPr lvl="1"/>
            <a:r>
              <a:rPr lang="en-US" dirty="0"/>
              <a:t>E</a:t>
            </a:r>
            <a:r>
              <a:rPr lang="en-IN" dirty="0"/>
              <a:t>.g. Microsoft Outlook and Apple Mail.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solidFill>
                  <a:schemeClr val="accent6"/>
                </a:solidFill>
              </a:rPr>
              <a:t>Mail servers</a:t>
            </a:r>
          </a:p>
          <a:p>
            <a:pPr lvl="1"/>
            <a:r>
              <a:rPr lang="en-US" altLang="en-US" dirty="0"/>
              <a:t>A mailbox contains incoming messages for user.</a:t>
            </a:r>
          </a:p>
          <a:p>
            <a:pPr lvl="1"/>
            <a:r>
              <a:rPr lang="en-US" altLang="en-US" dirty="0"/>
              <a:t>A message queue of outgoing (to be sent) mail messages.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solidFill>
                  <a:schemeClr val="accent6"/>
                </a:solidFill>
              </a:rPr>
              <a:t>SMTP</a:t>
            </a:r>
            <a:r>
              <a:rPr lang="en-US" altLang="en-US" dirty="0"/>
              <a:t> </a:t>
            </a:r>
          </a:p>
          <a:p>
            <a:pPr lvl="1"/>
            <a:r>
              <a:rPr lang="en-US" altLang="en-US" dirty="0"/>
              <a:t>It is a principal application layer protocol between mail servers to send email messages.</a:t>
            </a:r>
          </a:p>
          <a:p>
            <a:pPr lvl="2"/>
            <a:r>
              <a:rPr lang="en-US" altLang="en-US" dirty="0"/>
              <a:t>client: sending mail to server</a:t>
            </a:r>
          </a:p>
          <a:p>
            <a:pPr lvl="2"/>
            <a:r>
              <a:rPr lang="en-US" altLang="ja-JP" dirty="0"/>
              <a:t>server: receiving mail from other different mail server</a:t>
            </a:r>
            <a:endParaRPr lang="en-US" altLang="en-US" dirty="0"/>
          </a:p>
        </p:txBody>
      </p:sp>
      <p:sp>
        <p:nvSpPr>
          <p:cNvPr id="845" name="Rectangle 280"/>
          <p:cNvSpPr>
            <a:spLocks noChangeArrowheads="1"/>
          </p:cNvSpPr>
          <p:nvPr/>
        </p:nvSpPr>
        <p:spPr bwMode="auto">
          <a:xfrm>
            <a:off x="9350959" y="5215389"/>
            <a:ext cx="2148903" cy="848649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Aft>
                <a:spcPct val="0"/>
              </a:spcAft>
              <a:buClr>
                <a:srgbClr val="3333CC"/>
              </a:buClr>
              <a:buSzPct val="85000"/>
              <a:buFont typeface="ZapfDingbats" charset="0"/>
              <a:buNone/>
            </a:pPr>
            <a:endParaRPr lang="en-US" altLang="en-US" sz="2400">
              <a:solidFill>
                <a:srgbClr val="000000"/>
              </a:solidFill>
              <a:latin typeface="Arial" charset="0"/>
            </a:endParaRPr>
          </a:p>
        </p:txBody>
      </p:sp>
      <p:grpSp>
        <p:nvGrpSpPr>
          <p:cNvPr id="846" name="Group 279"/>
          <p:cNvGrpSpPr>
            <a:grpSpLocks/>
          </p:cNvGrpSpPr>
          <p:nvPr/>
        </p:nvGrpSpPr>
        <p:grpSpPr bwMode="auto">
          <a:xfrm>
            <a:off x="9474781" y="5099926"/>
            <a:ext cx="2586038" cy="1001286"/>
            <a:chOff x="4454" y="3282"/>
            <a:chExt cx="1629" cy="471"/>
          </a:xfrm>
        </p:grpSpPr>
        <p:sp>
          <p:nvSpPr>
            <p:cNvPr id="847" name="Text Box 263"/>
            <p:cNvSpPr txBox="1">
              <a:spLocks noChangeArrowheads="1"/>
            </p:cNvSpPr>
            <p:nvPr/>
          </p:nvSpPr>
          <p:spPr bwMode="auto">
            <a:xfrm>
              <a:off x="4777" y="3608"/>
              <a:ext cx="756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  <a:defRPr/>
              </a:pPr>
              <a:r>
                <a:rPr lang="en-US" altLang="en-US" sz="1400" kern="0" dirty="0">
                  <a:solidFill>
                    <a:srgbClr val="000000"/>
                  </a:solidFill>
                  <a:latin typeface="Arial" charset="0"/>
                </a:rPr>
                <a:t>user mailbox</a:t>
              </a:r>
              <a:endParaRPr lang="en-US" altLang="en-US" sz="2000" kern="0" dirty="0">
                <a:solidFill>
                  <a:srgbClr val="000000"/>
                </a:solidFill>
                <a:latin typeface="Arial" charset="0"/>
              </a:endParaRPr>
            </a:p>
          </p:txBody>
        </p:sp>
        <p:grpSp>
          <p:nvGrpSpPr>
            <p:cNvPr id="848" name="Group 278"/>
            <p:cNvGrpSpPr>
              <a:grpSpLocks/>
            </p:cNvGrpSpPr>
            <p:nvPr/>
          </p:nvGrpSpPr>
          <p:grpSpPr bwMode="auto">
            <a:xfrm>
              <a:off x="4454" y="3408"/>
              <a:ext cx="450" cy="120"/>
              <a:chOff x="4310" y="3444"/>
              <a:chExt cx="450" cy="120"/>
            </a:xfrm>
          </p:grpSpPr>
          <p:sp>
            <p:nvSpPr>
              <p:cNvPr id="851" name="Rectangle 264"/>
              <p:cNvSpPr>
                <a:spLocks noChangeArrowheads="1"/>
              </p:cNvSpPr>
              <p:nvPr/>
            </p:nvSpPr>
            <p:spPr bwMode="auto">
              <a:xfrm>
                <a:off x="4310" y="3444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4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852" name="Line 265"/>
              <p:cNvSpPr>
                <a:spLocks noChangeShapeType="1"/>
              </p:cNvSpPr>
              <p:nvPr/>
            </p:nvSpPr>
            <p:spPr bwMode="auto">
              <a:xfrm>
                <a:off x="4363" y="3472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000" kern="0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853" name="Line 266"/>
              <p:cNvSpPr>
                <a:spLocks noChangeShapeType="1"/>
              </p:cNvSpPr>
              <p:nvPr/>
            </p:nvSpPr>
            <p:spPr bwMode="auto">
              <a:xfrm flipH="1">
                <a:off x="4472" y="3471"/>
                <a:ext cx="6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000" kern="0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854" name="Line 267"/>
              <p:cNvSpPr>
                <a:spLocks noChangeShapeType="1"/>
              </p:cNvSpPr>
              <p:nvPr/>
            </p:nvSpPr>
            <p:spPr bwMode="auto">
              <a:xfrm>
                <a:off x="4527" y="347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000" kern="0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855" name="Line 268"/>
              <p:cNvSpPr>
                <a:spLocks noChangeShapeType="1"/>
              </p:cNvSpPr>
              <p:nvPr/>
            </p:nvSpPr>
            <p:spPr bwMode="auto">
              <a:xfrm>
                <a:off x="4584" y="3471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000" kern="0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856" name="Line 269"/>
              <p:cNvSpPr>
                <a:spLocks noChangeShapeType="1"/>
              </p:cNvSpPr>
              <p:nvPr/>
            </p:nvSpPr>
            <p:spPr bwMode="auto">
              <a:xfrm>
                <a:off x="4645" y="3471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000" kern="0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857" name="Line 270"/>
              <p:cNvSpPr>
                <a:spLocks noChangeShapeType="1"/>
              </p:cNvSpPr>
              <p:nvPr/>
            </p:nvSpPr>
            <p:spPr bwMode="auto">
              <a:xfrm>
                <a:off x="4701" y="3471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000" kern="0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858" name="Line 271"/>
              <p:cNvSpPr>
                <a:spLocks noChangeShapeType="1"/>
              </p:cNvSpPr>
              <p:nvPr/>
            </p:nvSpPr>
            <p:spPr bwMode="auto">
              <a:xfrm>
                <a:off x="4416" y="3472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000" kern="0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</p:grpSp>
        <p:sp>
          <p:nvSpPr>
            <p:cNvPr id="849" name="Rectangle 272"/>
            <p:cNvSpPr>
              <a:spLocks noChangeArrowheads="1"/>
            </p:cNvSpPr>
            <p:nvPr/>
          </p:nvSpPr>
          <p:spPr bwMode="auto">
            <a:xfrm>
              <a:off x="4685" y="362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0" fontAlgn="base" hangingPunct="0">
                <a:lnSpc>
                  <a:spcPct val="100000"/>
                </a:lnSpc>
                <a:spcAft>
                  <a:spcPct val="0"/>
                </a:spcAft>
                <a:buClr>
                  <a:srgbClr val="3333CC"/>
                </a:buClr>
                <a:buSzPct val="85000"/>
                <a:buNone/>
                <a:defRPr/>
              </a:pPr>
              <a:endParaRPr lang="en-US" altLang="en-US" sz="2400" kern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850" name="Text Box 277"/>
            <p:cNvSpPr txBox="1">
              <a:spLocks noChangeArrowheads="1"/>
            </p:cNvSpPr>
            <p:nvPr/>
          </p:nvSpPr>
          <p:spPr bwMode="auto">
            <a:xfrm>
              <a:off x="4856" y="3282"/>
              <a:ext cx="1227" cy="3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  <a:defRPr/>
              </a:pPr>
              <a:endParaRPr lang="en-US" altLang="en-US" sz="1400" kern="0" dirty="0">
                <a:solidFill>
                  <a:srgbClr val="000000"/>
                </a:solidFill>
                <a:latin typeface="Arial" charset="0"/>
              </a:endParaRPr>
            </a:p>
            <a:p>
              <a:pPr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  <a:defRPr/>
              </a:pPr>
              <a:r>
                <a:rPr lang="en-US" altLang="en-US" sz="1400" kern="0" dirty="0">
                  <a:solidFill>
                    <a:srgbClr val="000000"/>
                  </a:solidFill>
                  <a:latin typeface="Arial" charset="0"/>
                </a:rPr>
                <a:t>Outgoing </a:t>
              </a:r>
            </a:p>
            <a:p>
              <a:pPr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  <a:defRPr/>
              </a:pPr>
              <a:r>
                <a:rPr lang="en-US" altLang="en-US" sz="1400" kern="0" dirty="0">
                  <a:solidFill>
                    <a:srgbClr val="000000"/>
                  </a:solidFill>
                  <a:latin typeface="Arial" charset="0"/>
                </a:rPr>
                <a:t>message queue</a:t>
              </a:r>
              <a:endParaRPr lang="en-US" altLang="en-US" sz="2000" kern="0" dirty="0">
                <a:solidFill>
                  <a:srgbClr val="000000"/>
                </a:solidFill>
                <a:latin typeface="Arial" charset="0"/>
              </a:endParaRPr>
            </a:p>
          </p:txBody>
        </p:sp>
      </p:grpSp>
      <p:grpSp>
        <p:nvGrpSpPr>
          <p:cNvPr id="859" name="Group 454"/>
          <p:cNvGrpSpPr>
            <a:grpSpLocks/>
          </p:cNvGrpSpPr>
          <p:nvPr/>
        </p:nvGrpSpPr>
        <p:grpSpPr bwMode="auto">
          <a:xfrm>
            <a:off x="7079246" y="863444"/>
            <a:ext cx="4318000" cy="5118100"/>
            <a:chOff x="2937" y="886"/>
            <a:chExt cx="2720" cy="3224"/>
          </a:xfrm>
        </p:grpSpPr>
        <p:grpSp>
          <p:nvGrpSpPr>
            <p:cNvPr id="860" name="Group 389"/>
            <p:cNvGrpSpPr>
              <a:grpSpLocks/>
            </p:cNvGrpSpPr>
            <p:nvPr/>
          </p:nvGrpSpPr>
          <p:grpSpPr bwMode="auto">
            <a:xfrm>
              <a:off x="4346" y="1756"/>
              <a:ext cx="301" cy="451"/>
              <a:chOff x="4140" y="429"/>
              <a:chExt cx="1425" cy="2396"/>
            </a:xfrm>
          </p:grpSpPr>
          <p:sp>
            <p:nvSpPr>
              <p:cNvPr id="1023" name="Freeform 390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2 w 354"/>
                  <a:gd name="T3" fmla="*/ 23 h 2742"/>
                  <a:gd name="T4" fmla="*/ 12 w 354"/>
                  <a:gd name="T5" fmla="*/ 171 h 2742"/>
                  <a:gd name="T6" fmla="*/ 0 w 354"/>
                  <a:gd name="T7" fmla="*/ 17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000" kern="0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024" name="Rectangle 391"/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6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0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025" name="Freeform 392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 w 211"/>
                  <a:gd name="T3" fmla="*/ 15 h 2537"/>
                  <a:gd name="T4" fmla="*/ 2 w 211"/>
                  <a:gd name="T5" fmla="*/ 16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000" kern="0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026" name="Freeform 393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9 h 226"/>
                  <a:gd name="T4" fmla="*/ 11 w 328"/>
                  <a:gd name="T5" fmla="*/ 16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000" kern="0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027" name="Rectangle 394"/>
              <p:cNvSpPr>
                <a:spLocks noChangeArrowheads="1"/>
              </p:cNvSpPr>
              <p:nvPr/>
            </p:nvSpPr>
            <p:spPr bwMode="auto">
              <a:xfrm>
                <a:off x="4211" y="695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0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grpSp>
            <p:nvGrpSpPr>
              <p:cNvPr id="1028" name="Group 395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053" name="AutoShape 396"/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charset="2"/>
                    <a:buChar char="v"/>
                    <a:defRPr sz="28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charset="2"/>
                    <a:buChar char="§"/>
                    <a:defRPr sz="24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eaLnBrk="0" fontAlgn="base" hangingPunct="0">
                    <a:lnSpc>
                      <a:spcPct val="100000"/>
                    </a:lnSpc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None/>
                    <a:defRPr/>
                  </a:pPr>
                  <a:endParaRPr lang="en-US" altLang="en-US" sz="2000" kern="0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  <p:sp>
              <p:nvSpPr>
                <p:cNvPr id="1054" name="AutoShape 397"/>
                <p:cNvSpPr>
                  <a:spLocks noChangeArrowheads="1"/>
                </p:cNvSpPr>
                <p:nvPr/>
              </p:nvSpPr>
              <p:spPr bwMode="auto">
                <a:xfrm>
                  <a:off x="634" y="2583"/>
                  <a:ext cx="685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charset="2"/>
                    <a:buChar char="v"/>
                    <a:defRPr sz="28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charset="2"/>
                    <a:buChar char="§"/>
                    <a:defRPr sz="24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eaLnBrk="0" fontAlgn="base" hangingPunct="0">
                    <a:lnSpc>
                      <a:spcPct val="100000"/>
                    </a:lnSpc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None/>
                    <a:defRPr/>
                  </a:pPr>
                  <a:endParaRPr lang="en-US" altLang="en-US" sz="2000" kern="0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</p:grpSp>
          <p:sp>
            <p:nvSpPr>
              <p:cNvPr id="1029" name="Rectangle 398"/>
              <p:cNvSpPr>
                <a:spLocks noChangeArrowheads="1"/>
              </p:cNvSpPr>
              <p:nvPr/>
            </p:nvSpPr>
            <p:spPr bwMode="auto">
              <a:xfrm>
                <a:off x="4225" y="101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0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grpSp>
            <p:nvGrpSpPr>
              <p:cNvPr id="1030" name="Group 399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051" name="AutoShape 400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7" cy="14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charset="2"/>
                    <a:buChar char="v"/>
                    <a:defRPr sz="28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charset="2"/>
                    <a:buChar char="§"/>
                    <a:defRPr sz="24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eaLnBrk="0" fontAlgn="base" hangingPunct="0">
                    <a:lnSpc>
                      <a:spcPct val="100000"/>
                    </a:lnSpc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None/>
                    <a:defRPr/>
                  </a:pPr>
                  <a:endParaRPr lang="en-US" altLang="en-US" sz="2000" kern="0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  <p:sp>
              <p:nvSpPr>
                <p:cNvPr id="1052" name="AutoShape 401"/>
                <p:cNvSpPr>
                  <a:spLocks noChangeArrowheads="1"/>
                </p:cNvSpPr>
                <p:nvPr/>
              </p:nvSpPr>
              <p:spPr bwMode="auto">
                <a:xfrm>
                  <a:off x="630" y="2583"/>
                  <a:ext cx="691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charset="2"/>
                    <a:buChar char="v"/>
                    <a:defRPr sz="28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charset="2"/>
                    <a:buChar char="§"/>
                    <a:defRPr sz="24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eaLnBrk="0" fontAlgn="base" hangingPunct="0">
                    <a:lnSpc>
                      <a:spcPct val="100000"/>
                    </a:lnSpc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None/>
                    <a:defRPr/>
                  </a:pPr>
                  <a:endParaRPr lang="en-US" altLang="en-US" sz="2000" kern="0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</p:grpSp>
          <p:sp>
            <p:nvSpPr>
              <p:cNvPr id="1031" name="Rectangle 402"/>
              <p:cNvSpPr>
                <a:spLocks noChangeArrowheads="1"/>
              </p:cNvSpPr>
              <p:nvPr/>
            </p:nvSpPr>
            <p:spPr bwMode="auto">
              <a:xfrm>
                <a:off x="4216" y="135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0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032" name="Rectangle 403"/>
              <p:cNvSpPr>
                <a:spLocks noChangeArrowheads="1"/>
              </p:cNvSpPr>
              <p:nvPr/>
            </p:nvSpPr>
            <p:spPr bwMode="auto">
              <a:xfrm>
                <a:off x="4230" y="1656"/>
                <a:ext cx="592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0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grpSp>
            <p:nvGrpSpPr>
              <p:cNvPr id="1033" name="Group 404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049" name="AutoShape 405"/>
                <p:cNvSpPr>
                  <a:spLocks noChangeArrowheads="1"/>
                </p:cNvSpPr>
                <p:nvPr/>
              </p:nvSpPr>
              <p:spPr bwMode="auto">
                <a:xfrm>
                  <a:off x="616" y="2570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charset="2"/>
                    <a:buChar char="v"/>
                    <a:defRPr sz="28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charset="2"/>
                    <a:buChar char="§"/>
                    <a:defRPr sz="24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eaLnBrk="0" fontAlgn="base" hangingPunct="0">
                    <a:lnSpc>
                      <a:spcPct val="100000"/>
                    </a:lnSpc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None/>
                    <a:defRPr/>
                  </a:pPr>
                  <a:endParaRPr lang="en-US" altLang="en-US" sz="2000" kern="0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  <p:sp>
              <p:nvSpPr>
                <p:cNvPr id="1050" name="AutoShape 406"/>
                <p:cNvSpPr>
                  <a:spLocks noChangeArrowheads="1"/>
                </p:cNvSpPr>
                <p:nvPr/>
              </p:nvSpPr>
              <p:spPr bwMode="auto">
                <a:xfrm>
                  <a:off x="634" y="2585"/>
                  <a:ext cx="690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charset="2"/>
                    <a:buChar char="v"/>
                    <a:defRPr sz="28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charset="2"/>
                    <a:buChar char="§"/>
                    <a:defRPr sz="24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eaLnBrk="0" fontAlgn="base" hangingPunct="0">
                    <a:lnSpc>
                      <a:spcPct val="100000"/>
                    </a:lnSpc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None/>
                    <a:defRPr/>
                  </a:pPr>
                  <a:endParaRPr lang="en-US" altLang="en-US" sz="2000" kern="0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</p:grpSp>
          <p:sp>
            <p:nvSpPr>
              <p:cNvPr id="1034" name="Freeform 407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8 h 226"/>
                  <a:gd name="T4" fmla="*/ 11 w 328"/>
                  <a:gd name="T5" fmla="*/ 14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000" kern="0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grpSp>
            <p:nvGrpSpPr>
              <p:cNvPr id="1035" name="Group 408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047" name="AutoShape 409"/>
                <p:cNvSpPr>
                  <a:spLocks noChangeArrowheads="1"/>
                </p:cNvSpPr>
                <p:nvPr/>
              </p:nvSpPr>
              <p:spPr bwMode="auto">
                <a:xfrm>
                  <a:off x="629" y="2568"/>
                  <a:ext cx="702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charset="2"/>
                    <a:buChar char="v"/>
                    <a:defRPr sz="28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charset="2"/>
                    <a:buChar char="§"/>
                    <a:defRPr sz="24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eaLnBrk="0" fontAlgn="base" hangingPunct="0">
                    <a:lnSpc>
                      <a:spcPct val="100000"/>
                    </a:lnSpc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None/>
                    <a:defRPr/>
                  </a:pPr>
                  <a:endParaRPr lang="en-US" altLang="en-US" sz="2000" kern="0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  <p:sp>
              <p:nvSpPr>
                <p:cNvPr id="1048" name="AutoShape 410"/>
                <p:cNvSpPr>
                  <a:spLocks noChangeArrowheads="1"/>
                </p:cNvSpPr>
                <p:nvPr/>
              </p:nvSpPr>
              <p:spPr bwMode="auto">
                <a:xfrm>
                  <a:off x="634" y="2584"/>
                  <a:ext cx="672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charset="2"/>
                    <a:buChar char="v"/>
                    <a:defRPr sz="28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charset="2"/>
                    <a:buChar char="§"/>
                    <a:defRPr sz="24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eaLnBrk="0" fontAlgn="base" hangingPunct="0">
                    <a:lnSpc>
                      <a:spcPct val="100000"/>
                    </a:lnSpc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None/>
                    <a:defRPr/>
                  </a:pPr>
                  <a:endParaRPr lang="en-US" altLang="en-US" sz="2000" kern="0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</p:grpSp>
          <p:sp>
            <p:nvSpPr>
              <p:cNvPr id="1036" name="Rectangle 411"/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71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0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037" name="Freeform 412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1 w 296"/>
                  <a:gd name="T3" fmla="*/ 8 h 256"/>
                  <a:gd name="T4" fmla="*/ 11 w 296"/>
                  <a:gd name="T5" fmla="*/ 16 h 256"/>
                  <a:gd name="T6" fmla="*/ 0 w 296"/>
                  <a:gd name="T7" fmla="*/ 6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000" kern="0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038" name="Freeform 413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1 w 304"/>
                  <a:gd name="T3" fmla="*/ 11 h 288"/>
                  <a:gd name="T4" fmla="*/ 10 w 304"/>
                  <a:gd name="T5" fmla="*/ 19 h 288"/>
                  <a:gd name="T6" fmla="*/ 2 w 304"/>
                  <a:gd name="T7" fmla="*/ 8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000" kern="0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039" name="Oval 414"/>
              <p:cNvSpPr>
                <a:spLocks noChangeArrowheads="1"/>
              </p:cNvSpPr>
              <p:nvPr/>
            </p:nvSpPr>
            <p:spPr bwMode="auto"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0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040" name="Freeform 415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8 h 240"/>
                  <a:gd name="T2" fmla="*/ 2 w 306"/>
                  <a:gd name="T3" fmla="*/ 16 h 240"/>
                  <a:gd name="T4" fmla="*/ 11 w 306"/>
                  <a:gd name="T5" fmla="*/ 8 h 240"/>
                  <a:gd name="T6" fmla="*/ 11 w 306"/>
                  <a:gd name="T7" fmla="*/ 0 h 240"/>
                  <a:gd name="T8" fmla="*/ 0 w 306"/>
                  <a:gd name="T9" fmla="*/ 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000" kern="0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041" name="AutoShape 416"/>
              <p:cNvSpPr>
                <a:spLocks noChangeArrowheads="1"/>
              </p:cNvSpPr>
              <p:nvPr/>
            </p:nvSpPr>
            <p:spPr bwMode="auto">
              <a:xfrm>
                <a:off x="4140" y="2676"/>
                <a:ext cx="1198" cy="149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0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042" name="AutoShape 417"/>
              <p:cNvSpPr>
                <a:spLocks noChangeArrowheads="1"/>
              </p:cNvSpPr>
              <p:nvPr/>
            </p:nvSpPr>
            <p:spPr bwMode="auto">
              <a:xfrm>
                <a:off x="4206" y="2713"/>
                <a:ext cx="1070" cy="8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0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043" name="Oval 418"/>
              <p:cNvSpPr>
                <a:spLocks noChangeArrowheads="1"/>
              </p:cNvSpPr>
              <p:nvPr/>
            </p:nvSpPr>
            <p:spPr bwMode="auto"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0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044" name="Oval 419"/>
              <p:cNvSpPr>
                <a:spLocks noChangeArrowheads="1"/>
              </p:cNvSpPr>
              <p:nvPr/>
            </p:nvSpPr>
            <p:spPr bwMode="auto"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algn="ctr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defRPr/>
                </a:pPr>
                <a:endParaRPr lang="en-US" altLang="en-US" sz="1800" kern="0">
                  <a:solidFill>
                    <a:srgbClr val="FF0000"/>
                  </a:solidFill>
                  <a:latin typeface="Arial" charset="0"/>
                </a:endParaRPr>
              </a:p>
            </p:txBody>
          </p:sp>
          <p:sp>
            <p:nvSpPr>
              <p:cNvPr id="1045" name="Oval 420"/>
              <p:cNvSpPr>
                <a:spLocks noChangeArrowheads="1"/>
              </p:cNvSpPr>
              <p:nvPr/>
            </p:nvSpPr>
            <p:spPr bwMode="auto"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0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046" name="Rectangle 421"/>
              <p:cNvSpPr>
                <a:spLocks noChangeArrowheads="1"/>
              </p:cNvSpPr>
              <p:nvPr/>
            </p:nvSpPr>
            <p:spPr bwMode="auto"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0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</p:grpSp>
        <p:grpSp>
          <p:nvGrpSpPr>
            <p:cNvPr id="861" name="Group 356"/>
            <p:cNvGrpSpPr>
              <a:grpSpLocks/>
            </p:cNvGrpSpPr>
            <p:nvPr/>
          </p:nvGrpSpPr>
          <p:grpSpPr bwMode="auto">
            <a:xfrm>
              <a:off x="3091" y="2634"/>
              <a:ext cx="301" cy="451"/>
              <a:chOff x="4140" y="429"/>
              <a:chExt cx="1425" cy="2396"/>
            </a:xfrm>
          </p:grpSpPr>
          <p:sp>
            <p:nvSpPr>
              <p:cNvPr id="991" name="Freeform 357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2 w 354"/>
                  <a:gd name="T3" fmla="*/ 23 h 2742"/>
                  <a:gd name="T4" fmla="*/ 12 w 354"/>
                  <a:gd name="T5" fmla="*/ 171 h 2742"/>
                  <a:gd name="T6" fmla="*/ 0 w 354"/>
                  <a:gd name="T7" fmla="*/ 17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000" kern="0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992" name="Rectangle 358"/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6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0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993" name="Freeform 359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 w 211"/>
                  <a:gd name="T3" fmla="*/ 15 h 2537"/>
                  <a:gd name="T4" fmla="*/ 2 w 211"/>
                  <a:gd name="T5" fmla="*/ 16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000" kern="0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994" name="Freeform 360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9 h 226"/>
                  <a:gd name="T4" fmla="*/ 11 w 328"/>
                  <a:gd name="T5" fmla="*/ 16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000" kern="0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995" name="Rectangle 361"/>
              <p:cNvSpPr>
                <a:spLocks noChangeArrowheads="1"/>
              </p:cNvSpPr>
              <p:nvPr/>
            </p:nvSpPr>
            <p:spPr bwMode="auto">
              <a:xfrm>
                <a:off x="4211" y="695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0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grpSp>
            <p:nvGrpSpPr>
              <p:cNvPr id="996" name="Group 362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021" name="AutoShape 363"/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charset="2"/>
                    <a:buChar char="v"/>
                    <a:defRPr sz="28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charset="2"/>
                    <a:buChar char="§"/>
                    <a:defRPr sz="24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eaLnBrk="0" fontAlgn="base" hangingPunct="0">
                    <a:lnSpc>
                      <a:spcPct val="100000"/>
                    </a:lnSpc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None/>
                    <a:defRPr/>
                  </a:pPr>
                  <a:endParaRPr lang="en-US" altLang="en-US" sz="2000" kern="0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  <p:sp>
              <p:nvSpPr>
                <p:cNvPr id="1022" name="AutoShape 364"/>
                <p:cNvSpPr>
                  <a:spLocks noChangeArrowheads="1"/>
                </p:cNvSpPr>
                <p:nvPr/>
              </p:nvSpPr>
              <p:spPr bwMode="auto">
                <a:xfrm>
                  <a:off x="634" y="2583"/>
                  <a:ext cx="685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charset="2"/>
                    <a:buChar char="v"/>
                    <a:defRPr sz="28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charset="2"/>
                    <a:buChar char="§"/>
                    <a:defRPr sz="24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eaLnBrk="0" fontAlgn="base" hangingPunct="0">
                    <a:lnSpc>
                      <a:spcPct val="100000"/>
                    </a:lnSpc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None/>
                    <a:defRPr/>
                  </a:pPr>
                  <a:endParaRPr lang="en-US" altLang="en-US" sz="2000" kern="0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</p:grpSp>
          <p:sp>
            <p:nvSpPr>
              <p:cNvPr id="997" name="Rectangle 365"/>
              <p:cNvSpPr>
                <a:spLocks noChangeArrowheads="1"/>
              </p:cNvSpPr>
              <p:nvPr/>
            </p:nvSpPr>
            <p:spPr bwMode="auto">
              <a:xfrm>
                <a:off x="4225" y="101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0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grpSp>
            <p:nvGrpSpPr>
              <p:cNvPr id="998" name="Group 366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019" name="AutoShape 367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7" cy="14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charset="2"/>
                    <a:buChar char="v"/>
                    <a:defRPr sz="28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charset="2"/>
                    <a:buChar char="§"/>
                    <a:defRPr sz="24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eaLnBrk="0" fontAlgn="base" hangingPunct="0">
                    <a:lnSpc>
                      <a:spcPct val="100000"/>
                    </a:lnSpc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None/>
                    <a:defRPr/>
                  </a:pPr>
                  <a:endParaRPr lang="en-US" altLang="en-US" sz="2000" kern="0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  <p:sp>
              <p:nvSpPr>
                <p:cNvPr id="1020" name="AutoShape 368"/>
                <p:cNvSpPr>
                  <a:spLocks noChangeArrowheads="1"/>
                </p:cNvSpPr>
                <p:nvPr/>
              </p:nvSpPr>
              <p:spPr bwMode="auto">
                <a:xfrm>
                  <a:off x="630" y="2583"/>
                  <a:ext cx="691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charset="2"/>
                    <a:buChar char="v"/>
                    <a:defRPr sz="28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charset="2"/>
                    <a:buChar char="§"/>
                    <a:defRPr sz="24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eaLnBrk="0" fontAlgn="base" hangingPunct="0">
                    <a:lnSpc>
                      <a:spcPct val="100000"/>
                    </a:lnSpc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None/>
                    <a:defRPr/>
                  </a:pPr>
                  <a:endParaRPr lang="en-US" altLang="en-US" sz="2000" kern="0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</p:grpSp>
          <p:sp>
            <p:nvSpPr>
              <p:cNvPr id="999" name="Rectangle 369"/>
              <p:cNvSpPr>
                <a:spLocks noChangeArrowheads="1"/>
              </p:cNvSpPr>
              <p:nvPr/>
            </p:nvSpPr>
            <p:spPr bwMode="auto">
              <a:xfrm>
                <a:off x="4216" y="135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0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000" name="Rectangle 370"/>
              <p:cNvSpPr>
                <a:spLocks noChangeArrowheads="1"/>
              </p:cNvSpPr>
              <p:nvPr/>
            </p:nvSpPr>
            <p:spPr bwMode="auto">
              <a:xfrm>
                <a:off x="4230" y="1656"/>
                <a:ext cx="592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0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grpSp>
            <p:nvGrpSpPr>
              <p:cNvPr id="1001" name="Group 371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017" name="AutoShape 372"/>
                <p:cNvSpPr>
                  <a:spLocks noChangeArrowheads="1"/>
                </p:cNvSpPr>
                <p:nvPr/>
              </p:nvSpPr>
              <p:spPr bwMode="auto">
                <a:xfrm>
                  <a:off x="616" y="2570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charset="2"/>
                    <a:buChar char="v"/>
                    <a:defRPr sz="28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charset="2"/>
                    <a:buChar char="§"/>
                    <a:defRPr sz="24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eaLnBrk="0" fontAlgn="base" hangingPunct="0">
                    <a:lnSpc>
                      <a:spcPct val="100000"/>
                    </a:lnSpc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None/>
                    <a:defRPr/>
                  </a:pPr>
                  <a:endParaRPr lang="en-US" altLang="en-US" sz="2000" kern="0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  <p:sp>
              <p:nvSpPr>
                <p:cNvPr id="1018" name="AutoShape 373"/>
                <p:cNvSpPr>
                  <a:spLocks noChangeArrowheads="1"/>
                </p:cNvSpPr>
                <p:nvPr/>
              </p:nvSpPr>
              <p:spPr bwMode="auto">
                <a:xfrm>
                  <a:off x="634" y="2585"/>
                  <a:ext cx="690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charset="2"/>
                    <a:buChar char="v"/>
                    <a:defRPr sz="28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charset="2"/>
                    <a:buChar char="§"/>
                    <a:defRPr sz="24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eaLnBrk="0" fontAlgn="base" hangingPunct="0">
                    <a:lnSpc>
                      <a:spcPct val="100000"/>
                    </a:lnSpc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None/>
                    <a:defRPr/>
                  </a:pPr>
                  <a:endParaRPr lang="en-US" altLang="en-US" sz="2000" kern="0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</p:grpSp>
          <p:sp>
            <p:nvSpPr>
              <p:cNvPr id="1002" name="Freeform 374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8 h 226"/>
                  <a:gd name="T4" fmla="*/ 11 w 328"/>
                  <a:gd name="T5" fmla="*/ 14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000" kern="0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grpSp>
            <p:nvGrpSpPr>
              <p:cNvPr id="1003" name="Group 375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015" name="AutoShape 376"/>
                <p:cNvSpPr>
                  <a:spLocks noChangeArrowheads="1"/>
                </p:cNvSpPr>
                <p:nvPr/>
              </p:nvSpPr>
              <p:spPr bwMode="auto">
                <a:xfrm>
                  <a:off x="629" y="2568"/>
                  <a:ext cx="702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charset="2"/>
                    <a:buChar char="v"/>
                    <a:defRPr sz="28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charset="2"/>
                    <a:buChar char="§"/>
                    <a:defRPr sz="24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eaLnBrk="0" fontAlgn="base" hangingPunct="0">
                    <a:lnSpc>
                      <a:spcPct val="100000"/>
                    </a:lnSpc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None/>
                    <a:defRPr/>
                  </a:pPr>
                  <a:endParaRPr lang="en-US" altLang="en-US" sz="2000" kern="0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  <p:sp>
              <p:nvSpPr>
                <p:cNvPr id="1016" name="AutoShape 377"/>
                <p:cNvSpPr>
                  <a:spLocks noChangeArrowheads="1"/>
                </p:cNvSpPr>
                <p:nvPr/>
              </p:nvSpPr>
              <p:spPr bwMode="auto">
                <a:xfrm>
                  <a:off x="634" y="2584"/>
                  <a:ext cx="672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charset="2"/>
                    <a:buChar char="v"/>
                    <a:defRPr sz="28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charset="2"/>
                    <a:buChar char="§"/>
                    <a:defRPr sz="24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eaLnBrk="0" fontAlgn="base" hangingPunct="0">
                    <a:lnSpc>
                      <a:spcPct val="100000"/>
                    </a:lnSpc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None/>
                    <a:defRPr/>
                  </a:pPr>
                  <a:endParaRPr lang="en-US" altLang="en-US" sz="2000" kern="0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</p:grpSp>
          <p:sp>
            <p:nvSpPr>
              <p:cNvPr id="1004" name="Rectangle 378"/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71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0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005" name="Freeform 379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1 w 296"/>
                  <a:gd name="T3" fmla="*/ 8 h 256"/>
                  <a:gd name="T4" fmla="*/ 11 w 296"/>
                  <a:gd name="T5" fmla="*/ 16 h 256"/>
                  <a:gd name="T6" fmla="*/ 0 w 296"/>
                  <a:gd name="T7" fmla="*/ 6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000" kern="0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006" name="Freeform 380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1 w 304"/>
                  <a:gd name="T3" fmla="*/ 11 h 288"/>
                  <a:gd name="T4" fmla="*/ 10 w 304"/>
                  <a:gd name="T5" fmla="*/ 19 h 288"/>
                  <a:gd name="T6" fmla="*/ 2 w 304"/>
                  <a:gd name="T7" fmla="*/ 8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000" kern="0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007" name="Oval 381"/>
              <p:cNvSpPr>
                <a:spLocks noChangeArrowheads="1"/>
              </p:cNvSpPr>
              <p:nvPr/>
            </p:nvSpPr>
            <p:spPr bwMode="auto"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0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008" name="Freeform 382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8 h 240"/>
                  <a:gd name="T2" fmla="*/ 2 w 306"/>
                  <a:gd name="T3" fmla="*/ 16 h 240"/>
                  <a:gd name="T4" fmla="*/ 11 w 306"/>
                  <a:gd name="T5" fmla="*/ 8 h 240"/>
                  <a:gd name="T6" fmla="*/ 11 w 306"/>
                  <a:gd name="T7" fmla="*/ 0 h 240"/>
                  <a:gd name="T8" fmla="*/ 0 w 306"/>
                  <a:gd name="T9" fmla="*/ 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000" kern="0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009" name="AutoShape 383"/>
              <p:cNvSpPr>
                <a:spLocks noChangeArrowheads="1"/>
              </p:cNvSpPr>
              <p:nvPr/>
            </p:nvSpPr>
            <p:spPr bwMode="auto">
              <a:xfrm>
                <a:off x="4140" y="2676"/>
                <a:ext cx="1198" cy="149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0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010" name="AutoShape 384"/>
              <p:cNvSpPr>
                <a:spLocks noChangeArrowheads="1"/>
              </p:cNvSpPr>
              <p:nvPr/>
            </p:nvSpPr>
            <p:spPr bwMode="auto">
              <a:xfrm>
                <a:off x="4206" y="2713"/>
                <a:ext cx="1070" cy="8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0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011" name="Oval 385"/>
              <p:cNvSpPr>
                <a:spLocks noChangeArrowheads="1"/>
              </p:cNvSpPr>
              <p:nvPr/>
            </p:nvSpPr>
            <p:spPr bwMode="auto"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0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012" name="Oval 386"/>
              <p:cNvSpPr>
                <a:spLocks noChangeArrowheads="1"/>
              </p:cNvSpPr>
              <p:nvPr/>
            </p:nvSpPr>
            <p:spPr bwMode="auto"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algn="ctr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defRPr/>
                </a:pPr>
                <a:endParaRPr lang="en-US" altLang="en-US" sz="1800" kern="0">
                  <a:solidFill>
                    <a:srgbClr val="FF0000"/>
                  </a:solidFill>
                  <a:latin typeface="Arial" charset="0"/>
                </a:endParaRPr>
              </a:p>
            </p:txBody>
          </p:sp>
          <p:sp>
            <p:nvSpPr>
              <p:cNvPr id="1013" name="Oval 387"/>
              <p:cNvSpPr>
                <a:spLocks noChangeArrowheads="1"/>
              </p:cNvSpPr>
              <p:nvPr/>
            </p:nvSpPr>
            <p:spPr bwMode="auto"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0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014" name="Rectangle 388"/>
              <p:cNvSpPr>
                <a:spLocks noChangeArrowheads="1"/>
              </p:cNvSpPr>
              <p:nvPr/>
            </p:nvSpPr>
            <p:spPr bwMode="auto"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0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</p:grpSp>
        <p:grpSp>
          <p:nvGrpSpPr>
            <p:cNvPr id="862" name="Group 320"/>
            <p:cNvGrpSpPr>
              <a:grpSpLocks/>
            </p:cNvGrpSpPr>
            <p:nvPr/>
          </p:nvGrpSpPr>
          <p:grpSpPr bwMode="auto">
            <a:xfrm>
              <a:off x="3105" y="1159"/>
              <a:ext cx="301" cy="451"/>
              <a:chOff x="4140" y="429"/>
              <a:chExt cx="1425" cy="2396"/>
            </a:xfrm>
          </p:grpSpPr>
          <p:sp>
            <p:nvSpPr>
              <p:cNvPr id="959" name="Freeform 321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2 w 354"/>
                  <a:gd name="T3" fmla="*/ 23 h 2742"/>
                  <a:gd name="T4" fmla="*/ 12 w 354"/>
                  <a:gd name="T5" fmla="*/ 171 h 2742"/>
                  <a:gd name="T6" fmla="*/ 0 w 354"/>
                  <a:gd name="T7" fmla="*/ 17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000" kern="0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960" name="Rectangle 322"/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6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0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961" name="Freeform 323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 w 211"/>
                  <a:gd name="T3" fmla="*/ 15 h 2537"/>
                  <a:gd name="T4" fmla="*/ 2 w 211"/>
                  <a:gd name="T5" fmla="*/ 16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000" kern="0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962" name="Freeform 324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9 h 226"/>
                  <a:gd name="T4" fmla="*/ 11 w 328"/>
                  <a:gd name="T5" fmla="*/ 16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000" kern="0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963" name="Rectangle 325"/>
              <p:cNvSpPr>
                <a:spLocks noChangeArrowheads="1"/>
              </p:cNvSpPr>
              <p:nvPr/>
            </p:nvSpPr>
            <p:spPr bwMode="auto">
              <a:xfrm>
                <a:off x="4211" y="695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0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grpSp>
            <p:nvGrpSpPr>
              <p:cNvPr id="964" name="Group 326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989" name="AutoShape 327"/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charset="2"/>
                    <a:buChar char="v"/>
                    <a:defRPr sz="28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charset="2"/>
                    <a:buChar char="§"/>
                    <a:defRPr sz="24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eaLnBrk="0" fontAlgn="base" hangingPunct="0">
                    <a:lnSpc>
                      <a:spcPct val="100000"/>
                    </a:lnSpc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None/>
                    <a:defRPr/>
                  </a:pPr>
                  <a:endParaRPr lang="en-US" altLang="en-US" sz="2000" kern="0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  <p:sp>
              <p:nvSpPr>
                <p:cNvPr id="990" name="AutoShape 328"/>
                <p:cNvSpPr>
                  <a:spLocks noChangeArrowheads="1"/>
                </p:cNvSpPr>
                <p:nvPr/>
              </p:nvSpPr>
              <p:spPr bwMode="auto">
                <a:xfrm>
                  <a:off x="634" y="2583"/>
                  <a:ext cx="685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charset="2"/>
                    <a:buChar char="v"/>
                    <a:defRPr sz="28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charset="2"/>
                    <a:buChar char="§"/>
                    <a:defRPr sz="24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eaLnBrk="0" fontAlgn="base" hangingPunct="0">
                    <a:lnSpc>
                      <a:spcPct val="100000"/>
                    </a:lnSpc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None/>
                    <a:defRPr/>
                  </a:pPr>
                  <a:endParaRPr lang="en-US" altLang="en-US" sz="2000" kern="0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</p:grpSp>
          <p:sp>
            <p:nvSpPr>
              <p:cNvPr id="965" name="Rectangle 329"/>
              <p:cNvSpPr>
                <a:spLocks noChangeArrowheads="1"/>
              </p:cNvSpPr>
              <p:nvPr/>
            </p:nvSpPr>
            <p:spPr bwMode="auto">
              <a:xfrm>
                <a:off x="4225" y="101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0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grpSp>
            <p:nvGrpSpPr>
              <p:cNvPr id="966" name="Group 330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987" name="AutoShape 331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7" cy="14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charset="2"/>
                    <a:buChar char="v"/>
                    <a:defRPr sz="28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charset="2"/>
                    <a:buChar char="§"/>
                    <a:defRPr sz="24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eaLnBrk="0" fontAlgn="base" hangingPunct="0">
                    <a:lnSpc>
                      <a:spcPct val="100000"/>
                    </a:lnSpc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None/>
                    <a:defRPr/>
                  </a:pPr>
                  <a:endParaRPr lang="en-US" altLang="en-US" sz="2000" kern="0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  <p:sp>
              <p:nvSpPr>
                <p:cNvPr id="988" name="AutoShape 332"/>
                <p:cNvSpPr>
                  <a:spLocks noChangeArrowheads="1"/>
                </p:cNvSpPr>
                <p:nvPr/>
              </p:nvSpPr>
              <p:spPr bwMode="auto">
                <a:xfrm>
                  <a:off x="630" y="2583"/>
                  <a:ext cx="691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charset="2"/>
                    <a:buChar char="v"/>
                    <a:defRPr sz="28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charset="2"/>
                    <a:buChar char="§"/>
                    <a:defRPr sz="24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eaLnBrk="0" fontAlgn="base" hangingPunct="0">
                    <a:lnSpc>
                      <a:spcPct val="100000"/>
                    </a:lnSpc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None/>
                    <a:defRPr/>
                  </a:pPr>
                  <a:endParaRPr lang="en-US" altLang="en-US" sz="2000" kern="0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</p:grpSp>
          <p:sp>
            <p:nvSpPr>
              <p:cNvPr id="967" name="Rectangle 333"/>
              <p:cNvSpPr>
                <a:spLocks noChangeArrowheads="1"/>
              </p:cNvSpPr>
              <p:nvPr/>
            </p:nvSpPr>
            <p:spPr bwMode="auto">
              <a:xfrm>
                <a:off x="4216" y="135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0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968" name="Rectangle 334"/>
              <p:cNvSpPr>
                <a:spLocks noChangeArrowheads="1"/>
              </p:cNvSpPr>
              <p:nvPr/>
            </p:nvSpPr>
            <p:spPr bwMode="auto">
              <a:xfrm>
                <a:off x="4230" y="1656"/>
                <a:ext cx="592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0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grpSp>
            <p:nvGrpSpPr>
              <p:cNvPr id="969" name="Group 335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985" name="AutoShape 336"/>
                <p:cNvSpPr>
                  <a:spLocks noChangeArrowheads="1"/>
                </p:cNvSpPr>
                <p:nvPr/>
              </p:nvSpPr>
              <p:spPr bwMode="auto">
                <a:xfrm>
                  <a:off x="616" y="2570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charset="2"/>
                    <a:buChar char="v"/>
                    <a:defRPr sz="28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charset="2"/>
                    <a:buChar char="§"/>
                    <a:defRPr sz="24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eaLnBrk="0" fontAlgn="base" hangingPunct="0">
                    <a:lnSpc>
                      <a:spcPct val="100000"/>
                    </a:lnSpc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None/>
                    <a:defRPr/>
                  </a:pPr>
                  <a:endParaRPr lang="en-US" altLang="en-US" sz="2000" kern="0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  <p:sp>
              <p:nvSpPr>
                <p:cNvPr id="986" name="AutoShape 337"/>
                <p:cNvSpPr>
                  <a:spLocks noChangeArrowheads="1"/>
                </p:cNvSpPr>
                <p:nvPr/>
              </p:nvSpPr>
              <p:spPr bwMode="auto">
                <a:xfrm>
                  <a:off x="634" y="2585"/>
                  <a:ext cx="690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charset="2"/>
                    <a:buChar char="v"/>
                    <a:defRPr sz="28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charset="2"/>
                    <a:buChar char="§"/>
                    <a:defRPr sz="24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eaLnBrk="0" fontAlgn="base" hangingPunct="0">
                    <a:lnSpc>
                      <a:spcPct val="100000"/>
                    </a:lnSpc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None/>
                    <a:defRPr/>
                  </a:pPr>
                  <a:endParaRPr lang="en-US" altLang="en-US" sz="2000" kern="0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</p:grpSp>
          <p:sp>
            <p:nvSpPr>
              <p:cNvPr id="970" name="Freeform 338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8 h 226"/>
                  <a:gd name="T4" fmla="*/ 11 w 328"/>
                  <a:gd name="T5" fmla="*/ 14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000" kern="0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grpSp>
            <p:nvGrpSpPr>
              <p:cNvPr id="971" name="Group 339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983" name="AutoShape 340"/>
                <p:cNvSpPr>
                  <a:spLocks noChangeArrowheads="1"/>
                </p:cNvSpPr>
                <p:nvPr/>
              </p:nvSpPr>
              <p:spPr bwMode="auto">
                <a:xfrm>
                  <a:off x="629" y="2568"/>
                  <a:ext cx="702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charset="2"/>
                    <a:buChar char="v"/>
                    <a:defRPr sz="28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charset="2"/>
                    <a:buChar char="§"/>
                    <a:defRPr sz="24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eaLnBrk="0" fontAlgn="base" hangingPunct="0">
                    <a:lnSpc>
                      <a:spcPct val="100000"/>
                    </a:lnSpc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None/>
                    <a:defRPr/>
                  </a:pPr>
                  <a:endParaRPr lang="en-US" altLang="en-US" sz="2000" kern="0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  <p:sp>
              <p:nvSpPr>
                <p:cNvPr id="984" name="AutoShape 341"/>
                <p:cNvSpPr>
                  <a:spLocks noChangeArrowheads="1"/>
                </p:cNvSpPr>
                <p:nvPr/>
              </p:nvSpPr>
              <p:spPr bwMode="auto">
                <a:xfrm>
                  <a:off x="634" y="2584"/>
                  <a:ext cx="672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charset="2"/>
                    <a:buChar char="v"/>
                    <a:defRPr sz="28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charset="2"/>
                    <a:buChar char="§"/>
                    <a:defRPr sz="2400">
                      <a:solidFill>
                        <a:schemeClr val="tx1"/>
                      </a:solidFill>
                      <a:latin typeface="Gill Sans MT" charset="0"/>
                      <a:ea typeface="ＭＳ Ｐゴシック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ＭＳ Ｐゴシック" charset="-128"/>
                    </a:defRPr>
                  </a:lvl9pPr>
                </a:lstStyle>
                <a:p>
                  <a:pPr eaLnBrk="0" fontAlgn="base" hangingPunct="0">
                    <a:lnSpc>
                      <a:spcPct val="100000"/>
                    </a:lnSpc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None/>
                    <a:defRPr/>
                  </a:pPr>
                  <a:endParaRPr lang="en-US" altLang="en-US" sz="2000" kern="0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</p:grpSp>
          <p:sp>
            <p:nvSpPr>
              <p:cNvPr id="972" name="Rectangle 342"/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71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0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973" name="Freeform 343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1 w 296"/>
                  <a:gd name="T3" fmla="*/ 8 h 256"/>
                  <a:gd name="T4" fmla="*/ 11 w 296"/>
                  <a:gd name="T5" fmla="*/ 16 h 256"/>
                  <a:gd name="T6" fmla="*/ 0 w 296"/>
                  <a:gd name="T7" fmla="*/ 6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000" kern="0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974" name="Freeform 344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1 w 304"/>
                  <a:gd name="T3" fmla="*/ 11 h 288"/>
                  <a:gd name="T4" fmla="*/ 10 w 304"/>
                  <a:gd name="T5" fmla="*/ 19 h 288"/>
                  <a:gd name="T6" fmla="*/ 2 w 304"/>
                  <a:gd name="T7" fmla="*/ 8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000" kern="0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975" name="Oval 345"/>
              <p:cNvSpPr>
                <a:spLocks noChangeArrowheads="1"/>
              </p:cNvSpPr>
              <p:nvPr/>
            </p:nvSpPr>
            <p:spPr bwMode="auto"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0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976" name="Freeform 346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8 h 240"/>
                  <a:gd name="T2" fmla="*/ 2 w 306"/>
                  <a:gd name="T3" fmla="*/ 16 h 240"/>
                  <a:gd name="T4" fmla="*/ 11 w 306"/>
                  <a:gd name="T5" fmla="*/ 8 h 240"/>
                  <a:gd name="T6" fmla="*/ 11 w 306"/>
                  <a:gd name="T7" fmla="*/ 0 h 240"/>
                  <a:gd name="T8" fmla="*/ 0 w 306"/>
                  <a:gd name="T9" fmla="*/ 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000" kern="0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977" name="AutoShape 347"/>
              <p:cNvSpPr>
                <a:spLocks noChangeArrowheads="1"/>
              </p:cNvSpPr>
              <p:nvPr/>
            </p:nvSpPr>
            <p:spPr bwMode="auto">
              <a:xfrm>
                <a:off x="4140" y="2676"/>
                <a:ext cx="1198" cy="149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0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978" name="AutoShape 348"/>
              <p:cNvSpPr>
                <a:spLocks noChangeArrowheads="1"/>
              </p:cNvSpPr>
              <p:nvPr/>
            </p:nvSpPr>
            <p:spPr bwMode="auto">
              <a:xfrm>
                <a:off x="4206" y="2713"/>
                <a:ext cx="1070" cy="8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0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979" name="Oval 349"/>
              <p:cNvSpPr>
                <a:spLocks noChangeArrowheads="1"/>
              </p:cNvSpPr>
              <p:nvPr/>
            </p:nvSpPr>
            <p:spPr bwMode="auto"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0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980" name="Oval 350"/>
              <p:cNvSpPr>
                <a:spLocks noChangeArrowheads="1"/>
              </p:cNvSpPr>
              <p:nvPr/>
            </p:nvSpPr>
            <p:spPr bwMode="auto"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algn="ctr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defRPr/>
                </a:pPr>
                <a:endParaRPr lang="en-US" altLang="en-US" sz="1800" kern="0">
                  <a:solidFill>
                    <a:srgbClr val="FF0000"/>
                  </a:solidFill>
                  <a:latin typeface="Arial" charset="0"/>
                </a:endParaRPr>
              </a:p>
            </p:txBody>
          </p:sp>
          <p:sp>
            <p:nvSpPr>
              <p:cNvPr id="981" name="Oval 351"/>
              <p:cNvSpPr>
                <a:spLocks noChangeArrowheads="1"/>
              </p:cNvSpPr>
              <p:nvPr/>
            </p:nvSpPr>
            <p:spPr bwMode="auto"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0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982" name="Rectangle 352"/>
              <p:cNvSpPr>
                <a:spLocks noChangeArrowheads="1"/>
              </p:cNvSpPr>
              <p:nvPr/>
            </p:nvSpPr>
            <p:spPr bwMode="auto"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0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</p:grpSp>
        <p:sp>
          <p:nvSpPr>
            <p:cNvPr id="863" name="Line 9"/>
            <p:cNvSpPr>
              <a:spLocks noChangeShapeType="1"/>
            </p:cNvSpPr>
            <p:nvPr/>
          </p:nvSpPr>
          <p:spPr bwMode="auto">
            <a:xfrm>
              <a:off x="3734" y="1642"/>
              <a:ext cx="708" cy="498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000" kern="0">
                <a:solidFill>
                  <a:srgbClr val="000000"/>
                </a:solidFill>
                <a:latin typeface="Arial" charset="0"/>
                <a:ea typeface="ＭＳ Ｐゴシック" charset="-128"/>
              </a:endParaRPr>
            </a:p>
          </p:txBody>
        </p:sp>
        <p:grpSp>
          <p:nvGrpSpPr>
            <p:cNvPr id="864" name="Group 19"/>
            <p:cNvGrpSpPr>
              <a:grpSpLocks/>
            </p:cNvGrpSpPr>
            <p:nvPr/>
          </p:nvGrpSpPr>
          <p:grpSpPr bwMode="auto">
            <a:xfrm>
              <a:off x="4466" y="1881"/>
              <a:ext cx="510" cy="661"/>
              <a:chOff x="4296" y="2627"/>
              <a:chExt cx="510" cy="661"/>
            </a:xfrm>
          </p:grpSpPr>
          <p:sp>
            <p:nvSpPr>
              <p:cNvPr id="944" name="Rectangle 20"/>
              <p:cNvSpPr>
                <a:spLocks noChangeArrowheads="1"/>
              </p:cNvSpPr>
              <p:nvPr/>
            </p:nvSpPr>
            <p:spPr bwMode="auto">
              <a:xfrm>
                <a:off x="4296" y="2652"/>
                <a:ext cx="510" cy="636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4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945" name="Text Box 21"/>
              <p:cNvSpPr txBox="1">
                <a:spLocks noChangeArrowheads="1"/>
              </p:cNvSpPr>
              <p:nvPr/>
            </p:nvSpPr>
            <p:spPr bwMode="auto">
              <a:xfrm>
                <a:off x="4304" y="2627"/>
                <a:ext cx="472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algn="ctr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defRPr/>
                </a:pPr>
                <a:r>
                  <a:rPr lang="en-US" altLang="en-US" sz="1600" kern="0">
                    <a:solidFill>
                      <a:srgbClr val="000000"/>
                    </a:solidFill>
                    <a:latin typeface="Arial" charset="0"/>
                  </a:rPr>
                  <a:t>mail</a:t>
                </a:r>
              </a:p>
              <a:p>
                <a:pPr algn="ctr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defRPr/>
                </a:pPr>
                <a:r>
                  <a:rPr lang="en-US" altLang="en-US" sz="1600" kern="0">
                    <a:solidFill>
                      <a:srgbClr val="000000"/>
                    </a:solidFill>
                    <a:latin typeface="Arial" charset="0"/>
                  </a:rPr>
                  <a:t>server</a:t>
                </a:r>
                <a:endParaRPr lang="en-US" altLang="en-US" sz="24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946" name="Rectangle 22"/>
              <p:cNvSpPr>
                <a:spLocks noChangeArrowheads="1"/>
              </p:cNvSpPr>
              <p:nvPr/>
            </p:nvSpPr>
            <p:spPr bwMode="auto"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4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947" name="Line 23"/>
              <p:cNvSpPr>
                <a:spLocks noChangeShapeType="1"/>
              </p:cNvSpPr>
              <p:nvPr/>
            </p:nvSpPr>
            <p:spPr bwMode="auto">
              <a:xfrm>
                <a:off x="4369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000" kern="0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948" name="Line 24"/>
              <p:cNvSpPr>
                <a:spLocks noChangeShapeType="1"/>
              </p:cNvSpPr>
              <p:nvPr/>
            </p:nvSpPr>
            <p:spPr bwMode="auto">
              <a:xfrm>
                <a:off x="4478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000" kern="0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949" name="Line 25"/>
              <p:cNvSpPr>
                <a:spLocks noChangeShapeType="1"/>
              </p:cNvSpPr>
              <p:nvPr/>
            </p:nvSpPr>
            <p:spPr bwMode="auto">
              <a:xfrm>
                <a:off x="4533" y="3035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000" kern="0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950" name="Line 26"/>
              <p:cNvSpPr>
                <a:spLocks noChangeShapeType="1"/>
              </p:cNvSpPr>
              <p:nvPr/>
            </p:nvSpPr>
            <p:spPr bwMode="auto">
              <a:xfrm>
                <a:off x="4590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000" kern="0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951" name="Line 27"/>
              <p:cNvSpPr>
                <a:spLocks noChangeShapeType="1"/>
              </p:cNvSpPr>
              <p:nvPr/>
            </p:nvSpPr>
            <p:spPr bwMode="auto">
              <a:xfrm>
                <a:off x="4651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000" kern="0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952" name="Line 28"/>
              <p:cNvSpPr>
                <a:spLocks noChangeShapeType="1"/>
              </p:cNvSpPr>
              <p:nvPr/>
            </p:nvSpPr>
            <p:spPr bwMode="auto">
              <a:xfrm>
                <a:off x="4707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000" kern="0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953" name="Line 29"/>
              <p:cNvSpPr>
                <a:spLocks noChangeShapeType="1"/>
              </p:cNvSpPr>
              <p:nvPr/>
            </p:nvSpPr>
            <p:spPr bwMode="auto">
              <a:xfrm>
                <a:off x="4422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000" kern="0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954" name="Rectangle 30"/>
              <p:cNvSpPr>
                <a:spLocks noChangeArrowheads="1"/>
              </p:cNvSpPr>
              <p:nvPr/>
            </p:nvSpPr>
            <p:spPr bwMode="auto"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4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955" name="Rectangle 31"/>
              <p:cNvSpPr>
                <a:spLocks noChangeArrowheads="1"/>
              </p:cNvSpPr>
              <p:nvPr/>
            </p:nvSpPr>
            <p:spPr bwMode="auto"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4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956" name="Rectangle 32"/>
              <p:cNvSpPr>
                <a:spLocks noChangeArrowheads="1"/>
              </p:cNvSpPr>
              <p:nvPr/>
            </p:nvSpPr>
            <p:spPr bwMode="auto"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4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957" name="Rectangle 33"/>
              <p:cNvSpPr>
                <a:spLocks noChangeArrowheads="1"/>
              </p:cNvSpPr>
              <p:nvPr/>
            </p:nvSpPr>
            <p:spPr bwMode="auto"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4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958" name="Rectangle 34"/>
              <p:cNvSpPr>
                <a:spLocks noChangeArrowheads="1"/>
              </p:cNvSpPr>
              <p:nvPr/>
            </p:nvSpPr>
            <p:spPr bwMode="auto"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4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</p:grpSp>
        <p:grpSp>
          <p:nvGrpSpPr>
            <p:cNvPr id="865" name="Group 60"/>
            <p:cNvGrpSpPr>
              <a:grpSpLocks/>
            </p:cNvGrpSpPr>
            <p:nvPr/>
          </p:nvGrpSpPr>
          <p:grpSpPr bwMode="auto">
            <a:xfrm>
              <a:off x="3206" y="2763"/>
              <a:ext cx="510" cy="661"/>
              <a:chOff x="4296" y="2627"/>
              <a:chExt cx="510" cy="661"/>
            </a:xfrm>
          </p:grpSpPr>
          <p:sp>
            <p:nvSpPr>
              <p:cNvPr id="929" name="Rectangle 61"/>
              <p:cNvSpPr>
                <a:spLocks noChangeArrowheads="1"/>
              </p:cNvSpPr>
              <p:nvPr/>
            </p:nvSpPr>
            <p:spPr bwMode="auto">
              <a:xfrm>
                <a:off x="4296" y="2652"/>
                <a:ext cx="510" cy="636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4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930" name="Text Box 62"/>
              <p:cNvSpPr txBox="1">
                <a:spLocks noChangeArrowheads="1"/>
              </p:cNvSpPr>
              <p:nvPr/>
            </p:nvSpPr>
            <p:spPr bwMode="auto">
              <a:xfrm>
                <a:off x="4304" y="2627"/>
                <a:ext cx="472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algn="ctr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defRPr/>
                </a:pPr>
                <a:r>
                  <a:rPr lang="en-US" altLang="en-US" sz="1600" kern="0">
                    <a:solidFill>
                      <a:srgbClr val="000000"/>
                    </a:solidFill>
                    <a:latin typeface="Arial" charset="0"/>
                  </a:rPr>
                  <a:t>mail</a:t>
                </a:r>
              </a:p>
              <a:p>
                <a:pPr algn="ctr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defRPr/>
                </a:pPr>
                <a:r>
                  <a:rPr lang="en-US" altLang="en-US" sz="1600" kern="0">
                    <a:solidFill>
                      <a:srgbClr val="000000"/>
                    </a:solidFill>
                    <a:latin typeface="Arial" charset="0"/>
                  </a:rPr>
                  <a:t>server</a:t>
                </a:r>
                <a:endParaRPr lang="en-US" altLang="en-US" sz="24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931" name="Rectangle 63"/>
              <p:cNvSpPr>
                <a:spLocks noChangeArrowheads="1"/>
              </p:cNvSpPr>
              <p:nvPr/>
            </p:nvSpPr>
            <p:spPr bwMode="auto"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4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932" name="Line 64"/>
              <p:cNvSpPr>
                <a:spLocks noChangeShapeType="1"/>
              </p:cNvSpPr>
              <p:nvPr/>
            </p:nvSpPr>
            <p:spPr bwMode="auto">
              <a:xfrm>
                <a:off x="4369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000" kern="0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933" name="Line 65"/>
              <p:cNvSpPr>
                <a:spLocks noChangeShapeType="1"/>
              </p:cNvSpPr>
              <p:nvPr/>
            </p:nvSpPr>
            <p:spPr bwMode="auto">
              <a:xfrm>
                <a:off x="4478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000" kern="0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934" name="Line 66"/>
              <p:cNvSpPr>
                <a:spLocks noChangeShapeType="1"/>
              </p:cNvSpPr>
              <p:nvPr/>
            </p:nvSpPr>
            <p:spPr bwMode="auto">
              <a:xfrm>
                <a:off x="4533" y="3035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000" kern="0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935" name="Line 67"/>
              <p:cNvSpPr>
                <a:spLocks noChangeShapeType="1"/>
              </p:cNvSpPr>
              <p:nvPr/>
            </p:nvSpPr>
            <p:spPr bwMode="auto">
              <a:xfrm>
                <a:off x="4590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000" kern="0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936" name="Line 68"/>
              <p:cNvSpPr>
                <a:spLocks noChangeShapeType="1"/>
              </p:cNvSpPr>
              <p:nvPr/>
            </p:nvSpPr>
            <p:spPr bwMode="auto">
              <a:xfrm>
                <a:off x="4651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000" kern="0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937" name="Line 69"/>
              <p:cNvSpPr>
                <a:spLocks noChangeShapeType="1"/>
              </p:cNvSpPr>
              <p:nvPr/>
            </p:nvSpPr>
            <p:spPr bwMode="auto">
              <a:xfrm>
                <a:off x="4707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000" kern="0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938" name="Line 70"/>
              <p:cNvSpPr>
                <a:spLocks noChangeShapeType="1"/>
              </p:cNvSpPr>
              <p:nvPr/>
            </p:nvSpPr>
            <p:spPr bwMode="auto">
              <a:xfrm>
                <a:off x="4422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000" kern="0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939" name="Rectangle 71"/>
              <p:cNvSpPr>
                <a:spLocks noChangeArrowheads="1"/>
              </p:cNvSpPr>
              <p:nvPr/>
            </p:nvSpPr>
            <p:spPr bwMode="auto"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4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940" name="Rectangle 72"/>
              <p:cNvSpPr>
                <a:spLocks noChangeArrowheads="1"/>
              </p:cNvSpPr>
              <p:nvPr/>
            </p:nvSpPr>
            <p:spPr bwMode="auto"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4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941" name="Rectangle 73"/>
              <p:cNvSpPr>
                <a:spLocks noChangeArrowheads="1"/>
              </p:cNvSpPr>
              <p:nvPr/>
            </p:nvSpPr>
            <p:spPr bwMode="auto"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4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942" name="Rectangle 74"/>
              <p:cNvSpPr>
                <a:spLocks noChangeArrowheads="1"/>
              </p:cNvSpPr>
              <p:nvPr/>
            </p:nvSpPr>
            <p:spPr bwMode="auto"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4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943" name="Rectangle 75"/>
              <p:cNvSpPr>
                <a:spLocks noChangeArrowheads="1"/>
              </p:cNvSpPr>
              <p:nvPr/>
            </p:nvSpPr>
            <p:spPr bwMode="auto"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4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</p:grpSp>
        <p:grpSp>
          <p:nvGrpSpPr>
            <p:cNvPr id="866" name="Group 96"/>
            <p:cNvGrpSpPr>
              <a:grpSpLocks/>
            </p:cNvGrpSpPr>
            <p:nvPr/>
          </p:nvGrpSpPr>
          <p:grpSpPr bwMode="auto">
            <a:xfrm>
              <a:off x="3206" y="1347"/>
              <a:ext cx="510" cy="661"/>
              <a:chOff x="4296" y="2627"/>
              <a:chExt cx="510" cy="661"/>
            </a:xfrm>
          </p:grpSpPr>
          <p:sp>
            <p:nvSpPr>
              <p:cNvPr id="914" name="Rectangle 97"/>
              <p:cNvSpPr>
                <a:spLocks noChangeArrowheads="1"/>
              </p:cNvSpPr>
              <p:nvPr/>
            </p:nvSpPr>
            <p:spPr bwMode="auto">
              <a:xfrm>
                <a:off x="4296" y="2652"/>
                <a:ext cx="510" cy="636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4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915" name="Text Box 98"/>
              <p:cNvSpPr txBox="1">
                <a:spLocks noChangeArrowheads="1"/>
              </p:cNvSpPr>
              <p:nvPr/>
            </p:nvSpPr>
            <p:spPr bwMode="auto">
              <a:xfrm>
                <a:off x="4304" y="2627"/>
                <a:ext cx="472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algn="ctr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defRPr/>
                </a:pPr>
                <a:r>
                  <a:rPr lang="en-US" altLang="en-US" sz="1600" kern="0">
                    <a:solidFill>
                      <a:srgbClr val="000000"/>
                    </a:solidFill>
                    <a:latin typeface="Arial" charset="0"/>
                  </a:rPr>
                  <a:t>mail</a:t>
                </a:r>
              </a:p>
              <a:p>
                <a:pPr algn="ctr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defRPr/>
                </a:pPr>
                <a:r>
                  <a:rPr lang="en-US" altLang="en-US" sz="1600" kern="0">
                    <a:solidFill>
                      <a:srgbClr val="000000"/>
                    </a:solidFill>
                    <a:latin typeface="Arial" charset="0"/>
                  </a:rPr>
                  <a:t>server</a:t>
                </a:r>
                <a:endParaRPr lang="en-US" altLang="en-US" sz="24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916" name="Rectangle 99"/>
              <p:cNvSpPr>
                <a:spLocks noChangeArrowheads="1"/>
              </p:cNvSpPr>
              <p:nvPr/>
            </p:nvSpPr>
            <p:spPr bwMode="auto"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4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917" name="Line 100"/>
              <p:cNvSpPr>
                <a:spLocks noChangeShapeType="1"/>
              </p:cNvSpPr>
              <p:nvPr/>
            </p:nvSpPr>
            <p:spPr bwMode="auto">
              <a:xfrm>
                <a:off x="4369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000" kern="0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918" name="Line 101"/>
              <p:cNvSpPr>
                <a:spLocks noChangeShapeType="1"/>
              </p:cNvSpPr>
              <p:nvPr/>
            </p:nvSpPr>
            <p:spPr bwMode="auto">
              <a:xfrm>
                <a:off x="4478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000" kern="0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919" name="Line 102"/>
              <p:cNvSpPr>
                <a:spLocks noChangeShapeType="1"/>
              </p:cNvSpPr>
              <p:nvPr/>
            </p:nvSpPr>
            <p:spPr bwMode="auto">
              <a:xfrm>
                <a:off x="4533" y="3035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000" kern="0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920" name="Line 103"/>
              <p:cNvSpPr>
                <a:spLocks noChangeShapeType="1"/>
              </p:cNvSpPr>
              <p:nvPr/>
            </p:nvSpPr>
            <p:spPr bwMode="auto">
              <a:xfrm>
                <a:off x="4590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000" kern="0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921" name="Line 104"/>
              <p:cNvSpPr>
                <a:spLocks noChangeShapeType="1"/>
              </p:cNvSpPr>
              <p:nvPr/>
            </p:nvSpPr>
            <p:spPr bwMode="auto">
              <a:xfrm>
                <a:off x="4651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000" kern="0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922" name="Line 105"/>
              <p:cNvSpPr>
                <a:spLocks noChangeShapeType="1"/>
              </p:cNvSpPr>
              <p:nvPr/>
            </p:nvSpPr>
            <p:spPr bwMode="auto">
              <a:xfrm>
                <a:off x="4707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000" kern="0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923" name="Line 106"/>
              <p:cNvSpPr>
                <a:spLocks noChangeShapeType="1"/>
              </p:cNvSpPr>
              <p:nvPr/>
            </p:nvSpPr>
            <p:spPr bwMode="auto">
              <a:xfrm>
                <a:off x="4422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000" kern="0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924" name="Rectangle 107"/>
              <p:cNvSpPr>
                <a:spLocks noChangeArrowheads="1"/>
              </p:cNvSpPr>
              <p:nvPr/>
            </p:nvSpPr>
            <p:spPr bwMode="auto"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4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925" name="Rectangle 108"/>
              <p:cNvSpPr>
                <a:spLocks noChangeArrowheads="1"/>
              </p:cNvSpPr>
              <p:nvPr/>
            </p:nvSpPr>
            <p:spPr bwMode="auto"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4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926" name="Rectangle 109"/>
              <p:cNvSpPr>
                <a:spLocks noChangeArrowheads="1"/>
              </p:cNvSpPr>
              <p:nvPr/>
            </p:nvSpPr>
            <p:spPr bwMode="auto"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4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927" name="Rectangle 110"/>
              <p:cNvSpPr>
                <a:spLocks noChangeArrowheads="1"/>
              </p:cNvSpPr>
              <p:nvPr/>
            </p:nvSpPr>
            <p:spPr bwMode="auto"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4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928" name="Rectangle 111"/>
              <p:cNvSpPr>
                <a:spLocks noChangeArrowheads="1"/>
              </p:cNvSpPr>
              <p:nvPr/>
            </p:nvSpPr>
            <p:spPr bwMode="auto"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4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</p:grpSp>
        <p:sp>
          <p:nvSpPr>
            <p:cNvPr id="867" name="Line 117"/>
            <p:cNvSpPr>
              <a:spLocks noChangeShapeType="1"/>
            </p:cNvSpPr>
            <p:nvPr/>
          </p:nvSpPr>
          <p:spPr bwMode="auto">
            <a:xfrm flipV="1">
              <a:off x="3734" y="2350"/>
              <a:ext cx="708" cy="684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000" kern="0">
                <a:solidFill>
                  <a:srgbClr val="000000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868" name="Line 118"/>
            <p:cNvSpPr>
              <a:spLocks noChangeShapeType="1"/>
            </p:cNvSpPr>
            <p:nvPr/>
          </p:nvSpPr>
          <p:spPr bwMode="auto">
            <a:xfrm flipH="1" flipV="1">
              <a:off x="3266" y="2020"/>
              <a:ext cx="0" cy="786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000" kern="0">
                <a:solidFill>
                  <a:srgbClr val="000000"/>
                </a:solidFill>
                <a:latin typeface="Arial" charset="0"/>
                <a:ea typeface="ＭＳ Ｐゴシック" charset="-128"/>
              </a:endParaRPr>
            </a:p>
          </p:txBody>
        </p:sp>
        <p:grpSp>
          <p:nvGrpSpPr>
            <p:cNvPr id="869" name="Group 119"/>
            <p:cNvGrpSpPr>
              <a:grpSpLocks/>
            </p:cNvGrpSpPr>
            <p:nvPr/>
          </p:nvGrpSpPr>
          <p:grpSpPr bwMode="auto">
            <a:xfrm>
              <a:off x="3795" y="2535"/>
              <a:ext cx="650" cy="288"/>
              <a:chOff x="3745" y="2537"/>
              <a:chExt cx="650" cy="288"/>
            </a:xfrm>
          </p:grpSpPr>
          <p:sp>
            <p:nvSpPr>
              <p:cNvPr id="912" name="Rectangle 120"/>
              <p:cNvSpPr>
                <a:spLocks noChangeArrowheads="1"/>
              </p:cNvSpPr>
              <p:nvPr/>
            </p:nvSpPr>
            <p:spPr bwMode="auto"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4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913" name="Text Box 121"/>
              <p:cNvSpPr txBox="1">
                <a:spLocks noChangeArrowheads="1"/>
              </p:cNvSpPr>
              <p:nvPr/>
            </p:nvSpPr>
            <p:spPr bwMode="auto">
              <a:xfrm>
                <a:off x="3745" y="2537"/>
                <a:ext cx="65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algn="ctr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defRPr/>
                </a:pPr>
                <a:r>
                  <a:rPr lang="en-US" altLang="en-US" sz="2400" kern="0">
                    <a:solidFill>
                      <a:srgbClr val="CC0000"/>
                    </a:solidFill>
                    <a:latin typeface="Arial" charset="0"/>
                  </a:rPr>
                  <a:t>SMTP</a:t>
                </a:r>
              </a:p>
            </p:txBody>
          </p:sp>
        </p:grpSp>
        <p:grpSp>
          <p:nvGrpSpPr>
            <p:cNvPr id="870" name="Group 122"/>
            <p:cNvGrpSpPr>
              <a:grpSpLocks/>
            </p:cNvGrpSpPr>
            <p:nvPr/>
          </p:nvGrpSpPr>
          <p:grpSpPr bwMode="auto">
            <a:xfrm>
              <a:off x="3771" y="1743"/>
              <a:ext cx="650" cy="288"/>
              <a:chOff x="3745" y="2537"/>
              <a:chExt cx="650" cy="288"/>
            </a:xfrm>
          </p:grpSpPr>
          <p:sp>
            <p:nvSpPr>
              <p:cNvPr id="910" name="Rectangle 123"/>
              <p:cNvSpPr>
                <a:spLocks noChangeArrowheads="1"/>
              </p:cNvSpPr>
              <p:nvPr/>
            </p:nvSpPr>
            <p:spPr bwMode="auto"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4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911" name="Text Box 124"/>
              <p:cNvSpPr txBox="1">
                <a:spLocks noChangeArrowheads="1"/>
              </p:cNvSpPr>
              <p:nvPr/>
            </p:nvSpPr>
            <p:spPr bwMode="auto">
              <a:xfrm>
                <a:off x="3745" y="2537"/>
                <a:ext cx="65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algn="ctr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defRPr/>
                </a:pPr>
                <a:r>
                  <a:rPr lang="en-US" altLang="en-US" sz="2400" kern="0">
                    <a:solidFill>
                      <a:srgbClr val="CC0000"/>
                    </a:solidFill>
                    <a:latin typeface="Arial" charset="0"/>
                  </a:rPr>
                  <a:t>SMTP</a:t>
                </a:r>
              </a:p>
            </p:txBody>
          </p:sp>
        </p:grpSp>
        <p:grpSp>
          <p:nvGrpSpPr>
            <p:cNvPr id="871" name="Group 125"/>
            <p:cNvGrpSpPr>
              <a:grpSpLocks/>
            </p:cNvGrpSpPr>
            <p:nvPr/>
          </p:nvGrpSpPr>
          <p:grpSpPr bwMode="auto">
            <a:xfrm>
              <a:off x="2937" y="2193"/>
              <a:ext cx="650" cy="288"/>
              <a:chOff x="3745" y="2537"/>
              <a:chExt cx="650" cy="288"/>
            </a:xfrm>
          </p:grpSpPr>
          <p:sp>
            <p:nvSpPr>
              <p:cNvPr id="908" name="Rectangle 126"/>
              <p:cNvSpPr>
                <a:spLocks noChangeArrowheads="1"/>
              </p:cNvSpPr>
              <p:nvPr/>
            </p:nvSpPr>
            <p:spPr bwMode="auto"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4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909" name="Text Box 127"/>
              <p:cNvSpPr txBox="1">
                <a:spLocks noChangeArrowheads="1"/>
              </p:cNvSpPr>
              <p:nvPr/>
            </p:nvSpPr>
            <p:spPr bwMode="auto">
              <a:xfrm>
                <a:off x="3745" y="2537"/>
                <a:ext cx="65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algn="ctr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defRPr/>
                </a:pPr>
                <a:r>
                  <a:rPr lang="en-US" altLang="en-US" sz="2400" kern="0">
                    <a:solidFill>
                      <a:srgbClr val="CC0000"/>
                    </a:solidFill>
                    <a:latin typeface="Arial" charset="0"/>
                  </a:rPr>
                  <a:t>SMTP</a:t>
                </a:r>
              </a:p>
            </p:txBody>
          </p:sp>
        </p:grpSp>
        <p:grpSp>
          <p:nvGrpSpPr>
            <p:cNvPr id="872" name="Group 423"/>
            <p:cNvGrpSpPr>
              <a:grpSpLocks/>
            </p:cNvGrpSpPr>
            <p:nvPr/>
          </p:nvGrpSpPr>
          <p:grpSpPr bwMode="auto">
            <a:xfrm>
              <a:off x="3587" y="886"/>
              <a:ext cx="575" cy="664"/>
              <a:chOff x="3574" y="550"/>
              <a:chExt cx="575" cy="664"/>
            </a:xfrm>
          </p:grpSpPr>
          <p:grpSp>
            <p:nvGrpSpPr>
              <p:cNvPr id="903" name="Group 353"/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906" name="Picture 354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907" name="Freeform 355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4164 w 356"/>
                    <a:gd name="T3" fmla="*/ 1678 h 368"/>
                    <a:gd name="T4" fmla="*/ 28666 w 356"/>
                    <a:gd name="T5" fmla="*/ 34959 h 368"/>
                    <a:gd name="T6" fmla="*/ 6318 w 356"/>
                    <a:gd name="T7" fmla="*/ 4372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2000" kern="0">
                    <a:solidFill>
                      <a:srgbClr val="000000"/>
                    </a:solidFill>
                    <a:latin typeface="Arial" charset="0"/>
                    <a:ea typeface="ＭＳ Ｐゴシック" charset="-128"/>
                  </a:endParaRPr>
                </a:p>
              </p:txBody>
            </p:sp>
          </p:grpSp>
          <p:sp>
            <p:nvSpPr>
              <p:cNvPr id="904" name="Rectangle 115"/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4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905" name="Text Box 116"/>
              <p:cNvSpPr txBox="1">
                <a:spLocks noChangeArrowheads="1"/>
              </p:cNvSpPr>
              <p:nvPr/>
            </p:nvSpPr>
            <p:spPr bwMode="auto">
              <a:xfrm>
                <a:off x="3574" y="550"/>
                <a:ext cx="436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algn="ctr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defRPr/>
                </a:pPr>
                <a:r>
                  <a:rPr lang="en-US" altLang="en-US" sz="1600" kern="0">
                    <a:solidFill>
                      <a:srgbClr val="000000"/>
                    </a:solidFill>
                    <a:latin typeface="Arial" charset="0"/>
                  </a:rPr>
                  <a:t>user</a:t>
                </a:r>
              </a:p>
              <a:p>
                <a:pPr algn="ctr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defRPr/>
                </a:pPr>
                <a:r>
                  <a:rPr lang="en-US" altLang="en-US" sz="1600" kern="0">
                    <a:solidFill>
                      <a:srgbClr val="000000"/>
                    </a:solidFill>
                    <a:latin typeface="Arial" charset="0"/>
                  </a:rPr>
                  <a:t>agent</a:t>
                </a:r>
                <a:endParaRPr lang="en-US" altLang="en-US" sz="24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</p:grpSp>
        <p:grpSp>
          <p:nvGrpSpPr>
            <p:cNvPr id="873" name="Group 424"/>
            <p:cNvGrpSpPr>
              <a:grpSpLocks/>
            </p:cNvGrpSpPr>
            <p:nvPr/>
          </p:nvGrpSpPr>
          <p:grpSpPr bwMode="auto">
            <a:xfrm>
              <a:off x="4870" y="1400"/>
              <a:ext cx="575" cy="664"/>
              <a:chOff x="3574" y="550"/>
              <a:chExt cx="575" cy="664"/>
            </a:xfrm>
          </p:grpSpPr>
          <p:grpSp>
            <p:nvGrpSpPr>
              <p:cNvPr id="898" name="Group 425"/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901" name="Picture 426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902" name="Freeform 427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4164 w 356"/>
                    <a:gd name="T3" fmla="*/ 1678 h 368"/>
                    <a:gd name="T4" fmla="*/ 28666 w 356"/>
                    <a:gd name="T5" fmla="*/ 34959 h 368"/>
                    <a:gd name="T6" fmla="*/ 6318 w 356"/>
                    <a:gd name="T7" fmla="*/ 4372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2000" kern="0">
                    <a:solidFill>
                      <a:srgbClr val="000000"/>
                    </a:solidFill>
                    <a:latin typeface="Arial" charset="0"/>
                    <a:ea typeface="ＭＳ Ｐゴシック" charset="-128"/>
                  </a:endParaRPr>
                </a:p>
              </p:txBody>
            </p:sp>
          </p:grpSp>
          <p:sp>
            <p:nvSpPr>
              <p:cNvPr id="899" name="Rectangle 115"/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4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900" name="Text Box 116"/>
              <p:cNvSpPr txBox="1">
                <a:spLocks noChangeArrowheads="1"/>
              </p:cNvSpPr>
              <p:nvPr/>
            </p:nvSpPr>
            <p:spPr bwMode="auto">
              <a:xfrm>
                <a:off x="3574" y="550"/>
                <a:ext cx="436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algn="ctr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defRPr/>
                </a:pPr>
                <a:r>
                  <a:rPr lang="en-US" altLang="en-US" sz="1600" kern="0">
                    <a:solidFill>
                      <a:srgbClr val="000000"/>
                    </a:solidFill>
                    <a:latin typeface="Arial" charset="0"/>
                  </a:rPr>
                  <a:t>user</a:t>
                </a:r>
              </a:p>
              <a:p>
                <a:pPr algn="ctr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defRPr/>
                </a:pPr>
                <a:r>
                  <a:rPr lang="en-US" altLang="en-US" sz="1600" kern="0">
                    <a:solidFill>
                      <a:srgbClr val="000000"/>
                    </a:solidFill>
                    <a:latin typeface="Arial" charset="0"/>
                  </a:rPr>
                  <a:t>agent</a:t>
                </a:r>
                <a:endParaRPr lang="en-US" altLang="en-US" sz="24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</p:grpSp>
        <p:grpSp>
          <p:nvGrpSpPr>
            <p:cNvPr id="874" name="Group 430"/>
            <p:cNvGrpSpPr>
              <a:grpSpLocks/>
            </p:cNvGrpSpPr>
            <p:nvPr/>
          </p:nvGrpSpPr>
          <p:grpSpPr bwMode="auto">
            <a:xfrm>
              <a:off x="5082" y="1880"/>
              <a:ext cx="575" cy="664"/>
              <a:chOff x="3574" y="550"/>
              <a:chExt cx="575" cy="664"/>
            </a:xfrm>
          </p:grpSpPr>
          <p:grpSp>
            <p:nvGrpSpPr>
              <p:cNvPr id="893" name="Group 431"/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896" name="Picture 432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897" name="Freeform 433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4164 w 356"/>
                    <a:gd name="T3" fmla="*/ 1678 h 368"/>
                    <a:gd name="T4" fmla="*/ 28666 w 356"/>
                    <a:gd name="T5" fmla="*/ 34959 h 368"/>
                    <a:gd name="T6" fmla="*/ 6318 w 356"/>
                    <a:gd name="T7" fmla="*/ 4372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2000" kern="0">
                    <a:solidFill>
                      <a:srgbClr val="000000"/>
                    </a:solidFill>
                    <a:latin typeface="Arial" charset="0"/>
                    <a:ea typeface="ＭＳ Ｐゴシック" charset="-128"/>
                  </a:endParaRPr>
                </a:p>
              </p:txBody>
            </p:sp>
          </p:grpSp>
          <p:sp>
            <p:nvSpPr>
              <p:cNvPr id="894" name="Rectangle 115"/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4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895" name="Text Box 116"/>
              <p:cNvSpPr txBox="1">
                <a:spLocks noChangeArrowheads="1"/>
              </p:cNvSpPr>
              <p:nvPr/>
            </p:nvSpPr>
            <p:spPr bwMode="auto">
              <a:xfrm>
                <a:off x="3574" y="550"/>
                <a:ext cx="436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algn="ctr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defRPr/>
                </a:pPr>
                <a:r>
                  <a:rPr lang="en-US" altLang="en-US" sz="1600" kern="0">
                    <a:solidFill>
                      <a:srgbClr val="000000"/>
                    </a:solidFill>
                    <a:latin typeface="Arial" charset="0"/>
                  </a:rPr>
                  <a:t>user</a:t>
                </a:r>
              </a:p>
              <a:p>
                <a:pPr algn="ctr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defRPr/>
                </a:pPr>
                <a:r>
                  <a:rPr lang="en-US" altLang="en-US" sz="1600" kern="0">
                    <a:solidFill>
                      <a:srgbClr val="000000"/>
                    </a:solidFill>
                    <a:latin typeface="Arial" charset="0"/>
                  </a:rPr>
                  <a:t>agent</a:t>
                </a:r>
                <a:endParaRPr lang="en-US" altLang="en-US" sz="24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</p:grpSp>
        <p:grpSp>
          <p:nvGrpSpPr>
            <p:cNvPr id="875" name="Group 436"/>
            <p:cNvGrpSpPr>
              <a:grpSpLocks/>
            </p:cNvGrpSpPr>
            <p:nvPr/>
          </p:nvGrpSpPr>
          <p:grpSpPr bwMode="auto">
            <a:xfrm>
              <a:off x="4999" y="2540"/>
              <a:ext cx="575" cy="664"/>
              <a:chOff x="3574" y="550"/>
              <a:chExt cx="575" cy="664"/>
            </a:xfrm>
          </p:grpSpPr>
          <p:grpSp>
            <p:nvGrpSpPr>
              <p:cNvPr id="888" name="Group 437"/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891" name="Picture 438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892" name="Freeform 439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4164 w 356"/>
                    <a:gd name="T3" fmla="*/ 1678 h 368"/>
                    <a:gd name="T4" fmla="*/ 28666 w 356"/>
                    <a:gd name="T5" fmla="*/ 34959 h 368"/>
                    <a:gd name="T6" fmla="*/ 6318 w 356"/>
                    <a:gd name="T7" fmla="*/ 4372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2000" kern="0">
                    <a:solidFill>
                      <a:srgbClr val="000000"/>
                    </a:solidFill>
                    <a:latin typeface="Arial" charset="0"/>
                    <a:ea typeface="ＭＳ Ｐゴシック" charset="-128"/>
                  </a:endParaRPr>
                </a:p>
              </p:txBody>
            </p:sp>
          </p:grpSp>
          <p:sp>
            <p:nvSpPr>
              <p:cNvPr id="889" name="Rectangle 115"/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4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890" name="Text Box 116"/>
              <p:cNvSpPr txBox="1">
                <a:spLocks noChangeArrowheads="1"/>
              </p:cNvSpPr>
              <p:nvPr/>
            </p:nvSpPr>
            <p:spPr bwMode="auto">
              <a:xfrm>
                <a:off x="3574" y="550"/>
                <a:ext cx="436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algn="ctr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defRPr/>
                </a:pPr>
                <a:r>
                  <a:rPr lang="en-US" altLang="en-US" sz="1600" kern="0">
                    <a:solidFill>
                      <a:srgbClr val="000000"/>
                    </a:solidFill>
                    <a:latin typeface="Arial" charset="0"/>
                  </a:rPr>
                  <a:t>user</a:t>
                </a:r>
              </a:p>
              <a:p>
                <a:pPr algn="ctr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defRPr/>
                </a:pPr>
                <a:r>
                  <a:rPr lang="en-US" altLang="en-US" sz="1600" kern="0">
                    <a:solidFill>
                      <a:srgbClr val="000000"/>
                    </a:solidFill>
                    <a:latin typeface="Arial" charset="0"/>
                  </a:rPr>
                  <a:t>agent</a:t>
                </a:r>
                <a:endParaRPr lang="en-US" altLang="en-US" sz="24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</p:grpSp>
        <p:grpSp>
          <p:nvGrpSpPr>
            <p:cNvPr id="876" name="Group 442"/>
            <p:cNvGrpSpPr>
              <a:grpSpLocks/>
            </p:cNvGrpSpPr>
            <p:nvPr/>
          </p:nvGrpSpPr>
          <p:grpSpPr bwMode="auto">
            <a:xfrm>
              <a:off x="3354" y="3446"/>
              <a:ext cx="575" cy="664"/>
              <a:chOff x="3574" y="550"/>
              <a:chExt cx="575" cy="664"/>
            </a:xfrm>
          </p:grpSpPr>
          <p:grpSp>
            <p:nvGrpSpPr>
              <p:cNvPr id="883" name="Group 443"/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886" name="Picture 444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887" name="Freeform 445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4164 w 356"/>
                    <a:gd name="T3" fmla="*/ 1678 h 368"/>
                    <a:gd name="T4" fmla="*/ 28666 w 356"/>
                    <a:gd name="T5" fmla="*/ 34959 h 368"/>
                    <a:gd name="T6" fmla="*/ 6318 w 356"/>
                    <a:gd name="T7" fmla="*/ 4372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2000" kern="0">
                    <a:solidFill>
                      <a:srgbClr val="000000"/>
                    </a:solidFill>
                    <a:latin typeface="Arial" charset="0"/>
                    <a:ea typeface="ＭＳ Ｐゴシック" charset="-128"/>
                  </a:endParaRPr>
                </a:p>
              </p:txBody>
            </p:sp>
          </p:grpSp>
          <p:sp>
            <p:nvSpPr>
              <p:cNvPr id="884" name="Rectangle 115"/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4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885" name="Text Box 116"/>
              <p:cNvSpPr txBox="1">
                <a:spLocks noChangeArrowheads="1"/>
              </p:cNvSpPr>
              <p:nvPr/>
            </p:nvSpPr>
            <p:spPr bwMode="auto">
              <a:xfrm>
                <a:off x="3574" y="550"/>
                <a:ext cx="436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algn="ctr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defRPr/>
                </a:pPr>
                <a:r>
                  <a:rPr lang="en-US" altLang="en-US" sz="1600" kern="0">
                    <a:solidFill>
                      <a:srgbClr val="000000"/>
                    </a:solidFill>
                    <a:latin typeface="Arial" charset="0"/>
                  </a:rPr>
                  <a:t>user</a:t>
                </a:r>
              </a:p>
              <a:p>
                <a:pPr algn="ctr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defRPr/>
                </a:pPr>
                <a:r>
                  <a:rPr lang="en-US" altLang="en-US" sz="1600" kern="0">
                    <a:solidFill>
                      <a:srgbClr val="000000"/>
                    </a:solidFill>
                    <a:latin typeface="Arial" charset="0"/>
                  </a:rPr>
                  <a:t>agent</a:t>
                </a:r>
                <a:endParaRPr lang="en-US" altLang="en-US" sz="24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</p:grpSp>
        <p:grpSp>
          <p:nvGrpSpPr>
            <p:cNvPr id="877" name="Group 448"/>
            <p:cNvGrpSpPr>
              <a:grpSpLocks/>
            </p:cNvGrpSpPr>
            <p:nvPr/>
          </p:nvGrpSpPr>
          <p:grpSpPr bwMode="auto">
            <a:xfrm>
              <a:off x="3813" y="3056"/>
              <a:ext cx="575" cy="664"/>
              <a:chOff x="3574" y="550"/>
              <a:chExt cx="575" cy="664"/>
            </a:xfrm>
          </p:grpSpPr>
          <p:grpSp>
            <p:nvGrpSpPr>
              <p:cNvPr id="878" name="Group 449"/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881" name="Picture 4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882" name="Freeform 4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4164 w 356"/>
                    <a:gd name="T3" fmla="*/ 1678 h 368"/>
                    <a:gd name="T4" fmla="*/ 28666 w 356"/>
                    <a:gd name="T5" fmla="*/ 34959 h 368"/>
                    <a:gd name="T6" fmla="*/ 6318 w 356"/>
                    <a:gd name="T7" fmla="*/ 4372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2000" kern="0">
                    <a:solidFill>
                      <a:srgbClr val="000000"/>
                    </a:solidFill>
                    <a:latin typeface="Arial" charset="0"/>
                    <a:ea typeface="ＭＳ Ｐゴシック" charset="-128"/>
                  </a:endParaRPr>
                </a:p>
              </p:txBody>
            </p:sp>
          </p:grpSp>
          <p:sp>
            <p:nvSpPr>
              <p:cNvPr id="879" name="Rectangle 115"/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4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880" name="Text Box 116"/>
              <p:cNvSpPr txBox="1">
                <a:spLocks noChangeArrowheads="1"/>
              </p:cNvSpPr>
              <p:nvPr/>
            </p:nvSpPr>
            <p:spPr bwMode="auto">
              <a:xfrm>
                <a:off x="3574" y="550"/>
                <a:ext cx="436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algn="ctr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defRPr/>
                </a:pPr>
                <a:r>
                  <a:rPr lang="en-US" altLang="en-US" sz="1600" kern="0">
                    <a:solidFill>
                      <a:srgbClr val="000000"/>
                    </a:solidFill>
                    <a:latin typeface="Arial" charset="0"/>
                  </a:rPr>
                  <a:t>user</a:t>
                </a:r>
              </a:p>
              <a:p>
                <a:pPr algn="ctr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defRPr/>
                </a:pPr>
                <a:r>
                  <a:rPr lang="en-US" altLang="en-US" sz="1600" kern="0">
                    <a:solidFill>
                      <a:srgbClr val="000000"/>
                    </a:solidFill>
                    <a:latin typeface="Arial" charset="0"/>
                  </a:rPr>
                  <a:t>agent</a:t>
                </a:r>
                <a:endParaRPr lang="en-US" altLang="en-US" sz="24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80128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SMTP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Simple Mail Transfer Protocol used in sending and receiving e-mail.</a:t>
            </a:r>
          </a:p>
          <a:p>
            <a:r>
              <a:rPr lang="en-US" altLang="en-US" dirty="0"/>
              <a:t>It use TCP to reliably transfer email message from client to server using </a:t>
            </a:r>
            <a:r>
              <a:rPr lang="en-US" altLang="en-US" dirty="0">
                <a:solidFill>
                  <a:schemeClr val="accent6"/>
                </a:solidFill>
              </a:rPr>
              <a:t>port 25</a:t>
            </a:r>
            <a:r>
              <a:rPr lang="en-US" altLang="en-US" dirty="0"/>
              <a:t>.</a:t>
            </a:r>
          </a:p>
          <a:p>
            <a:pPr lvl="0"/>
            <a:r>
              <a:rPr lang="en-IN" dirty="0"/>
              <a:t>It restricts the body (not just the headers) of all mail messages to simple 7-bit ASCII.</a:t>
            </a:r>
            <a:endParaRPr lang="en-US" dirty="0"/>
          </a:p>
          <a:p>
            <a:pPr lvl="0"/>
            <a:r>
              <a:rPr lang="en-IN" dirty="0"/>
              <a:t>SMTP does not use intermediate mail servers for sending mail.</a:t>
            </a:r>
          </a:p>
          <a:p>
            <a:r>
              <a:rPr lang="en-IN" dirty="0"/>
              <a:t>If receiving end mail server is down, the message remains in sending end mail server and waits for a new attempt. </a:t>
            </a:r>
            <a:endParaRPr lang="en-US" dirty="0"/>
          </a:p>
          <a:p>
            <a:endParaRPr lang="en-US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0816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SMTP - Example</a:t>
            </a:r>
            <a:endParaRPr lang="en-US" dirty="0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54295AF2-692E-0C46-AD95-9CEA90F99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/>
          <p:cNvPicPr/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34688" y="1021582"/>
            <a:ext cx="7322625" cy="22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Line Callout 2 7"/>
          <p:cNvSpPr/>
          <p:nvPr/>
        </p:nvSpPr>
        <p:spPr>
          <a:xfrm>
            <a:off x="2434686" y="3800508"/>
            <a:ext cx="6785514" cy="1609693"/>
          </a:xfrm>
          <a:prstGeom prst="borderCallout2">
            <a:avLst>
              <a:gd name="adj1" fmla="val 1439"/>
              <a:gd name="adj2" fmla="val 174"/>
              <a:gd name="adj3" fmla="val -74994"/>
              <a:gd name="adj4" fmla="val 257"/>
              <a:gd name="adj5" fmla="val -136221"/>
              <a:gd name="adj6" fmla="val 11825"/>
            </a:avLst>
          </a:prstGeom>
          <a:solidFill>
            <a:srgbClr val="FBF4FC"/>
          </a:solidFill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n-US" altLang="en-US" sz="2400" dirty="0">
                <a:ea typeface="ＭＳ Ｐゴシック" charset="-128"/>
              </a:rPr>
              <a:t>1) Alice uses user agent to compose message </a:t>
            </a:r>
            <a:r>
              <a:rPr lang="en-US" altLang="ja-JP" sz="2400" dirty="0"/>
              <a:t>to </a:t>
            </a:r>
            <a:r>
              <a:rPr lang="en-US" altLang="ja-JP" sz="2400" i="1" dirty="0" err="1">
                <a:latin typeface="Courier New" charset="0"/>
                <a:ea typeface="Courier New" charset="0"/>
                <a:cs typeface="Courier New" charset="0"/>
              </a:rPr>
              <a:t>computer@darshan.ac.in</a:t>
            </a:r>
            <a:endParaRPr lang="en-US" altLang="ja-JP" sz="2400" i="1" dirty="0"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9" name="Line Callout 2 8"/>
          <p:cNvSpPr/>
          <p:nvPr/>
        </p:nvSpPr>
        <p:spPr>
          <a:xfrm>
            <a:off x="2587086" y="3800508"/>
            <a:ext cx="6785514" cy="1609693"/>
          </a:xfrm>
          <a:prstGeom prst="borderCallout2">
            <a:avLst>
              <a:gd name="adj1" fmla="val 1439"/>
              <a:gd name="adj2" fmla="val 174"/>
              <a:gd name="adj3" fmla="val -38847"/>
              <a:gd name="adj4" fmla="val 28530"/>
              <a:gd name="adj5" fmla="val -118610"/>
              <a:gd name="adj6" fmla="val 28416"/>
            </a:avLst>
          </a:prstGeom>
          <a:solidFill>
            <a:srgbClr val="FBF4FC"/>
          </a:solidFill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n-US" altLang="en-US" sz="2400" dirty="0">
                <a:ea typeface="ＭＳ Ｐゴシック" charset="-128"/>
              </a:rPr>
              <a:t>2) Alice</a:t>
            </a:r>
            <a:r>
              <a:rPr lang="en-US" altLang="en-US" sz="2400" dirty="0"/>
              <a:t>’</a:t>
            </a:r>
            <a:r>
              <a:rPr lang="en-US" altLang="ja-JP" sz="2400" dirty="0"/>
              <a:t>s user agent sends message to her mail server; message placed in message queue.</a:t>
            </a:r>
          </a:p>
        </p:txBody>
      </p:sp>
      <p:sp>
        <p:nvSpPr>
          <p:cNvPr id="13" name="Line Callout 2 12"/>
          <p:cNvSpPr/>
          <p:nvPr/>
        </p:nvSpPr>
        <p:spPr>
          <a:xfrm>
            <a:off x="2743200" y="3810001"/>
            <a:ext cx="6785514" cy="1609693"/>
          </a:xfrm>
          <a:prstGeom prst="borderCallout2">
            <a:avLst>
              <a:gd name="adj1" fmla="val 1439"/>
              <a:gd name="adj2" fmla="val 174"/>
              <a:gd name="adj3" fmla="val -65853"/>
              <a:gd name="adj4" fmla="val 28309"/>
              <a:gd name="adj5" fmla="val -127922"/>
              <a:gd name="adj6" fmla="val 37473"/>
            </a:avLst>
          </a:prstGeom>
          <a:solidFill>
            <a:srgbClr val="FBF4FC"/>
          </a:solidFill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n-US" altLang="en-US" sz="2400">
                <a:ea typeface="ＭＳ Ｐゴシック" charset="-128"/>
              </a:rPr>
              <a:t>3) Client side of SMTP opens TCP connection with Bob</a:t>
            </a:r>
            <a:r>
              <a:rPr lang="en-US" altLang="en-US" sz="2400"/>
              <a:t>’</a:t>
            </a:r>
            <a:r>
              <a:rPr lang="en-US" altLang="ja-JP" sz="2400"/>
              <a:t>s mail server</a:t>
            </a:r>
            <a:endParaRPr lang="en-US" altLang="en-US" sz="2400">
              <a:ea typeface="ＭＳ Ｐゴシック" charset="-128"/>
            </a:endParaRPr>
          </a:p>
        </p:txBody>
      </p:sp>
      <p:sp>
        <p:nvSpPr>
          <p:cNvPr id="14" name="Line Callout 2 13"/>
          <p:cNvSpPr/>
          <p:nvPr/>
        </p:nvSpPr>
        <p:spPr>
          <a:xfrm>
            <a:off x="2895600" y="3810001"/>
            <a:ext cx="6785514" cy="1609693"/>
          </a:xfrm>
          <a:prstGeom prst="borderCallout2">
            <a:avLst>
              <a:gd name="adj1" fmla="val 1439"/>
              <a:gd name="adj2" fmla="val 174"/>
              <a:gd name="adj3" fmla="val -58403"/>
              <a:gd name="adj4" fmla="val 48412"/>
              <a:gd name="adj5" fmla="val -118610"/>
              <a:gd name="adj6" fmla="val 48077"/>
            </a:avLst>
          </a:prstGeom>
          <a:solidFill>
            <a:srgbClr val="FBF4FC"/>
          </a:solidFill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altLang="en-US" sz="2400" dirty="0">
                <a:latin typeface="Gill Sans MT" charset="0"/>
                <a:ea typeface="ＭＳ Ｐゴシック" charset="-128"/>
              </a:rPr>
              <a:t>4)</a:t>
            </a:r>
            <a:r>
              <a:rPr lang="en-US" altLang="en-US" sz="2400" dirty="0">
                <a:ea typeface="ＭＳ Ｐゴシック" charset="-128"/>
              </a:rPr>
              <a:t> SMTP client sends Alice</a:t>
            </a:r>
            <a:r>
              <a:rPr lang="en-US" altLang="en-US" sz="2400" dirty="0"/>
              <a:t>’</a:t>
            </a:r>
            <a:r>
              <a:rPr lang="en-US" altLang="ja-JP" sz="2400" dirty="0"/>
              <a:t>s message over the TCP connection</a:t>
            </a:r>
          </a:p>
        </p:txBody>
      </p:sp>
      <p:sp>
        <p:nvSpPr>
          <p:cNvPr id="15" name="Line Callout 2 14"/>
          <p:cNvSpPr/>
          <p:nvPr/>
        </p:nvSpPr>
        <p:spPr>
          <a:xfrm>
            <a:off x="3048000" y="3810001"/>
            <a:ext cx="6785514" cy="1609693"/>
          </a:xfrm>
          <a:prstGeom prst="borderCallout2">
            <a:avLst>
              <a:gd name="adj1" fmla="val 1439"/>
              <a:gd name="adj2" fmla="val 174"/>
              <a:gd name="adj3" fmla="val -37916"/>
              <a:gd name="adj4" fmla="val 57028"/>
              <a:gd name="adj5" fmla="val -102779"/>
              <a:gd name="adj6" fmla="val 56914"/>
            </a:avLst>
          </a:prstGeom>
          <a:solidFill>
            <a:srgbClr val="FBF4FC"/>
          </a:solidFill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n-US" altLang="en-US" sz="2400" dirty="0">
                <a:ea typeface="ＭＳ Ｐゴシック" charset="-128"/>
              </a:rPr>
              <a:t>5) Bob</a:t>
            </a:r>
            <a:r>
              <a:rPr lang="en-US" altLang="en-US" sz="2400" dirty="0"/>
              <a:t>’</a:t>
            </a:r>
            <a:r>
              <a:rPr lang="en-US" altLang="ja-JP" sz="2400" dirty="0"/>
              <a:t>s mail server places the message in Bob’s mailbox</a:t>
            </a:r>
          </a:p>
        </p:txBody>
      </p:sp>
      <p:sp>
        <p:nvSpPr>
          <p:cNvPr id="16" name="Line Callout 2 15"/>
          <p:cNvSpPr/>
          <p:nvPr/>
        </p:nvSpPr>
        <p:spPr>
          <a:xfrm>
            <a:off x="3196686" y="3810001"/>
            <a:ext cx="6785514" cy="1609693"/>
          </a:xfrm>
          <a:prstGeom prst="borderCallout2">
            <a:avLst>
              <a:gd name="adj1" fmla="val 1439"/>
              <a:gd name="adj2" fmla="val 174"/>
              <a:gd name="adj3" fmla="val -40709"/>
              <a:gd name="adj4" fmla="val 69841"/>
              <a:gd name="adj5" fmla="val -120472"/>
              <a:gd name="adj6" fmla="val 69506"/>
            </a:avLst>
          </a:prstGeom>
          <a:solidFill>
            <a:srgbClr val="FBF4FC"/>
          </a:solidFill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n-US" altLang="en-US" sz="2400" dirty="0">
                <a:ea typeface="ＭＳ Ｐゴシック" charset="-128"/>
              </a:rPr>
              <a:t>6) Bob invokes his user agent to read message</a:t>
            </a:r>
          </a:p>
        </p:txBody>
      </p:sp>
    </p:spTree>
    <p:extLst>
      <p:ext uri="{BB962C8B-B14F-4D97-AF65-F5344CB8AC3E}">
        <p14:creationId xmlns:p14="http://schemas.microsoft.com/office/powerpoint/2010/main" val="1683564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  <p:bldP spid="9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SMTP - Example</a:t>
            </a:r>
            <a:endParaRPr lang="en-US" dirty="0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54295AF2-692E-0C46-AD95-9CEA90F99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/>
          <p:cNvPicPr/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34688" y="1021582"/>
            <a:ext cx="7322625" cy="22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Content Placeholder 2"/>
          <p:cNvSpPr txBox="1">
            <a:spLocks/>
          </p:cNvSpPr>
          <p:nvPr/>
        </p:nvSpPr>
        <p:spPr>
          <a:xfrm>
            <a:off x="404081" y="3389520"/>
            <a:ext cx="4977215" cy="34289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24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ZapfDingbatsITC" charset="0"/>
              <a:buChar char="✔"/>
              <a:defRPr sz="20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altLang="en-US" sz="2000" dirty="0">
                <a:ea typeface="ＭＳ Ｐゴシック" charset="-128"/>
              </a:rPr>
              <a:t>Alice uses user agent to compose message </a:t>
            </a:r>
            <a:r>
              <a:rPr lang="en-US" altLang="ja-JP" sz="2000" dirty="0"/>
              <a:t>to </a:t>
            </a:r>
            <a:r>
              <a:rPr lang="en-US" altLang="ja-JP" sz="2000" i="1" dirty="0" err="1">
                <a:latin typeface="Courier New" charset="0"/>
                <a:ea typeface="Courier New" charset="0"/>
                <a:cs typeface="Courier New" charset="0"/>
                <a:hlinkClick r:id="rId3"/>
              </a:rPr>
              <a:t>computer@darshan.ac.in</a:t>
            </a:r>
            <a:endParaRPr lang="en-US" altLang="ja-JP" sz="2000" i="1" dirty="0">
              <a:latin typeface="Courier New" charset="0"/>
              <a:ea typeface="Courier New" charset="0"/>
              <a:cs typeface="Courier New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altLang="en-US" sz="2000" dirty="0">
                <a:ea typeface="ＭＳ Ｐゴシック" charset="-128"/>
              </a:rPr>
              <a:t>Alice</a:t>
            </a:r>
            <a:r>
              <a:rPr lang="en-US" altLang="en-US" sz="2000" dirty="0"/>
              <a:t>’</a:t>
            </a:r>
            <a:r>
              <a:rPr lang="en-US" altLang="ja-JP" sz="2000" dirty="0"/>
              <a:t>s user agent sends message to her mail server; message placed in message queue.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altLang="en-US" sz="2000" dirty="0">
                <a:ea typeface="ＭＳ Ｐゴシック" charset="-128"/>
              </a:rPr>
              <a:t>Client side of SMTP opens TCP connection with Bob</a:t>
            </a:r>
            <a:r>
              <a:rPr lang="en-US" altLang="en-US" sz="2000" dirty="0"/>
              <a:t>’</a:t>
            </a:r>
            <a:r>
              <a:rPr lang="en-US" altLang="ja-JP" sz="2000" dirty="0"/>
              <a:t>s mail server</a:t>
            </a:r>
            <a:r>
              <a:rPr lang="en-US" altLang="ja-JP" sz="2200" dirty="0">
                <a:latin typeface="+mn-lt"/>
              </a:rPr>
              <a:t>.</a:t>
            </a:r>
            <a:endParaRPr lang="en-US" altLang="en-US" sz="2200" dirty="0">
              <a:latin typeface="+mn-lt"/>
              <a:ea typeface="ＭＳ Ｐゴシック" charset="-128"/>
            </a:endParaRPr>
          </a:p>
        </p:txBody>
      </p:sp>
      <p:sp>
        <p:nvSpPr>
          <p:cNvPr id="18" name="Content Placeholder 3"/>
          <p:cNvSpPr txBox="1">
            <a:spLocks/>
          </p:cNvSpPr>
          <p:nvPr/>
        </p:nvSpPr>
        <p:spPr>
          <a:xfrm>
            <a:off x="6894786" y="3443457"/>
            <a:ext cx="5086614" cy="29718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altLang="en-US" sz="2200" dirty="0">
                <a:ea typeface="ＭＳ Ｐゴシック" charset="-128"/>
              </a:rPr>
              <a:t>4. SMTP client sends Alice</a:t>
            </a:r>
            <a:r>
              <a:rPr lang="en-US" altLang="en-US" sz="2200" dirty="0"/>
              <a:t>’</a:t>
            </a:r>
            <a:r>
              <a:rPr lang="en-US" altLang="ja-JP" sz="2200" dirty="0"/>
              <a:t>s message over the TCP connection.</a:t>
            </a:r>
          </a:p>
          <a:p>
            <a:pPr algn="just">
              <a:buFont typeface="Arial" pitchFamily="34" charset="0"/>
              <a:buNone/>
            </a:pPr>
            <a:r>
              <a:rPr lang="en-US" altLang="en-US" sz="2200" dirty="0">
                <a:ea typeface="ＭＳ Ｐゴシック" charset="-128"/>
              </a:rPr>
              <a:t>5. Bob</a:t>
            </a:r>
            <a:r>
              <a:rPr lang="en-US" altLang="en-US" sz="2200" dirty="0"/>
              <a:t>’</a:t>
            </a:r>
            <a:r>
              <a:rPr lang="en-US" altLang="ja-JP" sz="2200" dirty="0"/>
              <a:t>s mail server places the message in Bob’s mailbox.</a:t>
            </a:r>
          </a:p>
          <a:p>
            <a:pPr algn="just">
              <a:buFont typeface="Arial" pitchFamily="34" charset="0"/>
              <a:buNone/>
            </a:pPr>
            <a:r>
              <a:rPr lang="en-US" altLang="en-US" sz="2200" dirty="0">
                <a:ea typeface="ＭＳ Ｐゴシック" charset="-128"/>
              </a:rPr>
              <a:t>6. Bob invokes his user agent to read message.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6074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dirty="0"/>
              <a:t>Mail Access Protocols (POP3 and IMAP)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POP3</a:t>
            </a:r>
          </a:p>
          <a:p>
            <a:pPr lvl="1"/>
            <a:r>
              <a:rPr lang="en-US" dirty="0"/>
              <a:t>Post Office Protocol – Version 3</a:t>
            </a:r>
          </a:p>
          <a:p>
            <a:r>
              <a:rPr lang="en-US" dirty="0"/>
              <a:t>IMAP</a:t>
            </a:r>
          </a:p>
          <a:p>
            <a:pPr lvl="1"/>
            <a:r>
              <a:rPr lang="en-US" dirty="0"/>
              <a:t>Internet Mail Access Protocol</a:t>
            </a:r>
          </a:p>
          <a:p>
            <a:r>
              <a:rPr lang="en-US" dirty="0"/>
              <a:t>A mail access protocol, such as POP3, is used to transfer mail from the recipient’s mail server to the recipient’s user agent.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26" name="Picture 1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850" y="990600"/>
            <a:ext cx="824230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466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POP3 – Post Office Version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9467985" cy="5590565"/>
          </a:xfrm>
        </p:spPr>
        <p:txBody>
          <a:bodyPr>
            <a:normAutofit/>
          </a:bodyPr>
          <a:lstStyle/>
          <a:p>
            <a:pPr lvl="0"/>
            <a:r>
              <a:rPr lang="en-IN" dirty="0"/>
              <a:t>POP3 is an extremely simple mail access protocol.</a:t>
            </a:r>
            <a:endParaRPr lang="en-US" dirty="0"/>
          </a:p>
          <a:p>
            <a:pPr lvl="0"/>
            <a:r>
              <a:rPr lang="en-IN" dirty="0"/>
              <a:t>With the TCP connection established, POP3 progresses through three phases: </a:t>
            </a:r>
            <a:r>
              <a:rPr lang="en-IN" dirty="0">
                <a:solidFill>
                  <a:schemeClr val="accent6"/>
                </a:solidFill>
              </a:rPr>
              <a:t>authorization</a:t>
            </a:r>
            <a:r>
              <a:rPr lang="en-IN" dirty="0"/>
              <a:t>, </a:t>
            </a:r>
            <a:r>
              <a:rPr lang="en-IN" dirty="0">
                <a:solidFill>
                  <a:schemeClr val="accent6"/>
                </a:solidFill>
              </a:rPr>
              <a:t>transaction and update</a:t>
            </a:r>
            <a:r>
              <a:rPr lang="en-IN" dirty="0"/>
              <a:t>.</a:t>
            </a:r>
            <a:endParaRPr lang="en-US" dirty="0"/>
          </a:p>
          <a:p>
            <a:pPr lvl="0"/>
            <a:r>
              <a:rPr lang="en-IN" dirty="0"/>
              <a:t>In </a:t>
            </a:r>
            <a:r>
              <a:rPr lang="en-IN" dirty="0">
                <a:solidFill>
                  <a:schemeClr val="accent6"/>
                </a:solidFill>
              </a:rPr>
              <a:t>authorization</a:t>
            </a:r>
            <a:r>
              <a:rPr lang="en-IN" dirty="0"/>
              <a:t>, the user agent sends a username and a password to authenticate the user. </a:t>
            </a:r>
            <a:endParaRPr lang="en-US" dirty="0"/>
          </a:p>
          <a:p>
            <a:pPr lvl="0"/>
            <a:r>
              <a:rPr lang="en-US" dirty="0"/>
              <a:t>I</a:t>
            </a:r>
            <a:r>
              <a:rPr lang="en-IN" dirty="0"/>
              <a:t>n </a:t>
            </a:r>
            <a:r>
              <a:rPr lang="en-IN" dirty="0">
                <a:solidFill>
                  <a:schemeClr val="accent6"/>
                </a:solidFill>
              </a:rPr>
              <a:t>transaction</a:t>
            </a:r>
            <a:r>
              <a:rPr lang="en-IN" dirty="0"/>
              <a:t>, the user agent retrieves messages, mark messages for deletion, remove deletion marks and obtain mail statistics. </a:t>
            </a:r>
            <a:endParaRPr lang="en-US" dirty="0"/>
          </a:p>
          <a:p>
            <a:pPr lvl="0"/>
            <a:r>
              <a:rPr lang="en-IN" dirty="0"/>
              <a:t>In </a:t>
            </a:r>
            <a:r>
              <a:rPr lang="en-IN" dirty="0">
                <a:solidFill>
                  <a:schemeClr val="accent6"/>
                </a:solidFill>
              </a:rPr>
              <a:t>update</a:t>
            </a:r>
            <a:r>
              <a:rPr lang="en-IN" dirty="0"/>
              <a:t>, after the quit command by client, ending the POP3 session; the mail server deletes marked messages.</a:t>
            </a:r>
          </a:p>
          <a:p>
            <a:pPr lvl="0"/>
            <a:r>
              <a:rPr lang="en-IN" dirty="0"/>
              <a:t>POP3 is designed to delete mail on the server as soon as the user has downloaded it. 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A9191A-E5DE-7A48-89BA-D22DD234BC9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599165" y="1164754"/>
            <a:ext cx="1036145" cy="10361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6B8D96-0CA7-1242-9D51-E55CB14AC19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750048" y="1261677"/>
            <a:ext cx="939222" cy="9392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9B091C2-0574-5D44-A38B-1F4933B65C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5131" y="2654452"/>
            <a:ext cx="964917" cy="9649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C60BF1-86A8-0E42-8226-1863408840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6014" y="2591454"/>
            <a:ext cx="939222" cy="9392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4919EEB-B9FC-0543-B5DE-95633F1363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5968" y="3921231"/>
            <a:ext cx="964918" cy="964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941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1" algn="l" rtl="0">
              <a:lnSpc>
                <a:spcPct val="90000"/>
              </a:lnSpc>
              <a:spcBef>
                <a:spcPct val="0"/>
              </a:spcBef>
            </a:pPr>
            <a:r>
              <a: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IMAP - Internet Mail Access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en-US" dirty="0"/>
              <a:t>To keeps all messages in </a:t>
            </a:r>
            <a:r>
              <a:rPr lang="en-US" altLang="en-US" dirty="0">
                <a:solidFill>
                  <a:schemeClr val="accent6"/>
                </a:solidFill>
              </a:rPr>
              <a:t>one place</a:t>
            </a:r>
            <a:r>
              <a:rPr lang="en-US" altLang="en-US" dirty="0"/>
              <a:t>: at server</a:t>
            </a:r>
          </a:p>
          <a:p>
            <a:r>
              <a:rPr lang="en-IN" dirty="0"/>
              <a:t>The recipient can then move and organize the message into a new, user-created folder, read the message, delete the message, move messages from one folder to another and so on. </a:t>
            </a:r>
            <a:endParaRPr lang="en-US" dirty="0"/>
          </a:p>
          <a:p>
            <a:pPr lvl="0"/>
            <a:r>
              <a:rPr lang="en-IN" dirty="0"/>
              <a:t>To allow users to search remote folders for messages matching specific criteria. </a:t>
            </a:r>
            <a:endParaRPr lang="en-US" dirty="0"/>
          </a:p>
          <a:p>
            <a:pPr lvl="0"/>
            <a:r>
              <a:rPr lang="en-IN" dirty="0"/>
              <a:t>Also permit a user agent to obtain components of messages, When </a:t>
            </a:r>
            <a:r>
              <a:rPr lang="en-IN" dirty="0">
                <a:solidFill>
                  <a:schemeClr val="accent6"/>
                </a:solidFill>
              </a:rPr>
              <a:t>low-bandwidth connection </a:t>
            </a:r>
            <a:r>
              <a:rPr lang="en-IN" dirty="0"/>
              <a:t>between the user agent and its mail server. </a:t>
            </a:r>
            <a:endParaRPr lang="en-US" dirty="0"/>
          </a:p>
          <a:p>
            <a:pPr lvl="0"/>
            <a:r>
              <a:rPr lang="en-IN" dirty="0"/>
              <a:t>In this case, user not to download all the messages in its mailbox, particularly avoiding long messages like an audio or video clip.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1192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B63752-E559-2D7D-B07E-7247A3E3B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SNMP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7D7DAC-E896-3AD4-B62A-EDA9115DD7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Tx/>
              <a:buChar char="-"/>
            </a:pPr>
            <a:r>
              <a:rPr lang="en-US" dirty="0"/>
              <a:t>Simple Network Management Protocol</a:t>
            </a:r>
          </a:p>
          <a:p>
            <a:pPr marL="342900" indent="-342900">
              <a:buFontTx/>
              <a:buChar char="-"/>
            </a:pPr>
            <a:r>
              <a:rPr lang="en-IN" dirty="0"/>
              <a:t>SNMP Architecture</a:t>
            </a:r>
          </a:p>
          <a:p>
            <a:pPr marL="342900" indent="-342900">
              <a:buFontTx/>
              <a:buChar char="-"/>
            </a:pPr>
            <a:r>
              <a:rPr lang="en-US" dirty="0"/>
              <a:t>SNMP Operation</a:t>
            </a:r>
          </a:p>
        </p:txBody>
      </p:sp>
    </p:spTree>
    <p:extLst>
      <p:ext uri="{BB962C8B-B14F-4D97-AF65-F5344CB8AC3E}">
        <p14:creationId xmlns:p14="http://schemas.microsoft.com/office/powerpoint/2010/main" val="30395494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C8295FD-45C8-CACE-5AF9-8B1B51217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SNMP - Simple Network Management Protocol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E406907-3089-ECCF-BCCC-063E5A6A9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SNMP is an </a:t>
            </a:r>
            <a:r>
              <a:rPr lang="en-US" dirty="0">
                <a:solidFill>
                  <a:srgbClr val="C00000"/>
                </a:solidFill>
              </a:rPr>
              <a:t>Application Layer protocol </a:t>
            </a:r>
            <a:r>
              <a:rPr lang="en-US" dirty="0"/>
              <a:t>used to </a:t>
            </a:r>
            <a:r>
              <a:rPr lang="en-US" dirty="0">
                <a:solidFill>
                  <a:srgbClr val="C00000"/>
                </a:solidFill>
              </a:rPr>
              <a:t>monitor, manage, and control network devices</a:t>
            </a:r>
            <a:r>
              <a:rPr lang="en-US" dirty="0"/>
              <a:t> such as routers, switches, servers, firewalls, printers, and more.</a:t>
            </a:r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5E2D2C7-D654-F7BE-217B-8F7AF0C087B2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05063" y="1829926"/>
          <a:ext cx="11518232" cy="2286000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3192379">
                  <a:extLst>
                    <a:ext uri="{9D8B030D-6E8A-4147-A177-3AD203B41FA5}">
                      <a16:colId xmlns:a16="http://schemas.microsoft.com/office/drawing/2014/main" val="397654095"/>
                    </a:ext>
                  </a:extLst>
                </a:gridCol>
                <a:gridCol w="8325853">
                  <a:extLst>
                    <a:ext uri="{9D8B030D-6E8A-4147-A177-3AD203B41FA5}">
                      <a16:colId xmlns:a16="http://schemas.microsoft.com/office/drawing/2014/main" val="14297476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0775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Protocol Type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Application Layer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32275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Transport Protocol</a:t>
                      </a:r>
                      <a:endParaRPr lang="en-I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Uses UDP (typically ports </a:t>
                      </a:r>
                      <a:r>
                        <a:rPr lang="en-IN" sz="2400" b="1"/>
                        <a:t>161</a:t>
                      </a:r>
                      <a:r>
                        <a:rPr lang="en-IN" sz="2400"/>
                        <a:t> and </a:t>
                      </a:r>
                      <a:r>
                        <a:rPr lang="en-IN" sz="2400" b="1"/>
                        <a:t>162</a:t>
                      </a:r>
                      <a:r>
                        <a:rPr lang="en-IN" sz="240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460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Purpose</a:t>
                      </a:r>
                      <a:endParaRPr lang="en-I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Network monitoring and device management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5895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Communication</a:t>
                      </a:r>
                      <a:endParaRPr lang="en-I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Manager ↔ Agent model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7262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220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44476D9-D091-843C-5FB0-924174F01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SNMP Architecture</a:t>
            </a:r>
            <a:endParaRPr lang="en-US" dirty="0"/>
          </a:p>
        </p:txBody>
      </p:sp>
      <p:pic>
        <p:nvPicPr>
          <p:cNvPr id="9" name="Picture 4" descr="Understanding the Basics of SNMP (Simple Network Management Protocol) -  ClouDNS Blog">
            <a:extLst>
              <a:ext uri="{FF2B5EF4-FFF2-40B4-BE49-F238E27FC236}">
                <a16:creationId xmlns:a16="http://schemas.microsoft.com/office/drawing/2014/main" id="{F500D35A-1988-2B42-9EB8-47CF8A1A61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34408" y="1058779"/>
            <a:ext cx="9923184" cy="4740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3390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C8784-AAD9-0557-36D5-127952800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C99FB27-1AB5-65E8-3956-3D164577D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SNMP Architecture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53C66-B177-476E-FC57-68EFB4D05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SNMP Manager</a:t>
            </a:r>
          </a:p>
          <a:p>
            <a:pPr lvl="1"/>
            <a:r>
              <a:rPr lang="en-IN" dirty="0"/>
              <a:t>Central system (like a NMS – Network Management Station)</a:t>
            </a:r>
          </a:p>
          <a:p>
            <a:pPr lvl="1"/>
            <a:r>
              <a:rPr lang="en-IN" dirty="0"/>
              <a:t>Sends requests and receives responses or traps</a:t>
            </a:r>
          </a:p>
          <a:p>
            <a:r>
              <a:rPr lang="en-IN" dirty="0">
                <a:solidFill>
                  <a:srgbClr val="C00000"/>
                </a:solidFill>
              </a:rPr>
              <a:t>SNMP Agent</a:t>
            </a:r>
          </a:p>
          <a:p>
            <a:pPr lvl="1"/>
            <a:r>
              <a:rPr lang="en-IN" dirty="0"/>
              <a:t>Software running on network devices</a:t>
            </a:r>
          </a:p>
          <a:p>
            <a:pPr lvl="1"/>
            <a:r>
              <a:rPr lang="en-IN" dirty="0"/>
              <a:t>Collects and stores management data in a structure (MIB)</a:t>
            </a:r>
          </a:p>
          <a:p>
            <a:r>
              <a:rPr lang="en-IN" dirty="0">
                <a:solidFill>
                  <a:srgbClr val="C00000"/>
                </a:solidFill>
              </a:rPr>
              <a:t>MIB (Management Information Base)</a:t>
            </a:r>
          </a:p>
          <a:p>
            <a:pPr lvl="1"/>
            <a:r>
              <a:rPr lang="en-IN" dirty="0"/>
              <a:t>Hierarchical database of device properties</a:t>
            </a:r>
          </a:p>
          <a:p>
            <a:pPr lvl="1"/>
            <a:r>
              <a:rPr lang="en-IN" dirty="0"/>
              <a:t>Uses OIDs (Object Identifiers) to locate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07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6EF62-2128-1340-CCBA-271149B16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SNMP Operation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8CBCB41-E2CF-D360-E07D-D9EA1CA121D7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179888" y="4110600"/>
          <a:ext cx="6568410" cy="2377440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1459230">
                  <a:extLst>
                    <a:ext uri="{9D8B030D-6E8A-4147-A177-3AD203B41FA5}">
                      <a16:colId xmlns:a16="http://schemas.microsoft.com/office/drawing/2014/main" val="64550667"/>
                    </a:ext>
                  </a:extLst>
                </a:gridCol>
                <a:gridCol w="5109180">
                  <a:extLst>
                    <a:ext uri="{9D8B030D-6E8A-4147-A177-3AD203B41FA5}">
                      <a16:colId xmlns:a16="http://schemas.microsoft.com/office/drawing/2014/main" val="1899127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solidFill>
                            <a:srgbClr val="C00000"/>
                          </a:solidFill>
                        </a:rPr>
                        <a:t>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solidFill>
                            <a:srgbClr val="C00000"/>
                          </a:solidFill>
                        </a:rPr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4444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GET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Retrieve a value from an agent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82789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SET</a:t>
                      </a:r>
                      <a:endParaRPr lang="en-IN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Modify a value on an agent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6496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GET-NEXT</a:t>
                      </a:r>
                      <a:endParaRPr lang="en-IN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Traverse MIB tree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8645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TRAP</a:t>
                      </a:r>
                      <a:endParaRPr lang="en-IN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Asynchronous alert from agent to manager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97190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INFORM</a:t>
                      </a:r>
                      <a:endParaRPr lang="en-IN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Like TRAP but expects acknowledgment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2163908"/>
                  </a:ext>
                </a:extLst>
              </a:tr>
            </a:tbl>
          </a:graphicData>
        </a:graphic>
      </p:graphicFrame>
      <p:pic>
        <p:nvPicPr>
          <p:cNvPr id="8" name="Picture 2" descr="What is SNMP? | SNMP Ports - Protocols &amp; Versions - Site24x7">
            <a:extLst>
              <a:ext uri="{FF2B5EF4-FFF2-40B4-BE49-F238E27FC236}">
                <a16:creationId xmlns:a16="http://schemas.microsoft.com/office/drawing/2014/main" id="{20145EBE-3F2C-3CCC-EED5-568BE4ECB0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8466"/>
          <a:stretch>
            <a:fillRect/>
          </a:stretch>
        </p:blipFill>
        <p:spPr bwMode="auto">
          <a:xfrm>
            <a:off x="1251994" y="1192463"/>
            <a:ext cx="8893927" cy="2327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BE649E3-41B8-0D80-A3E3-7AF059067CFA}"/>
              </a:ext>
            </a:extLst>
          </p:cNvPr>
          <p:cNvSpPr txBox="1"/>
          <p:nvPr/>
        </p:nvSpPr>
        <p:spPr>
          <a:xfrm>
            <a:off x="6882063" y="4110600"/>
            <a:ext cx="5130049" cy="204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2000" b="1" dirty="0">
                <a:solidFill>
                  <a:srgbClr val="C00000"/>
                </a:solidFill>
              </a:rPr>
              <a:t>Example Use Cases</a:t>
            </a:r>
          </a:p>
          <a:p>
            <a:pPr marL="352425" indent="-352425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</a:pPr>
            <a:r>
              <a:rPr lang="en-IN" sz="2000" dirty="0"/>
              <a:t>Monitor CPU or memory usage on a server</a:t>
            </a:r>
          </a:p>
          <a:p>
            <a:pPr marL="352425" indent="-352425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</a:pPr>
            <a:r>
              <a:rPr lang="en-IN" sz="2000" dirty="0"/>
              <a:t>Track interface traffic on a router</a:t>
            </a:r>
          </a:p>
          <a:p>
            <a:pPr marL="352425" indent="-352425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</a:pPr>
            <a:r>
              <a:rPr lang="en-IN" sz="2000" dirty="0"/>
              <a:t>Receive alerts when a link goes down</a:t>
            </a:r>
          </a:p>
          <a:p>
            <a:pPr marL="352425" indent="-352425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</a:pPr>
            <a:r>
              <a:rPr lang="en-IN" sz="2000" dirty="0"/>
              <a:t>Auto-generate network maps and logs</a:t>
            </a:r>
          </a:p>
        </p:txBody>
      </p:sp>
    </p:spTree>
    <p:extLst>
      <p:ext uri="{BB962C8B-B14F-4D97-AF65-F5344CB8AC3E}">
        <p14:creationId xmlns:p14="http://schemas.microsoft.com/office/powerpoint/2010/main" val="2720327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25C88A2-0B47-4156-66BB-EF947FB95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DHCP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B05720-A9AF-17BF-3E37-41613E0C26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Dynamic Host Configuration Protocol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4902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5B17E-A53D-875C-070E-D1EE378FD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DHCP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DF941-37A3-DEDF-CCED-905286CD9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DHCP stands for </a:t>
            </a:r>
            <a:r>
              <a:rPr lang="en-US" dirty="0">
                <a:solidFill>
                  <a:srgbClr val="C00000"/>
                </a:solidFill>
              </a:rPr>
              <a:t>Dynamic Host Configuration Protocol</a:t>
            </a:r>
            <a:r>
              <a:rPr lang="en-US" dirty="0"/>
              <a:t>.</a:t>
            </a:r>
          </a:p>
          <a:p>
            <a:r>
              <a:rPr lang="en-US" dirty="0"/>
              <a:t>It is a network management protocol used to </a:t>
            </a:r>
            <a:r>
              <a:rPr lang="en-US" dirty="0">
                <a:solidFill>
                  <a:srgbClr val="C00000"/>
                </a:solidFill>
              </a:rPr>
              <a:t>automatically assign IP addresses </a:t>
            </a:r>
            <a:r>
              <a:rPr lang="en-US" dirty="0"/>
              <a:t>and </a:t>
            </a:r>
            <a:r>
              <a:rPr lang="en-US" dirty="0">
                <a:solidFill>
                  <a:srgbClr val="C00000"/>
                </a:solidFill>
              </a:rPr>
              <a:t>other network settings </a:t>
            </a:r>
            <a:r>
              <a:rPr lang="en-US" dirty="0"/>
              <a:t>to computers and devices on a network.</a:t>
            </a:r>
          </a:p>
          <a:p>
            <a:r>
              <a:rPr lang="en-IN" dirty="0"/>
              <a:t>Why we need DHCP?</a:t>
            </a:r>
          </a:p>
          <a:p>
            <a:r>
              <a:rPr lang="en-IN" dirty="0">
                <a:solidFill>
                  <a:srgbClr val="C00000"/>
                </a:solidFill>
              </a:rPr>
              <a:t>Example</a:t>
            </a:r>
            <a:r>
              <a:rPr lang="en-IN" dirty="0"/>
              <a:t>: Imagine you have 100 computers in a lab.</a:t>
            </a:r>
          </a:p>
          <a:p>
            <a:r>
              <a:rPr lang="en-IN" dirty="0">
                <a:solidFill>
                  <a:srgbClr val="C00000"/>
                </a:solidFill>
              </a:rPr>
              <a:t>Without DHCP</a:t>
            </a:r>
            <a:r>
              <a:rPr lang="en-IN" dirty="0"/>
              <a:t>, You would have to </a:t>
            </a:r>
            <a:r>
              <a:rPr lang="en-IN" dirty="0">
                <a:solidFill>
                  <a:srgbClr val="C00000"/>
                </a:solidFill>
              </a:rPr>
              <a:t>manually configure </a:t>
            </a:r>
            <a:r>
              <a:rPr lang="en-IN" dirty="0"/>
              <a:t>each computer with an IP address, subnet mask, gateway, and DNS.</a:t>
            </a:r>
          </a:p>
          <a:p>
            <a:r>
              <a:rPr lang="en-IN" dirty="0">
                <a:solidFill>
                  <a:srgbClr val="C00000"/>
                </a:solidFill>
              </a:rPr>
              <a:t>With DHCP</a:t>
            </a:r>
            <a:r>
              <a:rPr lang="en-IN" dirty="0"/>
              <a:t>, All devices get their IP addresses </a:t>
            </a:r>
            <a:r>
              <a:rPr lang="en-IN" dirty="0">
                <a:solidFill>
                  <a:srgbClr val="C00000"/>
                </a:solidFill>
              </a:rPr>
              <a:t>automatically</a:t>
            </a:r>
            <a:r>
              <a:rPr lang="en-IN" dirty="0"/>
              <a:t>, saving time and avoiding mistakes like duplicate IPs.</a:t>
            </a:r>
          </a:p>
          <a:p>
            <a:r>
              <a:rPr lang="en-IN" dirty="0">
                <a:solidFill>
                  <a:srgbClr val="C00000"/>
                </a:solidFill>
              </a:rPr>
              <a:t>Benefits of DHCP</a:t>
            </a:r>
          </a:p>
          <a:p>
            <a:pPr lvl="1"/>
            <a:r>
              <a:rPr lang="en-IN" dirty="0"/>
              <a:t>Automatic IP assignment.</a:t>
            </a:r>
          </a:p>
          <a:p>
            <a:pPr lvl="1"/>
            <a:r>
              <a:rPr lang="en-IN" dirty="0"/>
              <a:t>Prevents IP conflicts.</a:t>
            </a:r>
          </a:p>
          <a:p>
            <a:pPr lvl="1"/>
            <a:r>
              <a:rPr lang="en-IN" dirty="0"/>
              <a:t>Saves time for network admins.</a:t>
            </a:r>
          </a:p>
          <a:p>
            <a:pPr lvl="1"/>
            <a:r>
              <a:rPr lang="en-IN" dirty="0"/>
              <a:t>Supports mobile devices easily (laptops, phones, IoT).</a:t>
            </a:r>
          </a:p>
          <a:p>
            <a:endParaRPr lang="en-US" dirty="0"/>
          </a:p>
          <a:p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96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E9EE1-F80F-7CE3-1E49-6B70D80DB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does DHCP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E7838-C31F-7317-1C0B-472B9D3EE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DHCP works using a </a:t>
            </a:r>
            <a:r>
              <a:rPr lang="en-IN" dirty="0">
                <a:solidFill>
                  <a:srgbClr val="C00000"/>
                </a:solidFill>
              </a:rPr>
              <a:t>client-server model</a:t>
            </a:r>
            <a:r>
              <a:rPr lang="en-IN" b="1" dirty="0"/>
              <a:t>.</a:t>
            </a:r>
            <a:endParaRPr lang="en-IN" dirty="0"/>
          </a:p>
          <a:p>
            <a:r>
              <a:rPr lang="en-IN" b="1" dirty="0">
                <a:solidFill>
                  <a:srgbClr val="C00000"/>
                </a:solidFill>
              </a:rPr>
              <a:t>DHCP Server</a:t>
            </a:r>
            <a:r>
              <a:rPr lang="en-IN" b="1" dirty="0"/>
              <a:t>:</a:t>
            </a:r>
            <a:r>
              <a:rPr lang="en-IN" dirty="0"/>
              <a:t> A device (like a router or dedicated server) that manages and gives out IP addresses.</a:t>
            </a:r>
          </a:p>
          <a:p>
            <a:r>
              <a:rPr lang="en-IN" b="1" dirty="0">
                <a:solidFill>
                  <a:srgbClr val="C00000"/>
                </a:solidFill>
              </a:rPr>
              <a:t>DHCP Client</a:t>
            </a:r>
            <a:r>
              <a:rPr lang="en-IN" b="1" dirty="0"/>
              <a:t>:</a:t>
            </a:r>
            <a:r>
              <a:rPr lang="en-IN" dirty="0"/>
              <a:t> The device (laptop, phone, PC) that needs an IP address.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The IP address given by DHCP is not permanent. </a:t>
            </a:r>
          </a:p>
          <a:p>
            <a:r>
              <a:rPr lang="en-IN" dirty="0"/>
              <a:t>It is given for a certain </a:t>
            </a:r>
            <a:r>
              <a:rPr lang="en-IN" dirty="0">
                <a:solidFill>
                  <a:srgbClr val="C00000"/>
                </a:solidFill>
              </a:rPr>
              <a:t>time period</a:t>
            </a:r>
            <a:r>
              <a:rPr lang="en-IN" dirty="0"/>
              <a:t>, called a </a:t>
            </a:r>
            <a:r>
              <a:rPr lang="en-IN" dirty="0">
                <a:solidFill>
                  <a:srgbClr val="C00000"/>
                </a:solidFill>
              </a:rPr>
              <a:t>lease time</a:t>
            </a:r>
            <a:r>
              <a:rPr lang="en-IN" dirty="0"/>
              <a:t>. </a:t>
            </a:r>
          </a:p>
          <a:p>
            <a:r>
              <a:rPr lang="en-IN" dirty="0"/>
              <a:t>After it expires, the device must renew the lease or get a new IP.</a:t>
            </a:r>
          </a:p>
          <a:p>
            <a:endParaRPr lang="en-US" dirty="0"/>
          </a:p>
        </p:txBody>
      </p:sp>
      <p:pic>
        <p:nvPicPr>
          <p:cNvPr id="1028" name="Picture 4" descr="How DHCP Works – Step-by-Step Guide for CCNA">
            <a:extLst>
              <a:ext uri="{FF2B5EF4-FFF2-40B4-BE49-F238E27FC236}">
                <a16:creationId xmlns:a16="http://schemas.microsoft.com/office/drawing/2014/main" id="{59F6C2A8-4DCC-1D08-7C8A-04AE058A1F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1712"/>
          <a:stretch>
            <a:fillRect/>
          </a:stretch>
        </p:blipFill>
        <p:spPr bwMode="auto">
          <a:xfrm>
            <a:off x="3697111" y="2467395"/>
            <a:ext cx="4797778" cy="2382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4630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FB345-C5BB-4F8F-A64C-6E3BDAD77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DHCP Process (DORA Process)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8F537-972B-2A10-27BB-70F6368C8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4"/>
            <a:ext cx="7353352" cy="5590565"/>
          </a:xfrm>
        </p:spPr>
        <p:txBody>
          <a:bodyPr/>
          <a:lstStyle/>
          <a:p>
            <a:r>
              <a:rPr lang="en-US" dirty="0"/>
              <a:t>When a new device connects to a network, </a:t>
            </a:r>
            <a:r>
              <a:rPr lang="en-US" dirty="0">
                <a:solidFill>
                  <a:srgbClr val="C00000"/>
                </a:solidFill>
              </a:rPr>
              <a:t>4 main steps </a:t>
            </a:r>
            <a:r>
              <a:rPr lang="en-US" dirty="0"/>
              <a:t>happen — </a:t>
            </a:r>
            <a:r>
              <a:rPr lang="en-US" b="1" dirty="0">
                <a:solidFill>
                  <a:srgbClr val="C00000"/>
                </a:solidFill>
              </a:rPr>
              <a:t>DORA</a:t>
            </a:r>
            <a:r>
              <a:rPr lang="en-US" dirty="0"/>
              <a:t>: </a:t>
            </a:r>
          </a:p>
          <a:p>
            <a:r>
              <a:rPr lang="en-US" dirty="0">
                <a:solidFill>
                  <a:srgbClr val="C00000"/>
                </a:solidFill>
              </a:rPr>
              <a:t>Discover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The client sends a DHCP Discover message to find any available DHCP servers.</a:t>
            </a:r>
          </a:p>
          <a:p>
            <a:r>
              <a:rPr lang="en-US" dirty="0">
                <a:solidFill>
                  <a:srgbClr val="C00000"/>
                </a:solidFill>
              </a:rPr>
              <a:t>Offer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The DHCP server replies with a DHCP Offer, offering an IP address to the client.</a:t>
            </a:r>
          </a:p>
          <a:p>
            <a:r>
              <a:rPr lang="en-US" dirty="0"/>
              <a:t> </a:t>
            </a:r>
            <a:r>
              <a:rPr lang="en-US" dirty="0">
                <a:solidFill>
                  <a:srgbClr val="C00000"/>
                </a:solidFill>
              </a:rPr>
              <a:t>Request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The client sends a DHCP Request to say “Yes, I want this IP!”</a:t>
            </a:r>
          </a:p>
          <a:p>
            <a:r>
              <a:rPr lang="en-US" dirty="0">
                <a:solidFill>
                  <a:srgbClr val="C00000"/>
                </a:solidFill>
              </a:rPr>
              <a:t>Acknowledge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The server sends a DHCP Acknowledge, confirming the lease of the IP address.</a:t>
            </a:r>
          </a:p>
          <a:p>
            <a:endParaRPr lang="en-US" dirty="0"/>
          </a:p>
        </p:txBody>
      </p:sp>
      <p:pic>
        <p:nvPicPr>
          <p:cNvPr id="2050" name="Picture 2" descr="Eight types of messages are exchanged between the DHCP server and the  client. | Martin Indeche">
            <a:extLst>
              <a:ext uri="{FF2B5EF4-FFF2-40B4-BE49-F238E27FC236}">
                <a16:creationId xmlns:a16="http://schemas.microsoft.com/office/drawing/2014/main" id="{C435D268-03A3-15FB-F4F6-72044FE0ED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490" r="9960" b="7542"/>
          <a:stretch>
            <a:fillRect/>
          </a:stretch>
        </p:blipFill>
        <p:spPr bwMode="auto">
          <a:xfrm>
            <a:off x="7484533" y="1467556"/>
            <a:ext cx="4707467" cy="3476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6629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F262F12-59DA-EF9B-99BB-BC09B58B9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DNS – Domain Name System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0B3438-78A2-CBFB-B85C-AC258A8A8D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3292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DNS - Domain Name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endParaRPr lang="en-IN" dirty="0"/>
          </a:p>
          <a:p>
            <a:endParaRPr lang="en-IN" dirty="0"/>
          </a:p>
          <a:p>
            <a:pPr lvl="0"/>
            <a:endParaRPr lang="en-IN" dirty="0"/>
          </a:p>
          <a:p>
            <a:pPr lvl="0"/>
            <a:r>
              <a:rPr lang="en-IN" dirty="0"/>
              <a:t>It is an internet service that translates </a:t>
            </a:r>
            <a:r>
              <a:rPr lang="en-IN" dirty="0">
                <a:solidFill>
                  <a:schemeClr val="accent6"/>
                </a:solidFill>
              </a:rPr>
              <a:t>domain names into IP addresses</a:t>
            </a:r>
            <a:r>
              <a:rPr lang="en-IN" dirty="0"/>
              <a:t>. </a:t>
            </a:r>
          </a:p>
          <a:p>
            <a:r>
              <a:rPr lang="en-IN" altLang="en-US" dirty="0"/>
              <a:t>I</a:t>
            </a:r>
            <a:r>
              <a:rPr lang="en-US" altLang="en-US" dirty="0"/>
              <a:t>t is application-layer protocol. </a:t>
            </a:r>
          </a:p>
          <a:p>
            <a:r>
              <a:rPr lang="en-IN" dirty="0"/>
              <a:t>DNS service must translate the domain name into the corresponding IP address</a:t>
            </a:r>
            <a:r>
              <a:rPr lang="en-US" dirty="0"/>
              <a:t>.</a:t>
            </a:r>
          </a:p>
          <a:p>
            <a:pPr lvl="0"/>
            <a:r>
              <a:rPr lang="en-IN" dirty="0"/>
              <a:t>In DNS system, If one DNS server </a:t>
            </a:r>
            <a:r>
              <a:rPr lang="en-IN" dirty="0">
                <a:solidFill>
                  <a:srgbClr val="C00000"/>
                </a:solidFill>
              </a:rPr>
              <a:t>doesn't know </a:t>
            </a:r>
            <a:r>
              <a:rPr lang="en-IN" dirty="0"/>
              <a:t>how to translate a particular domain name, it </a:t>
            </a:r>
            <a:r>
              <a:rPr lang="en-IN" dirty="0">
                <a:solidFill>
                  <a:srgbClr val="C00000"/>
                </a:solidFill>
              </a:rPr>
              <a:t>asks another one</a:t>
            </a:r>
            <a:r>
              <a:rPr lang="en-IN" dirty="0"/>
              <a:t>, and </a:t>
            </a:r>
            <a:r>
              <a:rPr lang="en-IN" dirty="0">
                <a:solidFill>
                  <a:srgbClr val="C00000"/>
                </a:solidFill>
              </a:rPr>
              <a:t>so on</a:t>
            </a:r>
            <a:r>
              <a:rPr lang="en-IN" dirty="0"/>
              <a:t>, until the </a:t>
            </a:r>
            <a:r>
              <a:rPr lang="en-IN" dirty="0">
                <a:solidFill>
                  <a:srgbClr val="C00000"/>
                </a:solidFill>
              </a:rPr>
              <a:t>correct IP address </a:t>
            </a:r>
            <a:r>
              <a:rPr lang="en-IN" dirty="0"/>
              <a:t>is returned.</a:t>
            </a:r>
          </a:p>
          <a:p>
            <a:pPr lvl="0"/>
            <a:endParaRPr lang="en-US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62200" y="990600"/>
            <a:ext cx="7254240" cy="1828800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V="1">
            <a:off x="4594860" y="1828800"/>
            <a:ext cx="99060" cy="7620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 flipV="1">
            <a:off x="6827520" y="1842016"/>
            <a:ext cx="244186" cy="7355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04586" y="2590801"/>
            <a:ext cx="28474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accent6"/>
                </a:solidFill>
              </a:rPr>
              <a:t>Alphabetic name remember by human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86550" y="2634733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IP Address</a:t>
            </a:r>
          </a:p>
        </p:txBody>
      </p:sp>
    </p:spTree>
    <p:extLst>
      <p:ext uri="{BB962C8B-B14F-4D97-AF65-F5344CB8AC3E}">
        <p14:creationId xmlns:p14="http://schemas.microsoft.com/office/powerpoint/2010/main" val="1846684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/>
      <p:bldP spid="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DNS -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r>
              <a:rPr lang="en-IN" dirty="0"/>
              <a:t>DNS client wants to determine the IP address for the hostname </a:t>
            </a:r>
            <a:r>
              <a:rPr lang="en-IN" i="1" dirty="0" err="1">
                <a:solidFill>
                  <a:srgbClr val="C00000"/>
                </a:solidFill>
              </a:rPr>
              <a:t>www.amazon.com</a:t>
            </a:r>
            <a:endParaRPr lang="en-US" i="1" dirty="0">
              <a:solidFill>
                <a:srgbClr val="C00000"/>
              </a:solidFill>
            </a:endParaRPr>
          </a:p>
          <a:p>
            <a:pPr lvl="0"/>
            <a:r>
              <a:rPr lang="en-IN" dirty="0"/>
              <a:t>The client </a:t>
            </a:r>
            <a:r>
              <a:rPr lang="en-IN" dirty="0">
                <a:solidFill>
                  <a:srgbClr val="C00000"/>
                </a:solidFill>
              </a:rPr>
              <a:t>first contacts one of the root servers</a:t>
            </a:r>
            <a:r>
              <a:rPr lang="en-IN" dirty="0"/>
              <a:t>, which returns IP addresses for TLD servers - top-level domain </a:t>
            </a:r>
            <a:r>
              <a:rPr lang="en-IN" dirty="0">
                <a:solidFill>
                  <a:srgbClr val="C00000"/>
                </a:solidFill>
              </a:rPr>
              <a:t>.com</a:t>
            </a:r>
            <a:r>
              <a:rPr lang="en-IN" dirty="0"/>
              <a:t>.</a:t>
            </a:r>
            <a:endParaRPr lang="en-US" dirty="0"/>
          </a:p>
          <a:p>
            <a:pPr lvl="0"/>
            <a:r>
              <a:rPr lang="en-IN" dirty="0"/>
              <a:t>Then </a:t>
            </a:r>
            <a:r>
              <a:rPr lang="en-IN" dirty="0">
                <a:solidFill>
                  <a:srgbClr val="C00000"/>
                </a:solidFill>
              </a:rPr>
              <a:t>contacts TLD servers</a:t>
            </a:r>
            <a:r>
              <a:rPr lang="en-IN" dirty="0"/>
              <a:t>, which returns the IP address of an </a:t>
            </a:r>
            <a:r>
              <a:rPr lang="en-IN" dirty="0">
                <a:solidFill>
                  <a:schemeClr val="accent6"/>
                </a:solidFill>
              </a:rPr>
              <a:t>authoritative server </a:t>
            </a:r>
            <a:r>
              <a:rPr lang="en-IN" dirty="0"/>
              <a:t>for </a:t>
            </a:r>
            <a:r>
              <a:rPr lang="en-IN" i="1" dirty="0" err="1">
                <a:solidFill>
                  <a:srgbClr val="C00000"/>
                </a:solidFill>
              </a:rPr>
              <a:t>www.amazon.com</a:t>
            </a:r>
            <a:endParaRPr lang="en-US" i="1" dirty="0">
              <a:solidFill>
                <a:srgbClr val="C00000"/>
              </a:solidFill>
            </a:endParaRPr>
          </a:p>
          <a:p>
            <a:pPr lvl="0"/>
            <a:r>
              <a:rPr lang="en-IN" dirty="0"/>
              <a:t>Finally, </a:t>
            </a:r>
            <a:r>
              <a:rPr lang="en-IN" dirty="0">
                <a:solidFill>
                  <a:srgbClr val="C00000"/>
                </a:solidFill>
              </a:rPr>
              <a:t>contacts one of the authoritative servers</a:t>
            </a:r>
            <a:r>
              <a:rPr lang="en-IN" dirty="0"/>
              <a:t> for </a:t>
            </a:r>
            <a:r>
              <a:rPr lang="en-IN" i="1" dirty="0" err="1">
                <a:solidFill>
                  <a:srgbClr val="C00000"/>
                </a:solidFill>
              </a:rPr>
              <a:t>www.amazon.com</a:t>
            </a:r>
            <a:r>
              <a:rPr lang="en-IN" dirty="0"/>
              <a:t>, which returns the </a:t>
            </a:r>
            <a:r>
              <a:rPr lang="en-IN" dirty="0">
                <a:solidFill>
                  <a:srgbClr val="C00000"/>
                </a:solidFill>
              </a:rPr>
              <a:t>IP address for the hostname </a:t>
            </a:r>
            <a:r>
              <a:rPr lang="en-IN" i="1" dirty="0" err="1"/>
              <a:t>www.amazon.com</a:t>
            </a:r>
            <a:endParaRPr lang="en-US" dirty="0"/>
          </a:p>
          <a:p>
            <a:endParaRPr lang="en-US" dirty="0"/>
          </a:p>
        </p:txBody>
      </p:sp>
      <p:pic>
        <p:nvPicPr>
          <p:cNvPr id="4" name="Content Placeholder 3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96359" y="711201"/>
            <a:ext cx="6905627" cy="28412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19939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DNS: A distributed - hierarchical database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55E0B44-92B9-7B46-AB6A-5362B38FC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Root DNS Servers – </a:t>
            </a:r>
            <a:r>
              <a:rPr lang="en-US" dirty="0">
                <a:solidFill>
                  <a:schemeClr val="accent6"/>
                </a:solidFill>
              </a:rPr>
              <a:t>Total 13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9252481-942F-7340-AA70-DC0BAF9D6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306" y="1523999"/>
            <a:ext cx="8231378" cy="4707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981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DNS – </a:t>
            </a:r>
            <a:r>
              <a:rPr lang="en-US" dirty="0" err="1"/>
              <a:t>Cont</a:t>
            </a:r>
            <a:r>
              <a:rPr lang="is-IS" dirty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solidFill>
                  <a:schemeClr val="accent6"/>
                </a:solidFill>
              </a:rPr>
              <a:t>Top-level domain (TLD) servers:</a:t>
            </a:r>
          </a:p>
          <a:p>
            <a:pPr lvl="1"/>
            <a:r>
              <a:rPr lang="en-US" altLang="en-US" dirty="0"/>
              <a:t>It is responsible for com, org, net, </a:t>
            </a:r>
            <a:r>
              <a:rPr lang="en-US" altLang="en-US" dirty="0" err="1"/>
              <a:t>edu</a:t>
            </a:r>
            <a:r>
              <a:rPr lang="en-US" altLang="en-US" dirty="0"/>
              <a:t>, aero, jobs, museums, and all top-level country domains, e.g.: </a:t>
            </a:r>
            <a:r>
              <a:rPr lang="en-US" altLang="en-US" dirty="0" err="1"/>
              <a:t>uk</a:t>
            </a:r>
            <a:r>
              <a:rPr lang="en-US" altLang="en-US" dirty="0"/>
              <a:t>, </a:t>
            </a:r>
            <a:r>
              <a:rPr lang="en-US" altLang="en-US" dirty="0" err="1"/>
              <a:t>fr</a:t>
            </a:r>
            <a:r>
              <a:rPr lang="en-US" altLang="en-US" dirty="0"/>
              <a:t>, ca, </a:t>
            </a:r>
            <a:r>
              <a:rPr lang="en-US" altLang="en-US" dirty="0" err="1"/>
              <a:t>jp</a:t>
            </a:r>
            <a:endParaRPr lang="en-US" altLang="en-US" dirty="0"/>
          </a:p>
          <a:p>
            <a:pPr lvl="1"/>
            <a:r>
              <a:rPr lang="en-US" altLang="en-US" dirty="0"/>
              <a:t>Network Solutions maintains servers for .com TLD</a:t>
            </a:r>
          </a:p>
          <a:p>
            <a:pPr lvl="1"/>
            <a:r>
              <a:rPr lang="en-US" altLang="en-US" dirty="0"/>
              <a:t>Education for .</a:t>
            </a:r>
            <a:r>
              <a:rPr lang="en-US" altLang="en-US" dirty="0" err="1"/>
              <a:t>edu</a:t>
            </a:r>
            <a:r>
              <a:rPr lang="en-US" altLang="en-US" dirty="0"/>
              <a:t> TLD</a:t>
            </a:r>
          </a:p>
          <a:p>
            <a:r>
              <a:rPr lang="en-US" altLang="en-US" dirty="0">
                <a:solidFill>
                  <a:schemeClr val="accent6"/>
                </a:solidFill>
              </a:rPr>
              <a:t>Authoritative DNS servers: </a:t>
            </a:r>
          </a:p>
          <a:p>
            <a:pPr lvl="1"/>
            <a:r>
              <a:rPr lang="en-US" altLang="en-US" dirty="0"/>
              <a:t>To organization’</a:t>
            </a:r>
            <a:r>
              <a:rPr lang="en-US" altLang="ja-JP" dirty="0"/>
              <a:t>s own DNS servers, providing authoritative hostname to IP mappings for organization’s named hosts.</a:t>
            </a:r>
          </a:p>
          <a:p>
            <a:pPr lvl="1"/>
            <a:r>
              <a:rPr lang="en-US" altLang="en-US" dirty="0"/>
              <a:t>It can be maintained by organization or service provider.</a:t>
            </a:r>
          </a:p>
          <a:p>
            <a:r>
              <a:rPr lang="en-US" dirty="0">
                <a:solidFill>
                  <a:schemeClr val="accent6"/>
                </a:solidFill>
              </a:rPr>
              <a:t>Local DNS name servers:</a:t>
            </a:r>
          </a:p>
          <a:p>
            <a:pPr lvl="1"/>
            <a:r>
              <a:rPr lang="en-US" altLang="en-US" dirty="0"/>
              <a:t>It does not strictly belong to hierarchy</a:t>
            </a:r>
          </a:p>
          <a:p>
            <a:pPr lvl="1"/>
            <a:r>
              <a:rPr lang="en-US" altLang="en-US" dirty="0"/>
              <a:t>when host makes DNS query, query is sent to its local DNS server.</a:t>
            </a:r>
          </a:p>
          <a:p>
            <a:pPr lvl="2"/>
            <a:r>
              <a:rPr lang="en-US" altLang="en-US" dirty="0"/>
              <a:t>It acts as proxy, forwards query into hierarchy.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206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05EF1-AAB6-0A40-BAF9-6C86C2C64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DNS - Example</a:t>
            </a:r>
          </a:p>
        </p:txBody>
      </p:sp>
      <p:pic>
        <p:nvPicPr>
          <p:cNvPr id="4" name="How the DNS works1.mp4">
            <a:hlinkClick r:id="" action="ppaction://media"/>
            <a:extLst>
              <a:ext uri="{FF2B5EF4-FFF2-40B4-BE49-F238E27FC236}">
                <a16:creationId xmlns:a16="http://schemas.microsoft.com/office/drawing/2014/main" id="{D8E6A218-3472-C649-9E68-B2D23688CE7F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30456" y="836706"/>
            <a:ext cx="9939337" cy="5591175"/>
          </a:xfrm>
        </p:spPr>
      </p:pic>
    </p:spTree>
    <p:extLst>
      <p:ext uri="{BB962C8B-B14F-4D97-AF65-F5344CB8AC3E}">
        <p14:creationId xmlns:p14="http://schemas.microsoft.com/office/powerpoint/2010/main" val="3769097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4637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dirty="0"/>
              <a:t>DNS Name Resolution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4"/>
            <a:ext cx="7140994" cy="5590565"/>
          </a:xfrm>
        </p:spPr>
        <p:txBody>
          <a:bodyPr/>
          <a:lstStyle/>
          <a:p>
            <a:r>
              <a:rPr lang="en-US" altLang="en-US" dirty="0"/>
              <a:t>Iterated Query:</a:t>
            </a:r>
          </a:p>
          <a:p>
            <a:pPr lvl="1"/>
            <a:r>
              <a:rPr lang="en-US" altLang="en-US" dirty="0"/>
              <a:t>A host at </a:t>
            </a:r>
            <a:r>
              <a:rPr lang="en-US" altLang="en-US" dirty="0" err="1"/>
              <a:t>cis.poly.edu</a:t>
            </a:r>
            <a:r>
              <a:rPr lang="en-US" altLang="en-US" dirty="0"/>
              <a:t> wants IP address for </a:t>
            </a:r>
            <a:r>
              <a:rPr lang="en-US" altLang="en-US" dirty="0" err="1"/>
              <a:t>gaia.cs.umass.edu</a:t>
            </a:r>
            <a:endParaRPr lang="en-US" altLang="en-US" dirty="0"/>
          </a:p>
          <a:p>
            <a:endParaRPr lang="en-US" dirty="0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7416455" y="5268148"/>
            <a:ext cx="1746250" cy="611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charset="0"/>
              </a:rPr>
              <a:t>requesting host</a:t>
            </a:r>
            <a:endParaRPr lang="en-US" altLang="en-US" sz="2400">
              <a:latin typeface="Arial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i="1">
                <a:solidFill>
                  <a:srgbClr val="000099"/>
                </a:solidFill>
                <a:latin typeface="Arial" charset="0"/>
              </a:rPr>
              <a:t>cis.poly.edu</a:t>
            </a: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9892956" y="6117459"/>
            <a:ext cx="18780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i="1">
                <a:latin typeface="Arial" charset="0"/>
              </a:rPr>
              <a:t>gaia.cs.umass.edu</a:t>
            </a:r>
            <a:endParaRPr lang="en-US" altLang="en-US" sz="1600" i="1" dirty="0">
              <a:latin typeface="Arial" charset="0"/>
            </a:endParaRPr>
          </a:p>
        </p:txBody>
      </p:sp>
      <p:sp>
        <p:nvSpPr>
          <p:cNvPr id="6" name="Text Box 17"/>
          <p:cNvSpPr txBox="1">
            <a:spLocks noChangeArrowheads="1"/>
          </p:cNvSpPr>
          <p:nvPr/>
        </p:nvSpPr>
        <p:spPr bwMode="auto">
          <a:xfrm>
            <a:off x="9000781" y="867597"/>
            <a:ext cx="20113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charset="0"/>
              </a:rPr>
              <a:t>root DNS server</a:t>
            </a:r>
            <a:endParaRPr lang="en-US" altLang="en-US" sz="1600">
              <a:latin typeface="Arial" charset="0"/>
            </a:endParaRPr>
          </a:p>
        </p:txBody>
      </p:sp>
      <p:sp>
        <p:nvSpPr>
          <p:cNvPr id="7" name="Line 18"/>
          <p:cNvSpPr>
            <a:spLocks noChangeShapeType="1"/>
          </p:cNvSpPr>
          <p:nvPr/>
        </p:nvSpPr>
        <p:spPr bwMode="auto">
          <a:xfrm flipH="1" flipV="1">
            <a:off x="8495955" y="3302822"/>
            <a:ext cx="0" cy="13144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Line 19"/>
          <p:cNvSpPr>
            <a:spLocks noChangeShapeType="1"/>
          </p:cNvSpPr>
          <p:nvPr/>
        </p:nvSpPr>
        <p:spPr bwMode="auto">
          <a:xfrm flipV="1">
            <a:off x="8610255" y="1607372"/>
            <a:ext cx="914400" cy="9715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Line 20"/>
          <p:cNvSpPr>
            <a:spLocks noChangeShapeType="1"/>
          </p:cNvSpPr>
          <p:nvPr/>
        </p:nvSpPr>
        <p:spPr bwMode="auto">
          <a:xfrm flipV="1">
            <a:off x="8896005" y="2769423"/>
            <a:ext cx="1485900" cy="952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Line 21"/>
          <p:cNvSpPr>
            <a:spLocks noChangeShapeType="1"/>
          </p:cNvSpPr>
          <p:nvPr/>
        </p:nvSpPr>
        <p:spPr bwMode="auto">
          <a:xfrm flipH="1" flipV="1">
            <a:off x="8896006" y="2940872"/>
            <a:ext cx="14192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Line 22"/>
          <p:cNvSpPr>
            <a:spLocks noChangeShapeType="1"/>
          </p:cNvSpPr>
          <p:nvPr/>
        </p:nvSpPr>
        <p:spPr bwMode="auto">
          <a:xfrm flipH="1">
            <a:off x="8819806" y="1835972"/>
            <a:ext cx="733425" cy="7620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Line 23"/>
          <p:cNvSpPr>
            <a:spLocks noChangeShapeType="1"/>
          </p:cNvSpPr>
          <p:nvPr/>
        </p:nvSpPr>
        <p:spPr bwMode="auto">
          <a:xfrm>
            <a:off x="8686456" y="3320285"/>
            <a:ext cx="9525" cy="132397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3" name="Group 24"/>
          <p:cNvGrpSpPr>
            <a:grpSpLocks/>
          </p:cNvGrpSpPr>
          <p:nvPr/>
        </p:nvGrpSpPr>
        <p:grpSpPr bwMode="auto">
          <a:xfrm>
            <a:off x="7389468" y="3448873"/>
            <a:ext cx="1898650" cy="611187"/>
            <a:chOff x="2831" y="2132"/>
            <a:chExt cx="1196" cy="385"/>
          </a:xfrm>
        </p:grpSpPr>
        <p:sp>
          <p:nvSpPr>
            <p:cNvPr id="14" name="Rectangle 25"/>
            <p:cNvSpPr>
              <a:spLocks noChangeArrowheads="1"/>
            </p:cNvSpPr>
            <p:nvPr/>
          </p:nvSpPr>
          <p:spPr bwMode="auto">
            <a:xfrm>
              <a:off x="2838" y="2178"/>
              <a:ext cx="1182" cy="3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400">
                <a:latin typeface="Arial" charset="0"/>
              </a:endParaRPr>
            </a:p>
          </p:txBody>
        </p:sp>
        <p:sp>
          <p:nvSpPr>
            <p:cNvPr id="15" name="Text Box 26"/>
            <p:cNvSpPr txBox="1">
              <a:spLocks noChangeArrowheads="1"/>
            </p:cNvSpPr>
            <p:nvPr/>
          </p:nvSpPr>
          <p:spPr bwMode="auto">
            <a:xfrm>
              <a:off x="2831" y="2132"/>
              <a:ext cx="1196" cy="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Arial" charset="0"/>
                </a:rPr>
                <a:t>local DNS server</a:t>
              </a:r>
              <a:endParaRPr lang="en-US" altLang="en-US" sz="2400">
                <a:latin typeface="Arial" charset="0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i="1">
                  <a:solidFill>
                    <a:srgbClr val="000099"/>
                  </a:solidFill>
                  <a:latin typeface="Arial" charset="0"/>
                </a:rPr>
                <a:t>dns.poly.edu</a:t>
              </a:r>
            </a:p>
          </p:txBody>
        </p:sp>
      </p:grpSp>
      <p:sp>
        <p:nvSpPr>
          <p:cNvPr id="16" name="Text Box 27"/>
          <p:cNvSpPr txBox="1">
            <a:spLocks noChangeArrowheads="1"/>
          </p:cNvSpPr>
          <p:nvPr/>
        </p:nvSpPr>
        <p:spPr bwMode="auto">
          <a:xfrm>
            <a:off x="8207030" y="415848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CC0000"/>
                </a:solidFill>
                <a:latin typeface="Arial" charset="0"/>
              </a:rPr>
              <a:t>1</a:t>
            </a:r>
            <a:endParaRPr lang="en-US" altLang="en-US" sz="2400">
              <a:solidFill>
                <a:srgbClr val="CC0000"/>
              </a:solidFill>
              <a:latin typeface="Arial" charset="0"/>
            </a:endParaRPr>
          </a:p>
        </p:txBody>
      </p:sp>
      <p:sp>
        <p:nvSpPr>
          <p:cNvPr id="17" name="Text Box 28"/>
          <p:cNvSpPr txBox="1">
            <a:spLocks noChangeArrowheads="1"/>
          </p:cNvSpPr>
          <p:nvPr/>
        </p:nvSpPr>
        <p:spPr bwMode="auto">
          <a:xfrm>
            <a:off x="8749955" y="182486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CC0000"/>
                </a:solidFill>
                <a:latin typeface="Arial" charset="0"/>
              </a:rPr>
              <a:t>2</a:t>
            </a:r>
            <a:endParaRPr lang="en-US" altLang="en-US" sz="2400">
              <a:solidFill>
                <a:srgbClr val="CC0000"/>
              </a:solidFill>
              <a:latin typeface="Arial" charset="0"/>
            </a:endParaRPr>
          </a:p>
        </p:txBody>
      </p:sp>
      <p:sp>
        <p:nvSpPr>
          <p:cNvPr id="18" name="Text Box 29"/>
          <p:cNvSpPr txBox="1">
            <a:spLocks noChangeArrowheads="1"/>
          </p:cNvSpPr>
          <p:nvPr/>
        </p:nvSpPr>
        <p:spPr bwMode="auto">
          <a:xfrm>
            <a:off x="9188105" y="206298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CC0000"/>
                </a:solidFill>
                <a:latin typeface="Arial" charset="0"/>
              </a:rPr>
              <a:t>3</a:t>
            </a:r>
            <a:endParaRPr lang="en-US" altLang="en-US" sz="2400">
              <a:solidFill>
                <a:srgbClr val="CC0000"/>
              </a:solidFill>
              <a:latin typeface="Arial" charset="0"/>
            </a:endParaRPr>
          </a:p>
        </p:txBody>
      </p:sp>
      <p:sp>
        <p:nvSpPr>
          <p:cNvPr id="19" name="Text Box 30"/>
          <p:cNvSpPr txBox="1">
            <a:spLocks noChangeArrowheads="1"/>
          </p:cNvSpPr>
          <p:nvPr/>
        </p:nvSpPr>
        <p:spPr bwMode="auto">
          <a:xfrm>
            <a:off x="9502430" y="247256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CC0000"/>
                </a:solidFill>
                <a:latin typeface="Arial" charset="0"/>
              </a:rPr>
              <a:t>4</a:t>
            </a:r>
            <a:endParaRPr lang="en-US" altLang="en-US" sz="2400">
              <a:solidFill>
                <a:srgbClr val="CC0000"/>
              </a:solidFill>
              <a:latin typeface="Arial" charset="0"/>
            </a:endParaRPr>
          </a:p>
        </p:txBody>
      </p:sp>
      <p:sp>
        <p:nvSpPr>
          <p:cNvPr id="20" name="Text Box 31"/>
          <p:cNvSpPr txBox="1">
            <a:spLocks noChangeArrowheads="1"/>
          </p:cNvSpPr>
          <p:nvPr/>
        </p:nvSpPr>
        <p:spPr bwMode="auto">
          <a:xfrm>
            <a:off x="9532593" y="2959922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CC0000"/>
                </a:solidFill>
                <a:latin typeface="Arial" charset="0"/>
              </a:rPr>
              <a:t>5</a:t>
            </a:r>
            <a:endParaRPr lang="en-US" altLang="en-US" sz="2400">
              <a:solidFill>
                <a:srgbClr val="CC0000"/>
              </a:solidFill>
              <a:latin typeface="Arial" charset="0"/>
            </a:endParaRPr>
          </a:p>
        </p:txBody>
      </p:sp>
      <p:sp>
        <p:nvSpPr>
          <p:cNvPr id="21" name="Text Box 32"/>
          <p:cNvSpPr txBox="1">
            <a:spLocks noChangeArrowheads="1"/>
          </p:cNvSpPr>
          <p:nvPr/>
        </p:nvSpPr>
        <p:spPr bwMode="auto">
          <a:xfrm>
            <a:off x="10129493" y="399973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CC0000"/>
                </a:solidFill>
                <a:latin typeface="Arial" charset="0"/>
              </a:rPr>
              <a:t>6</a:t>
            </a:r>
            <a:endParaRPr lang="en-US" altLang="en-US" sz="2400">
              <a:solidFill>
                <a:srgbClr val="CC0000"/>
              </a:solidFill>
              <a:latin typeface="Arial" charset="0"/>
            </a:endParaRPr>
          </a:p>
        </p:txBody>
      </p:sp>
      <p:sp>
        <p:nvSpPr>
          <p:cNvPr id="22" name="Text Box 60"/>
          <p:cNvSpPr txBox="1">
            <a:spLocks noChangeArrowheads="1"/>
          </p:cNvSpPr>
          <p:nvPr/>
        </p:nvSpPr>
        <p:spPr bwMode="auto">
          <a:xfrm>
            <a:off x="9562756" y="4815710"/>
            <a:ext cx="23971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charset="0"/>
              </a:rPr>
              <a:t>authoritative DNS server</a:t>
            </a:r>
            <a:endParaRPr lang="en-US" altLang="en-US" sz="2400">
              <a:latin typeface="Arial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Arial" charset="0"/>
              </a:rPr>
              <a:t>dns.cs.umass.edu</a:t>
            </a:r>
            <a:endParaRPr lang="en-US" altLang="en-US" sz="1600">
              <a:latin typeface="Arial" charset="0"/>
            </a:endParaRPr>
          </a:p>
        </p:txBody>
      </p:sp>
      <p:sp>
        <p:nvSpPr>
          <p:cNvPr id="23" name="Text Box 61"/>
          <p:cNvSpPr txBox="1">
            <a:spLocks noChangeArrowheads="1"/>
          </p:cNvSpPr>
          <p:nvPr/>
        </p:nvSpPr>
        <p:spPr bwMode="auto">
          <a:xfrm>
            <a:off x="9502430" y="4029897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CC0000"/>
                </a:solidFill>
                <a:latin typeface="Arial" charset="0"/>
              </a:rPr>
              <a:t>7</a:t>
            </a:r>
            <a:endParaRPr lang="en-US" altLang="en-US" sz="2400">
              <a:solidFill>
                <a:srgbClr val="CC0000"/>
              </a:solidFill>
              <a:latin typeface="Arial" charset="0"/>
            </a:endParaRPr>
          </a:p>
        </p:txBody>
      </p:sp>
      <p:sp>
        <p:nvSpPr>
          <p:cNvPr id="24" name="Text Box 62"/>
          <p:cNvSpPr txBox="1">
            <a:spLocks noChangeArrowheads="1"/>
          </p:cNvSpPr>
          <p:nvPr/>
        </p:nvSpPr>
        <p:spPr bwMode="auto">
          <a:xfrm>
            <a:off x="8759480" y="417753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CC0000"/>
                </a:solidFill>
                <a:latin typeface="Arial" charset="0"/>
              </a:rPr>
              <a:t>8</a:t>
            </a:r>
            <a:endParaRPr lang="en-US" altLang="en-US" sz="2400">
              <a:solidFill>
                <a:srgbClr val="CC0000"/>
              </a:solidFill>
              <a:latin typeface="Arial" charset="0"/>
            </a:endParaRPr>
          </a:p>
        </p:txBody>
      </p:sp>
      <p:sp>
        <p:nvSpPr>
          <p:cNvPr id="25" name="Line 63"/>
          <p:cNvSpPr>
            <a:spLocks noChangeShapeType="1"/>
          </p:cNvSpPr>
          <p:nvPr/>
        </p:nvSpPr>
        <p:spPr bwMode="auto">
          <a:xfrm>
            <a:off x="8829330" y="3101209"/>
            <a:ext cx="1493838" cy="13144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64"/>
          <p:cNvSpPr>
            <a:spLocks noChangeShapeType="1"/>
          </p:cNvSpPr>
          <p:nvPr/>
        </p:nvSpPr>
        <p:spPr bwMode="auto">
          <a:xfrm flipH="1" flipV="1">
            <a:off x="8789644" y="3226622"/>
            <a:ext cx="1493837" cy="13017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Text Box 65"/>
          <p:cNvSpPr txBox="1">
            <a:spLocks noChangeArrowheads="1"/>
          </p:cNvSpPr>
          <p:nvPr/>
        </p:nvSpPr>
        <p:spPr bwMode="auto">
          <a:xfrm>
            <a:off x="9761193" y="2239197"/>
            <a:ext cx="20113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charset="0"/>
              </a:rPr>
              <a:t>TLD DNS server</a:t>
            </a:r>
            <a:endParaRPr lang="en-US" altLang="en-US" sz="1600">
              <a:latin typeface="Arial" charset="0"/>
            </a:endParaRPr>
          </a:p>
        </p:txBody>
      </p:sp>
      <p:grpSp>
        <p:nvGrpSpPr>
          <p:cNvPr id="28" name="Group 86"/>
          <p:cNvGrpSpPr>
            <a:grpSpLocks/>
          </p:cNvGrpSpPr>
          <p:nvPr/>
        </p:nvGrpSpPr>
        <p:grpSpPr bwMode="auto">
          <a:xfrm flipH="1">
            <a:off x="10435881" y="5477698"/>
            <a:ext cx="925513" cy="795337"/>
            <a:chOff x="-44" y="1473"/>
            <a:chExt cx="981" cy="1105"/>
          </a:xfrm>
        </p:grpSpPr>
        <p:pic>
          <p:nvPicPr>
            <p:cNvPr id="29" name="Picture 87" descr="desktop_computer_stylized_mediu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" name="Freeform 88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1" name="Group 89"/>
          <p:cNvGrpSpPr>
            <a:grpSpLocks/>
          </p:cNvGrpSpPr>
          <p:nvPr/>
        </p:nvGrpSpPr>
        <p:grpSpPr bwMode="auto">
          <a:xfrm>
            <a:off x="7975256" y="4631559"/>
            <a:ext cx="925513" cy="795338"/>
            <a:chOff x="-44" y="1473"/>
            <a:chExt cx="981" cy="1105"/>
          </a:xfrm>
        </p:grpSpPr>
        <p:pic>
          <p:nvPicPr>
            <p:cNvPr id="32" name="Picture 90" descr="desktop_computer_stylized_mediu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3" name="Freeform 91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4" name="Group 125"/>
          <p:cNvGrpSpPr>
            <a:grpSpLocks/>
          </p:cNvGrpSpPr>
          <p:nvPr/>
        </p:nvGrpSpPr>
        <p:grpSpPr bwMode="auto">
          <a:xfrm>
            <a:off x="10435881" y="4129909"/>
            <a:ext cx="390525" cy="641350"/>
            <a:chOff x="4140" y="429"/>
            <a:chExt cx="1425" cy="2396"/>
          </a:xfrm>
        </p:grpSpPr>
        <p:sp>
          <p:nvSpPr>
            <p:cNvPr id="35" name="Freeform 126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Rectangle 127"/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37" name="Freeform 128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129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Rectangle 130"/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grpSp>
          <p:nvGrpSpPr>
            <p:cNvPr id="40" name="Group 131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5" name="AutoShape 132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0"/>
                  <a:buNone/>
                </a:pPr>
                <a:endParaRPr lang="en-US" altLang="en-US" sz="2000">
                  <a:latin typeface="Arial" charset="0"/>
                </a:endParaRPr>
              </a:p>
            </p:txBody>
          </p:sp>
          <p:sp>
            <p:nvSpPr>
              <p:cNvPr id="66" name="AutoShape 133"/>
              <p:cNvSpPr>
                <a:spLocks noChangeArrowheads="1"/>
              </p:cNvSpPr>
              <p:nvPr/>
            </p:nvSpPr>
            <p:spPr bwMode="auto">
              <a:xfrm>
                <a:off x="628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0"/>
                  <a:buNone/>
                </a:pPr>
                <a:endParaRPr lang="en-US" altLang="en-US" sz="2000">
                  <a:latin typeface="Arial" charset="0"/>
                </a:endParaRPr>
              </a:p>
            </p:txBody>
          </p:sp>
        </p:grpSp>
        <p:sp>
          <p:nvSpPr>
            <p:cNvPr id="41" name="Rectangle 134"/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grpSp>
          <p:nvGrpSpPr>
            <p:cNvPr id="42" name="Group 135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3" name="AutoShape 136"/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0"/>
                  <a:buNone/>
                </a:pPr>
                <a:endParaRPr lang="en-US" altLang="en-US" sz="2000">
                  <a:latin typeface="Arial" charset="0"/>
                </a:endParaRPr>
              </a:p>
            </p:txBody>
          </p:sp>
          <p:sp>
            <p:nvSpPr>
              <p:cNvPr id="64" name="AutoShape 137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0"/>
                  <a:buNone/>
                </a:pPr>
                <a:endParaRPr lang="en-US" altLang="en-US" sz="2000">
                  <a:latin typeface="Arial" charset="0"/>
                </a:endParaRPr>
              </a:p>
            </p:txBody>
          </p:sp>
        </p:grpSp>
        <p:sp>
          <p:nvSpPr>
            <p:cNvPr id="43" name="Rectangle 138"/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44" name="Rectangle 139"/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grpSp>
          <p:nvGrpSpPr>
            <p:cNvPr id="45" name="Group 140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61" name="AutoShape 141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0"/>
                  <a:buNone/>
                </a:pPr>
                <a:endParaRPr lang="en-US" altLang="en-US" sz="2000">
                  <a:latin typeface="Arial" charset="0"/>
                </a:endParaRPr>
              </a:p>
            </p:txBody>
          </p:sp>
          <p:sp>
            <p:nvSpPr>
              <p:cNvPr id="62" name="AutoShape 142"/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0"/>
                  <a:buNone/>
                </a:pPr>
                <a:endParaRPr lang="en-US" altLang="en-US" sz="2000">
                  <a:latin typeface="Arial" charset="0"/>
                </a:endParaRPr>
              </a:p>
            </p:txBody>
          </p:sp>
        </p:grpSp>
        <p:sp>
          <p:nvSpPr>
            <p:cNvPr id="46" name="Freeform 143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7" name="Group 144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9" name="AutoShape 145"/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0"/>
                  <a:buNone/>
                </a:pPr>
                <a:endParaRPr lang="en-US" altLang="en-US" sz="2000">
                  <a:latin typeface="Arial" charset="0"/>
                </a:endParaRPr>
              </a:p>
            </p:txBody>
          </p:sp>
          <p:sp>
            <p:nvSpPr>
              <p:cNvPr id="60" name="AutoShape 146"/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0"/>
                  <a:buNone/>
                </a:pPr>
                <a:endParaRPr lang="en-US" altLang="en-US" sz="2000">
                  <a:latin typeface="Arial" charset="0"/>
                </a:endParaRPr>
              </a:p>
            </p:txBody>
          </p:sp>
        </p:grpSp>
        <p:sp>
          <p:nvSpPr>
            <p:cNvPr id="48" name="Rectangle 147"/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49" name="Freeform 148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149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Oval 150"/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52" name="Freeform 151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AutoShape 152"/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54" name="AutoShape 153"/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55" name="Oval 154"/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56" name="Oval 155"/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rgbClr val="FF0000"/>
                </a:solidFill>
                <a:latin typeface="Arial" charset="0"/>
              </a:endParaRPr>
            </a:p>
          </p:txBody>
        </p:sp>
        <p:sp>
          <p:nvSpPr>
            <p:cNvPr id="57" name="Oval 156"/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58" name="Rectangle 157"/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</p:grpSp>
      <p:grpSp>
        <p:nvGrpSpPr>
          <p:cNvPr id="67" name="Group 158"/>
          <p:cNvGrpSpPr>
            <a:grpSpLocks/>
          </p:cNvGrpSpPr>
          <p:nvPr/>
        </p:nvGrpSpPr>
        <p:grpSpPr bwMode="auto">
          <a:xfrm>
            <a:off x="8432456" y="2617022"/>
            <a:ext cx="390525" cy="641350"/>
            <a:chOff x="4140" y="429"/>
            <a:chExt cx="1425" cy="2396"/>
          </a:xfrm>
        </p:grpSpPr>
        <p:sp>
          <p:nvSpPr>
            <p:cNvPr id="68" name="Freeform 159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Rectangle 160"/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70" name="Freeform 161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162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Rectangle 163"/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grpSp>
          <p:nvGrpSpPr>
            <p:cNvPr id="73" name="Group 164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8" name="AutoShape 165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0"/>
                  <a:buNone/>
                </a:pPr>
                <a:endParaRPr lang="en-US" altLang="en-US" sz="2000">
                  <a:latin typeface="Arial" charset="0"/>
                </a:endParaRPr>
              </a:p>
            </p:txBody>
          </p:sp>
          <p:sp>
            <p:nvSpPr>
              <p:cNvPr id="99" name="AutoShape 166"/>
              <p:cNvSpPr>
                <a:spLocks noChangeArrowheads="1"/>
              </p:cNvSpPr>
              <p:nvPr/>
            </p:nvSpPr>
            <p:spPr bwMode="auto">
              <a:xfrm>
                <a:off x="628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0"/>
                  <a:buNone/>
                </a:pPr>
                <a:endParaRPr lang="en-US" altLang="en-US" sz="2000">
                  <a:latin typeface="Arial" charset="0"/>
                </a:endParaRPr>
              </a:p>
            </p:txBody>
          </p:sp>
        </p:grpSp>
        <p:sp>
          <p:nvSpPr>
            <p:cNvPr id="74" name="Rectangle 167"/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grpSp>
          <p:nvGrpSpPr>
            <p:cNvPr id="75" name="Group 168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6" name="AutoShape 169"/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0"/>
                  <a:buNone/>
                </a:pPr>
                <a:endParaRPr lang="en-US" altLang="en-US" sz="2000">
                  <a:latin typeface="Arial" charset="0"/>
                </a:endParaRPr>
              </a:p>
            </p:txBody>
          </p:sp>
          <p:sp>
            <p:nvSpPr>
              <p:cNvPr id="97" name="AutoShape 170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0"/>
                  <a:buNone/>
                </a:pPr>
                <a:endParaRPr lang="en-US" altLang="en-US" sz="2000">
                  <a:latin typeface="Arial" charset="0"/>
                </a:endParaRPr>
              </a:p>
            </p:txBody>
          </p:sp>
        </p:grpSp>
        <p:sp>
          <p:nvSpPr>
            <p:cNvPr id="76" name="Rectangle 171"/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77" name="Rectangle 172"/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grpSp>
          <p:nvGrpSpPr>
            <p:cNvPr id="78" name="Group 173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4" name="AutoShape 174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0"/>
                  <a:buNone/>
                </a:pPr>
                <a:endParaRPr lang="en-US" altLang="en-US" sz="2000">
                  <a:latin typeface="Arial" charset="0"/>
                </a:endParaRPr>
              </a:p>
            </p:txBody>
          </p:sp>
          <p:sp>
            <p:nvSpPr>
              <p:cNvPr id="95" name="AutoShape 175"/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0"/>
                  <a:buNone/>
                </a:pPr>
                <a:endParaRPr lang="en-US" altLang="en-US" sz="2000">
                  <a:latin typeface="Arial" charset="0"/>
                </a:endParaRPr>
              </a:p>
            </p:txBody>
          </p:sp>
        </p:grpSp>
        <p:sp>
          <p:nvSpPr>
            <p:cNvPr id="79" name="Freeform 176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80" name="Group 177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92" name="AutoShape 178"/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0"/>
                  <a:buNone/>
                </a:pPr>
                <a:endParaRPr lang="en-US" altLang="en-US" sz="2000">
                  <a:latin typeface="Arial" charset="0"/>
                </a:endParaRPr>
              </a:p>
            </p:txBody>
          </p:sp>
          <p:sp>
            <p:nvSpPr>
              <p:cNvPr id="93" name="AutoShape 179"/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0"/>
                  <a:buNone/>
                </a:pPr>
                <a:endParaRPr lang="en-US" altLang="en-US" sz="2000">
                  <a:latin typeface="Arial" charset="0"/>
                </a:endParaRPr>
              </a:p>
            </p:txBody>
          </p:sp>
        </p:grpSp>
        <p:sp>
          <p:nvSpPr>
            <p:cNvPr id="81" name="Rectangle 180"/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82" name="Freeform 181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182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Oval 183"/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85" name="Freeform 184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AutoShape 185"/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87" name="AutoShape 186"/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88" name="Oval 187"/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89" name="Oval 188"/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rgbClr val="FF0000"/>
                </a:solidFill>
                <a:latin typeface="Arial" charset="0"/>
              </a:endParaRPr>
            </a:p>
          </p:txBody>
        </p:sp>
        <p:sp>
          <p:nvSpPr>
            <p:cNvPr id="90" name="Oval 189"/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91" name="Rectangle 190"/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</p:grpSp>
      <p:grpSp>
        <p:nvGrpSpPr>
          <p:cNvPr id="100" name="Group 224"/>
          <p:cNvGrpSpPr>
            <a:grpSpLocks/>
          </p:cNvGrpSpPr>
          <p:nvPr/>
        </p:nvGrpSpPr>
        <p:grpSpPr bwMode="auto">
          <a:xfrm>
            <a:off x="9586569" y="1354959"/>
            <a:ext cx="390525" cy="641350"/>
            <a:chOff x="4140" y="429"/>
            <a:chExt cx="1425" cy="2396"/>
          </a:xfrm>
        </p:grpSpPr>
        <p:sp>
          <p:nvSpPr>
            <p:cNvPr id="101" name="Freeform 225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Rectangle 226"/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103" name="Freeform 227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228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Rectangle 229"/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grpSp>
          <p:nvGrpSpPr>
            <p:cNvPr id="106" name="Group 230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31" name="AutoShape 231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0"/>
                  <a:buNone/>
                </a:pPr>
                <a:endParaRPr lang="en-US" altLang="en-US" sz="2000">
                  <a:latin typeface="Arial" charset="0"/>
                </a:endParaRPr>
              </a:p>
            </p:txBody>
          </p:sp>
          <p:sp>
            <p:nvSpPr>
              <p:cNvPr id="132" name="AutoShape 232"/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0"/>
                  <a:buNone/>
                </a:pPr>
                <a:endParaRPr lang="en-US" altLang="en-US" sz="2000">
                  <a:latin typeface="Arial" charset="0"/>
                </a:endParaRPr>
              </a:p>
            </p:txBody>
          </p:sp>
        </p:grpSp>
        <p:sp>
          <p:nvSpPr>
            <p:cNvPr id="107" name="Rectangle 233"/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grpSp>
          <p:nvGrpSpPr>
            <p:cNvPr id="108" name="Group 234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29" name="AutoShape 235"/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0"/>
                  <a:buNone/>
                </a:pPr>
                <a:endParaRPr lang="en-US" altLang="en-US" sz="2000">
                  <a:latin typeface="Arial" charset="0"/>
                </a:endParaRPr>
              </a:p>
            </p:txBody>
          </p:sp>
          <p:sp>
            <p:nvSpPr>
              <p:cNvPr id="130" name="AutoShape 236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0"/>
                  <a:buNone/>
                </a:pPr>
                <a:endParaRPr lang="en-US" altLang="en-US" sz="2000">
                  <a:latin typeface="Arial" charset="0"/>
                </a:endParaRPr>
              </a:p>
            </p:txBody>
          </p:sp>
        </p:grpSp>
        <p:sp>
          <p:nvSpPr>
            <p:cNvPr id="109" name="Rectangle 237"/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110" name="Rectangle 238"/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grpSp>
          <p:nvGrpSpPr>
            <p:cNvPr id="111" name="Group 239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27" name="AutoShape 240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0"/>
                  <a:buNone/>
                </a:pPr>
                <a:endParaRPr lang="en-US" altLang="en-US" sz="2000">
                  <a:latin typeface="Arial" charset="0"/>
                </a:endParaRPr>
              </a:p>
            </p:txBody>
          </p:sp>
          <p:sp>
            <p:nvSpPr>
              <p:cNvPr id="128" name="AutoShape 241"/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0"/>
                  <a:buNone/>
                </a:pPr>
                <a:endParaRPr lang="en-US" altLang="en-US" sz="2000">
                  <a:latin typeface="Arial" charset="0"/>
                </a:endParaRPr>
              </a:p>
            </p:txBody>
          </p:sp>
        </p:grpSp>
        <p:sp>
          <p:nvSpPr>
            <p:cNvPr id="112" name="Freeform 242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3" name="Group 243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25" name="AutoShape 244"/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0"/>
                  <a:buNone/>
                </a:pPr>
                <a:endParaRPr lang="en-US" altLang="en-US" sz="2000">
                  <a:latin typeface="Arial" charset="0"/>
                </a:endParaRPr>
              </a:p>
            </p:txBody>
          </p:sp>
          <p:sp>
            <p:nvSpPr>
              <p:cNvPr id="126" name="AutoShape 245"/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0"/>
                  <a:buNone/>
                </a:pPr>
                <a:endParaRPr lang="en-US" altLang="en-US" sz="2000">
                  <a:latin typeface="Arial" charset="0"/>
                </a:endParaRPr>
              </a:p>
            </p:txBody>
          </p:sp>
        </p:grpSp>
        <p:sp>
          <p:nvSpPr>
            <p:cNvPr id="114" name="Rectangle 246"/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115" name="Freeform 247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Freeform 248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Oval 249"/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118" name="Freeform 250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AutoShape 251"/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120" name="AutoShape 252"/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121" name="Oval 253"/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122" name="Oval 254"/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rgbClr val="FF0000"/>
                </a:solidFill>
                <a:latin typeface="Arial" charset="0"/>
              </a:endParaRPr>
            </a:p>
          </p:txBody>
        </p:sp>
        <p:sp>
          <p:nvSpPr>
            <p:cNvPr id="123" name="Oval 255"/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124" name="Rectangle 256"/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</p:grpSp>
      <p:grpSp>
        <p:nvGrpSpPr>
          <p:cNvPr id="133" name="Group 257"/>
          <p:cNvGrpSpPr>
            <a:grpSpLocks/>
          </p:cNvGrpSpPr>
          <p:nvPr/>
        </p:nvGrpSpPr>
        <p:grpSpPr bwMode="auto">
          <a:xfrm>
            <a:off x="10402544" y="2607497"/>
            <a:ext cx="390525" cy="641350"/>
            <a:chOff x="4140" y="429"/>
            <a:chExt cx="1425" cy="2396"/>
          </a:xfrm>
        </p:grpSpPr>
        <p:sp>
          <p:nvSpPr>
            <p:cNvPr id="134" name="Freeform 25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Rectangle 259"/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136" name="Freeform 26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Freeform 26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Rectangle 262"/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grpSp>
          <p:nvGrpSpPr>
            <p:cNvPr id="139" name="Group 26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64" name="AutoShape 264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0"/>
                  <a:buNone/>
                </a:pPr>
                <a:endParaRPr lang="en-US" altLang="en-US" sz="2000">
                  <a:latin typeface="Arial" charset="0"/>
                </a:endParaRPr>
              </a:p>
            </p:txBody>
          </p:sp>
          <p:sp>
            <p:nvSpPr>
              <p:cNvPr id="165" name="AutoShape 265"/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0"/>
                  <a:buNone/>
                </a:pPr>
                <a:endParaRPr lang="en-US" altLang="en-US" sz="2000">
                  <a:latin typeface="Arial" charset="0"/>
                </a:endParaRPr>
              </a:p>
            </p:txBody>
          </p:sp>
        </p:grpSp>
        <p:sp>
          <p:nvSpPr>
            <p:cNvPr id="140" name="Rectangle 266"/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grpSp>
          <p:nvGrpSpPr>
            <p:cNvPr id="141" name="Group 26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62" name="AutoShape 268"/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0"/>
                  <a:buNone/>
                </a:pPr>
                <a:endParaRPr lang="en-US" altLang="en-US" sz="2000">
                  <a:latin typeface="Arial" charset="0"/>
                </a:endParaRPr>
              </a:p>
            </p:txBody>
          </p:sp>
          <p:sp>
            <p:nvSpPr>
              <p:cNvPr id="163" name="AutoShape 269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0"/>
                  <a:buNone/>
                </a:pPr>
                <a:endParaRPr lang="en-US" altLang="en-US" sz="2000">
                  <a:latin typeface="Arial" charset="0"/>
                </a:endParaRPr>
              </a:p>
            </p:txBody>
          </p:sp>
        </p:grpSp>
        <p:sp>
          <p:nvSpPr>
            <p:cNvPr id="142" name="Rectangle 270"/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143" name="Rectangle 271"/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grpSp>
          <p:nvGrpSpPr>
            <p:cNvPr id="144" name="Group 27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60" name="AutoShape 273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0"/>
                  <a:buNone/>
                </a:pPr>
                <a:endParaRPr lang="en-US" altLang="en-US" sz="2000">
                  <a:latin typeface="Arial" charset="0"/>
                </a:endParaRPr>
              </a:p>
            </p:txBody>
          </p:sp>
          <p:sp>
            <p:nvSpPr>
              <p:cNvPr id="161" name="AutoShape 274"/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0"/>
                  <a:buNone/>
                </a:pPr>
                <a:endParaRPr lang="en-US" altLang="en-US" sz="2000">
                  <a:latin typeface="Arial" charset="0"/>
                </a:endParaRPr>
              </a:p>
            </p:txBody>
          </p:sp>
        </p:grpSp>
        <p:sp>
          <p:nvSpPr>
            <p:cNvPr id="145" name="Freeform 27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46" name="Group 27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58" name="AutoShape 277"/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0"/>
                  <a:buNone/>
                </a:pPr>
                <a:endParaRPr lang="en-US" altLang="en-US" sz="2000">
                  <a:latin typeface="Arial" charset="0"/>
                </a:endParaRPr>
              </a:p>
            </p:txBody>
          </p:sp>
          <p:sp>
            <p:nvSpPr>
              <p:cNvPr id="159" name="AutoShape 278"/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0"/>
                  <a:buNone/>
                </a:pPr>
                <a:endParaRPr lang="en-US" altLang="en-US" sz="2000">
                  <a:latin typeface="Arial" charset="0"/>
                </a:endParaRPr>
              </a:p>
            </p:txBody>
          </p:sp>
        </p:grpSp>
        <p:sp>
          <p:nvSpPr>
            <p:cNvPr id="147" name="Rectangle 279"/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148" name="Freeform 28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9" name="Freeform 28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0" name="Oval 282"/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151" name="Freeform 28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2" name="AutoShape 284"/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153" name="AutoShape 285"/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154" name="Oval 286"/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155" name="Oval 287"/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rgbClr val="FF0000"/>
                </a:solidFill>
                <a:latin typeface="Arial" charset="0"/>
              </a:endParaRPr>
            </a:p>
          </p:txBody>
        </p:sp>
        <p:sp>
          <p:nvSpPr>
            <p:cNvPr id="156" name="Oval 288"/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157" name="Rectangle 289"/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45085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 animBg="1"/>
      <p:bldP spid="26" grpId="0" animBg="1"/>
      <p:bldP spid="2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DNS Name Resolution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4"/>
            <a:ext cx="7284178" cy="5590565"/>
          </a:xfrm>
        </p:spPr>
        <p:txBody>
          <a:bodyPr/>
          <a:lstStyle/>
          <a:p>
            <a:r>
              <a:rPr lang="en-US" dirty="0"/>
              <a:t>Recursive Query:</a:t>
            </a:r>
          </a:p>
          <a:p>
            <a:pPr lvl="1"/>
            <a:r>
              <a:rPr lang="en-US" altLang="en-US" dirty="0"/>
              <a:t>A host at </a:t>
            </a:r>
            <a:r>
              <a:rPr lang="en-US" altLang="en-US" dirty="0" err="1"/>
              <a:t>cis.poly.edu</a:t>
            </a:r>
            <a:r>
              <a:rPr lang="en-US" altLang="en-US" dirty="0"/>
              <a:t> wants IP address for </a:t>
            </a:r>
            <a:r>
              <a:rPr lang="en-US" altLang="en-US" dirty="0" err="1"/>
              <a:t>gaia.cs.umass.edu</a:t>
            </a:r>
            <a:endParaRPr lang="en-US" altLang="en-US" dirty="0"/>
          </a:p>
          <a:p>
            <a:endParaRPr lang="en-US" dirty="0"/>
          </a:p>
        </p:txBody>
      </p:sp>
      <p:sp>
        <p:nvSpPr>
          <p:cNvPr id="5" name="Text Box 24"/>
          <p:cNvSpPr txBox="1">
            <a:spLocks noChangeArrowheads="1"/>
          </p:cNvSpPr>
          <p:nvPr/>
        </p:nvSpPr>
        <p:spPr bwMode="auto">
          <a:xfrm>
            <a:off x="10728324" y="3683167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CC0000"/>
                </a:solidFill>
                <a:latin typeface="Arial" charset="0"/>
              </a:rPr>
              <a:t>4</a:t>
            </a:r>
            <a:endParaRPr lang="en-US" altLang="en-US" sz="2400">
              <a:solidFill>
                <a:srgbClr val="CC0000"/>
              </a:solidFill>
              <a:latin typeface="Arial" charset="0"/>
            </a:endParaRPr>
          </a:p>
        </p:txBody>
      </p:sp>
      <p:sp>
        <p:nvSpPr>
          <p:cNvPr id="6" name="Text Box 25"/>
          <p:cNvSpPr txBox="1">
            <a:spLocks noChangeArrowheads="1"/>
          </p:cNvSpPr>
          <p:nvPr/>
        </p:nvSpPr>
        <p:spPr bwMode="auto">
          <a:xfrm>
            <a:off x="10271124" y="3759367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CC0000"/>
                </a:solidFill>
                <a:latin typeface="Arial" charset="0"/>
              </a:rPr>
              <a:t>5</a:t>
            </a:r>
            <a:endParaRPr lang="en-US" altLang="en-US" sz="2400" dirty="0">
              <a:solidFill>
                <a:srgbClr val="CC0000"/>
              </a:solidFill>
              <a:latin typeface="Arial" charset="0"/>
            </a:endParaRPr>
          </a:p>
        </p:txBody>
      </p:sp>
      <p:sp>
        <p:nvSpPr>
          <p:cNvPr id="7" name="Text Box 26"/>
          <p:cNvSpPr txBox="1">
            <a:spLocks noChangeArrowheads="1"/>
          </p:cNvSpPr>
          <p:nvPr/>
        </p:nvSpPr>
        <p:spPr bwMode="auto">
          <a:xfrm>
            <a:off x="9990136" y="2243304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CC0000"/>
                </a:solidFill>
                <a:latin typeface="Arial" charset="0"/>
              </a:rPr>
              <a:t>6</a:t>
            </a:r>
            <a:endParaRPr lang="en-US" altLang="en-US" sz="2400">
              <a:solidFill>
                <a:srgbClr val="CC0000"/>
              </a:solidFill>
              <a:latin typeface="Arial" charset="0"/>
            </a:endParaRPr>
          </a:p>
        </p:txBody>
      </p:sp>
      <p:sp>
        <p:nvSpPr>
          <p:cNvPr id="8" name="Line 60"/>
          <p:cNvSpPr>
            <a:spLocks noChangeShapeType="1"/>
          </p:cNvSpPr>
          <p:nvPr/>
        </p:nvSpPr>
        <p:spPr bwMode="auto">
          <a:xfrm>
            <a:off x="10706099" y="3367255"/>
            <a:ext cx="0" cy="674687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Line 61"/>
          <p:cNvSpPr>
            <a:spLocks noChangeShapeType="1"/>
          </p:cNvSpPr>
          <p:nvPr/>
        </p:nvSpPr>
        <p:spPr bwMode="auto">
          <a:xfrm flipH="1" flipV="1">
            <a:off x="10585449" y="3378366"/>
            <a:ext cx="0" cy="719138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Line 62"/>
          <p:cNvSpPr>
            <a:spLocks noChangeShapeType="1"/>
          </p:cNvSpPr>
          <p:nvPr/>
        </p:nvSpPr>
        <p:spPr bwMode="auto">
          <a:xfrm flipH="1" flipV="1">
            <a:off x="10064750" y="1967080"/>
            <a:ext cx="458787" cy="566737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Text Box 63"/>
          <p:cNvSpPr txBox="1">
            <a:spLocks noChangeArrowheads="1"/>
          </p:cNvSpPr>
          <p:nvPr/>
        </p:nvSpPr>
        <p:spPr bwMode="auto">
          <a:xfrm>
            <a:off x="10409236" y="1816267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CC0000"/>
                </a:solidFill>
                <a:latin typeface="Arial" charset="0"/>
              </a:rPr>
              <a:t>3</a:t>
            </a:r>
            <a:endParaRPr lang="en-US" altLang="en-US" sz="2400" dirty="0">
              <a:solidFill>
                <a:srgbClr val="CC0000"/>
              </a:solidFill>
              <a:latin typeface="Arial" charset="0"/>
            </a:endParaRP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7472361" y="5307180"/>
            <a:ext cx="1746250" cy="611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charset="0"/>
              </a:rPr>
              <a:t>requesting host</a:t>
            </a:r>
            <a:endParaRPr lang="en-US" altLang="en-US" sz="2400">
              <a:latin typeface="Arial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i="1">
                <a:solidFill>
                  <a:srgbClr val="000099"/>
                </a:solidFill>
                <a:latin typeface="Arial" charset="0"/>
              </a:rPr>
              <a:t>cis.poly.edu</a:t>
            </a:r>
          </a:p>
        </p:txBody>
      </p:sp>
      <p:sp>
        <p:nvSpPr>
          <p:cNvPr id="13" name="Text Box 6"/>
          <p:cNvSpPr txBox="1">
            <a:spLocks noChangeArrowheads="1"/>
          </p:cNvSpPr>
          <p:nvPr/>
        </p:nvSpPr>
        <p:spPr bwMode="auto">
          <a:xfrm>
            <a:off x="9948862" y="6156491"/>
            <a:ext cx="18780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i="1">
                <a:latin typeface="Arial" charset="0"/>
              </a:rPr>
              <a:t>gaia.cs.umass.edu</a:t>
            </a:r>
            <a:endParaRPr lang="en-US" altLang="en-US" sz="1600" i="1" dirty="0">
              <a:latin typeface="Arial" charset="0"/>
            </a:endParaRPr>
          </a:p>
        </p:txBody>
      </p:sp>
      <p:sp>
        <p:nvSpPr>
          <p:cNvPr id="14" name="Text Box 17"/>
          <p:cNvSpPr txBox="1">
            <a:spLocks noChangeArrowheads="1"/>
          </p:cNvSpPr>
          <p:nvPr/>
        </p:nvSpPr>
        <p:spPr bwMode="auto">
          <a:xfrm>
            <a:off x="9056687" y="906629"/>
            <a:ext cx="20113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charset="0"/>
              </a:rPr>
              <a:t>root DNS server</a:t>
            </a:r>
            <a:endParaRPr lang="en-US" altLang="en-US" sz="1600">
              <a:latin typeface="Arial" charset="0"/>
            </a:endParaRPr>
          </a:p>
        </p:txBody>
      </p:sp>
      <p:sp>
        <p:nvSpPr>
          <p:cNvPr id="15" name="Line 18"/>
          <p:cNvSpPr>
            <a:spLocks noChangeShapeType="1"/>
          </p:cNvSpPr>
          <p:nvPr/>
        </p:nvSpPr>
        <p:spPr bwMode="auto">
          <a:xfrm flipH="1" flipV="1">
            <a:off x="8551861" y="3341854"/>
            <a:ext cx="0" cy="13144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Line 19"/>
          <p:cNvSpPr>
            <a:spLocks noChangeShapeType="1"/>
          </p:cNvSpPr>
          <p:nvPr/>
        </p:nvSpPr>
        <p:spPr bwMode="auto">
          <a:xfrm flipV="1">
            <a:off x="8656636" y="1646404"/>
            <a:ext cx="914400" cy="9715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Line 22"/>
          <p:cNvSpPr>
            <a:spLocks noChangeShapeType="1"/>
          </p:cNvSpPr>
          <p:nvPr/>
        </p:nvSpPr>
        <p:spPr bwMode="auto">
          <a:xfrm flipH="1">
            <a:off x="8885237" y="1875004"/>
            <a:ext cx="733425" cy="7620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Line 23"/>
          <p:cNvSpPr>
            <a:spLocks noChangeShapeType="1"/>
          </p:cNvSpPr>
          <p:nvPr/>
        </p:nvSpPr>
        <p:spPr bwMode="auto">
          <a:xfrm>
            <a:off x="8742362" y="3370430"/>
            <a:ext cx="9525" cy="132397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9" name="Group 24"/>
          <p:cNvGrpSpPr>
            <a:grpSpLocks/>
          </p:cNvGrpSpPr>
          <p:nvPr/>
        </p:nvGrpSpPr>
        <p:grpSpPr bwMode="auto">
          <a:xfrm>
            <a:off x="7445374" y="3487905"/>
            <a:ext cx="1898650" cy="611187"/>
            <a:chOff x="2831" y="2132"/>
            <a:chExt cx="1196" cy="385"/>
          </a:xfrm>
        </p:grpSpPr>
        <p:sp>
          <p:nvSpPr>
            <p:cNvPr id="20" name="Rectangle 25"/>
            <p:cNvSpPr>
              <a:spLocks noChangeArrowheads="1"/>
            </p:cNvSpPr>
            <p:nvPr/>
          </p:nvSpPr>
          <p:spPr bwMode="auto">
            <a:xfrm>
              <a:off x="2838" y="2178"/>
              <a:ext cx="1182" cy="3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400">
                <a:latin typeface="Arial" charset="0"/>
              </a:endParaRPr>
            </a:p>
          </p:txBody>
        </p:sp>
        <p:sp>
          <p:nvSpPr>
            <p:cNvPr id="21" name="Text Box 26"/>
            <p:cNvSpPr txBox="1">
              <a:spLocks noChangeArrowheads="1"/>
            </p:cNvSpPr>
            <p:nvPr/>
          </p:nvSpPr>
          <p:spPr bwMode="auto">
            <a:xfrm>
              <a:off x="2831" y="2132"/>
              <a:ext cx="1196" cy="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>
                  <a:latin typeface="Arial" charset="0"/>
                </a:rPr>
                <a:t>local DNS server</a:t>
              </a:r>
              <a:endParaRPr lang="en-US" altLang="en-US" sz="2400" dirty="0">
                <a:latin typeface="Arial" charset="0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i="1" dirty="0" err="1">
                  <a:solidFill>
                    <a:srgbClr val="000099"/>
                  </a:solidFill>
                  <a:latin typeface="Arial" charset="0"/>
                </a:rPr>
                <a:t>dns.poly.edu</a:t>
              </a:r>
              <a:endParaRPr lang="en-US" altLang="en-US" sz="1600" i="1" dirty="0">
                <a:solidFill>
                  <a:srgbClr val="000099"/>
                </a:solidFill>
                <a:latin typeface="Arial" charset="0"/>
              </a:endParaRPr>
            </a:p>
          </p:txBody>
        </p:sp>
      </p:grpSp>
      <p:sp>
        <p:nvSpPr>
          <p:cNvPr id="22" name="Text Box 27"/>
          <p:cNvSpPr txBox="1">
            <a:spLocks noChangeArrowheads="1"/>
          </p:cNvSpPr>
          <p:nvPr/>
        </p:nvSpPr>
        <p:spPr bwMode="auto">
          <a:xfrm>
            <a:off x="8262936" y="4197517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CC0000"/>
                </a:solidFill>
                <a:latin typeface="Arial" charset="0"/>
              </a:rPr>
              <a:t>1</a:t>
            </a:r>
            <a:endParaRPr lang="en-US" altLang="en-US" sz="2400">
              <a:solidFill>
                <a:srgbClr val="CC0000"/>
              </a:solidFill>
              <a:latin typeface="Arial" charset="0"/>
            </a:endParaRPr>
          </a:p>
        </p:txBody>
      </p:sp>
      <p:sp>
        <p:nvSpPr>
          <p:cNvPr id="23" name="Text Box 28"/>
          <p:cNvSpPr txBox="1">
            <a:spLocks noChangeArrowheads="1"/>
          </p:cNvSpPr>
          <p:nvPr/>
        </p:nvSpPr>
        <p:spPr bwMode="auto">
          <a:xfrm>
            <a:off x="8805861" y="1863892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CC0000"/>
                </a:solidFill>
                <a:latin typeface="Arial" charset="0"/>
              </a:rPr>
              <a:t>2</a:t>
            </a:r>
            <a:endParaRPr lang="en-US" altLang="en-US" sz="2400">
              <a:solidFill>
                <a:srgbClr val="CC0000"/>
              </a:solidFill>
              <a:latin typeface="Arial" charset="0"/>
            </a:endParaRPr>
          </a:p>
        </p:txBody>
      </p:sp>
      <p:sp>
        <p:nvSpPr>
          <p:cNvPr id="24" name="Text Box 29"/>
          <p:cNvSpPr txBox="1">
            <a:spLocks noChangeArrowheads="1"/>
          </p:cNvSpPr>
          <p:nvPr/>
        </p:nvSpPr>
        <p:spPr bwMode="auto">
          <a:xfrm>
            <a:off x="9244011" y="2102017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CC0000"/>
                </a:solidFill>
                <a:latin typeface="Arial" charset="0"/>
              </a:rPr>
              <a:t>7</a:t>
            </a:r>
            <a:endParaRPr lang="en-US" altLang="en-US" sz="2400">
              <a:solidFill>
                <a:srgbClr val="CC0000"/>
              </a:solidFill>
              <a:latin typeface="Arial" charset="0"/>
            </a:endParaRPr>
          </a:p>
        </p:txBody>
      </p:sp>
      <p:sp>
        <p:nvSpPr>
          <p:cNvPr id="25" name="Text Box 60"/>
          <p:cNvSpPr txBox="1">
            <a:spLocks noChangeArrowheads="1"/>
          </p:cNvSpPr>
          <p:nvPr/>
        </p:nvSpPr>
        <p:spPr bwMode="auto">
          <a:xfrm>
            <a:off x="9618662" y="4854742"/>
            <a:ext cx="23971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charset="0"/>
              </a:rPr>
              <a:t>authoritative DNS server</a:t>
            </a:r>
            <a:endParaRPr lang="en-US" altLang="en-US" sz="2400">
              <a:latin typeface="Arial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Arial" charset="0"/>
              </a:rPr>
              <a:t>dns.cs.umass.edu</a:t>
            </a:r>
            <a:endParaRPr lang="en-US" altLang="en-US" sz="1600">
              <a:latin typeface="Arial" charset="0"/>
            </a:endParaRPr>
          </a:p>
        </p:txBody>
      </p:sp>
      <p:sp>
        <p:nvSpPr>
          <p:cNvPr id="26" name="Text Box 62"/>
          <p:cNvSpPr txBox="1">
            <a:spLocks noChangeArrowheads="1"/>
          </p:cNvSpPr>
          <p:nvPr/>
        </p:nvSpPr>
        <p:spPr bwMode="auto">
          <a:xfrm>
            <a:off x="8815386" y="4207042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CC0000"/>
                </a:solidFill>
                <a:latin typeface="Arial" charset="0"/>
              </a:rPr>
              <a:t>8</a:t>
            </a:r>
            <a:endParaRPr lang="en-US" altLang="en-US" sz="2400">
              <a:solidFill>
                <a:srgbClr val="CC0000"/>
              </a:solidFill>
              <a:latin typeface="Arial" charset="0"/>
            </a:endParaRPr>
          </a:p>
        </p:txBody>
      </p:sp>
      <p:sp>
        <p:nvSpPr>
          <p:cNvPr id="27" name="Line 62"/>
          <p:cNvSpPr>
            <a:spLocks noChangeShapeType="1"/>
          </p:cNvSpPr>
          <p:nvPr/>
        </p:nvSpPr>
        <p:spPr bwMode="auto">
          <a:xfrm flipH="1" flipV="1">
            <a:off x="10118725" y="1759117"/>
            <a:ext cx="600075" cy="741363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Text Box 65"/>
          <p:cNvSpPr txBox="1">
            <a:spLocks noChangeArrowheads="1"/>
          </p:cNvSpPr>
          <p:nvPr/>
        </p:nvSpPr>
        <p:spPr bwMode="auto">
          <a:xfrm>
            <a:off x="10866437" y="2713204"/>
            <a:ext cx="1325563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Arial" charset="0"/>
              </a:rPr>
              <a:t>TLD DNS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Arial" charset="0"/>
              </a:rPr>
              <a:t>server</a:t>
            </a:r>
            <a:endParaRPr lang="en-US" altLang="en-US" sz="1600" dirty="0">
              <a:latin typeface="Arial" charset="0"/>
            </a:endParaRPr>
          </a:p>
        </p:txBody>
      </p:sp>
      <p:grpSp>
        <p:nvGrpSpPr>
          <p:cNvPr id="29" name="Group 140"/>
          <p:cNvGrpSpPr>
            <a:grpSpLocks/>
          </p:cNvGrpSpPr>
          <p:nvPr/>
        </p:nvGrpSpPr>
        <p:grpSpPr bwMode="auto">
          <a:xfrm flipH="1">
            <a:off x="10491787" y="5516730"/>
            <a:ext cx="925513" cy="795337"/>
            <a:chOff x="-44" y="1473"/>
            <a:chExt cx="981" cy="1105"/>
          </a:xfrm>
        </p:grpSpPr>
        <p:pic>
          <p:nvPicPr>
            <p:cNvPr id="30" name="Picture 141" descr="desktop_computer_stylized_mediu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" name="Freeform 142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2" name="Group 143"/>
          <p:cNvGrpSpPr>
            <a:grpSpLocks/>
          </p:cNvGrpSpPr>
          <p:nvPr/>
        </p:nvGrpSpPr>
        <p:grpSpPr bwMode="auto">
          <a:xfrm>
            <a:off x="8031162" y="4670591"/>
            <a:ext cx="925513" cy="795338"/>
            <a:chOff x="-44" y="1473"/>
            <a:chExt cx="981" cy="1105"/>
          </a:xfrm>
        </p:grpSpPr>
        <p:pic>
          <p:nvPicPr>
            <p:cNvPr id="33" name="Picture 144" descr="desktop_computer_stylized_mediu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4" name="Freeform 145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5" name="Group 146"/>
          <p:cNvGrpSpPr>
            <a:grpSpLocks/>
          </p:cNvGrpSpPr>
          <p:nvPr/>
        </p:nvGrpSpPr>
        <p:grpSpPr bwMode="auto">
          <a:xfrm>
            <a:off x="10491787" y="4168941"/>
            <a:ext cx="390525" cy="641350"/>
            <a:chOff x="4140" y="429"/>
            <a:chExt cx="1425" cy="2396"/>
          </a:xfrm>
        </p:grpSpPr>
        <p:sp>
          <p:nvSpPr>
            <p:cNvPr id="36" name="Freeform 147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Rectangle 148"/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38" name="Freeform 149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150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151"/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grpSp>
          <p:nvGrpSpPr>
            <p:cNvPr id="41" name="Group 152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6" name="AutoShape 153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0"/>
                  <a:buNone/>
                </a:pPr>
                <a:endParaRPr lang="en-US" altLang="en-US" sz="2000">
                  <a:latin typeface="Arial" charset="0"/>
                </a:endParaRPr>
              </a:p>
            </p:txBody>
          </p:sp>
          <p:sp>
            <p:nvSpPr>
              <p:cNvPr id="67" name="AutoShape 154"/>
              <p:cNvSpPr>
                <a:spLocks noChangeArrowheads="1"/>
              </p:cNvSpPr>
              <p:nvPr/>
            </p:nvSpPr>
            <p:spPr bwMode="auto">
              <a:xfrm>
                <a:off x="628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0"/>
                  <a:buNone/>
                </a:pPr>
                <a:endParaRPr lang="en-US" altLang="en-US" sz="2000">
                  <a:latin typeface="Arial" charset="0"/>
                </a:endParaRPr>
              </a:p>
            </p:txBody>
          </p:sp>
        </p:grpSp>
        <p:sp>
          <p:nvSpPr>
            <p:cNvPr id="42" name="Rectangle 155"/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grpSp>
          <p:nvGrpSpPr>
            <p:cNvPr id="43" name="Group 156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4" name="AutoShape 157"/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0"/>
                  <a:buNone/>
                </a:pPr>
                <a:endParaRPr lang="en-US" altLang="en-US" sz="2000">
                  <a:latin typeface="Arial" charset="0"/>
                </a:endParaRPr>
              </a:p>
            </p:txBody>
          </p:sp>
          <p:sp>
            <p:nvSpPr>
              <p:cNvPr id="65" name="AutoShape 158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0"/>
                  <a:buNone/>
                </a:pPr>
                <a:endParaRPr lang="en-US" altLang="en-US" sz="2000">
                  <a:latin typeface="Arial" charset="0"/>
                </a:endParaRPr>
              </a:p>
            </p:txBody>
          </p:sp>
        </p:grpSp>
        <p:sp>
          <p:nvSpPr>
            <p:cNvPr id="44" name="Rectangle 159"/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45" name="Rectangle 160"/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grpSp>
          <p:nvGrpSpPr>
            <p:cNvPr id="46" name="Group 161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62" name="AutoShape 162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0"/>
                  <a:buNone/>
                </a:pPr>
                <a:endParaRPr lang="en-US" altLang="en-US" sz="2000">
                  <a:latin typeface="Arial" charset="0"/>
                </a:endParaRPr>
              </a:p>
            </p:txBody>
          </p:sp>
          <p:sp>
            <p:nvSpPr>
              <p:cNvPr id="63" name="AutoShape 163"/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0"/>
                  <a:buNone/>
                </a:pPr>
                <a:endParaRPr lang="en-US" altLang="en-US" sz="2000">
                  <a:latin typeface="Arial" charset="0"/>
                </a:endParaRPr>
              </a:p>
            </p:txBody>
          </p:sp>
        </p:grpSp>
        <p:sp>
          <p:nvSpPr>
            <p:cNvPr id="47" name="Freeform 164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8" name="Group 165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60" name="AutoShape 166"/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0"/>
                  <a:buNone/>
                </a:pPr>
                <a:endParaRPr lang="en-US" altLang="en-US" sz="2000">
                  <a:latin typeface="Arial" charset="0"/>
                </a:endParaRPr>
              </a:p>
            </p:txBody>
          </p:sp>
          <p:sp>
            <p:nvSpPr>
              <p:cNvPr id="61" name="AutoShape 167"/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0"/>
                  <a:buNone/>
                </a:pPr>
                <a:endParaRPr lang="en-US" altLang="en-US" sz="2000">
                  <a:latin typeface="Arial" charset="0"/>
                </a:endParaRPr>
              </a:p>
            </p:txBody>
          </p:sp>
        </p:grpSp>
        <p:sp>
          <p:nvSpPr>
            <p:cNvPr id="49" name="Rectangle 168"/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50" name="Freeform 169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170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Oval 171"/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53" name="Freeform 172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AutoShape 173"/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55" name="AutoShape 174"/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56" name="Oval 175"/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57" name="Oval 176"/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rgbClr val="FF0000"/>
                </a:solidFill>
                <a:latin typeface="Arial" charset="0"/>
              </a:endParaRPr>
            </a:p>
          </p:txBody>
        </p:sp>
        <p:sp>
          <p:nvSpPr>
            <p:cNvPr id="58" name="Oval 177"/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59" name="Rectangle 178"/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</p:grpSp>
      <p:grpSp>
        <p:nvGrpSpPr>
          <p:cNvPr id="68" name="Group 212"/>
          <p:cNvGrpSpPr>
            <a:grpSpLocks/>
          </p:cNvGrpSpPr>
          <p:nvPr/>
        </p:nvGrpSpPr>
        <p:grpSpPr bwMode="auto">
          <a:xfrm>
            <a:off x="8488362" y="2656054"/>
            <a:ext cx="390525" cy="641350"/>
            <a:chOff x="4140" y="429"/>
            <a:chExt cx="1425" cy="2396"/>
          </a:xfrm>
        </p:grpSpPr>
        <p:sp>
          <p:nvSpPr>
            <p:cNvPr id="69" name="Freeform 213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Rectangle 214"/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71" name="Freeform 215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216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Rectangle 217"/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grpSp>
          <p:nvGrpSpPr>
            <p:cNvPr id="74" name="Group 218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9" name="AutoShape 219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0"/>
                  <a:buNone/>
                </a:pPr>
                <a:endParaRPr lang="en-US" altLang="en-US" sz="2000">
                  <a:latin typeface="Arial" charset="0"/>
                </a:endParaRPr>
              </a:p>
            </p:txBody>
          </p:sp>
          <p:sp>
            <p:nvSpPr>
              <p:cNvPr id="100" name="AutoShape 220"/>
              <p:cNvSpPr>
                <a:spLocks noChangeArrowheads="1"/>
              </p:cNvSpPr>
              <p:nvPr/>
            </p:nvSpPr>
            <p:spPr bwMode="auto">
              <a:xfrm>
                <a:off x="628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0"/>
                  <a:buNone/>
                </a:pPr>
                <a:endParaRPr lang="en-US" altLang="en-US" sz="2000">
                  <a:latin typeface="Arial" charset="0"/>
                </a:endParaRPr>
              </a:p>
            </p:txBody>
          </p:sp>
        </p:grpSp>
        <p:sp>
          <p:nvSpPr>
            <p:cNvPr id="75" name="Rectangle 221"/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grpSp>
          <p:nvGrpSpPr>
            <p:cNvPr id="76" name="Group 222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7" name="AutoShape 223"/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0"/>
                  <a:buNone/>
                </a:pPr>
                <a:endParaRPr lang="en-US" altLang="en-US" sz="2000">
                  <a:latin typeface="Arial" charset="0"/>
                </a:endParaRPr>
              </a:p>
            </p:txBody>
          </p:sp>
          <p:sp>
            <p:nvSpPr>
              <p:cNvPr id="98" name="AutoShape 224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0"/>
                  <a:buNone/>
                </a:pPr>
                <a:endParaRPr lang="en-US" altLang="en-US" sz="2000">
                  <a:latin typeface="Arial" charset="0"/>
                </a:endParaRPr>
              </a:p>
            </p:txBody>
          </p:sp>
        </p:grpSp>
        <p:sp>
          <p:nvSpPr>
            <p:cNvPr id="77" name="Rectangle 225"/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78" name="Rectangle 226"/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grpSp>
          <p:nvGrpSpPr>
            <p:cNvPr id="79" name="Group 227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5" name="AutoShape 228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0"/>
                  <a:buNone/>
                </a:pPr>
                <a:endParaRPr lang="en-US" altLang="en-US" sz="2000">
                  <a:latin typeface="Arial" charset="0"/>
                </a:endParaRPr>
              </a:p>
            </p:txBody>
          </p:sp>
          <p:sp>
            <p:nvSpPr>
              <p:cNvPr id="96" name="AutoShape 229"/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0"/>
                  <a:buNone/>
                </a:pPr>
                <a:endParaRPr lang="en-US" altLang="en-US" sz="2000">
                  <a:latin typeface="Arial" charset="0"/>
                </a:endParaRPr>
              </a:p>
            </p:txBody>
          </p:sp>
        </p:grpSp>
        <p:sp>
          <p:nvSpPr>
            <p:cNvPr id="80" name="Freeform 230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81" name="Group 231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93" name="AutoShape 232"/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0"/>
                  <a:buNone/>
                </a:pPr>
                <a:endParaRPr lang="en-US" altLang="en-US" sz="2000">
                  <a:latin typeface="Arial" charset="0"/>
                </a:endParaRPr>
              </a:p>
            </p:txBody>
          </p:sp>
          <p:sp>
            <p:nvSpPr>
              <p:cNvPr id="94" name="AutoShape 233"/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0"/>
                  <a:buNone/>
                </a:pPr>
                <a:endParaRPr lang="en-US" altLang="en-US" sz="2000">
                  <a:latin typeface="Arial" charset="0"/>
                </a:endParaRPr>
              </a:p>
            </p:txBody>
          </p:sp>
        </p:grpSp>
        <p:sp>
          <p:nvSpPr>
            <p:cNvPr id="82" name="Rectangle 234"/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83" name="Freeform 235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236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Oval 237"/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86" name="Freeform 238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AutoShape 239"/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88" name="AutoShape 240"/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89" name="Oval 241"/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90" name="Oval 242"/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rgbClr val="FF0000"/>
                </a:solidFill>
                <a:latin typeface="Arial" charset="0"/>
              </a:endParaRPr>
            </a:p>
          </p:txBody>
        </p:sp>
        <p:sp>
          <p:nvSpPr>
            <p:cNvPr id="91" name="Oval 243"/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92" name="Rectangle 244"/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</p:grpSp>
      <p:grpSp>
        <p:nvGrpSpPr>
          <p:cNvPr id="101" name="Group 245"/>
          <p:cNvGrpSpPr>
            <a:grpSpLocks/>
          </p:cNvGrpSpPr>
          <p:nvPr/>
        </p:nvGrpSpPr>
        <p:grpSpPr bwMode="auto">
          <a:xfrm>
            <a:off x="9642475" y="1393991"/>
            <a:ext cx="390525" cy="641350"/>
            <a:chOff x="4140" y="429"/>
            <a:chExt cx="1425" cy="2396"/>
          </a:xfrm>
        </p:grpSpPr>
        <p:sp>
          <p:nvSpPr>
            <p:cNvPr id="102" name="Freeform 246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Rectangle 247"/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104" name="Freeform 248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249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Rectangle 250"/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grpSp>
          <p:nvGrpSpPr>
            <p:cNvPr id="107" name="Group 251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32" name="AutoShape 252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0"/>
                  <a:buNone/>
                </a:pPr>
                <a:endParaRPr lang="en-US" altLang="en-US" sz="2000">
                  <a:latin typeface="Arial" charset="0"/>
                </a:endParaRPr>
              </a:p>
            </p:txBody>
          </p:sp>
          <p:sp>
            <p:nvSpPr>
              <p:cNvPr id="133" name="AutoShape 253"/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0"/>
                  <a:buNone/>
                </a:pPr>
                <a:endParaRPr lang="en-US" altLang="en-US" sz="2000">
                  <a:latin typeface="Arial" charset="0"/>
                </a:endParaRPr>
              </a:p>
            </p:txBody>
          </p:sp>
        </p:grpSp>
        <p:sp>
          <p:nvSpPr>
            <p:cNvPr id="108" name="Rectangle 254"/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grpSp>
          <p:nvGrpSpPr>
            <p:cNvPr id="109" name="Group 255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30" name="AutoShape 256"/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0"/>
                  <a:buNone/>
                </a:pPr>
                <a:endParaRPr lang="en-US" altLang="en-US" sz="2000">
                  <a:latin typeface="Arial" charset="0"/>
                </a:endParaRPr>
              </a:p>
            </p:txBody>
          </p:sp>
          <p:sp>
            <p:nvSpPr>
              <p:cNvPr id="131" name="AutoShape 257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0"/>
                  <a:buNone/>
                </a:pPr>
                <a:endParaRPr lang="en-US" altLang="en-US" sz="2000">
                  <a:latin typeface="Arial" charset="0"/>
                </a:endParaRPr>
              </a:p>
            </p:txBody>
          </p:sp>
        </p:grpSp>
        <p:sp>
          <p:nvSpPr>
            <p:cNvPr id="110" name="Rectangle 258"/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111" name="Rectangle 259"/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grpSp>
          <p:nvGrpSpPr>
            <p:cNvPr id="112" name="Group 260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28" name="AutoShape 261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0"/>
                  <a:buNone/>
                </a:pPr>
                <a:endParaRPr lang="en-US" altLang="en-US" sz="2000">
                  <a:latin typeface="Arial" charset="0"/>
                </a:endParaRPr>
              </a:p>
            </p:txBody>
          </p:sp>
          <p:sp>
            <p:nvSpPr>
              <p:cNvPr id="129" name="AutoShape 262"/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0"/>
                  <a:buNone/>
                </a:pPr>
                <a:endParaRPr lang="en-US" altLang="en-US" sz="2000">
                  <a:latin typeface="Arial" charset="0"/>
                </a:endParaRPr>
              </a:p>
            </p:txBody>
          </p:sp>
        </p:grpSp>
        <p:sp>
          <p:nvSpPr>
            <p:cNvPr id="113" name="Freeform 263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4" name="Group 264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26" name="AutoShape 265"/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0"/>
                  <a:buNone/>
                </a:pPr>
                <a:endParaRPr lang="en-US" altLang="en-US" sz="2000">
                  <a:latin typeface="Arial" charset="0"/>
                </a:endParaRPr>
              </a:p>
            </p:txBody>
          </p:sp>
          <p:sp>
            <p:nvSpPr>
              <p:cNvPr id="127" name="AutoShape 266"/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0"/>
                  <a:buNone/>
                </a:pPr>
                <a:endParaRPr lang="en-US" altLang="en-US" sz="2000">
                  <a:latin typeface="Arial" charset="0"/>
                </a:endParaRPr>
              </a:p>
            </p:txBody>
          </p:sp>
        </p:grpSp>
        <p:sp>
          <p:nvSpPr>
            <p:cNvPr id="115" name="Rectangle 267"/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116" name="Freeform 268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Freeform 269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Oval 270"/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119" name="Freeform 271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AutoShape 272"/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121" name="AutoShape 273"/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122" name="Oval 274"/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123" name="Oval 275"/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rgbClr val="FF0000"/>
                </a:solidFill>
                <a:latin typeface="Arial" charset="0"/>
              </a:endParaRPr>
            </a:p>
          </p:txBody>
        </p:sp>
        <p:sp>
          <p:nvSpPr>
            <p:cNvPr id="124" name="Oval 276"/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125" name="Rectangle 277"/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</p:grpSp>
      <p:grpSp>
        <p:nvGrpSpPr>
          <p:cNvPr id="134" name="Group 311"/>
          <p:cNvGrpSpPr>
            <a:grpSpLocks/>
          </p:cNvGrpSpPr>
          <p:nvPr/>
        </p:nvGrpSpPr>
        <p:grpSpPr bwMode="auto">
          <a:xfrm>
            <a:off x="10458450" y="2646529"/>
            <a:ext cx="390525" cy="641350"/>
            <a:chOff x="4140" y="429"/>
            <a:chExt cx="1425" cy="2396"/>
          </a:xfrm>
        </p:grpSpPr>
        <p:sp>
          <p:nvSpPr>
            <p:cNvPr id="135" name="Freeform 312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Rectangle 313"/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137" name="Freeform 314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Freeform 315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Rectangle 316"/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grpSp>
          <p:nvGrpSpPr>
            <p:cNvPr id="140" name="Group 317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65" name="AutoShape 318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0"/>
                  <a:buNone/>
                </a:pPr>
                <a:endParaRPr lang="en-US" altLang="en-US" sz="2000">
                  <a:latin typeface="Arial" charset="0"/>
                </a:endParaRPr>
              </a:p>
            </p:txBody>
          </p:sp>
          <p:sp>
            <p:nvSpPr>
              <p:cNvPr id="166" name="AutoShape 319"/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0"/>
                  <a:buNone/>
                </a:pPr>
                <a:endParaRPr lang="en-US" altLang="en-US" sz="2000">
                  <a:latin typeface="Arial" charset="0"/>
                </a:endParaRPr>
              </a:p>
            </p:txBody>
          </p:sp>
        </p:grpSp>
        <p:sp>
          <p:nvSpPr>
            <p:cNvPr id="141" name="Rectangle 320"/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grpSp>
          <p:nvGrpSpPr>
            <p:cNvPr id="142" name="Group 321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63" name="AutoShape 322"/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0"/>
                  <a:buNone/>
                </a:pPr>
                <a:endParaRPr lang="en-US" altLang="en-US" sz="2000">
                  <a:latin typeface="Arial" charset="0"/>
                </a:endParaRPr>
              </a:p>
            </p:txBody>
          </p:sp>
          <p:sp>
            <p:nvSpPr>
              <p:cNvPr id="164" name="AutoShape 323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0"/>
                  <a:buNone/>
                </a:pPr>
                <a:endParaRPr lang="en-US" altLang="en-US" sz="2000">
                  <a:latin typeface="Arial" charset="0"/>
                </a:endParaRPr>
              </a:p>
            </p:txBody>
          </p:sp>
        </p:grpSp>
        <p:sp>
          <p:nvSpPr>
            <p:cNvPr id="143" name="Rectangle 324"/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144" name="Rectangle 325"/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grpSp>
          <p:nvGrpSpPr>
            <p:cNvPr id="145" name="Group 326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61" name="AutoShape 327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0"/>
                  <a:buNone/>
                </a:pPr>
                <a:endParaRPr lang="en-US" altLang="en-US" sz="2000">
                  <a:latin typeface="Arial" charset="0"/>
                </a:endParaRPr>
              </a:p>
            </p:txBody>
          </p:sp>
          <p:sp>
            <p:nvSpPr>
              <p:cNvPr id="162" name="AutoShape 328"/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0"/>
                  <a:buNone/>
                </a:pPr>
                <a:endParaRPr lang="en-US" altLang="en-US" sz="2000">
                  <a:latin typeface="Arial" charset="0"/>
                </a:endParaRPr>
              </a:p>
            </p:txBody>
          </p:sp>
        </p:grpSp>
        <p:sp>
          <p:nvSpPr>
            <p:cNvPr id="146" name="Freeform 329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47" name="Group 330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59" name="AutoShape 331"/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0"/>
                  <a:buNone/>
                </a:pPr>
                <a:endParaRPr lang="en-US" altLang="en-US" sz="2000">
                  <a:latin typeface="Arial" charset="0"/>
                </a:endParaRPr>
              </a:p>
            </p:txBody>
          </p:sp>
          <p:sp>
            <p:nvSpPr>
              <p:cNvPr id="160" name="AutoShape 332"/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0"/>
                  <a:buNone/>
                </a:pPr>
                <a:endParaRPr lang="en-US" altLang="en-US" sz="2000">
                  <a:latin typeface="Arial" charset="0"/>
                </a:endParaRPr>
              </a:p>
            </p:txBody>
          </p:sp>
        </p:grpSp>
        <p:sp>
          <p:nvSpPr>
            <p:cNvPr id="148" name="Rectangle 333"/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149" name="Freeform 334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0" name="Freeform 335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" name="Oval 336"/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152" name="Freeform 337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" name="AutoShape 338"/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154" name="AutoShape 339"/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155" name="Oval 340"/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156" name="Oval 341"/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rgbClr val="FF0000"/>
                </a:solidFill>
                <a:latin typeface="Arial" charset="0"/>
              </a:endParaRPr>
            </a:p>
          </p:txBody>
        </p:sp>
        <p:sp>
          <p:nvSpPr>
            <p:cNvPr id="157" name="Oval 342"/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158" name="Rectangle 343"/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0"/>
                <a:buNone/>
              </a:pPr>
              <a:endParaRPr lang="en-US" altLang="en-US" sz="2000">
                <a:latin typeface="Arial" charset="0"/>
              </a:endParaRPr>
            </a:p>
          </p:txBody>
        </p:sp>
      </p:grpSp>
      <p:sp>
        <p:nvSpPr>
          <p:cNvPr id="167" name="TextBox 166"/>
          <p:cNvSpPr txBox="1"/>
          <p:nvPr/>
        </p:nvSpPr>
        <p:spPr>
          <a:xfrm>
            <a:off x="12344400" y="612370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435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animBg="1"/>
      <p:bldP spid="9" grpId="0" animBg="1"/>
      <p:bldP spid="10" grpId="0" animBg="1"/>
      <p:bldP spid="11" grpId="0"/>
      <p:bldP spid="12" grpId="0"/>
      <p:bldP spid="13" grpId="0"/>
      <p:bldP spid="14" grpId="0"/>
      <p:bldP spid="15" grpId="0" animBg="1"/>
      <p:bldP spid="16" grpId="0" animBg="1"/>
      <p:bldP spid="17" grpId="0" animBg="1"/>
      <p:bldP spid="18" grpId="0" animBg="1"/>
      <p:bldP spid="22" grpId="0"/>
      <p:bldP spid="23" grpId="0"/>
      <p:bldP spid="24" grpId="0"/>
      <p:bldP spid="25" grpId="0"/>
      <p:bldP spid="26" grpId="0"/>
      <p:bldP spid="27" grpId="0" animBg="1"/>
      <p:bldP spid="2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DNS – </a:t>
            </a:r>
            <a:r>
              <a:rPr lang="en-IN" dirty="0" err="1"/>
              <a:t>Cont</a:t>
            </a:r>
            <a:r>
              <a:rPr lang="is-IS" dirty="0"/>
              <a:t>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Distributed database design is </a:t>
            </a:r>
            <a:r>
              <a:rPr lang="en-IN" dirty="0">
                <a:solidFill>
                  <a:schemeClr val="accent6"/>
                </a:solidFill>
              </a:rPr>
              <a:t>more preferred over centralized design </a:t>
            </a:r>
            <a:r>
              <a:rPr lang="en-IN" dirty="0"/>
              <a:t>to implement DNS in the Internet.</a:t>
            </a:r>
            <a:endParaRPr lang="en-US" dirty="0"/>
          </a:p>
          <a:p>
            <a:pPr lvl="0"/>
            <a:r>
              <a:rPr lang="en-IN" dirty="0">
                <a:solidFill>
                  <a:schemeClr val="accent6"/>
                </a:solidFill>
              </a:rPr>
              <a:t>A single point of failure</a:t>
            </a:r>
            <a:r>
              <a:rPr lang="en-IN" dirty="0"/>
              <a:t>: If the DNS server crashes then the entire Internet will not stop.</a:t>
            </a:r>
            <a:endParaRPr lang="en-US" dirty="0"/>
          </a:p>
          <a:p>
            <a:pPr lvl="0"/>
            <a:r>
              <a:rPr lang="en-IN" dirty="0">
                <a:solidFill>
                  <a:schemeClr val="accent6"/>
                </a:solidFill>
              </a:rPr>
              <a:t>Traffic volume</a:t>
            </a:r>
            <a:r>
              <a:rPr lang="en-IN" dirty="0"/>
              <a:t>: With millions of device and users accessing its services from whole globe at the same time. </a:t>
            </a:r>
          </a:p>
          <a:p>
            <a:pPr lvl="0"/>
            <a:r>
              <a:rPr lang="en-IN" dirty="0"/>
              <a:t>A Single DNS Server cannot handle huge DNS traffic but with </a:t>
            </a:r>
            <a:r>
              <a:rPr lang="en-IN" dirty="0">
                <a:solidFill>
                  <a:schemeClr val="accent6"/>
                </a:solidFill>
              </a:rPr>
              <a:t>distributed system </a:t>
            </a:r>
            <a:r>
              <a:rPr lang="en-IN" dirty="0"/>
              <a:t>its distributed and reduce overload on server.</a:t>
            </a:r>
            <a:endParaRPr lang="en-US" dirty="0"/>
          </a:p>
          <a:p>
            <a:pPr lvl="0"/>
            <a:r>
              <a:rPr lang="en-IN" dirty="0">
                <a:solidFill>
                  <a:schemeClr val="accent6"/>
                </a:solidFill>
              </a:rPr>
              <a:t>Distant centralized database</a:t>
            </a:r>
            <a:r>
              <a:rPr lang="en-IN" dirty="0"/>
              <a:t>: A single DNS server cannot be “close to” all the querying clients. </a:t>
            </a:r>
          </a:p>
          <a:p>
            <a:pPr lvl="1"/>
            <a:r>
              <a:rPr lang="en-IN" dirty="0"/>
              <a:t>If it is in New York City, then all queries from Australia must travel to the other side of the globe, perhaps over slow and congested links cause significant delays.</a:t>
            </a:r>
            <a:endParaRPr lang="en-US" dirty="0"/>
          </a:p>
          <a:p>
            <a:pPr lvl="0"/>
            <a:r>
              <a:rPr lang="en-IN" dirty="0">
                <a:solidFill>
                  <a:schemeClr val="accent6"/>
                </a:solidFill>
              </a:rPr>
              <a:t>Maintenance</a:t>
            </a:r>
            <a:r>
              <a:rPr lang="en-IN" dirty="0"/>
              <a:t>: To keep records for all Internet hosts. it would have to be updated frequently to account for every new host.</a:t>
            </a:r>
            <a:endParaRPr lang="en-US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309612" y="55379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191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9EAA63-4C35-A0EC-2FBC-650CE6B93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Socket Programming – TCP, UDP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F092C0-2593-AC4C-9099-0FA3746F64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3229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 Programming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Socket is </a:t>
            </a:r>
            <a:r>
              <a:rPr lang="en-US" altLang="en-US" dirty="0">
                <a:solidFill>
                  <a:schemeClr val="accent6"/>
                </a:solidFill>
              </a:rPr>
              <a:t>interface</a:t>
            </a:r>
            <a:r>
              <a:rPr lang="en-US" altLang="en-US" dirty="0"/>
              <a:t> between application and network.</a:t>
            </a:r>
          </a:p>
          <a:p>
            <a:pPr lvl="1"/>
            <a:r>
              <a:rPr lang="en-US" altLang="en-US" dirty="0"/>
              <a:t>An application creates a socket.</a:t>
            </a:r>
          </a:p>
          <a:p>
            <a:pPr lvl="1"/>
            <a:r>
              <a:rPr lang="en-US" altLang="en-US" dirty="0"/>
              <a:t>Two type of socket:</a:t>
            </a:r>
          </a:p>
          <a:p>
            <a:pPr lvl="2"/>
            <a:r>
              <a:rPr lang="en-US" altLang="en-US" dirty="0"/>
              <a:t>TCP Socket – </a:t>
            </a:r>
            <a:r>
              <a:rPr lang="en-US" altLang="en-US" dirty="0">
                <a:solidFill>
                  <a:schemeClr val="accent6"/>
                </a:solidFill>
              </a:rPr>
              <a:t>Reliable</a:t>
            </a:r>
            <a:r>
              <a:rPr lang="en-US" altLang="en-US" dirty="0"/>
              <a:t> Transmission</a:t>
            </a:r>
          </a:p>
          <a:p>
            <a:pPr lvl="2"/>
            <a:r>
              <a:rPr lang="en-US" altLang="en-US" dirty="0"/>
              <a:t>UDP Socket – </a:t>
            </a:r>
            <a:r>
              <a:rPr lang="en-US" altLang="en-US" dirty="0">
                <a:solidFill>
                  <a:schemeClr val="accent6"/>
                </a:solidFill>
              </a:rPr>
              <a:t>Unreliable</a:t>
            </a:r>
            <a:r>
              <a:rPr lang="en-US" altLang="en-US" dirty="0"/>
              <a:t> Transmission</a:t>
            </a:r>
          </a:p>
          <a:p>
            <a:r>
              <a:rPr lang="en-US" altLang="en-US" dirty="0"/>
              <a:t>Once configured the application can pass data to the socket for transmission and receive data from the socket (transmitted through the network by some other host).</a:t>
            </a:r>
          </a:p>
          <a:p>
            <a:endParaRPr lang="en-US" altLang="en-US" dirty="0"/>
          </a:p>
          <a:p>
            <a:endParaRPr lang="en-US" dirty="0"/>
          </a:p>
        </p:txBody>
      </p:sp>
      <p:grpSp>
        <p:nvGrpSpPr>
          <p:cNvPr id="61" name="Group 60"/>
          <p:cNvGrpSpPr>
            <a:grpSpLocks/>
          </p:cNvGrpSpPr>
          <p:nvPr/>
        </p:nvGrpSpPr>
        <p:grpSpPr bwMode="auto">
          <a:xfrm>
            <a:off x="1981200" y="3863976"/>
            <a:ext cx="8208962" cy="2536825"/>
            <a:chOff x="358775" y="3459163"/>
            <a:chExt cx="8208963" cy="2536825"/>
          </a:xfrm>
        </p:grpSpPr>
        <p:sp>
          <p:nvSpPr>
            <p:cNvPr id="62" name="Freeform 44"/>
            <p:cNvSpPr>
              <a:spLocks/>
            </p:cNvSpPr>
            <p:nvPr/>
          </p:nvSpPr>
          <p:spPr bwMode="auto">
            <a:xfrm>
              <a:off x="6654800" y="3468688"/>
              <a:ext cx="736600" cy="1998662"/>
            </a:xfrm>
            <a:custGeom>
              <a:avLst/>
              <a:gdLst>
                <a:gd name="T0" fmla="*/ 2147483646 w 464"/>
                <a:gd name="T1" fmla="*/ 2147483646 h 1259"/>
                <a:gd name="T2" fmla="*/ 0 w 464"/>
                <a:gd name="T3" fmla="*/ 0 h 1259"/>
                <a:gd name="T4" fmla="*/ 2147483646 w 464"/>
                <a:gd name="T5" fmla="*/ 2147483646 h 1259"/>
                <a:gd name="T6" fmla="*/ 2147483646 w 464"/>
                <a:gd name="T7" fmla="*/ 2147483646 h 1259"/>
                <a:gd name="T8" fmla="*/ 2147483646 w 464"/>
                <a:gd name="T9" fmla="*/ 2147483646 h 12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64"/>
                <a:gd name="T16" fmla="*/ 0 h 1259"/>
                <a:gd name="T17" fmla="*/ 464 w 464"/>
                <a:gd name="T18" fmla="*/ 1259 h 12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64" h="1259">
                  <a:moveTo>
                    <a:pt x="464" y="1060"/>
                  </a:moveTo>
                  <a:lnTo>
                    <a:pt x="0" y="0"/>
                  </a:lnTo>
                  <a:lnTo>
                    <a:pt x="6" y="1258"/>
                  </a:lnTo>
                  <a:lnTo>
                    <a:pt x="382" y="1259"/>
                  </a:lnTo>
                  <a:lnTo>
                    <a:pt x="464" y="1060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B2B2B2"/>
                </a:gs>
              </a:gsLst>
              <a:lin ang="0" scaled="1"/>
            </a:gradFill>
            <a:ln w="9525">
              <a:solidFill>
                <a:srgbClr val="DDDDDD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000" kern="0">
                <a:solidFill>
                  <a:srgbClr val="000000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63" name="Freeform 7"/>
            <p:cNvSpPr>
              <a:spLocks/>
            </p:cNvSpPr>
            <p:nvPr/>
          </p:nvSpPr>
          <p:spPr bwMode="auto">
            <a:xfrm>
              <a:off x="3340100" y="4765675"/>
              <a:ext cx="1808163" cy="1031875"/>
            </a:xfrm>
            <a:custGeom>
              <a:avLst/>
              <a:gdLst>
                <a:gd name="T0" fmla="*/ 2147483646 w 2135"/>
                <a:gd name="T1" fmla="*/ 2147483646 h 1662"/>
                <a:gd name="T2" fmla="*/ 2147483646 w 2135"/>
                <a:gd name="T3" fmla="*/ 2147483646 h 1662"/>
                <a:gd name="T4" fmla="*/ 2147483646 w 2135"/>
                <a:gd name="T5" fmla="*/ 2147483646 h 1662"/>
                <a:gd name="T6" fmla="*/ 2147483646 w 2135"/>
                <a:gd name="T7" fmla="*/ 2147483646 h 1662"/>
                <a:gd name="T8" fmla="*/ 2147483646 w 2135"/>
                <a:gd name="T9" fmla="*/ 2147483646 h 1662"/>
                <a:gd name="T10" fmla="*/ 2147483646 w 2135"/>
                <a:gd name="T11" fmla="*/ 2147483646 h 1662"/>
                <a:gd name="T12" fmla="*/ 2147483646 w 2135"/>
                <a:gd name="T13" fmla="*/ 2147483646 h 1662"/>
                <a:gd name="T14" fmla="*/ 2147483646 w 2135"/>
                <a:gd name="T15" fmla="*/ 2147483646 h 1662"/>
                <a:gd name="T16" fmla="*/ 2147483646 w 2135"/>
                <a:gd name="T17" fmla="*/ 2147483646 h 1662"/>
                <a:gd name="T18" fmla="*/ 2147483646 w 2135"/>
                <a:gd name="T19" fmla="*/ 2147483646 h 1662"/>
                <a:gd name="T20" fmla="*/ 2147483646 w 2135"/>
                <a:gd name="T21" fmla="*/ 2147483646 h 16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135"/>
                <a:gd name="T34" fmla="*/ 0 h 1662"/>
                <a:gd name="T35" fmla="*/ 2135 w 2135"/>
                <a:gd name="T36" fmla="*/ 1662 h 166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135" h="1662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000" kern="0">
                <a:solidFill>
                  <a:srgbClr val="000000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64" name="Text Box 51"/>
            <p:cNvSpPr txBox="1">
              <a:spLocks noChangeArrowheads="1"/>
            </p:cNvSpPr>
            <p:nvPr/>
          </p:nvSpPr>
          <p:spPr bwMode="auto">
            <a:xfrm>
              <a:off x="3778250" y="4897438"/>
              <a:ext cx="87471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  <a:defRPr/>
              </a:pPr>
              <a:r>
                <a:rPr lang="en-US" altLang="en-US" sz="1600" kern="0">
                  <a:solidFill>
                    <a:srgbClr val="000000"/>
                  </a:solidFill>
                  <a:latin typeface="Arial" charset="0"/>
                </a:rPr>
                <a:t>Internet</a:t>
              </a:r>
            </a:p>
          </p:txBody>
        </p:sp>
        <p:sp>
          <p:nvSpPr>
            <p:cNvPr id="65" name="Line 52"/>
            <p:cNvSpPr>
              <a:spLocks noChangeShapeType="1"/>
            </p:cNvSpPr>
            <p:nvPr/>
          </p:nvSpPr>
          <p:spPr bwMode="auto">
            <a:xfrm>
              <a:off x="3098800" y="5308600"/>
              <a:ext cx="22113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000" kern="0">
                <a:solidFill>
                  <a:srgbClr val="000000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66" name="Text Box 53"/>
            <p:cNvSpPr txBox="1">
              <a:spLocks noChangeArrowheads="1"/>
            </p:cNvSpPr>
            <p:nvPr/>
          </p:nvSpPr>
          <p:spPr bwMode="auto">
            <a:xfrm>
              <a:off x="7119938" y="4533900"/>
              <a:ext cx="1063625" cy="825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  <a:defRPr/>
              </a:pPr>
              <a:r>
                <a:rPr lang="en-US" altLang="en-US" sz="1600" kern="0" dirty="0">
                  <a:solidFill>
                    <a:srgbClr val="CC0000"/>
                  </a:solidFill>
                  <a:latin typeface="Arial" charset="0"/>
                </a:rPr>
                <a:t>controlled</a:t>
              </a:r>
            </a:p>
            <a:p>
              <a:pPr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  <a:defRPr/>
              </a:pPr>
              <a:r>
                <a:rPr lang="en-US" altLang="en-US" sz="1600" kern="0" dirty="0">
                  <a:solidFill>
                    <a:srgbClr val="CC0000"/>
                  </a:solidFill>
                  <a:latin typeface="Arial" charset="0"/>
                </a:rPr>
                <a:t>by OS</a:t>
              </a:r>
            </a:p>
            <a:p>
              <a:pPr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  <a:defRPr/>
              </a:pPr>
              <a:endParaRPr lang="en-US" altLang="en-US" sz="1600" kern="0" dirty="0">
                <a:solidFill>
                  <a:srgbClr val="CC0000"/>
                </a:solidFill>
                <a:latin typeface="Times New Roman" charset="0"/>
              </a:endParaRPr>
            </a:p>
          </p:txBody>
        </p:sp>
        <p:sp>
          <p:nvSpPr>
            <p:cNvPr id="67" name="Text Box 56"/>
            <p:cNvSpPr txBox="1">
              <a:spLocks noChangeArrowheads="1"/>
            </p:cNvSpPr>
            <p:nvPr/>
          </p:nvSpPr>
          <p:spPr bwMode="auto">
            <a:xfrm>
              <a:off x="7097713" y="3633788"/>
              <a:ext cx="1470025" cy="533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  <a:defRPr/>
              </a:pPr>
              <a:r>
                <a:rPr lang="en-US" altLang="en-US" sz="1600" kern="0">
                  <a:solidFill>
                    <a:srgbClr val="CC0000"/>
                  </a:solidFill>
                  <a:latin typeface="Arial" charset="0"/>
                </a:rPr>
                <a:t>controlled by</a:t>
              </a:r>
            </a:p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  <a:defRPr/>
              </a:pPr>
              <a:r>
                <a:rPr lang="en-US" altLang="en-US" sz="1600" kern="0">
                  <a:solidFill>
                    <a:srgbClr val="CC0000"/>
                  </a:solidFill>
                  <a:latin typeface="Arial" charset="0"/>
                </a:rPr>
                <a:t>app developer</a:t>
              </a:r>
            </a:p>
          </p:txBody>
        </p:sp>
        <p:sp>
          <p:nvSpPr>
            <p:cNvPr id="68" name="Freeform 50"/>
            <p:cNvSpPr>
              <a:spLocks/>
            </p:cNvSpPr>
            <p:nvPr/>
          </p:nvSpPr>
          <p:spPr bwMode="auto">
            <a:xfrm>
              <a:off x="914400" y="3532188"/>
              <a:ext cx="758825" cy="1997075"/>
            </a:xfrm>
            <a:custGeom>
              <a:avLst/>
              <a:gdLst>
                <a:gd name="T0" fmla="*/ 0 w 478"/>
                <a:gd name="T1" fmla="*/ 2147483646 h 1258"/>
                <a:gd name="T2" fmla="*/ 2147483646 w 478"/>
                <a:gd name="T3" fmla="*/ 0 h 1258"/>
                <a:gd name="T4" fmla="*/ 2147483646 w 478"/>
                <a:gd name="T5" fmla="*/ 2147483646 h 1258"/>
                <a:gd name="T6" fmla="*/ 2147483646 w 478"/>
                <a:gd name="T7" fmla="*/ 2147483646 h 1258"/>
                <a:gd name="T8" fmla="*/ 0 w 478"/>
                <a:gd name="T9" fmla="*/ 2147483646 h 12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78"/>
                <a:gd name="T16" fmla="*/ 0 h 1258"/>
                <a:gd name="T17" fmla="*/ 478 w 478"/>
                <a:gd name="T18" fmla="*/ 1258 h 12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78" h="1258">
                  <a:moveTo>
                    <a:pt x="0" y="1040"/>
                  </a:moveTo>
                  <a:lnTo>
                    <a:pt x="478" y="0"/>
                  </a:lnTo>
                  <a:lnTo>
                    <a:pt x="472" y="1258"/>
                  </a:lnTo>
                  <a:lnTo>
                    <a:pt x="41" y="1246"/>
                  </a:lnTo>
                  <a:lnTo>
                    <a:pt x="0" y="1040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B2B2B2"/>
                </a:gs>
              </a:gsLst>
              <a:lin ang="0" scaled="1"/>
            </a:gradFill>
            <a:ln w="9525">
              <a:solidFill>
                <a:srgbClr val="DDDDDD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000" kern="0">
                <a:solidFill>
                  <a:srgbClr val="000000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69" name="Rectangle 23"/>
            <p:cNvSpPr>
              <a:spLocks noChangeArrowheads="1"/>
            </p:cNvSpPr>
            <p:nvPr/>
          </p:nvSpPr>
          <p:spPr bwMode="auto">
            <a:xfrm>
              <a:off x="1717675" y="3487738"/>
              <a:ext cx="1296988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  <a:defRPr/>
              </a:pPr>
              <a:endParaRPr lang="en-US" altLang="en-US" sz="2400" kern="0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70" name="Rectangle 24"/>
            <p:cNvSpPr>
              <a:spLocks noChangeArrowheads="1"/>
            </p:cNvSpPr>
            <p:nvPr/>
          </p:nvSpPr>
          <p:spPr bwMode="auto">
            <a:xfrm>
              <a:off x="1679575" y="3541713"/>
              <a:ext cx="1273175" cy="1979612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  <a:defRPr/>
              </a:pPr>
              <a:endParaRPr lang="en-US" altLang="en-US" sz="2400" kern="0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71" name="Line 25"/>
            <p:cNvSpPr>
              <a:spLocks noChangeShapeType="1"/>
            </p:cNvSpPr>
            <p:nvPr/>
          </p:nvSpPr>
          <p:spPr bwMode="auto">
            <a:xfrm>
              <a:off x="1689100" y="4302125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000" kern="0">
                <a:solidFill>
                  <a:srgbClr val="000000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72" name="Text Box 26"/>
            <p:cNvSpPr txBox="1">
              <a:spLocks noChangeArrowheads="1"/>
            </p:cNvSpPr>
            <p:nvPr/>
          </p:nvSpPr>
          <p:spPr bwMode="auto">
            <a:xfrm>
              <a:off x="1646238" y="4284663"/>
              <a:ext cx="1317625" cy="30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  <a:defRPr/>
              </a:pPr>
              <a:r>
                <a:rPr lang="en-US" altLang="en-US" sz="1400" kern="0">
                  <a:solidFill>
                    <a:srgbClr val="969696"/>
                  </a:solidFill>
                  <a:latin typeface="Tahoma" charset="0"/>
                </a:rPr>
                <a:t>transport</a:t>
              </a:r>
            </a:p>
          </p:txBody>
        </p:sp>
        <p:sp>
          <p:nvSpPr>
            <p:cNvPr id="73" name="Line 27"/>
            <p:cNvSpPr>
              <a:spLocks noChangeShapeType="1"/>
            </p:cNvSpPr>
            <p:nvPr/>
          </p:nvSpPr>
          <p:spPr bwMode="auto">
            <a:xfrm>
              <a:off x="1697038" y="4622800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000" kern="0">
                <a:solidFill>
                  <a:srgbClr val="000000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74" name="Line 28"/>
            <p:cNvSpPr>
              <a:spLocks noChangeShapeType="1"/>
            </p:cNvSpPr>
            <p:nvPr/>
          </p:nvSpPr>
          <p:spPr bwMode="auto">
            <a:xfrm>
              <a:off x="1682750" y="4932363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000" kern="0">
                <a:solidFill>
                  <a:srgbClr val="000000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75" name="Line 29"/>
            <p:cNvSpPr>
              <a:spLocks noChangeShapeType="1"/>
            </p:cNvSpPr>
            <p:nvPr/>
          </p:nvSpPr>
          <p:spPr bwMode="auto">
            <a:xfrm>
              <a:off x="1682750" y="5218113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000" kern="0">
                <a:solidFill>
                  <a:srgbClr val="000000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76" name="Text Box 26"/>
            <p:cNvSpPr txBox="1">
              <a:spLocks noChangeArrowheads="1"/>
            </p:cNvSpPr>
            <p:nvPr/>
          </p:nvSpPr>
          <p:spPr bwMode="auto">
            <a:xfrm>
              <a:off x="1681163" y="3532188"/>
              <a:ext cx="1317625" cy="30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  <a:defRPr/>
              </a:pPr>
              <a:r>
                <a:rPr lang="en-US" altLang="en-US" sz="1400" kern="0">
                  <a:solidFill>
                    <a:srgbClr val="000000"/>
                  </a:solidFill>
                  <a:latin typeface="Tahoma" charset="0"/>
                </a:rPr>
                <a:t>application</a:t>
              </a:r>
            </a:p>
          </p:txBody>
        </p:sp>
        <p:sp>
          <p:nvSpPr>
            <p:cNvPr id="77" name="Text Box 26"/>
            <p:cNvSpPr txBox="1">
              <a:spLocks noChangeArrowheads="1"/>
            </p:cNvSpPr>
            <p:nvPr/>
          </p:nvSpPr>
          <p:spPr bwMode="auto">
            <a:xfrm>
              <a:off x="1636713" y="5189538"/>
              <a:ext cx="1317625" cy="30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  <a:defRPr/>
              </a:pPr>
              <a:r>
                <a:rPr lang="en-US" altLang="en-US" sz="1400" kern="0">
                  <a:solidFill>
                    <a:srgbClr val="969696"/>
                  </a:solidFill>
                  <a:latin typeface="Tahoma" charset="0"/>
                </a:rPr>
                <a:t>physical</a:t>
              </a:r>
            </a:p>
          </p:txBody>
        </p:sp>
        <p:sp>
          <p:nvSpPr>
            <p:cNvPr id="78" name="Text Box 26"/>
            <p:cNvSpPr txBox="1">
              <a:spLocks noChangeArrowheads="1"/>
            </p:cNvSpPr>
            <p:nvPr/>
          </p:nvSpPr>
          <p:spPr bwMode="auto">
            <a:xfrm>
              <a:off x="1655763" y="4903788"/>
              <a:ext cx="1317625" cy="30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  <a:defRPr/>
              </a:pPr>
              <a:r>
                <a:rPr lang="en-US" altLang="en-US" sz="1400" kern="0">
                  <a:solidFill>
                    <a:srgbClr val="969696"/>
                  </a:solidFill>
                  <a:latin typeface="Tahoma" charset="0"/>
                </a:rPr>
                <a:t>link</a:t>
              </a:r>
            </a:p>
          </p:txBody>
        </p:sp>
        <p:sp>
          <p:nvSpPr>
            <p:cNvPr id="79" name="Text Box 26"/>
            <p:cNvSpPr txBox="1">
              <a:spLocks noChangeArrowheads="1"/>
            </p:cNvSpPr>
            <p:nvPr/>
          </p:nvSpPr>
          <p:spPr bwMode="auto">
            <a:xfrm>
              <a:off x="1646238" y="4608513"/>
              <a:ext cx="1317625" cy="30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  <a:defRPr/>
              </a:pPr>
              <a:r>
                <a:rPr lang="en-US" altLang="en-US" sz="1400" kern="0">
                  <a:solidFill>
                    <a:srgbClr val="969696"/>
                  </a:solidFill>
                  <a:latin typeface="Tahoma" charset="0"/>
                </a:rPr>
                <a:t>network</a:t>
              </a:r>
            </a:p>
          </p:txBody>
        </p:sp>
        <p:sp>
          <p:nvSpPr>
            <p:cNvPr id="80" name="Oval 62"/>
            <p:cNvSpPr>
              <a:spLocks noChangeArrowheads="1"/>
            </p:cNvSpPr>
            <p:nvPr/>
          </p:nvSpPr>
          <p:spPr bwMode="auto">
            <a:xfrm>
              <a:off x="1814513" y="3806825"/>
              <a:ext cx="990600" cy="30480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  <a:defRPr/>
              </a:pPr>
              <a:r>
                <a:rPr lang="en-US" altLang="en-US" sz="1600" kern="0">
                  <a:solidFill>
                    <a:srgbClr val="000000"/>
                  </a:solidFill>
                  <a:latin typeface="Arial" charset="0"/>
                </a:rPr>
                <a:t>process</a:t>
              </a:r>
            </a:p>
          </p:txBody>
        </p:sp>
        <p:grpSp>
          <p:nvGrpSpPr>
            <p:cNvPr id="81" name="Group 63"/>
            <p:cNvGrpSpPr>
              <a:grpSpLocks/>
            </p:cNvGrpSpPr>
            <p:nvPr/>
          </p:nvGrpSpPr>
          <p:grpSpPr bwMode="auto">
            <a:xfrm>
              <a:off x="2062163" y="4167188"/>
              <a:ext cx="546100" cy="225425"/>
              <a:chOff x="1287" y="2524"/>
              <a:chExt cx="260" cy="100"/>
            </a:xfrm>
          </p:grpSpPr>
          <p:sp>
            <p:nvSpPr>
              <p:cNvPr id="111" name="Rectangle 64"/>
              <p:cNvSpPr>
                <a:spLocks noChangeArrowheads="1"/>
              </p:cNvSpPr>
              <p:nvPr/>
            </p:nvSpPr>
            <p:spPr bwMode="auto">
              <a:xfrm>
                <a:off x="1287" y="2524"/>
                <a:ext cx="260" cy="100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0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12" name="Rectangle 65"/>
              <p:cNvSpPr>
                <a:spLocks noChangeArrowheads="1"/>
              </p:cNvSpPr>
              <p:nvPr/>
            </p:nvSpPr>
            <p:spPr bwMode="auto">
              <a:xfrm>
                <a:off x="1338" y="2537"/>
                <a:ext cx="156" cy="7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0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13" name="Rectangle 66"/>
              <p:cNvSpPr>
                <a:spLocks noChangeArrowheads="1"/>
              </p:cNvSpPr>
              <p:nvPr/>
            </p:nvSpPr>
            <p:spPr bwMode="auto">
              <a:xfrm>
                <a:off x="1503" y="2582"/>
                <a:ext cx="27" cy="27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0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14" name="Rectangle 67"/>
              <p:cNvSpPr>
                <a:spLocks noChangeArrowheads="1"/>
              </p:cNvSpPr>
              <p:nvPr/>
            </p:nvSpPr>
            <p:spPr bwMode="auto">
              <a:xfrm>
                <a:off x="1298" y="2583"/>
                <a:ext cx="26" cy="27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0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</p:grpSp>
        <p:sp>
          <p:nvSpPr>
            <p:cNvPr id="82" name="Rectangle 23"/>
            <p:cNvSpPr>
              <a:spLocks noChangeArrowheads="1"/>
            </p:cNvSpPr>
            <p:nvPr/>
          </p:nvSpPr>
          <p:spPr bwMode="auto">
            <a:xfrm>
              <a:off x="5380038" y="3459163"/>
              <a:ext cx="1296987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  <a:defRPr/>
              </a:pPr>
              <a:endParaRPr lang="en-US" altLang="en-US" sz="2400" kern="0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83" name="Rectangle 24"/>
            <p:cNvSpPr>
              <a:spLocks noChangeArrowheads="1"/>
            </p:cNvSpPr>
            <p:nvPr/>
          </p:nvSpPr>
          <p:spPr bwMode="auto">
            <a:xfrm>
              <a:off x="5341938" y="3513138"/>
              <a:ext cx="1273175" cy="1979612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  <a:defRPr/>
              </a:pPr>
              <a:endParaRPr lang="en-US" altLang="en-US" sz="2400" kern="0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84" name="Line 25"/>
            <p:cNvSpPr>
              <a:spLocks noChangeShapeType="1"/>
            </p:cNvSpPr>
            <p:nvPr/>
          </p:nvSpPr>
          <p:spPr bwMode="auto">
            <a:xfrm>
              <a:off x="5351463" y="4273550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000" kern="0">
                <a:solidFill>
                  <a:srgbClr val="000000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85" name="Text Box 26"/>
            <p:cNvSpPr txBox="1">
              <a:spLocks noChangeArrowheads="1"/>
            </p:cNvSpPr>
            <p:nvPr/>
          </p:nvSpPr>
          <p:spPr bwMode="auto">
            <a:xfrm>
              <a:off x="5308600" y="4256088"/>
              <a:ext cx="1317625" cy="30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  <a:defRPr/>
              </a:pPr>
              <a:r>
                <a:rPr lang="en-US" altLang="en-US" sz="1400" kern="0">
                  <a:solidFill>
                    <a:srgbClr val="969696"/>
                  </a:solidFill>
                  <a:latin typeface="Tahoma" charset="0"/>
                </a:rPr>
                <a:t>transport</a:t>
              </a:r>
            </a:p>
          </p:txBody>
        </p:sp>
        <p:sp>
          <p:nvSpPr>
            <p:cNvPr id="86" name="Line 27"/>
            <p:cNvSpPr>
              <a:spLocks noChangeShapeType="1"/>
            </p:cNvSpPr>
            <p:nvPr/>
          </p:nvSpPr>
          <p:spPr bwMode="auto">
            <a:xfrm>
              <a:off x="5359400" y="4594225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000" kern="0">
                <a:solidFill>
                  <a:srgbClr val="000000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87" name="Line 28"/>
            <p:cNvSpPr>
              <a:spLocks noChangeShapeType="1"/>
            </p:cNvSpPr>
            <p:nvPr/>
          </p:nvSpPr>
          <p:spPr bwMode="auto">
            <a:xfrm>
              <a:off x="5345113" y="4903788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000" kern="0">
                <a:solidFill>
                  <a:srgbClr val="000000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88" name="Line 29"/>
            <p:cNvSpPr>
              <a:spLocks noChangeShapeType="1"/>
            </p:cNvSpPr>
            <p:nvPr/>
          </p:nvSpPr>
          <p:spPr bwMode="auto">
            <a:xfrm>
              <a:off x="5345113" y="5189538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000" kern="0">
                <a:solidFill>
                  <a:srgbClr val="000000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89" name="Text Box 26"/>
            <p:cNvSpPr txBox="1">
              <a:spLocks noChangeArrowheads="1"/>
            </p:cNvSpPr>
            <p:nvPr/>
          </p:nvSpPr>
          <p:spPr bwMode="auto">
            <a:xfrm>
              <a:off x="5343525" y="3503613"/>
              <a:ext cx="1317625" cy="30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  <a:defRPr/>
              </a:pPr>
              <a:r>
                <a:rPr lang="en-US" altLang="en-US" sz="1400" kern="0">
                  <a:solidFill>
                    <a:srgbClr val="000000"/>
                  </a:solidFill>
                  <a:latin typeface="Tahoma" charset="0"/>
                </a:rPr>
                <a:t>application</a:t>
              </a:r>
            </a:p>
          </p:txBody>
        </p:sp>
        <p:sp>
          <p:nvSpPr>
            <p:cNvPr id="90" name="Text Box 26"/>
            <p:cNvSpPr txBox="1">
              <a:spLocks noChangeArrowheads="1"/>
            </p:cNvSpPr>
            <p:nvPr/>
          </p:nvSpPr>
          <p:spPr bwMode="auto">
            <a:xfrm>
              <a:off x="5299075" y="5160963"/>
              <a:ext cx="1317625" cy="30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  <a:defRPr/>
              </a:pPr>
              <a:r>
                <a:rPr lang="en-US" altLang="en-US" sz="1400" kern="0">
                  <a:solidFill>
                    <a:srgbClr val="969696"/>
                  </a:solidFill>
                  <a:latin typeface="Tahoma" charset="0"/>
                </a:rPr>
                <a:t>physical</a:t>
              </a:r>
            </a:p>
          </p:txBody>
        </p:sp>
        <p:sp>
          <p:nvSpPr>
            <p:cNvPr id="91" name="Text Box 26"/>
            <p:cNvSpPr txBox="1">
              <a:spLocks noChangeArrowheads="1"/>
            </p:cNvSpPr>
            <p:nvPr/>
          </p:nvSpPr>
          <p:spPr bwMode="auto">
            <a:xfrm>
              <a:off x="5318125" y="4875213"/>
              <a:ext cx="1317625" cy="30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  <a:defRPr/>
              </a:pPr>
              <a:r>
                <a:rPr lang="en-US" altLang="en-US" sz="1400" kern="0">
                  <a:solidFill>
                    <a:srgbClr val="969696"/>
                  </a:solidFill>
                  <a:latin typeface="Tahoma" charset="0"/>
                </a:rPr>
                <a:t>link</a:t>
              </a:r>
            </a:p>
          </p:txBody>
        </p:sp>
        <p:sp>
          <p:nvSpPr>
            <p:cNvPr id="92" name="Text Box 26"/>
            <p:cNvSpPr txBox="1">
              <a:spLocks noChangeArrowheads="1"/>
            </p:cNvSpPr>
            <p:nvPr/>
          </p:nvSpPr>
          <p:spPr bwMode="auto">
            <a:xfrm>
              <a:off x="5308600" y="4579938"/>
              <a:ext cx="1317625" cy="30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  <a:defRPr/>
              </a:pPr>
              <a:r>
                <a:rPr lang="en-US" altLang="en-US" sz="1400" kern="0">
                  <a:solidFill>
                    <a:srgbClr val="969696"/>
                  </a:solidFill>
                  <a:latin typeface="Tahoma" charset="0"/>
                </a:rPr>
                <a:t>network</a:t>
              </a:r>
            </a:p>
          </p:txBody>
        </p:sp>
        <p:sp>
          <p:nvSpPr>
            <p:cNvPr id="93" name="Oval 80"/>
            <p:cNvSpPr>
              <a:spLocks noChangeArrowheads="1"/>
            </p:cNvSpPr>
            <p:nvPr/>
          </p:nvSpPr>
          <p:spPr bwMode="auto">
            <a:xfrm>
              <a:off x="5476875" y="3778250"/>
              <a:ext cx="990600" cy="30480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  <a:defRPr/>
              </a:pPr>
              <a:r>
                <a:rPr lang="en-US" altLang="en-US" sz="1600" kern="0">
                  <a:solidFill>
                    <a:srgbClr val="000000"/>
                  </a:solidFill>
                  <a:latin typeface="Arial" charset="0"/>
                </a:rPr>
                <a:t>process</a:t>
              </a:r>
            </a:p>
          </p:txBody>
        </p:sp>
        <p:grpSp>
          <p:nvGrpSpPr>
            <p:cNvPr id="94" name="Group 81"/>
            <p:cNvGrpSpPr>
              <a:grpSpLocks/>
            </p:cNvGrpSpPr>
            <p:nvPr/>
          </p:nvGrpSpPr>
          <p:grpSpPr bwMode="auto">
            <a:xfrm>
              <a:off x="5724525" y="4138613"/>
              <a:ext cx="546100" cy="225425"/>
              <a:chOff x="1287" y="2524"/>
              <a:chExt cx="260" cy="100"/>
            </a:xfrm>
          </p:grpSpPr>
          <p:sp>
            <p:nvSpPr>
              <p:cNvPr id="107" name="Rectangle 82"/>
              <p:cNvSpPr>
                <a:spLocks noChangeArrowheads="1"/>
              </p:cNvSpPr>
              <p:nvPr/>
            </p:nvSpPr>
            <p:spPr bwMode="auto">
              <a:xfrm>
                <a:off x="1287" y="2524"/>
                <a:ext cx="260" cy="100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0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08" name="Rectangle 83"/>
              <p:cNvSpPr>
                <a:spLocks noChangeArrowheads="1"/>
              </p:cNvSpPr>
              <p:nvPr/>
            </p:nvSpPr>
            <p:spPr bwMode="auto">
              <a:xfrm>
                <a:off x="1338" y="2537"/>
                <a:ext cx="156" cy="7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0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09" name="Rectangle 84"/>
              <p:cNvSpPr>
                <a:spLocks noChangeArrowheads="1"/>
              </p:cNvSpPr>
              <p:nvPr/>
            </p:nvSpPr>
            <p:spPr bwMode="auto">
              <a:xfrm>
                <a:off x="1503" y="2582"/>
                <a:ext cx="27" cy="27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0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10" name="Rectangle 85"/>
              <p:cNvSpPr>
                <a:spLocks noChangeArrowheads="1"/>
              </p:cNvSpPr>
              <p:nvPr/>
            </p:nvSpPr>
            <p:spPr bwMode="auto">
              <a:xfrm>
                <a:off x="1298" y="2583"/>
                <a:ext cx="26" cy="27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  <a:defRPr/>
                </a:pPr>
                <a:endParaRPr lang="en-US" altLang="en-US" sz="2000" kern="0">
                  <a:solidFill>
                    <a:srgbClr val="000000"/>
                  </a:solidFill>
                  <a:latin typeface="Arial" charset="0"/>
                </a:endParaRPr>
              </a:p>
            </p:txBody>
          </p:sp>
        </p:grpSp>
        <p:sp>
          <p:nvSpPr>
            <p:cNvPr id="95" name="Line 87"/>
            <p:cNvSpPr>
              <a:spLocks noChangeShapeType="1"/>
            </p:cNvSpPr>
            <p:nvPr/>
          </p:nvSpPr>
          <p:spPr bwMode="auto">
            <a:xfrm flipH="1">
              <a:off x="6534150" y="3910013"/>
              <a:ext cx="609600" cy="0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000" kern="0">
                <a:solidFill>
                  <a:srgbClr val="000000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96" name="Line 88"/>
            <p:cNvSpPr>
              <a:spLocks noChangeShapeType="1"/>
            </p:cNvSpPr>
            <p:nvPr/>
          </p:nvSpPr>
          <p:spPr bwMode="auto">
            <a:xfrm>
              <a:off x="6759575" y="4335463"/>
              <a:ext cx="0" cy="1022350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000" kern="0">
                <a:solidFill>
                  <a:srgbClr val="000000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97" name="Line 89"/>
            <p:cNvSpPr>
              <a:spLocks noChangeShapeType="1"/>
            </p:cNvSpPr>
            <p:nvPr/>
          </p:nvSpPr>
          <p:spPr bwMode="auto">
            <a:xfrm flipH="1">
              <a:off x="6783388" y="4835525"/>
              <a:ext cx="609600" cy="0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000" kern="0">
                <a:solidFill>
                  <a:srgbClr val="000000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98" name="Text Box 56"/>
            <p:cNvSpPr txBox="1">
              <a:spLocks noChangeArrowheads="1"/>
            </p:cNvSpPr>
            <p:nvPr/>
          </p:nvSpPr>
          <p:spPr bwMode="auto">
            <a:xfrm>
              <a:off x="3697288" y="3590925"/>
              <a:ext cx="917575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  <a:defRPr/>
              </a:pPr>
              <a:r>
                <a:rPr lang="en-US" altLang="en-US" sz="2000" i="1" kern="0">
                  <a:solidFill>
                    <a:srgbClr val="CC0000"/>
                  </a:solidFill>
                  <a:latin typeface="Arial" charset="0"/>
                </a:rPr>
                <a:t>socket</a:t>
              </a:r>
            </a:p>
          </p:txBody>
        </p:sp>
        <p:sp>
          <p:nvSpPr>
            <p:cNvPr id="99" name="Line 91"/>
            <p:cNvSpPr>
              <a:spLocks noChangeShapeType="1"/>
            </p:cNvSpPr>
            <p:nvPr/>
          </p:nvSpPr>
          <p:spPr bwMode="auto">
            <a:xfrm flipV="1">
              <a:off x="2700338" y="3790950"/>
              <a:ext cx="968375" cy="434975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000" kern="0">
                <a:solidFill>
                  <a:srgbClr val="000000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00" name="Line 92"/>
            <p:cNvSpPr>
              <a:spLocks noChangeShapeType="1"/>
            </p:cNvSpPr>
            <p:nvPr/>
          </p:nvSpPr>
          <p:spPr bwMode="auto">
            <a:xfrm flipH="1" flipV="1">
              <a:off x="4635500" y="3779838"/>
              <a:ext cx="968375" cy="434975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000" kern="0">
                <a:solidFill>
                  <a:srgbClr val="000000"/>
                </a:solidFill>
                <a:latin typeface="Arial" charset="0"/>
                <a:ea typeface="ＭＳ Ｐゴシック" charset="-128"/>
              </a:endParaRPr>
            </a:p>
          </p:txBody>
        </p:sp>
        <p:grpSp>
          <p:nvGrpSpPr>
            <p:cNvPr id="101" name="Group 93"/>
            <p:cNvGrpSpPr>
              <a:grpSpLocks/>
            </p:cNvGrpSpPr>
            <p:nvPr/>
          </p:nvGrpSpPr>
          <p:grpSpPr bwMode="auto">
            <a:xfrm>
              <a:off x="358775" y="4808538"/>
              <a:ext cx="1035050" cy="904875"/>
              <a:chOff x="-44" y="1473"/>
              <a:chExt cx="981" cy="1105"/>
            </a:xfrm>
          </p:grpSpPr>
          <p:pic>
            <p:nvPicPr>
              <p:cNvPr id="105" name="Picture 94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6" name="Freeform 95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3459 w 356"/>
                  <a:gd name="T3" fmla="*/ 887 h 368"/>
                  <a:gd name="T4" fmla="*/ 15967 w 356"/>
                  <a:gd name="T5" fmla="*/ 18491 h 368"/>
                  <a:gd name="T6" fmla="*/ 3519 w 356"/>
                  <a:gd name="T7" fmla="*/ 2312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000" kern="0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</p:grpSp>
        <p:grpSp>
          <p:nvGrpSpPr>
            <p:cNvPr id="102" name="Group 96"/>
            <p:cNvGrpSpPr>
              <a:grpSpLocks/>
            </p:cNvGrpSpPr>
            <p:nvPr/>
          </p:nvGrpSpPr>
          <p:grpSpPr bwMode="auto">
            <a:xfrm flipH="1">
              <a:off x="7075488" y="5091113"/>
              <a:ext cx="1035050" cy="904875"/>
              <a:chOff x="-44" y="1473"/>
              <a:chExt cx="981" cy="1105"/>
            </a:xfrm>
          </p:grpSpPr>
          <p:pic>
            <p:nvPicPr>
              <p:cNvPr id="103" name="Picture 97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4" name="Freeform 98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3459 w 356"/>
                  <a:gd name="T3" fmla="*/ 887 h 368"/>
                  <a:gd name="T4" fmla="*/ 15967 w 356"/>
                  <a:gd name="T5" fmla="*/ 18491 h 368"/>
                  <a:gd name="T6" fmla="*/ 3519 w 356"/>
                  <a:gd name="T7" fmla="*/ 2312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000" kern="0">
                  <a:solidFill>
                    <a:srgbClr val="000000"/>
                  </a:solidFill>
                  <a:latin typeface="Arial" charset="0"/>
                  <a:ea typeface="ＭＳ Ｐゴシック" charset="-128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50398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of Socket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31180" y="863444"/>
            <a:ext cx="5951869" cy="5590565"/>
          </a:xfrm>
        </p:spPr>
        <p:txBody>
          <a:bodyPr/>
          <a:lstStyle/>
          <a:p>
            <a:r>
              <a:rPr lang="en-US" altLang="en-US" dirty="0"/>
              <a:t>SOCK_STREAM</a:t>
            </a:r>
          </a:p>
          <a:p>
            <a:pPr lvl="1"/>
            <a:r>
              <a:rPr lang="en-US" altLang="en-US" dirty="0"/>
              <a:t>E.g. TCP</a:t>
            </a:r>
          </a:p>
          <a:p>
            <a:pPr lvl="1"/>
            <a:r>
              <a:rPr lang="en-US" altLang="en-US" dirty="0"/>
              <a:t>Reliable delivery</a:t>
            </a:r>
          </a:p>
          <a:p>
            <a:pPr lvl="1"/>
            <a:r>
              <a:rPr lang="en-US" altLang="en-US" dirty="0"/>
              <a:t>In-order guaranteed</a:t>
            </a:r>
          </a:p>
          <a:p>
            <a:pPr lvl="1"/>
            <a:r>
              <a:rPr lang="en-US" altLang="en-US" dirty="0"/>
              <a:t>Connection-oriented</a:t>
            </a:r>
          </a:p>
          <a:p>
            <a:pPr lvl="1"/>
            <a:r>
              <a:rPr lang="en-US" altLang="en-US" dirty="0"/>
              <a:t>Bidirectional</a:t>
            </a:r>
          </a:p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4294967295"/>
          </p:nvPr>
        </p:nvSpPr>
        <p:spPr>
          <a:xfrm>
            <a:off x="6454775" y="863600"/>
            <a:ext cx="5737225" cy="5181600"/>
          </a:xfrm>
        </p:spPr>
        <p:txBody>
          <a:bodyPr/>
          <a:lstStyle/>
          <a:p>
            <a: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</a:pPr>
            <a:r>
              <a:rPr lang="en-US" altLang="en-US" sz="2400" dirty="0"/>
              <a:t>SOCK_DGRAM</a:t>
            </a:r>
          </a:p>
          <a:p>
            <a:pPr marL="809625" lvl="1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</a:pPr>
            <a:r>
              <a:rPr lang="en-US" altLang="en-US" sz="2000" dirty="0"/>
              <a:t>E.g. UDP</a:t>
            </a:r>
          </a:p>
          <a:p>
            <a:pPr marL="809625" lvl="1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</a:pPr>
            <a:r>
              <a:rPr lang="en-US" altLang="en-US" sz="2000" dirty="0"/>
              <a:t>Unreliable delivery</a:t>
            </a:r>
          </a:p>
          <a:p>
            <a:pPr marL="809625" lvl="1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</a:pPr>
            <a:r>
              <a:rPr lang="en-US" altLang="en-US" sz="2000" dirty="0"/>
              <a:t>No order guarantees</a:t>
            </a:r>
          </a:p>
          <a:p>
            <a:pPr marL="809625" lvl="1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</a:pPr>
            <a:r>
              <a:rPr lang="en-US" altLang="en-US" sz="2000" dirty="0"/>
              <a:t>Connection-less</a:t>
            </a:r>
          </a:p>
          <a:p>
            <a:pPr marL="809625" lvl="1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</a:pPr>
            <a:r>
              <a:rPr lang="en-US" altLang="en-US" sz="2000" dirty="0"/>
              <a:t>Unidirectional</a:t>
            </a:r>
          </a:p>
          <a:p>
            <a:endParaRPr lang="en-US" dirty="0"/>
          </a:p>
        </p:txBody>
      </p:sp>
      <p:grpSp>
        <p:nvGrpSpPr>
          <p:cNvPr id="7" name="Group 53"/>
          <p:cNvGrpSpPr>
            <a:grpSpLocks noChangeAspect="1"/>
          </p:cNvGrpSpPr>
          <p:nvPr/>
        </p:nvGrpSpPr>
        <p:grpSpPr bwMode="auto">
          <a:xfrm>
            <a:off x="1963200" y="4125566"/>
            <a:ext cx="3816000" cy="1744835"/>
            <a:chOff x="96" y="2463"/>
            <a:chExt cx="2688" cy="1187"/>
          </a:xfrm>
        </p:grpSpPr>
        <p:grpSp>
          <p:nvGrpSpPr>
            <p:cNvPr id="8" name="Group 20"/>
            <p:cNvGrpSpPr>
              <a:grpSpLocks/>
            </p:cNvGrpSpPr>
            <p:nvPr/>
          </p:nvGrpSpPr>
          <p:grpSpPr bwMode="auto">
            <a:xfrm>
              <a:off x="96" y="2463"/>
              <a:ext cx="912" cy="353"/>
              <a:chOff x="360" y="3782"/>
              <a:chExt cx="912" cy="353"/>
            </a:xfrm>
          </p:grpSpPr>
          <p:sp>
            <p:nvSpPr>
              <p:cNvPr id="26" name="Oval 19"/>
              <p:cNvSpPr>
                <a:spLocks noChangeArrowheads="1"/>
              </p:cNvSpPr>
              <p:nvPr/>
            </p:nvSpPr>
            <p:spPr bwMode="auto">
              <a:xfrm>
                <a:off x="384" y="3782"/>
                <a:ext cx="183" cy="353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7" name="Text Box 17"/>
              <p:cNvSpPr txBox="1">
                <a:spLocks noChangeArrowheads="1"/>
              </p:cNvSpPr>
              <p:nvPr/>
            </p:nvSpPr>
            <p:spPr bwMode="auto">
              <a:xfrm>
                <a:off x="360" y="3815"/>
                <a:ext cx="912" cy="2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Ctr="1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en-US"/>
                  <a:t>App</a:t>
                </a:r>
              </a:p>
            </p:txBody>
          </p:sp>
          <p:sp>
            <p:nvSpPr>
              <p:cNvPr id="28" name="Oval 18"/>
              <p:cNvSpPr>
                <a:spLocks noChangeArrowheads="1"/>
              </p:cNvSpPr>
              <p:nvPr/>
            </p:nvSpPr>
            <p:spPr bwMode="auto">
              <a:xfrm>
                <a:off x="408" y="3782"/>
                <a:ext cx="183" cy="353"/>
              </a:xfrm>
              <a:prstGeom prst="ellips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9" name="Text Box 6"/>
            <p:cNvSpPr txBox="1">
              <a:spLocks noChangeArrowheads="1"/>
            </p:cNvSpPr>
            <p:nvPr/>
          </p:nvSpPr>
          <p:spPr bwMode="auto">
            <a:xfrm>
              <a:off x="576" y="3264"/>
              <a:ext cx="960" cy="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en-US" altLang="en-US">
                <a:latin typeface="Times New Roman" charset="0"/>
              </a:endParaRPr>
            </a:p>
          </p:txBody>
        </p:sp>
        <p:grpSp>
          <p:nvGrpSpPr>
            <p:cNvPr id="10" name="Group 8"/>
            <p:cNvGrpSpPr>
              <a:grpSpLocks/>
            </p:cNvGrpSpPr>
            <p:nvPr/>
          </p:nvGrpSpPr>
          <p:grpSpPr bwMode="auto">
            <a:xfrm>
              <a:off x="576" y="2832"/>
              <a:ext cx="1056" cy="818"/>
              <a:chOff x="1104" y="2400"/>
              <a:chExt cx="1056" cy="818"/>
            </a:xfrm>
          </p:grpSpPr>
          <p:sp>
            <p:nvSpPr>
              <p:cNvPr id="24" name="AutoShape 5"/>
              <p:cNvSpPr>
                <a:spLocks noChangeArrowheads="1"/>
              </p:cNvSpPr>
              <p:nvPr/>
            </p:nvSpPr>
            <p:spPr bwMode="auto">
              <a:xfrm rot="5400000">
                <a:off x="1223" y="2498"/>
                <a:ext cx="818" cy="622"/>
              </a:xfrm>
              <a:custGeom>
                <a:avLst/>
                <a:gdLst>
                  <a:gd name="G0" fmla="+- 5400 0 0"/>
                  <a:gd name="G1" fmla="+- 21600 0 5400"/>
                  <a:gd name="G2" fmla="*/ 5400 1 2"/>
                  <a:gd name="G3" fmla="+- 21600 0 G2"/>
                  <a:gd name="G4" fmla="+/ 5400 21600 2"/>
                  <a:gd name="G5" fmla="+/ G1 0 2"/>
                  <a:gd name="G6" fmla="*/ 21600 21600 5400"/>
                  <a:gd name="G7" fmla="*/ G6 1 2"/>
                  <a:gd name="G8" fmla="+- 21600 0 G7"/>
                  <a:gd name="G9" fmla="*/ 21600 1 2"/>
                  <a:gd name="G10" fmla="+- 5400 0 G9"/>
                  <a:gd name="G11" fmla="?: G10 G8 0"/>
                  <a:gd name="G12" fmla="?: G10 G7 21600"/>
                  <a:gd name="T0" fmla="*/ 18900 w 21600"/>
                  <a:gd name="T1" fmla="*/ 10800 h 21600"/>
                  <a:gd name="T2" fmla="*/ 10800 w 21600"/>
                  <a:gd name="T3" fmla="*/ 21600 h 21600"/>
                  <a:gd name="T4" fmla="*/ 2700 w 21600"/>
                  <a:gd name="T5" fmla="*/ 10800 h 21600"/>
                  <a:gd name="T6" fmla="*/ 10800 w 21600"/>
                  <a:gd name="T7" fmla="*/ 0 h 21600"/>
                  <a:gd name="T8" fmla="*/ 4500 w 21600"/>
                  <a:gd name="T9" fmla="*/ 4500 h 21600"/>
                  <a:gd name="T10" fmla="*/ 17100 w 21600"/>
                  <a:gd name="T11" fmla="*/ 171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00CCFF"/>
              </a:solidFill>
              <a:ln w="317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" name="Text Box 7"/>
              <p:cNvSpPr txBox="1">
                <a:spLocks noChangeArrowheads="1"/>
              </p:cNvSpPr>
              <p:nvPr/>
            </p:nvSpPr>
            <p:spPr bwMode="auto">
              <a:xfrm>
                <a:off x="1104" y="2673"/>
                <a:ext cx="1056" cy="2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 anchorCtr="1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en-US" sz="2000" dirty="0"/>
                  <a:t>socket</a:t>
                </a:r>
              </a:p>
            </p:txBody>
          </p:sp>
        </p:grpSp>
        <p:sp>
          <p:nvSpPr>
            <p:cNvPr id="11" name="AutoShape 21"/>
            <p:cNvSpPr>
              <a:spLocks noChangeArrowheads="1"/>
            </p:cNvSpPr>
            <p:nvPr/>
          </p:nvSpPr>
          <p:spPr bwMode="auto">
            <a:xfrm flipV="1">
              <a:off x="192" y="2736"/>
              <a:ext cx="720" cy="816"/>
            </a:xfrm>
            <a:custGeom>
              <a:avLst/>
              <a:gdLst>
                <a:gd name="G0" fmla="+- 12427 0 0"/>
                <a:gd name="G1" fmla="+- 2302 0 0"/>
                <a:gd name="G2" fmla="+- 12158 0 2302"/>
                <a:gd name="G3" fmla="+- G2 0 2302"/>
                <a:gd name="G4" fmla="*/ G3 32768 32059"/>
                <a:gd name="G5" fmla="*/ G4 1 2"/>
                <a:gd name="G6" fmla="+- 21600 0 12427"/>
                <a:gd name="G7" fmla="*/ G6 2302 6079"/>
                <a:gd name="G8" fmla="+- G7 12427 0"/>
                <a:gd name="T0" fmla="*/ 12427 w 21600"/>
                <a:gd name="T1" fmla="*/ 0 h 21600"/>
                <a:gd name="T2" fmla="*/ 12427 w 21600"/>
                <a:gd name="T3" fmla="*/ 12158 h 21600"/>
                <a:gd name="T4" fmla="*/ 3861 w 21600"/>
                <a:gd name="T5" fmla="*/ 21600 h 21600"/>
                <a:gd name="T6" fmla="*/ 21600 w 21600"/>
                <a:gd name="T7" fmla="*/ 6079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27 w 21600"/>
                <a:gd name="T13" fmla="*/ G1 h 21600"/>
                <a:gd name="T14" fmla="*/ G8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2427" y="0"/>
                  </a:lnTo>
                  <a:lnTo>
                    <a:pt x="12427" y="2302"/>
                  </a:lnTo>
                  <a:cubicBezTo>
                    <a:pt x="5564" y="2302"/>
                    <a:pt x="0" y="6715"/>
                    <a:pt x="0" y="12158"/>
                  </a:cubicBezTo>
                  <a:lnTo>
                    <a:pt x="0" y="21600"/>
                  </a:lnTo>
                  <a:lnTo>
                    <a:pt x="7721" y="21600"/>
                  </a:lnTo>
                  <a:lnTo>
                    <a:pt x="7721" y="12158"/>
                  </a:lnTo>
                  <a:cubicBezTo>
                    <a:pt x="7721" y="10887"/>
                    <a:pt x="9828" y="9856"/>
                    <a:pt x="12427" y="9856"/>
                  </a:cubicBezTo>
                  <a:lnTo>
                    <a:pt x="12427" y="12158"/>
                  </a:lnTo>
                  <a:close/>
                </a:path>
              </a:pathLst>
            </a:custGeom>
            <a:solidFill>
              <a:srgbClr val="FFFF00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2" name="Text Box 12"/>
            <p:cNvSpPr txBox="1">
              <a:spLocks noChangeArrowheads="1"/>
            </p:cNvSpPr>
            <p:nvPr/>
          </p:nvSpPr>
          <p:spPr bwMode="auto">
            <a:xfrm>
              <a:off x="96" y="2976"/>
              <a:ext cx="240" cy="232"/>
            </a:xfrm>
            <a:prstGeom prst="rect">
              <a:avLst/>
            </a:prstGeom>
            <a:solidFill>
              <a:srgbClr val="969696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600"/>
                <a:t>3</a:t>
              </a:r>
            </a:p>
          </p:txBody>
        </p:sp>
        <p:sp>
          <p:nvSpPr>
            <p:cNvPr id="13" name="Text Box 15"/>
            <p:cNvSpPr txBox="1">
              <a:spLocks noChangeArrowheads="1"/>
            </p:cNvSpPr>
            <p:nvPr/>
          </p:nvSpPr>
          <p:spPr bwMode="auto">
            <a:xfrm>
              <a:off x="288" y="3024"/>
              <a:ext cx="240" cy="232"/>
            </a:xfrm>
            <a:prstGeom prst="rect">
              <a:avLst/>
            </a:prstGeom>
            <a:solidFill>
              <a:srgbClr val="969696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600"/>
                <a:t>2</a:t>
              </a:r>
            </a:p>
          </p:txBody>
        </p:sp>
        <p:sp>
          <p:nvSpPr>
            <p:cNvPr id="14" name="Text Box 16"/>
            <p:cNvSpPr txBox="1">
              <a:spLocks noChangeArrowheads="1"/>
            </p:cNvSpPr>
            <p:nvPr/>
          </p:nvSpPr>
          <p:spPr bwMode="auto">
            <a:xfrm>
              <a:off x="480" y="3072"/>
              <a:ext cx="240" cy="232"/>
            </a:xfrm>
            <a:prstGeom prst="rect">
              <a:avLst/>
            </a:prstGeom>
            <a:solidFill>
              <a:srgbClr val="969696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600"/>
                <a:t>1</a:t>
              </a:r>
            </a:p>
          </p:txBody>
        </p:sp>
        <p:sp>
          <p:nvSpPr>
            <p:cNvPr id="15" name="Rectangle 26"/>
            <p:cNvSpPr>
              <a:spLocks noChangeArrowheads="1"/>
            </p:cNvSpPr>
            <p:nvPr/>
          </p:nvSpPr>
          <p:spPr bwMode="auto">
            <a:xfrm>
              <a:off x="1536" y="2946"/>
              <a:ext cx="96" cy="251"/>
            </a:xfrm>
            <a:prstGeom prst="rect">
              <a:avLst/>
            </a:prstGeom>
            <a:solidFill>
              <a:srgbClr val="969696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6" name="Rectangle 27"/>
            <p:cNvSpPr>
              <a:spLocks noChangeArrowheads="1"/>
            </p:cNvSpPr>
            <p:nvPr/>
          </p:nvSpPr>
          <p:spPr bwMode="auto">
            <a:xfrm>
              <a:off x="1728" y="2946"/>
              <a:ext cx="96" cy="251"/>
            </a:xfrm>
            <a:prstGeom prst="rect">
              <a:avLst/>
            </a:prstGeom>
            <a:solidFill>
              <a:srgbClr val="969696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7" name="Rectangle 28"/>
            <p:cNvSpPr>
              <a:spLocks noChangeArrowheads="1"/>
            </p:cNvSpPr>
            <p:nvPr/>
          </p:nvSpPr>
          <p:spPr bwMode="auto">
            <a:xfrm>
              <a:off x="1920" y="2946"/>
              <a:ext cx="96" cy="251"/>
            </a:xfrm>
            <a:prstGeom prst="rect">
              <a:avLst/>
            </a:prstGeom>
            <a:solidFill>
              <a:srgbClr val="969696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pSp>
          <p:nvGrpSpPr>
            <p:cNvPr id="18" name="Group 52"/>
            <p:cNvGrpSpPr>
              <a:grpSpLocks/>
            </p:cNvGrpSpPr>
            <p:nvPr/>
          </p:nvGrpSpPr>
          <p:grpSpPr bwMode="auto">
            <a:xfrm>
              <a:off x="1440" y="3148"/>
              <a:ext cx="1344" cy="385"/>
              <a:chOff x="1440" y="3148"/>
              <a:chExt cx="1443" cy="385"/>
            </a:xfrm>
          </p:grpSpPr>
          <p:sp>
            <p:nvSpPr>
              <p:cNvPr id="19" name="Line 9"/>
              <p:cNvSpPr>
                <a:spLocks noChangeShapeType="1"/>
              </p:cNvSpPr>
              <p:nvPr/>
            </p:nvSpPr>
            <p:spPr bwMode="auto">
              <a:xfrm>
                <a:off x="1440" y="3168"/>
                <a:ext cx="768" cy="1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 Box 10"/>
              <p:cNvSpPr txBox="1">
                <a:spLocks noChangeArrowheads="1"/>
              </p:cNvSpPr>
              <p:nvPr/>
            </p:nvSpPr>
            <p:spPr bwMode="auto">
              <a:xfrm>
                <a:off x="2208" y="3148"/>
                <a:ext cx="675" cy="251"/>
              </a:xfrm>
              <a:prstGeom prst="rect">
                <a:avLst/>
              </a:prstGeom>
              <a:solidFill>
                <a:srgbClr val="3366FF"/>
              </a:solidFill>
              <a:ln w="317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 anchorCtr="1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en-US"/>
                  <a:t>Dest.</a:t>
                </a:r>
              </a:p>
            </p:txBody>
          </p:sp>
          <p:sp>
            <p:nvSpPr>
              <p:cNvPr id="21" name="Line 22"/>
              <p:cNvSpPr>
                <a:spLocks noChangeShapeType="1"/>
              </p:cNvSpPr>
              <p:nvPr/>
            </p:nvSpPr>
            <p:spPr bwMode="auto">
              <a:xfrm flipH="1">
                <a:off x="1440" y="3312"/>
                <a:ext cx="768" cy="1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Rectangle 29"/>
              <p:cNvSpPr>
                <a:spLocks noChangeArrowheads="1"/>
              </p:cNvSpPr>
              <p:nvPr/>
            </p:nvSpPr>
            <p:spPr bwMode="auto">
              <a:xfrm>
                <a:off x="1632" y="3282"/>
                <a:ext cx="96" cy="251"/>
              </a:xfrm>
              <a:prstGeom prst="rect">
                <a:avLst/>
              </a:prstGeom>
              <a:solidFill>
                <a:schemeClr val="tx2"/>
              </a:solidFill>
              <a:ln w="317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3" name="Rectangle 30"/>
              <p:cNvSpPr>
                <a:spLocks noChangeArrowheads="1"/>
              </p:cNvSpPr>
              <p:nvPr/>
            </p:nvSpPr>
            <p:spPr bwMode="auto">
              <a:xfrm>
                <a:off x="1824" y="3282"/>
                <a:ext cx="96" cy="251"/>
              </a:xfrm>
              <a:prstGeom prst="rect">
                <a:avLst/>
              </a:prstGeom>
              <a:solidFill>
                <a:schemeClr val="tx2"/>
              </a:solidFill>
              <a:ln w="317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29" name="Group 85"/>
          <p:cNvGrpSpPr>
            <a:grpSpLocks noChangeAspect="1"/>
          </p:cNvGrpSpPr>
          <p:nvPr/>
        </p:nvGrpSpPr>
        <p:grpSpPr bwMode="auto">
          <a:xfrm>
            <a:off x="6637200" y="4205656"/>
            <a:ext cx="3373200" cy="1860935"/>
            <a:chOff x="2928" y="2839"/>
            <a:chExt cx="2496" cy="1377"/>
          </a:xfrm>
        </p:grpSpPr>
        <p:grpSp>
          <p:nvGrpSpPr>
            <p:cNvPr id="30" name="Group 55"/>
            <p:cNvGrpSpPr>
              <a:grpSpLocks/>
            </p:cNvGrpSpPr>
            <p:nvPr/>
          </p:nvGrpSpPr>
          <p:grpSpPr bwMode="auto">
            <a:xfrm>
              <a:off x="2928" y="2880"/>
              <a:ext cx="912" cy="384"/>
              <a:chOff x="360" y="3767"/>
              <a:chExt cx="912" cy="384"/>
            </a:xfrm>
          </p:grpSpPr>
          <p:sp>
            <p:nvSpPr>
              <p:cNvPr id="53" name="Oval 56"/>
              <p:cNvSpPr>
                <a:spLocks noChangeArrowheads="1"/>
              </p:cNvSpPr>
              <p:nvPr/>
            </p:nvSpPr>
            <p:spPr bwMode="auto">
              <a:xfrm>
                <a:off x="384" y="3767"/>
                <a:ext cx="192" cy="384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4" name="Text Box 57"/>
              <p:cNvSpPr txBox="1">
                <a:spLocks noChangeArrowheads="1"/>
              </p:cNvSpPr>
              <p:nvPr/>
            </p:nvSpPr>
            <p:spPr bwMode="auto">
              <a:xfrm>
                <a:off x="360" y="3815"/>
                <a:ext cx="912" cy="2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Ctr="1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en-US"/>
                  <a:t>App</a:t>
                </a:r>
              </a:p>
            </p:txBody>
          </p:sp>
          <p:sp>
            <p:nvSpPr>
              <p:cNvPr id="55" name="Oval 58"/>
              <p:cNvSpPr>
                <a:spLocks noChangeArrowheads="1"/>
              </p:cNvSpPr>
              <p:nvPr/>
            </p:nvSpPr>
            <p:spPr bwMode="auto">
              <a:xfrm>
                <a:off x="408" y="3767"/>
                <a:ext cx="192" cy="384"/>
              </a:xfrm>
              <a:prstGeom prst="ellips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31" name="Text Box 59"/>
            <p:cNvSpPr txBox="1">
              <a:spLocks noChangeArrowheads="1"/>
            </p:cNvSpPr>
            <p:nvPr/>
          </p:nvSpPr>
          <p:spPr bwMode="auto">
            <a:xfrm>
              <a:off x="3408" y="3696"/>
              <a:ext cx="960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en-US" altLang="en-US">
                <a:latin typeface="Times New Roman" charset="0"/>
              </a:endParaRPr>
            </a:p>
          </p:txBody>
        </p:sp>
        <p:grpSp>
          <p:nvGrpSpPr>
            <p:cNvPr id="32" name="Group 60"/>
            <p:cNvGrpSpPr>
              <a:grpSpLocks/>
            </p:cNvGrpSpPr>
            <p:nvPr/>
          </p:nvGrpSpPr>
          <p:grpSpPr bwMode="auto">
            <a:xfrm>
              <a:off x="3408" y="3264"/>
              <a:ext cx="1056" cy="818"/>
              <a:chOff x="1104" y="2400"/>
              <a:chExt cx="1056" cy="818"/>
            </a:xfrm>
          </p:grpSpPr>
          <p:sp>
            <p:nvSpPr>
              <p:cNvPr id="51" name="AutoShape 61"/>
              <p:cNvSpPr>
                <a:spLocks noChangeArrowheads="1"/>
              </p:cNvSpPr>
              <p:nvPr/>
            </p:nvSpPr>
            <p:spPr bwMode="auto">
              <a:xfrm rot="5400000">
                <a:off x="1223" y="2498"/>
                <a:ext cx="818" cy="622"/>
              </a:xfrm>
              <a:custGeom>
                <a:avLst/>
                <a:gdLst>
                  <a:gd name="G0" fmla="+- 5400 0 0"/>
                  <a:gd name="G1" fmla="+- 21600 0 5400"/>
                  <a:gd name="G2" fmla="*/ 5400 1 2"/>
                  <a:gd name="G3" fmla="+- 21600 0 G2"/>
                  <a:gd name="G4" fmla="+/ 5400 21600 2"/>
                  <a:gd name="G5" fmla="+/ G1 0 2"/>
                  <a:gd name="G6" fmla="*/ 21600 21600 5400"/>
                  <a:gd name="G7" fmla="*/ G6 1 2"/>
                  <a:gd name="G8" fmla="+- 21600 0 G7"/>
                  <a:gd name="G9" fmla="*/ 21600 1 2"/>
                  <a:gd name="G10" fmla="+- 5400 0 G9"/>
                  <a:gd name="G11" fmla="?: G10 G8 0"/>
                  <a:gd name="G12" fmla="?: G10 G7 21600"/>
                  <a:gd name="T0" fmla="*/ 18900 w 21600"/>
                  <a:gd name="T1" fmla="*/ 10800 h 21600"/>
                  <a:gd name="T2" fmla="*/ 10800 w 21600"/>
                  <a:gd name="T3" fmla="*/ 21600 h 21600"/>
                  <a:gd name="T4" fmla="*/ 2700 w 21600"/>
                  <a:gd name="T5" fmla="*/ 10800 h 21600"/>
                  <a:gd name="T6" fmla="*/ 10800 w 21600"/>
                  <a:gd name="T7" fmla="*/ 0 h 21600"/>
                  <a:gd name="T8" fmla="*/ 4500 w 21600"/>
                  <a:gd name="T9" fmla="*/ 4500 h 21600"/>
                  <a:gd name="T10" fmla="*/ 17100 w 21600"/>
                  <a:gd name="T11" fmla="*/ 171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00CCFF"/>
              </a:solidFill>
              <a:ln w="317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" name="Text Box 62"/>
              <p:cNvSpPr txBox="1">
                <a:spLocks noChangeArrowheads="1"/>
              </p:cNvSpPr>
              <p:nvPr/>
            </p:nvSpPr>
            <p:spPr bwMode="auto">
              <a:xfrm>
                <a:off x="1104" y="2661"/>
                <a:ext cx="1056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 anchorCtr="1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en-US" sz="2000" dirty="0"/>
                  <a:t>socket</a:t>
                </a:r>
              </a:p>
            </p:txBody>
          </p:sp>
        </p:grpSp>
        <p:sp>
          <p:nvSpPr>
            <p:cNvPr id="33" name="AutoShape 63"/>
            <p:cNvSpPr>
              <a:spLocks noChangeArrowheads="1"/>
            </p:cNvSpPr>
            <p:nvPr/>
          </p:nvSpPr>
          <p:spPr bwMode="auto">
            <a:xfrm flipV="1">
              <a:off x="3024" y="3168"/>
              <a:ext cx="720" cy="816"/>
            </a:xfrm>
            <a:custGeom>
              <a:avLst/>
              <a:gdLst>
                <a:gd name="G0" fmla="+- 12427 0 0"/>
                <a:gd name="G1" fmla="+- 2302 0 0"/>
                <a:gd name="G2" fmla="+- 12158 0 2302"/>
                <a:gd name="G3" fmla="+- G2 0 2302"/>
                <a:gd name="G4" fmla="*/ G3 32768 32059"/>
                <a:gd name="G5" fmla="*/ G4 1 2"/>
                <a:gd name="G6" fmla="+- 21600 0 12427"/>
                <a:gd name="G7" fmla="*/ G6 2302 6079"/>
                <a:gd name="G8" fmla="+- G7 12427 0"/>
                <a:gd name="T0" fmla="*/ 12427 w 21600"/>
                <a:gd name="T1" fmla="*/ 0 h 21600"/>
                <a:gd name="T2" fmla="*/ 12427 w 21600"/>
                <a:gd name="T3" fmla="*/ 12158 h 21600"/>
                <a:gd name="T4" fmla="*/ 3861 w 21600"/>
                <a:gd name="T5" fmla="*/ 21600 h 21600"/>
                <a:gd name="T6" fmla="*/ 21600 w 21600"/>
                <a:gd name="T7" fmla="*/ 6079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27 w 21600"/>
                <a:gd name="T13" fmla="*/ G1 h 21600"/>
                <a:gd name="T14" fmla="*/ G8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2427" y="0"/>
                  </a:lnTo>
                  <a:lnTo>
                    <a:pt x="12427" y="2302"/>
                  </a:lnTo>
                  <a:cubicBezTo>
                    <a:pt x="5564" y="2302"/>
                    <a:pt x="0" y="6715"/>
                    <a:pt x="0" y="12158"/>
                  </a:cubicBezTo>
                  <a:lnTo>
                    <a:pt x="0" y="21600"/>
                  </a:lnTo>
                  <a:lnTo>
                    <a:pt x="7721" y="21600"/>
                  </a:lnTo>
                  <a:lnTo>
                    <a:pt x="7721" y="12158"/>
                  </a:lnTo>
                  <a:cubicBezTo>
                    <a:pt x="7721" y="10887"/>
                    <a:pt x="9828" y="9856"/>
                    <a:pt x="12427" y="9856"/>
                  </a:cubicBezTo>
                  <a:lnTo>
                    <a:pt x="12427" y="12158"/>
                  </a:lnTo>
                  <a:close/>
                </a:path>
              </a:pathLst>
            </a:custGeom>
            <a:solidFill>
              <a:srgbClr val="FFFF00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4" name="Text Box 64"/>
            <p:cNvSpPr txBox="1">
              <a:spLocks noChangeArrowheads="1"/>
            </p:cNvSpPr>
            <p:nvPr/>
          </p:nvSpPr>
          <p:spPr bwMode="auto">
            <a:xfrm>
              <a:off x="2928" y="3408"/>
              <a:ext cx="240" cy="251"/>
            </a:xfrm>
            <a:prstGeom prst="rect">
              <a:avLst/>
            </a:prstGeom>
            <a:solidFill>
              <a:srgbClr val="969696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600"/>
                <a:t>3</a:t>
              </a:r>
            </a:p>
          </p:txBody>
        </p:sp>
        <p:sp>
          <p:nvSpPr>
            <p:cNvPr id="35" name="Text Box 65"/>
            <p:cNvSpPr txBox="1">
              <a:spLocks noChangeArrowheads="1"/>
            </p:cNvSpPr>
            <p:nvPr/>
          </p:nvSpPr>
          <p:spPr bwMode="auto">
            <a:xfrm>
              <a:off x="3120" y="3456"/>
              <a:ext cx="240" cy="251"/>
            </a:xfrm>
            <a:prstGeom prst="rect">
              <a:avLst/>
            </a:prstGeom>
            <a:solidFill>
              <a:srgbClr val="969696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600"/>
                <a:t>2</a:t>
              </a:r>
            </a:p>
          </p:txBody>
        </p:sp>
        <p:sp>
          <p:nvSpPr>
            <p:cNvPr id="36" name="Text Box 66"/>
            <p:cNvSpPr txBox="1">
              <a:spLocks noChangeArrowheads="1"/>
            </p:cNvSpPr>
            <p:nvPr/>
          </p:nvSpPr>
          <p:spPr bwMode="auto">
            <a:xfrm>
              <a:off x="3312" y="3504"/>
              <a:ext cx="240" cy="251"/>
            </a:xfrm>
            <a:prstGeom prst="rect">
              <a:avLst/>
            </a:prstGeom>
            <a:solidFill>
              <a:srgbClr val="969696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600"/>
                <a:t>1</a:t>
              </a:r>
            </a:p>
          </p:txBody>
        </p:sp>
        <p:sp>
          <p:nvSpPr>
            <p:cNvPr id="37" name="Rectangle 67"/>
            <p:cNvSpPr>
              <a:spLocks noChangeArrowheads="1"/>
            </p:cNvSpPr>
            <p:nvPr/>
          </p:nvSpPr>
          <p:spPr bwMode="auto">
            <a:xfrm>
              <a:off x="4272" y="2839"/>
              <a:ext cx="96" cy="273"/>
            </a:xfrm>
            <a:prstGeom prst="rect">
              <a:avLst/>
            </a:prstGeom>
            <a:solidFill>
              <a:srgbClr val="969696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8" name="Rectangle 68"/>
            <p:cNvSpPr>
              <a:spLocks noChangeArrowheads="1"/>
            </p:cNvSpPr>
            <p:nvPr/>
          </p:nvSpPr>
          <p:spPr bwMode="auto">
            <a:xfrm>
              <a:off x="4416" y="3175"/>
              <a:ext cx="96" cy="273"/>
            </a:xfrm>
            <a:prstGeom prst="rect">
              <a:avLst/>
            </a:prstGeom>
            <a:solidFill>
              <a:srgbClr val="969696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9" name="Rectangle 69"/>
            <p:cNvSpPr>
              <a:spLocks noChangeArrowheads="1"/>
            </p:cNvSpPr>
            <p:nvPr/>
          </p:nvSpPr>
          <p:spPr bwMode="auto">
            <a:xfrm>
              <a:off x="4560" y="3463"/>
              <a:ext cx="96" cy="273"/>
            </a:xfrm>
            <a:prstGeom prst="rect">
              <a:avLst/>
            </a:prstGeom>
            <a:solidFill>
              <a:srgbClr val="969696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0" name="Line 71"/>
            <p:cNvSpPr>
              <a:spLocks noChangeShapeType="1"/>
            </p:cNvSpPr>
            <p:nvPr/>
          </p:nvSpPr>
          <p:spPr bwMode="auto">
            <a:xfrm flipV="1">
              <a:off x="4272" y="3072"/>
              <a:ext cx="576" cy="528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 Box 72"/>
            <p:cNvSpPr txBox="1">
              <a:spLocks noChangeArrowheads="1"/>
            </p:cNvSpPr>
            <p:nvPr/>
          </p:nvSpPr>
          <p:spPr bwMode="auto">
            <a:xfrm>
              <a:off x="4848" y="2897"/>
              <a:ext cx="432" cy="273"/>
            </a:xfrm>
            <a:prstGeom prst="rect">
              <a:avLst/>
            </a:prstGeom>
            <a:solidFill>
              <a:srgbClr val="3366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/>
                <a:t>D1</a:t>
              </a:r>
            </a:p>
          </p:txBody>
        </p:sp>
        <p:sp>
          <p:nvSpPr>
            <p:cNvPr id="42" name="Text Box 76"/>
            <p:cNvSpPr txBox="1">
              <a:spLocks noChangeArrowheads="1"/>
            </p:cNvSpPr>
            <p:nvPr/>
          </p:nvSpPr>
          <p:spPr bwMode="auto">
            <a:xfrm>
              <a:off x="4608" y="3905"/>
              <a:ext cx="432" cy="273"/>
            </a:xfrm>
            <a:prstGeom prst="rect">
              <a:avLst/>
            </a:prstGeom>
            <a:solidFill>
              <a:srgbClr val="3366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/>
                <a:t>D3</a:t>
              </a:r>
            </a:p>
          </p:txBody>
        </p:sp>
        <p:sp>
          <p:nvSpPr>
            <p:cNvPr id="43" name="Text Box 77"/>
            <p:cNvSpPr txBox="1">
              <a:spLocks noChangeArrowheads="1"/>
            </p:cNvSpPr>
            <p:nvPr/>
          </p:nvSpPr>
          <p:spPr bwMode="auto">
            <a:xfrm>
              <a:off x="4992" y="3473"/>
              <a:ext cx="432" cy="273"/>
            </a:xfrm>
            <a:prstGeom prst="rect">
              <a:avLst/>
            </a:prstGeom>
            <a:solidFill>
              <a:srgbClr val="3366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dirty="0"/>
                <a:t>D2</a:t>
              </a:r>
            </a:p>
          </p:txBody>
        </p:sp>
        <p:sp>
          <p:nvSpPr>
            <p:cNvPr id="44" name="Freeform 78"/>
            <p:cNvSpPr>
              <a:spLocks/>
            </p:cNvSpPr>
            <p:nvPr/>
          </p:nvSpPr>
          <p:spPr bwMode="auto">
            <a:xfrm>
              <a:off x="4240" y="3079"/>
              <a:ext cx="512" cy="273"/>
            </a:xfrm>
            <a:custGeom>
              <a:avLst/>
              <a:gdLst>
                <a:gd name="T0" fmla="*/ 32 w 512"/>
                <a:gd name="T1" fmla="*/ 480 h 480"/>
                <a:gd name="T2" fmla="*/ 80 w 512"/>
                <a:gd name="T3" fmla="*/ 96 h 480"/>
                <a:gd name="T4" fmla="*/ 512 w 512"/>
                <a:gd name="T5" fmla="*/ 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12" h="480">
                  <a:moveTo>
                    <a:pt x="32" y="480"/>
                  </a:moveTo>
                  <a:cubicBezTo>
                    <a:pt x="16" y="328"/>
                    <a:pt x="0" y="176"/>
                    <a:pt x="80" y="96"/>
                  </a:cubicBezTo>
                  <a:cubicBezTo>
                    <a:pt x="160" y="16"/>
                    <a:pt x="440" y="16"/>
                    <a:pt x="512" y="0"/>
                  </a:cubicBezTo>
                </a:path>
              </a:pathLst>
            </a:custGeom>
            <a:noFill/>
            <a:ln w="31750" cap="flat" cmpd="sng">
              <a:solidFill>
                <a:schemeClr val="tx1"/>
              </a:solidFill>
              <a:prstDash val="solid"/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 anchorCtr="1">
              <a:spAutoFit/>
            </a:bodyPr>
            <a:lstStyle/>
            <a:p>
              <a:endParaRPr lang="en-US"/>
            </a:p>
          </p:txBody>
        </p:sp>
        <p:sp>
          <p:nvSpPr>
            <p:cNvPr id="45" name="Line 79"/>
            <p:cNvSpPr>
              <a:spLocks noChangeShapeType="1"/>
            </p:cNvSpPr>
            <p:nvPr/>
          </p:nvSpPr>
          <p:spPr bwMode="auto">
            <a:xfrm>
              <a:off x="4320" y="3696"/>
              <a:ext cx="432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 anchorCtr="1">
              <a:spAutoFit/>
            </a:bodyPr>
            <a:lstStyle/>
            <a:p>
              <a:endParaRPr lang="en-US"/>
            </a:p>
          </p:txBody>
        </p:sp>
        <p:grpSp>
          <p:nvGrpSpPr>
            <p:cNvPr id="46" name="Group 82"/>
            <p:cNvGrpSpPr>
              <a:grpSpLocks/>
            </p:cNvGrpSpPr>
            <p:nvPr/>
          </p:nvGrpSpPr>
          <p:grpSpPr bwMode="auto">
            <a:xfrm>
              <a:off x="4704" y="3600"/>
              <a:ext cx="144" cy="240"/>
              <a:chOff x="4704" y="3600"/>
              <a:chExt cx="144" cy="240"/>
            </a:xfrm>
          </p:grpSpPr>
          <p:sp>
            <p:nvSpPr>
              <p:cNvPr id="49" name="Line 80"/>
              <p:cNvSpPr>
                <a:spLocks noChangeShapeType="1"/>
              </p:cNvSpPr>
              <p:nvPr/>
            </p:nvSpPr>
            <p:spPr bwMode="auto">
              <a:xfrm>
                <a:off x="4704" y="3600"/>
                <a:ext cx="144" cy="240"/>
              </a:xfrm>
              <a:prstGeom prst="line">
                <a:avLst/>
              </a:prstGeom>
              <a:noFill/>
              <a:ln w="1270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 anchorCtr="1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0" name="Line 81"/>
              <p:cNvSpPr>
                <a:spLocks noChangeShapeType="1"/>
              </p:cNvSpPr>
              <p:nvPr/>
            </p:nvSpPr>
            <p:spPr bwMode="auto">
              <a:xfrm flipH="1">
                <a:off x="4704" y="3600"/>
                <a:ext cx="144" cy="240"/>
              </a:xfrm>
              <a:prstGeom prst="line">
                <a:avLst/>
              </a:prstGeom>
              <a:noFill/>
              <a:ln w="1270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 anchorCtr="1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47" name="Line 83"/>
            <p:cNvSpPr>
              <a:spLocks noChangeShapeType="1"/>
            </p:cNvSpPr>
            <p:nvPr/>
          </p:nvSpPr>
          <p:spPr bwMode="auto">
            <a:xfrm flipH="1" flipV="1">
              <a:off x="4272" y="3888"/>
              <a:ext cx="288" cy="192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 anchorCtr="1">
              <a:spAutoFit/>
            </a:bodyPr>
            <a:lstStyle/>
            <a:p>
              <a:endParaRPr lang="en-US"/>
            </a:p>
          </p:txBody>
        </p:sp>
        <p:sp>
          <p:nvSpPr>
            <p:cNvPr id="48" name="Rectangle 84"/>
            <p:cNvSpPr>
              <a:spLocks noChangeArrowheads="1"/>
            </p:cNvSpPr>
            <p:nvPr/>
          </p:nvSpPr>
          <p:spPr bwMode="auto">
            <a:xfrm>
              <a:off x="4368" y="3943"/>
              <a:ext cx="96" cy="273"/>
            </a:xfrm>
            <a:prstGeom prst="rect">
              <a:avLst/>
            </a:prstGeom>
            <a:solidFill>
              <a:schemeClr val="tx2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08529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Client-Server socket interaction: UDP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D8933C0-A85E-0A49-90EC-0697DC48F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1" name="Group 4"/>
          <p:cNvGrpSpPr>
            <a:grpSpLocks/>
          </p:cNvGrpSpPr>
          <p:nvPr/>
        </p:nvGrpSpPr>
        <p:grpSpPr bwMode="auto">
          <a:xfrm>
            <a:off x="7034214" y="4024314"/>
            <a:ext cx="2063750" cy="2168526"/>
            <a:chOff x="3485" y="2514"/>
            <a:chExt cx="1300" cy="1366"/>
          </a:xfrm>
        </p:grpSpPr>
        <p:grpSp>
          <p:nvGrpSpPr>
            <p:cNvPr id="52" name="Group 5"/>
            <p:cNvGrpSpPr>
              <a:grpSpLocks/>
            </p:cNvGrpSpPr>
            <p:nvPr/>
          </p:nvGrpSpPr>
          <p:grpSpPr bwMode="auto">
            <a:xfrm>
              <a:off x="3485" y="2964"/>
              <a:ext cx="1300" cy="916"/>
              <a:chOff x="3485" y="2964"/>
              <a:chExt cx="1300" cy="916"/>
            </a:xfrm>
          </p:grpSpPr>
          <p:sp>
            <p:nvSpPr>
              <p:cNvPr id="54" name="Text Box 6"/>
              <p:cNvSpPr txBox="1">
                <a:spLocks noChangeArrowheads="1"/>
              </p:cNvSpPr>
              <p:nvPr/>
            </p:nvSpPr>
            <p:spPr bwMode="auto">
              <a:xfrm>
                <a:off x="3509" y="3473"/>
                <a:ext cx="828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800">
                    <a:solidFill>
                      <a:srgbClr val="000000"/>
                    </a:solidFill>
                    <a:latin typeface="+mn-lt"/>
                  </a:rPr>
                  <a:t>close</a:t>
                </a: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800">
                    <a:solidFill>
                      <a:srgbClr val="CC0000"/>
                    </a:solidFill>
                    <a:latin typeface="+mn-lt"/>
                  </a:rPr>
                  <a:t>clientSocke</a:t>
                </a:r>
                <a:r>
                  <a:rPr lang="en-US" altLang="en-US" sz="1800">
                    <a:solidFill>
                      <a:srgbClr val="FF0000"/>
                    </a:solidFill>
                    <a:latin typeface="+mn-lt"/>
                  </a:rPr>
                  <a:t>t</a:t>
                </a:r>
                <a:endParaRPr lang="en-US" altLang="en-US" sz="18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55" name="Line 7"/>
              <p:cNvSpPr>
                <a:spLocks noChangeShapeType="1"/>
              </p:cNvSpPr>
              <p:nvPr/>
            </p:nvSpPr>
            <p:spPr bwMode="auto">
              <a:xfrm>
                <a:off x="3839" y="3339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>
                  <a:solidFill>
                    <a:srgbClr val="000000"/>
                  </a:solidFill>
                  <a:ea typeface="ＭＳ Ｐゴシック" charset="-128"/>
                </a:endParaRPr>
              </a:p>
            </p:txBody>
          </p:sp>
          <p:sp>
            <p:nvSpPr>
              <p:cNvPr id="56" name="Text Box 8"/>
              <p:cNvSpPr txBox="1">
                <a:spLocks noChangeArrowheads="1"/>
              </p:cNvSpPr>
              <p:nvPr/>
            </p:nvSpPr>
            <p:spPr bwMode="auto">
              <a:xfrm>
                <a:off x="3485" y="2964"/>
                <a:ext cx="1300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800">
                    <a:solidFill>
                      <a:srgbClr val="000000"/>
                    </a:solidFill>
                    <a:latin typeface="+mn-lt"/>
                  </a:rPr>
                  <a:t>read datagram from</a:t>
                </a: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800">
                    <a:solidFill>
                      <a:srgbClr val="CC0000"/>
                    </a:solidFill>
                    <a:latin typeface="+mn-lt"/>
                  </a:rPr>
                  <a:t>clientSocket</a:t>
                </a:r>
              </a:p>
            </p:txBody>
          </p:sp>
        </p:grpSp>
        <p:sp>
          <p:nvSpPr>
            <p:cNvPr id="53" name="Line 9"/>
            <p:cNvSpPr>
              <a:spLocks noChangeShapeType="1"/>
            </p:cNvSpPr>
            <p:nvPr/>
          </p:nvSpPr>
          <p:spPr bwMode="auto">
            <a:xfrm>
              <a:off x="3839" y="2514"/>
              <a:ext cx="0" cy="522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ea typeface="ＭＳ Ｐゴシック" charset="-128"/>
              </a:endParaRPr>
            </a:p>
          </p:txBody>
        </p:sp>
      </p:grpSp>
      <p:grpSp>
        <p:nvGrpSpPr>
          <p:cNvPr id="57" name="Group 10"/>
          <p:cNvGrpSpPr>
            <a:grpSpLocks/>
          </p:cNvGrpSpPr>
          <p:nvPr/>
        </p:nvGrpSpPr>
        <p:grpSpPr bwMode="auto">
          <a:xfrm>
            <a:off x="4524376" y="1333501"/>
            <a:ext cx="5870575" cy="2690813"/>
            <a:chOff x="1890" y="840"/>
            <a:chExt cx="3698" cy="1695"/>
          </a:xfrm>
        </p:grpSpPr>
        <p:grpSp>
          <p:nvGrpSpPr>
            <p:cNvPr id="58" name="Group 11"/>
            <p:cNvGrpSpPr>
              <a:grpSpLocks/>
            </p:cNvGrpSpPr>
            <p:nvPr/>
          </p:nvGrpSpPr>
          <p:grpSpPr bwMode="auto">
            <a:xfrm>
              <a:off x="3397" y="1240"/>
              <a:ext cx="1955" cy="611"/>
              <a:chOff x="3241" y="1750"/>
              <a:chExt cx="1955" cy="611"/>
            </a:xfrm>
          </p:grpSpPr>
          <p:sp>
            <p:nvSpPr>
              <p:cNvPr id="63" name="Text Box 12"/>
              <p:cNvSpPr txBox="1">
                <a:spLocks noChangeArrowheads="1"/>
              </p:cNvSpPr>
              <p:nvPr/>
            </p:nvSpPr>
            <p:spPr bwMode="auto">
              <a:xfrm>
                <a:off x="3241" y="1750"/>
                <a:ext cx="936" cy="4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800">
                    <a:solidFill>
                      <a:srgbClr val="000000"/>
                    </a:solidFill>
                    <a:latin typeface="+mn-lt"/>
                  </a:rPr>
                  <a:t>create socket:</a:t>
                </a: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64" name="Text Box 13"/>
              <p:cNvSpPr txBox="1">
                <a:spLocks noChangeArrowheads="1"/>
              </p:cNvSpPr>
              <p:nvPr/>
            </p:nvSpPr>
            <p:spPr bwMode="auto">
              <a:xfrm>
                <a:off x="3241" y="1945"/>
                <a:ext cx="1955" cy="4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ts val="2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</a:pPr>
                <a:r>
                  <a:rPr lang="en-US" altLang="en-US" sz="1800">
                    <a:solidFill>
                      <a:srgbClr val="CC0000"/>
                    </a:solidFill>
                    <a:latin typeface="+mn-lt"/>
                  </a:rPr>
                  <a:t>clientSocket =</a:t>
                </a:r>
              </a:p>
              <a:p>
                <a:pPr eaLnBrk="0" fontAlgn="base" hangingPunct="0">
                  <a:lnSpc>
                    <a:spcPts val="2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None/>
                </a:pPr>
                <a:r>
                  <a:rPr lang="en-US" altLang="en-US" sz="1800">
                    <a:solidFill>
                      <a:srgbClr val="CC0000"/>
                    </a:solidFill>
                    <a:latin typeface="+mn-lt"/>
                  </a:rPr>
                  <a:t>socket(AF_INET,SOCK_DGRAM)</a:t>
                </a:r>
              </a:p>
            </p:txBody>
          </p:sp>
        </p:grpSp>
        <p:sp>
          <p:nvSpPr>
            <p:cNvPr id="59" name="Text Box 14"/>
            <p:cNvSpPr txBox="1">
              <a:spLocks noChangeArrowheads="1"/>
            </p:cNvSpPr>
            <p:nvPr/>
          </p:nvSpPr>
          <p:spPr bwMode="auto">
            <a:xfrm>
              <a:off x="3570" y="840"/>
              <a:ext cx="1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 eaLnBrk="0" fontAlgn="base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60" name="Text Box 15"/>
            <p:cNvSpPr txBox="1">
              <a:spLocks noChangeArrowheads="1"/>
            </p:cNvSpPr>
            <p:nvPr/>
          </p:nvSpPr>
          <p:spPr bwMode="auto">
            <a:xfrm>
              <a:off x="3389" y="1953"/>
              <a:ext cx="2199" cy="5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+mn-lt"/>
                </a:rPr>
                <a:t>Create datagram with server IP and</a:t>
              </a:r>
            </a:p>
            <a:p>
              <a:pPr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+mn-lt"/>
                </a:rPr>
                <a:t>port=x; send datagram via</a:t>
              </a:r>
              <a:br>
                <a:rPr lang="en-US" altLang="en-US" sz="1800">
                  <a:solidFill>
                    <a:srgbClr val="CC0000"/>
                  </a:solidFill>
                  <a:latin typeface="+mn-lt"/>
                </a:rPr>
              </a:br>
              <a:r>
                <a:rPr lang="en-US" altLang="en-US" sz="1800">
                  <a:solidFill>
                    <a:srgbClr val="CC0000"/>
                  </a:solidFill>
                  <a:latin typeface="+mn-lt"/>
                </a:rPr>
                <a:t>clientSocket</a:t>
              </a:r>
            </a:p>
          </p:txBody>
        </p:sp>
        <p:sp>
          <p:nvSpPr>
            <p:cNvPr id="61" name="Line 16"/>
            <p:cNvSpPr>
              <a:spLocks noChangeShapeType="1"/>
            </p:cNvSpPr>
            <p:nvPr/>
          </p:nvSpPr>
          <p:spPr bwMode="auto">
            <a:xfrm>
              <a:off x="3828" y="1830"/>
              <a:ext cx="0" cy="204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ea typeface="ＭＳ Ｐゴシック" charset="-128"/>
              </a:endParaRPr>
            </a:p>
          </p:txBody>
        </p:sp>
        <p:sp>
          <p:nvSpPr>
            <p:cNvPr id="62" name="Line 17"/>
            <p:cNvSpPr>
              <a:spLocks noChangeShapeType="1"/>
            </p:cNvSpPr>
            <p:nvPr/>
          </p:nvSpPr>
          <p:spPr bwMode="auto">
            <a:xfrm flipH="1">
              <a:off x="1890" y="2244"/>
              <a:ext cx="1518" cy="252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ea typeface="ＭＳ Ｐゴシック" charset="-128"/>
              </a:endParaRPr>
            </a:p>
          </p:txBody>
        </p:sp>
      </p:grpSp>
      <p:sp>
        <p:nvSpPr>
          <p:cNvPr id="65" name="Text Box 18"/>
          <p:cNvSpPr txBox="1">
            <a:spLocks noChangeArrowheads="1"/>
          </p:cNvSpPr>
          <p:nvPr/>
        </p:nvSpPr>
        <p:spPr bwMode="auto">
          <a:xfrm>
            <a:off x="2344738" y="2187853"/>
            <a:ext cx="226549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  <a:latin typeface="+mn-lt"/>
              </a:rPr>
              <a:t>create socket, port= x:</a:t>
            </a:r>
          </a:p>
        </p:txBody>
      </p:sp>
      <p:sp>
        <p:nvSpPr>
          <p:cNvPr id="66" name="Text Box 19"/>
          <p:cNvSpPr txBox="1">
            <a:spLocks noChangeArrowheads="1"/>
          </p:cNvSpPr>
          <p:nvPr/>
        </p:nvSpPr>
        <p:spPr bwMode="auto">
          <a:xfrm>
            <a:off x="2357439" y="2484290"/>
            <a:ext cx="3103735" cy="660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0" fontAlgn="base" hangingPunct="0">
              <a:lnSpc>
                <a:spcPts val="2000"/>
              </a:lnSpc>
              <a:spcAft>
                <a:spcPct val="0"/>
              </a:spcAft>
              <a:buClr>
                <a:srgbClr val="3333CC"/>
              </a:buClr>
              <a:buSzPct val="85000"/>
              <a:buNone/>
            </a:pPr>
            <a:r>
              <a:rPr lang="en-US" altLang="en-US" sz="1800" dirty="0" err="1">
                <a:solidFill>
                  <a:srgbClr val="CC0000"/>
                </a:solidFill>
                <a:latin typeface="+mn-lt"/>
              </a:rPr>
              <a:t>serverSocket</a:t>
            </a:r>
            <a:r>
              <a:rPr lang="en-US" altLang="en-US" sz="1800" dirty="0">
                <a:solidFill>
                  <a:srgbClr val="CC0000"/>
                </a:solidFill>
                <a:latin typeface="+mn-lt"/>
              </a:rPr>
              <a:t> =</a:t>
            </a:r>
          </a:p>
          <a:p>
            <a:pPr eaLnBrk="0" fontAlgn="base" hangingPunct="0">
              <a:lnSpc>
                <a:spcPts val="2000"/>
              </a:lnSpc>
              <a:spcAft>
                <a:spcPct val="0"/>
              </a:spcAft>
              <a:buClr>
                <a:srgbClr val="3333CC"/>
              </a:buClr>
              <a:buSzPct val="85000"/>
              <a:buNone/>
            </a:pPr>
            <a:r>
              <a:rPr lang="en-US" altLang="en-US" sz="1800" dirty="0">
                <a:solidFill>
                  <a:srgbClr val="CC0000"/>
                </a:solidFill>
                <a:latin typeface="+mn-lt"/>
              </a:rPr>
              <a:t>socket(AF_INET,SOCK_DGRAM)</a:t>
            </a:r>
          </a:p>
        </p:txBody>
      </p:sp>
      <p:grpSp>
        <p:nvGrpSpPr>
          <p:cNvPr id="67" name="Group 20"/>
          <p:cNvGrpSpPr>
            <a:grpSpLocks/>
          </p:cNvGrpSpPr>
          <p:nvPr/>
        </p:nvGrpSpPr>
        <p:grpSpPr bwMode="auto">
          <a:xfrm>
            <a:off x="2840038" y="3146426"/>
            <a:ext cx="2063750" cy="1122363"/>
            <a:chOff x="885" y="1982"/>
            <a:chExt cx="1300" cy="707"/>
          </a:xfrm>
        </p:grpSpPr>
        <p:sp>
          <p:nvSpPr>
            <p:cNvPr id="68" name="Line 21"/>
            <p:cNvSpPr>
              <a:spLocks noChangeShapeType="1"/>
            </p:cNvSpPr>
            <p:nvPr/>
          </p:nvSpPr>
          <p:spPr bwMode="auto">
            <a:xfrm>
              <a:off x="1276" y="1982"/>
              <a:ext cx="0" cy="366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ea typeface="ＭＳ Ｐゴシック" charset="-128"/>
              </a:endParaRPr>
            </a:p>
          </p:txBody>
        </p:sp>
        <p:sp>
          <p:nvSpPr>
            <p:cNvPr id="69" name="Text Box 22"/>
            <p:cNvSpPr txBox="1">
              <a:spLocks noChangeArrowheads="1"/>
            </p:cNvSpPr>
            <p:nvPr/>
          </p:nvSpPr>
          <p:spPr bwMode="auto">
            <a:xfrm>
              <a:off x="885" y="2282"/>
              <a:ext cx="1300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+mn-lt"/>
                </a:rPr>
                <a:t>read datagram from</a:t>
              </a:r>
            </a:p>
            <a:p>
              <a:pPr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CC0000"/>
                  </a:solidFill>
                  <a:latin typeface="+mn-lt"/>
                </a:rPr>
                <a:t>serverSocke</a:t>
              </a:r>
              <a:r>
                <a:rPr lang="en-US" altLang="en-US" sz="1800">
                  <a:solidFill>
                    <a:srgbClr val="FF0000"/>
                  </a:solidFill>
                  <a:latin typeface="+mn-lt"/>
                </a:rPr>
                <a:t>t</a:t>
              </a:r>
              <a:endParaRPr lang="en-US" altLang="en-US" sz="1800">
                <a:solidFill>
                  <a:srgbClr val="000000"/>
                </a:solidFill>
                <a:latin typeface="+mn-lt"/>
              </a:endParaRPr>
            </a:p>
          </p:txBody>
        </p:sp>
      </p:grpSp>
      <p:grpSp>
        <p:nvGrpSpPr>
          <p:cNvPr id="70" name="Group 23"/>
          <p:cNvGrpSpPr>
            <a:grpSpLocks/>
          </p:cNvGrpSpPr>
          <p:nvPr/>
        </p:nvGrpSpPr>
        <p:grpSpPr bwMode="auto">
          <a:xfrm>
            <a:off x="2862263" y="4295776"/>
            <a:ext cx="3973512" cy="1660525"/>
            <a:chOff x="899" y="2720"/>
            <a:chExt cx="2503" cy="1046"/>
          </a:xfrm>
        </p:grpSpPr>
        <p:sp>
          <p:nvSpPr>
            <p:cNvPr id="71" name="Text Box 24"/>
            <p:cNvSpPr txBox="1">
              <a:spLocks noChangeArrowheads="1"/>
            </p:cNvSpPr>
            <p:nvPr/>
          </p:nvSpPr>
          <p:spPr bwMode="auto">
            <a:xfrm>
              <a:off x="899" y="2835"/>
              <a:ext cx="968" cy="9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+mn-lt"/>
                </a:rPr>
                <a:t>write reply to</a:t>
              </a:r>
            </a:p>
            <a:p>
              <a:pPr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CC0000"/>
                  </a:solidFill>
                  <a:latin typeface="+mn-lt"/>
                </a:rPr>
                <a:t>serverSocket</a:t>
              </a:r>
            </a:p>
            <a:p>
              <a:pPr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+mn-lt"/>
                </a:rPr>
                <a:t>specifying </a:t>
              </a:r>
              <a:br>
                <a:rPr lang="en-US" altLang="en-US" sz="1800">
                  <a:solidFill>
                    <a:srgbClr val="000000"/>
                  </a:solidFill>
                  <a:latin typeface="+mn-lt"/>
                </a:rPr>
              </a:br>
              <a:r>
                <a:rPr lang="en-US" altLang="en-US" sz="1800">
                  <a:solidFill>
                    <a:srgbClr val="000000"/>
                  </a:solidFill>
                  <a:latin typeface="+mn-lt"/>
                </a:rPr>
                <a:t>client address,</a:t>
              </a:r>
            </a:p>
            <a:p>
              <a:pPr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+mn-lt"/>
                </a:rPr>
                <a:t>port number</a:t>
              </a:r>
            </a:p>
          </p:txBody>
        </p:sp>
        <p:sp>
          <p:nvSpPr>
            <p:cNvPr id="72" name="Line 25"/>
            <p:cNvSpPr>
              <a:spLocks noChangeShapeType="1"/>
            </p:cNvSpPr>
            <p:nvPr/>
          </p:nvSpPr>
          <p:spPr bwMode="auto">
            <a:xfrm>
              <a:off x="1302" y="2720"/>
              <a:ext cx="0" cy="198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ea typeface="ＭＳ Ｐゴシック" charset="-128"/>
              </a:endParaRPr>
            </a:p>
          </p:txBody>
        </p:sp>
        <p:sp>
          <p:nvSpPr>
            <p:cNvPr id="73" name="Line 26"/>
            <p:cNvSpPr>
              <a:spLocks noChangeShapeType="1"/>
            </p:cNvSpPr>
            <p:nvPr/>
          </p:nvSpPr>
          <p:spPr bwMode="auto">
            <a:xfrm>
              <a:off x="1866" y="2970"/>
              <a:ext cx="1536" cy="18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ea typeface="ＭＳ Ｐゴシック" charset="-128"/>
              </a:endParaRPr>
            </a:p>
          </p:txBody>
        </p:sp>
      </p:grpSp>
      <p:sp>
        <p:nvSpPr>
          <p:cNvPr id="74" name="Text Box 22"/>
          <p:cNvSpPr txBox="1">
            <a:spLocks noChangeArrowheads="1"/>
          </p:cNvSpPr>
          <p:nvPr/>
        </p:nvSpPr>
        <p:spPr bwMode="auto">
          <a:xfrm>
            <a:off x="2284987" y="1304459"/>
            <a:ext cx="3459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0" fontAlgn="base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en-US" kern="0" dirty="0">
                <a:solidFill>
                  <a:srgbClr val="000000"/>
                </a:solidFill>
                <a:latin typeface="+mn-lt"/>
              </a:rPr>
              <a:t>server</a:t>
            </a:r>
            <a:r>
              <a:rPr lang="en-US" altLang="en-US" sz="2400" kern="0" dirty="0">
                <a:solidFill>
                  <a:srgbClr val="000000"/>
                </a:solidFill>
                <a:latin typeface="+mn-lt"/>
              </a:rPr>
              <a:t> (running</a:t>
            </a:r>
            <a:r>
              <a:rPr lang="en-US" altLang="en-US" sz="2000" kern="0" dirty="0">
                <a:solidFill>
                  <a:srgbClr val="000000"/>
                </a:solidFill>
                <a:latin typeface="+mn-lt"/>
              </a:rPr>
              <a:t> on</a:t>
            </a:r>
            <a:r>
              <a:rPr lang="en-US" altLang="en-US" sz="1800" kern="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altLang="en-US" sz="1800" kern="0" dirty="0" err="1">
                <a:solidFill>
                  <a:srgbClr val="000000"/>
                </a:solidFill>
                <a:latin typeface="+mn-lt"/>
              </a:rPr>
              <a:t>serverIP</a:t>
            </a:r>
            <a:r>
              <a:rPr lang="en-US" altLang="en-US" sz="2400" kern="0" dirty="0">
                <a:solidFill>
                  <a:srgbClr val="000000"/>
                </a:solidFill>
                <a:latin typeface="+mn-lt"/>
              </a:rPr>
              <a:t>)</a:t>
            </a:r>
          </a:p>
        </p:txBody>
      </p:sp>
      <p:sp>
        <p:nvSpPr>
          <p:cNvPr id="75" name="Text Box 23"/>
          <p:cNvSpPr txBox="1">
            <a:spLocks noChangeArrowheads="1"/>
          </p:cNvSpPr>
          <p:nvPr/>
        </p:nvSpPr>
        <p:spPr bwMode="auto">
          <a:xfrm>
            <a:off x="6922916" y="1299697"/>
            <a:ext cx="98777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0" fontAlgn="base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en-US" kern="0">
                <a:solidFill>
                  <a:srgbClr val="000000"/>
                </a:solidFill>
                <a:latin typeface="+mn-lt"/>
              </a:rPr>
              <a:t>client</a:t>
            </a:r>
          </a:p>
        </p:txBody>
      </p:sp>
      <p:sp>
        <p:nvSpPr>
          <p:cNvPr id="76" name="Line 35"/>
          <p:cNvSpPr>
            <a:spLocks noChangeShapeType="1"/>
          </p:cNvSpPr>
          <p:nvPr/>
        </p:nvSpPr>
        <p:spPr bwMode="auto">
          <a:xfrm>
            <a:off x="2328864" y="1755775"/>
            <a:ext cx="3341687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ea typeface="ＭＳ Ｐゴシック" charset="-128"/>
            </a:endParaRPr>
          </a:p>
        </p:txBody>
      </p:sp>
      <p:sp>
        <p:nvSpPr>
          <p:cNvPr id="77" name="Line 36"/>
          <p:cNvSpPr>
            <a:spLocks noChangeShapeType="1"/>
          </p:cNvSpPr>
          <p:nvPr/>
        </p:nvSpPr>
        <p:spPr bwMode="auto">
          <a:xfrm>
            <a:off x="7069139" y="1766888"/>
            <a:ext cx="676275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56778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  <p:bldP spid="66" grpId="0"/>
      <p:bldP spid="74" grpId="0"/>
      <p:bldP spid="75" grpId="0"/>
      <p:bldP spid="76" grpId="0" animBg="1"/>
      <p:bldP spid="7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Client-Server socket interaction: TCP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7D645B-F978-1C48-86B8-2709180C75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42" name="Group 3"/>
          <p:cNvGrpSpPr>
            <a:grpSpLocks/>
          </p:cNvGrpSpPr>
          <p:nvPr/>
        </p:nvGrpSpPr>
        <p:grpSpPr bwMode="auto">
          <a:xfrm>
            <a:off x="2881313" y="2982916"/>
            <a:ext cx="1981200" cy="993776"/>
            <a:chOff x="827" y="2006"/>
            <a:chExt cx="1248" cy="626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827" y="2006"/>
              <a:ext cx="1132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+mn-lt"/>
                </a:rPr>
                <a:t>wait for incoming</a:t>
              </a:r>
            </a:p>
            <a:p>
              <a:pPr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+mn-lt"/>
                </a:rPr>
                <a:t>connection request</a:t>
              </a:r>
              <a:endParaRPr lang="en-US" altLang="en-US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44" name="Text Box 5"/>
            <p:cNvSpPr txBox="1">
              <a:spLocks noChangeArrowheads="1"/>
            </p:cNvSpPr>
            <p:nvPr/>
          </p:nvSpPr>
          <p:spPr bwMode="auto">
            <a:xfrm>
              <a:off x="828" y="2264"/>
              <a:ext cx="1247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CC0000"/>
                  </a:solidFill>
                  <a:latin typeface="+mn-lt"/>
                </a:rPr>
                <a:t>connectionSocket =</a:t>
              </a:r>
            </a:p>
            <a:p>
              <a:pPr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CC0000"/>
                  </a:solidFill>
                  <a:latin typeface="+mn-lt"/>
                </a:rPr>
                <a:t>serverSocket.accept()</a:t>
              </a:r>
              <a:endParaRPr lang="en-US" altLang="en-US">
                <a:solidFill>
                  <a:srgbClr val="CC0000"/>
                </a:solidFill>
                <a:latin typeface="+mn-lt"/>
              </a:endParaRPr>
            </a:p>
          </p:txBody>
        </p:sp>
      </p:grpSp>
      <p:grpSp>
        <p:nvGrpSpPr>
          <p:cNvPr id="45" name="Group 6"/>
          <p:cNvGrpSpPr>
            <a:grpSpLocks/>
          </p:cNvGrpSpPr>
          <p:nvPr/>
        </p:nvGrpSpPr>
        <p:grpSpPr bwMode="auto">
          <a:xfrm>
            <a:off x="2862264" y="1730377"/>
            <a:ext cx="2357437" cy="1363663"/>
            <a:chOff x="821" y="1217"/>
            <a:chExt cx="1485" cy="859"/>
          </a:xfrm>
        </p:grpSpPr>
        <p:grpSp>
          <p:nvGrpSpPr>
            <p:cNvPr id="46" name="Group 7"/>
            <p:cNvGrpSpPr>
              <a:grpSpLocks/>
            </p:cNvGrpSpPr>
            <p:nvPr/>
          </p:nvGrpSpPr>
          <p:grpSpPr bwMode="auto">
            <a:xfrm>
              <a:off x="821" y="1217"/>
              <a:ext cx="1485" cy="624"/>
              <a:chOff x="329" y="1241"/>
              <a:chExt cx="1485" cy="624"/>
            </a:xfrm>
          </p:grpSpPr>
          <p:sp>
            <p:nvSpPr>
              <p:cNvPr id="48" name="Text Box 8"/>
              <p:cNvSpPr txBox="1">
                <a:spLocks noChangeArrowheads="1"/>
              </p:cNvSpPr>
              <p:nvPr/>
            </p:nvSpPr>
            <p:spPr bwMode="auto">
              <a:xfrm>
                <a:off x="329" y="1241"/>
                <a:ext cx="1213" cy="5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600">
                    <a:solidFill>
                      <a:srgbClr val="000000"/>
                    </a:solidFill>
                    <a:latin typeface="+mn-lt"/>
                  </a:rPr>
                  <a:t>create socket,</a:t>
                </a: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600">
                    <a:solidFill>
                      <a:srgbClr val="000000"/>
                    </a:solidFill>
                    <a:latin typeface="+mn-lt"/>
                  </a:rPr>
                  <a:t>port=</a:t>
                </a:r>
                <a:r>
                  <a:rPr lang="en-US" altLang="en-US" sz="1600" b="1">
                    <a:solidFill>
                      <a:srgbClr val="000000"/>
                    </a:solidFill>
                    <a:latin typeface="+mn-lt"/>
                  </a:rPr>
                  <a:t>x</a:t>
                </a:r>
                <a:r>
                  <a:rPr lang="en-US" altLang="en-US" sz="1600">
                    <a:solidFill>
                      <a:srgbClr val="000000"/>
                    </a:solidFill>
                    <a:latin typeface="+mn-lt"/>
                  </a:rPr>
                  <a:t>, for incoming request:</a:t>
                </a:r>
                <a:endParaRPr lang="en-US" altLang="en-US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49" name="Text Box 9"/>
              <p:cNvSpPr txBox="1">
                <a:spLocks noChangeArrowheads="1"/>
              </p:cNvSpPr>
              <p:nvPr/>
            </p:nvSpPr>
            <p:spPr bwMode="auto">
              <a:xfrm>
                <a:off x="333" y="1652"/>
                <a:ext cx="1481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0"/>
                  <a:buNone/>
                </a:pPr>
                <a:r>
                  <a:rPr lang="en-US" altLang="en-US" sz="1600">
                    <a:solidFill>
                      <a:srgbClr val="CC0000"/>
                    </a:solidFill>
                    <a:latin typeface="+mn-lt"/>
                  </a:rPr>
                  <a:t>serverSocket = socket()</a:t>
                </a:r>
                <a:endParaRPr lang="en-US" altLang="en-US">
                  <a:solidFill>
                    <a:srgbClr val="CC0000"/>
                  </a:solidFill>
                  <a:latin typeface="+mn-lt"/>
                </a:endParaRPr>
              </a:p>
            </p:txBody>
          </p:sp>
        </p:grpSp>
        <p:sp>
          <p:nvSpPr>
            <p:cNvPr id="47" name="Line 10"/>
            <p:cNvSpPr>
              <a:spLocks noChangeShapeType="1"/>
            </p:cNvSpPr>
            <p:nvPr/>
          </p:nvSpPr>
          <p:spPr bwMode="auto">
            <a:xfrm>
              <a:off x="1284" y="1872"/>
              <a:ext cx="0" cy="204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ea typeface="ＭＳ Ｐゴシック" charset="-128"/>
              </a:endParaRPr>
            </a:p>
          </p:txBody>
        </p:sp>
      </p:grpSp>
      <p:grpSp>
        <p:nvGrpSpPr>
          <p:cNvPr id="50" name="Group 11"/>
          <p:cNvGrpSpPr>
            <a:grpSpLocks/>
          </p:cNvGrpSpPr>
          <p:nvPr/>
        </p:nvGrpSpPr>
        <p:grpSpPr bwMode="auto">
          <a:xfrm>
            <a:off x="6659564" y="2990848"/>
            <a:ext cx="2357437" cy="776286"/>
            <a:chOff x="3333" y="1183"/>
            <a:chExt cx="1485" cy="489"/>
          </a:xfrm>
        </p:grpSpPr>
        <p:sp>
          <p:nvSpPr>
            <p:cNvPr id="51" name="Text Box 12"/>
            <p:cNvSpPr txBox="1">
              <a:spLocks noChangeArrowheads="1"/>
            </p:cNvSpPr>
            <p:nvPr/>
          </p:nvSpPr>
          <p:spPr bwMode="auto">
            <a:xfrm>
              <a:off x="3335" y="1183"/>
              <a:ext cx="1389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+mn-lt"/>
                </a:rPr>
                <a:t>create socket,</a:t>
              </a:r>
            </a:p>
            <a:p>
              <a:pPr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+mn-lt"/>
                </a:rPr>
                <a:t>connect to </a:t>
              </a:r>
              <a:r>
                <a:rPr lang="en-US" altLang="en-US" sz="1600" b="1">
                  <a:solidFill>
                    <a:srgbClr val="000000"/>
                  </a:solidFill>
                  <a:latin typeface="+mn-lt"/>
                </a:rPr>
                <a:t>hostid</a:t>
              </a:r>
              <a:r>
                <a:rPr lang="en-US" altLang="en-US" sz="1600">
                  <a:solidFill>
                    <a:srgbClr val="000000"/>
                  </a:solidFill>
                  <a:latin typeface="+mn-lt"/>
                </a:rPr>
                <a:t>, port=</a:t>
              </a:r>
              <a:r>
                <a:rPr lang="en-US" altLang="en-US" sz="1600" b="1">
                  <a:solidFill>
                    <a:srgbClr val="000000"/>
                  </a:solidFill>
                  <a:latin typeface="+mn-lt"/>
                </a:rPr>
                <a:t>x</a:t>
              </a:r>
              <a:endParaRPr lang="en-US" altLang="en-US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52" name="Text Box 13"/>
            <p:cNvSpPr txBox="1">
              <a:spLocks noChangeArrowheads="1"/>
            </p:cNvSpPr>
            <p:nvPr/>
          </p:nvSpPr>
          <p:spPr bwMode="auto">
            <a:xfrm>
              <a:off x="3333" y="1459"/>
              <a:ext cx="1485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CC0000"/>
                  </a:solidFill>
                  <a:latin typeface="+mn-lt"/>
                </a:rPr>
                <a:t>clientSocket = socket()</a:t>
              </a:r>
              <a:endParaRPr lang="en-US" altLang="en-US">
                <a:solidFill>
                  <a:srgbClr val="CC0000"/>
                </a:solidFill>
                <a:latin typeface="+mn-lt"/>
              </a:endParaRPr>
            </a:p>
          </p:txBody>
        </p:sp>
      </p:grpSp>
      <p:sp>
        <p:nvSpPr>
          <p:cNvPr id="53" name="Text Box 22"/>
          <p:cNvSpPr txBox="1">
            <a:spLocks noChangeArrowheads="1"/>
          </p:cNvSpPr>
          <p:nvPr/>
        </p:nvSpPr>
        <p:spPr bwMode="auto">
          <a:xfrm>
            <a:off x="2136711" y="1106996"/>
            <a:ext cx="375615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0" fontAlgn="base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en-US" sz="3200" kern="0">
                <a:solidFill>
                  <a:srgbClr val="000000"/>
                </a:solidFill>
                <a:latin typeface="+mn-lt"/>
              </a:rPr>
              <a:t>server</a:t>
            </a:r>
            <a:r>
              <a:rPr lang="en-US" altLang="en-US" kern="0">
                <a:solidFill>
                  <a:srgbClr val="000000"/>
                </a:solidFill>
                <a:latin typeface="+mn-lt"/>
              </a:rPr>
              <a:t> (running</a:t>
            </a:r>
            <a:r>
              <a:rPr lang="en-US" altLang="en-US" sz="2400" kern="0">
                <a:solidFill>
                  <a:srgbClr val="000000"/>
                </a:solidFill>
                <a:latin typeface="+mn-lt"/>
              </a:rPr>
              <a:t> on</a:t>
            </a:r>
            <a:r>
              <a:rPr lang="en-US" altLang="en-US" sz="2000" kern="0">
                <a:solidFill>
                  <a:srgbClr val="000000"/>
                </a:solidFill>
                <a:latin typeface="+mn-lt"/>
              </a:rPr>
              <a:t> </a:t>
            </a:r>
            <a:r>
              <a:rPr lang="en-US" altLang="en-US" sz="2000" b="1" kern="0">
                <a:solidFill>
                  <a:srgbClr val="000000"/>
                </a:solidFill>
                <a:latin typeface="+mn-lt"/>
              </a:rPr>
              <a:t>hostid</a:t>
            </a:r>
            <a:r>
              <a:rPr lang="en-US" altLang="en-US" kern="0">
                <a:solidFill>
                  <a:srgbClr val="000000"/>
                </a:solidFill>
                <a:latin typeface="+mn-lt"/>
              </a:rPr>
              <a:t>)</a:t>
            </a:r>
          </a:p>
        </p:txBody>
      </p:sp>
      <p:sp>
        <p:nvSpPr>
          <p:cNvPr id="54" name="Text Box 23"/>
          <p:cNvSpPr txBox="1">
            <a:spLocks noChangeArrowheads="1"/>
          </p:cNvSpPr>
          <p:nvPr/>
        </p:nvSpPr>
        <p:spPr bwMode="auto">
          <a:xfrm>
            <a:off x="6864406" y="1102233"/>
            <a:ext cx="110479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2"/>
              <a:buChar char="v"/>
              <a:defRPr sz="28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Gill Sans MT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0" fontAlgn="base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en-US" sz="3200" kern="0">
                <a:solidFill>
                  <a:srgbClr val="000000"/>
                </a:solidFill>
                <a:latin typeface="+mn-lt"/>
              </a:rPr>
              <a:t>client</a:t>
            </a:r>
          </a:p>
        </p:txBody>
      </p:sp>
      <p:grpSp>
        <p:nvGrpSpPr>
          <p:cNvPr id="55" name="Group 24"/>
          <p:cNvGrpSpPr>
            <a:grpSpLocks/>
          </p:cNvGrpSpPr>
          <p:nvPr/>
        </p:nvGrpSpPr>
        <p:grpSpPr bwMode="auto">
          <a:xfrm>
            <a:off x="4502150" y="3808413"/>
            <a:ext cx="4110038" cy="1371600"/>
            <a:chOff x="1848" y="2526"/>
            <a:chExt cx="2589" cy="864"/>
          </a:xfrm>
        </p:grpSpPr>
        <p:sp>
          <p:nvSpPr>
            <p:cNvPr id="56" name="Line 25"/>
            <p:cNvSpPr>
              <a:spLocks noChangeShapeType="1"/>
            </p:cNvSpPr>
            <p:nvPr/>
          </p:nvSpPr>
          <p:spPr bwMode="auto">
            <a:xfrm flipH="1">
              <a:off x="3792" y="2964"/>
              <a:ext cx="6" cy="426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ea typeface="ＭＳ Ｐゴシック" charset="-128"/>
              </a:endParaRPr>
            </a:p>
          </p:txBody>
        </p:sp>
        <p:grpSp>
          <p:nvGrpSpPr>
            <p:cNvPr id="57" name="Group 26"/>
            <p:cNvGrpSpPr>
              <a:grpSpLocks/>
            </p:cNvGrpSpPr>
            <p:nvPr/>
          </p:nvGrpSpPr>
          <p:grpSpPr bwMode="auto">
            <a:xfrm>
              <a:off x="1848" y="2526"/>
              <a:ext cx="2589" cy="516"/>
              <a:chOff x="1848" y="2526"/>
              <a:chExt cx="2589" cy="516"/>
            </a:xfrm>
          </p:grpSpPr>
          <p:sp>
            <p:nvSpPr>
              <p:cNvPr id="58" name="Text Box 27"/>
              <p:cNvSpPr txBox="1">
                <a:spLocks noChangeArrowheads="1"/>
              </p:cNvSpPr>
              <p:nvPr/>
            </p:nvSpPr>
            <p:spPr bwMode="auto">
              <a:xfrm>
                <a:off x="3335" y="2654"/>
                <a:ext cx="1102" cy="3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600">
                    <a:solidFill>
                      <a:srgbClr val="000000"/>
                    </a:solidFill>
                    <a:latin typeface="+mn-lt"/>
                  </a:rPr>
                  <a:t>send request using</a:t>
                </a: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600">
                    <a:solidFill>
                      <a:srgbClr val="CC0000"/>
                    </a:solidFill>
                    <a:latin typeface="+mn-lt"/>
                  </a:rPr>
                  <a:t>clientSocket</a:t>
                </a:r>
                <a:endParaRPr lang="en-US" altLang="en-US">
                  <a:solidFill>
                    <a:srgbClr val="CC0000"/>
                  </a:solidFill>
                  <a:latin typeface="+mn-lt"/>
                </a:endParaRPr>
              </a:p>
            </p:txBody>
          </p:sp>
          <p:sp>
            <p:nvSpPr>
              <p:cNvPr id="59" name="Line 28"/>
              <p:cNvSpPr>
                <a:spLocks noChangeShapeType="1"/>
              </p:cNvSpPr>
              <p:nvPr/>
            </p:nvSpPr>
            <p:spPr bwMode="auto">
              <a:xfrm>
                <a:off x="3792" y="2526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ea typeface="ＭＳ Ｐゴシック" charset="-128"/>
                </a:endParaRPr>
              </a:p>
            </p:txBody>
          </p:sp>
          <p:sp>
            <p:nvSpPr>
              <p:cNvPr id="60" name="Line 29"/>
              <p:cNvSpPr>
                <a:spLocks noChangeShapeType="1"/>
              </p:cNvSpPr>
              <p:nvPr/>
            </p:nvSpPr>
            <p:spPr bwMode="auto">
              <a:xfrm flipH="1">
                <a:off x="1848" y="2790"/>
                <a:ext cx="1518" cy="252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ea typeface="ＭＳ Ｐゴシック" charset="-128"/>
                </a:endParaRPr>
              </a:p>
            </p:txBody>
          </p:sp>
        </p:grpSp>
      </p:grpSp>
      <p:grpSp>
        <p:nvGrpSpPr>
          <p:cNvPr id="61" name="Group 30"/>
          <p:cNvGrpSpPr>
            <a:grpSpLocks/>
          </p:cNvGrpSpPr>
          <p:nvPr/>
        </p:nvGrpSpPr>
        <p:grpSpPr bwMode="auto">
          <a:xfrm>
            <a:off x="2871789" y="3903662"/>
            <a:ext cx="4097337" cy="1520824"/>
            <a:chOff x="821" y="2586"/>
            <a:chExt cx="2581" cy="958"/>
          </a:xfrm>
        </p:grpSpPr>
        <p:sp>
          <p:nvSpPr>
            <p:cNvPr id="62" name="Text Box 31"/>
            <p:cNvSpPr txBox="1">
              <a:spLocks noChangeArrowheads="1"/>
            </p:cNvSpPr>
            <p:nvPr/>
          </p:nvSpPr>
          <p:spPr bwMode="auto">
            <a:xfrm>
              <a:off x="821" y="2768"/>
              <a:ext cx="1068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+mn-lt"/>
                </a:rPr>
                <a:t>read request from</a:t>
              </a:r>
            </a:p>
            <a:p>
              <a:pPr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CC0000"/>
                  </a:solidFill>
                  <a:latin typeface="+mn-lt"/>
                </a:rPr>
                <a:t>connectionSocke</a:t>
              </a:r>
              <a:r>
                <a:rPr lang="en-US" altLang="en-US" sz="1600">
                  <a:solidFill>
                    <a:srgbClr val="FF0000"/>
                  </a:solidFill>
                  <a:latin typeface="+mn-lt"/>
                </a:rPr>
                <a:t>t</a:t>
              </a:r>
              <a:endParaRPr lang="en-US" altLang="en-US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63" name="Text Box 32"/>
            <p:cNvSpPr txBox="1">
              <a:spLocks noChangeArrowheads="1"/>
            </p:cNvSpPr>
            <p:nvPr/>
          </p:nvSpPr>
          <p:spPr bwMode="auto">
            <a:xfrm>
              <a:off x="851" y="3176"/>
              <a:ext cx="1047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+mn-lt"/>
                </a:rPr>
                <a:t>write reply to</a:t>
              </a:r>
            </a:p>
            <a:p>
              <a:pPr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CC0000"/>
                  </a:solidFill>
                  <a:latin typeface="+mn-lt"/>
                </a:rPr>
                <a:t>connectionSocket</a:t>
              </a:r>
              <a:endParaRPr lang="en-US" altLang="en-US">
                <a:solidFill>
                  <a:srgbClr val="CC0000"/>
                </a:solidFill>
                <a:latin typeface="+mn-lt"/>
              </a:endParaRPr>
            </a:p>
          </p:txBody>
        </p:sp>
        <p:sp>
          <p:nvSpPr>
            <p:cNvPr id="64" name="Line 33"/>
            <p:cNvSpPr>
              <a:spLocks noChangeShapeType="1"/>
            </p:cNvSpPr>
            <p:nvPr/>
          </p:nvSpPr>
          <p:spPr bwMode="auto">
            <a:xfrm>
              <a:off x="1278" y="2586"/>
              <a:ext cx="0" cy="24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ea typeface="ＭＳ Ｐゴシック" charset="-128"/>
              </a:endParaRPr>
            </a:p>
          </p:txBody>
        </p:sp>
        <p:sp>
          <p:nvSpPr>
            <p:cNvPr id="65" name="Line 34"/>
            <p:cNvSpPr>
              <a:spLocks noChangeShapeType="1"/>
            </p:cNvSpPr>
            <p:nvPr/>
          </p:nvSpPr>
          <p:spPr bwMode="auto">
            <a:xfrm flipH="1">
              <a:off x="1284" y="3090"/>
              <a:ext cx="6" cy="156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ea typeface="ＭＳ Ｐゴシック" charset="-128"/>
              </a:endParaRPr>
            </a:p>
          </p:txBody>
        </p:sp>
        <p:sp>
          <p:nvSpPr>
            <p:cNvPr id="66" name="Line 35"/>
            <p:cNvSpPr>
              <a:spLocks noChangeShapeType="1"/>
            </p:cNvSpPr>
            <p:nvPr/>
          </p:nvSpPr>
          <p:spPr bwMode="auto">
            <a:xfrm>
              <a:off x="1866" y="3306"/>
              <a:ext cx="1536" cy="18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ea typeface="ＭＳ Ｐゴシック" charset="-128"/>
              </a:endParaRPr>
            </a:p>
          </p:txBody>
        </p:sp>
      </p:grpSp>
      <p:sp>
        <p:nvSpPr>
          <p:cNvPr id="67" name="Line 49"/>
          <p:cNvSpPr>
            <a:spLocks noChangeShapeType="1"/>
          </p:cNvSpPr>
          <p:nvPr/>
        </p:nvSpPr>
        <p:spPr bwMode="auto">
          <a:xfrm>
            <a:off x="2328864" y="1589088"/>
            <a:ext cx="3341687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ea typeface="ＭＳ Ｐゴシック" charset="-128"/>
            </a:endParaRPr>
          </a:p>
        </p:txBody>
      </p:sp>
      <p:grpSp>
        <p:nvGrpSpPr>
          <p:cNvPr id="68" name="Group 52"/>
          <p:cNvGrpSpPr>
            <a:grpSpLocks/>
          </p:cNvGrpSpPr>
          <p:nvPr/>
        </p:nvGrpSpPr>
        <p:grpSpPr bwMode="auto">
          <a:xfrm>
            <a:off x="4551546" y="3073403"/>
            <a:ext cx="2200275" cy="646113"/>
            <a:chOff x="3043" y="1170"/>
            <a:chExt cx="1386" cy="407"/>
          </a:xfrm>
        </p:grpSpPr>
        <p:sp>
          <p:nvSpPr>
            <p:cNvPr id="69" name="Line 37"/>
            <p:cNvSpPr>
              <a:spLocks noChangeShapeType="1"/>
            </p:cNvSpPr>
            <p:nvPr/>
          </p:nvSpPr>
          <p:spPr bwMode="auto">
            <a:xfrm>
              <a:off x="3043" y="1372"/>
              <a:ext cx="1386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prstDash val="dash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ea typeface="ＭＳ Ｐゴシック" charset="-128"/>
              </a:endParaRPr>
            </a:p>
          </p:txBody>
        </p:sp>
        <p:sp>
          <p:nvSpPr>
            <p:cNvPr id="70" name="Text Box 38"/>
            <p:cNvSpPr txBox="1">
              <a:spLocks noChangeArrowheads="1"/>
            </p:cNvSpPr>
            <p:nvPr/>
          </p:nvSpPr>
          <p:spPr bwMode="auto">
            <a:xfrm>
              <a:off x="3081" y="1170"/>
              <a:ext cx="1253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dirty="0">
                  <a:solidFill>
                    <a:srgbClr val="CC0000"/>
                  </a:solidFill>
                  <a:latin typeface="+mn-lt"/>
                </a:rPr>
                <a:t>TCP </a:t>
              </a:r>
            </a:p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dirty="0">
                  <a:solidFill>
                    <a:srgbClr val="CC0000"/>
                  </a:solidFill>
                  <a:latin typeface="+mn-lt"/>
                </a:rPr>
                <a:t>connection setup</a:t>
              </a:r>
              <a:endParaRPr lang="en-US" altLang="en-US" dirty="0">
                <a:solidFill>
                  <a:srgbClr val="CC0000"/>
                </a:solidFill>
                <a:latin typeface="+mn-lt"/>
              </a:endParaRPr>
            </a:p>
          </p:txBody>
        </p:sp>
      </p:grpSp>
      <p:sp>
        <p:nvSpPr>
          <p:cNvPr id="71" name="Line 50"/>
          <p:cNvSpPr>
            <a:spLocks noChangeShapeType="1"/>
          </p:cNvSpPr>
          <p:nvPr/>
        </p:nvSpPr>
        <p:spPr bwMode="auto">
          <a:xfrm flipV="1">
            <a:off x="6949190" y="1589088"/>
            <a:ext cx="900058" cy="11112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ea typeface="ＭＳ Ｐゴシック" charset="-128"/>
            </a:endParaRPr>
          </a:p>
        </p:txBody>
      </p:sp>
      <p:grpSp>
        <p:nvGrpSpPr>
          <p:cNvPr id="72" name="Group 53"/>
          <p:cNvGrpSpPr>
            <a:grpSpLocks/>
          </p:cNvGrpSpPr>
          <p:nvPr/>
        </p:nvGrpSpPr>
        <p:grpSpPr bwMode="auto">
          <a:xfrm>
            <a:off x="2822576" y="4264026"/>
            <a:ext cx="5478463" cy="1971676"/>
            <a:chOff x="832" y="2721"/>
            <a:chExt cx="3451" cy="1242"/>
          </a:xfrm>
        </p:grpSpPr>
        <p:sp>
          <p:nvSpPr>
            <p:cNvPr id="73" name="Text Box 15"/>
            <p:cNvSpPr txBox="1">
              <a:spLocks noChangeArrowheads="1"/>
            </p:cNvSpPr>
            <p:nvPr/>
          </p:nvSpPr>
          <p:spPr bwMode="auto">
            <a:xfrm>
              <a:off x="867" y="3493"/>
              <a:ext cx="1047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2"/>
                <a:buChar char="v"/>
                <a:defRPr sz="28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charset="2"/>
                <a:buChar char="§"/>
                <a:defRPr sz="2400">
                  <a:solidFill>
                    <a:schemeClr val="tx1"/>
                  </a:solidFill>
                  <a:latin typeface="Gill Sans M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+mn-lt"/>
                </a:rPr>
                <a:t>close</a:t>
              </a:r>
            </a:p>
            <a:p>
              <a:pPr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CC0000"/>
                  </a:solidFill>
                  <a:latin typeface="+mn-lt"/>
                </a:rPr>
                <a:t>connectionSocket</a:t>
              </a:r>
              <a:endParaRPr lang="en-US" altLang="en-US">
                <a:solidFill>
                  <a:srgbClr val="CC0000"/>
                </a:solidFill>
                <a:latin typeface="+mn-lt"/>
              </a:endParaRPr>
            </a:p>
          </p:txBody>
        </p:sp>
        <p:sp>
          <p:nvSpPr>
            <p:cNvPr id="74" name="Line 16"/>
            <p:cNvSpPr>
              <a:spLocks noChangeShapeType="1"/>
            </p:cNvSpPr>
            <p:nvPr/>
          </p:nvSpPr>
          <p:spPr bwMode="auto">
            <a:xfrm>
              <a:off x="1318" y="3437"/>
              <a:ext cx="0" cy="204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ea typeface="ＭＳ Ｐゴシック" charset="-128"/>
              </a:endParaRPr>
            </a:p>
          </p:txBody>
        </p:sp>
        <p:sp>
          <p:nvSpPr>
            <p:cNvPr id="75" name="Freeform 17"/>
            <p:cNvSpPr>
              <a:spLocks/>
            </p:cNvSpPr>
            <p:nvPr/>
          </p:nvSpPr>
          <p:spPr bwMode="auto">
            <a:xfrm>
              <a:off x="832" y="2721"/>
              <a:ext cx="492" cy="291"/>
            </a:xfrm>
            <a:custGeom>
              <a:avLst/>
              <a:gdLst>
                <a:gd name="T0" fmla="*/ 492 w 492"/>
                <a:gd name="T1" fmla="*/ 0 h 2112"/>
                <a:gd name="T2" fmla="*/ 492 w 492"/>
                <a:gd name="T3" fmla="*/ 0 h 2112"/>
                <a:gd name="T4" fmla="*/ 0 w 492"/>
                <a:gd name="T5" fmla="*/ 0 h 2112"/>
                <a:gd name="T6" fmla="*/ 0 w 492"/>
                <a:gd name="T7" fmla="*/ 0 h 2112"/>
                <a:gd name="T8" fmla="*/ 402 w 492"/>
                <a:gd name="T9" fmla="*/ 0 h 21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2"/>
                <a:gd name="T16" fmla="*/ 0 h 2112"/>
                <a:gd name="T17" fmla="*/ 492 w 492"/>
                <a:gd name="T18" fmla="*/ 2112 h 21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2" h="2112">
                  <a:moveTo>
                    <a:pt x="492" y="1968"/>
                  </a:moveTo>
                  <a:lnTo>
                    <a:pt x="492" y="2112"/>
                  </a:lnTo>
                  <a:lnTo>
                    <a:pt x="0" y="2112"/>
                  </a:lnTo>
                  <a:lnTo>
                    <a:pt x="0" y="0"/>
                  </a:lnTo>
                  <a:lnTo>
                    <a:pt x="402" y="0"/>
                  </a:lnTo>
                </a:path>
              </a:pathLst>
            </a:cu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ea typeface="ＭＳ Ｐゴシック" charset="-128"/>
              </a:endParaRPr>
            </a:p>
          </p:txBody>
        </p:sp>
        <p:grpSp>
          <p:nvGrpSpPr>
            <p:cNvPr id="76" name="Group 18"/>
            <p:cNvGrpSpPr>
              <a:grpSpLocks/>
            </p:cNvGrpSpPr>
            <p:nvPr/>
          </p:nvGrpSpPr>
          <p:grpSpPr bwMode="auto">
            <a:xfrm>
              <a:off x="3393" y="3229"/>
              <a:ext cx="890" cy="734"/>
              <a:chOff x="3365" y="3356"/>
              <a:chExt cx="890" cy="734"/>
            </a:xfrm>
          </p:grpSpPr>
          <p:sp>
            <p:nvSpPr>
              <p:cNvPr id="77" name="Text Box 19"/>
              <p:cNvSpPr txBox="1">
                <a:spLocks noChangeArrowheads="1"/>
              </p:cNvSpPr>
              <p:nvPr/>
            </p:nvSpPr>
            <p:spPr bwMode="auto">
              <a:xfrm>
                <a:off x="3365" y="3356"/>
                <a:ext cx="890" cy="3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600">
                    <a:solidFill>
                      <a:srgbClr val="000000"/>
                    </a:solidFill>
                    <a:latin typeface="+mn-lt"/>
                  </a:rPr>
                  <a:t>read reply from</a:t>
                </a: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600">
                    <a:solidFill>
                      <a:srgbClr val="CC0000"/>
                    </a:solidFill>
                    <a:latin typeface="+mn-lt"/>
                  </a:rPr>
                  <a:t>clientSocket</a:t>
                </a:r>
                <a:endParaRPr lang="en-US" altLang="en-US">
                  <a:solidFill>
                    <a:srgbClr val="CC0000"/>
                  </a:solidFill>
                  <a:latin typeface="+mn-lt"/>
                </a:endParaRPr>
              </a:p>
            </p:txBody>
          </p:sp>
          <p:sp>
            <p:nvSpPr>
              <p:cNvPr id="78" name="Text Box 20"/>
              <p:cNvSpPr txBox="1">
                <a:spLocks noChangeArrowheads="1"/>
              </p:cNvSpPr>
              <p:nvPr/>
            </p:nvSpPr>
            <p:spPr bwMode="auto">
              <a:xfrm>
                <a:off x="3389" y="3722"/>
                <a:ext cx="749" cy="3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charset="2"/>
                  <a:buChar char="v"/>
                  <a:defRPr sz="28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charset="2"/>
                  <a:buChar char="§"/>
                  <a:defRPr sz="2400">
                    <a:solidFill>
                      <a:schemeClr val="tx1"/>
                    </a:solidFill>
                    <a:latin typeface="Gill Sans MT" charset="0"/>
                    <a:ea typeface="ＭＳ Ｐゴシック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-128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600">
                    <a:solidFill>
                      <a:srgbClr val="000000"/>
                    </a:solidFill>
                    <a:latin typeface="+mn-lt"/>
                  </a:rPr>
                  <a:t>close</a:t>
                </a: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600">
                    <a:solidFill>
                      <a:srgbClr val="CC0000"/>
                    </a:solidFill>
                    <a:latin typeface="+mn-lt"/>
                  </a:rPr>
                  <a:t>clientSocket</a:t>
                </a:r>
                <a:endParaRPr lang="en-US" altLang="en-US">
                  <a:solidFill>
                    <a:srgbClr val="CC0000"/>
                  </a:solidFill>
                  <a:latin typeface="+mn-lt"/>
                </a:endParaRPr>
              </a:p>
            </p:txBody>
          </p:sp>
          <p:sp>
            <p:nvSpPr>
              <p:cNvPr id="79" name="Line 21"/>
              <p:cNvSpPr>
                <a:spLocks noChangeShapeType="1"/>
              </p:cNvSpPr>
              <p:nvPr/>
            </p:nvSpPr>
            <p:spPr bwMode="auto">
              <a:xfrm>
                <a:off x="3816" y="3690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ea typeface="ＭＳ Ｐゴシック" charset="-128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02682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 - 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Principles of Computer Applications</a:t>
            </a:r>
          </a:p>
          <a:p>
            <a:pPr lvl="1"/>
            <a:r>
              <a:rPr lang="en-US" dirty="0">
                <a:solidFill>
                  <a:schemeClr val="accent6"/>
                </a:solidFill>
              </a:rPr>
              <a:t>Browser, Web Server, Email, P2P Applications </a:t>
            </a:r>
            <a:r>
              <a:rPr lang="en-US" dirty="0" err="1">
                <a:solidFill>
                  <a:schemeClr val="accent6"/>
                </a:solidFill>
              </a:rPr>
              <a:t>etc</a:t>
            </a:r>
            <a:r>
              <a:rPr lang="is-IS" dirty="0">
                <a:solidFill>
                  <a:schemeClr val="accent6"/>
                </a:solidFill>
              </a:rPr>
              <a:t>…</a:t>
            </a:r>
          </a:p>
          <a:p>
            <a:r>
              <a:rPr lang="is-IS" dirty="0"/>
              <a:t>Application Layer </a:t>
            </a:r>
            <a:r>
              <a:rPr lang="is-IS" dirty="0">
                <a:solidFill>
                  <a:schemeClr val="accent6"/>
                </a:solidFill>
              </a:rPr>
              <a:t>(TCP – UDP Services) </a:t>
            </a:r>
            <a:r>
              <a:rPr lang="en-US" dirty="0">
                <a:solidFill>
                  <a:schemeClr val="accent6"/>
                </a:solidFill>
              </a:rPr>
              <a:t> </a:t>
            </a:r>
          </a:p>
          <a:p>
            <a:r>
              <a:rPr lang="en-US" dirty="0"/>
              <a:t>Web </a:t>
            </a:r>
            <a:r>
              <a:rPr lang="en-US" dirty="0">
                <a:solidFill>
                  <a:schemeClr val="accent6"/>
                </a:solidFill>
              </a:rPr>
              <a:t>(Web Pages – Objects like html, jpeg, mp3, </a:t>
            </a:r>
            <a:r>
              <a:rPr lang="en-US" dirty="0" err="1">
                <a:solidFill>
                  <a:schemeClr val="accent6"/>
                </a:solidFill>
              </a:rPr>
              <a:t>etc</a:t>
            </a:r>
            <a:r>
              <a:rPr lang="is-IS" dirty="0">
                <a:solidFill>
                  <a:schemeClr val="accent6"/>
                </a:solidFill>
              </a:rPr>
              <a:t>…</a:t>
            </a:r>
            <a:r>
              <a:rPr lang="en-US" dirty="0">
                <a:solidFill>
                  <a:schemeClr val="accent6"/>
                </a:solidFill>
              </a:rPr>
              <a:t>)</a:t>
            </a:r>
          </a:p>
          <a:p>
            <a:r>
              <a:rPr lang="en-US" dirty="0"/>
              <a:t>HTTP </a:t>
            </a:r>
            <a:r>
              <a:rPr lang="en-US" dirty="0">
                <a:solidFill>
                  <a:schemeClr val="accent6"/>
                </a:solidFill>
              </a:rPr>
              <a:t>(TCP connection, port-80, persistent &amp; non-persistent conn.), Request &amp; Response Message format, Cookies, Web caches, FTP, Port-21</a:t>
            </a:r>
          </a:p>
          <a:p>
            <a:r>
              <a:rPr lang="en-US" dirty="0"/>
              <a:t>E-mail </a:t>
            </a:r>
            <a:r>
              <a:rPr lang="en-US" dirty="0">
                <a:solidFill>
                  <a:schemeClr val="accent6"/>
                </a:solidFill>
              </a:rPr>
              <a:t>(User agent, Mail Server, SMTP port - 25), POP3, IMAP</a:t>
            </a:r>
          </a:p>
          <a:p>
            <a:r>
              <a:rPr lang="en-US" dirty="0"/>
              <a:t>DNS </a:t>
            </a:r>
            <a:r>
              <a:rPr lang="en-US" dirty="0">
                <a:solidFill>
                  <a:schemeClr val="accent6"/>
                </a:solidFill>
              </a:rPr>
              <a:t>(Domain names to IP Address), hierarchy structure</a:t>
            </a:r>
          </a:p>
          <a:p>
            <a:r>
              <a:rPr lang="en-US" dirty="0"/>
              <a:t>Socket programming with TCP and UDP </a:t>
            </a:r>
            <a:r>
              <a:rPr lang="en-US" dirty="0">
                <a:solidFill>
                  <a:schemeClr val="accent6"/>
                </a:solidFill>
              </a:rPr>
              <a:t>(TCP – </a:t>
            </a:r>
            <a:r>
              <a:rPr lang="en-US" dirty="0" err="1">
                <a:solidFill>
                  <a:schemeClr val="accent6"/>
                </a:solidFill>
              </a:rPr>
              <a:t>Sock_Stream</a:t>
            </a:r>
            <a:r>
              <a:rPr lang="en-US" dirty="0">
                <a:solidFill>
                  <a:schemeClr val="accent6"/>
                </a:solidFill>
              </a:rPr>
              <a:t>, UDP – </a:t>
            </a:r>
            <a:r>
              <a:rPr lang="en-US" dirty="0" err="1">
                <a:solidFill>
                  <a:schemeClr val="accent6"/>
                </a:solidFill>
              </a:rPr>
              <a:t>Sock_DGram</a:t>
            </a:r>
            <a:r>
              <a:rPr lang="en-US" dirty="0">
                <a:solidFill>
                  <a:schemeClr val="accent6"/>
                </a:solidFill>
              </a:rPr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2859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4F27F027-AAC9-4C88-B3AF-3C4A20BDDD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Devangi.kotak@darshan.ac.in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915CF252-06A8-43C0-BB69-DA7109EA62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Department of Computer Application</a:t>
            </a:r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89F5B5F8-350F-4941-B9DE-36BF8B0148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</a:t>
            </a:r>
            <a:r>
              <a:rPr lang="en-US" dirty="0" err="1"/>
              <a:t>Devangi</a:t>
            </a:r>
            <a:r>
              <a:rPr lang="en-US" dirty="0"/>
              <a:t> L. Kotak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B549BA2-2678-C31B-B591-92E6E66952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Computer Networks </a:t>
            </a:r>
            <a:r>
              <a:rPr lang="en-US" dirty="0"/>
              <a:t>(CN)</a:t>
            </a:r>
          </a:p>
          <a:p>
            <a:pPr>
              <a:spcAft>
                <a:spcPts val="600"/>
              </a:spcAft>
            </a:pPr>
            <a:r>
              <a:rPr lang="en-US" dirty="0"/>
              <a:t>DU #2305CS332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22BC776E-41A8-4659-A3F0-C48BFCBA0FE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3855" r="385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568267602"/>
      </p:ext>
    </p:extLst>
  </p:cSld>
  <p:clrMapOvr>
    <a:masterClrMapping/>
  </p:clrMapOvr>
</p:sld>
</file>

<file path=ppt/theme/theme1.xml><?xml version="1.0" encoding="utf-8"?>
<a:theme xmlns:a="http://schemas.openxmlformats.org/drawingml/2006/main" name="VIdeo Lecture 16x9 Light Templat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101CS501_CN_Unit_1_Introduction to Computer Networks" id="{742FF22A-866B-6A4B-AF57-FBD93819822A}" vid="{317B4626-23AD-0D48-8FF6-5340941DD1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PPT</Template>
  <TotalTime>15525</TotalTime>
  <Words>2708</Words>
  <Application>Microsoft Office PowerPoint</Application>
  <PresentationFormat>Widescreen</PresentationFormat>
  <Paragraphs>449</Paragraphs>
  <Slides>45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19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65" baseType="lpstr">
      <vt:lpstr>ＭＳ Ｐゴシック</vt:lpstr>
      <vt:lpstr>Arial</vt:lpstr>
      <vt:lpstr>Calibri</vt:lpstr>
      <vt:lpstr>Courier New</vt:lpstr>
      <vt:lpstr>Gill Sans MT</vt:lpstr>
      <vt:lpstr>Open Sans</vt:lpstr>
      <vt:lpstr>Open Sans Semibold</vt:lpstr>
      <vt:lpstr>Open Sans Semibold</vt:lpstr>
      <vt:lpstr>Roboto Condensed</vt:lpstr>
      <vt:lpstr>Roboto Condensed Light</vt:lpstr>
      <vt:lpstr>Segoe UI Black</vt:lpstr>
      <vt:lpstr>Tahoma</vt:lpstr>
      <vt:lpstr>Times New Roman</vt:lpstr>
      <vt:lpstr>-webkit-standard</vt:lpstr>
      <vt:lpstr>Wingdings</vt:lpstr>
      <vt:lpstr>Wingdings 2</vt:lpstr>
      <vt:lpstr>Wingdings 3</vt:lpstr>
      <vt:lpstr>ZapfDingbats</vt:lpstr>
      <vt:lpstr>ZapfDingbatsITC</vt:lpstr>
      <vt:lpstr>VIdeo Lecture 16x9 Light Template</vt:lpstr>
      <vt:lpstr>Unit-2 Application Layer </vt:lpstr>
      <vt:lpstr>PowerPoint Presentation</vt:lpstr>
      <vt:lpstr>FTP – File Transfer Protocol</vt:lpstr>
      <vt:lpstr>FTP (File Transfer Protocol)</vt:lpstr>
      <vt:lpstr>FTP (File Transfer Protocol) – Cont…</vt:lpstr>
      <vt:lpstr>FTP (File Transfer Protocol) – Example</vt:lpstr>
      <vt:lpstr>PowerPoint Presentation</vt:lpstr>
      <vt:lpstr>Telnet</vt:lpstr>
      <vt:lpstr>Telnet</vt:lpstr>
      <vt:lpstr>How TELNET Works?</vt:lpstr>
      <vt:lpstr>PowerPoint Presentation</vt:lpstr>
      <vt:lpstr>Email – SMTP, POP3, IMAP</vt:lpstr>
      <vt:lpstr>Electronic Mail (Email)</vt:lpstr>
      <vt:lpstr>Email - Cont…</vt:lpstr>
      <vt:lpstr>SMTP</vt:lpstr>
      <vt:lpstr>SMTP - Example</vt:lpstr>
      <vt:lpstr>SMTP - Example</vt:lpstr>
      <vt:lpstr>Mail Access Protocols (POP3 and IMAP)</vt:lpstr>
      <vt:lpstr>POP3 – Post Office Version 3</vt:lpstr>
      <vt:lpstr>IMAP - Internet Mail Access Protocol</vt:lpstr>
      <vt:lpstr>SNMP</vt:lpstr>
      <vt:lpstr>SNMP - Simple Network Management Protocol</vt:lpstr>
      <vt:lpstr>SNMP Architecture</vt:lpstr>
      <vt:lpstr>SNMP Architecture</vt:lpstr>
      <vt:lpstr>SNMP Operation</vt:lpstr>
      <vt:lpstr>DHCP</vt:lpstr>
      <vt:lpstr>DHCP</vt:lpstr>
      <vt:lpstr>How does DHCP work?</vt:lpstr>
      <vt:lpstr>DHCP Process (DORA Process)</vt:lpstr>
      <vt:lpstr>DNS – Domain Name System</vt:lpstr>
      <vt:lpstr>DNS - Domain Name System</vt:lpstr>
      <vt:lpstr>DNS - Example</vt:lpstr>
      <vt:lpstr>DNS: A distributed - hierarchical database</vt:lpstr>
      <vt:lpstr>DNS – Cont…</vt:lpstr>
      <vt:lpstr>DNS - Example</vt:lpstr>
      <vt:lpstr>DNS Name Resolution Example</vt:lpstr>
      <vt:lpstr>DNS Name Resolution Example</vt:lpstr>
      <vt:lpstr>DNS – Cont...</vt:lpstr>
      <vt:lpstr>Socket Programming – TCP, UDP</vt:lpstr>
      <vt:lpstr>Socket Programming</vt:lpstr>
      <vt:lpstr>Type of Socket</vt:lpstr>
      <vt:lpstr>Client-Server socket interaction: UDP</vt:lpstr>
      <vt:lpstr>Client-Server socket interaction: TCP</vt:lpstr>
      <vt:lpstr>Outline - 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Maulik Trivedi</dc:creator>
  <cp:lastModifiedBy>HP</cp:lastModifiedBy>
  <cp:revision>151</cp:revision>
  <dcterms:created xsi:type="dcterms:W3CDTF">2020-06-29T07:50:49Z</dcterms:created>
  <dcterms:modified xsi:type="dcterms:W3CDTF">2026-08-06T06:01:02Z</dcterms:modified>
</cp:coreProperties>
</file>