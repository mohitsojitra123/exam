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gif" ContentType="image/gif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0"/>
  </p:notesMasterIdLst>
  <p:sldIdLst>
    <p:sldId id="256" r:id="rId2"/>
    <p:sldId id="447" r:id="rId3"/>
    <p:sldId id="360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607" r:id="rId16"/>
    <p:sldId id="373" r:id="rId17"/>
    <p:sldId id="609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449" r:id="rId27"/>
    <p:sldId id="383" r:id="rId28"/>
    <p:sldId id="384" r:id="rId29"/>
    <p:sldId id="578" r:id="rId30"/>
    <p:sldId id="465" r:id="rId31"/>
    <p:sldId id="466" r:id="rId32"/>
    <p:sldId id="610" r:id="rId33"/>
    <p:sldId id="467" r:id="rId34"/>
    <p:sldId id="579" r:id="rId35"/>
    <p:sldId id="468" r:id="rId36"/>
    <p:sldId id="469" r:id="rId37"/>
    <p:sldId id="580" r:id="rId38"/>
    <p:sldId id="470" r:id="rId39"/>
    <p:sldId id="471" r:id="rId40"/>
    <p:sldId id="581" r:id="rId41"/>
    <p:sldId id="472" r:id="rId42"/>
    <p:sldId id="473" r:id="rId43"/>
    <p:sldId id="582" r:id="rId44"/>
    <p:sldId id="476" r:id="rId45"/>
    <p:sldId id="475" r:id="rId46"/>
    <p:sldId id="477" r:id="rId47"/>
    <p:sldId id="478" r:id="rId48"/>
    <p:sldId id="479" r:id="rId49"/>
    <p:sldId id="480" r:id="rId50"/>
    <p:sldId id="481" r:id="rId51"/>
    <p:sldId id="393" r:id="rId52"/>
    <p:sldId id="394" r:id="rId53"/>
    <p:sldId id="584" r:id="rId54"/>
    <p:sldId id="454" r:id="rId55"/>
    <p:sldId id="455" r:id="rId56"/>
    <p:sldId id="585" r:id="rId57"/>
    <p:sldId id="456" r:id="rId58"/>
    <p:sldId id="457" r:id="rId59"/>
    <p:sldId id="586" r:id="rId60"/>
    <p:sldId id="458" r:id="rId61"/>
    <p:sldId id="459" r:id="rId62"/>
    <p:sldId id="587" r:id="rId63"/>
    <p:sldId id="462" r:id="rId64"/>
    <p:sldId id="463" r:id="rId65"/>
    <p:sldId id="588" r:id="rId66"/>
    <p:sldId id="460" r:id="rId67"/>
    <p:sldId id="461" r:id="rId68"/>
    <p:sldId id="589" r:id="rId69"/>
    <p:sldId id="590" r:id="rId70"/>
    <p:sldId id="402" r:id="rId71"/>
    <p:sldId id="403" r:id="rId72"/>
    <p:sldId id="404" r:id="rId73"/>
    <p:sldId id="405" r:id="rId74"/>
    <p:sldId id="592" r:id="rId75"/>
    <p:sldId id="424" r:id="rId76"/>
    <p:sldId id="604" r:id="rId77"/>
    <p:sldId id="605" r:id="rId78"/>
    <p:sldId id="425" r:id="rId79"/>
    <p:sldId id="421" r:id="rId80"/>
    <p:sldId id="603" r:id="rId81"/>
    <p:sldId id="602" r:id="rId82"/>
    <p:sldId id="422" r:id="rId83"/>
    <p:sldId id="418" r:id="rId84"/>
    <p:sldId id="601" r:id="rId85"/>
    <p:sldId id="419" r:id="rId86"/>
    <p:sldId id="415" r:id="rId87"/>
    <p:sldId id="600" r:id="rId88"/>
    <p:sldId id="416" r:id="rId89"/>
    <p:sldId id="412" r:id="rId90"/>
    <p:sldId id="599" r:id="rId91"/>
    <p:sldId id="413" r:id="rId92"/>
    <p:sldId id="409" r:id="rId93"/>
    <p:sldId id="382" r:id="rId94"/>
    <p:sldId id="596" r:id="rId95"/>
    <p:sldId id="597" r:id="rId96"/>
    <p:sldId id="598" r:id="rId97"/>
    <p:sldId id="410" r:id="rId98"/>
    <p:sldId id="406" r:id="rId99"/>
    <p:sldId id="594" r:id="rId100"/>
    <p:sldId id="595" r:id="rId101"/>
    <p:sldId id="407" r:id="rId102"/>
    <p:sldId id="427" r:id="rId103"/>
    <p:sldId id="428" r:id="rId104"/>
    <p:sldId id="429" r:id="rId105"/>
    <p:sldId id="450" r:id="rId106"/>
    <p:sldId id="574" r:id="rId107"/>
    <p:sldId id="433" r:id="rId108"/>
    <p:sldId id="434" r:id="rId109"/>
    <p:sldId id="435" r:id="rId110"/>
    <p:sldId id="436" r:id="rId111"/>
    <p:sldId id="437" r:id="rId112"/>
    <p:sldId id="438" r:id="rId113"/>
    <p:sldId id="440" r:id="rId114"/>
    <p:sldId id="441" r:id="rId115"/>
    <p:sldId id="608" r:id="rId116"/>
    <p:sldId id="442" r:id="rId117"/>
    <p:sldId id="443" r:id="rId118"/>
    <p:sldId id="345" r:id="rId1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TiyO1TfJZIik1AVB9ZYTiw==" hashData="/VI3gZ3Tu+aHMEYdRhqH1vX/h7wdUBqAZsnbh/BBHaT9QFuWGSLApDetjlP0VeW+YfUT7Jha/wjvYvRcm6KFTA=="/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B5B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4308"/>
  </p:normalViewPr>
  <p:slideViewPr>
    <p:cSldViewPr snapToGrid="0" snapToObjects="1">
      <p:cViewPr varScale="1">
        <p:scale>
          <a:sx n="73" d="100"/>
          <a:sy n="73" d="100"/>
        </p:scale>
        <p:origin x="490" y="72"/>
      </p:cViewPr>
      <p:guideLst>
        <p:guide orient="horz" pos="324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E928FF-C671-4DFF-A46F-AEA35DB533EB}" type="doc">
      <dgm:prSet loTypeId="urn:microsoft.com/office/officeart/2005/8/layout/orgChart1" loCatId="hierarchy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0C504768-8489-4038-871C-EFFCB0C82D22}">
      <dgm:prSet phldrT="[Text]" custT="1"/>
      <dgm:spPr/>
      <dgm:t>
        <a:bodyPr/>
        <a:lstStyle/>
        <a:p>
          <a:r>
            <a:rPr lang="en-US" sz="3600" dirty="0"/>
            <a:t>Network</a:t>
          </a:r>
        </a:p>
      </dgm:t>
    </dgm:pt>
    <dgm:pt modelId="{D99F71F3-0BF8-4F1B-A389-734124604A6A}" type="parTrans" cxnId="{C0D19BAE-7DAE-4986-A5E4-ED72283E446D}">
      <dgm:prSet/>
      <dgm:spPr/>
      <dgm:t>
        <a:bodyPr/>
        <a:lstStyle/>
        <a:p>
          <a:endParaRPr lang="en-US"/>
        </a:p>
      </dgm:t>
    </dgm:pt>
    <dgm:pt modelId="{60FB91C1-433A-4822-9D64-6D5A25984DF5}" type="sibTrans" cxnId="{C0D19BAE-7DAE-4986-A5E4-ED72283E446D}">
      <dgm:prSet/>
      <dgm:spPr/>
      <dgm:t>
        <a:bodyPr/>
        <a:lstStyle/>
        <a:p>
          <a:endParaRPr lang="en-US"/>
        </a:p>
      </dgm:t>
    </dgm:pt>
    <dgm:pt modelId="{85A5F169-E142-4CC5-8A73-B7ACC9C04682}">
      <dgm:prSet phldrT="[Text]" custT="1"/>
      <dgm:spPr/>
      <dgm:t>
        <a:bodyPr/>
        <a:lstStyle/>
        <a:p>
          <a:r>
            <a:rPr lang="en-US" sz="2400" dirty="0"/>
            <a:t>Local Area Network</a:t>
          </a:r>
        </a:p>
        <a:p>
          <a:r>
            <a:rPr lang="en-US" sz="2000" dirty="0"/>
            <a:t>(LAN)</a:t>
          </a:r>
        </a:p>
      </dgm:t>
    </dgm:pt>
    <dgm:pt modelId="{DE5E2BD8-4C98-44EE-889D-AC26F30D6686}" type="parTrans" cxnId="{9ECD26B0-BE8E-4A52-BE24-B7F227783F9B}">
      <dgm:prSet/>
      <dgm:spPr/>
      <dgm:t>
        <a:bodyPr/>
        <a:lstStyle/>
        <a:p>
          <a:endParaRPr lang="en-US"/>
        </a:p>
      </dgm:t>
    </dgm:pt>
    <dgm:pt modelId="{365789E8-27D4-4E22-9BED-621374624C49}" type="sibTrans" cxnId="{9ECD26B0-BE8E-4A52-BE24-B7F227783F9B}">
      <dgm:prSet/>
      <dgm:spPr/>
      <dgm:t>
        <a:bodyPr/>
        <a:lstStyle/>
        <a:p>
          <a:endParaRPr lang="en-US"/>
        </a:p>
      </dgm:t>
    </dgm:pt>
    <dgm:pt modelId="{C9C5B2F2-9CB6-4E17-B571-F97AF638E623}">
      <dgm:prSet phldrT="[Text]" custT="1"/>
      <dgm:spPr/>
      <dgm:t>
        <a:bodyPr/>
        <a:lstStyle/>
        <a:p>
          <a:r>
            <a:rPr lang="en-US" sz="2400" dirty="0"/>
            <a:t>Metropolitan Area Network</a:t>
          </a:r>
        </a:p>
        <a:p>
          <a:r>
            <a:rPr lang="en-US" sz="2000" dirty="0"/>
            <a:t>(MAN)</a:t>
          </a:r>
        </a:p>
      </dgm:t>
    </dgm:pt>
    <dgm:pt modelId="{C6B9F3F0-ED03-45FE-9C20-C3A759D859AA}" type="parTrans" cxnId="{1CA1A61B-7231-4F22-9507-093D2EEFF67E}">
      <dgm:prSet/>
      <dgm:spPr/>
      <dgm:t>
        <a:bodyPr/>
        <a:lstStyle/>
        <a:p>
          <a:endParaRPr lang="en-US"/>
        </a:p>
      </dgm:t>
    </dgm:pt>
    <dgm:pt modelId="{A125C3ED-BD68-4270-8F41-A28C7AB76CE3}" type="sibTrans" cxnId="{1CA1A61B-7231-4F22-9507-093D2EEFF67E}">
      <dgm:prSet/>
      <dgm:spPr/>
      <dgm:t>
        <a:bodyPr/>
        <a:lstStyle/>
        <a:p>
          <a:endParaRPr lang="en-US"/>
        </a:p>
      </dgm:t>
    </dgm:pt>
    <dgm:pt modelId="{5CF8C479-FA0B-4212-873D-9A5154BE236D}">
      <dgm:prSet phldrT="[Text]" custT="1"/>
      <dgm:spPr/>
      <dgm:t>
        <a:bodyPr/>
        <a:lstStyle/>
        <a:p>
          <a:r>
            <a:rPr lang="en-US" sz="2400" dirty="0"/>
            <a:t>Wide Area Network</a:t>
          </a:r>
        </a:p>
        <a:p>
          <a:r>
            <a:rPr lang="en-US" sz="2000" dirty="0"/>
            <a:t>(WAN)</a:t>
          </a:r>
        </a:p>
      </dgm:t>
    </dgm:pt>
    <dgm:pt modelId="{647D3DDA-ECF9-4ADE-9087-211640DA4A56}" type="parTrans" cxnId="{B7578276-2E4D-4FE9-8774-4B369BA214A7}">
      <dgm:prSet/>
      <dgm:spPr/>
      <dgm:t>
        <a:bodyPr/>
        <a:lstStyle/>
        <a:p>
          <a:endParaRPr lang="en-US"/>
        </a:p>
      </dgm:t>
    </dgm:pt>
    <dgm:pt modelId="{F0A7506F-2057-437D-97F2-11765B812741}" type="sibTrans" cxnId="{B7578276-2E4D-4FE9-8774-4B369BA214A7}">
      <dgm:prSet/>
      <dgm:spPr/>
      <dgm:t>
        <a:bodyPr/>
        <a:lstStyle/>
        <a:p>
          <a:endParaRPr lang="en-US"/>
        </a:p>
      </dgm:t>
    </dgm:pt>
    <dgm:pt modelId="{1E2EA62E-A2DF-4353-A7E6-23F73A5177B3}" type="pres">
      <dgm:prSet presAssocID="{81E928FF-C671-4DFF-A46F-AEA35DB533E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B02EE5F-1BE6-4691-B002-99336699D450}" type="pres">
      <dgm:prSet presAssocID="{0C504768-8489-4038-871C-EFFCB0C82D22}" presName="hierRoot1" presStyleCnt="0">
        <dgm:presLayoutVars>
          <dgm:hierBranch val="init"/>
        </dgm:presLayoutVars>
      </dgm:prSet>
      <dgm:spPr/>
    </dgm:pt>
    <dgm:pt modelId="{6A0D0EC5-97E1-4483-84EA-846C5D291F15}" type="pres">
      <dgm:prSet presAssocID="{0C504768-8489-4038-871C-EFFCB0C82D22}" presName="rootComposite1" presStyleCnt="0"/>
      <dgm:spPr/>
    </dgm:pt>
    <dgm:pt modelId="{5780BE29-26F6-459B-8CB1-53B6E7A3270C}" type="pres">
      <dgm:prSet presAssocID="{0C504768-8489-4038-871C-EFFCB0C82D22}" presName="rootText1" presStyleLbl="node0" presStyleIdx="0" presStyleCnt="1">
        <dgm:presLayoutVars>
          <dgm:chPref val="3"/>
        </dgm:presLayoutVars>
      </dgm:prSet>
      <dgm:spPr/>
    </dgm:pt>
    <dgm:pt modelId="{364A5151-D670-4CC1-84F7-D4827FFF04D9}" type="pres">
      <dgm:prSet presAssocID="{0C504768-8489-4038-871C-EFFCB0C82D22}" presName="rootConnector1" presStyleLbl="node1" presStyleIdx="0" presStyleCnt="0"/>
      <dgm:spPr/>
    </dgm:pt>
    <dgm:pt modelId="{9EF001A0-0DB1-49FC-8370-7D55D82DCDCA}" type="pres">
      <dgm:prSet presAssocID="{0C504768-8489-4038-871C-EFFCB0C82D22}" presName="hierChild2" presStyleCnt="0"/>
      <dgm:spPr/>
    </dgm:pt>
    <dgm:pt modelId="{5FED6C45-039F-4582-A1FD-127515821796}" type="pres">
      <dgm:prSet presAssocID="{DE5E2BD8-4C98-44EE-889D-AC26F30D6686}" presName="Name37" presStyleLbl="parChTrans1D2" presStyleIdx="0" presStyleCnt="3"/>
      <dgm:spPr/>
    </dgm:pt>
    <dgm:pt modelId="{A46321BB-99BB-4BD4-9E9E-52BB10FC7788}" type="pres">
      <dgm:prSet presAssocID="{85A5F169-E142-4CC5-8A73-B7ACC9C04682}" presName="hierRoot2" presStyleCnt="0">
        <dgm:presLayoutVars>
          <dgm:hierBranch val="init"/>
        </dgm:presLayoutVars>
      </dgm:prSet>
      <dgm:spPr/>
    </dgm:pt>
    <dgm:pt modelId="{07307480-473D-4157-BFB2-F9F8B47E7385}" type="pres">
      <dgm:prSet presAssocID="{85A5F169-E142-4CC5-8A73-B7ACC9C04682}" presName="rootComposite" presStyleCnt="0"/>
      <dgm:spPr/>
    </dgm:pt>
    <dgm:pt modelId="{BB2FE16E-FDC6-4A88-9474-3FA3E53F80BF}" type="pres">
      <dgm:prSet presAssocID="{85A5F169-E142-4CC5-8A73-B7ACC9C04682}" presName="rootText" presStyleLbl="node2" presStyleIdx="0" presStyleCnt="3">
        <dgm:presLayoutVars>
          <dgm:chPref val="3"/>
        </dgm:presLayoutVars>
      </dgm:prSet>
      <dgm:spPr/>
    </dgm:pt>
    <dgm:pt modelId="{487E0620-DCE3-40C2-86DE-0DDBF7500E40}" type="pres">
      <dgm:prSet presAssocID="{85A5F169-E142-4CC5-8A73-B7ACC9C04682}" presName="rootConnector" presStyleLbl="node2" presStyleIdx="0" presStyleCnt="3"/>
      <dgm:spPr/>
    </dgm:pt>
    <dgm:pt modelId="{6DA99E6B-759E-4949-9CCA-71F97B33E3E8}" type="pres">
      <dgm:prSet presAssocID="{85A5F169-E142-4CC5-8A73-B7ACC9C04682}" presName="hierChild4" presStyleCnt="0"/>
      <dgm:spPr/>
    </dgm:pt>
    <dgm:pt modelId="{C2164AAE-9ED6-453B-B745-E8927D10D507}" type="pres">
      <dgm:prSet presAssocID="{85A5F169-E142-4CC5-8A73-B7ACC9C04682}" presName="hierChild5" presStyleCnt="0"/>
      <dgm:spPr/>
    </dgm:pt>
    <dgm:pt modelId="{F8C3B52E-62CF-492C-BB11-4CD0527D6616}" type="pres">
      <dgm:prSet presAssocID="{C6B9F3F0-ED03-45FE-9C20-C3A759D859AA}" presName="Name37" presStyleLbl="parChTrans1D2" presStyleIdx="1" presStyleCnt="3"/>
      <dgm:spPr/>
    </dgm:pt>
    <dgm:pt modelId="{2C9F2E4C-F424-4215-9018-CCF33D8057E9}" type="pres">
      <dgm:prSet presAssocID="{C9C5B2F2-9CB6-4E17-B571-F97AF638E623}" presName="hierRoot2" presStyleCnt="0">
        <dgm:presLayoutVars>
          <dgm:hierBranch val="init"/>
        </dgm:presLayoutVars>
      </dgm:prSet>
      <dgm:spPr/>
    </dgm:pt>
    <dgm:pt modelId="{8B30FDD4-C490-40C8-842C-DE3EB4E296FF}" type="pres">
      <dgm:prSet presAssocID="{C9C5B2F2-9CB6-4E17-B571-F97AF638E623}" presName="rootComposite" presStyleCnt="0"/>
      <dgm:spPr/>
    </dgm:pt>
    <dgm:pt modelId="{0E80DC3C-0DF2-469F-A3E0-89ACD2DFF2A8}" type="pres">
      <dgm:prSet presAssocID="{C9C5B2F2-9CB6-4E17-B571-F97AF638E623}" presName="rootText" presStyleLbl="node2" presStyleIdx="1" presStyleCnt="3">
        <dgm:presLayoutVars>
          <dgm:chPref val="3"/>
        </dgm:presLayoutVars>
      </dgm:prSet>
      <dgm:spPr/>
    </dgm:pt>
    <dgm:pt modelId="{BE1F3EC7-3C44-4E66-8652-0A7B6293463F}" type="pres">
      <dgm:prSet presAssocID="{C9C5B2F2-9CB6-4E17-B571-F97AF638E623}" presName="rootConnector" presStyleLbl="node2" presStyleIdx="1" presStyleCnt="3"/>
      <dgm:spPr/>
    </dgm:pt>
    <dgm:pt modelId="{5A834BAC-FBDF-4F89-A00E-C9B256F004E7}" type="pres">
      <dgm:prSet presAssocID="{C9C5B2F2-9CB6-4E17-B571-F97AF638E623}" presName="hierChild4" presStyleCnt="0"/>
      <dgm:spPr/>
    </dgm:pt>
    <dgm:pt modelId="{FB4DE33F-F620-4AB5-BBD6-1DF3A93EF559}" type="pres">
      <dgm:prSet presAssocID="{C9C5B2F2-9CB6-4E17-B571-F97AF638E623}" presName="hierChild5" presStyleCnt="0"/>
      <dgm:spPr/>
    </dgm:pt>
    <dgm:pt modelId="{61380F03-2F7A-4C20-81B9-F07185ECBEE3}" type="pres">
      <dgm:prSet presAssocID="{647D3DDA-ECF9-4ADE-9087-211640DA4A56}" presName="Name37" presStyleLbl="parChTrans1D2" presStyleIdx="2" presStyleCnt="3"/>
      <dgm:spPr/>
    </dgm:pt>
    <dgm:pt modelId="{2FCB6B2A-A9B5-47E6-9779-8C278E6DD615}" type="pres">
      <dgm:prSet presAssocID="{5CF8C479-FA0B-4212-873D-9A5154BE236D}" presName="hierRoot2" presStyleCnt="0">
        <dgm:presLayoutVars>
          <dgm:hierBranch val="init"/>
        </dgm:presLayoutVars>
      </dgm:prSet>
      <dgm:spPr/>
    </dgm:pt>
    <dgm:pt modelId="{8B073753-78B4-4EDE-A975-F084905E353F}" type="pres">
      <dgm:prSet presAssocID="{5CF8C479-FA0B-4212-873D-9A5154BE236D}" presName="rootComposite" presStyleCnt="0"/>
      <dgm:spPr/>
    </dgm:pt>
    <dgm:pt modelId="{39A4A3EF-021A-4589-B1A1-71E0A7B16045}" type="pres">
      <dgm:prSet presAssocID="{5CF8C479-FA0B-4212-873D-9A5154BE236D}" presName="rootText" presStyleLbl="node2" presStyleIdx="2" presStyleCnt="3">
        <dgm:presLayoutVars>
          <dgm:chPref val="3"/>
        </dgm:presLayoutVars>
      </dgm:prSet>
      <dgm:spPr/>
    </dgm:pt>
    <dgm:pt modelId="{6B357252-D619-4E18-A2DA-5CCE51C2C8A1}" type="pres">
      <dgm:prSet presAssocID="{5CF8C479-FA0B-4212-873D-9A5154BE236D}" presName="rootConnector" presStyleLbl="node2" presStyleIdx="2" presStyleCnt="3"/>
      <dgm:spPr/>
    </dgm:pt>
    <dgm:pt modelId="{57CAE654-66E8-41FD-B054-B069122D2839}" type="pres">
      <dgm:prSet presAssocID="{5CF8C479-FA0B-4212-873D-9A5154BE236D}" presName="hierChild4" presStyleCnt="0"/>
      <dgm:spPr/>
    </dgm:pt>
    <dgm:pt modelId="{5814A603-C0AC-4999-AE63-00196B20E884}" type="pres">
      <dgm:prSet presAssocID="{5CF8C479-FA0B-4212-873D-9A5154BE236D}" presName="hierChild5" presStyleCnt="0"/>
      <dgm:spPr/>
    </dgm:pt>
    <dgm:pt modelId="{5EAC2585-8ABD-4D97-891D-4760867437AC}" type="pres">
      <dgm:prSet presAssocID="{0C504768-8489-4038-871C-EFFCB0C82D22}" presName="hierChild3" presStyleCnt="0"/>
      <dgm:spPr/>
    </dgm:pt>
  </dgm:ptLst>
  <dgm:cxnLst>
    <dgm:cxn modelId="{B8E9D913-CE23-4092-A257-3CA65F923063}" type="presOf" srcId="{647D3DDA-ECF9-4ADE-9087-211640DA4A56}" destId="{61380F03-2F7A-4C20-81B9-F07185ECBEE3}" srcOrd="0" destOrd="0" presId="urn:microsoft.com/office/officeart/2005/8/layout/orgChart1"/>
    <dgm:cxn modelId="{1CA1A61B-7231-4F22-9507-093D2EEFF67E}" srcId="{0C504768-8489-4038-871C-EFFCB0C82D22}" destId="{C9C5B2F2-9CB6-4E17-B571-F97AF638E623}" srcOrd="1" destOrd="0" parTransId="{C6B9F3F0-ED03-45FE-9C20-C3A759D859AA}" sibTransId="{A125C3ED-BD68-4270-8F41-A28C7AB76CE3}"/>
    <dgm:cxn modelId="{B7578276-2E4D-4FE9-8774-4B369BA214A7}" srcId="{0C504768-8489-4038-871C-EFFCB0C82D22}" destId="{5CF8C479-FA0B-4212-873D-9A5154BE236D}" srcOrd="2" destOrd="0" parTransId="{647D3DDA-ECF9-4ADE-9087-211640DA4A56}" sibTransId="{F0A7506F-2057-437D-97F2-11765B812741}"/>
    <dgm:cxn modelId="{4465A77F-0C60-4C1E-94B0-41F7728886B1}" type="presOf" srcId="{85A5F169-E142-4CC5-8A73-B7ACC9C04682}" destId="{487E0620-DCE3-40C2-86DE-0DDBF7500E40}" srcOrd="1" destOrd="0" presId="urn:microsoft.com/office/officeart/2005/8/layout/orgChart1"/>
    <dgm:cxn modelId="{42BA4082-5EB0-4D0F-A08D-63429364522F}" type="presOf" srcId="{DE5E2BD8-4C98-44EE-889D-AC26F30D6686}" destId="{5FED6C45-039F-4582-A1FD-127515821796}" srcOrd="0" destOrd="0" presId="urn:microsoft.com/office/officeart/2005/8/layout/orgChart1"/>
    <dgm:cxn modelId="{D8F74991-FAC2-414A-AFAA-D0E474D279E5}" type="presOf" srcId="{C6B9F3F0-ED03-45FE-9C20-C3A759D859AA}" destId="{F8C3B52E-62CF-492C-BB11-4CD0527D6616}" srcOrd="0" destOrd="0" presId="urn:microsoft.com/office/officeart/2005/8/layout/orgChart1"/>
    <dgm:cxn modelId="{C0D19BAE-7DAE-4986-A5E4-ED72283E446D}" srcId="{81E928FF-C671-4DFF-A46F-AEA35DB533EB}" destId="{0C504768-8489-4038-871C-EFFCB0C82D22}" srcOrd="0" destOrd="0" parTransId="{D99F71F3-0BF8-4F1B-A389-734124604A6A}" sibTransId="{60FB91C1-433A-4822-9D64-6D5A25984DF5}"/>
    <dgm:cxn modelId="{9ECD26B0-BE8E-4A52-BE24-B7F227783F9B}" srcId="{0C504768-8489-4038-871C-EFFCB0C82D22}" destId="{85A5F169-E142-4CC5-8A73-B7ACC9C04682}" srcOrd="0" destOrd="0" parTransId="{DE5E2BD8-4C98-44EE-889D-AC26F30D6686}" sibTransId="{365789E8-27D4-4E22-9BED-621374624C49}"/>
    <dgm:cxn modelId="{64BDB4C0-9A89-474C-BA00-0DD7CFB68803}" type="presOf" srcId="{0C504768-8489-4038-871C-EFFCB0C82D22}" destId="{5780BE29-26F6-459B-8CB1-53B6E7A3270C}" srcOrd="0" destOrd="0" presId="urn:microsoft.com/office/officeart/2005/8/layout/orgChart1"/>
    <dgm:cxn modelId="{D72E76D6-EAD3-4C06-9E0F-B10024F0A4CB}" type="presOf" srcId="{C9C5B2F2-9CB6-4E17-B571-F97AF638E623}" destId="{0E80DC3C-0DF2-469F-A3E0-89ACD2DFF2A8}" srcOrd="0" destOrd="0" presId="urn:microsoft.com/office/officeart/2005/8/layout/orgChart1"/>
    <dgm:cxn modelId="{D46335D8-80CF-43AF-AAA7-068DBB9ACC69}" type="presOf" srcId="{0C504768-8489-4038-871C-EFFCB0C82D22}" destId="{364A5151-D670-4CC1-84F7-D4827FFF04D9}" srcOrd="1" destOrd="0" presId="urn:microsoft.com/office/officeart/2005/8/layout/orgChart1"/>
    <dgm:cxn modelId="{C7B166D9-2C5E-41EA-BDD8-62A816F14BD2}" type="presOf" srcId="{5CF8C479-FA0B-4212-873D-9A5154BE236D}" destId="{39A4A3EF-021A-4589-B1A1-71E0A7B16045}" srcOrd="0" destOrd="0" presId="urn:microsoft.com/office/officeart/2005/8/layout/orgChart1"/>
    <dgm:cxn modelId="{7EE2B9F3-5DA5-4D11-8834-954F653B1F39}" type="presOf" srcId="{5CF8C479-FA0B-4212-873D-9A5154BE236D}" destId="{6B357252-D619-4E18-A2DA-5CCE51C2C8A1}" srcOrd="1" destOrd="0" presId="urn:microsoft.com/office/officeart/2005/8/layout/orgChart1"/>
    <dgm:cxn modelId="{317A6CF4-5DDB-4EC5-9625-D4E7D462D9C7}" type="presOf" srcId="{81E928FF-C671-4DFF-A46F-AEA35DB533EB}" destId="{1E2EA62E-A2DF-4353-A7E6-23F73A5177B3}" srcOrd="0" destOrd="0" presId="urn:microsoft.com/office/officeart/2005/8/layout/orgChart1"/>
    <dgm:cxn modelId="{CF1D0BF6-C88E-4F0A-963B-D6B0CC0F0801}" type="presOf" srcId="{C9C5B2F2-9CB6-4E17-B571-F97AF638E623}" destId="{BE1F3EC7-3C44-4E66-8652-0A7B6293463F}" srcOrd="1" destOrd="0" presId="urn:microsoft.com/office/officeart/2005/8/layout/orgChart1"/>
    <dgm:cxn modelId="{5EF316FC-DD56-4E5B-AC7F-E1CFC9E03269}" type="presOf" srcId="{85A5F169-E142-4CC5-8A73-B7ACC9C04682}" destId="{BB2FE16E-FDC6-4A88-9474-3FA3E53F80BF}" srcOrd="0" destOrd="0" presId="urn:microsoft.com/office/officeart/2005/8/layout/orgChart1"/>
    <dgm:cxn modelId="{4E41AD2A-F850-4101-9571-6EA4CD237FAF}" type="presParOf" srcId="{1E2EA62E-A2DF-4353-A7E6-23F73A5177B3}" destId="{DB02EE5F-1BE6-4691-B002-99336699D450}" srcOrd="0" destOrd="0" presId="urn:microsoft.com/office/officeart/2005/8/layout/orgChart1"/>
    <dgm:cxn modelId="{8955F300-AD40-47E1-ACF5-0D86EB662525}" type="presParOf" srcId="{DB02EE5F-1BE6-4691-B002-99336699D450}" destId="{6A0D0EC5-97E1-4483-84EA-846C5D291F15}" srcOrd="0" destOrd="0" presId="urn:microsoft.com/office/officeart/2005/8/layout/orgChart1"/>
    <dgm:cxn modelId="{43D39455-1C96-4FCA-B84C-D743DE06D566}" type="presParOf" srcId="{6A0D0EC5-97E1-4483-84EA-846C5D291F15}" destId="{5780BE29-26F6-459B-8CB1-53B6E7A3270C}" srcOrd="0" destOrd="0" presId="urn:microsoft.com/office/officeart/2005/8/layout/orgChart1"/>
    <dgm:cxn modelId="{B3B07B43-0679-41F3-8864-856931F12BD9}" type="presParOf" srcId="{6A0D0EC5-97E1-4483-84EA-846C5D291F15}" destId="{364A5151-D670-4CC1-84F7-D4827FFF04D9}" srcOrd="1" destOrd="0" presId="urn:microsoft.com/office/officeart/2005/8/layout/orgChart1"/>
    <dgm:cxn modelId="{3FE22EB7-C347-4714-BBAF-A09C020E7321}" type="presParOf" srcId="{DB02EE5F-1BE6-4691-B002-99336699D450}" destId="{9EF001A0-0DB1-49FC-8370-7D55D82DCDCA}" srcOrd="1" destOrd="0" presId="urn:microsoft.com/office/officeart/2005/8/layout/orgChart1"/>
    <dgm:cxn modelId="{86D3DCC9-ADE7-4F8A-9488-260ED48366E4}" type="presParOf" srcId="{9EF001A0-0DB1-49FC-8370-7D55D82DCDCA}" destId="{5FED6C45-039F-4582-A1FD-127515821796}" srcOrd="0" destOrd="0" presId="urn:microsoft.com/office/officeart/2005/8/layout/orgChart1"/>
    <dgm:cxn modelId="{E3A5E408-F6A1-4492-AFB4-0DC6ACB2F7B0}" type="presParOf" srcId="{9EF001A0-0DB1-49FC-8370-7D55D82DCDCA}" destId="{A46321BB-99BB-4BD4-9E9E-52BB10FC7788}" srcOrd="1" destOrd="0" presId="urn:microsoft.com/office/officeart/2005/8/layout/orgChart1"/>
    <dgm:cxn modelId="{7FA132E7-CE7F-4B80-A38D-2084E86C1F21}" type="presParOf" srcId="{A46321BB-99BB-4BD4-9E9E-52BB10FC7788}" destId="{07307480-473D-4157-BFB2-F9F8B47E7385}" srcOrd="0" destOrd="0" presId="urn:microsoft.com/office/officeart/2005/8/layout/orgChart1"/>
    <dgm:cxn modelId="{0F9CD41E-38FA-4DB5-91AD-225CCEEC0B7D}" type="presParOf" srcId="{07307480-473D-4157-BFB2-F9F8B47E7385}" destId="{BB2FE16E-FDC6-4A88-9474-3FA3E53F80BF}" srcOrd="0" destOrd="0" presId="urn:microsoft.com/office/officeart/2005/8/layout/orgChart1"/>
    <dgm:cxn modelId="{F916B1AF-EC37-43C4-90F4-CC4C1DD5C63A}" type="presParOf" srcId="{07307480-473D-4157-BFB2-F9F8B47E7385}" destId="{487E0620-DCE3-40C2-86DE-0DDBF7500E40}" srcOrd="1" destOrd="0" presId="urn:microsoft.com/office/officeart/2005/8/layout/orgChart1"/>
    <dgm:cxn modelId="{EFFF3814-F920-4228-8E71-31ED6ADBBE22}" type="presParOf" srcId="{A46321BB-99BB-4BD4-9E9E-52BB10FC7788}" destId="{6DA99E6B-759E-4949-9CCA-71F97B33E3E8}" srcOrd="1" destOrd="0" presId="urn:microsoft.com/office/officeart/2005/8/layout/orgChart1"/>
    <dgm:cxn modelId="{7DB1DAA2-7BE9-433E-A611-0D43D8D91A7D}" type="presParOf" srcId="{A46321BB-99BB-4BD4-9E9E-52BB10FC7788}" destId="{C2164AAE-9ED6-453B-B745-E8927D10D507}" srcOrd="2" destOrd="0" presId="urn:microsoft.com/office/officeart/2005/8/layout/orgChart1"/>
    <dgm:cxn modelId="{12C84A71-87F8-4D3A-A209-A205903C4632}" type="presParOf" srcId="{9EF001A0-0DB1-49FC-8370-7D55D82DCDCA}" destId="{F8C3B52E-62CF-492C-BB11-4CD0527D6616}" srcOrd="2" destOrd="0" presId="urn:microsoft.com/office/officeart/2005/8/layout/orgChart1"/>
    <dgm:cxn modelId="{4D9E3712-227F-488C-9A64-07AEB0180C0A}" type="presParOf" srcId="{9EF001A0-0DB1-49FC-8370-7D55D82DCDCA}" destId="{2C9F2E4C-F424-4215-9018-CCF33D8057E9}" srcOrd="3" destOrd="0" presId="urn:microsoft.com/office/officeart/2005/8/layout/orgChart1"/>
    <dgm:cxn modelId="{939DB175-5729-4914-B642-6DC9A01B625A}" type="presParOf" srcId="{2C9F2E4C-F424-4215-9018-CCF33D8057E9}" destId="{8B30FDD4-C490-40C8-842C-DE3EB4E296FF}" srcOrd="0" destOrd="0" presId="urn:microsoft.com/office/officeart/2005/8/layout/orgChart1"/>
    <dgm:cxn modelId="{6E100142-01E3-47E2-9BE7-97D30FDEE211}" type="presParOf" srcId="{8B30FDD4-C490-40C8-842C-DE3EB4E296FF}" destId="{0E80DC3C-0DF2-469F-A3E0-89ACD2DFF2A8}" srcOrd="0" destOrd="0" presId="urn:microsoft.com/office/officeart/2005/8/layout/orgChart1"/>
    <dgm:cxn modelId="{8ED91800-F628-4884-990E-A801AF6DBDA6}" type="presParOf" srcId="{8B30FDD4-C490-40C8-842C-DE3EB4E296FF}" destId="{BE1F3EC7-3C44-4E66-8652-0A7B6293463F}" srcOrd="1" destOrd="0" presId="urn:microsoft.com/office/officeart/2005/8/layout/orgChart1"/>
    <dgm:cxn modelId="{F24880A6-BF67-496C-B033-754155B83AD8}" type="presParOf" srcId="{2C9F2E4C-F424-4215-9018-CCF33D8057E9}" destId="{5A834BAC-FBDF-4F89-A00E-C9B256F004E7}" srcOrd="1" destOrd="0" presId="urn:microsoft.com/office/officeart/2005/8/layout/orgChart1"/>
    <dgm:cxn modelId="{108B68CA-9CC4-4C49-8B78-A7A34CEE4911}" type="presParOf" srcId="{2C9F2E4C-F424-4215-9018-CCF33D8057E9}" destId="{FB4DE33F-F620-4AB5-BBD6-1DF3A93EF559}" srcOrd="2" destOrd="0" presId="urn:microsoft.com/office/officeart/2005/8/layout/orgChart1"/>
    <dgm:cxn modelId="{8662D6C5-188C-4AC5-8D17-A610DD944995}" type="presParOf" srcId="{9EF001A0-0DB1-49FC-8370-7D55D82DCDCA}" destId="{61380F03-2F7A-4C20-81B9-F07185ECBEE3}" srcOrd="4" destOrd="0" presId="urn:microsoft.com/office/officeart/2005/8/layout/orgChart1"/>
    <dgm:cxn modelId="{6FDA0D3E-4329-4325-B6FA-CBC80B896409}" type="presParOf" srcId="{9EF001A0-0DB1-49FC-8370-7D55D82DCDCA}" destId="{2FCB6B2A-A9B5-47E6-9779-8C278E6DD615}" srcOrd="5" destOrd="0" presId="urn:microsoft.com/office/officeart/2005/8/layout/orgChart1"/>
    <dgm:cxn modelId="{E4147ADA-74F7-437D-9514-7730650C4949}" type="presParOf" srcId="{2FCB6B2A-A9B5-47E6-9779-8C278E6DD615}" destId="{8B073753-78B4-4EDE-A975-F084905E353F}" srcOrd="0" destOrd="0" presId="urn:microsoft.com/office/officeart/2005/8/layout/orgChart1"/>
    <dgm:cxn modelId="{B98BAE19-16A2-402A-B22D-9EDDAB70CBDA}" type="presParOf" srcId="{8B073753-78B4-4EDE-A975-F084905E353F}" destId="{39A4A3EF-021A-4589-B1A1-71E0A7B16045}" srcOrd="0" destOrd="0" presId="urn:microsoft.com/office/officeart/2005/8/layout/orgChart1"/>
    <dgm:cxn modelId="{88D8E8EF-8454-4297-A5C2-CBB0F98FFAD8}" type="presParOf" srcId="{8B073753-78B4-4EDE-A975-F084905E353F}" destId="{6B357252-D619-4E18-A2DA-5CCE51C2C8A1}" srcOrd="1" destOrd="0" presId="urn:microsoft.com/office/officeart/2005/8/layout/orgChart1"/>
    <dgm:cxn modelId="{3FE2D9AB-393E-4B01-9FFE-6C994A196243}" type="presParOf" srcId="{2FCB6B2A-A9B5-47E6-9779-8C278E6DD615}" destId="{57CAE654-66E8-41FD-B054-B069122D2839}" srcOrd="1" destOrd="0" presId="urn:microsoft.com/office/officeart/2005/8/layout/orgChart1"/>
    <dgm:cxn modelId="{5B05B76A-197D-4032-81AB-38E1D5F7011B}" type="presParOf" srcId="{2FCB6B2A-A9B5-47E6-9779-8C278E6DD615}" destId="{5814A603-C0AC-4999-AE63-00196B20E884}" srcOrd="2" destOrd="0" presId="urn:microsoft.com/office/officeart/2005/8/layout/orgChart1"/>
    <dgm:cxn modelId="{6EA62124-0BCB-40C9-BE27-8D6621A12F95}" type="presParOf" srcId="{DB02EE5F-1BE6-4691-B002-99336699D450}" destId="{5EAC2585-8ABD-4D97-891D-4760867437A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B5C643-2869-425C-BA93-252345386990}" type="doc">
      <dgm:prSet loTypeId="urn:microsoft.com/office/officeart/2005/8/layout/hierarchy6" loCatId="hierarchy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B716BA3E-3989-44A1-93BC-7938DA77DA50}">
      <dgm:prSet phldrT="[Text]" custT="1"/>
      <dgm:spPr/>
      <dgm:t>
        <a:bodyPr/>
        <a:lstStyle/>
        <a:p>
          <a:r>
            <a:rPr lang="en-IN" sz="1800" b="1" dirty="0">
              <a:ea typeface="Times New Roman"/>
              <a:cs typeface="Times New Roman"/>
            </a:rPr>
            <a:t>Transmission Media</a:t>
          </a:r>
          <a:endParaRPr lang="en-US" sz="1800" b="1" dirty="0"/>
        </a:p>
      </dgm:t>
    </dgm:pt>
    <dgm:pt modelId="{048292DF-0616-46CA-B252-8251DAB5A642}" type="parTrans" cxnId="{CBE38D99-FD54-4D62-95B0-441D22AD8986}">
      <dgm:prSet/>
      <dgm:spPr/>
      <dgm:t>
        <a:bodyPr/>
        <a:lstStyle/>
        <a:p>
          <a:endParaRPr lang="en-US"/>
        </a:p>
      </dgm:t>
    </dgm:pt>
    <dgm:pt modelId="{06B57D3B-B3F2-415B-A0A9-86B84CF8E75A}" type="sibTrans" cxnId="{CBE38D99-FD54-4D62-95B0-441D22AD8986}">
      <dgm:prSet/>
      <dgm:spPr/>
      <dgm:t>
        <a:bodyPr/>
        <a:lstStyle/>
        <a:p>
          <a:endParaRPr lang="en-US"/>
        </a:p>
      </dgm:t>
    </dgm:pt>
    <dgm:pt modelId="{03521D00-D91B-48B9-8129-80B288ADE04F}" type="asst">
      <dgm:prSet phldrT="[Text]"/>
      <dgm:spPr/>
      <dgm:t>
        <a:bodyPr/>
        <a:lstStyle/>
        <a:p>
          <a:r>
            <a:rPr lang="en-IN" b="1" dirty="0">
              <a:ea typeface="Times New Roman"/>
              <a:cs typeface="Times New Roman"/>
            </a:rPr>
            <a:t>Guided Media (Wired)</a:t>
          </a:r>
          <a:endParaRPr lang="en-US" b="1" dirty="0"/>
        </a:p>
      </dgm:t>
    </dgm:pt>
    <dgm:pt modelId="{416D6D11-8938-45BD-A15B-3DE0640C2BED}" type="parTrans" cxnId="{3C357C0B-4786-4436-85DE-BD55274C5B76}">
      <dgm:prSet/>
      <dgm:spPr/>
      <dgm:t>
        <a:bodyPr/>
        <a:lstStyle/>
        <a:p>
          <a:endParaRPr lang="en-US"/>
        </a:p>
      </dgm:t>
    </dgm:pt>
    <dgm:pt modelId="{F1E8C84B-CD80-4616-952B-0CA630B9225C}" type="sibTrans" cxnId="{3C357C0B-4786-4436-85DE-BD55274C5B76}">
      <dgm:prSet/>
      <dgm:spPr/>
      <dgm:t>
        <a:bodyPr/>
        <a:lstStyle/>
        <a:p>
          <a:endParaRPr lang="en-US"/>
        </a:p>
      </dgm:t>
    </dgm:pt>
    <dgm:pt modelId="{C0484EA8-BFA3-470B-8201-83F840F5BB55}" type="asst">
      <dgm:prSet/>
      <dgm:spPr/>
      <dgm:t>
        <a:bodyPr/>
        <a:lstStyle/>
        <a:p>
          <a:r>
            <a:rPr lang="en-IN" b="1" dirty="0">
              <a:ea typeface="Times New Roman"/>
              <a:cs typeface="Times New Roman"/>
            </a:rPr>
            <a:t>Unguided Media (Wireless)</a:t>
          </a:r>
          <a:endParaRPr lang="en-US" b="1" dirty="0"/>
        </a:p>
      </dgm:t>
    </dgm:pt>
    <dgm:pt modelId="{9FEEB71B-FD37-4E0C-8D04-71C77CE6EAAF}" type="parTrans" cxnId="{CD5EB4E6-6A17-47C1-ABA3-4C72C84D1458}">
      <dgm:prSet/>
      <dgm:spPr/>
      <dgm:t>
        <a:bodyPr/>
        <a:lstStyle/>
        <a:p>
          <a:endParaRPr lang="en-US"/>
        </a:p>
      </dgm:t>
    </dgm:pt>
    <dgm:pt modelId="{5ED6F543-7C3E-447F-AC46-D4D326B6ABF7}" type="sibTrans" cxnId="{CD5EB4E6-6A17-47C1-ABA3-4C72C84D1458}">
      <dgm:prSet/>
      <dgm:spPr/>
      <dgm:t>
        <a:bodyPr/>
        <a:lstStyle/>
        <a:p>
          <a:endParaRPr lang="en-US"/>
        </a:p>
      </dgm:t>
    </dgm:pt>
    <dgm:pt modelId="{5D16E488-D48B-4E90-B514-34146DCEB551}" type="asst">
      <dgm:prSet phldrT="[Text]"/>
      <dgm:spPr/>
      <dgm:t>
        <a:bodyPr/>
        <a:lstStyle/>
        <a:p>
          <a:r>
            <a:rPr lang="en-IN" b="1" dirty="0">
              <a:ea typeface="Times New Roman"/>
              <a:cs typeface="Times New Roman"/>
            </a:rPr>
            <a:t>Twisted-Pair Cable</a:t>
          </a:r>
          <a:endParaRPr lang="en-US" b="1" dirty="0"/>
        </a:p>
      </dgm:t>
    </dgm:pt>
    <dgm:pt modelId="{6B48832B-3BFC-4FDB-B406-DDD561FB22D0}" type="parTrans" cxnId="{2640EAD7-0412-475C-A47B-38B61F169DE2}">
      <dgm:prSet/>
      <dgm:spPr/>
      <dgm:t>
        <a:bodyPr/>
        <a:lstStyle/>
        <a:p>
          <a:endParaRPr lang="en-US"/>
        </a:p>
      </dgm:t>
    </dgm:pt>
    <dgm:pt modelId="{AB8CC520-E606-4BC2-9929-35F46FF52149}" type="sibTrans" cxnId="{2640EAD7-0412-475C-A47B-38B61F169DE2}">
      <dgm:prSet/>
      <dgm:spPr/>
      <dgm:t>
        <a:bodyPr/>
        <a:lstStyle/>
        <a:p>
          <a:endParaRPr lang="en-US"/>
        </a:p>
      </dgm:t>
    </dgm:pt>
    <dgm:pt modelId="{66F3C3BA-05E6-4413-939A-387E03A16FFF}" type="asst">
      <dgm:prSet phldrT="[Text]"/>
      <dgm:spPr/>
      <dgm:t>
        <a:bodyPr/>
        <a:lstStyle/>
        <a:p>
          <a:r>
            <a:rPr lang="en-IN" b="1" dirty="0">
              <a:ea typeface="Times New Roman"/>
              <a:cs typeface="Times New Roman"/>
            </a:rPr>
            <a:t>Coaxial Cable</a:t>
          </a:r>
          <a:endParaRPr lang="en-US" b="1" dirty="0"/>
        </a:p>
      </dgm:t>
    </dgm:pt>
    <dgm:pt modelId="{57B083EB-345B-402F-A516-59D1F9560C89}" type="parTrans" cxnId="{A5E39863-9AA0-43AB-9582-5A82F5B5DE14}">
      <dgm:prSet/>
      <dgm:spPr/>
      <dgm:t>
        <a:bodyPr/>
        <a:lstStyle/>
        <a:p>
          <a:endParaRPr lang="en-US"/>
        </a:p>
      </dgm:t>
    </dgm:pt>
    <dgm:pt modelId="{B2594E64-4AD0-4C0E-9C96-8D8E31717C71}" type="sibTrans" cxnId="{A5E39863-9AA0-43AB-9582-5A82F5B5DE14}">
      <dgm:prSet/>
      <dgm:spPr/>
      <dgm:t>
        <a:bodyPr/>
        <a:lstStyle/>
        <a:p>
          <a:endParaRPr lang="en-US"/>
        </a:p>
      </dgm:t>
    </dgm:pt>
    <dgm:pt modelId="{550861E7-1080-40D4-B125-DE7C701F14A4}" type="asst">
      <dgm:prSet phldrT="[Text]"/>
      <dgm:spPr/>
      <dgm:t>
        <a:bodyPr/>
        <a:lstStyle/>
        <a:p>
          <a:r>
            <a:rPr lang="en-IN" b="1" dirty="0">
              <a:ea typeface="Times New Roman"/>
              <a:cs typeface="Times New Roman"/>
            </a:rPr>
            <a:t>Fiber Optic Cable</a:t>
          </a:r>
          <a:endParaRPr lang="en-US" b="1" dirty="0"/>
        </a:p>
      </dgm:t>
    </dgm:pt>
    <dgm:pt modelId="{0A75E7E4-C414-4C14-A188-BB453A38BF00}" type="parTrans" cxnId="{7C357823-A99C-410E-9109-8F2C8A7A9178}">
      <dgm:prSet/>
      <dgm:spPr/>
      <dgm:t>
        <a:bodyPr/>
        <a:lstStyle/>
        <a:p>
          <a:endParaRPr lang="en-US"/>
        </a:p>
      </dgm:t>
    </dgm:pt>
    <dgm:pt modelId="{4D6BA078-6284-4E3D-AD9E-50A765CEDE4C}" type="sibTrans" cxnId="{7C357823-A99C-410E-9109-8F2C8A7A9178}">
      <dgm:prSet/>
      <dgm:spPr/>
      <dgm:t>
        <a:bodyPr/>
        <a:lstStyle/>
        <a:p>
          <a:endParaRPr lang="en-US"/>
        </a:p>
      </dgm:t>
    </dgm:pt>
    <dgm:pt modelId="{BA5DC1B3-C0FF-48FA-8832-D3315FFF6BD0}" type="asst">
      <dgm:prSet/>
      <dgm:spPr/>
      <dgm:t>
        <a:bodyPr/>
        <a:lstStyle/>
        <a:p>
          <a:r>
            <a:rPr lang="en-IN" b="1" dirty="0">
              <a:ea typeface="Times New Roman"/>
              <a:cs typeface="Times New Roman"/>
            </a:rPr>
            <a:t>Radio Wave</a:t>
          </a:r>
          <a:endParaRPr lang="en-US" b="1" dirty="0"/>
        </a:p>
      </dgm:t>
    </dgm:pt>
    <dgm:pt modelId="{6AE2BC8F-8242-4D67-9A37-4A4B62C47D5E}" type="parTrans" cxnId="{60A0322D-CB54-405C-9C36-F2349AE74781}">
      <dgm:prSet/>
      <dgm:spPr/>
      <dgm:t>
        <a:bodyPr/>
        <a:lstStyle/>
        <a:p>
          <a:endParaRPr lang="en-US"/>
        </a:p>
      </dgm:t>
    </dgm:pt>
    <dgm:pt modelId="{8E541EED-0499-4856-8D1C-A269BF911113}" type="sibTrans" cxnId="{60A0322D-CB54-405C-9C36-F2349AE74781}">
      <dgm:prSet/>
      <dgm:spPr/>
      <dgm:t>
        <a:bodyPr/>
        <a:lstStyle/>
        <a:p>
          <a:endParaRPr lang="en-US"/>
        </a:p>
      </dgm:t>
    </dgm:pt>
    <dgm:pt modelId="{E43C10B9-7687-4CD9-A33F-289D9B3FDE05}" type="asst">
      <dgm:prSet/>
      <dgm:spPr/>
      <dgm:t>
        <a:bodyPr/>
        <a:lstStyle/>
        <a:p>
          <a:r>
            <a:rPr lang="en-IN" b="1" dirty="0">
              <a:ea typeface="Times New Roman"/>
              <a:cs typeface="Times New Roman"/>
            </a:rPr>
            <a:t>Microwave</a:t>
          </a:r>
          <a:endParaRPr lang="en-US" b="1" dirty="0"/>
        </a:p>
      </dgm:t>
    </dgm:pt>
    <dgm:pt modelId="{1F015E93-B823-4AF7-A5CF-D297B24D2745}" type="parTrans" cxnId="{4E015380-9851-4EDD-B1F4-ECF336ED7262}">
      <dgm:prSet/>
      <dgm:spPr/>
      <dgm:t>
        <a:bodyPr/>
        <a:lstStyle/>
        <a:p>
          <a:endParaRPr lang="en-US"/>
        </a:p>
      </dgm:t>
    </dgm:pt>
    <dgm:pt modelId="{664C8B43-6EF4-4B24-9D71-6988A02DCCD9}" type="sibTrans" cxnId="{4E015380-9851-4EDD-B1F4-ECF336ED7262}">
      <dgm:prSet/>
      <dgm:spPr/>
      <dgm:t>
        <a:bodyPr/>
        <a:lstStyle/>
        <a:p>
          <a:endParaRPr lang="en-US"/>
        </a:p>
      </dgm:t>
    </dgm:pt>
    <dgm:pt modelId="{78BF79D9-73C6-40C8-9B74-C1BFAA19DB06}" type="asst">
      <dgm:prSet/>
      <dgm:spPr/>
      <dgm:t>
        <a:bodyPr/>
        <a:lstStyle/>
        <a:p>
          <a:r>
            <a:rPr lang="en-IN" b="1" dirty="0">
              <a:ea typeface="Times New Roman"/>
              <a:cs typeface="Times New Roman"/>
            </a:rPr>
            <a:t>Infrared Wave</a:t>
          </a:r>
          <a:endParaRPr lang="en-US" b="1" dirty="0"/>
        </a:p>
      </dgm:t>
    </dgm:pt>
    <dgm:pt modelId="{51B1C3A8-6279-4BE7-85CB-DFFC1954330A}" type="parTrans" cxnId="{77836A6B-C75F-4497-B4D9-D55AEED32FB7}">
      <dgm:prSet/>
      <dgm:spPr/>
      <dgm:t>
        <a:bodyPr/>
        <a:lstStyle/>
        <a:p>
          <a:endParaRPr lang="en-US"/>
        </a:p>
      </dgm:t>
    </dgm:pt>
    <dgm:pt modelId="{A940D479-6E2A-41B2-8AF4-F0F42F93CD8A}" type="sibTrans" cxnId="{77836A6B-C75F-4497-B4D9-D55AEED32FB7}">
      <dgm:prSet/>
      <dgm:spPr/>
      <dgm:t>
        <a:bodyPr/>
        <a:lstStyle/>
        <a:p>
          <a:endParaRPr lang="en-US"/>
        </a:p>
      </dgm:t>
    </dgm:pt>
    <dgm:pt modelId="{A187856C-E28A-4050-B5EC-7495571699CF}" type="pres">
      <dgm:prSet presAssocID="{BCB5C643-2869-425C-BA93-25234538699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0A480FA-41EA-4A0B-8118-75849BEF0ADA}" type="pres">
      <dgm:prSet presAssocID="{BCB5C643-2869-425C-BA93-252345386990}" presName="hierFlow" presStyleCnt="0"/>
      <dgm:spPr/>
    </dgm:pt>
    <dgm:pt modelId="{2F97C23E-05DA-42DA-B247-A645CC350367}" type="pres">
      <dgm:prSet presAssocID="{BCB5C643-2869-425C-BA93-25234538699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2B1B56A-D8D7-4B4C-8476-8DD4822ECF35}" type="pres">
      <dgm:prSet presAssocID="{B716BA3E-3989-44A1-93BC-7938DA77DA50}" presName="Name14" presStyleCnt="0"/>
      <dgm:spPr/>
    </dgm:pt>
    <dgm:pt modelId="{60F8D779-5E35-4B58-A3C9-700D8332483B}" type="pres">
      <dgm:prSet presAssocID="{B716BA3E-3989-44A1-93BC-7938DA77DA50}" presName="level1Shape" presStyleLbl="node0" presStyleIdx="0" presStyleCnt="1" custScaleX="144591">
        <dgm:presLayoutVars>
          <dgm:chPref val="3"/>
        </dgm:presLayoutVars>
      </dgm:prSet>
      <dgm:spPr/>
    </dgm:pt>
    <dgm:pt modelId="{C0ADF201-B5AB-4C09-81F2-7E8FEF6A5469}" type="pres">
      <dgm:prSet presAssocID="{B716BA3E-3989-44A1-93BC-7938DA77DA50}" presName="hierChild2" presStyleCnt="0"/>
      <dgm:spPr/>
    </dgm:pt>
    <dgm:pt modelId="{43E0B610-79FA-42C4-BF5B-C128DE0025AA}" type="pres">
      <dgm:prSet presAssocID="{416D6D11-8938-45BD-A15B-3DE0640C2BED}" presName="Name19" presStyleLbl="parChTrans1D2" presStyleIdx="0" presStyleCnt="2"/>
      <dgm:spPr/>
    </dgm:pt>
    <dgm:pt modelId="{ED0F2506-C23B-4C52-B3CC-11207B4B412B}" type="pres">
      <dgm:prSet presAssocID="{03521D00-D91B-48B9-8129-80B288ADE04F}" presName="Name21" presStyleCnt="0"/>
      <dgm:spPr/>
    </dgm:pt>
    <dgm:pt modelId="{9EC1ADC4-F758-4A3D-9E96-7CABA7243E1B}" type="pres">
      <dgm:prSet presAssocID="{03521D00-D91B-48B9-8129-80B288ADE04F}" presName="level2Shape" presStyleLbl="asst1" presStyleIdx="0" presStyleCnt="8" custScaleX="138736"/>
      <dgm:spPr/>
    </dgm:pt>
    <dgm:pt modelId="{18398291-7962-42B6-BB32-27A21510C24B}" type="pres">
      <dgm:prSet presAssocID="{03521D00-D91B-48B9-8129-80B288ADE04F}" presName="hierChild3" presStyleCnt="0"/>
      <dgm:spPr/>
    </dgm:pt>
    <dgm:pt modelId="{56E3A4DE-108E-40DF-85B2-DEE8C648B907}" type="pres">
      <dgm:prSet presAssocID="{6B48832B-3BFC-4FDB-B406-DDD561FB22D0}" presName="Name19" presStyleLbl="parChTrans1D3" presStyleIdx="0" presStyleCnt="6"/>
      <dgm:spPr/>
    </dgm:pt>
    <dgm:pt modelId="{8353B279-2A40-4FA2-AA47-7056FB829AEC}" type="pres">
      <dgm:prSet presAssocID="{5D16E488-D48B-4E90-B514-34146DCEB551}" presName="Name21" presStyleCnt="0"/>
      <dgm:spPr/>
    </dgm:pt>
    <dgm:pt modelId="{33952B1D-5337-4E0D-8AC7-5ED5336FEFE9}" type="pres">
      <dgm:prSet presAssocID="{5D16E488-D48B-4E90-B514-34146DCEB551}" presName="level2Shape" presStyleLbl="asst1" presStyleIdx="1" presStyleCnt="8" custScaleX="121216"/>
      <dgm:spPr/>
    </dgm:pt>
    <dgm:pt modelId="{45611FEA-7B7F-450D-8588-3BBD7D712F48}" type="pres">
      <dgm:prSet presAssocID="{5D16E488-D48B-4E90-B514-34146DCEB551}" presName="hierChild3" presStyleCnt="0"/>
      <dgm:spPr/>
    </dgm:pt>
    <dgm:pt modelId="{B8E9A1A5-0149-4AAD-9408-DF8E80C49355}" type="pres">
      <dgm:prSet presAssocID="{57B083EB-345B-402F-A516-59D1F9560C89}" presName="Name19" presStyleLbl="parChTrans1D3" presStyleIdx="1" presStyleCnt="6"/>
      <dgm:spPr/>
    </dgm:pt>
    <dgm:pt modelId="{D1ADA596-79AE-4BBB-A130-2F4B83909D5E}" type="pres">
      <dgm:prSet presAssocID="{66F3C3BA-05E6-4413-939A-387E03A16FFF}" presName="Name21" presStyleCnt="0"/>
      <dgm:spPr/>
    </dgm:pt>
    <dgm:pt modelId="{98977085-6145-43DF-B095-6C3C86A44FEB}" type="pres">
      <dgm:prSet presAssocID="{66F3C3BA-05E6-4413-939A-387E03A16FFF}" presName="level2Shape" presStyleLbl="asst1" presStyleIdx="2" presStyleCnt="8"/>
      <dgm:spPr/>
    </dgm:pt>
    <dgm:pt modelId="{972040EC-C93A-45D9-A839-5A4F35A9E96E}" type="pres">
      <dgm:prSet presAssocID="{66F3C3BA-05E6-4413-939A-387E03A16FFF}" presName="hierChild3" presStyleCnt="0"/>
      <dgm:spPr/>
    </dgm:pt>
    <dgm:pt modelId="{02DF34E6-24ED-49A1-87DD-3837F371AF3A}" type="pres">
      <dgm:prSet presAssocID="{0A75E7E4-C414-4C14-A188-BB453A38BF00}" presName="Name19" presStyleLbl="parChTrans1D3" presStyleIdx="2" presStyleCnt="6"/>
      <dgm:spPr/>
    </dgm:pt>
    <dgm:pt modelId="{7F38F266-4BD1-49A9-AFBA-FE2D5FB04F4A}" type="pres">
      <dgm:prSet presAssocID="{550861E7-1080-40D4-B125-DE7C701F14A4}" presName="Name21" presStyleCnt="0"/>
      <dgm:spPr/>
    </dgm:pt>
    <dgm:pt modelId="{FED19440-6A28-4C43-8608-306E3859EF9D}" type="pres">
      <dgm:prSet presAssocID="{550861E7-1080-40D4-B125-DE7C701F14A4}" presName="level2Shape" presStyleLbl="asst1" presStyleIdx="3" presStyleCnt="8" custScaleX="130967"/>
      <dgm:spPr/>
    </dgm:pt>
    <dgm:pt modelId="{9C1F696D-8CB5-4546-8833-5F2121E0469F}" type="pres">
      <dgm:prSet presAssocID="{550861E7-1080-40D4-B125-DE7C701F14A4}" presName="hierChild3" presStyleCnt="0"/>
      <dgm:spPr/>
    </dgm:pt>
    <dgm:pt modelId="{0D89EF9B-E12C-4061-8911-CC9256E11C53}" type="pres">
      <dgm:prSet presAssocID="{9FEEB71B-FD37-4E0C-8D04-71C77CE6EAAF}" presName="Name19" presStyleLbl="parChTrans1D2" presStyleIdx="1" presStyleCnt="2"/>
      <dgm:spPr/>
    </dgm:pt>
    <dgm:pt modelId="{B1213CB0-0EC3-4ED3-820D-4FCB4876ADF5}" type="pres">
      <dgm:prSet presAssocID="{C0484EA8-BFA3-470B-8201-83F840F5BB55}" presName="Name21" presStyleCnt="0"/>
      <dgm:spPr/>
    </dgm:pt>
    <dgm:pt modelId="{9A2EBF82-9850-4D3F-8DD3-47B7BC5B7FC5}" type="pres">
      <dgm:prSet presAssocID="{C0484EA8-BFA3-470B-8201-83F840F5BB55}" presName="level2Shape" presStyleLbl="asst1" presStyleIdx="4" presStyleCnt="8" custScaleX="154463"/>
      <dgm:spPr/>
    </dgm:pt>
    <dgm:pt modelId="{8E2998AA-7D18-4185-9311-1E117227DB2F}" type="pres">
      <dgm:prSet presAssocID="{C0484EA8-BFA3-470B-8201-83F840F5BB55}" presName="hierChild3" presStyleCnt="0"/>
      <dgm:spPr/>
    </dgm:pt>
    <dgm:pt modelId="{BB151E64-DC66-4422-A73C-C39BCB7AFEA6}" type="pres">
      <dgm:prSet presAssocID="{6AE2BC8F-8242-4D67-9A37-4A4B62C47D5E}" presName="Name19" presStyleLbl="parChTrans1D3" presStyleIdx="3" presStyleCnt="6"/>
      <dgm:spPr/>
    </dgm:pt>
    <dgm:pt modelId="{6EE28460-E34E-4D97-BE56-C3037EBACE08}" type="pres">
      <dgm:prSet presAssocID="{BA5DC1B3-C0FF-48FA-8832-D3315FFF6BD0}" presName="Name21" presStyleCnt="0"/>
      <dgm:spPr/>
    </dgm:pt>
    <dgm:pt modelId="{7994017F-063A-463B-9BEA-9F8A26DCFBF6}" type="pres">
      <dgm:prSet presAssocID="{BA5DC1B3-C0FF-48FA-8832-D3315FFF6BD0}" presName="level2Shape" presStyleLbl="asst1" presStyleIdx="5" presStyleCnt="8" custScaleX="118856"/>
      <dgm:spPr/>
    </dgm:pt>
    <dgm:pt modelId="{35063D8F-8332-4BD8-8E9C-AE64661364FD}" type="pres">
      <dgm:prSet presAssocID="{BA5DC1B3-C0FF-48FA-8832-D3315FFF6BD0}" presName="hierChild3" presStyleCnt="0"/>
      <dgm:spPr/>
    </dgm:pt>
    <dgm:pt modelId="{CDFCEEE1-3CAE-4724-828B-9BC15ACEA7C2}" type="pres">
      <dgm:prSet presAssocID="{1F015E93-B823-4AF7-A5CF-D297B24D2745}" presName="Name19" presStyleLbl="parChTrans1D3" presStyleIdx="4" presStyleCnt="6"/>
      <dgm:spPr/>
    </dgm:pt>
    <dgm:pt modelId="{98E40624-0D22-4162-8EFB-1F67851B6562}" type="pres">
      <dgm:prSet presAssocID="{E43C10B9-7687-4CD9-A33F-289D9B3FDE05}" presName="Name21" presStyleCnt="0"/>
      <dgm:spPr/>
    </dgm:pt>
    <dgm:pt modelId="{4FF85720-EBC9-4328-93A2-DE65B869B659}" type="pres">
      <dgm:prSet presAssocID="{E43C10B9-7687-4CD9-A33F-289D9B3FDE05}" presName="level2Shape" presStyleLbl="asst1" presStyleIdx="6" presStyleCnt="8"/>
      <dgm:spPr/>
    </dgm:pt>
    <dgm:pt modelId="{A3ED5CC2-D043-40AC-B3D9-929B17242DAE}" type="pres">
      <dgm:prSet presAssocID="{E43C10B9-7687-4CD9-A33F-289D9B3FDE05}" presName="hierChild3" presStyleCnt="0"/>
      <dgm:spPr/>
    </dgm:pt>
    <dgm:pt modelId="{335B9335-E773-484B-B72E-8576A11735A3}" type="pres">
      <dgm:prSet presAssocID="{51B1C3A8-6279-4BE7-85CB-DFFC1954330A}" presName="Name19" presStyleLbl="parChTrans1D3" presStyleIdx="5" presStyleCnt="6"/>
      <dgm:spPr/>
    </dgm:pt>
    <dgm:pt modelId="{98FF1B03-25D4-43C4-9F69-5AB75A28C14D}" type="pres">
      <dgm:prSet presAssocID="{78BF79D9-73C6-40C8-9B74-C1BFAA19DB06}" presName="Name21" presStyleCnt="0"/>
      <dgm:spPr/>
    </dgm:pt>
    <dgm:pt modelId="{D1DA3F47-C4A9-47EE-BC7F-E2A53AF2B560}" type="pres">
      <dgm:prSet presAssocID="{78BF79D9-73C6-40C8-9B74-C1BFAA19DB06}" presName="level2Shape" presStyleLbl="asst1" presStyleIdx="7" presStyleCnt="8"/>
      <dgm:spPr/>
    </dgm:pt>
    <dgm:pt modelId="{F85C4320-41A3-42E4-B718-F6CA6BF93834}" type="pres">
      <dgm:prSet presAssocID="{78BF79D9-73C6-40C8-9B74-C1BFAA19DB06}" presName="hierChild3" presStyleCnt="0"/>
      <dgm:spPr/>
    </dgm:pt>
    <dgm:pt modelId="{9A89D604-4D70-45BC-9EB5-9B9CAE541830}" type="pres">
      <dgm:prSet presAssocID="{BCB5C643-2869-425C-BA93-252345386990}" presName="bgShapesFlow" presStyleCnt="0"/>
      <dgm:spPr/>
    </dgm:pt>
  </dgm:ptLst>
  <dgm:cxnLst>
    <dgm:cxn modelId="{3C357C0B-4786-4436-85DE-BD55274C5B76}" srcId="{B716BA3E-3989-44A1-93BC-7938DA77DA50}" destId="{03521D00-D91B-48B9-8129-80B288ADE04F}" srcOrd="0" destOrd="0" parTransId="{416D6D11-8938-45BD-A15B-3DE0640C2BED}" sibTransId="{F1E8C84B-CD80-4616-952B-0CA630B9225C}"/>
    <dgm:cxn modelId="{0127B219-BB2D-49E9-B7D6-58426CA521BF}" type="presOf" srcId="{51B1C3A8-6279-4BE7-85CB-DFFC1954330A}" destId="{335B9335-E773-484B-B72E-8576A11735A3}" srcOrd="0" destOrd="0" presId="urn:microsoft.com/office/officeart/2005/8/layout/hierarchy6"/>
    <dgm:cxn modelId="{51092E1A-6863-414F-93BC-630BB1492069}" type="presOf" srcId="{B716BA3E-3989-44A1-93BC-7938DA77DA50}" destId="{60F8D779-5E35-4B58-A3C9-700D8332483B}" srcOrd="0" destOrd="0" presId="urn:microsoft.com/office/officeart/2005/8/layout/hierarchy6"/>
    <dgm:cxn modelId="{87576922-0D43-45EE-B5D0-010D93B5DC59}" type="presOf" srcId="{E43C10B9-7687-4CD9-A33F-289D9B3FDE05}" destId="{4FF85720-EBC9-4328-93A2-DE65B869B659}" srcOrd="0" destOrd="0" presId="urn:microsoft.com/office/officeart/2005/8/layout/hierarchy6"/>
    <dgm:cxn modelId="{7C357823-A99C-410E-9109-8F2C8A7A9178}" srcId="{03521D00-D91B-48B9-8129-80B288ADE04F}" destId="{550861E7-1080-40D4-B125-DE7C701F14A4}" srcOrd="2" destOrd="0" parTransId="{0A75E7E4-C414-4C14-A188-BB453A38BF00}" sibTransId="{4D6BA078-6284-4E3D-AD9E-50A765CEDE4C}"/>
    <dgm:cxn modelId="{D9D02129-B37B-4200-9C97-AFE3A763589E}" type="presOf" srcId="{6AE2BC8F-8242-4D67-9A37-4A4B62C47D5E}" destId="{BB151E64-DC66-4422-A73C-C39BCB7AFEA6}" srcOrd="0" destOrd="0" presId="urn:microsoft.com/office/officeart/2005/8/layout/hierarchy6"/>
    <dgm:cxn modelId="{60A0322D-CB54-405C-9C36-F2349AE74781}" srcId="{C0484EA8-BFA3-470B-8201-83F840F5BB55}" destId="{BA5DC1B3-C0FF-48FA-8832-D3315FFF6BD0}" srcOrd="0" destOrd="0" parTransId="{6AE2BC8F-8242-4D67-9A37-4A4B62C47D5E}" sibTransId="{8E541EED-0499-4856-8D1C-A269BF911113}"/>
    <dgm:cxn modelId="{20A8D62D-630D-4491-AB6D-468E0809F114}" type="presOf" srcId="{78BF79D9-73C6-40C8-9B74-C1BFAA19DB06}" destId="{D1DA3F47-C4A9-47EE-BC7F-E2A53AF2B560}" srcOrd="0" destOrd="0" presId="urn:microsoft.com/office/officeart/2005/8/layout/hierarchy6"/>
    <dgm:cxn modelId="{A5E39863-9AA0-43AB-9582-5A82F5B5DE14}" srcId="{03521D00-D91B-48B9-8129-80B288ADE04F}" destId="{66F3C3BA-05E6-4413-939A-387E03A16FFF}" srcOrd="1" destOrd="0" parTransId="{57B083EB-345B-402F-A516-59D1F9560C89}" sibTransId="{B2594E64-4AD0-4C0E-9C96-8D8E31717C71}"/>
    <dgm:cxn modelId="{77836A6B-C75F-4497-B4D9-D55AEED32FB7}" srcId="{C0484EA8-BFA3-470B-8201-83F840F5BB55}" destId="{78BF79D9-73C6-40C8-9B74-C1BFAA19DB06}" srcOrd="2" destOrd="0" parTransId="{51B1C3A8-6279-4BE7-85CB-DFFC1954330A}" sibTransId="{A940D479-6E2A-41B2-8AF4-F0F42F93CD8A}"/>
    <dgm:cxn modelId="{2872706B-1379-43D7-B21D-6247B26D5606}" type="presOf" srcId="{550861E7-1080-40D4-B125-DE7C701F14A4}" destId="{FED19440-6A28-4C43-8608-306E3859EF9D}" srcOrd="0" destOrd="0" presId="urn:microsoft.com/office/officeart/2005/8/layout/hierarchy6"/>
    <dgm:cxn modelId="{50F72B4D-AD3A-4E85-9258-15888E7AA66D}" type="presOf" srcId="{66F3C3BA-05E6-4413-939A-387E03A16FFF}" destId="{98977085-6145-43DF-B095-6C3C86A44FEB}" srcOrd="0" destOrd="0" presId="urn:microsoft.com/office/officeart/2005/8/layout/hierarchy6"/>
    <dgm:cxn modelId="{D44A2C71-8876-48BA-96DE-09963FF4C6EC}" type="presOf" srcId="{57B083EB-345B-402F-A516-59D1F9560C89}" destId="{B8E9A1A5-0149-4AAD-9408-DF8E80C49355}" srcOrd="0" destOrd="0" presId="urn:microsoft.com/office/officeart/2005/8/layout/hierarchy6"/>
    <dgm:cxn modelId="{987FA359-0607-4157-B72E-667201A13CE3}" type="presOf" srcId="{03521D00-D91B-48B9-8129-80B288ADE04F}" destId="{9EC1ADC4-F758-4A3D-9E96-7CABA7243E1B}" srcOrd="0" destOrd="0" presId="urn:microsoft.com/office/officeart/2005/8/layout/hierarchy6"/>
    <dgm:cxn modelId="{580A7F7B-3A73-4B62-AA58-D0C3ECFBB17E}" type="presOf" srcId="{6B48832B-3BFC-4FDB-B406-DDD561FB22D0}" destId="{56E3A4DE-108E-40DF-85B2-DEE8C648B907}" srcOrd="0" destOrd="0" presId="urn:microsoft.com/office/officeart/2005/8/layout/hierarchy6"/>
    <dgm:cxn modelId="{4E015380-9851-4EDD-B1F4-ECF336ED7262}" srcId="{C0484EA8-BFA3-470B-8201-83F840F5BB55}" destId="{E43C10B9-7687-4CD9-A33F-289D9B3FDE05}" srcOrd="1" destOrd="0" parTransId="{1F015E93-B823-4AF7-A5CF-D297B24D2745}" sibTransId="{664C8B43-6EF4-4B24-9D71-6988A02DCCD9}"/>
    <dgm:cxn modelId="{F6819984-EF69-4FB3-849E-5331FB6F7E01}" type="presOf" srcId="{9FEEB71B-FD37-4E0C-8D04-71C77CE6EAAF}" destId="{0D89EF9B-E12C-4061-8911-CC9256E11C53}" srcOrd="0" destOrd="0" presId="urn:microsoft.com/office/officeart/2005/8/layout/hierarchy6"/>
    <dgm:cxn modelId="{08A35199-38DE-4489-AFF5-BFB9DA10C0C3}" type="presOf" srcId="{C0484EA8-BFA3-470B-8201-83F840F5BB55}" destId="{9A2EBF82-9850-4D3F-8DD3-47B7BC5B7FC5}" srcOrd="0" destOrd="0" presId="urn:microsoft.com/office/officeart/2005/8/layout/hierarchy6"/>
    <dgm:cxn modelId="{CBE38D99-FD54-4D62-95B0-441D22AD8986}" srcId="{BCB5C643-2869-425C-BA93-252345386990}" destId="{B716BA3E-3989-44A1-93BC-7938DA77DA50}" srcOrd="0" destOrd="0" parTransId="{048292DF-0616-46CA-B252-8251DAB5A642}" sibTransId="{06B57D3B-B3F2-415B-A0A9-86B84CF8E75A}"/>
    <dgm:cxn modelId="{A3CB14A0-E790-46D1-81BC-34E14F04F1CB}" type="presOf" srcId="{BA5DC1B3-C0FF-48FA-8832-D3315FFF6BD0}" destId="{7994017F-063A-463B-9BEA-9F8A26DCFBF6}" srcOrd="0" destOrd="0" presId="urn:microsoft.com/office/officeart/2005/8/layout/hierarchy6"/>
    <dgm:cxn modelId="{6B5DAFAA-2A18-4396-A965-A91276C8F680}" type="presOf" srcId="{1F015E93-B823-4AF7-A5CF-D297B24D2745}" destId="{CDFCEEE1-3CAE-4724-828B-9BC15ACEA7C2}" srcOrd="0" destOrd="0" presId="urn:microsoft.com/office/officeart/2005/8/layout/hierarchy6"/>
    <dgm:cxn modelId="{FDC1C5C7-3FE2-4FE0-9A99-3D2EA41D4F1E}" type="presOf" srcId="{416D6D11-8938-45BD-A15B-3DE0640C2BED}" destId="{43E0B610-79FA-42C4-BF5B-C128DE0025AA}" srcOrd="0" destOrd="0" presId="urn:microsoft.com/office/officeart/2005/8/layout/hierarchy6"/>
    <dgm:cxn modelId="{2640EAD7-0412-475C-A47B-38B61F169DE2}" srcId="{03521D00-D91B-48B9-8129-80B288ADE04F}" destId="{5D16E488-D48B-4E90-B514-34146DCEB551}" srcOrd="0" destOrd="0" parTransId="{6B48832B-3BFC-4FDB-B406-DDD561FB22D0}" sibTransId="{AB8CC520-E606-4BC2-9929-35F46FF52149}"/>
    <dgm:cxn modelId="{359F38E5-D9F8-453C-9876-B3D5FB523EE7}" type="presOf" srcId="{0A75E7E4-C414-4C14-A188-BB453A38BF00}" destId="{02DF34E6-24ED-49A1-87DD-3837F371AF3A}" srcOrd="0" destOrd="0" presId="urn:microsoft.com/office/officeart/2005/8/layout/hierarchy6"/>
    <dgm:cxn modelId="{CD5EB4E6-6A17-47C1-ABA3-4C72C84D1458}" srcId="{B716BA3E-3989-44A1-93BC-7938DA77DA50}" destId="{C0484EA8-BFA3-470B-8201-83F840F5BB55}" srcOrd="1" destOrd="0" parTransId="{9FEEB71B-FD37-4E0C-8D04-71C77CE6EAAF}" sibTransId="{5ED6F543-7C3E-447F-AC46-D4D326B6ABF7}"/>
    <dgm:cxn modelId="{5C774CE8-3C77-4504-A8BC-14CF9290BC8B}" type="presOf" srcId="{5D16E488-D48B-4E90-B514-34146DCEB551}" destId="{33952B1D-5337-4E0D-8AC7-5ED5336FEFE9}" srcOrd="0" destOrd="0" presId="urn:microsoft.com/office/officeart/2005/8/layout/hierarchy6"/>
    <dgm:cxn modelId="{428CA6F6-4E73-48CB-8A7D-20EF75619077}" type="presOf" srcId="{BCB5C643-2869-425C-BA93-252345386990}" destId="{A187856C-E28A-4050-B5EC-7495571699CF}" srcOrd="0" destOrd="0" presId="urn:microsoft.com/office/officeart/2005/8/layout/hierarchy6"/>
    <dgm:cxn modelId="{3AA129C2-F8E7-43E2-9F7E-A7A317C6FDD2}" type="presParOf" srcId="{A187856C-E28A-4050-B5EC-7495571699CF}" destId="{E0A480FA-41EA-4A0B-8118-75849BEF0ADA}" srcOrd="0" destOrd="0" presId="urn:microsoft.com/office/officeart/2005/8/layout/hierarchy6"/>
    <dgm:cxn modelId="{7E1597F9-3DD5-4FA2-B17D-23B66C2573D7}" type="presParOf" srcId="{E0A480FA-41EA-4A0B-8118-75849BEF0ADA}" destId="{2F97C23E-05DA-42DA-B247-A645CC350367}" srcOrd="0" destOrd="0" presId="urn:microsoft.com/office/officeart/2005/8/layout/hierarchy6"/>
    <dgm:cxn modelId="{4CA08242-F242-462F-B0AD-32CD8D995A2A}" type="presParOf" srcId="{2F97C23E-05DA-42DA-B247-A645CC350367}" destId="{82B1B56A-D8D7-4B4C-8476-8DD4822ECF35}" srcOrd="0" destOrd="0" presId="urn:microsoft.com/office/officeart/2005/8/layout/hierarchy6"/>
    <dgm:cxn modelId="{D5A12C04-14E2-4095-BDAF-69CF1A57D29A}" type="presParOf" srcId="{82B1B56A-D8D7-4B4C-8476-8DD4822ECF35}" destId="{60F8D779-5E35-4B58-A3C9-700D8332483B}" srcOrd="0" destOrd="0" presId="urn:microsoft.com/office/officeart/2005/8/layout/hierarchy6"/>
    <dgm:cxn modelId="{D4F58138-4BB8-4738-AA13-A460A1106C7E}" type="presParOf" srcId="{82B1B56A-D8D7-4B4C-8476-8DD4822ECF35}" destId="{C0ADF201-B5AB-4C09-81F2-7E8FEF6A5469}" srcOrd="1" destOrd="0" presId="urn:microsoft.com/office/officeart/2005/8/layout/hierarchy6"/>
    <dgm:cxn modelId="{33C62356-028F-4521-B06D-EB37E2A49778}" type="presParOf" srcId="{C0ADF201-B5AB-4C09-81F2-7E8FEF6A5469}" destId="{43E0B610-79FA-42C4-BF5B-C128DE0025AA}" srcOrd="0" destOrd="0" presId="urn:microsoft.com/office/officeart/2005/8/layout/hierarchy6"/>
    <dgm:cxn modelId="{546FEF29-8BEF-4AD7-BEF8-6FE234C94E0C}" type="presParOf" srcId="{C0ADF201-B5AB-4C09-81F2-7E8FEF6A5469}" destId="{ED0F2506-C23B-4C52-B3CC-11207B4B412B}" srcOrd="1" destOrd="0" presId="urn:microsoft.com/office/officeart/2005/8/layout/hierarchy6"/>
    <dgm:cxn modelId="{482D7B37-239A-4822-8291-02D6A16C34A6}" type="presParOf" srcId="{ED0F2506-C23B-4C52-B3CC-11207B4B412B}" destId="{9EC1ADC4-F758-4A3D-9E96-7CABA7243E1B}" srcOrd="0" destOrd="0" presId="urn:microsoft.com/office/officeart/2005/8/layout/hierarchy6"/>
    <dgm:cxn modelId="{EB81FA68-A225-4447-8CF3-E1E9EA7C9113}" type="presParOf" srcId="{ED0F2506-C23B-4C52-B3CC-11207B4B412B}" destId="{18398291-7962-42B6-BB32-27A21510C24B}" srcOrd="1" destOrd="0" presId="urn:microsoft.com/office/officeart/2005/8/layout/hierarchy6"/>
    <dgm:cxn modelId="{BC85C9CD-6524-43E0-83D4-9F4E2C445628}" type="presParOf" srcId="{18398291-7962-42B6-BB32-27A21510C24B}" destId="{56E3A4DE-108E-40DF-85B2-DEE8C648B907}" srcOrd="0" destOrd="0" presId="urn:microsoft.com/office/officeart/2005/8/layout/hierarchy6"/>
    <dgm:cxn modelId="{46E8760C-841F-4EDD-AC62-5E2568D50F62}" type="presParOf" srcId="{18398291-7962-42B6-BB32-27A21510C24B}" destId="{8353B279-2A40-4FA2-AA47-7056FB829AEC}" srcOrd="1" destOrd="0" presId="urn:microsoft.com/office/officeart/2005/8/layout/hierarchy6"/>
    <dgm:cxn modelId="{72AB2E83-9C36-4DDC-98F2-669FA4482553}" type="presParOf" srcId="{8353B279-2A40-4FA2-AA47-7056FB829AEC}" destId="{33952B1D-5337-4E0D-8AC7-5ED5336FEFE9}" srcOrd="0" destOrd="0" presId="urn:microsoft.com/office/officeart/2005/8/layout/hierarchy6"/>
    <dgm:cxn modelId="{F6FB746E-2A9A-4C39-BAAE-B1713FEC0632}" type="presParOf" srcId="{8353B279-2A40-4FA2-AA47-7056FB829AEC}" destId="{45611FEA-7B7F-450D-8588-3BBD7D712F48}" srcOrd="1" destOrd="0" presId="urn:microsoft.com/office/officeart/2005/8/layout/hierarchy6"/>
    <dgm:cxn modelId="{7A4D6717-9BAC-4755-B94B-170B0526FA7A}" type="presParOf" srcId="{18398291-7962-42B6-BB32-27A21510C24B}" destId="{B8E9A1A5-0149-4AAD-9408-DF8E80C49355}" srcOrd="2" destOrd="0" presId="urn:microsoft.com/office/officeart/2005/8/layout/hierarchy6"/>
    <dgm:cxn modelId="{A7A3B8A9-DD81-4AC6-B8CD-03F0A3312F6D}" type="presParOf" srcId="{18398291-7962-42B6-BB32-27A21510C24B}" destId="{D1ADA596-79AE-4BBB-A130-2F4B83909D5E}" srcOrd="3" destOrd="0" presId="urn:microsoft.com/office/officeart/2005/8/layout/hierarchy6"/>
    <dgm:cxn modelId="{8741308A-E352-4BF5-9BD8-5E88538F4027}" type="presParOf" srcId="{D1ADA596-79AE-4BBB-A130-2F4B83909D5E}" destId="{98977085-6145-43DF-B095-6C3C86A44FEB}" srcOrd="0" destOrd="0" presId="urn:microsoft.com/office/officeart/2005/8/layout/hierarchy6"/>
    <dgm:cxn modelId="{72E03237-4D29-4005-AFF7-7B627B57760D}" type="presParOf" srcId="{D1ADA596-79AE-4BBB-A130-2F4B83909D5E}" destId="{972040EC-C93A-45D9-A839-5A4F35A9E96E}" srcOrd="1" destOrd="0" presId="urn:microsoft.com/office/officeart/2005/8/layout/hierarchy6"/>
    <dgm:cxn modelId="{D22AF8DE-7D41-4458-9154-47C33A8CE538}" type="presParOf" srcId="{18398291-7962-42B6-BB32-27A21510C24B}" destId="{02DF34E6-24ED-49A1-87DD-3837F371AF3A}" srcOrd="4" destOrd="0" presId="urn:microsoft.com/office/officeart/2005/8/layout/hierarchy6"/>
    <dgm:cxn modelId="{9D0BBA01-5441-403E-8BF4-7513AB764D27}" type="presParOf" srcId="{18398291-7962-42B6-BB32-27A21510C24B}" destId="{7F38F266-4BD1-49A9-AFBA-FE2D5FB04F4A}" srcOrd="5" destOrd="0" presId="urn:microsoft.com/office/officeart/2005/8/layout/hierarchy6"/>
    <dgm:cxn modelId="{FD85FD82-B4BD-4696-B979-7BFE3EE13D00}" type="presParOf" srcId="{7F38F266-4BD1-49A9-AFBA-FE2D5FB04F4A}" destId="{FED19440-6A28-4C43-8608-306E3859EF9D}" srcOrd="0" destOrd="0" presId="urn:microsoft.com/office/officeart/2005/8/layout/hierarchy6"/>
    <dgm:cxn modelId="{6372EDDF-A1D8-4162-BB3C-B1E0DCB73747}" type="presParOf" srcId="{7F38F266-4BD1-49A9-AFBA-FE2D5FB04F4A}" destId="{9C1F696D-8CB5-4546-8833-5F2121E0469F}" srcOrd="1" destOrd="0" presId="urn:microsoft.com/office/officeart/2005/8/layout/hierarchy6"/>
    <dgm:cxn modelId="{CE047B37-CC62-480C-9088-E77A2B196C4F}" type="presParOf" srcId="{C0ADF201-B5AB-4C09-81F2-7E8FEF6A5469}" destId="{0D89EF9B-E12C-4061-8911-CC9256E11C53}" srcOrd="2" destOrd="0" presId="urn:microsoft.com/office/officeart/2005/8/layout/hierarchy6"/>
    <dgm:cxn modelId="{D9A8F665-EF68-4E0E-B79C-4374C78F758C}" type="presParOf" srcId="{C0ADF201-B5AB-4C09-81F2-7E8FEF6A5469}" destId="{B1213CB0-0EC3-4ED3-820D-4FCB4876ADF5}" srcOrd="3" destOrd="0" presId="urn:microsoft.com/office/officeart/2005/8/layout/hierarchy6"/>
    <dgm:cxn modelId="{51637715-400F-4461-B46A-20184EF9BECD}" type="presParOf" srcId="{B1213CB0-0EC3-4ED3-820D-4FCB4876ADF5}" destId="{9A2EBF82-9850-4D3F-8DD3-47B7BC5B7FC5}" srcOrd="0" destOrd="0" presId="urn:microsoft.com/office/officeart/2005/8/layout/hierarchy6"/>
    <dgm:cxn modelId="{A83189E0-0D5D-4D09-80B0-949D37A3A082}" type="presParOf" srcId="{B1213CB0-0EC3-4ED3-820D-4FCB4876ADF5}" destId="{8E2998AA-7D18-4185-9311-1E117227DB2F}" srcOrd="1" destOrd="0" presId="urn:microsoft.com/office/officeart/2005/8/layout/hierarchy6"/>
    <dgm:cxn modelId="{E2A403D5-A263-4809-B7C5-71886480C08A}" type="presParOf" srcId="{8E2998AA-7D18-4185-9311-1E117227DB2F}" destId="{BB151E64-DC66-4422-A73C-C39BCB7AFEA6}" srcOrd="0" destOrd="0" presId="urn:microsoft.com/office/officeart/2005/8/layout/hierarchy6"/>
    <dgm:cxn modelId="{EB30E0A5-B786-403D-96CC-0B22004CF78D}" type="presParOf" srcId="{8E2998AA-7D18-4185-9311-1E117227DB2F}" destId="{6EE28460-E34E-4D97-BE56-C3037EBACE08}" srcOrd="1" destOrd="0" presId="urn:microsoft.com/office/officeart/2005/8/layout/hierarchy6"/>
    <dgm:cxn modelId="{5F417B98-9A32-45F1-BA4C-CDBA549C6058}" type="presParOf" srcId="{6EE28460-E34E-4D97-BE56-C3037EBACE08}" destId="{7994017F-063A-463B-9BEA-9F8A26DCFBF6}" srcOrd="0" destOrd="0" presId="urn:microsoft.com/office/officeart/2005/8/layout/hierarchy6"/>
    <dgm:cxn modelId="{4A0D7CD6-5C5F-46C7-9BE4-8B2837D42CC8}" type="presParOf" srcId="{6EE28460-E34E-4D97-BE56-C3037EBACE08}" destId="{35063D8F-8332-4BD8-8E9C-AE64661364FD}" srcOrd="1" destOrd="0" presId="urn:microsoft.com/office/officeart/2005/8/layout/hierarchy6"/>
    <dgm:cxn modelId="{BD5CC347-C476-44BC-98D1-FAD05B6CEB7E}" type="presParOf" srcId="{8E2998AA-7D18-4185-9311-1E117227DB2F}" destId="{CDFCEEE1-3CAE-4724-828B-9BC15ACEA7C2}" srcOrd="2" destOrd="0" presId="urn:microsoft.com/office/officeart/2005/8/layout/hierarchy6"/>
    <dgm:cxn modelId="{B626C54F-D404-4C60-BD41-B9E97CF25218}" type="presParOf" srcId="{8E2998AA-7D18-4185-9311-1E117227DB2F}" destId="{98E40624-0D22-4162-8EFB-1F67851B6562}" srcOrd="3" destOrd="0" presId="urn:microsoft.com/office/officeart/2005/8/layout/hierarchy6"/>
    <dgm:cxn modelId="{61512470-696B-4B19-BB4F-7C23C05B5B0C}" type="presParOf" srcId="{98E40624-0D22-4162-8EFB-1F67851B6562}" destId="{4FF85720-EBC9-4328-93A2-DE65B869B659}" srcOrd="0" destOrd="0" presId="urn:microsoft.com/office/officeart/2005/8/layout/hierarchy6"/>
    <dgm:cxn modelId="{AE16BD38-84DD-4EC6-8B3A-DA88CA44DBEC}" type="presParOf" srcId="{98E40624-0D22-4162-8EFB-1F67851B6562}" destId="{A3ED5CC2-D043-40AC-B3D9-929B17242DAE}" srcOrd="1" destOrd="0" presId="urn:microsoft.com/office/officeart/2005/8/layout/hierarchy6"/>
    <dgm:cxn modelId="{C122C590-F50D-4D08-8C58-5ACF654D5FAA}" type="presParOf" srcId="{8E2998AA-7D18-4185-9311-1E117227DB2F}" destId="{335B9335-E773-484B-B72E-8576A11735A3}" srcOrd="4" destOrd="0" presId="urn:microsoft.com/office/officeart/2005/8/layout/hierarchy6"/>
    <dgm:cxn modelId="{66D1C212-7AD2-4BCE-B77B-F55B73374F89}" type="presParOf" srcId="{8E2998AA-7D18-4185-9311-1E117227DB2F}" destId="{98FF1B03-25D4-43C4-9F69-5AB75A28C14D}" srcOrd="5" destOrd="0" presId="urn:microsoft.com/office/officeart/2005/8/layout/hierarchy6"/>
    <dgm:cxn modelId="{BBCB7216-FFA0-4716-BEDB-00134A22F0E3}" type="presParOf" srcId="{98FF1B03-25D4-43C4-9F69-5AB75A28C14D}" destId="{D1DA3F47-C4A9-47EE-BC7F-E2A53AF2B560}" srcOrd="0" destOrd="0" presId="urn:microsoft.com/office/officeart/2005/8/layout/hierarchy6"/>
    <dgm:cxn modelId="{154DFA75-6D29-46E7-9E95-11A16D602C0C}" type="presParOf" srcId="{98FF1B03-25D4-43C4-9F69-5AB75A28C14D}" destId="{F85C4320-41A3-42E4-B718-F6CA6BF93834}" srcOrd="1" destOrd="0" presId="urn:microsoft.com/office/officeart/2005/8/layout/hierarchy6"/>
    <dgm:cxn modelId="{53662E14-A2D1-4C4A-BA58-8ADD4AFBD78F}" type="presParOf" srcId="{A187856C-E28A-4050-B5EC-7495571699CF}" destId="{9A89D604-4D70-45BC-9EB5-9B9CAE54183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80F03-2F7A-4C20-81B9-F07185ECBEE3}">
      <dsp:nvSpPr>
        <dsp:cNvPr id="0" name=""/>
        <dsp:cNvSpPr/>
      </dsp:nvSpPr>
      <dsp:spPr>
        <a:xfrm>
          <a:off x="4064000" y="19530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309" y="249510"/>
              </a:lnTo>
              <a:lnTo>
                <a:pt x="2875309" y="499020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C3B52E-62CF-492C-BB11-4CD0527D6616}">
      <dsp:nvSpPr>
        <dsp:cNvPr id="0" name=""/>
        <dsp:cNvSpPr/>
      </dsp:nvSpPr>
      <dsp:spPr>
        <a:xfrm>
          <a:off x="4018280" y="1953023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ED6C45-039F-4582-A1FD-127515821796}">
      <dsp:nvSpPr>
        <dsp:cNvPr id="0" name=""/>
        <dsp:cNvSpPr/>
      </dsp:nvSpPr>
      <dsp:spPr>
        <a:xfrm>
          <a:off x="1188690" y="19530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80BE29-26F6-459B-8CB1-53B6E7A3270C}">
      <dsp:nvSpPr>
        <dsp:cNvPr id="0" name=""/>
        <dsp:cNvSpPr/>
      </dsp:nvSpPr>
      <dsp:spPr>
        <a:xfrm>
          <a:off x="2875855" y="764878"/>
          <a:ext cx="2376289" cy="118814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Network</a:t>
          </a:r>
        </a:p>
      </dsp:txBody>
      <dsp:txXfrm>
        <a:off x="2875855" y="764878"/>
        <a:ext cx="2376289" cy="1188144"/>
      </dsp:txXfrm>
    </dsp:sp>
    <dsp:sp modelId="{BB2FE16E-FDC6-4A88-9474-3FA3E53F80BF}">
      <dsp:nvSpPr>
        <dsp:cNvPr id="0" name=""/>
        <dsp:cNvSpPr/>
      </dsp:nvSpPr>
      <dsp:spPr>
        <a:xfrm>
          <a:off x="545" y="2452043"/>
          <a:ext cx="2376289" cy="118814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Local Area Network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(LAN)</a:t>
          </a:r>
        </a:p>
      </dsp:txBody>
      <dsp:txXfrm>
        <a:off x="545" y="2452043"/>
        <a:ext cx="2376289" cy="1188144"/>
      </dsp:txXfrm>
    </dsp:sp>
    <dsp:sp modelId="{0E80DC3C-0DF2-469F-A3E0-89ACD2DFF2A8}">
      <dsp:nvSpPr>
        <dsp:cNvPr id="0" name=""/>
        <dsp:cNvSpPr/>
      </dsp:nvSpPr>
      <dsp:spPr>
        <a:xfrm>
          <a:off x="2875855" y="2452043"/>
          <a:ext cx="2376289" cy="118814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Metropolitan Area Network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(MAN)</a:t>
          </a:r>
        </a:p>
      </dsp:txBody>
      <dsp:txXfrm>
        <a:off x="2875855" y="2452043"/>
        <a:ext cx="2376289" cy="1188144"/>
      </dsp:txXfrm>
    </dsp:sp>
    <dsp:sp modelId="{39A4A3EF-021A-4589-B1A1-71E0A7B16045}">
      <dsp:nvSpPr>
        <dsp:cNvPr id="0" name=""/>
        <dsp:cNvSpPr/>
      </dsp:nvSpPr>
      <dsp:spPr>
        <a:xfrm>
          <a:off x="5751165" y="2452043"/>
          <a:ext cx="2376289" cy="118814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Wide Area Network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(WAN)</a:t>
          </a:r>
        </a:p>
      </dsp:txBody>
      <dsp:txXfrm>
        <a:off x="5751165" y="2452043"/>
        <a:ext cx="2376289" cy="1188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8D779-5E35-4B58-A3C9-700D8332483B}">
      <dsp:nvSpPr>
        <dsp:cNvPr id="0" name=""/>
        <dsp:cNvSpPr/>
      </dsp:nvSpPr>
      <dsp:spPr>
        <a:xfrm>
          <a:off x="5092726" y="956711"/>
          <a:ext cx="2099091" cy="967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ea typeface="Times New Roman"/>
              <a:cs typeface="Times New Roman"/>
            </a:rPr>
            <a:t>Transmission Media</a:t>
          </a:r>
          <a:endParaRPr lang="en-US" sz="1800" b="1" kern="1200" dirty="0"/>
        </a:p>
      </dsp:txBody>
      <dsp:txXfrm>
        <a:off x="5121073" y="985058"/>
        <a:ext cx="2042397" cy="911135"/>
      </dsp:txXfrm>
    </dsp:sp>
    <dsp:sp modelId="{43E0B610-79FA-42C4-BF5B-C128DE0025AA}">
      <dsp:nvSpPr>
        <dsp:cNvPr id="0" name=""/>
        <dsp:cNvSpPr/>
      </dsp:nvSpPr>
      <dsp:spPr>
        <a:xfrm>
          <a:off x="2996465" y="1924540"/>
          <a:ext cx="3145806" cy="387131"/>
        </a:xfrm>
        <a:custGeom>
          <a:avLst/>
          <a:gdLst/>
          <a:ahLst/>
          <a:cxnLst/>
          <a:rect l="0" t="0" r="0" b="0"/>
          <a:pathLst>
            <a:path>
              <a:moveTo>
                <a:pt x="3145806" y="0"/>
              </a:moveTo>
              <a:lnTo>
                <a:pt x="3145806" y="193565"/>
              </a:lnTo>
              <a:lnTo>
                <a:pt x="0" y="193565"/>
              </a:lnTo>
              <a:lnTo>
                <a:pt x="0" y="387131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C1ADC4-F758-4A3D-9E96-7CABA7243E1B}">
      <dsp:nvSpPr>
        <dsp:cNvPr id="0" name=""/>
        <dsp:cNvSpPr/>
      </dsp:nvSpPr>
      <dsp:spPr>
        <a:xfrm>
          <a:off x="1989419" y="2311672"/>
          <a:ext cx="2014092" cy="967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ea typeface="Times New Roman"/>
              <a:cs typeface="Times New Roman"/>
            </a:rPr>
            <a:t>Guided Media (Wired)</a:t>
          </a:r>
          <a:endParaRPr lang="en-US" sz="2200" b="1" kern="1200" dirty="0"/>
        </a:p>
      </dsp:txBody>
      <dsp:txXfrm>
        <a:off x="2017766" y="2340019"/>
        <a:ext cx="1957398" cy="911135"/>
      </dsp:txXfrm>
    </dsp:sp>
    <dsp:sp modelId="{56E3A4DE-108E-40DF-85B2-DEE8C648B907}">
      <dsp:nvSpPr>
        <dsp:cNvPr id="0" name=""/>
        <dsp:cNvSpPr/>
      </dsp:nvSpPr>
      <dsp:spPr>
        <a:xfrm>
          <a:off x="884417" y="3279502"/>
          <a:ext cx="2112048" cy="387131"/>
        </a:xfrm>
        <a:custGeom>
          <a:avLst/>
          <a:gdLst/>
          <a:ahLst/>
          <a:cxnLst/>
          <a:rect l="0" t="0" r="0" b="0"/>
          <a:pathLst>
            <a:path>
              <a:moveTo>
                <a:pt x="2112048" y="0"/>
              </a:moveTo>
              <a:lnTo>
                <a:pt x="2112048" y="193565"/>
              </a:lnTo>
              <a:lnTo>
                <a:pt x="0" y="193565"/>
              </a:lnTo>
              <a:lnTo>
                <a:pt x="0" y="387131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52B1D-5337-4E0D-8AC7-5ED5336FEFE9}">
      <dsp:nvSpPr>
        <dsp:cNvPr id="0" name=""/>
        <dsp:cNvSpPr/>
      </dsp:nvSpPr>
      <dsp:spPr>
        <a:xfrm>
          <a:off x="4543" y="3666634"/>
          <a:ext cx="1759746" cy="967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ea typeface="Times New Roman"/>
              <a:cs typeface="Times New Roman"/>
            </a:rPr>
            <a:t>Twisted-Pair Cable</a:t>
          </a:r>
          <a:endParaRPr lang="en-US" sz="2200" b="1" kern="1200" dirty="0"/>
        </a:p>
      </dsp:txBody>
      <dsp:txXfrm>
        <a:off x="32890" y="3694981"/>
        <a:ext cx="1703052" cy="911135"/>
      </dsp:txXfrm>
    </dsp:sp>
    <dsp:sp modelId="{B8E9A1A5-0149-4AAD-9408-DF8E80C49355}">
      <dsp:nvSpPr>
        <dsp:cNvPr id="0" name=""/>
        <dsp:cNvSpPr/>
      </dsp:nvSpPr>
      <dsp:spPr>
        <a:xfrm>
          <a:off x="2879965" y="3279502"/>
          <a:ext cx="91440" cy="387131"/>
        </a:xfrm>
        <a:custGeom>
          <a:avLst/>
          <a:gdLst/>
          <a:ahLst/>
          <a:cxnLst/>
          <a:rect l="0" t="0" r="0" b="0"/>
          <a:pathLst>
            <a:path>
              <a:moveTo>
                <a:pt x="116499" y="0"/>
              </a:moveTo>
              <a:lnTo>
                <a:pt x="116499" y="193565"/>
              </a:lnTo>
              <a:lnTo>
                <a:pt x="45720" y="193565"/>
              </a:lnTo>
              <a:lnTo>
                <a:pt x="45720" y="387131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977085-6145-43DF-B095-6C3C86A44FEB}">
      <dsp:nvSpPr>
        <dsp:cNvPr id="0" name=""/>
        <dsp:cNvSpPr/>
      </dsp:nvSpPr>
      <dsp:spPr>
        <a:xfrm>
          <a:off x="2199813" y="3666634"/>
          <a:ext cx="1451744" cy="967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ea typeface="Times New Roman"/>
              <a:cs typeface="Times New Roman"/>
            </a:rPr>
            <a:t>Coaxial Cable</a:t>
          </a:r>
          <a:endParaRPr lang="en-US" sz="2200" b="1" kern="1200" dirty="0"/>
        </a:p>
      </dsp:txBody>
      <dsp:txXfrm>
        <a:off x="2228160" y="3694981"/>
        <a:ext cx="1395050" cy="911135"/>
      </dsp:txXfrm>
    </dsp:sp>
    <dsp:sp modelId="{02DF34E6-24ED-49A1-87DD-3837F371AF3A}">
      <dsp:nvSpPr>
        <dsp:cNvPr id="0" name=""/>
        <dsp:cNvSpPr/>
      </dsp:nvSpPr>
      <dsp:spPr>
        <a:xfrm>
          <a:off x="2996465" y="3279502"/>
          <a:ext cx="2041268" cy="387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565"/>
              </a:lnTo>
              <a:lnTo>
                <a:pt x="2041268" y="193565"/>
              </a:lnTo>
              <a:lnTo>
                <a:pt x="2041268" y="387131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D19440-6A28-4C43-8608-306E3859EF9D}">
      <dsp:nvSpPr>
        <dsp:cNvPr id="0" name=""/>
        <dsp:cNvSpPr/>
      </dsp:nvSpPr>
      <dsp:spPr>
        <a:xfrm>
          <a:off x="4087081" y="3666634"/>
          <a:ext cx="1901306" cy="967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ea typeface="Times New Roman"/>
              <a:cs typeface="Times New Roman"/>
            </a:rPr>
            <a:t>Fiber Optic Cable</a:t>
          </a:r>
          <a:endParaRPr lang="en-US" sz="2200" b="1" kern="1200" dirty="0"/>
        </a:p>
      </dsp:txBody>
      <dsp:txXfrm>
        <a:off x="4115428" y="3694981"/>
        <a:ext cx="1844612" cy="911135"/>
      </dsp:txXfrm>
    </dsp:sp>
    <dsp:sp modelId="{0D89EF9B-E12C-4061-8911-CC9256E11C53}">
      <dsp:nvSpPr>
        <dsp:cNvPr id="0" name=""/>
        <dsp:cNvSpPr/>
      </dsp:nvSpPr>
      <dsp:spPr>
        <a:xfrm>
          <a:off x="6142272" y="1924540"/>
          <a:ext cx="3031648" cy="387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565"/>
              </a:lnTo>
              <a:lnTo>
                <a:pt x="3031648" y="193565"/>
              </a:lnTo>
              <a:lnTo>
                <a:pt x="3031648" y="387131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2EBF82-9850-4D3F-8DD3-47B7BC5B7FC5}">
      <dsp:nvSpPr>
        <dsp:cNvPr id="0" name=""/>
        <dsp:cNvSpPr/>
      </dsp:nvSpPr>
      <dsp:spPr>
        <a:xfrm>
          <a:off x="8052716" y="2311672"/>
          <a:ext cx="2242407" cy="967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ea typeface="Times New Roman"/>
              <a:cs typeface="Times New Roman"/>
            </a:rPr>
            <a:t>Unguided Media (Wireless)</a:t>
          </a:r>
          <a:endParaRPr lang="en-US" sz="2200" b="1" kern="1200" dirty="0"/>
        </a:p>
      </dsp:txBody>
      <dsp:txXfrm>
        <a:off x="8081063" y="2340019"/>
        <a:ext cx="2185713" cy="911135"/>
      </dsp:txXfrm>
    </dsp:sp>
    <dsp:sp modelId="{BB151E64-DC66-4422-A73C-C39BCB7AFEA6}">
      <dsp:nvSpPr>
        <dsp:cNvPr id="0" name=""/>
        <dsp:cNvSpPr/>
      </dsp:nvSpPr>
      <dsp:spPr>
        <a:xfrm>
          <a:off x="7286653" y="3279502"/>
          <a:ext cx="1887267" cy="387131"/>
        </a:xfrm>
        <a:custGeom>
          <a:avLst/>
          <a:gdLst/>
          <a:ahLst/>
          <a:cxnLst/>
          <a:rect l="0" t="0" r="0" b="0"/>
          <a:pathLst>
            <a:path>
              <a:moveTo>
                <a:pt x="1887267" y="0"/>
              </a:moveTo>
              <a:lnTo>
                <a:pt x="1887267" y="193565"/>
              </a:lnTo>
              <a:lnTo>
                <a:pt x="0" y="193565"/>
              </a:lnTo>
              <a:lnTo>
                <a:pt x="0" y="387131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94017F-063A-463B-9BEA-9F8A26DCFBF6}">
      <dsp:nvSpPr>
        <dsp:cNvPr id="0" name=""/>
        <dsp:cNvSpPr/>
      </dsp:nvSpPr>
      <dsp:spPr>
        <a:xfrm>
          <a:off x="6423910" y="3666634"/>
          <a:ext cx="1725485" cy="967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ea typeface="Times New Roman"/>
              <a:cs typeface="Times New Roman"/>
            </a:rPr>
            <a:t>Radio Wave</a:t>
          </a:r>
          <a:endParaRPr lang="en-US" sz="2200" b="1" kern="1200" dirty="0"/>
        </a:p>
      </dsp:txBody>
      <dsp:txXfrm>
        <a:off x="6452257" y="3694981"/>
        <a:ext cx="1668791" cy="911135"/>
      </dsp:txXfrm>
    </dsp:sp>
    <dsp:sp modelId="{CDFCEEE1-3CAE-4724-828B-9BC15ACEA7C2}">
      <dsp:nvSpPr>
        <dsp:cNvPr id="0" name=""/>
        <dsp:cNvSpPr/>
      </dsp:nvSpPr>
      <dsp:spPr>
        <a:xfrm>
          <a:off x="9173920" y="3279502"/>
          <a:ext cx="136870" cy="387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565"/>
              </a:lnTo>
              <a:lnTo>
                <a:pt x="136870" y="193565"/>
              </a:lnTo>
              <a:lnTo>
                <a:pt x="136870" y="387131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F85720-EBC9-4328-93A2-DE65B869B659}">
      <dsp:nvSpPr>
        <dsp:cNvPr id="0" name=""/>
        <dsp:cNvSpPr/>
      </dsp:nvSpPr>
      <dsp:spPr>
        <a:xfrm>
          <a:off x="8584919" y="3666634"/>
          <a:ext cx="1451744" cy="967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ea typeface="Times New Roman"/>
              <a:cs typeface="Times New Roman"/>
            </a:rPr>
            <a:t>Microwave</a:t>
          </a:r>
          <a:endParaRPr lang="en-US" sz="2200" b="1" kern="1200" dirty="0"/>
        </a:p>
      </dsp:txBody>
      <dsp:txXfrm>
        <a:off x="8613266" y="3694981"/>
        <a:ext cx="1395050" cy="911135"/>
      </dsp:txXfrm>
    </dsp:sp>
    <dsp:sp modelId="{335B9335-E773-484B-B72E-8576A11735A3}">
      <dsp:nvSpPr>
        <dsp:cNvPr id="0" name=""/>
        <dsp:cNvSpPr/>
      </dsp:nvSpPr>
      <dsp:spPr>
        <a:xfrm>
          <a:off x="9173920" y="3279502"/>
          <a:ext cx="2024138" cy="387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565"/>
              </a:lnTo>
              <a:lnTo>
                <a:pt x="2024138" y="193565"/>
              </a:lnTo>
              <a:lnTo>
                <a:pt x="2024138" y="387131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DA3F47-C4A9-47EE-BC7F-E2A53AF2B560}">
      <dsp:nvSpPr>
        <dsp:cNvPr id="0" name=""/>
        <dsp:cNvSpPr/>
      </dsp:nvSpPr>
      <dsp:spPr>
        <a:xfrm>
          <a:off x="10472186" y="3666634"/>
          <a:ext cx="1451744" cy="9678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ea typeface="Times New Roman"/>
              <a:cs typeface="Times New Roman"/>
            </a:rPr>
            <a:t>Infrared Wave</a:t>
          </a:r>
          <a:endParaRPr lang="en-US" sz="2200" b="1" kern="1200" dirty="0"/>
        </a:p>
      </dsp:txBody>
      <dsp:txXfrm>
        <a:off x="10500533" y="3694981"/>
        <a:ext cx="1395050" cy="911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390E7-7720-6346-B70B-19F583BE4EB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C442F-C52E-1F42-A6BA-4466C2815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9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15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4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68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56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81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74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22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8C442F-C52E-1F42-A6BA-4466C28150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45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70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56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3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4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4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5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4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5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6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7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4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5.jpeg"/><Relationship Id="rId5" Type="http://schemas.openxmlformats.org/officeDocument/2006/relationships/image" Target="../media/image3.png"/><Relationship Id="rId10" Type="http://schemas.openxmlformats.org/officeDocument/2006/relationships/image" Target="../media/image15.jpeg"/><Relationship Id="rId4" Type="http://schemas.openxmlformats.org/officeDocument/2006/relationships/image" Target="../media/image12.png"/><Relationship Id="rId9" Type="http://schemas.microsoft.com/office/2007/relationships/hdphoto" Target="../media/hdphoto4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image" Target="../media/image12.png"/><Relationship Id="rId9" Type="http://schemas.microsoft.com/office/2007/relationships/hdphoto" Target="../media/hdphoto4.wdp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6.png"/><Relationship Id="rId7" Type="http://schemas.microsoft.com/office/2007/relationships/hdphoto" Target="../media/hdphoto8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666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51730" y="244174"/>
            <a:ext cx="3395148" cy="144286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946227-18C8-F84C-AE02-FA328FFAD9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Kotak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7FE28E9-05C7-BA4A-A6B9-63B6ED98C6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</a:blip>
          <a:srcRect/>
          <a:stretch/>
        </p:blipFill>
        <p:spPr>
          <a:xfrm>
            <a:off x="9971896" y="711201"/>
            <a:ext cx="2088924" cy="887749"/>
          </a:xfrm>
          <a:prstGeom prst="rect">
            <a:avLst/>
          </a:prstGeom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73808772-B06E-436D-A475-3FD40C8DE70A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232154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Computer Networks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3C8C9CD-3693-C144-BADE-D675A40494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</a:blip>
          <a:srcRect/>
          <a:stretch/>
        </p:blipFill>
        <p:spPr>
          <a:xfrm>
            <a:off x="9982200" y="5715125"/>
            <a:ext cx="2088924" cy="887749"/>
          </a:xfrm>
          <a:prstGeom prst="rect">
            <a:avLst/>
          </a:prstGeom>
        </p:spPr>
      </p:pic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280DCF37-37D7-44FE-8AF6-0F43A91099D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Kotak</a:t>
            </a:r>
          </a:p>
        </p:txBody>
      </p:sp>
    </p:spTree>
    <p:extLst>
      <p:ext uri="{BB962C8B-B14F-4D97-AF65-F5344CB8AC3E}">
        <p14:creationId xmlns:p14="http://schemas.microsoft.com/office/powerpoint/2010/main" val="184874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5FC6D43-BEAC-0E4A-874E-F9975D500D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</a:blip>
          <a:srcRect/>
          <a:stretch/>
        </p:blipFill>
        <p:spPr>
          <a:xfrm>
            <a:off x="131178" y="5715125"/>
            <a:ext cx="2088924" cy="887749"/>
          </a:xfrm>
          <a:prstGeom prst="rect">
            <a:avLst/>
          </a:prstGeom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CAA20E32-BE6C-4604-A4A9-F86FA79157D0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186260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7654904-961B-A345-A19E-7B2A7EBCBC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5000"/>
          </a:blip>
          <a:srcRect/>
          <a:stretch/>
        </p:blipFill>
        <p:spPr>
          <a:xfrm>
            <a:off x="9982200" y="5715125"/>
            <a:ext cx="2088924" cy="8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7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CD17051B-8FDB-42A6-8A91-60C9E7A7371F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Kotak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D748696B-D315-409D-BDB1-D0DDF398C58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11728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B95BA7F0-9FA7-47A0-9FD2-F7AD2EC536CF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Kotak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3CEB930E-ECFD-41F7-A68F-153B9C7A22FB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355688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306891A0-B6F7-4554-B18B-137941DFEED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Devangi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Kotak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9215FDF2-849A-42CE-ADE2-198BD6EF99C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#2305CS332 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402045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243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6064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8845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19777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05280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0283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0561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73585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123286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131710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2364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901584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45857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524B-3775-8E40-83BE-42D237CCC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AE7A3-9159-0C4C-9D60-90C19B280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C548-CD30-6D4B-B09B-48C5FDD3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4CCD-0C21-864C-9026-5993C0EB128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D054-4F39-4A45-A001-51EB6C63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BCF83-C468-B444-B66A-90B5162E0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3A2B-9384-7841-8AB4-BFE375740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918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ZapfDingbatsITC" charset="0"/>
              <a:buChar char="✔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14000"/>
              </a:lnSpc>
              <a:buClrTx/>
              <a:buFont typeface="Wingdings" charset="2"/>
              <a:buChar char="§"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14000"/>
              </a:lnSpc>
              <a:buClrTx/>
              <a:buFont typeface="Wingdings" charset="2"/>
              <a:buChar char="§"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14000"/>
              </a:lnSpc>
              <a:buClrTx/>
              <a:buFont typeface="Wingdings" charset="2"/>
              <a:buChar char="§"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 userDrawn="1"/>
        </p:nvGraphicFramePr>
        <p:xfrm>
          <a:off x="0" y="6477000"/>
          <a:ext cx="12192000" cy="391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9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bg1"/>
                          </a:solidFill>
                          <a:latin typeface="+mn-lt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Course Details</a:t>
                      </a:r>
                      <a:endParaRPr lang="da-DK" sz="1400" b="1" kern="1200" noProof="1">
                        <a:solidFill>
                          <a:srgbClr val="FFFFFF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400" b="1" kern="1200" noProof="1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kern="1200" noProof="1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Darshan Institute of Engineering &amp; Technology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 userDrawn="1"/>
        </p:nvSpPr>
        <p:spPr>
          <a:xfrm>
            <a:off x="6299200" y="6513612"/>
            <a:ext cx="71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879C56B-9442-4A46-A8E3-D0BE8591F40A}" type="slidenum">
              <a:rPr lang="en-US" sz="1400" b="1" smtClean="0">
                <a:solidFill>
                  <a:schemeClr val="bg1"/>
                </a:solidFill>
              </a:rPr>
              <a:t>‹#›</a:t>
            </a:fld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3597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800" y="215182"/>
            <a:ext cx="11678400" cy="8064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800" y="1143000"/>
            <a:ext cx="5737600" cy="5181600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2800"/>
            </a:lvl1pPr>
            <a:lvl2pPr marL="742950" indent="-285750">
              <a:buFont typeface="ZapfDingbatsITC" charset="0"/>
              <a:buChar char="✔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3000"/>
            <a:ext cx="5737600" cy="5181600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2800"/>
            </a:lvl1pPr>
            <a:lvl2pPr marL="742950" indent="-285750">
              <a:buFont typeface="ZapfDingbatsITC" charset="0"/>
              <a:buChar char="✔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 userDrawn="1"/>
        </p:nvGraphicFramePr>
        <p:xfrm>
          <a:off x="0" y="6477000"/>
          <a:ext cx="12192000" cy="391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9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bg1"/>
                          </a:solidFill>
                          <a:latin typeface="+mn-lt"/>
                          <a:ea typeface="Open Sans SemiBold" panose="020B0706030804020204" pitchFamily="34" charset="0"/>
                          <a:cs typeface="Open Sans SemiBold" panose="020B0706030804020204" pitchFamily="34" charset="0"/>
                        </a:rPr>
                        <a:t>Unit: 1 - Introduction to Computer Networks and Internet</a:t>
                      </a:r>
                      <a:endParaRPr lang="da-DK" sz="1400" b="1" kern="1200" noProof="1">
                        <a:solidFill>
                          <a:srgbClr val="FFFFFF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kern="1200" noProof="1">
                          <a:solidFill>
                            <a:schemeClr val="bg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Darshan Institute of Engineering &amp; Technology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7513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666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832523" y="186561"/>
            <a:ext cx="3064414" cy="130231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516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84CCD-0C21-864C-9026-5993C0EB128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A3A2B-9384-7841-8AB4-BFE375740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4" r:id="rId23"/>
    <p:sldLayoutId id="2147483685" r:id="rId24"/>
    <p:sldLayoutId id="2147483686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tiff"/><Relationship Id="rId4" Type="http://schemas.openxmlformats.org/officeDocument/2006/relationships/image" Target="../media/image21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tiff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24" Type="http://schemas.openxmlformats.org/officeDocument/2006/relationships/image" Target="../media/image62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28" Type="http://schemas.openxmlformats.org/officeDocument/2006/relationships/image" Target="../media/image66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31" Type="http://schemas.openxmlformats.org/officeDocument/2006/relationships/image" Target="../media/image69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Relationship Id="rId27" Type="http://schemas.openxmlformats.org/officeDocument/2006/relationships/image" Target="../media/image65.png"/><Relationship Id="rId30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0.wdp"/><Relationship Id="rId5" Type="http://schemas.openxmlformats.org/officeDocument/2006/relationships/image" Target="../media/image71.png"/><Relationship Id="rId4" Type="http://schemas.microsoft.com/office/2007/relationships/hdphoto" Target="../media/hdphoto9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3.pn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gif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tif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tiff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gif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gif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gif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gif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tiff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tiff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e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../../U1_swf-20210713T060857Z-001/U1_swf/Basic%20of%20Protocol%20Layers/File_01_03_1.swf" TargetMode="External"/><Relationship Id="rId2" Type="http://schemas.openxmlformats.org/officeDocument/2006/relationships/image" Target="../media/image130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tiff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e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2.wdp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tiff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tiff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tiff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tiff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gif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47E4E-823D-614A-B4B7-AC128FF38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242" y="1103123"/>
            <a:ext cx="8297907" cy="2578780"/>
          </a:xfrm>
        </p:spPr>
        <p:txBody>
          <a:bodyPr/>
          <a:lstStyle/>
          <a:p>
            <a:r>
              <a:rPr lang="en-US" sz="4400" b="0" dirty="0"/>
              <a:t>Unit-1</a:t>
            </a:r>
            <a:br>
              <a:rPr lang="en-US" dirty="0"/>
            </a:br>
            <a:r>
              <a:rPr lang="en-US" sz="6000" dirty="0"/>
              <a:t>Introduction to </a:t>
            </a:r>
            <a:br>
              <a:rPr lang="en-US" sz="6000" dirty="0"/>
            </a:br>
            <a:r>
              <a:rPr lang="en-US" sz="6000" dirty="0"/>
              <a:t>Computer Networks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BD4442-5C83-5F4A-8AEA-1614164C8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Devangi.kotak@darshan.ac.in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4F568A-30BE-2049-9622-DC2108A44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1A5B73-F4FC-AC48-953E-993670B73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/>
              <a:t> L. Kotak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3BE456-33E7-B748-B5B3-F501CA80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#2305CS332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A90813FE-E67E-4024-95C5-6A5CFC1D5FA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55" r="38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549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7772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What is Computer Network?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Advantages of Computer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Applications of Computer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Type of Computer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What is Internet?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The Network Edge &amp; The Network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Transmission Media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Network Topologies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Protocol Layers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Delay, Loss &amp; Throughput</a:t>
            </a:r>
          </a:p>
        </p:txBody>
      </p:sp>
    </p:spTree>
    <p:extLst>
      <p:ext uri="{BB962C8B-B14F-4D97-AF65-F5344CB8AC3E}">
        <p14:creationId xmlns:p14="http://schemas.microsoft.com/office/powerpoint/2010/main" val="9890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9452" y="5334385"/>
            <a:ext cx="1091373" cy="1091373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3889513" y="2497647"/>
            <a:ext cx="4412974" cy="2895600"/>
            <a:chOff x="4769126" y="3048000"/>
            <a:chExt cx="4184374" cy="266961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69126" y="3217862"/>
              <a:ext cx="4184374" cy="24997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angle 4"/>
            <p:cNvSpPr/>
            <p:nvPr/>
          </p:nvSpPr>
          <p:spPr>
            <a:xfrm>
              <a:off x="7924800" y="3048000"/>
              <a:ext cx="10287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j-lt"/>
              </a:rPr>
              <a:t>What is Computer Network?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Computer Network is a system in which multiple computers are </a:t>
            </a:r>
            <a:r>
              <a:rPr lang="en-IN" dirty="0">
                <a:solidFill>
                  <a:srgbClr val="C00000"/>
                </a:solidFill>
              </a:rPr>
              <a:t>connected</a:t>
            </a:r>
            <a:r>
              <a:rPr lang="en-IN" dirty="0"/>
              <a:t> to each other to </a:t>
            </a:r>
            <a:r>
              <a:rPr lang="en-IN" dirty="0">
                <a:solidFill>
                  <a:srgbClr val="C00000"/>
                </a:solidFill>
              </a:rPr>
              <a:t>share information </a:t>
            </a:r>
            <a:r>
              <a:rPr lang="en-IN" dirty="0"/>
              <a:t>and </a:t>
            </a:r>
            <a:r>
              <a:rPr lang="en-IN" dirty="0">
                <a:solidFill>
                  <a:srgbClr val="C00000"/>
                </a:solidFill>
              </a:rPr>
              <a:t>resources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b="1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365474" y="2755901"/>
            <a:ext cx="0" cy="1088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60825" y="2400340"/>
            <a:ext cx="115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Wireless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5279" y="5507366"/>
            <a:ext cx="90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Wired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5217576" y="5181601"/>
            <a:ext cx="1488024" cy="3640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986797" y="5018641"/>
            <a:ext cx="301151" cy="4508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6660385" y="2755901"/>
            <a:ext cx="2246753" cy="8982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6562717" y="2755901"/>
            <a:ext cx="2344420" cy="20791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57357" y="2261840"/>
            <a:ext cx="1159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Network </a:t>
            </a:r>
          </a:p>
          <a:p>
            <a:r>
              <a:rPr lang="en-US" b="1" dirty="0">
                <a:solidFill>
                  <a:schemeClr val="tx2"/>
                </a:solidFill>
              </a:rPr>
              <a:t>Devices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590801" y="3901400"/>
            <a:ext cx="1613297" cy="594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590801" y="4495800"/>
            <a:ext cx="1313953" cy="3200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596021" y="4446508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Computers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162214" y="2130221"/>
            <a:ext cx="651730" cy="68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14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13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Advantages of Computer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         </a:t>
            </a:r>
            <a:endParaRPr lang="en-IN" sz="2800" dirty="0"/>
          </a:p>
          <a:p>
            <a:pPr lvl="0">
              <a:buFont typeface="Arial" panose="020B0604020202020204" pitchFamily="34" charset="0"/>
              <a:buChar char="•"/>
            </a:pPr>
            <a:endParaRPr lang="en-IN" sz="2800" dirty="0"/>
          </a:p>
          <a:p>
            <a:pPr lvl="0">
              <a:buFont typeface="Arial" panose="020B0604020202020204" pitchFamily="34" charset="0"/>
              <a:buChar char="•"/>
            </a:pPr>
            <a:endParaRPr lang="en-IN" sz="2800" dirty="0"/>
          </a:p>
          <a:p>
            <a:pPr lvl="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      </a:t>
            </a:r>
          </a:p>
        </p:txBody>
      </p:sp>
      <p:sp>
        <p:nvSpPr>
          <p:cNvPr id="4" name="AutoShape 2" descr="Image result for File Sharin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Image result for File Sharing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8903" y="1703675"/>
            <a:ext cx="3495529" cy="1580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764812" y="3502188"/>
            <a:ext cx="34680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+mj-lt"/>
              </a:rPr>
              <a:t>Better Communication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4416584"/>
            <a:ext cx="2965450" cy="16656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34135" y="1031478"/>
            <a:ext cx="21050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800" dirty="0">
                <a:latin typeface="+mj-lt"/>
              </a:rPr>
              <a:t>File Sharing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0957" y="3717631"/>
            <a:ext cx="24240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800" dirty="0">
                <a:latin typeface="+mj-lt"/>
              </a:rPr>
              <a:t>Entertainment</a:t>
            </a:r>
          </a:p>
        </p:txBody>
      </p:sp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12996" y="4504474"/>
            <a:ext cx="2970273" cy="1489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7326367" y="1031478"/>
            <a:ext cx="26623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800" dirty="0"/>
              <a:t>Flexible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E1E83C-B314-4771-A015-B479411177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570" y="1533890"/>
            <a:ext cx="3042242" cy="175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5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Computer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560624" y="1136650"/>
            <a:ext cx="34018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800" dirty="0"/>
              <a:t>Inexpensive System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882" r="-2882"/>
          <a:stretch/>
        </p:blipFill>
        <p:spPr>
          <a:xfrm>
            <a:off x="6248400" y="1653520"/>
            <a:ext cx="3545412" cy="1885621"/>
          </a:xfrm>
          <a:prstGeom prst="parallelogram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714501" y="3667289"/>
            <a:ext cx="4541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800" dirty="0"/>
              <a:t>Instant and Multiple Access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918" y="4207859"/>
            <a:ext cx="2335419" cy="21485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319067" y="1136650"/>
            <a:ext cx="2641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800" dirty="0">
                <a:latin typeface="+mj-lt"/>
              </a:rPr>
              <a:t>Internet Access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72371" y="1672405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2020" y="4177252"/>
            <a:ext cx="2946400" cy="22098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637788" y="3667289"/>
            <a:ext cx="30652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800" dirty="0">
                <a:latin typeface="+mj-lt"/>
              </a:rPr>
              <a:t>Resource Sharing</a:t>
            </a:r>
          </a:p>
        </p:txBody>
      </p:sp>
    </p:spTree>
    <p:extLst>
      <p:ext uri="{BB962C8B-B14F-4D97-AF65-F5344CB8AC3E}">
        <p14:creationId xmlns:p14="http://schemas.microsoft.com/office/powerpoint/2010/main" val="29050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Applications of Computer Network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5" name="AutoShape 2" descr="Image result for banking and financial services icon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Image result for internet business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686582" y="4153760"/>
            <a:ext cx="2640666" cy="1750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506" r="17691"/>
          <a:stretch/>
        </p:blipFill>
        <p:spPr bwMode="auto">
          <a:xfrm>
            <a:off x="2606838" y="1610754"/>
            <a:ext cx="2699995" cy="1667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058"/>
          <a:stretch/>
        </p:blipFill>
        <p:spPr bwMode="auto">
          <a:xfrm>
            <a:off x="6995773" y="4247286"/>
            <a:ext cx="3101233" cy="15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6872" y="1383952"/>
            <a:ext cx="3158816" cy="2121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452399" y="6053456"/>
            <a:ext cx="3287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&amp; Many More….</a:t>
            </a:r>
            <a:endParaRPr lang="en-IN" sz="2400" b="1" dirty="0">
              <a:solidFill>
                <a:schemeClr val="accent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67866" y="3601842"/>
            <a:ext cx="3361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Business &amp; Finance</a:t>
            </a:r>
            <a:endParaRPr lang="en-IN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2686581" y="1014482"/>
            <a:ext cx="2540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Email Services</a:t>
            </a:r>
            <a:endParaRPr lang="en-IN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6365170" y="3601842"/>
            <a:ext cx="433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File &amp; Directory Services</a:t>
            </a:r>
            <a:endParaRPr lang="en-IN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6926872" y="1014482"/>
            <a:ext cx="3006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Teleconferencing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8906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18" grpId="0"/>
      <p:bldP spid="20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Computer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networks can be categories by their </a:t>
            </a:r>
            <a:r>
              <a:rPr lang="en-US" dirty="0">
                <a:solidFill>
                  <a:schemeClr val="accent6"/>
                </a:solidFill>
              </a:rPr>
              <a:t>size</a:t>
            </a:r>
            <a:r>
              <a:rPr lang="en-US" dirty="0"/>
              <a:t> as well as their </a:t>
            </a:r>
            <a:r>
              <a:rPr lang="en-US" dirty="0">
                <a:solidFill>
                  <a:schemeClr val="accent6"/>
                </a:solidFill>
              </a:rPr>
              <a:t>purpose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size</a:t>
            </a:r>
            <a:r>
              <a:rPr lang="en-US" dirty="0"/>
              <a:t> of a network can be expressed by the </a:t>
            </a:r>
            <a:r>
              <a:rPr lang="en-US" dirty="0">
                <a:solidFill>
                  <a:schemeClr val="accent6"/>
                </a:solidFill>
              </a:rPr>
              <a:t>geographic area</a:t>
            </a:r>
            <a:r>
              <a:rPr lang="en-US" dirty="0"/>
              <a:t>.</a:t>
            </a:r>
          </a:p>
          <a:p>
            <a:r>
              <a:rPr lang="en-US" dirty="0"/>
              <a:t>Some of the different networks based on </a:t>
            </a:r>
            <a:r>
              <a:rPr lang="en-US" dirty="0">
                <a:solidFill>
                  <a:schemeClr val="accent6"/>
                </a:solidFill>
              </a:rPr>
              <a:t>size</a:t>
            </a:r>
            <a:r>
              <a:rPr lang="en-US" dirty="0"/>
              <a:t> are:</a:t>
            </a:r>
          </a:p>
        </p:txBody>
      </p:sp>
      <p:graphicFrame>
        <p:nvGraphicFramePr>
          <p:cNvPr id="4" name="Diagram 3"/>
          <p:cNvGraphicFramePr/>
          <p:nvPr>
            <p:extLst/>
          </p:nvPr>
        </p:nvGraphicFramePr>
        <p:xfrm>
          <a:off x="1854579" y="1748691"/>
          <a:ext cx="8128000" cy="4405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33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Area Network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local area network (LAN) is a computer network that </a:t>
            </a:r>
            <a:r>
              <a:rPr lang="en-US" dirty="0">
                <a:solidFill>
                  <a:schemeClr val="accent6"/>
                </a:solidFill>
              </a:rPr>
              <a:t>interconnects </a:t>
            </a:r>
            <a:r>
              <a:rPr lang="en-US" dirty="0"/>
              <a:t>computers within a </a:t>
            </a:r>
            <a:r>
              <a:rPr lang="en-US" dirty="0">
                <a:solidFill>
                  <a:schemeClr val="accent6"/>
                </a:solidFill>
              </a:rPr>
              <a:t>limited area </a:t>
            </a:r>
            <a:r>
              <a:rPr lang="en-US" dirty="0"/>
              <a:t>such as a residence, school, laboratory, university campus or office building.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4F211-01F6-034B-B2DA-3661926D50A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0618" y="2895600"/>
            <a:ext cx="3819646" cy="2514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BB4D449-F83B-3646-8EE5-90D6147ABB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4823" y="2769752"/>
            <a:ext cx="3797300" cy="264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Metropolitan Area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/>
              <a:t>A metropolitan area network (MAN) is a computer network that interconnects with computer in a </a:t>
            </a:r>
            <a:r>
              <a:rPr lang="en-US" sz="2200" dirty="0">
                <a:solidFill>
                  <a:schemeClr val="accent6"/>
                </a:solidFill>
              </a:rPr>
              <a:t>metropolitan area </a:t>
            </a:r>
            <a:r>
              <a:rPr lang="en-US" sz="2200" dirty="0"/>
              <a:t>like city.</a:t>
            </a:r>
          </a:p>
          <a:p>
            <a:pPr algn="just"/>
            <a:r>
              <a:rPr lang="en-US" sz="2200" dirty="0"/>
              <a:t>MAN is a </a:t>
            </a:r>
            <a:r>
              <a:rPr lang="en-US" sz="2200" dirty="0">
                <a:solidFill>
                  <a:schemeClr val="accent6"/>
                </a:solidFill>
              </a:rPr>
              <a:t>larger </a:t>
            </a:r>
            <a:r>
              <a:rPr lang="en-US" sz="2200" dirty="0"/>
              <a:t>than LAN but </a:t>
            </a:r>
            <a:r>
              <a:rPr lang="en-US" sz="2200" dirty="0">
                <a:solidFill>
                  <a:schemeClr val="accent6"/>
                </a:solidFill>
              </a:rPr>
              <a:t>smaller </a:t>
            </a:r>
            <a:r>
              <a:rPr lang="en-US" sz="2200" dirty="0"/>
              <a:t>than the area covered by a WAN.</a:t>
            </a:r>
          </a:p>
          <a:p>
            <a:pPr algn="just"/>
            <a:r>
              <a:rPr lang="en-US" sz="2200" dirty="0"/>
              <a:t>It is also used to </a:t>
            </a:r>
            <a:r>
              <a:rPr lang="en-US" sz="2200" dirty="0">
                <a:solidFill>
                  <a:schemeClr val="accent6"/>
                </a:solidFill>
              </a:rPr>
              <a:t>interconnection of several local area network</a:t>
            </a:r>
            <a:r>
              <a:rPr lang="en-US" sz="22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39"/>
          <a:stretch/>
        </p:blipFill>
        <p:spPr>
          <a:xfrm>
            <a:off x="4648200" y="3611138"/>
            <a:ext cx="3708400" cy="2713463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4329545" y="4191000"/>
            <a:ext cx="4572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572000" y="6096000"/>
            <a:ext cx="4572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8321966" y="4343400"/>
            <a:ext cx="5172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7162801" y="5105400"/>
            <a:ext cx="5172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40834" y="4006335"/>
            <a:ext cx="1389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/>
                </a:solidFill>
              </a:rPr>
              <a:t>Navagam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66491" y="5914032"/>
            <a:ext cx="1326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/>
                </a:solidFill>
              </a:rPr>
              <a:t>Shapar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58250" y="4158734"/>
            <a:ext cx="81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/>
                </a:solidFill>
              </a:rPr>
              <a:t>Morbi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80035" y="4920734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Rajkot</a:t>
            </a:r>
          </a:p>
        </p:txBody>
      </p:sp>
    </p:spTree>
    <p:extLst>
      <p:ext uri="{BB962C8B-B14F-4D97-AF65-F5344CB8AC3E}">
        <p14:creationId xmlns:p14="http://schemas.microsoft.com/office/powerpoint/2010/main" val="168828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wide area network (WAN) is a computer network that exists over a </a:t>
            </a:r>
            <a:r>
              <a:rPr lang="en-US" dirty="0">
                <a:solidFill>
                  <a:schemeClr val="accent6"/>
                </a:solidFill>
              </a:rPr>
              <a:t>large-scale geographical area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A WAN </a:t>
            </a:r>
            <a:r>
              <a:rPr lang="en-US" dirty="0">
                <a:solidFill>
                  <a:schemeClr val="accent6"/>
                </a:solidFill>
              </a:rPr>
              <a:t>connects </a:t>
            </a:r>
            <a:r>
              <a:rPr lang="en-US" dirty="0"/>
              <a:t>different networks, including local area networks (</a:t>
            </a:r>
            <a:r>
              <a:rPr lang="en-US" dirty="0">
                <a:solidFill>
                  <a:srgbClr val="C00000"/>
                </a:solidFill>
              </a:rPr>
              <a:t>LAN</a:t>
            </a:r>
            <a:r>
              <a:rPr lang="en-US" dirty="0"/>
              <a:t>) and metropolitan area networks (</a:t>
            </a:r>
            <a:r>
              <a:rPr lang="en-US" dirty="0">
                <a:solidFill>
                  <a:schemeClr val="accent6"/>
                </a:solidFill>
              </a:rPr>
              <a:t>MAN</a:t>
            </a:r>
            <a:r>
              <a:rPr lang="en-US" dirty="0"/>
              <a:t>). </a:t>
            </a:r>
          </a:p>
          <a:p>
            <a:pPr lvl="0" algn="just"/>
            <a:r>
              <a:rPr lang="en-IN" dirty="0"/>
              <a:t>It may be located with in a </a:t>
            </a:r>
            <a:r>
              <a:rPr lang="en-IN" dirty="0">
                <a:solidFill>
                  <a:schemeClr val="accent6"/>
                </a:solidFill>
              </a:rPr>
              <a:t>state </a:t>
            </a:r>
            <a:r>
              <a:rPr lang="en-IN" dirty="0"/>
              <a:t>or a </a:t>
            </a:r>
            <a:r>
              <a:rPr lang="en-IN" dirty="0">
                <a:solidFill>
                  <a:schemeClr val="accent6"/>
                </a:solidFill>
              </a:rPr>
              <a:t>country </a:t>
            </a:r>
            <a:r>
              <a:rPr lang="en-IN" dirty="0"/>
              <a:t>or it may be interconnected around the world.  </a:t>
            </a:r>
            <a:endParaRPr lang="en-US" dirty="0"/>
          </a:p>
          <a:p>
            <a:pPr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0300" y="3786498"/>
            <a:ext cx="4851400" cy="2538102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8204200" y="4267200"/>
            <a:ext cx="1295400" cy="98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99601" y="4067145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Asia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29401" y="5924490"/>
            <a:ext cx="910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Africa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12" name="Straight Arrow Connector 11"/>
          <p:cNvCxnSpPr>
            <a:stCxn id="11" idx="1"/>
          </p:cNvCxnSpPr>
          <p:nvPr/>
        </p:nvCxnSpPr>
        <p:spPr>
          <a:xfrm flipH="1" flipV="1">
            <a:off x="6248400" y="5432419"/>
            <a:ext cx="381000" cy="692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124200" y="4467256"/>
            <a:ext cx="838200" cy="485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124200" y="4953000"/>
            <a:ext cx="1384300" cy="479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11920" y="4792599"/>
            <a:ext cx="1196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tx2"/>
                </a:solidFill>
              </a:rPr>
              <a:t>America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79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Types of Computer Networks - Summary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http://cis.msjc.edu/courses/images/WAN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81200" y="990600"/>
            <a:ext cx="8496300" cy="533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3889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Types of Computer Networks -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001584" y="799912"/>
            <a:ext cx="11929641" cy="559056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800" b="1" dirty="0"/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619825" y="799912"/>
          <a:ext cx="11089948" cy="4147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772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73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Comparison</a:t>
                      </a:r>
                      <a:endParaRPr lang="en-IN" sz="1800" b="1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LAN</a:t>
                      </a:r>
                      <a:endParaRPr lang="en-IN" sz="1800" b="1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MAN</a:t>
                      </a:r>
                      <a:endParaRPr lang="en-IN" sz="1800" b="1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WAN</a:t>
                      </a:r>
                      <a:endParaRPr lang="en-IN" sz="1800" b="1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619844" y="1227443"/>
          <a:ext cx="11089948" cy="369253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72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25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Full Name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Local Area Network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Metropolitan Area Network 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Wide Area Network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619844" y="1609488"/>
          <a:ext cx="11089948" cy="108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72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Meaning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effectLst/>
                        </a:rPr>
                        <a:t>A network that connects a group of computers in a small geographical area</a:t>
                      </a:r>
                      <a:endParaRPr lang="en-IN" sz="1600" b="0" kern="1200" dirty="0">
                        <a:effectLst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effectLst/>
                        </a:rPr>
                        <a:t>It covers relatively large region such as cities, towns</a:t>
                      </a:r>
                      <a:endParaRPr lang="en-IN" sz="1600" b="0" kern="1200" dirty="0">
                        <a:effectLst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effectLst/>
                        </a:rPr>
                        <a:t>It spans large locality &amp; connects countries together. e.g. Internet</a:t>
                      </a:r>
                      <a:endParaRPr lang="en-IN" sz="1600" b="0" kern="1200" dirty="0">
                        <a:effectLst/>
                      </a:endParaRPr>
                    </a:p>
                  </a:txBody>
                  <a:tcPr marL="67552" marR="67552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619835" y="2702280"/>
          <a:ext cx="11089944" cy="42731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72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3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Ownership of Network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Private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Private or Public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Private or Public (VPN)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619852" y="3142387"/>
          <a:ext cx="11089940" cy="42731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72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3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effectLst/>
                        </a:rPr>
                        <a:t>Design and Maintenance</a:t>
                      </a:r>
                      <a:endParaRPr lang="en-IN" sz="1600" b="0" kern="1200" dirty="0">
                        <a:effectLst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Easy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Difficult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effectLst/>
                        </a:rPr>
                        <a:t>Difficult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19852" y="3582494"/>
          <a:ext cx="11089940" cy="42731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72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3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Propagation Delay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Short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Moderate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Long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619852" y="4022601"/>
          <a:ext cx="11089940" cy="42731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72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3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Speed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High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Moderate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Low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619856" y="4462708"/>
          <a:ext cx="11089936" cy="61123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72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3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Equipment Used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NIC, Switch, Hub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Modem, Router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Microwave, Radio Transmitter &amp; Receiver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619856" y="5085787"/>
          <a:ext cx="11089936" cy="330823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72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38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Range(Approximately)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1 to 10 km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10</a:t>
                      </a:r>
                      <a:r>
                        <a:rPr lang="en-IN" sz="1600" kern="1200" baseline="0" dirty="0">
                          <a:effectLst/>
                        </a:rPr>
                        <a:t> to </a:t>
                      </a:r>
                      <a:r>
                        <a:rPr lang="en-IN" sz="1600" kern="1200" dirty="0">
                          <a:effectLst/>
                        </a:rPr>
                        <a:t>100 km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Beyond 100 km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619856" y="5428447"/>
          <a:ext cx="11089940" cy="42731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72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31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Used for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College, School, Hospital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Small towns, City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550" kern="1200" dirty="0">
                          <a:effectLst/>
                        </a:rPr>
                        <a:t>State, Country, Continent</a:t>
                      </a:r>
                      <a:endParaRPr lang="en-IN" sz="1550" b="0" kern="1200" dirty="0"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Arial" charset="0"/>
                      </a:endParaRPr>
                    </a:p>
                  </a:txBody>
                  <a:tcPr marL="67552" marR="67552" marT="33776" marB="33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57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Internet?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internet is a type of </a:t>
            </a:r>
            <a:r>
              <a:rPr lang="en-IN" dirty="0">
                <a:solidFill>
                  <a:schemeClr val="accent6"/>
                </a:solidFill>
              </a:rPr>
              <a:t>world-wide computer network</a:t>
            </a:r>
            <a:r>
              <a:rPr lang="en-IN" dirty="0"/>
              <a:t>.</a:t>
            </a:r>
            <a:endParaRPr lang="en-US" dirty="0"/>
          </a:p>
          <a:p>
            <a:r>
              <a:rPr lang="en-IN" dirty="0"/>
              <a:t>The internet is the collection of </a:t>
            </a:r>
            <a:r>
              <a:rPr lang="en-IN" dirty="0">
                <a:solidFill>
                  <a:schemeClr val="accent6"/>
                </a:solidFill>
              </a:rPr>
              <a:t>infinite numbers of connected computers </a:t>
            </a:r>
            <a:r>
              <a:rPr lang="en-IN" dirty="0"/>
              <a:t>that are spread across the world.</a:t>
            </a:r>
            <a:endParaRPr lang="en-US" dirty="0"/>
          </a:p>
          <a:p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6475203" y="2322832"/>
            <a:ext cx="4366032" cy="4154169"/>
            <a:chOff x="4951203" y="2322831"/>
            <a:chExt cx="4366032" cy="4154169"/>
          </a:xfrm>
        </p:grpSpPr>
        <p:sp>
          <p:nvSpPr>
            <p:cNvPr id="51" name="Freeform 417"/>
            <p:cNvSpPr>
              <a:spLocks/>
            </p:cNvSpPr>
            <p:nvPr/>
          </p:nvSpPr>
          <p:spPr bwMode="auto">
            <a:xfrm>
              <a:off x="5638800" y="2586670"/>
              <a:ext cx="1354461" cy="868737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4951203" y="2322831"/>
              <a:ext cx="4366032" cy="4154169"/>
              <a:chOff x="4951203" y="2322831"/>
              <a:chExt cx="4366032" cy="4154169"/>
            </a:xfrm>
          </p:grpSpPr>
          <p:sp>
            <p:nvSpPr>
              <p:cNvPr id="49" name="Freeform 415"/>
              <p:cNvSpPr>
                <a:spLocks/>
              </p:cNvSpPr>
              <p:nvPr/>
            </p:nvSpPr>
            <p:spPr bwMode="auto">
              <a:xfrm>
                <a:off x="7044022" y="4060304"/>
                <a:ext cx="1025132" cy="546983"/>
              </a:xfrm>
              <a:custGeom>
                <a:avLst/>
                <a:gdLst>
                  <a:gd name="T0" fmla="*/ 2147483647 w 828"/>
                  <a:gd name="T1" fmla="*/ 2147483647 h 425"/>
                  <a:gd name="T2" fmla="*/ 2147483647 w 828"/>
                  <a:gd name="T3" fmla="*/ 2147483647 h 425"/>
                  <a:gd name="T4" fmla="*/ 2147483647 w 828"/>
                  <a:gd name="T5" fmla="*/ 2147483647 h 425"/>
                  <a:gd name="T6" fmla="*/ 2147483647 w 828"/>
                  <a:gd name="T7" fmla="*/ 2147483647 h 425"/>
                  <a:gd name="T8" fmla="*/ 2147483647 w 828"/>
                  <a:gd name="T9" fmla="*/ 2147483647 h 425"/>
                  <a:gd name="T10" fmla="*/ 2147483647 w 828"/>
                  <a:gd name="T11" fmla="*/ 2147483647 h 425"/>
                  <a:gd name="T12" fmla="*/ 2147483647 w 828"/>
                  <a:gd name="T13" fmla="*/ 2147483647 h 425"/>
                  <a:gd name="T14" fmla="*/ 2147483647 w 828"/>
                  <a:gd name="T15" fmla="*/ 2147483647 h 425"/>
                  <a:gd name="T16" fmla="*/ 2147483647 w 828"/>
                  <a:gd name="T17" fmla="*/ 2147483647 h 425"/>
                  <a:gd name="T18" fmla="*/ 2147483647 w 828"/>
                  <a:gd name="T19" fmla="*/ 2147483647 h 425"/>
                  <a:gd name="T20" fmla="*/ 2147483647 w 828"/>
                  <a:gd name="T21" fmla="*/ 2147483647 h 425"/>
                  <a:gd name="T22" fmla="*/ 2147483647 w 828"/>
                  <a:gd name="T23" fmla="*/ 2147483647 h 42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8"/>
                  <a:gd name="T37" fmla="*/ 0 h 425"/>
                  <a:gd name="T38" fmla="*/ 828 w 828"/>
                  <a:gd name="T39" fmla="*/ 425 h 42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8" h="425">
                    <a:moveTo>
                      <a:pt x="382" y="30"/>
                    </a:moveTo>
                    <a:cubicBezTo>
                      <a:pt x="350" y="29"/>
                      <a:pt x="413" y="30"/>
                      <a:pt x="370" y="30"/>
                    </a:cubicBezTo>
                    <a:cubicBezTo>
                      <a:pt x="327" y="30"/>
                      <a:pt x="187" y="16"/>
                      <a:pt x="126" y="32"/>
                    </a:cubicBezTo>
                    <a:cubicBezTo>
                      <a:pt x="65" y="48"/>
                      <a:pt x="12" y="86"/>
                      <a:pt x="6" y="126"/>
                    </a:cubicBezTo>
                    <a:cubicBezTo>
                      <a:pt x="0" y="166"/>
                      <a:pt x="44" y="231"/>
                      <a:pt x="92" y="274"/>
                    </a:cubicBezTo>
                    <a:cubicBezTo>
                      <a:pt x="140" y="317"/>
                      <a:pt x="217" y="360"/>
                      <a:pt x="292" y="384"/>
                    </a:cubicBezTo>
                    <a:cubicBezTo>
                      <a:pt x="367" y="408"/>
                      <a:pt x="472" y="425"/>
                      <a:pt x="540" y="416"/>
                    </a:cubicBezTo>
                    <a:cubicBezTo>
                      <a:pt x="608" y="407"/>
                      <a:pt x="659" y="371"/>
                      <a:pt x="698" y="330"/>
                    </a:cubicBezTo>
                    <a:cubicBezTo>
                      <a:pt x="737" y="289"/>
                      <a:pt x="760" y="221"/>
                      <a:pt x="776" y="170"/>
                    </a:cubicBezTo>
                    <a:cubicBezTo>
                      <a:pt x="792" y="119"/>
                      <a:pt x="828" y="44"/>
                      <a:pt x="792" y="22"/>
                    </a:cubicBezTo>
                    <a:cubicBezTo>
                      <a:pt x="756" y="0"/>
                      <a:pt x="630" y="37"/>
                      <a:pt x="560" y="38"/>
                    </a:cubicBezTo>
                    <a:cubicBezTo>
                      <a:pt x="490" y="39"/>
                      <a:pt x="414" y="31"/>
                      <a:pt x="382" y="30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Freeform 416"/>
              <p:cNvSpPr>
                <a:spLocks/>
              </p:cNvSpPr>
              <p:nvPr/>
            </p:nvSpPr>
            <p:spPr bwMode="auto">
              <a:xfrm>
                <a:off x="7058879" y="2823481"/>
                <a:ext cx="1349509" cy="912496"/>
              </a:xfrm>
              <a:custGeom>
                <a:avLst/>
                <a:gdLst>
                  <a:gd name="T0" fmla="*/ 2147483647 w 765"/>
                  <a:gd name="T1" fmla="*/ 2147483647 h 459"/>
                  <a:gd name="T2" fmla="*/ 2147483647 w 765"/>
                  <a:gd name="T3" fmla="*/ 2147483647 h 459"/>
                  <a:gd name="T4" fmla="*/ 2147483647 w 765"/>
                  <a:gd name="T5" fmla="*/ 2147483647 h 459"/>
                  <a:gd name="T6" fmla="*/ 2147483647 w 765"/>
                  <a:gd name="T7" fmla="*/ 2147483647 h 459"/>
                  <a:gd name="T8" fmla="*/ 2147483647 w 765"/>
                  <a:gd name="T9" fmla="*/ 2147483647 h 459"/>
                  <a:gd name="T10" fmla="*/ 2147483647 w 765"/>
                  <a:gd name="T11" fmla="*/ 2147483647 h 459"/>
                  <a:gd name="T12" fmla="*/ 2147483647 w 765"/>
                  <a:gd name="T13" fmla="*/ 2147483647 h 459"/>
                  <a:gd name="T14" fmla="*/ 2147483647 w 765"/>
                  <a:gd name="T15" fmla="*/ 2147483647 h 459"/>
                  <a:gd name="T16" fmla="*/ 2147483647 w 765"/>
                  <a:gd name="T17" fmla="*/ 2147483647 h 459"/>
                  <a:gd name="T18" fmla="*/ 2147483647 w 765"/>
                  <a:gd name="T19" fmla="*/ 2147483647 h 459"/>
                  <a:gd name="T20" fmla="*/ 2147483647 w 765"/>
                  <a:gd name="T21" fmla="*/ 2147483647 h 459"/>
                  <a:gd name="T22" fmla="*/ 2147483647 w 765"/>
                  <a:gd name="T23" fmla="*/ 2147483647 h 45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65"/>
                  <a:gd name="T37" fmla="*/ 0 h 459"/>
                  <a:gd name="T38" fmla="*/ 765 w 765"/>
                  <a:gd name="T39" fmla="*/ 459 h 45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65" h="459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CCFF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52" name="Group 418"/>
              <p:cNvGrpSpPr>
                <a:grpSpLocks/>
              </p:cNvGrpSpPr>
              <p:nvPr/>
            </p:nvGrpSpPr>
            <p:grpSpPr bwMode="auto">
              <a:xfrm>
                <a:off x="5698228" y="3612422"/>
                <a:ext cx="1137797" cy="756766"/>
                <a:chOff x="2889" y="1631"/>
                <a:chExt cx="980" cy="743"/>
              </a:xfrm>
            </p:grpSpPr>
            <p:sp>
              <p:nvSpPr>
                <p:cNvPr id="402" name="Rectangle 419"/>
                <p:cNvSpPr>
                  <a:spLocks noChangeArrowheads="1"/>
                </p:cNvSpPr>
                <p:nvPr/>
              </p:nvSpPr>
              <p:spPr bwMode="auto">
                <a:xfrm>
                  <a:off x="3046" y="1841"/>
                  <a:ext cx="663" cy="533"/>
                </a:xfrm>
                <a:prstGeom prst="rect">
                  <a:avLst/>
                </a:pr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3" name="AutoShape 420"/>
                <p:cNvSpPr>
                  <a:spLocks noChangeArrowheads="1"/>
                </p:cNvSpPr>
                <p:nvPr/>
              </p:nvSpPr>
              <p:spPr bwMode="auto">
                <a:xfrm>
                  <a:off x="2889" y="1631"/>
                  <a:ext cx="980" cy="253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>
                    <a:solidFill>
                      <a:srgbClr val="00CCFF"/>
                    </a:solidFill>
                  </a:endParaRPr>
                </a:p>
              </p:txBody>
            </p:sp>
          </p:grpSp>
          <p:sp>
            <p:nvSpPr>
              <p:cNvPr id="53" name="Line 421"/>
              <p:cNvSpPr>
                <a:spLocks noChangeShapeType="1"/>
              </p:cNvSpPr>
              <p:nvPr/>
            </p:nvSpPr>
            <p:spPr bwMode="auto">
              <a:xfrm>
                <a:off x="7349829" y="4291967"/>
                <a:ext cx="127522" cy="97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4" name="Line 422"/>
              <p:cNvSpPr>
                <a:spLocks noChangeShapeType="1"/>
              </p:cNvSpPr>
              <p:nvPr/>
            </p:nvSpPr>
            <p:spPr bwMode="auto">
              <a:xfrm>
                <a:off x="7425351" y="4227616"/>
                <a:ext cx="2179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5" name="Line 423"/>
              <p:cNvSpPr>
                <a:spLocks noChangeShapeType="1"/>
              </p:cNvSpPr>
              <p:nvPr/>
            </p:nvSpPr>
            <p:spPr bwMode="auto">
              <a:xfrm flipV="1">
                <a:off x="7609826" y="4297115"/>
                <a:ext cx="105237" cy="849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6" name="Line 424"/>
              <p:cNvSpPr>
                <a:spLocks noChangeShapeType="1"/>
              </p:cNvSpPr>
              <p:nvPr/>
            </p:nvSpPr>
            <p:spPr bwMode="auto">
              <a:xfrm>
                <a:off x="6594599" y="4232765"/>
                <a:ext cx="5298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7" name="Line 425"/>
              <p:cNvSpPr>
                <a:spLocks noChangeShapeType="1"/>
              </p:cNvSpPr>
              <p:nvPr/>
            </p:nvSpPr>
            <p:spPr bwMode="auto">
              <a:xfrm>
                <a:off x="6824882" y="3298390"/>
                <a:ext cx="397424" cy="25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8" name="Line 426"/>
              <p:cNvSpPr>
                <a:spLocks noChangeShapeType="1"/>
              </p:cNvSpPr>
              <p:nvPr/>
            </p:nvSpPr>
            <p:spPr bwMode="auto">
              <a:xfrm>
                <a:off x="6486885" y="3149096"/>
                <a:ext cx="118856" cy="77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Freeform 427"/>
              <p:cNvSpPr>
                <a:spLocks/>
              </p:cNvSpPr>
              <p:nvPr/>
            </p:nvSpPr>
            <p:spPr bwMode="auto">
              <a:xfrm>
                <a:off x="5869083" y="4750145"/>
                <a:ext cx="2401878" cy="1350081"/>
              </a:xfrm>
              <a:custGeom>
                <a:avLst/>
                <a:gdLst>
                  <a:gd name="T0" fmla="*/ 2147483647 w 1940"/>
                  <a:gd name="T1" fmla="*/ 2147483647 h 1049"/>
                  <a:gd name="T2" fmla="*/ 2147483647 w 1940"/>
                  <a:gd name="T3" fmla="*/ 2147483647 h 1049"/>
                  <a:gd name="T4" fmla="*/ 2147483647 w 1940"/>
                  <a:gd name="T5" fmla="*/ 2147483647 h 1049"/>
                  <a:gd name="T6" fmla="*/ 2147483647 w 1940"/>
                  <a:gd name="T7" fmla="*/ 2147483647 h 1049"/>
                  <a:gd name="T8" fmla="*/ 2147483647 w 1940"/>
                  <a:gd name="T9" fmla="*/ 2147483647 h 1049"/>
                  <a:gd name="T10" fmla="*/ 2147483647 w 1940"/>
                  <a:gd name="T11" fmla="*/ 2147483647 h 1049"/>
                  <a:gd name="T12" fmla="*/ 2147483647 w 1940"/>
                  <a:gd name="T13" fmla="*/ 2147483647 h 1049"/>
                  <a:gd name="T14" fmla="*/ 2147483647 w 1940"/>
                  <a:gd name="T15" fmla="*/ 2147483647 h 1049"/>
                  <a:gd name="T16" fmla="*/ 2147483647 w 1940"/>
                  <a:gd name="T17" fmla="*/ 2147483647 h 1049"/>
                  <a:gd name="T18" fmla="*/ 2147483647 w 1940"/>
                  <a:gd name="T19" fmla="*/ 2147483647 h 1049"/>
                  <a:gd name="T20" fmla="*/ 2147483647 w 1940"/>
                  <a:gd name="T21" fmla="*/ 2147483647 h 1049"/>
                  <a:gd name="T22" fmla="*/ 2147483647 w 1940"/>
                  <a:gd name="T23" fmla="*/ 2147483647 h 1049"/>
                  <a:gd name="T24" fmla="*/ 2147483647 w 1940"/>
                  <a:gd name="T25" fmla="*/ 2147483647 h 1049"/>
                  <a:gd name="T26" fmla="*/ 2147483647 w 1940"/>
                  <a:gd name="T27" fmla="*/ 2147483647 h 1049"/>
                  <a:gd name="T28" fmla="*/ 2147483647 w 1940"/>
                  <a:gd name="T29" fmla="*/ 2147483647 h 1049"/>
                  <a:gd name="T30" fmla="*/ 2147483647 w 1940"/>
                  <a:gd name="T31" fmla="*/ 2147483647 h 104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940"/>
                  <a:gd name="T49" fmla="*/ 0 h 1049"/>
                  <a:gd name="T50" fmla="*/ 1940 w 1940"/>
                  <a:gd name="T51" fmla="*/ 1049 h 104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940" h="1049">
                    <a:moveTo>
                      <a:pt x="952" y="26"/>
                    </a:moveTo>
                    <a:cubicBezTo>
                      <a:pt x="867" y="45"/>
                      <a:pt x="832" y="118"/>
                      <a:pt x="755" y="125"/>
                    </a:cubicBezTo>
                    <a:cubicBezTo>
                      <a:pt x="678" y="132"/>
                      <a:pt x="587" y="72"/>
                      <a:pt x="488" y="68"/>
                    </a:cubicBezTo>
                    <a:cubicBezTo>
                      <a:pt x="389" y="64"/>
                      <a:pt x="237" y="48"/>
                      <a:pt x="158" y="101"/>
                    </a:cubicBezTo>
                    <a:cubicBezTo>
                      <a:pt x="79" y="154"/>
                      <a:pt x="28" y="298"/>
                      <a:pt x="14" y="389"/>
                    </a:cubicBezTo>
                    <a:cubicBezTo>
                      <a:pt x="0" y="480"/>
                      <a:pt x="25" y="595"/>
                      <a:pt x="71" y="648"/>
                    </a:cubicBezTo>
                    <a:cubicBezTo>
                      <a:pt x="117" y="701"/>
                      <a:pt x="205" y="665"/>
                      <a:pt x="288" y="706"/>
                    </a:cubicBezTo>
                    <a:cubicBezTo>
                      <a:pt x="371" y="747"/>
                      <a:pt x="450" y="842"/>
                      <a:pt x="568" y="893"/>
                    </a:cubicBezTo>
                    <a:cubicBezTo>
                      <a:pt x="686" y="944"/>
                      <a:pt x="852" y="991"/>
                      <a:pt x="996" y="1014"/>
                    </a:cubicBezTo>
                    <a:cubicBezTo>
                      <a:pt x="1140" y="1036"/>
                      <a:pt x="1309" y="1049"/>
                      <a:pt x="1433" y="1031"/>
                    </a:cubicBezTo>
                    <a:cubicBezTo>
                      <a:pt x="1557" y="1012"/>
                      <a:pt x="1657" y="960"/>
                      <a:pt x="1739" y="907"/>
                    </a:cubicBezTo>
                    <a:cubicBezTo>
                      <a:pt x="1821" y="855"/>
                      <a:pt x="1906" y="824"/>
                      <a:pt x="1923" y="714"/>
                    </a:cubicBezTo>
                    <a:cubicBezTo>
                      <a:pt x="1940" y="604"/>
                      <a:pt x="1898" y="350"/>
                      <a:pt x="1839" y="251"/>
                    </a:cubicBezTo>
                    <a:cubicBezTo>
                      <a:pt x="1780" y="151"/>
                      <a:pt x="1662" y="153"/>
                      <a:pt x="1566" y="114"/>
                    </a:cubicBezTo>
                    <a:cubicBezTo>
                      <a:pt x="1470" y="76"/>
                      <a:pt x="1365" y="30"/>
                      <a:pt x="1263" y="15"/>
                    </a:cubicBezTo>
                    <a:cubicBezTo>
                      <a:pt x="1161" y="0"/>
                      <a:pt x="1037" y="8"/>
                      <a:pt x="952" y="26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0" name="Line 428"/>
              <p:cNvSpPr>
                <a:spLocks noChangeShapeType="1"/>
              </p:cNvSpPr>
              <p:nvPr/>
            </p:nvSpPr>
            <p:spPr bwMode="auto">
              <a:xfrm rot="16200000">
                <a:off x="7692131" y="5385512"/>
                <a:ext cx="424716" cy="10895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1" name="Line 429"/>
              <p:cNvSpPr>
                <a:spLocks noChangeShapeType="1"/>
              </p:cNvSpPr>
              <p:nvPr/>
            </p:nvSpPr>
            <p:spPr bwMode="auto">
              <a:xfrm rot="5400000" flipV="1">
                <a:off x="7814060" y="5612482"/>
                <a:ext cx="2574" cy="66856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2" name="Line 430"/>
              <p:cNvSpPr>
                <a:spLocks noChangeShapeType="1"/>
              </p:cNvSpPr>
              <p:nvPr/>
            </p:nvSpPr>
            <p:spPr bwMode="auto">
              <a:xfrm rot="16200000">
                <a:off x="7958965" y="5350371"/>
                <a:ext cx="0" cy="8914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3" name="Line 431"/>
              <p:cNvSpPr>
                <a:spLocks noChangeShapeType="1"/>
              </p:cNvSpPr>
              <p:nvPr/>
            </p:nvSpPr>
            <p:spPr bwMode="auto">
              <a:xfrm>
                <a:off x="7320115" y="5008836"/>
                <a:ext cx="304568" cy="1492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4" name="Line 432"/>
              <p:cNvSpPr>
                <a:spLocks noChangeShapeType="1"/>
              </p:cNvSpPr>
              <p:nvPr/>
            </p:nvSpPr>
            <p:spPr bwMode="auto">
              <a:xfrm flipV="1">
                <a:off x="6836024" y="4998540"/>
                <a:ext cx="251331" cy="1608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5" name="Line 433"/>
              <p:cNvSpPr>
                <a:spLocks noChangeShapeType="1"/>
              </p:cNvSpPr>
              <p:nvPr/>
            </p:nvSpPr>
            <p:spPr bwMode="auto">
              <a:xfrm flipV="1">
                <a:off x="6869453" y="5235351"/>
                <a:ext cx="7577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6" name="Line 435"/>
              <p:cNvSpPr>
                <a:spLocks noChangeShapeType="1"/>
              </p:cNvSpPr>
              <p:nvPr/>
            </p:nvSpPr>
            <p:spPr bwMode="auto">
              <a:xfrm>
                <a:off x="6339554" y="5070613"/>
                <a:ext cx="205522" cy="69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7" name="Line 436"/>
              <p:cNvSpPr>
                <a:spLocks noChangeShapeType="1"/>
              </p:cNvSpPr>
              <p:nvPr/>
            </p:nvSpPr>
            <p:spPr bwMode="auto">
              <a:xfrm flipV="1">
                <a:off x="6137746" y="5240499"/>
                <a:ext cx="321901" cy="1029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8" name="Line 439"/>
              <p:cNvSpPr>
                <a:spLocks noChangeShapeType="1"/>
              </p:cNvSpPr>
              <p:nvPr/>
            </p:nvSpPr>
            <p:spPr bwMode="auto">
              <a:xfrm flipH="1">
                <a:off x="6469552" y="5311285"/>
                <a:ext cx="111427" cy="1608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9" name="Line 440"/>
              <p:cNvSpPr>
                <a:spLocks noChangeShapeType="1"/>
              </p:cNvSpPr>
              <p:nvPr/>
            </p:nvSpPr>
            <p:spPr bwMode="auto">
              <a:xfrm flipH="1" flipV="1">
                <a:off x="6719645" y="5333165"/>
                <a:ext cx="58190" cy="1402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0" name="Line 441"/>
              <p:cNvSpPr>
                <a:spLocks noChangeShapeType="1"/>
              </p:cNvSpPr>
              <p:nvPr/>
            </p:nvSpPr>
            <p:spPr bwMode="auto">
              <a:xfrm>
                <a:off x="6840977" y="5297128"/>
                <a:ext cx="392472" cy="218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" name="Line 443"/>
              <p:cNvSpPr>
                <a:spLocks noChangeShapeType="1"/>
              </p:cNvSpPr>
              <p:nvPr/>
            </p:nvSpPr>
            <p:spPr bwMode="auto">
              <a:xfrm>
                <a:off x="6480695" y="4056444"/>
                <a:ext cx="0" cy="1068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2" name="Line 444"/>
              <p:cNvSpPr>
                <a:spLocks noChangeShapeType="1"/>
              </p:cNvSpPr>
              <p:nvPr/>
            </p:nvSpPr>
            <p:spPr bwMode="auto">
              <a:xfrm flipV="1">
                <a:off x="7490970" y="3221169"/>
                <a:ext cx="96570" cy="70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3" name="Line 445"/>
              <p:cNvSpPr>
                <a:spLocks noChangeShapeType="1"/>
              </p:cNvSpPr>
              <p:nvPr/>
            </p:nvSpPr>
            <p:spPr bwMode="auto">
              <a:xfrm>
                <a:off x="7357257" y="3361454"/>
                <a:ext cx="0" cy="669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4" name="Line 446"/>
              <p:cNvSpPr>
                <a:spLocks noChangeShapeType="1"/>
              </p:cNvSpPr>
              <p:nvPr/>
            </p:nvSpPr>
            <p:spPr bwMode="auto">
              <a:xfrm flipV="1">
                <a:off x="7490970" y="3277798"/>
                <a:ext cx="205522" cy="2342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5" name="Line 447"/>
              <p:cNvSpPr>
                <a:spLocks noChangeShapeType="1"/>
              </p:cNvSpPr>
              <p:nvPr/>
            </p:nvSpPr>
            <p:spPr bwMode="auto">
              <a:xfrm>
                <a:off x="7775729" y="3276511"/>
                <a:ext cx="0" cy="159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" name="Line 448"/>
              <p:cNvSpPr>
                <a:spLocks noChangeShapeType="1"/>
              </p:cNvSpPr>
              <p:nvPr/>
            </p:nvSpPr>
            <p:spPr bwMode="auto">
              <a:xfrm>
                <a:off x="7505827" y="3524905"/>
                <a:ext cx="1473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" name="Line 449"/>
              <p:cNvSpPr>
                <a:spLocks noChangeShapeType="1"/>
              </p:cNvSpPr>
              <p:nvPr/>
            </p:nvSpPr>
            <p:spPr bwMode="auto">
              <a:xfrm flipV="1">
                <a:off x="6176127" y="4227616"/>
                <a:ext cx="131237" cy="25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8" name="Line 450"/>
              <p:cNvSpPr>
                <a:spLocks noChangeShapeType="1"/>
              </p:cNvSpPr>
              <p:nvPr/>
            </p:nvSpPr>
            <p:spPr bwMode="auto">
              <a:xfrm>
                <a:off x="7937917" y="3517183"/>
                <a:ext cx="13866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" name="Line 451"/>
              <p:cNvSpPr>
                <a:spLocks noChangeShapeType="1"/>
              </p:cNvSpPr>
              <p:nvPr/>
            </p:nvSpPr>
            <p:spPr bwMode="auto">
              <a:xfrm flipH="1">
                <a:off x="7271829" y="3578960"/>
                <a:ext cx="76761" cy="571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" name="Line 452"/>
              <p:cNvSpPr>
                <a:spLocks noChangeShapeType="1"/>
              </p:cNvSpPr>
              <p:nvPr/>
            </p:nvSpPr>
            <p:spPr bwMode="auto">
              <a:xfrm flipH="1">
                <a:off x="7733634" y="3578960"/>
                <a:ext cx="86666" cy="589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1" name="Line 541"/>
              <p:cNvSpPr>
                <a:spLocks noChangeShapeType="1"/>
              </p:cNvSpPr>
              <p:nvPr/>
            </p:nvSpPr>
            <p:spPr bwMode="auto">
              <a:xfrm flipV="1">
                <a:off x="7253258" y="4504326"/>
                <a:ext cx="177045" cy="3539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82" name="Group 590"/>
              <p:cNvGrpSpPr>
                <a:grpSpLocks/>
              </p:cNvGrpSpPr>
              <p:nvPr/>
            </p:nvGrpSpPr>
            <p:grpSpPr bwMode="auto">
              <a:xfrm flipH="1">
                <a:off x="6085747" y="4876273"/>
                <a:ext cx="323139" cy="302449"/>
                <a:chOff x="2839" y="3501"/>
                <a:chExt cx="755" cy="803"/>
              </a:xfrm>
            </p:grpSpPr>
            <p:pic>
              <p:nvPicPr>
                <p:cNvPr id="400" name="Picture 591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1" name="Freeform 592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83" name="Group 593"/>
              <p:cNvGrpSpPr>
                <a:grpSpLocks/>
              </p:cNvGrpSpPr>
              <p:nvPr/>
            </p:nvGrpSpPr>
            <p:grpSpPr bwMode="auto">
              <a:xfrm flipH="1">
                <a:off x="5838131" y="5217333"/>
                <a:ext cx="376377" cy="329476"/>
                <a:chOff x="2839" y="3501"/>
                <a:chExt cx="755" cy="803"/>
              </a:xfrm>
            </p:grpSpPr>
            <p:pic>
              <p:nvPicPr>
                <p:cNvPr id="398" name="Picture 59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99" name="Freeform 595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84" name="Group 596"/>
              <p:cNvGrpSpPr>
                <a:grpSpLocks/>
              </p:cNvGrpSpPr>
              <p:nvPr/>
            </p:nvGrpSpPr>
            <p:grpSpPr bwMode="auto">
              <a:xfrm flipH="1">
                <a:off x="6210794" y="5461866"/>
                <a:ext cx="333044" cy="283144"/>
                <a:chOff x="2839" y="3501"/>
                <a:chExt cx="755" cy="803"/>
              </a:xfrm>
            </p:grpSpPr>
            <p:pic>
              <p:nvPicPr>
                <p:cNvPr id="396" name="Picture 597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97" name="Freeform 598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85" name="Group 599"/>
              <p:cNvGrpSpPr>
                <a:grpSpLocks/>
              </p:cNvGrpSpPr>
              <p:nvPr/>
            </p:nvGrpSpPr>
            <p:grpSpPr bwMode="auto">
              <a:xfrm>
                <a:off x="6689931" y="5447709"/>
                <a:ext cx="333044" cy="284431"/>
                <a:chOff x="2839" y="3501"/>
                <a:chExt cx="755" cy="803"/>
              </a:xfrm>
            </p:grpSpPr>
            <p:pic>
              <p:nvPicPr>
                <p:cNvPr id="394" name="Picture 60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95" name="Freeform 601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pic>
            <p:nvPicPr>
              <p:cNvPr id="86" name="Picture 603" descr="car_icon_small"/>
              <p:cNvPicPr>
                <a:picLocks noChangeAspect="1" noChangeArrowheads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27743" y="2595679"/>
                <a:ext cx="662373" cy="1364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87" name="Group 652"/>
              <p:cNvGrpSpPr>
                <a:grpSpLocks/>
              </p:cNvGrpSpPr>
              <p:nvPr/>
            </p:nvGrpSpPr>
            <p:grpSpPr bwMode="auto">
              <a:xfrm>
                <a:off x="5959463" y="2454107"/>
                <a:ext cx="324377" cy="312746"/>
                <a:chOff x="2751" y="1851"/>
                <a:chExt cx="462" cy="478"/>
              </a:xfrm>
            </p:grpSpPr>
            <p:pic>
              <p:nvPicPr>
                <p:cNvPr id="392" name="Picture 653" descr="iphone_stylized_small"/>
                <p:cNvPicPr>
                  <a:picLocks noChangeAspect="1" noChangeArrowheads="1"/>
                </p:cNvPicPr>
                <p:nvPr/>
              </p:nvPicPr>
              <p:blipFill>
                <a:blip r:embed="rId7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93" name="Picture 654" descr="antenna_radiation_stylized"/>
                <p:cNvPicPr>
                  <a:picLocks noChangeAspect="1" noChangeArrowheads="1"/>
                </p:cNvPicPr>
                <p:nvPr/>
              </p:nvPicPr>
              <p:blipFill>
                <a:blip r:embed="rId8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88" name="Group 665"/>
              <p:cNvGrpSpPr>
                <a:grpSpLocks/>
              </p:cNvGrpSpPr>
              <p:nvPr/>
            </p:nvGrpSpPr>
            <p:grpSpPr bwMode="auto">
              <a:xfrm>
                <a:off x="7578873" y="3142661"/>
                <a:ext cx="304568" cy="137711"/>
                <a:chOff x="4650" y="1129"/>
                <a:chExt cx="246" cy="95"/>
              </a:xfrm>
            </p:grpSpPr>
            <p:sp>
              <p:nvSpPr>
                <p:cNvPr id="384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5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6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87" name="Group 65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90" name="Freeform 66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91" name="Freeform 66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88" name="Line 66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89" name="Line 66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89" name="Group 666"/>
              <p:cNvGrpSpPr>
                <a:grpSpLocks/>
              </p:cNvGrpSpPr>
              <p:nvPr/>
            </p:nvGrpSpPr>
            <p:grpSpPr bwMode="auto">
              <a:xfrm>
                <a:off x="7635825" y="3436101"/>
                <a:ext cx="304568" cy="142859"/>
                <a:chOff x="4650" y="1129"/>
                <a:chExt cx="246" cy="95"/>
              </a:xfrm>
            </p:grpSpPr>
            <p:sp>
              <p:nvSpPr>
                <p:cNvPr id="376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7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8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9" name="Group 670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82" name="Freeform 671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83" name="Freeform 672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80" name="Line 673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81" name="Line 674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90" name="Group 675"/>
              <p:cNvGrpSpPr>
                <a:grpSpLocks/>
              </p:cNvGrpSpPr>
              <p:nvPr/>
            </p:nvGrpSpPr>
            <p:grpSpPr bwMode="auto">
              <a:xfrm>
                <a:off x="7200020" y="3222456"/>
                <a:ext cx="304568" cy="137711"/>
                <a:chOff x="4650" y="1129"/>
                <a:chExt cx="246" cy="95"/>
              </a:xfrm>
            </p:grpSpPr>
            <p:sp>
              <p:nvSpPr>
                <p:cNvPr id="368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0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71" name="Group 67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74" name="Freeform 68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75" name="Freeform 68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72" name="Line 68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73" name="Line 68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91" name="Group 684"/>
              <p:cNvGrpSpPr>
                <a:grpSpLocks/>
              </p:cNvGrpSpPr>
              <p:nvPr/>
            </p:nvGrpSpPr>
            <p:grpSpPr bwMode="auto">
              <a:xfrm>
                <a:off x="7208687" y="3436101"/>
                <a:ext cx="304568" cy="137711"/>
                <a:chOff x="4650" y="1129"/>
                <a:chExt cx="246" cy="95"/>
              </a:xfrm>
            </p:grpSpPr>
            <p:sp>
              <p:nvSpPr>
                <p:cNvPr id="360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1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2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63" name="Group 688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66" name="Freeform 689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67" name="Freeform 690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64" name="Line 691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65" name="Line 692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92" name="Line 693"/>
              <p:cNvSpPr>
                <a:spLocks noChangeShapeType="1"/>
              </p:cNvSpPr>
              <p:nvPr/>
            </p:nvSpPr>
            <p:spPr bwMode="auto">
              <a:xfrm>
                <a:off x="8090201" y="3515896"/>
                <a:ext cx="138665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93" name="Group 694"/>
              <p:cNvGrpSpPr>
                <a:grpSpLocks/>
              </p:cNvGrpSpPr>
              <p:nvPr/>
            </p:nvGrpSpPr>
            <p:grpSpPr bwMode="auto">
              <a:xfrm>
                <a:off x="7353543" y="4371762"/>
                <a:ext cx="378853" cy="164738"/>
                <a:chOff x="4650" y="1129"/>
                <a:chExt cx="246" cy="95"/>
              </a:xfrm>
            </p:grpSpPr>
            <p:sp>
              <p:nvSpPr>
                <p:cNvPr id="35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55" name="Group 698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58" name="Freeform 699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59" name="Freeform 700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56" name="Line 701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57" name="Line 702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94" name="Group 712"/>
              <p:cNvGrpSpPr>
                <a:grpSpLocks/>
              </p:cNvGrpSpPr>
              <p:nvPr/>
            </p:nvGrpSpPr>
            <p:grpSpPr bwMode="auto">
              <a:xfrm>
                <a:off x="7104689" y="4143961"/>
                <a:ext cx="378853" cy="164738"/>
                <a:chOff x="4650" y="1129"/>
                <a:chExt cx="246" cy="95"/>
              </a:xfrm>
            </p:grpSpPr>
            <p:sp>
              <p:nvSpPr>
                <p:cNvPr id="344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5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6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47" name="Group 716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50" name="Freeform 717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51" name="Freeform 718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48" name="Line 719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9" name="Line 720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95" name="Group 721"/>
              <p:cNvGrpSpPr>
                <a:grpSpLocks/>
              </p:cNvGrpSpPr>
              <p:nvPr/>
            </p:nvGrpSpPr>
            <p:grpSpPr bwMode="auto">
              <a:xfrm>
                <a:off x="7620968" y="4154257"/>
                <a:ext cx="378853" cy="164738"/>
                <a:chOff x="4650" y="1129"/>
                <a:chExt cx="246" cy="95"/>
              </a:xfrm>
            </p:grpSpPr>
            <p:sp>
              <p:nvSpPr>
                <p:cNvPr id="336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8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39" name="Group 725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42" name="Freeform 726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43" name="Freeform 727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40" name="Line 728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1" name="Line 729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96" name="Group 730"/>
              <p:cNvGrpSpPr>
                <a:grpSpLocks/>
              </p:cNvGrpSpPr>
              <p:nvPr/>
            </p:nvGrpSpPr>
            <p:grpSpPr bwMode="auto">
              <a:xfrm>
                <a:off x="7011832" y="4853107"/>
                <a:ext cx="482852" cy="196914"/>
                <a:chOff x="4650" y="1129"/>
                <a:chExt cx="246" cy="95"/>
              </a:xfrm>
            </p:grpSpPr>
            <p:sp>
              <p:nvSpPr>
                <p:cNvPr id="328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0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31" name="Group 734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34" name="Freeform 735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35" name="Freeform 736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32" name="Line 737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33" name="Line 738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97" name="Group 739"/>
              <p:cNvGrpSpPr>
                <a:grpSpLocks/>
              </p:cNvGrpSpPr>
              <p:nvPr/>
            </p:nvGrpSpPr>
            <p:grpSpPr bwMode="auto">
              <a:xfrm>
                <a:off x="7505827" y="5095066"/>
                <a:ext cx="482852" cy="196914"/>
                <a:chOff x="4650" y="1129"/>
                <a:chExt cx="246" cy="95"/>
              </a:xfrm>
            </p:grpSpPr>
            <p:sp>
              <p:nvSpPr>
                <p:cNvPr id="320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1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2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23" name="Group 743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26" name="Freeform 744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27" name="Freeform 745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24" name="Line 746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25" name="Line 747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98" name="Group 748"/>
              <p:cNvGrpSpPr>
                <a:grpSpLocks/>
              </p:cNvGrpSpPr>
              <p:nvPr/>
            </p:nvGrpSpPr>
            <p:grpSpPr bwMode="auto">
              <a:xfrm>
                <a:off x="6453458" y="5131103"/>
                <a:ext cx="482852" cy="196914"/>
                <a:chOff x="4650" y="1129"/>
                <a:chExt cx="246" cy="95"/>
              </a:xfrm>
            </p:grpSpPr>
            <p:sp>
              <p:nvSpPr>
                <p:cNvPr id="31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15" name="Group 752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18" name="Freeform 753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19" name="Freeform 754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16" name="Line 755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17" name="Line 756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99" name="Group 757"/>
              <p:cNvGrpSpPr>
                <a:grpSpLocks/>
              </p:cNvGrpSpPr>
              <p:nvPr/>
            </p:nvGrpSpPr>
            <p:grpSpPr bwMode="auto">
              <a:xfrm>
                <a:off x="6302412" y="4151683"/>
                <a:ext cx="304568" cy="137711"/>
                <a:chOff x="4650" y="1129"/>
                <a:chExt cx="246" cy="95"/>
              </a:xfrm>
            </p:grpSpPr>
            <p:sp>
              <p:nvSpPr>
                <p:cNvPr id="304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5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6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07" name="Group 761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10" name="Freeform 762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11" name="Freeform 763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08" name="Line 764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09" name="Line 765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00" name="Group 767"/>
              <p:cNvGrpSpPr>
                <a:grpSpLocks/>
              </p:cNvGrpSpPr>
              <p:nvPr/>
            </p:nvGrpSpPr>
            <p:grpSpPr bwMode="auto">
              <a:xfrm>
                <a:off x="6536409" y="3217308"/>
                <a:ext cx="304568" cy="137711"/>
                <a:chOff x="4650" y="1129"/>
                <a:chExt cx="246" cy="95"/>
              </a:xfrm>
            </p:grpSpPr>
            <p:sp>
              <p:nvSpPr>
                <p:cNvPr id="296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7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8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99" name="Group 771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02" name="Freeform 772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03" name="Freeform 773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00" name="Line 774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01" name="Line 775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01" name="Group 776"/>
              <p:cNvGrpSpPr>
                <a:grpSpLocks/>
              </p:cNvGrpSpPr>
              <p:nvPr/>
            </p:nvGrpSpPr>
            <p:grpSpPr bwMode="auto">
              <a:xfrm>
                <a:off x="5958225" y="4038425"/>
                <a:ext cx="394948" cy="285718"/>
                <a:chOff x="2967" y="478"/>
                <a:chExt cx="788" cy="625"/>
              </a:xfrm>
            </p:grpSpPr>
            <p:pic>
              <p:nvPicPr>
                <p:cNvPr id="294" name="Picture 777" descr="access_point_stylized_small"/>
                <p:cNvPicPr>
                  <a:picLocks noChangeAspect="1" noChangeArrowheads="1"/>
                </p:cNvPicPr>
                <p:nvPr/>
              </p:nvPicPr>
              <p:blipFill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12" y="559"/>
                  <a:ext cx="576" cy="5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5" name="Picture 778" descr="antenna_radiation_stylized"/>
                <p:cNvPicPr>
                  <a:picLocks noChangeAspect="1" noChangeArrowheads="1"/>
                </p:cNvPicPr>
                <p:nvPr/>
              </p:nvPicPr>
              <p:blipFill>
                <a:blip r:embed="rId10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7" y="478"/>
                  <a:ext cx="788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02" name="Group 779"/>
              <p:cNvGrpSpPr>
                <a:grpSpLocks/>
              </p:cNvGrpSpPr>
              <p:nvPr/>
            </p:nvGrpSpPr>
            <p:grpSpPr bwMode="auto">
              <a:xfrm>
                <a:off x="7144307" y="5257230"/>
                <a:ext cx="439519" cy="341060"/>
                <a:chOff x="2967" y="478"/>
                <a:chExt cx="788" cy="625"/>
              </a:xfrm>
            </p:grpSpPr>
            <p:pic>
              <p:nvPicPr>
                <p:cNvPr id="292" name="Picture 780" descr="access_point_stylized_small"/>
                <p:cNvPicPr>
                  <a:picLocks noChangeAspect="1" noChangeArrowheads="1"/>
                </p:cNvPicPr>
                <p:nvPr/>
              </p:nvPicPr>
              <p:blipFill>
                <a:blip r:embed="rId1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12" y="559"/>
                  <a:ext cx="576" cy="5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3" name="Picture 781" descr="antenna_radiation_stylized"/>
                <p:cNvPicPr>
                  <a:picLocks noChangeAspect="1" noChangeArrowheads="1"/>
                </p:cNvPicPr>
                <p:nvPr/>
              </p:nvPicPr>
              <p:blipFill>
                <a:blip r:embed="rId1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7" y="478"/>
                  <a:ext cx="788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03" name="Group 782"/>
              <p:cNvGrpSpPr>
                <a:grpSpLocks/>
              </p:cNvGrpSpPr>
              <p:nvPr/>
            </p:nvGrpSpPr>
            <p:grpSpPr bwMode="auto">
              <a:xfrm>
                <a:off x="6308602" y="2696066"/>
                <a:ext cx="356567" cy="512233"/>
                <a:chOff x="742" y="2409"/>
                <a:chExt cx="576" cy="881"/>
              </a:xfrm>
            </p:grpSpPr>
            <p:grpSp>
              <p:nvGrpSpPr>
                <p:cNvPr id="274" name="Group 783"/>
                <p:cNvGrpSpPr>
                  <a:grpSpLocks/>
                </p:cNvGrpSpPr>
                <p:nvPr/>
              </p:nvGrpSpPr>
              <p:grpSpPr bwMode="auto"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sp>
                <p:nvSpPr>
                  <p:cNvPr id="277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30" y="3288"/>
                    <a:ext cx="205" cy="6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78" name="Line 271"/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288"/>
                    <a:ext cx="205" cy="6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79" name="Line 272"/>
                  <p:cNvSpPr>
                    <a:spLocks noChangeShapeType="1"/>
                  </p:cNvSpPr>
                  <p:nvPr/>
                </p:nvSpPr>
                <p:spPr bwMode="auto">
                  <a:xfrm>
                    <a:off x="3130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0" name="Line 2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35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1" name="Line 274"/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303"/>
                    <a:ext cx="0" cy="7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2" name="Line 2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30" y="3888"/>
                    <a:ext cx="205" cy="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3" name="Line 27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35" y="3888"/>
                    <a:ext cx="205" cy="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4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3217" y="3668"/>
                    <a:ext cx="118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5" name="Line 27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668"/>
                    <a:ext cx="124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6" name="Line 279"/>
                  <p:cNvSpPr>
                    <a:spLocks noChangeShapeType="1"/>
                  </p:cNvSpPr>
                  <p:nvPr/>
                </p:nvSpPr>
                <p:spPr bwMode="auto">
                  <a:xfrm>
                    <a:off x="3178" y="3766"/>
                    <a:ext cx="152" cy="7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7" name="Line 28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781"/>
                    <a:ext cx="153" cy="6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8" name="Line 28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567"/>
                    <a:ext cx="78" cy="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89" name="Line 28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428"/>
                    <a:ext cx="49" cy="2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90" name="Line 283"/>
                  <p:cNvSpPr>
                    <a:spLocks noChangeShapeType="1"/>
                  </p:cNvSpPr>
                  <p:nvPr/>
                </p:nvSpPr>
                <p:spPr bwMode="auto">
                  <a:xfrm>
                    <a:off x="3247" y="3558"/>
                    <a:ext cx="9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91" name="Line 284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3422"/>
                    <a:ext cx="5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  <p:pic>
              <p:nvPicPr>
                <p:cNvPr id="275" name="Picture 799" descr="cell_tower_radiation copy"/>
                <p:cNvPicPr>
                  <a:picLocks noChangeAspect="1" noChangeArrowheads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2" y="2409"/>
                  <a:ext cx="576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6" name="Oval 800"/>
                <p:cNvSpPr>
                  <a:spLocks noChangeArrowheads="1"/>
                </p:cNvSpPr>
                <p:nvPr/>
              </p:nvSpPr>
              <p:spPr bwMode="auto">
                <a:xfrm>
                  <a:off x="986" y="2597"/>
                  <a:ext cx="66" cy="69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4" name="Text Box 580"/>
              <p:cNvSpPr txBox="1">
                <a:spLocks noChangeArrowheads="1"/>
              </p:cNvSpPr>
              <p:nvPr/>
            </p:nvSpPr>
            <p:spPr bwMode="auto">
              <a:xfrm>
                <a:off x="6228127" y="2322831"/>
                <a:ext cx="159691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 dirty="0">
                    <a:latin typeface="+mn-lt"/>
                  </a:rPr>
                  <a:t>Mobile Network</a:t>
                </a:r>
              </a:p>
            </p:txBody>
          </p:sp>
          <p:sp>
            <p:nvSpPr>
              <p:cNvPr id="105" name="Text Box 580"/>
              <p:cNvSpPr txBox="1">
                <a:spLocks noChangeArrowheads="1"/>
              </p:cNvSpPr>
              <p:nvPr/>
            </p:nvSpPr>
            <p:spPr bwMode="auto">
              <a:xfrm>
                <a:off x="7950088" y="2657599"/>
                <a:ext cx="116410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 dirty="0">
                    <a:latin typeface="+mn-lt"/>
                  </a:rPr>
                  <a:t>Global ISP</a:t>
                </a:r>
              </a:p>
            </p:txBody>
          </p:sp>
          <p:sp>
            <p:nvSpPr>
              <p:cNvPr id="106" name="Text Box 580"/>
              <p:cNvSpPr txBox="1">
                <a:spLocks noChangeArrowheads="1"/>
              </p:cNvSpPr>
              <p:nvPr/>
            </p:nvSpPr>
            <p:spPr bwMode="auto">
              <a:xfrm>
                <a:off x="7938331" y="3820107"/>
                <a:ext cx="137890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 dirty="0">
                    <a:latin typeface="+mn-lt"/>
                  </a:rPr>
                  <a:t>Regional ISP</a:t>
                </a:r>
              </a:p>
            </p:txBody>
          </p:sp>
          <p:sp>
            <p:nvSpPr>
              <p:cNvPr id="107" name="Text Box 580"/>
              <p:cNvSpPr txBox="1">
                <a:spLocks noChangeArrowheads="1"/>
              </p:cNvSpPr>
              <p:nvPr/>
            </p:nvSpPr>
            <p:spPr bwMode="auto">
              <a:xfrm>
                <a:off x="4951203" y="3419740"/>
                <a:ext cx="936475" cy="486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600" dirty="0">
                    <a:latin typeface="+mn-lt"/>
                  </a:rPr>
                  <a:t>Home 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1600" dirty="0">
                    <a:latin typeface="+mn-lt"/>
                  </a:rPr>
                  <a:t>Network</a:t>
                </a:r>
              </a:p>
            </p:txBody>
          </p:sp>
          <p:sp>
            <p:nvSpPr>
              <p:cNvPr id="108" name="Text Box 580"/>
              <p:cNvSpPr txBox="1">
                <a:spLocks noChangeArrowheads="1"/>
              </p:cNvSpPr>
              <p:nvPr/>
            </p:nvSpPr>
            <p:spPr bwMode="auto">
              <a:xfrm>
                <a:off x="5791200" y="5990713"/>
                <a:ext cx="1340432" cy="486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600" dirty="0">
                    <a:latin typeface="+mn-lt"/>
                  </a:rPr>
                  <a:t>Institutional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1600" dirty="0">
                    <a:latin typeface="+mn-lt"/>
                  </a:rPr>
                  <a:t>       Network</a:t>
                </a:r>
              </a:p>
            </p:txBody>
          </p:sp>
          <p:grpSp>
            <p:nvGrpSpPr>
              <p:cNvPr id="109" name="Group 950"/>
              <p:cNvGrpSpPr>
                <a:grpSpLocks/>
              </p:cNvGrpSpPr>
              <p:nvPr/>
            </p:nvGrpSpPr>
            <p:grpSpPr bwMode="auto">
              <a:xfrm>
                <a:off x="8008488" y="5255944"/>
                <a:ext cx="177045" cy="389967"/>
                <a:chOff x="4140" y="429"/>
                <a:chExt cx="1425" cy="2396"/>
              </a:xfrm>
            </p:grpSpPr>
            <p:sp>
              <p:nvSpPr>
                <p:cNvPr id="242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43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4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45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46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47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72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73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48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49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70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71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50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1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52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68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9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53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254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66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7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55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7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39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8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9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0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1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2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3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64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5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0" name="Group 983"/>
              <p:cNvGrpSpPr>
                <a:grpSpLocks/>
              </p:cNvGrpSpPr>
              <p:nvPr/>
            </p:nvGrpSpPr>
            <p:grpSpPr bwMode="auto">
              <a:xfrm>
                <a:off x="7762109" y="5500477"/>
                <a:ext cx="177045" cy="389967"/>
                <a:chOff x="4140" y="429"/>
                <a:chExt cx="1425" cy="2396"/>
              </a:xfrm>
            </p:grpSpPr>
            <p:sp>
              <p:nvSpPr>
                <p:cNvPr id="210" name="Freeform 984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1" name="Rectangle 985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2" name="Freeform 986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3" name="Freeform 987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4" name="Rectangle 988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15" name="Group 989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40" name="AutoShape 99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1" name="AutoShape 99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6" name="Rectangle 992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17" name="Group 993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38" name="AutoShape 994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39" name="AutoShape 995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8" name="Rectangle 996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9" name="Rectangle 997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20" name="Group 998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36" name="AutoShape 999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37" name="AutoShape 1000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21" name="Freeform 1001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222" name="Group 1002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34" name="AutoShape 1003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35" name="AutoShape 1004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23" name="Rectangle 1005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4" name="Freeform 1006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25" name="Freeform 1007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39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26" name="Oval 1008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7" name="Freeform 1009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28" name="AutoShape 1010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9" name="AutoShape 1011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" name="Oval 1012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1" name="Oval 1013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32" name="Oval 1014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3" name="Rectangle 1015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1" name="Group 1016"/>
              <p:cNvGrpSpPr>
                <a:grpSpLocks/>
              </p:cNvGrpSpPr>
              <p:nvPr/>
            </p:nvGrpSpPr>
            <p:grpSpPr bwMode="auto">
              <a:xfrm>
                <a:off x="5716799" y="2856944"/>
                <a:ext cx="417233" cy="330764"/>
                <a:chOff x="877" y="1008"/>
                <a:chExt cx="2747" cy="2591"/>
              </a:xfrm>
            </p:grpSpPr>
            <p:pic>
              <p:nvPicPr>
                <p:cNvPr id="187" name="Picture 1017" descr="antenna_stylized"/>
                <p:cNvPicPr>
                  <a:picLocks noChangeAspect="1" noChangeArrowheads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88" name="Picture 1018" descr="laptop_keyboard"/>
                <p:cNvPicPr>
                  <a:picLocks noChangeAspect="1" noChangeArrowheads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9" name="Freeform 1019"/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2 w 2982"/>
                    <a:gd name="T1" fmla="*/ 0 h 2442"/>
                    <a:gd name="T2" fmla="*/ 0 w 2982"/>
                    <a:gd name="T3" fmla="*/ 2 h 2442"/>
                    <a:gd name="T4" fmla="*/ 10 w 2982"/>
                    <a:gd name="T5" fmla="*/ 3 h 2442"/>
                    <a:gd name="T6" fmla="*/ 12 w 2982"/>
                    <a:gd name="T7" fmla="*/ 1 h 2442"/>
                    <a:gd name="T8" fmla="*/ 2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90" name="Picture 1020" descr="screen"/>
                <p:cNvPicPr>
                  <a:picLocks noChangeAspect="1" noChangeArrowheads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1" name="Freeform 1021"/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10 w 2528"/>
                    <a:gd name="T3" fmla="*/ 1 h 455"/>
                    <a:gd name="T4" fmla="*/ 10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92" name="Freeform 1022"/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2 w 702"/>
                    <a:gd name="T1" fmla="*/ 0 h 1893"/>
                    <a:gd name="T2" fmla="*/ 0 w 702"/>
                    <a:gd name="T3" fmla="*/ 2 h 1893"/>
                    <a:gd name="T4" fmla="*/ 1 w 702"/>
                    <a:gd name="T5" fmla="*/ 2 h 1893"/>
                    <a:gd name="T6" fmla="*/ 3 w 702"/>
                    <a:gd name="T7" fmla="*/ 1 h 1893"/>
                    <a:gd name="T8" fmla="*/ 2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93" name="Freeform 1023"/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3 w 756"/>
                    <a:gd name="T1" fmla="*/ 0 h 2184"/>
                    <a:gd name="T2" fmla="*/ 1 w 756"/>
                    <a:gd name="T3" fmla="*/ 3 h 2184"/>
                    <a:gd name="T4" fmla="*/ 0 w 756"/>
                    <a:gd name="T5" fmla="*/ 3 h 2184"/>
                    <a:gd name="T6" fmla="*/ 2 w 756"/>
                    <a:gd name="T7" fmla="*/ 1 h 2184"/>
                    <a:gd name="T8" fmla="*/ 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94" name="Freeform 1024"/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10 w 2773"/>
                    <a:gd name="T5" fmla="*/ 1 h 738"/>
                    <a:gd name="T6" fmla="*/ 10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95" name="Freeform 1025"/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8 w 637"/>
                    <a:gd name="T1" fmla="*/ 0 h 1659"/>
                    <a:gd name="T2" fmla="*/ 8 w 637"/>
                    <a:gd name="T3" fmla="*/ 0 h 1659"/>
                    <a:gd name="T4" fmla="*/ 1 w 637"/>
                    <a:gd name="T5" fmla="*/ 42 h 1659"/>
                    <a:gd name="T6" fmla="*/ 0 w 637"/>
                    <a:gd name="T7" fmla="*/ 41 h 1659"/>
                    <a:gd name="T8" fmla="*/ 8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96" name="Freeform 1026"/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28 w 2216"/>
                    <a:gd name="T5" fmla="*/ 14 h 550"/>
                    <a:gd name="T6" fmla="*/ 28 w 2216"/>
                    <a:gd name="T7" fmla="*/ 1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97" name="Group 1027"/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204" name="Freeform 1028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" name="Freeform 1029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6" name="Freeform 1030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7" name="Freeform 1031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8" name="Freeform 1032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9" name="Freeform 1033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98" name="Freeform 1034"/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6 h 792"/>
                    <a:gd name="T2" fmla="*/ 6 w 990"/>
                    <a:gd name="T3" fmla="*/ 0 h 792"/>
                    <a:gd name="T4" fmla="*/ 6 w 990"/>
                    <a:gd name="T5" fmla="*/ 1 h 792"/>
                    <a:gd name="T6" fmla="*/ 0 w 990"/>
                    <a:gd name="T7" fmla="*/ 6 h 792"/>
                    <a:gd name="T8" fmla="*/ 1 w 990"/>
                    <a:gd name="T9" fmla="*/ 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99" name="Freeform 1035"/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4 w 2532"/>
                    <a:gd name="T5" fmla="*/ 6 h 723"/>
                    <a:gd name="T6" fmla="*/ 14 w 2532"/>
                    <a:gd name="T7" fmla="*/ 6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0" name="Freeform 1036"/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1" name="Freeform 1037"/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6 w 1176"/>
                    <a:gd name="T1" fmla="*/ 0 h 606"/>
                    <a:gd name="T2" fmla="*/ 0 w 1176"/>
                    <a:gd name="T3" fmla="*/ 5 h 606"/>
                    <a:gd name="T4" fmla="*/ 1 w 1176"/>
                    <a:gd name="T5" fmla="*/ 5 h 606"/>
                    <a:gd name="T6" fmla="*/ 6 w 1176"/>
                    <a:gd name="T7" fmla="*/ 1 h 606"/>
                    <a:gd name="T8" fmla="*/ 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2" name="Freeform 1038"/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7 w 2532"/>
                    <a:gd name="T5" fmla="*/ 4 h 723"/>
                    <a:gd name="T6" fmla="*/ 7 w 2532"/>
                    <a:gd name="T7" fmla="*/ 4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3" name="Freeform 1039"/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6 h 723"/>
                    <a:gd name="T6" fmla="*/ 0 w 2532"/>
                    <a:gd name="T7" fmla="*/ 6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12" name="Group 1064"/>
              <p:cNvGrpSpPr>
                <a:grpSpLocks/>
              </p:cNvGrpSpPr>
              <p:nvPr/>
            </p:nvGrpSpPr>
            <p:grpSpPr bwMode="auto">
              <a:xfrm>
                <a:off x="6941262" y="5648483"/>
                <a:ext cx="370186" cy="330764"/>
                <a:chOff x="877" y="1008"/>
                <a:chExt cx="2747" cy="2591"/>
              </a:xfrm>
            </p:grpSpPr>
            <p:pic>
              <p:nvPicPr>
                <p:cNvPr id="164" name="Picture 1065" descr="antenna_stylized"/>
                <p:cNvPicPr>
                  <a:picLocks noChangeAspect="1" noChangeArrowheads="1"/>
                </p:cNvPicPr>
                <p:nvPr/>
              </p:nvPicPr>
              <p:blipFill>
                <a:blip r:embed="rId17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65" name="Picture 1066" descr="laptop_keyboard"/>
                <p:cNvPicPr>
                  <a:picLocks noChangeAspect="1" noChangeArrowheads="1"/>
                </p:cNvPicPr>
                <p:nvPr/>
              </p:nvPicPr>
              <p:blipFill>
                <a:blip r:embed="rId18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" name="Freeform 1067"/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2 w 2982"/>
                    <a:gd name="T1" fmla="*/ 0 h 2442"/>
                    <a:gd name="T2" fmla="*/ 0 w 2982"/>
                    <a:gd name="T3" fmla="*/ 2 h 2442"/>
                    <a:gd name="T4" fmla="*/ 10 w 2982"/>
                    <a:gd name="T5" fmla="*/ 3 h 2442"/>
                    <a:gd name="T6" fmla="*/ 12 w 2982"/>
                    <a:gd name="T7" fmla="*/ 1 h 2442"/>
                    <a:gd name="T8" fmla="*/ 2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67" name="Picture 1068" descr="screen"/>
                <p:cNvPicPr>
                  <a:picLocks noChangeAspect="1" noChangeArrowheads="1"/>
                </p:cNvPicPr>
                <p:nvPr/>
              </p:nvPicPr>
              <p:blipFill>
                <a:blip r:embed="rId1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8" name="Freeform 1069"/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10 w 2528"/>
                    <a:gd name="T3" fmla="*/ 1 h 455"/>
                    <a:gd name="T4" fmla="*/ 10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9" name="Freeform 1070"/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2 w 702"/>
                    <a:gd name="T1" fmla="*/ 0 h 1893"/>
                    <a:gd name="T2" fmla="*/ 0 w 702"/>
                    <a:gd name="T3" fmla="*/ 2 h 1893"/>
                    <a:gd name="T4" fmla="*/ 1 w 702"/>
                    <a:gd name="T5" fmla="*/ 2 h 1893"/>
                    <a:gd name="T6" fmla="*/ 3 w 702"/>
                    <a:gd name="T7" fmla="*/ 1 h 1893"/>
                    <a:gd name="T8" fmla="*/ 2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0" name="Freeform 1071"/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3 w 756"/>
                    <a:gd name="T1" fmla="*/ 0 h 2184"/>
                    <a:gd name="T2" fmla="*/ 1 w 756"/>
                    <a:gd name="T3" fmla="*/ 3 h 2184"/>
                    <a:gd name="T4" fmla="*/ 0 w 756"/>
                    <a:gd name="T5" fmla="*/ 3 h 2184"/>
                    <a:gd name="T6" fmla="*/ 2 w 756"/>
                    <a:gd name="T7" fmla="*/ 1 h 2184"/>
                    <a:gd name="T8" fmla="*/ 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1" name="Freeform 1072"/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10 w 2773"/>
                    <a:gd name="T5" fmla="*/ 1 h 738"/>
                    <a:gd name="T6" fmla="*/ 10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2" name="Freeform 1073"/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8 w 637"/>
                    <a:gd name="T1" fmla="*/ 0 h 1659"/>
                    <a:gd name="T2" fmla="*/ 8 w 637"/>
                    <a:gd name="T3" fmla="*/ 0 h 1659"/>
                    <a:gd name="T4" fmla="*/ 1 w 637"/>
                    <a:gd name="T5" fmla="*/ 42 h 1659"/>
                    <a:gd name="T6" fmla="*/ 0 w 637"/>
                    <a:gd name="T7" fmla="*/ 41 h 1659"/>
                    <a:gd name="T8" fmla="*/ 8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3" name="Freeform 1074"/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28 w 2216"/>
                    <a:gd name="T5" fmla="*/ 14 h 550"/>
                    <a:gd name="T6" fmla="*/ 28 w 2216"/>
                    <a:gd name="T7" fmla="*/ 1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74" name="Group 1075"/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81" name="Freeform 1076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82" name="Freeform 1077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83" name="Freeform 1078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84" name="Freeform 1079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85" name="Freeform 1080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86" name="Freeform 1081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75" name="Freeform 1082"/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6 h 792"/>
                    <a:gd name="T2" fmla="*/ 6 w 990"/>
                    <a:gd name="T3" fmla="*/ 0 h 792"/>
                    <a:gd name="T4" fmla="*/ 6 w 990"/>
                    <a:gd name="T5" fmla="*/ 1 h 792"/>
                    <a:gd name="T6" fmla="*/ 0 w 990"/>
                    <a:gd name="T7" fmla="*/ 6 h 792"/>
                    <a:gd name="T8" fmla="*/ 1 w 990"/>
                    <a:gd name="T9" fmla="*/ 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6" name="Freeform 1083"/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4 w 2532"/>
                    <a:gd name="T5" fmla="*/ 6 h 723"/>
                    <a:gd name="T6" fmla="*/ 14 w 2532"/>
                    <a:gd name="T7" fmla="*/ 6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7" name="Freeform 1084"/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8" name="Freeform 1085"/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6 w 1176"/>
                    <a:gd name="T1" fmla="*/ 0 h 606"/>
                    <a:gd name="T2" fmla="*/ 0 w 1176"/>
                    <a:gd name="T3" fmla="*/ 5 h 606"/>
                    <a:gd name="T4" fmla="*/ 1 w 1176"/>
                    <a:gd name="T5" fmla="*/ 5 h 606"/>
                    <a:gd name="T6" fmla="*/ 6 w 1176"/>
                    <a:gd name="T7" fmla="*/ 1 h 606"/>
                    <a:gd name="T8" fmla="*/ 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9" name="Freeform 1086"/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7 w 2532"/>
                    <a:gd name="T5" fmla="*/ 4 h 723"/>
                    <a:gd name="T6" fmla="*/ 7 w 2532"/>
                    <a:gd name="T7" fmla="*/ 4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0" name="Freeform 1087"/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6 h 723"/>
                    <a:gd name="T6" fmla="*/ 0 w 2532"/>
                    <a:gd name="T7" fmla="*/ 6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13" name="Group 1114"/>
              <p:cNvGrpSpPr>
                <a:grpSpLocks/>
              </p:cNvGrpSpPr>
              <p:nvPr/>
            </p:nvGrpSpPr>
            <p:grpSpPr bwMode="auto">
              <a:xfrm>
                <a:off x="5918606" y="3666477"/>
                <a:ext cx="346663" cy="330764"/>
                <a:chOff x="877" y="1008"/>
                <a:chExt cx="2747" cy="2591"/>
              </a:xfrm>
            </p:grpSpPr>
            <p:pic>
              <p:nvPicPr>
                <p:cNvPr id="141" name="Picture 1115" descr="antenna_stylized"/>
                <p:cNvPicPr>
                  <a:picLocks noChangeAspect="1" noChangeArrowheads="1"/>
                </p:cNvPicPr>
                <p:nvPr/>
              </p:nvPicPr>
              <p:blipFill>
                <a:blip r:embed="rId20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2" name="Picture 1116" descr="laptop_keyboard"/>
                <p:cNvPicPr>
                  <a:picLocks noChangeAspect="1" noChangeArrowheads="1"/>
                </p:cNvPicPr>
                <p:nvPr/>
              </p:nvPicPr>
              <p:blipFill>
                <a:blip r:embed="rId2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3" name="Freeform 1117"/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2 w 2982"/>
                    <a:gd name="T1" fmla="*/ 0 h 2442"/>
                    <a:gd name="T2" fmla="*/ 0 w 2982"/>
                    <a:gd name="T3" fmla="*/ 2 h 2442"/>
                    <a:gd name="T4" fmla="*/ 10 w 2982"/>
                    <a:gd name="T5" fmla="*/ 3 h 2442"/>
                    <a:gd name="T6" fmla="*/ 12 w 2982"/>
                    <a:gd name="T7" fmla="*/ 1 h 2442"/>
                    <a:gd name="T8" fmla="*/ 2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44" name="Picture 1118" descr="screen"/>
                <p:cNvPicPr>
                  <a:picLocks noChangeAspect="1" noChangeArrowheads="1"/>
                </p:cNvPicPr>
                <p:nvPr/>
              </p:nvPicPr>
              <p:blipFill>
                <a:blip r:embed="rId2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5" name="Freeform 1119"/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10 w 2528"/>
                    <a:gd name="T3" fmla="*/ 1 h 455"/>
                    <a:gd name="T4" fmla="*/ 10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46" name="Freeform 1120"/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2 w 702"/>
                    <a:gd name="T1" fmla="*/ 0 h 1893"/>
                    <a:gd name="T2" fmla="*/ 0 w 702"/>
                    <a:gd name="T3" fmla="*/ 2 h 1893"/>
                    <a:gd name="T4" fmla="*/ 1 w 702"/>
                    <a:gd name="T5" fmla="*/ 2 h 1893"/>
                    <a:gd name="T6" fmla="*/ 3 w 702"/>
                    <a:gd name="T7" fmla="*/ 1 h 1893"/>
                    <a:gd name="T8" fmla="*/ 2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47" name="Freeform 1121"/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3 w 756"/>
                    <a:gd name="T1" fmla="*/ 0 h 2184"/>
                    <a:gd name="T2" fmla="*/ 1 w 756"/>
                    <a:gd name="T3" fmla="*/ 3 h 2184"/>
                    <a:gd name="T4" fmla="*/ 0 w 756"/>
                    <a:gd name="T5" fmla="*/ 3 h 2184"/>
                    <a:gd name="T6" fmla="*/ 2 w 756"/>
                    <a:gd name="T7" fmla="*/ 1 h 2184"/>
                    <a:gd name="T8" fmla="*/ 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48" name="Freeform 1122"/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10 w 2773"/>
                    <a:gd name="T5" fmla="*/ 1 h 738"/>
                    <a:gd name="T6" fmla="*/ 10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49" name="Freeform 1123"/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8 w 637"/>
                    <a:gd name="T1" fmla="*/ 0 h 1659"/>
                    <a:gd name="T2" fmla="*/ 8 w 637"/>
                    <a:gd name="T3" fmla="*/ 0 h 1659"/>
                    <a:gd name="T4" fmla="*/ 1 w 637"/>
                    <a:gd name="T5" fmla="*/ 42 h 1659"/>
                    <a:gd name="T6" fmla="*/ 0 w 637"/>
                    <a:gd name="T7" fmla="*/ 41 h 1659"/>
                    <a:gd name="T8" fmla="*/ 8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0" name="Freeform 1124"/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28 w 2216"/>
                    <a:gd name="T5" fmla="*/ 14 h 550"/>
                    <a:gd name="T6" fmla="*/ 28 w 2216"/>
                    <a:gd name="T7" fmla="*/ 1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51" name="Group 1125"/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58" name="Freeform 1126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59" name="Freeform 1127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0" name="Freeform 1128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1" name="Freeform 1129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2" name="Freeform 1130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3" name="Freeform 1131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2" name="Freeform 1132"/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6 h 792"/>
                    <a:gd name="T2" fmla="*/ 6 w 990"/>
                    <a:gd name="T3" fmla="*/ 0 h 792"/>
                    <a:gd name="T4" fmla="*/ 6 w 990"/>
                    <a:gd name="T5" fmla="*/ 1 h 792"/>
                    <a:gd name="T6" fmla="*/ 0 w 990"/>
                    <a:gd name="T7" fmla="*/ 6 h 792"/>
                    <a:gd name="T8" fmla="*/ 1 w 990"/>
                    <a:gd name="T9" fmla="*/ 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3" name="Freeform 1133"/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4 w 2532"/>
                    <a:gd name="T5" fmla="*/ 6 h 723"/>
                    <a:gd name="T6" fmla="*/ 14 w 2532"/>
                    <a:gd name="T7" fmla="*/ 6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4" name="Freeform 1134"/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5" name="Freeform 1135"/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6 w 1176"/>
                    <a:gd name="T1" fmla="*/ 0 h 606"/>
                    <a:gd name="T2" fmla="*/ 0 w 1176"/>
                    <a:gd name="T3" fmla="*/ 5 h 606"/>
                    <a:gd name="T4" fmla="*/ 1 w 1176"/>
                    <a:gd name="T5" fmla="*/ 5 h 606"/>
                    <a:gd name="T6" fmla="*/ 6 w 1176"/>
                    <a:gd name="T7" fmla="*/ 1 h 606"/>
                    <a:gd name="T8" fmla="*/ 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6" name="Freeform 1136"/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7 w 2532"/>
                    <a:gd name="T5" fmla="*/ 4 h 723"/>
                    <a:gd name="T6" fmla="*/ 7 w 2532"/>
                    <a:gd name="T7" fmla="*/ 4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7" name="Freeform 1137"/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6 h 723"/>
                    <a:gd name="T6" fmla="*/ 0 w 2532"/>
                    <a:gd name="T7" fmla="*/ 6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114" name="Group 1139"/>
              <p:cNvGrpSpPr>
                <a:grpSpLocks/>
              </p:cNvGrpSpPr>
              <p:nvPr/>
            </p:nvGrpSpPr>
            <p:grpSpPr bwMode="auto">
              <a:xfrm flipH="1">
                <a:off x="6214508" y="3813197"/>
                <a:ext cx="323139" cy="302449"/>
                <a:chOff x="2839" y="3501"/>
                <a:chExt cx="755" cy="803"/>
              </a:xfrm>
            </p:grpSpPr>
            <p:pic>
              <p:nvPicPr>
                <p:cNvPr id="139" name="Picture 114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" name="Freeform 1141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115" name="Group 1142"/>
              <p:cNvGrpSpPr>
                <a:grpSpLocks/>
              </p:cNvGrpSpPr>
              <p:nvPr/>
            </p:nvGrpSpPr>
            <p:grpSpPr bwMode="auto">
              <a:xfrm>
                <a:off x="7280496" y="5597003"/>
                <a:ext cx="370186" cy="330764"/>
                <a:chOff x="877" y="1008"/>
                <a:chExt cx="2747" cy="2591"/>
              </a:xfrm>
            </p:grpSpPr>
            <p:pic>
              <p:nvPicPr>
                <p:cNvPr id="116" name="Picture 1143" descr="antenna_stylized"/>
                <p:cNvPicPr>
                  <a:picLocks noChangeAspect="1" noChangeArrowheads="1"/>
                </p:cNvPicPr>
                <p:nvPr/>
              </p:nvPicPr>
              <p:blipFill>
                <a:blip r:embed="rId17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7" name="Picture 1144" descr="laptop_keyboard"/>
                <p:cNvPicPr>
                  <a:picLocks noChangeAspect="1" noChangeArrowheads="1"/>
                </p:cNvPicPr>
                <p:nvPr/>
              </p:nvPicPr>
              <p:blipFill>
                <a:blip r:embed="rId18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8" name="Freeform 1145"/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2 w 2982"/>
                    <a:gd name="T1" fmla="*/ 0 h 2442"/>
                    <a:gd name="T2" fmla="*/ 0 w 2982"/>
                    <a:gd name="T3" fmla="*/ 2 h 2442"/>
                    <a:gd name="T4" fmla="*/ 10 w 2982"/>
                    <a:gd name="T5" fmla="*/ 3 h 2442"/>
                    <a:gd name="T6" fmla="*/ 12 w 2982"/>
                    <a:gd name="T7" fmla="*/ 1 h 2442"/>
                    <a:gd name="T8" fmla="*/ 2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19" name="Picture 1146" descr="screen"/>
                <p:cNvPicPr>
                  <a:picLocks noChangeAspect="1" noChangeArrowheads="1"/>
                </p:cNvPicPr>
                <p:nvPr/>
              </p:nvPicPr>
              <p:blipFill>
                <a:blip r:embed="rId1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0" name="Freeform 1147"/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10 w 2528"/>
                    <a:gd name="T3" fmla="*/ 1 h 455"/>
                    <a:gd name="T4" fmla="*/ 10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1" name="Freeform 1148"/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2 w 702"/>
                    <a:gd name="T1" fmla="*/ 0 h 1893"/>
                    <a:gd name="T2" fmla="*/ 0 w 702"/>
                    <a:gd name="T3" fmla="*/ 2 h 1893"/>
                    <a:gd name="T4" fmla="*/ 1 w 702"/>
                    <a:gd name="T5" fmla="*/ 2 h 1893"/>
                    <a:gd name="T6" fmla="*/ 3 w 702"/>
                    <a:gd name="T7" fmla="*/ 1 h 1893"/>
                    <a:gd name="T8" fmla="*/ 2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2" name="Freeform 1149"/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3 w 756"/>
                    <a:gd name="T1" fmla="*/ 0 h 2184"/>
                    <a:gd name="T2" fmla="*/ 1 w 756"/>
                    <a:gd name="T3" fmla="*/ 3 h 2184"/>
                    <a:gd name="T4" fmla="*/ 0 w 756"/>
                    <a:gd name="T5" fmla="*/ 3 h 2184"/>
                    <a:gd name="T6" fmla="*/ 2 w 756"/>
                    <a:gd name="T7" fmla="*/ 1 h 2184"/>
                    <a:gd name="T8" fmla="*/ 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3" name="Freeform 1150"/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10 w 2773"/>
                    <a:gd name="T5" fmla="*/ 1 h 738"/>
                    <a:gd name="T6" fmla="*/ 10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4" name="Freeform 1151"/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8 w 637"/>
                    <a:gd name="T1" fmla="*/ 0 h 1659"/>
                    <a:gd name="T2" fmla="*/ 8 w 637"/>
                    <a:gd name="T3" fmla="*/ 0 h 1659"/>
                    <a:gd name="T4" fmla="*/ 1 w 637"/>
                    <a:gd name="T5" fmla="*/ 42 h 1659"/>
                    <a:gd name="T6" fmla="*/ 0 w 637"/>
                    <a:gd name="T7" fmla="*/ 41 h 1659"/>
                    <a:gd name="T8" fmla="*/ 8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5" name="Freeform 1152"/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28 w 2216"/>
                    <a:gd name="T5" fmla="*/ 14 h 550"/>
                    <a:gd name="T6" fmla="*/ 28 w 2216"/>
                    <a:gd name="T7" fmla="*/ 1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26" name="Group 1153"/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33" name="Freeform 1154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4" name="Freeform 1155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5" name="Freeform 1156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6" name="Freeform 1157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7" name="Freeform 1158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8" name="Freeform 1159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27" name="Freeform 1160"/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6 h 792"/>
                    <a:gd name="T2" fmla="*/ 6 w 990"/>
                    <a:gd name="T3" fmla="*/ 0 h 792"/>
                    <a:gd name="T4" fmla="*/ 6 w 990"/>
                    <a:gd name="T5" fmla="*/ 1 h 792"/>
                    <a:gd name="T6" fmla="*/ 0 w 990"/>
                    <a:gd name="T7" fmla="*/ 6 h 792"/>
                    <a:gd name="T8" fmla="*/ 1 w 990"/>
                    <a:gd name="T9" fmla="*/ 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8" name="Freeform 1161"/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4 w 2532"/>
                    <a:gd name="T5" fmla="*/ 6 h 723"/>
                    <a:gd name="T6" fmla="*/ 14 w 2532"/>
                    <a:gd name="T7" fmla="*/ 6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9" name="Freeform 1162"/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0" name="Freeform 1163"/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6 w 1176"/>
                    <a:gd name="T1" fmla="*/ 0 h 606"/>
                    <a:gd name="T2" fmla="*/ 0 w 1176"/>
                    <a:gd name="T3" fmla="*/ 5 h 606"/>
                    <a:gd name="T4" fmla="*/ 1 w 1176"/>
                    <a:gd name="T5" fmla="*/ 5 h 606"/>
                    <a:gd name="T6" fmla="*/ 6 w 1176"/>
                    <a:gd name="T7" fmla="*/ 1 h 606"/>
                    <a:gd name="T8" fmla="*/ 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1" name="Freeform 1164"/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7 w 2532"/>
                    <a:gd name="T5" fmla="*/ 4 h 723"/>
                    <a:gd name="T6" fmla="*/ 7 w 2532"/>
                    <a:gd name="T7" fmla="*/ 4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2" name="Freeform 1165"/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6 h 723"/>
                    <a:gd name="T6" fmla="*/ 0 w 2532"/>
                    <a:gd name="T7" fmla="*/ 6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5" name="Group 4"/>
          <p:cNvGrpSpPr/>
          <p:nvPr/>
        </p:nvGrpSpPr>
        <p:grpSpPr>
          <a:xfrm>
            <a:off x="1905000" y="3093445"/>
            <a:ext cx="3833776" cy="2867166"/>
            <a:chOff x="381000" y="3093444"/>
            <a:chExt cx="3833776" cy="2867166"/>
          </a:xfrm>
        </p:grpSpPr>
        <p:sp>
          <p:nvSpPr>
            <p:cNvPr id="472" name="Rounded Rectangle 471"/>
            <p:cNvSpPr/>
            <p:nvPr/>
          </p:nvSpPr>
          <p:spPr>
            <a:xfrm>
              <a:off x="381000" y="3093444"/>
              <a:ext cx="3734603" cy="2867166"/>
            </a:xfrm>
            <a:prstGeom prst="roundRect">
              <a:avLst/>
            </a:prstGeom>
            <a:gradFill>
              <a:gsLst>
                <a:gs pos="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</a:gra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3" name="Group 852"/>
            <p:cNvGrpSpPr>
              <a:grpSpLocks/>
            </p:cNvGrpSpPr>
            <p:nvPr/>
          </p:nvGrpSpPr>
          <p:grpSpPr bwMode="auto">
            <a:xfrm>
              <a:off x="2847454" y="5060030"/>
              <a:ext cx="650600" cy="629371"/>
              <a:chOff x="271" y="3440"/>
              <a:chExt cx="387" cy="340"/>
            </a:xfrm>
          </p:grpSpPr>
          <p:sp>
            <p:nvSpPr>
              <p:cNvPr id="474" name="Text Box 662"/>
              <p:cNvSpPr txBox="1">
                <a:spLocks noChangeArrowheads="1"/>
              </p:cNvSpPr>
              <p:nvPr/>
            </p:nvSpPr>
            <p:spPr bwMode="auto">
              <a:xfrm>
                <a:off x="271" y="3614"/>
                <a:ext cx="387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400" dirty="0">
                    <a:latin typeface="+mn-lt"/>
                  </a:rPr>
                  <a:t>router</a:t>
                </a:r>
              </a:p>
            </p:txBody>
          </p:sp>
          <p:grpSp>
            <p:nvGrpSpPr>
              <p:cNvPr id="475" name="Group 843"/>
              <p:cNvGrpSpPr>
                <a:grpSpLocks/>
              </p:cNvGrpSpPr>
              <p:nvPr/>
            </p:nvGrpSpPr>
            <p:grpSpPr bwMode="auto">
              <a:xfrm>
                <a:off x="308" y="3440"/>
                <a:ext cx="307" cy="128"/>
                <a:chOff x="4648" y="1129"/>
                <a:chExt cx="248" cy="95"/>
              </a:xfrm>
            </p:grpSpPr>
            <p:sp>
              <p:nvSpPr>
                <p:cNvPr id="476" name="Oval 407"/>
                <p:cNvSpPr>
                  <a:spLocks noChangeArrowheads="1"/>
                </p:cNvSpPr>
                <p:nvPr/>
              </p:nvSpPr>
              <p:spPr bwMode="auto">
                <a:xfrm>
                  <a:off x="4648" y="1171"/>
                  <a:ext cx="245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7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8" name="Oval 411"/>
                <p:cNvSpPr>
                  <a:spLocks noChangeArrowheads="1"/>
                </p:cNvSpPr>
                <p:nvPr/>
              </p:nvSpPr>
              <p:spPr bwMode="auto">
                <a:xfrm>
                  <a:off x="4651" y="1129"/>
                  <a:ext cx="245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79" name="Group 847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482" name="Freeform 848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483" name="Freeform 849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480" name="Line 850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81" name="Line 851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484" name="Group 842"/>
            <p:cNvGrpSpPr>
              <a:grpSpLocks/>
            </p:cNvGrpSpPr>
            <p:nvPr/>
          </p:nvGrpSpPr>
          <p:grpSpPr bwMode="auto">
            <a:xfrm>
              <a:off x="2175559" y="3689457"/>
              <a:ext cx="2039217" cy="1197653"/>
              <a:chOff x="-149" y="2319"/>
              <a:chExt cx="1213" cy="647"/>
            </a:xfrm>
          </p:grpSpPr>
          <p:sp>
            <p:nvSpPr>
              <p:cNvPr id="485" name="Text Box 666"/>
              <p:cNvSpPr txBox="1">
                <a:spLocks noChangeArrowheads="1"/>
              </p:cNvSpPr>
              <p:nvPr/>
            </p:nvSpPr>
            <p:spPr bwMode="auto">
              <a:xfrm>
                <a:off x="327" y="2829"/>
                <a:ext cx="619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75000"/>
                  </a:lnSpc>
                </a:pPr>
                <a:r>
                  <a:rPr lang="en-US" sz="1400" dirty="0">
                    <a:latin typeface="+mn-lt"/>
                  </a:rPr>
                  <a:t>Wired link</a:t>
                </a:r>
              </a:p>
            </p:txBody>
          </p:sp>
          <p:sp>
            <p:nvSpPr>
              <p:cNvPr id="486" name="Text Box 669"/>
              <p:cNvSpPr txBox="1">
                <a:spLocks noChangeArrowheads="1"/>
              </p:cNvSpPr>
              <p:nvPr/>
            </p:nvSpPr>
            <p:spPr bwMode="auto">
              <a:xfrm>
                <a:off x="569" y="2465"/>
                <a:ext cx="495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75000"/>
                  </a:lnSpc>
                </a:pPr>
                <a:r>
                  <a:rPr lang="en-US" sz="1400" dirty="0">
                    <a:latin typeface="+mn-lt"/>
                  </a:rPr>
                  <a:t>wireless</a:t>
                </a:r>
              </a:p>
              <a:p>
                <a:pPr>
                  <a:lnSpc>
                    <a:spcPct val="75000"/>
                  </a:lnSpc>
                </a:pPr>
                <a:r>
                  <a:rPr lang="en-US" sz="1400" dirty="0">
                    <a:latin typeface="+mn-lt"/>
                  </a:rPr>
                  <a:t>links</a:t>
                </a:r>
              </a:p>
            </p:txBody>
          </p:sp>
          <p:grpSp>
            <p:nvGrpSpPr>
              <p:cNvPr id="487" name="Group 819"/>
              <p:cNvGrpSpPr>
                <a:grpSpLocks/>
              </p:cNvGrpSpPr>
              <p:nvPr/>
            </p:nvGrpSpPr>
            <p:grpSpPr bwMode="auto">
              <a:xfrm>
                <a:off x="385" y="2319"/>
                <a:ext cx="201" cy="280"/>
                <a:chOff x="742" y="2413"/>
                <a:chExt cx="576" cy="877"/>
              </a:xfrm>
            </p:grpSpPr>
            <p:grpSp>
              <p:nvGrpSpPr>
                <p:cNvPr id="492" name="Group 820"/>
                <p:cNvGrpSpPr>
                  <a:grpSpLocks/>
                </p:cNvGrpSpPr>
                <p:nvPr/>
              </p:nvGrpSpPr>
              <p:grpSpPr bwMode="auto"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sp>
                <p:nvSpPr>
                  <p:cNvPr id="495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30" y="3288"/>
                    <a:ext cx="205" cy="6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496" name="Line 271"/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288"/>
                    <a:ext cx="205" cy="6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497" name="Line 272"/>
                  <p:cNvSpPr>
                    <a:spLocks noChangeShapeType="1"/>
                  </p:cNvSpPr>
                  <p:nvPr/>
                </p:nvSpPr>
                <p:spPr bwMode="auto">
                  <a:xfrm>
                    <a:off x="3130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498" name="Line 2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35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499" name="Line 274"/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303"/>
                    <a:ext cx="0" cy="7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0" name="Line 2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30" y="3888"/>
                    <a:ext cx="205" cy="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1" name="Line 27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35" y="3888"/>
                    <a:ext cx="205" cy="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2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3217" y="3668"/>
                    <a:ext cx="118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3" name="Line 27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668"/>
                    <a:ext cx="124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4" name="Line 279"/>
                  <p:cNvSpPr>
                    <a:spLocks noChangeShapeType="1"/>
                  </p:cNvSpPr>
                  <p:nvPr/>
                </p:nvSpPr>
                <p:spPr bwMode="auto">
                  <a:xfrm>
                    <a:off x="3178" y="3766"/>
                    <a:ext cx="152" cy="7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5" name="Line 28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784"/>
                    <a:ext cx="153" cy="6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6" name="Line 28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567"/>
                    <a:ext cx="78" cy="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7" name="Line 28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428"/>
                    <a:ext cx="49" cy="2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8" name="Line 283"/>
                  <p:cNvSpPr>
                    <a:spLocks noChangeShapeType="1"/>
                  </p:cNvSpPr>
                  <p:nvPr/>
                </p:nvSpPr>
                <p:spPr bwMode="auto">
                  <a:xfrm>
                    <a:off x="3247" y="3558"/>
                    <a:ext cx="9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509" name="Line 284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3422"/>
                    <a:ext cx="5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  <p:pic>
              <p:nvPicPr>
                <p:cNvPr id="493" name="Picture 836" descr="cell_tower_radiation copy"/>
                <p:cNvPicPr>
                  <a:picLocks noChangeAspect="1" noChangeArrowheads="1"/>
                </p:cNvPicPr>
                <p:nvPr/>
              </p:nvPicPr>
              <p:blipFill>
                <a:blip r:embed="rId2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2" y="2413"/>
                  <a:ext cx="576" cy="4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94" name="Oval 837"/>
                <p:cNvSpPr>
                  <a:spLocks noChangeArrowheads="1"/>
                </p:cNvSpPr>
                <p:nvPr/>
              </p:nvSpPr>
              <p:spPr bwMode="auto">
                <a:xfrm>
                  <a:off x="986" y="2596"/>
                  <a:ext cx="66" cy="69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88" name="Group 838"/>
              <p:cNvGrpSpPr>
                <a:grpSpLocks/>
              </p:cNvGrpSpPr>
              <p:nvPr/>
            </p:nvGrpSpPr>
            <p:grpSpPr bwMode="auto">
              <a:xfrm>
                <a:off x="-149" y="2348"/>
                <a:ext cx="374" cy="285"/>
                <a:chOff x="2419" y="253"/>
                <a:chExt cx="830" cy="671"/>
              </a:xfrm>
            </p:grpSpPr>
            <p:pic>
              <p:nvPicPr>
                <p:cNvPr id="490" name="Picture 839" descr="access_point_stylized_small"/>
                <p:cNvPicPr>
                  <a:picLocks noChangeAspect="1" noChangeArrowheads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73" y="380"/>
                  <a:ext cx="576" cy="5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91" name="Picture 840" descr="antenna_radiation_stylized"/>
                <p:cNvPicPr>
                  <a:picLocks noChangeAspect="1" noChangeArrowheads="1"/>
                </p:cNvPicPr>
                <p:nvPr/>
              </p:nvPicPr>
              <p:blipFill>
                <a:blip r:embed="rId2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19" y="253"/>
                  <a:ext cx="788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489" name="Line 841"/>
              <p:cNvSpPr>
                <a:spLocks noChangeShapeType="1"/>
              </p:cNvSpPr>
              <p:nvPr/>
            </p:nvSpPr>
            <p:spPr bwMode="auto">
              <a:xfrm>
                <a:off x="61" y="2890"/>
                <a:ext cx="2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10" name="Group 1201"/>
            <p:cNvGrpSpPr>
              <a:grpSpLocks/>
            </p:cNvGrpSpPr>
            <p:nvPr/>
          </p:nvGrpSpPr>
          <p:grpSpPr bwMode="auto">
            <a:xfrm>
              <a:off x="603546" y="3177925"/>
              <a:ext cx="1803961" cy="2536889"/>
              <a:chOff x="210" y="833"/>
              <a:chExt cx="719" cy="984"/>
            </a:xfrm>
          </p:grpSpPr>
          <p:sp>
            <p:nvSpPr>
              <p:cNvPr id="511" name="Text Box 667"/>
              <p:cNvSpPr txBox="1">
                <a:spLocks noChangeArrowheads="1"/>
              </p:cNvSpPr>
              <p:nvPr/>
            </p:nvSpPr>
            <p:spPr bwMode="auto">
              <a:xfrm>
                <a:off x="479" y="1667"/>
                <a:ext cx="450" cy="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75000"/>
                  </a:lnSpc>
                </a:pPr>
                <a:r>
                  <a:rPr lang="en-US" sz="1400" dirty="0">
                    <a:latin typeface="+mn-lt"/>
                  </a:rPr>
                  <a:t>smartphone</a:t>
                </a:r>
              </a:p>
            </p:txBody>
          </p:sp>
          <p:sp>
            <p:nvSpPr>
              <p:cNvPr id="512" name="Text Box 663"/>
              <p:cNvSpPr txBox="1">
                <a:spLocks noChangeArrowheads="1"/>
              </p:cNvSpPr>
              <p:nvPr/>
            </p:nvSpPr>
            <p:spPr bwMode="auto">
              <a:xfrm>
                <a:off x="487" y="872"/>
                <a:ext cx="173" cy="1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400">
                    <a:latin typeface="+mn-lt"/>
                  </a:rPr>
                  <a:t>PC</a:t>
                </a:r>
              </a:p>
            </p:txBody>
          </p:sp>
          <p:sp>
            <p:nvSpPr>
              <p:cNvPr id="513" name="Text Box 664"/>
              <p:cNvSpPr txBox="1">
                <a:spLocks noChangeArrowheads="1"/>
              </p:cNvSpPr>
              <p:nvPr/>
            </p:nvSpPr>
            <p:spPr bwMode="auto">
              <a:xfrm>
                <a:off x="488" y="1096"/>
                <a:ext cx="272" cy="1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400" dirty="0">
                    <a:latin typeface="+mn-lt"/>
                  </a:rPr>
                  <a:t>server</a:t>
                </a:r>
              </a:p>
            </p:txBody>
          </p:sp>
          <p:sp>
            <p:nvSpPr>
              <p:cNvPr id="514" name="Text Box 665"/>
              <p:cNvSpPr txBox="1">
                <a:spLocks noChangeArrowheads="1"/>
              </p:cNvSpPr>
              <p:nvPr/>
            </p:nvSpPr>
            <p:spPr bwMode="auto">
              <a:xfrm>
                <a:off x="493" y="1390"/>
                <a:ext cx="332" cy="1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75000"/>
                  </a:lnSpc>
                </a:pPr>
                <a:r>
                  <a:rPr lang="en-US" sz="1400" dirty="0">
                    <a:latin typeface="+mn-lt"/>
                  </a:rPr>
                  <a:t>wireless</a:t>
                </a:r>
              </a:p>
              <a:p>
                <a:pPr>
                  <a:lnSpc>
                    <a:spcPct val="75000"/>
                  </a:lnSpc>
                </a:pPr>
                <a:r>
                  <a:rPr lang="en-US" sz="1400" dirty="0">
                    <a:latin typeface="+mn-lt"/>
                  </a:rPr>
                  <a:t>laptop</a:t>
                </a:r>
              </a:p>
            </p:txBody>
          </p:sp>
          <p:grpSp>
            <p:nvGrpSpPr>
              <p:cNvPr id="515" name="Group 805"/>
              <p:cNvGrpSpPr>
                <a:grpSpLocks/>
              </p:cNvGrpSpPr>
              <p:nvPr/>
            </p:nvGrpSpPr>
            <p:grpSpPr bwMode="auto">
              <a:xfrm flipH="1">
                <a:off x="244" y="833"/>
                <a:ext cx="261" cy="235"/>
                <a:chOff x="2839" y="3501"/>
                <a:chExt cx="755" cy="803"/>
              </a:xfrm>
            </p:grpSpPr>
            <p:pic>
              <p:nvPicPr>
                <p:cNvPr id="576" name="Picture 806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6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77" name="Freeform 807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516" name="Group 808"/>
              <p:cNvGrpSpPr>
                <a:grpSpLocks/>
              </p:cNvGrpSpPr>
              <p:nvPr/>
            </p:nvGrpSpPr>
            <p:grpSpPr bwMode="auto">
              <a:xfrm>
                <a:off x="273" y="1644"/>
                <a:ext cx="234" cy="173"/>
                <a:chOff x="2701" y="1743"/>
                <a:chExt cx="462" cy="478"/>
              </a:xfrm>
            </p:grpSpPr>
            <p:pic>
              <p:nvPicPr>
                <p:cNvPr id="574" name="Picture 809" descr="iphone_stylized_small"/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78" y="1814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75" name="Picture 810" descr="antenna_radiation_stylized"/>
                <p:cNvPicPr>
                  <a:picLocks noChangeAspect="1" noChangeArrowheads="1"/>
                </p:cNvPicPr>
                <p:nvPr/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01" y="1743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17" name="Group 1088"/>
              <p:cNvGrpSpPr>
                <a:grpSpLocks/>
              </p:cNvGrpSpPr>
              <p:nvPr/>
            </p:nvGrpSpPr>
            <p:grpSpPr bwMode="auto">
              <a:xfrm>
                <a:off x="210" y="1368"/>
                <a:ext cx="301" cy="236"/>
                <a:chOff x="877" y="1008"/>
                <a:chExt cx="2747" cy="2591"/>
              </a:xfrm>
            </p:grpSpPr>
            <p:pic>
              <p:nvPicPr>
                <p:cNvPr id="551" name="Picture 1089" descr="antenna_stylized"/>
                <p:cNvPicPr>
                  <a:picLocks noChangeAspect="1" noChangeArrowheads="1"/>
                </p:cNvPicPr>
                <p:nvPr/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52" name="Picture 1090" descr="laptop_keyboard"/>
                <p:cNvPicPr>
                  <a:picLocks noChangeAspect="1" noChangeArrowheads="1"/>
                </p:cNvPicPr>
                <p:nvPr/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53" name="Freeform 1091"/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2 w 2982"/>
                    <a:gd name="T1" fmla="*/ 0 h 2442"/>
                    <a:gd name="T2" fmla="*/ 0 w 2982"/>
                    <a:gd name="T3" fmla="*/ 2 h 2442"/>
                    <a:gd name="T4" fmla="*/ 10 w 2982"/>
                    <a:gd name="T5" fmla="*/ 3 h 2442"/>
                    <a:gd name="T6" fmla="*/ 12 w 2982"/>
                    <a:gd name="T7" fmla="*/ 1 h 2442"/>
                    <a:gd name="T8" fmla="*/ 2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554" name="Picture 1092" descr="screen"/>
                <p:cNvPicPr>
                  <a:picLocks noChangeAspect="1" noChangeArrowheads="1"/>
                </p:cNvPicPr>
                <p:nvPr/>
              </p:nvPicPr>
              <p:blipFill>
                <a:blip r:embed="rId31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55" name="Freeform 1093"/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10 w 2528"/>
                    <a:gd name="T3" fmla="*/ 1 h 455"/>
                    <a:gd name="T4" fmla="*/ 10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56" name="Freeform 1094"/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2 w 702"/>
                    <a:gd name="T1" fmla="*/ 0 h 1893"/>
                    <a:gd name="T2" fmla="*/ 0 w 702"/>
                    <a:gd name="T3" fmla="*/ 2 h 1893"/>
                    <a:gd name="T4" fmla="*/ 1 w 702"/>
                    <a:gd name="T5" fmla="*/ 2 h 1893"/>
                    <a:gd name="T6" fmla="*/ 3 w 702"/>
                    <a:gd name="T7" fmla="*/ 1 h 1893"/>
                    <a:gd name="T8" fmla="*/ 2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57" name="Freeform 1095"/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3 w 756"/>
                    <a:gd name="T1" fmla="*/ 0 h 2184"/>
                    <a:gd name="T2" fmla="*/ 1 w 756"/>
                    <a:gd name="T3" fmla="*/ 3 h 2184"/>
                    <a:gd name="T4" fmla="*/ 0 w 756"/>
                    <a:gd name="T5" fmla="*/ 3 h 2184"/>
                    <a:gd name="T6" fmla="*/ 2 w 756"/>
                    <a:gd name="T7" fmla="*/ 1 h 2184"/>
                    <a:gd name="T8" fmla="*/ 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58" name="Freeform 1096"/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10 w 2773"/>
                    <a:gd name="T5" fmla="*/ 1 h 738"/>
                    <a:gd name="T6" fmla="*/ 10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59" name="Freeform 1097"/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8 w 637"/>
                    <a:gd name="T1" fmla="*/ 0 h 1659"/>
                    <a:gd name="T2" fmla="*/ 8 w 637"/>
                    <a:gd name="T3" fmla="*/ 0 h 1659"/>
                    <a:gd name="T4" fmla="*/ 1 w 637"/>
                    <a:gd name="T5" fmla="*/ 42 h 1659"/>
                    <a:gd name="T6" fmla="*/ 0 w 637"/>
                    <a:gd name="T7" fmla="*/ 41 h 1659"/>
                    <a:gd name="T8" fmla="*/ 8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0" name="Freeform 1098"/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28 w 2216"/>
                    <a:gd name="T5" fmla="*/ 14 h 550"/>
                    <a:gd name="T6" fmla="*/ 28 w 2216"/>
                    <a:gd name="T7" fmla="*/ 1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561" name="Group 1099"/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568" name="Freeform 1100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69" name="Freeform 1101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70" name="Freeform 1102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71" name="Freeform 1103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72" name="Freeform 1104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73" name="Freeform 1105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562" name="Freeform 1106"/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6 h 792"/>
                    <a:gd name="T2" fmla="*/ 6 w 990"/>
                    <a:gd name="T3" fmla="*/ 0 h 792"/>
                    <a:gd name="T4" fmla="*/ 6 w 990"/>
                    <a:gd name="T5" fmla="*/ 1 h 792"/>
                    <a:gd name="T6" fmla="*/ 0 w 990"/>
                    <a:gd name="T7" fmla="*/ 6 h 792"/>
                    <a:gd name="T8" fmla="*/ 1 w 990"/>
                    <a:gd name="T9" fmla="*/ 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3" name="Freeform 1107"/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4 w 2532"/>
                    <a:gd name="T5" fmla="*/ 6 h 723"/>
                    <a:gd name="T6" fmla="*/ 14 w 2532"/>
                    <a:gd name="T7" fmla="*/ 6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4" name="Freeform 1108"/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5" name="Freeform 1109"/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6 w 1176"/>
                    <a:gd name="T1" fmla="*/ 0 h 606"/>
                    <a:gd name="T2" fmla="*/ 0 w 1176"/>
                    <a:gd name="T3" fmla="*/ 5 h 606"/>
                    <a:gd name="T4" fmla="*/ 1 w 1176"/>
                    <a:gd name="T5" fmla="*/ 5 h 606"/>
                    <a:gd name="T6" fmla="*/ 6 w 1176"/>
                    <a:gd name="T7" fmla="*/ 1 h 606"/>
                    <a:gd name="T8" fmla="*/ 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6" name="Freeform 1110"/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7 w 2532"/>
                    <a:gd name="T5" fmla="*/ 4 h 723"/>
                    <a:gd name="T6" fmla="*/ 7 w 2532"/>
                    <a:gd name="T7" fmla="*/ 4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67" name="Freeform 1111"/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6 h 723"/>
                    <a:gd name="T6" fmla="*/ 0 w 2532"/>
                    <a:gd name="T7" fmla="*/ 6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18" name="Group 1168"/>
              <p:cNvGrpSpPr>
                <a:grpSpLocks/>
              </p:cNvGrpSpPr>
              <p:nvPr/>
            </p:nvGrpSpPr>
            <p:grpSpPr bwMode="auto">
              <a:xfrm>
                <a:off x="340" y="1097"/>
                <a:ext cx="157" cy="256"/>
                <a:chOff x="4140" y="429"/>
                <a:chExt cx="1425" cy="2396"/>
              </a:xfrm>
            </p:grpSpPr>
            <p:sp>
              <p:nvSpPr>
                <p:cNvPr id="519" name="Freeform 1169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20" name="Rectangle 1170"/>
                <p:cNvSpPr>
                  <a:spLocks noChangeArrowheads="1"/>
                </p:cNvSpPr>
                <p:nvPr/>
              </p:nvSpPr>
              <p:spPr bwMode="auto">
                <a:xfrm>
                  <a:off x="4204" y="429"/>
                  <a:ext cx="1053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1" name="Freeform 1171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22" name="Freeform 1172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23" name="Rectangle 1173"/>
                <p:cNvSpPr>
                  <a:spLocks noChangeArrowheads="1"/>
                </p:cNvSpPr>
                <p:nvPr/>
              </p:nvSpPr>
              <p:spPr bwMode="auto">
                <a:xfrm>
                  <a:off x="4213" y="691"/>
                  <a:ext cx="599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24" name="Group 1174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549" name="AutoShape 1175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2"/>
                    <a:ext cx="725" cy="13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50" name="AutoShape 1176"/>
                  <p:cNvSpPr>
                    <a:spLocks noChangeArrowheads="1"/>
                  </p:cNvSpPr>
                  <p:nvPr/>
                </p:nvSpPr>
                <p:spPr bwMode="auto">
                  <a:xfrm>
                    <a:off x="624" y="2590"/>
                    <a:ext cx="691" cy="9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25" name="Rectangle 1177"/>
                <p:cNvSpPr>
                  <a:spLocks noChangeArrowheads="1"/>
                </p:cNvSpPr>
                <p:nvPr/>
              </p:nvSpPr>
              <p:spPr bwMode="auto">
                <a:xfrm>
                  <a:off x="4222" y="1019"/>
                  <a:ext cx="599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26" name="Group 1178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47" name="AutoShape 1179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5" cy="14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48" name="AutoShape 1180"/>
                  <p:cNvSpPr>
                    <a:spLocks noChangeArrowheads="1"/>
                  </p:cNvSpPr>
                  <p:nvPr/>
                </p:nvSpPr>
                <p:spPr bwMode="auto">
                  <a:xfrm>
                    <a:off x="627" y="2584"/>
                    <a:ext cx="691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27" name="Rectangle 1181"/>
                <p:cNvSpPr>
                  <a:spLocks noChangeArrowheads="1"/>
                </p:cNvSpPr>
                <p:nvPr/>
              </p:nvSpPr>
              <p:spPr bwMode="auto">
                <a:xfrm>
                  <a:off x="4213" y="1356"/>
                  <a:ext cx="599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8" name="Rectangle 1182"/>
                <p:cNvSpPr>
                  <a:spLocks noChangeArrowheads="1"/>
                </p:cNvSpPr>
                <p:nvPr/>
              </p:nvSpPr>
              <p:spPr bwMode="auto">
                <a:xfrm>
                  <a:off x="4231" y="1655"/>
                  <a:ext cx="590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29" name="Group 1183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45" name="AutoShape 1184"/>
                  <p:cNvSpPr>
                    <a:spLocks noChangeArrowheads="1"/>
                  </p:cNvSpPr>
                  <p:nvPr/>
                </p:nvSpPr>
                <p:spPr bwMode="auto">
                  <a:xfrm>
                    <a:off x="619" y="2568"/>
                    <a:ext cx="724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46" name="AutoShape 1185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5"/>
                    <a:ext cx="69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0" name="Freeform 1186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531" name="Group 1187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43" name="AutoShape 1188"/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9"/>
                    <a:ext cx="724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44" name="AutoShape 1189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69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2" name="Rectangle 1190"/>
                <p:cNvSpPr>
                  <a:spLocks noChangeArrowheads="1"/>
                </p:cNvSpPr>
                <p:nvPr/>
              </p:nvSpPr>
              <p:spPr bwMode="auto">
                <a:xfrm>
                  <a:off x="5247" y="429"/>
                  <a:ext cx="73" cy="229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" name="Freeform 1191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34" name="Freeform 1192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39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35" name="Oval 1193"/>
                <p:cNvSpPr>
                  <a:spLocks noChangeArrowheads="1"/>
                </p:cNvSpPr>
                <p:nvPr/>
              </p:nvSpPr>
              <p:spPr bwMode="auto">
                <a:xfrm>
                  <a:off x="5520" y="2610"/>
                  <a:ext cx="45" cy="94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6" name="Freeform 1194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537" name="AutoShape 1195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8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8" name="AutoShape 1196"/>
                <p:cNvSpPr>
                  <a:spLocks noChangeArrowheads="1"/>
                </p:cNvSpPr>
                <p:nvPr/>
              </p:nvSpPr>
              <p:spPr bwMode="auto">
                <a:xfrm>
                  <a:off x="4204" y="2713"/>
                  <a:ext cx="1071" cy="8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9" name="Oval 1197"/>
                <p:cNvSpPr>
                  <a:spLocks noChangeArrowheads="1"/>
                </p:cNvSpPr>
                <p:nvPr/>
              </p:nvSpPr>
              <p:spPr bwMode="auto">
                <a:xfrm>
                  <a:off x="4312" y="2385"/>
                  <a:ext cx="154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0" name="Oval 1198"/>
                <p:cNvSpPr>
                  <a:spLocks noChangeArrowheads="1"/>
                </p:cNvSpPr>
                <p:nvPr/>
              </p:nvSpPr>
              <p:spPr bwMode="auto">
                <a:xfrm>
                  <a:off x="4485" y="2385"/>
                  <a:ext cx="163" cy="14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41" name="Oval 1199"/>
                <p:cNvSpPr>
                  <a:spLocks noChangeArrowheads="1"/>
                </p:cNvSpPr>
                <p:nvPr/>
              </p:nvSpPr>
              <p:spPr bwMode="auto">
                <a:xfrm>
                  <a:off x="4666" y="2385"/>
                  <a:ext cx="154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2" name="Rectangle 1200"/>
                <p:cNvSpPr>
                  <a:spLocks noChangeArrowheads="1"/>
                </p:cNvSpPr>
                <p:nvPr/>
              </p:nvSpPr>
              <p:spPr bwMode="auto">
                <a:xfrm>
                  <a:off x="5066" y="1833"/>
                  <a:ext cx="82" cy="767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78" name="TextBox 577"/>
          <p:cNvSpPr txBox="1"/>
          <p:nvPr/>
        </p:nvSpPr>
        <p:spPr>
          <a:xfrm>
            <a:off x="2576223" y="2710425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Components</a:t>
            </a:r>
          </a:p>
        </p:txBody>
      </p:sp>
      <p:sp>
        <p:nvSpPr>
          <p:cNvPr id="47" name="Striped Right Arrow 46"/>
          <p:cNvSpPr/>
          <p:nvPr/>
        </p:nvSpPr>
        <p:spPr>
          <a:xfrm>
            <a:off x="5728690" y="4001702"/>
            <a:ext cx="1493539" cy="655450"/>
          </a:xfrm>
          <a:prstGeom prst="stripedRightArrow">
            <a:avLst/>
          </a:prstGeom>
          <a:solidFill>
            <a:schemeClr val="tx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4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" grpId="0"/>
      <p:bldP spid="4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Protocol?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 Protocol(Language)</a:t>
            </a:r>
          </a:p>
          <a:p>
            <a:pPr lvl="1"/>
            <a:r>
              <a:rPr lang="en-US" dirty="0"/>
              <a:t>“what’s the time?”</a:t>
            </a:r>
          </a:p>
          <a:p>
            <a:pPr lvl="1"/>
            <a:r>
              <a:rPr lang="en-US" dirty="0"/>
              <a:t>“I have a question”</a:t>
            </a:r>
          </a:p>
          <a:p>
            <a:pPr lvl="1"/>
            <a:r>
              <a:rPr lang="en-US" dirty="0"/>
              <a:t> Introduction Talk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7054636" y="862241"/>
            <a:ext cx="5137363" cy="1905000"/>
          </a:xfrm>
        </p:spPr>
        <p:txBody>
          <a:bodyPr>
            <a:normAutofit/>
          </a:bodyPr>
          <a:lstStyle/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Network Protocol</a:t>
            </a:r>
          </a:p>
          <a:p>
            <a:pPr marL="809625" lvl="1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US" sz="2000" dirty="0">
                <a:solidFill>
                  <a:schemeClr val="accent6"/>
                </a:solidFill>
              </a:rPr>
              <a:t>Set of rules</a:t>
            </a:r>
          </a:p>
          <a:p>
            <a:pPr marL="809625" lvl="1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US" sz="2000" dirty="0"/>
              <a:t>Machines rather than humans.</a:t>
            </a:r>
          </a:p>
          <a:p>
            <a:pPr marL="809625" lvl="1" indent="-352425">
              <a:buClr>
                <a:schemeClr val="accent6"/>
              </a:buClr>
              <a:buFont typeface="Wingdings 3" panose="05040102010807070707" pitchFamily="18" charset="2"/>
              <a:buChar char=""/>
            </a:pPr>
            <a:r>
              <a:rPr lang="en-US" sz="2000" dirty="0"/>
              <a:t>All communication activity in Internet governed by protocols.</a:t>
            </a:r>
          </a:p>
        </p:txBody>
      </p:sp>
      <p:pic>
        <p:nvPicPr>
          <p:cNvPr id="6" name="Picture 5" descr="http://www.studycampus.com/PgD/cnm/lesson1_files/whatisprotocol.gif"/>
          <p:cNvPicPr/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639033" y="2608997"/>
            <a:ext cx="2165384" cy="31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4264023" y="2743784"/>
            <a:ext cx="3651678" cy="2677656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  <a:softEdge rad="6350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8100" lvl="1" algn="ctr"/>
            <a:r>
              <a:rPr lang="en-US" sz="2400" i="1" dirty="0">
                <a:solidFill>
                  <a:srgbClr val="CC0000"/>
                </a:solidFill>
              </a:rPr>
              <a:t>Protocol</a:t>
            </a:r>
            <a:r>
              <a:rPr lang="en-US" sz="2400" i="1" dirty="0"/>
              <a:t> defines the </a:t>
            </a:r>
            <a:r>
              <a:rPr lang="en-US" sz="2400" i="1" dirty="0">
                <a:solidFill>
                  <a:srgbClr val="CC0000"/>
                </a:solidFill>
              </a:rPr>
              <a:t>format</a:t>
            </a:r>
            <a:r>
              <a:rPr lang="en-US" sz="2400" i="1" dirty="0"/>
              <a:t>, </a:t>
            </a:r>
            <a:r>
              <a:rPr lang="en-US" sz="2400" i="1" dirty="0">
                <a:solidFill>
                  <a:srgbClr val="CC0000"/>
                </a:solidFill>
              </a:rPr>
              <a:t>order</a:t>
            </a:r>
            <a:r>
              <a:rPr lang="en-US" sz="2400" i="1" dirty="0"/>
              <a:t> </a:t>
            </a:r>
            <a:r>
              <a:rPr lang="en-US" sz="2400" i="1" dirty="0">
                <a:solidFill>
                  <a:srgbClr val="FF0000"/>
                </a:solidFill>
              </a:rPr>
              <a:t>of</a:t>
            </a:r>
            <a:r>
              <a:rPr lang="en-US" sz="2400" i="1" dirty="0"/>
              <a:t> </a:t>
            </a:r>
            <a:r>
              <a:rPr lang="en-US" sz="2400" i="1" dirty="0">
                <a:solidFill>
                  <a:srgbClr val="CC0000"/>
                </a:solidFill>
              </a:rPr>
              <a:t>message </a:t>
            </a:r>
            <a:r>
              <a:rPr lang="en-US" sz="2400" i="1" dirty="0">
                <a:solidFill>
                  <a:schemeClr val="tx1"/>
                </a:solidFill>
              </a:rPr>
              <a:t>that</a:t>
            </a:r>
            <a:r>
              <a:rPr lang="en-US" sz="2400" i="1" dirty="0">
                <a:solidFill>
                  <a:srgbClr val="CC0000"/>
                </a:solidFill>
              </a:rPr>
              <a:t> sent and received</a:t>
            </a:r>
            <a:r>
              <a:rPr lang="en-US" sz="2400" i="1" dirty="0"/>
              <a:t> among network entities, and </a:t>
            </a:r>
            <a:r>
              <a:rPr lang="en-US" sz="2400" i="1" dirty="0">
                <a:solidFill>
                  <a:srgbClr val="CC0000"/>
                </a:solidFill>
              </a:rPr>
              <a:t>actions taken</a:t>
            </a:r>
            <a:r>
              <a:rPr lang="en-US" sz="2400" i="1" dirty="0"/>
              <a:t> on message transmission and reception.</a:t>
            </a:r>
            <a:endParaRPr lang="en-US" sz="2400" i="1" dirty="0">
              <a:solidFill>
                <a:srgbClr val="FF0000"/>
              </a:solidFill>
            </a:endParaRPr>
          </a:p>
        </p:txBody>
      </p:sp>
      <p:pic>
        <p:nvPicPr>
          <p:cNvPr id="7" name="Picture 6" descr="http://www.studycampus.com/PgD/cnm/lesson1_files/whatisprotocol.gif"/>
          <p:cNvPicPr/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01002" y="2608997"/>
            <a:ext cx="2303637" cy="3181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093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9117-EAFA-4A7C-915B-0CA4BB632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closure look at network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F4B5A-4798-4BAE-8A4E-C94EFE0FA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4464"/>
            <a:ext cx="11929641" cy="5590565"/>
          </a:xfrm>
        </p:spPr>
        <p:txBody>
          <a:bodyPr/>
          <a:lstStyle/>
          <a:p>
            <a:r>
              <a:rPr lang="en-US" b="1" dirty="0"/>
              <a:t>Component of internet</a:t>
            </a:r>
          </a:p>
          <a:p>
            <a:r>
              <a:rPr lang="en-US" b="1" dirty="0">
                <a:solidFill>
                  <a:srgbClr val="C00000"/>
                </a:solidFill>
              </a:rPr>
              <a:t>Network edge: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applications and hosts </a:t>
            </a:r>
          </a:p>
          <a:p>
            <a:r>
              <a:rPr lang="en-US" b="1" dirty="0">
                <a:solidFill>
                  <a:srgbClr val="C00000"/>
                </a:solidFill>
              </a:rPr>
              <a:t>Network core: </a:t>
            </a:r>
          </a:p>
          <a:p>
            <a:pPr lvl="1"/>
            <a:r>
              <a:rPr lang="en-US" dirty="0"/>
              <a:t>routers </a:t>
            </a:r>
          </a:p>
          <a:p>
            <a:pPr lvl="1"/>
            <a:r>
              <a:rPr lang="en-US" dirty="0"/>
              <a:t>network of networks </a:t>
            </a:r>
          </a:p>
          <a:p>
            <a:r>
              <a:rPr lang="en-US" b="1" dirty="0">
                <a:solidFill>
                  <a:srgbClr val="C00000"/>
                </a:solidFill>
              </a:rPr>
              <a:t>Access networks, physical media: </a:t>
            </a:r>
          </a:p>
          <a:p>
            <a:pPr lvl="1"/>
            <a:r>
              <a:rPr lang="en-US" dirty="0"/>
              <a:t>communication links </a:t>
            </a:r>
          </a:p>
        </p:txBody>
      </p:sp>
    </p:spTree>
    <p:extLst>
      <p:ext uri="{BB962C8B-B14F-4D97-AF65-F5344CB8AC3E}">
        <p14:creationId xmlns:p14="http://schemas.microsoft.com/office/powerpoint/2010/main" val="162308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The Network Edge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200" dirty="0"/>
              <a:t>Computers and other devices are connected at the </a:t>
            </a:r>
            <a:r>
              <a:rPr lang="en-IN" sz="2200" dirty="0">
                <a:solidFill>
                  <a:schemeClr val="accent6"/>
                </a:solidFill>
              </a:rPr>
              <a:t>edge </a:t>
            </a:r>
            <a:r>
              <a:rPr lang="en-IN" sz="2200" dirty="0"/>
              <a:t>(end) of the network. </a:t>
            </a:r>
          </a:p>
          <a:p>
            <a:pPr algn="just"/>
            <a:r>
              <a:rPr lang="en-IN" sz="2200" dirty="0"/>
              <a:t>These computers are known as </a:t>
            </a:r>
            <a:r>
              <a:rPr lang="en-IN" sz="2200" dirty="0">
                <a:solidFill>
                  <a:schemeClr val="accent6"/>
                </a:solidFill>
              </a:rPr>
              <a:t>hosts </a:t>
            </a:r>
            <a:r>
              <a:rPr lang="en-IN" sz="2200" dirty="0"/>
              <a:t>or </a:t>
            </a:r>
            <a:r>
              <a:rPr lang="en-IN" sz="2200" dirty="0">
                <a:solidFill>
                  <a:schemeClr val="accent6"/>
                </a:solidFill>
              </a:rPr>
              <a:t>end systems</a:t>
            </a:r>
            <a:r>
              <a:rPr lang="en-IN" sz="2200" dirty="0"/>
              <a:t>. Router is known as </a:t>
            </a:r>
            <a:r>
              <a:rPr lang="en-IN" sz="2200" dirty="0">
                <a:solidFill>
                  <a:srgbClr val="00B050"/>
                </a:solidFill>
              </a:rPr>
              <a:t>edge router.</a:t>
            </a:r>
            <a:r>
              <a:rPr lang="en-IN" sz="2800" dirty="0">
                <a:solidFill>
                  <a:srgbClr val="00B050"/>
                </a:solidFill>
              </a:rPr>
              <a:t> </a:t>
            </a:r>
          </a:p>
          <a:p>
            <a:pPr algn="just"/>
            <a:endParaRPr lang="en-IN" sz="2800" dirty="0"/>
          </a:p>
          <a:p>
            <a:pPr algn="just"/>
            <a:endParaRPr lang="en-US" sz="2800" b="1" dirty="0"/>
          </a:p>
          <a:p>
            <a:pPr algn="just">
              <a:buFont typeface="Arial" charset="0"/>
              <a:buChar char="•"/>
            </a:pPr>
            <a:endParaRPr lang="en-IN" sz="2800" dirty="0"/>
          </a:p>
          <a:p>
            <a:pPr marL="0" indent="0" algn="just">
              <a:buNone/>
            </a:pP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4597217" y="1834620"/>
            <a:ext cx="3719637" cy="4295260"/>
            <a:chOff x="5638800" y="2322831"/>
            <a:chExt cx="3654164" cy="4068096"/>
          </a:xfrm>
        </p:grpSpPr>
        <p:sp>
          <p:nvSpPr>
            <p:cNvPr id="5" name="Freeform 417"/>
            <p:cNvSpPr>
              <a:spLocks/>
            </p:cNvSpPr>
            <p:nvPr/>
          </p:nvSpPr>
          <p:spPr bwMode="auto">
            <a:xfrm>
              <a:off x="5638800" y="2586670"/>
              <a:ext cx="1354461" cy="868737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5698228" y="2322831"/>
              <a:ext cx="3594736" cy="4068096"/>
              <a:chOff x="5698228" y="2322831"/>
              <a:chExt cx="3594736" cy="4068096"/>
            </a:xfrm>
          </p:grpSpPr>
          <p:sp>
            <p:nvSpPr>
              <p:cNvPr id="7" name="Freeform 415"/>
              <p:cNvSpPr>
                <a:spLocks/>
              </p:cNvSpPr>
              <p:nvPr/>
            </p:nvSpPr>
            <p:spPr bwMode="auto">
              <a:xfrm>
                <a:off x="7044022" y="4060304"/>
                <a:ext cx="1025132" cy="546983"/>
              </a:xfrm>
              <a:custGeom>
                <a:avLst/>
                <a:gdLst>
                  <a:gd name="T0" fmla="*/ 2147483647 w 828"/>
                  <a:gd name="T1" fmla="*/ 2147483647 h 425"/>
                  <a:gd name="T2" fmla="*/ 2147483647 w 828"/>
                  <a:gd name="T3" fmla="*/ 2147483647 h 425"/>
                  <a:gd name="T4" fmla="*/ 2147483647 w 828"/>
                  <a:gd name="T5" fmla="*/ 2147483647 h 425"/>
                  <a:gd name="T6" fmla="*/ 2147483647 w 828"/>
                  <a:gd name="T7" fmla="*/ 2147483647 h 425"/>
                  <a:gd name="T8" fmla="*/ 2147483647 w 828"/>
                  <a:gd name="T9" fmla="*/ 2147483647 h 425"/>
                  <a:gd name="T10" fmla="*/ 2147483647 w 828"/>
                  <a:gd name="T11" fmla="*/ 2147483647 h 425"/>
                  <a:gd name="T12" fmla="*/ 2147483647 w 828"/>
                  <a:gd name="T13" fmla="*/ 2147483647 h 425"/>
                  <a:gd name="T14" fmla="*/ 2147483647 w 828"/>
                  <a:gd name="T15" fmla="*/ 2147483647 h 425"/>
                  <a:gd name="T16" fmla="*/ 2147483647 w 828"/>
                  <a:gd name="T17" fmla="*/ 2147483647 h 425"/>
                  <a:gd name="T18" fmla="*/ 2147483647 w 828"/>
                  <a:gd name="T19" fmla="*/ 2147483647 h 425"/>
                  <a:gd name="T20" fmla="*/ 2147483647 w 828"/>
                  <a:gd name="T21" fmla="*/ 2147483647 h 425"/>
                  <a:gd name="T22" fmla="*/ 2147483647 w 828"/>
                  <a:gd name="T23" fmla="*/ 2147483647 h 42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28"/>
                  <a:gd name="T37" fmla="*/ 0 h 425"/>
                  <a:gd name="T38" fmla="*/ 828 w 828"/>
                  <a:gd name="T39" fmla="*/ 425 h 42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28" h="425">
                    <a:moveTo>
                      <a:pt x="382" y="30"/>
                    </a:moveTo>
                    <a:cubicBezTo>
                      <a:pt x="350" y="29"/>
                      <a:pt x="413" y="30"/>
                      <a:pt x="370" y="30"/>
                    </a:cubicBezTo>
                    <a:cubicBezTo>
                      <a:pt x="327" y="30"/>
                      <a:pt x="187" y="16"/>
                      <a:pt x="126" y="32"/>
                    </a:cubicBezTo>
                    <a:cubicBezTo>
                      <a:pt x="65" y="48"/>
                      <a:pt x="12" y="86"/>
                      <a:pt x="6" y="126"/>
                    </a:cubicBezTo>
                    <a:cubicBezTo>
                      <a:pt x="0" y="166"/>
                      <a:pt x="44" y="231"/>
                      <a:pt x="92" y="274"/>
                    </a:cubicBezTo>
                    <a:cubicBezTo>
                      <a:pt x="140" y="317"/>
                      <a:pt x="217" y="360"/>
                      <a:pt x="292" y="384"/>
                    </a:cubicBezTo>
                    <a:cubicBezTo>
                      <a:pt x="367" y="408"/>
                      <a:pt x="472" y="425"/>
                      <a:pt x="540" y="416"/>
                    </a:cubicBezTo>
                    <a:cubicBezTo>
                      <a:pt x="608" y="407"/>
                      <a:pt x="659" y="371"/>
                      <a:pt x="698" y="330"/>
                    </a:cubicBezTo>
                    <a:cubicBezTo>
                      <a:pt x="737" y="289"/>
                      <a:pt x="760" y="221"/>
                      <a:pt x="776" y="170"/>
                    </a:cubicBezTo>
                    <a:cubicBezTo>
                      <a:pt x="792" y="119"/>
                      <a:pt x="828" y="44"/>
                      <a:pt x="792" y="22"/>
                    </a:cubicBezTo>
                    <a:cubicBezTo>
                      <a:pt x="756" y="0"/>
                      <a:pt x="630" y="37"/>
                      <a:pt x="560" y="38"/>
                    </a:cubicBezTo>
                    <a:cubicBezTo>
                      <a:pt x="490" y="39"/>
                      <a:pt x="414" y="31"/>
                      <a:pt x="382" y="30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Freeform 416"/>
              <p:cNvSpPr>
                <a:spLocks/>
              </p:cNvSpPr>
              <p:nvPr/>
            </p:nvSpPr>
            <p:spPr bwMode="auto">
              <a:xfrm>
                <a:off x="7058879" y="2823481"/>
                <a:ext cx="1349509" cy="912496"/>
              </a:xfrm>
              <a:custGeom>
                <a:avLst/>
                <a:gdLst>
                  <a:gd name="T0" fmla="*/ 2147483647 w 765"/>
                  <a:gd name="T1" fmla="*/ 2147483647 h 459"/>
                  <a:gd name="T2" fmla="*/ 2147483647 w 765"/>
                  <a:gd name="T3" fmla="*/ 2147483647 h 459"/>
                  <a:gd name="T4" fmla="*/ 2147483647 w 765"/>
                  <a:gd name="T5" fmla="*/ 2147483647 h 459"/>
                  <a:gd name="T6" fmla="*/ 2147483647 w 765"/>
                  <a:gd name="T7" fmla="*/ 2147483647 h 459"/>
                  <a:gd name="T8" fmla="*/ 2147483647 w 765"/>
                  <a:gd name="T9" fmla="*/ 2147483647 h 459"/>
                  <a:gd name="T10" fmla="*/ 2147483647 w 765"/>
                  <a:gd name="T11" fmla="*/ 2147483647 h 459"/>
                  <a:gd name="T12" fmla="*/ 2147483647 w 765"/>
                  <a:gd name="T13" fmla="*/ 2147483647 h 459"/>
                  <a:gd name="T14" fmla="*/ 2147483647 w 765"/>
                  <a:gd name="T15" fmla="*/ 2147483647 h 459"/>
                  <a:gd name="T16" fmla="*/ 2147483647 w 765"/>
                  <a:gd name="T17" fmla="*/ 2147483647 h 459"/>
                  <a:gd name="T18" fmla="*/ 2147483647 w 765"/>
                  <a:gd name="T19" fmla="*/ 2147483647 h 459"/>
                  <a:gd name="T20" fmla="*/ 2147483647 w 765"/>
                  <a:gd name="T21" fmla="*/ 2147483647 h 459"/>
                  <a:gd name="T22" fmla="*/ 2147483647 w 765"/>
                  <a:gd name="T23" fmla="*/ 2147483647 h 45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65"/>
                  <a:gd name="T37" fmla="*/ 0 h 459"/>
                  <a:gd name="T38" fmla="*/ 765 w 765"/>
                  <a:gd name="T39" fmla="*/ 459 h 45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65" h="459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CCFF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9" name="Group 418"/>
              <p:cNvGrpSpPr>
                <a:grpSpLocks/>
              </p:cNvGrpSpPr>
              <p:nvPr/>
            </p:nvGrpSpPr>
            <p:grpSpPr bwMode="auto">
              <a:xfrm>
                <a:off x="5698228" y="3612422"/>
                <a:ext cx="1137797" cy="756766"/>
                <a:chOff x="2889" y="1631"/>
                <a:chExt cx="980" cy="743"/>
              </a:xfrm>
            </p:grpSpPr>
            <p:sp>
              <p:nvSpPr>
                <p:cNvPr id="359" name="Rectangle 419"/>
                <p:cNvSpPr>
                  <a:spLocks noChangeArrowheads="1"/>
                </p:cNvSpPr>
                <p:nvPr/>
              </p:nvSpPr>
              <p:spPr bwMode="auto">
                <a:xfrm>
                  <a:off x="3046" y="1841"/>
                  <a:ext cx="663" cy="533"/>
                </a:xfrm>
                <a:prstGeom prst="rect">
                  <a:avLst/>
                </a:pr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0" name="AutoShape 420"/>
                <p:cNvSpPr>
                  <a:spLocks noChangeArrowheads="1"/>
                </p:cNvSpPr>
                <p:nvPr/>
              </p:nvSpPr>
              <p:spPr bwMode="auto">
                <a:xfrm>
                  <a:off x="2889" y="1631"/>
                  <a:ext cx="980" cy="253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>
                    <a:solidFill>
                      <a:srgbClr val="00CCFF"/>
                    </a:solidFill>
                  </a:endParaRPr>
                </a:p>
              </p:txBody>
            </p:sp>
          </p:grpSp>
          <p:sp>
            <p:nvSpPr>
              <p:cNvPr id="10" name="Line 421"/>
              <p:cNvSpPr>
                <a:spLocks noChangeShapeType="1"/>
              </p:cNvSpPr>
              <p:nvPr/>
            </p:nvSpPr>
            <p:spPr bwMode="auto">
              <a:xfrm>
                <a:off x="7349829" y="4291967"/>
                <a:ext cx="127522" cy="97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Line 422"/>
              <p:cNvSpPr>
                <a:spLocks noChangeShapeType="1"/>
              </p:cNvSpPr>
              <p:nvPr/>
            </p:nvSpPr>
            <p:spPr bwMode="auto">
              <a:xfrm>
                <a:off x="7425351" y="4227616"/>
                <a:ext cx="2179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Line 423"/>
              <p:cNvSpPr>
                <a:spLocks noChangeShapeType="1"/>
              </p:cNvSpPr>
              <p:nvPr/>
            </p:nvSpPr>
            <p:spPr bwMode="auto">
              <a:xfrm flipV="1">
                <a:off x="7609826" y="4297115"/>
                <a:ext cx="105237" cy="849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Line 424"/>
              <p:cNvSpPr>
                <a:spLocks noChangeShapeType="1"/>
              </p:cNvSpPr>
              <p:nvPr/>
            </p:nvSpPr>
            <p:spPr bwMode="auto">
              <a:xfrm>
                <a:off x="6594599" y="4232765"/>
                <a:ext cx="5298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Line 425"/>
              <p:cNvSpPr>
                <a:spLocks noChangeShapeType="1"/>
              </p:cNvSpPr>
              <p:nvPr/>
            </p:nvSpPr>
            <p:spPr bwMode="auto">
              <a:xfrm>
                <a:off x="6824882" y="3298390"/>
                <a:ext cx="397424" cy="25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Line 426"/>
              <p:cNvSpPr>
                <a:spLocks noChangeShapeType="1"/>
              </p:cNvSpPr>
              <p:nvPr/>
            </p:nvSpPr>
            <p:spPr bwMode="auto">
              <a:xfrm>
                <a:off x="6486885" y="3149096"/>
                <a:ext cx="118856" cy="77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427"/>
              <p:cNvSpPr>
                <a:spLocks/>
              </p:cNvSpPr>
              <p:nvPr/>
            </p:nvSpPr>
            <p:spPr bwMode="auto">
              <a:xfrm>
                <a:off x="5869083" y="4750145"/>
                <a:ext cx="2401878" cy="1350081"/>
              </a:xfrm>
              <a:custGeom>
                <a:avLst/>
                <a:gdLst>
                  <a:gd name="T0" fmla="*/ 2147483647 w 1940"/>
                  <a:gd name="T1" fmla="*/ 2147483647 h 1049"/>
                  <a:gd name="T2" fmla="*/ 2147483647 w 1940"/>
                  <a:gd name="T3" fmla="*/ 2147483647 h 1049"/>
                  <a:gd name="T4" fmla="*/ 2147483647 w 1940"/>
                  <a:gd name="T5" fmla="*/ 2147483647 h 1049"/>
                  <a:gd name="T6" fmla="*/ 2147483647 w 1940"/>
                  <a:gd name="T7" fmla="*/ 2147483647 h 1049"/>
                  <a:gd name="T8" fmla="*/ 2147483647 w 1940"/>
                  <a:gd name="T9" fmla="*/ 2147483647 h 1049"/>
                  <a:gd name="T10" fmla="*/ 2147483647 w 1940"/>
                  <a:gd name="T11" fmla="*/ 2147483647 h 1049"/>
                  <a:gd name="T12" fmla="*/ 2147483647 w 1940"/>
                  <a:gd name="T13" fmla="*/ 2147483647 h 1049"/>
                  <a:gd name="T14" fmla="*/ 2147483647 w 1940"/>
                  <a:gd name="T15" fmla="*/ 2147483647 h 1049"/>
                  <a:gd name="T16" fmla="*/ 2147483647 w 1940"/>
                  <a:gd name="T17" fmla="*/ 2147483647 h 1049"/>
                  <a:gd name="T18" fmla="*/ 2147483647 w 1940"/>
                  <a:gd name="T19" fmla="*/ 2147483647 h 1049"/>
                  <a:gd name="T20" fmla="*/ 2147483647 w 1940"/>
                  <a:gd name="T21" fmla="*/ 2147483647 h 1049"/>
                  <a:gd name="T22" fmla="*/ 2147483647 w 1940"/>
                  <a:gd name="T23" fmla="*/ 2147483647 h 1049"/>
                  <a:gd name="T24" fmla="*/ 2147483647 w 1940"/>
                  <a:gd name="T25" fmla="*/ 2147483647 h 1049"/>
                  <a:gd name="T26" fmla="*/ 2147483647 w 1940"/>
                  <a:gd name="T27" fmla="*/ 2147483647 h 1049"/>
                  <a:gd name="T28" fmla="*/ 2147483647 w 1940"/>
                  <a:gd name="T29" fmla="*/ 2147483647 h 1049"/>
                  <a:gd name="T30" fmla="*/ 2147483647 w 1940"/>
                  <a:gd name="T31" fmla="*/ 2147483647 h 104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940"/>
                  <a:gd name="T49" fmla="*/ 0 h 1049"/>
                  <a:gd name="T50" fmla="*/ 1940 w 1940"/>
                  <a:gd name="T51" fmla="*/ 1049 h 104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940" h="1049">
                    <a:moveTo>
                      <a:pt x="952" y="26"/>
                    </a:moveTo>
                    <a:cubicBezTo>
                      <a:pt x="867" y="45"/>
                      <a:pt x="832" y="118"/>
                      <a:pt x="755" y="125"/>
                    </a:cubicBezTo>
                    <a:cubicBezTo>
                      <a:pt x="678" y="132"/>
                      <a:pt x="587" y="72"/>
                      <a:pt x="488" y="68"/>
                    </a:cubicBezTo>
                    <a:cubicBezTo>
                      <a:pt x="389" y="64"/>
                      <a:pt x="237" y="48"/>
                      <a:pt x="158" y="101"/>
                    </a:cubicBezTo>
                    <a:cubicBezTo>
                      <a:pt x="79" y="154"/>
                      <a:pt x="28" y="298"/>
                      <a:pt x="14" y="389"/>
                    </a:cubicBezTo>
                    <a:cubicBezTo>
                      <a:pt x="0" y="480"/>
                      <a:pt x="25" y="595"/>
                      <a:pt x="71" y="648"/>
                    </a:cubicBezTo>
                    <a:cubicBezTo>
                      <a:pt x="117" y="701"/>
                      <a:pt x="205" y="665"/>
                      <a:pt x="288" y="706"/>
                    </a:cubicBezTo>
                    <a:cubicBezTo>
                      <a:pt x="371" y="747"/>
                      <a:pt x="450" y="842"/>
                      <a:pt x="568" y="893"/>
                    </a:cubicBezTo>
                    <a:cubicBezTo>
                      <a:pt x="686" y="944"/>
                      <a:pt x="852" y="991"/>
                      <a:pt x="996" y="1014"/>
                    </a:cubicBezTo>
                    <a:cubicBezTo>
                      <a:pt x="1140" y="1036"/>
                      <a:pt x="1309" y="1049"/>
                      <a:pt x="1433" y="1031"/>
                    </a:cubicBezTo>
                    <a:cubicBezTo>
                      <a:pt x="1557" y="1012"/>
                      <a:pt x="1657" y="960"/>
                      <a:pt x="1739" y="907"/>
                    </a:cubicBezTo>
                    <a:cubicBezTo>
                      <a:pt x="1821" y="855"/>
                      <a:pt x="1906" y="824"/>
                      <a:pt x="1923" y="714"/>
                    </a:cubicBezTo>
                    <a:cubicBezTo>
                      <a:pt x="1940" y="604"/>
                      <a:pt x="1898" y="350"/>
                      <a:pt x="1839" y="251"/>
                    </a:cubicBezTo>
                    <a:cubicBezTo>
                      <a:pt x="1780" y="151"/>
                      <a:pt x="1662" y="153"/>
                      <a:pt x="1566" y="114"/>
                    </a:cubicBezTo>
                    <a:cubicBezTo>
                      <a:pt x="1470" y="76"/>
                      <a:pt x="1365" y="30"/>
                      <a:pt x="1263" y="15"/>
                    </a:cubicBezTo>
                    <a:cubicBezTo>
                      <a:pt x="1161" y="0"/>
                      <a:pt x="1037" y="8"/>
                      <a:pt x="952" y="26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Line 428"/>
              <p:cNvSpPr>
                <a:spLocks noChangeShapeType="1"/>
              </p:cNvSpPr>
              <p:nvPr/>
            </p:nvSpPr>
            <p:spPr bwMode="auto">
              <a:xfrm rot="16200000">
                <a:off x="7692131" y="5385512"/>
                <a:ext cx="424716" cy="10895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8" name="Line 429"/>
              <p:cNvSpPr>
                <a:spLocks noChangeShapeType="1"/>
              </p:cNvSpPr>
              <p:nvPr/>
            </p:nvSpPr>
            <p:spPr bwMode="auto">
              <a:xfrm rot="5400000" flipV="1">
                <a:off x="7814060" y="5612482"/>
                <a:ext cx="2574" cy="66856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9" name="Line 430"/>
              <p:cNvSpPr>
                <a:spLocks noChangeShapeType="1"/>
              </p:cNvSpPr>
              <p:nvPr/>
            </p:nvSpPr>
            <p:spPr bwMode="auto">
              <a:xfrm rot="16200000">
                <a:off x="7958965" y="5350371"/>
                <a:ext cx="0" cy="8914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0" name="Line 431"/>
              <p:cNvSpPr>
                <a:spLocks noChangeShapeType="1"/>
              </p:cNvSpPr>
              <p:nvPr/>
            </p:nvSpPr>
            <p:spPr bwMode="auto">
              <a:xfrm>
                <a:off x="7320115" y="5008836"/>
                <a:ext cx="304568" cy="1492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Line 432"/>
              <p:cNvSpPr>
                <a:spLocks noChangeShapeType="1"/>
              </p:cNvSpPr>
              <p:nvPr/>
            </p:nvSpPr>
            <p:spPr bwMode="auto">
              <a:xfrm flipV="1">
                <a:off x="6836024" y="4998540"/>
                <a:ext cx="251331" cy="1608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Line 433"/>
              <p:cNvSpPr>
                <a:spLocks noChangeShapeType="1"/>
              </p:cNvSpPr>
              <p:nvPr/>
            </p:nvSpPr>
            <p:spPr bwMode="auto">
              <a:xfrm flipV="1">
                <a:off x="6869453" y="5235351"/>
                <a:ext cx="7577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Line 435"/>
              <p:cNvSpPr>
                <a:spLocks noChangeShapeType="1"/>
              </p:cNvSpPr>
              <p:nvPr/>
            </p:nvSpPr>
            <p:spPr bwMode="auto">
              <a:xfrm>
                <a:off x="6339554" y="5070613"/>
                <a:ext cx="205522" cy="69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Line 436"/>
              <p:cNvSpPr>
                <a:spLocks noChangeShapeType="1"/>
              </p:cNvSpPr>
              <p:nvPr/>
            </p:nvSpPr>
            <p:spPr bwMode="auto">
              <a:xfrm flipV="1">
                <a:off x="6137746" y="5240499"/>
                <a:ext cx="321901" cy="1029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Line 439"/>
              <p:cNvSpPr>
                <a:spLocks noChangeShapeType="1"/>
              </p:cNvSpPr>
              <p:nvPr/>
            </p:nvSpPr>
            <p:spPr bwMode="auto">
              <a:xfrm flipH="1">
                <a:off x="6469552" y="5311285"/>
                <a:ext cx="111427" cy="1608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Line 440"/>
              <p:cNvSpPr>
                <a:spLocks noChangeShapeType="1"/>
              </p:cNvSpPr>
              <p:nvPr/>
            </p:nvSpPr>
            <p:spPr bwMode="auto">
              <a:xfrm flipH="1" flipV="1">
                <a:off x="6719645" y="5333165"/>
                <a:ext cx="58190" cy="1402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Line 441"/>
              <p:cNvSpPr>
                <a:spLocks noChangeShapeType="1"/>
              </p:cNvSpPr>
              <p:nvPr/>
            </p:nvSpPr>
            <p:spPr bwMode="auto">
              <a:xfrm>
                <a:off x="6840977" y="5297128"/>
                <a:ext cx="392472" cy="218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Line 443"/>
              <p:cNvSpPr>
                <a:spLocks noChangeShapeType="1"/>
              </p:cNvSpPr>
              <p:nvPr/>
            </p:nvSpPr>
            <p:spPr bwMode="auto">
              <a:xfrm>
                <a:off x="6480695" y="4056444"/>
                <a:ext cx="0" cy="1068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Line 444"/>
              <p:cNvSpPr>
                <a:spLocks noChangeShapeType="1"/>
              </p:cNvSpPr>
              <p:nvPr/>
            </p:nvSpPr>
            <p:spPr bwMode="auto">
              <a:xfrm flipV="1">
                <a:off x="7490970" y="3221169"/>
                <a:ext cx="96570" cy="70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Line 445"/>
              <p:cNvSpPr>
                <a:spLocks noChangeShapeType="1"/>
              </p:cNvSpPr>
              <p:nvPr/>
            </p:nvSpPr>
            <p:spPr bwMode="auto">
              <a:xfrm>
                <a:off x="7357257" y="3361454"/>
                <a:ext cx="0" cy="669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Line 446"/>
              <p:cNvSpPr>
                <a:spLocks noChangeShapeType="1"/>
              </p:cNvSpPr>
              <p:nvPr/>
            </p:nvSpPr>
            <p:spPr bwMode="auto">
              <a:xfrm flipV="1">
                <a:off x="7490970" y="3277798"/>
                <a:ext cx="205522" cy="2342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447"/>
              <p:cNvSpPr>
                <a:spLocks noChangeShapeType="1"/>
              </p:cNvSpPr>
              <p:nvPr/>
            </p:nvSpPr>
            <p:spPr bwMode="auto">
              <a:xfrm>
                <a:off x="7775729" y="3276511"/>
                <a:ext cx="0" cy="1595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Line 448"/>
              <p:cNvSpPr>
                <a:spLocks noChangeShapeType="1"/>
              </p:cNvSpPr>
              <p:nvPr/>
            </p:nvSpPr>
            <p:spPr bwMode="auto">
              <a:xfrm>
                <a:off x="7505827" y="3524905"/>
                <a:ext cx="1473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Line 449"/>
              <p:cNvSpPr>
                <a:spLocks noChangeShapeType="1"/>
              </p:cNvSpPr>
              <p:nvPr/>
            </p:nvSpPr>
            <p:spPr bwMode="auto">
              <a:xfrm flipV="1">
                <a:off x="6176127" y="4227616"/>
                <a:ext cx="131237" cy="25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Line 450"/>
              <p:cNvSpPr>
                <a:spLocks noChangeShapeType="1"/>
              </p:cNvSpPr>
              <p:nvPr/>
            </p:nvSpPr>
            <p:spPr bwMode="auto">
              <a:xfrm>
                <a:off x="7937917" y="3517183"/>
                <a:ext cx="13866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Line 451"/>
              <p:cNvSpPr>
                <a:spLocks noChangeShapeType="1"/>
              </p:cNvSpPr>
              <p:nvPr/>
            </p:nvSpPr>
            <p:spPr bwMode="auto">
              <a:xfrm flipH="1">
                <a:off x="7271829" y="3578960"/>
                <a:ext cx="76761" cy="571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Line 452"/>
              <p:cNvSpPr>
                <a:spLocks noChangeShapeType="1"/>
              </p:cNvSpPr>
              <p:nvPr/>
            </p:nvSpPr>
            <p:spPr bwMode="auto">
              <a:xfrm flipH="1">
                <a:off x="7733634" y="3578960"/>
                <a:ext cx="86666" cy="589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Line 541"/>
              <p:cNvSpPr>
                <a:spLocks noChangeShapeType="1"/>
              </p:cNvSpPr>
              <p:nvPr/>
            </p:nvSpPr>
            <p:spPr bwMode="auto">
              <a:xfrm flipV="1">
                <a:off x="7253258" y="4504326"/>
                <a:ext cx="177045" cy="3539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39" name="Group 590"/>
              <p:cNvGrpSpPr>
                <a:grpSpLocks/>
              </p:cNvGrpSpPr>
              <p:nvPr/>
            </p:nvGrpSpPr>
            <p:grpSpPr bwMode="auto">
              <a:xfrm flipH="1">
                <a:off x="6085747" y="4876273"/>
                <a:ext cx="323139" cy="302449"/>
                <a:chOff x="2839" y="3501"/>
                <a:chExt cx="755" cy="803"/>
              </a:xfrm>
            </p:grpSpPr>
            <p:pic>
              <p:nvPicPr>
                <p:cNvPr id="357" name="Picture 591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8" name="Freeform 592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40" name="Group 593"/>
              <p:cNvGrpSpPr>
                <a:grpSpLocks/>
              </p:cNvGrpSpPr>
              <p:nvPr/>
            </p:nvGrpSpPr>
            <p:grpSpPr bwMode="auto">
              <a:xfrm flipH="1">
                <a:off x="5838131" y="5217333"/>
                <a:ext cx="376377" cy="329476"/>
                <a:chOff x="2839" y="3501"/>
                <a:chExt cx="755" cy="803"/>
              </a:xfrm>
            </p:grpSpPr>
            <p:pic>
              <p:nvPicPr>
                <p:cNvPr id="355" name="Picture 59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6" name="Freeform 595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41" name="Group 596"/>
              <p:cNvGrpSpPr>
                <a:grpSpLocks/>
              </p:cNvGrpSpPr>
              <p:nvPr/>
            </p:nvGrpSpPr>
            <p:grpSpPr bwMode="auto">
              <a:xfrm flipH="1">
                <a:off x="6210794" y="5461866"/>
                <a:ext cx="333044" cy="283144"/>
                <a:chOff x="2839" y="3501"/>
                <a:chExt cx="755" cy="803"/>
              </a:xfrm>
            </p:grpSpPr>
            <p:pic>
              <p:nvPicPr>
                <p:cNvPr id="353" name="Picture 597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4" name="Freeform 598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42" name="Group 599"/>
              <p:cNvGrpSpPr>
                <a:grpSpLocks/>
              </p:cNvGrpSpPr>
              <p:nvPr/>
            </p:nvGrpSpPr>
            <p:grpSpPr bwMode="auto">
              <a:xfrm>
                <a:off x="6689931" y="5447709"/>
                <a:ext cx="333044" cy="284431"/>
                <a:chOff x="2839" y="3501"/>
                <a:chExt cx="755" cy="803"/>
              </a:xfrm>
            </p:grpSpPr>
            <p:pic>
              <p:nvPicPr>
                <p:cNvPr id="351" name="Picture 60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2" name="Freeform 601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pic>
            <p:nvPicPr>
              <p:cNvPr id="43" name="Picture 603" descr="car_icon_small"/>
              <p:cNvPicPr>
                <a:picLocks noChangeAspect="1" noChangeArrowheads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27743" y="2595679"/>
                <a:ext cx="662373" cy="1364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4" name="Group 652"/>
              <p:cNvGrpSpPr>
                <a:grpSpLocks/>
              </p:cNvGrpSpPr>
              <p:nvPr/>
            </p:nvGrpSpPr>
            <p:grpSpPr bwMode="auto">
              <a:xfrm>
                <a:off x="5959463" y="2454107"/>
                <a:ext cx="324377" cy="312746"/>
                <a:chOff x="2751" y="1851"/>
                <a:chExt cx="462" cy="478"/>
              </a:xfrm>
            </p:grpSpPr>
            <p:pic>
              <p:nvPicPr>
                <p:cNvPr id="349" name="Picture 653" descr="iphone_stylized_small"/>
                <p:cNvPicPr>
                  <a:picLocks noChangeAspect="1" noChangeArrowheads="1"/>
                </p:cNvPicPr>
                <p:nvPr/>
              </p:nvPicPr>
              <p:blipFill>
                <a:blip r:embed="rId7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50" name="Picture 654" descr="antenna_radiation_stylized"/>
                <p:cNvPicPr>
                  <a:picLocks noChangeAspect="1" noChangeArrowheads="1"/>
                </p:cNvPicPr>
                <p:nvPr/>
              </p:nvPicPr>
              <p:blipFill>
                <a:blip r:embed="rId8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45" name="Group 665"/>
              <p:cNvGrpSpPr>
                <a:grpSpLocks/>
              </p:cNvGrpSpPr>
              <p:nvPr/>
            </p:nvGrpSpPr>
            <p:grpSpPr bwMode="auto">
              <a:xfrm>
                <a:off x="7578873" y="3142661"/>
                <a:ext cx="304568" cy="137711"/>
                <a:chOff x="4650" y="1129"/>
                <a:chExt cx="246" cy="95"/>
              </a:xfrm>
            </p:grpSpPr>
            <p:sp>
              <p:nvSpPr>
                <p:cNvPr id="341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2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3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44" name="Group 65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47" name="Freeform 66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48" name="Freeform 66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45" name="Line 66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6" name="Line 66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46" name="Group 666"/>
              <p:cNvGrpSpPr>
                <a:grpSpLocks/>
              </p:cNvGrpSpPr>
              <p:nvPr/>
            </p:nvGrpSpPr>
            <p:grpSpPr bwMode="auto">
              <a:xfrm>
                <a:off x="7635825" y="3436101"/>
                <a:ext cx="304568" cy="142859"/>
                <a:chOff x="4650" y="1129"/>
                <a:chExt cx="246" cy="95"/>
              </a:xfrm>
            </p:grpSpPr>
            <p:sp>
              <p:nvSpPr>
                <p:cNvPr id="333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5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36" name="Group 670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39" name="Freeform 671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40" name="Freeform 672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37" name="Line 673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38" name="Line 674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47" name="Group 675"/>
              <p:cNvGrpSpPr>
                <a:grpSpLocks/>
              </p:cNvGrpSpPr>
              <p:nvPr/>
            </p:nvGrpSpPr>
            <p:grpSpPr bwMode="auto">
              <a:xfrm>
                <a:off x="7200020" y="3222456"/>
                <a:ext cx="304568" cy="137711"/>
                <a:chOff x="4650" y="1129"/>
                <a:chExt cx="246" cy="95"/>
              </a:xfrm>
            </p:grpSpPr>
            <p:sp>
              <p:nvSpPr>
                <p:cNvPr id="325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7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28" name="Group 67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31" name="Freeform 68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32" name="Freeform 68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29" name="Line 68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30" name="Line 68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48" name="Group 684"/>
              <p:cNvGrpSpPr>
                <a:grpSpLocks/>
              </p:cNvGrpSpPr>
              <p:nvPr/>
            </p:nvGrpSpPr>
            <p:grpSpPr bwMode="auto">
              <a:xfrm>
                <a:off x="7208687" y="3436101"/>
                <a:ext cx="304568" cy="137711"/>
                <a:chOff x="4650" y="1129"/>
                <a:chExt cx="246" cy="95"/>
              </a:xfrm>
            </p:grpSpPr>
            <p:sp>
              <p:nvSpPr>
                <p:cNvPr id="317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8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9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20" name="Group 688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23" name="Freeform 689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24" name="Freeform 690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21" name="Line 691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22" name="Line 692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49" name="Line 693"/>
              <p:cNvSpPr>
                <a:spLocks noChangeShapeType="1"/>
              </p:cNvSpPr>
              <p:nvPr/>
            </p:nvSpPr>
            <p:spPr bwMode="auto">
              <a:xfrm>
                <a:off x="8090201" y="3515896"/>
                <a:ext cx="138665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50" name="Group 694"/>
              <p:cNvGrpSpPr>
                <a:grpSpLocks/>
              </p:cNvGrpSpPr>
              <p:nvPr/>
            </p:nvGrpSpPr>
            <p:grpSpPr bwMode="auto">
              <a:xfrm>
                <a:off x="7353543" y="4371762"/>
                <a:ext cx="378853" cy="164738"/>
                <a:chOff x="4650" y="1129"/>
                <a:chExt cx="246" cy="95"/>
              </a:xfrm>
            </p:grpSpPr>
            <p:sp>
              <p:nvSpPr>
                <p:cNvPr id="309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0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1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12" name="Group 698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15" name="Freeform 699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16" name="Freeform 700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13" name="Line 701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14" name="Line 702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1" name="Group 712"/>
              <p:cNvGrpSpPr>
                <a:grpSpLocks/>
              </p:cNvGrpSpPr>
              <p:nvPr/>
            </p:nvGrpSpPr>
            <p:grpSpPr bwMode="auto">
              <a:xfrm>
                <a:off x="7104689" y="4143961"/>
                <a:ext cx="378853" cy="164738"/>
                <a:chOff x="4650" y="1129"/>
                <a:chExt cx="246" cy="95"/>
              </a:xfrm>
            </p:grpSpPr>
            <p:sp>
              <p:nvSpPr>
                <p:cNvPr id="301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2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3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04" name="Group 716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07" name="Freeform 717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08" name="Freeform 718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305" name="Line 719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06" name="Line 720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2" name="Group 721"/>
              <p:cNvGrpSpPr>
                <a:grpSpLocks/>
              </p:cNvGrpSpPr>
              <p:nvPr/>
            </p:nvGrpSpPr>
            <p:grpSpPr bwMode="auto">
              <a:xfrm>
                <a:off x="7620968" y="4154257"/>
                <a:ext cx="378853" cy="164738"/>
                <a:chOff x="4650" y="1129"/>
                <a:chExt cx="246" cy="95"/>
              </a:xfrm>
            </p:grpSpPr>
            <p:sp>
              <p:nvSpPr>
                <p:cNvPr id="293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5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96" name="Group 725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299" name="Freeform 726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00" name="Freeform 727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297" name="Line 728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98" name="Line 729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3" name="Group 730"/>
              <p:cNvGrpSpPr>
                <a:grpSpLocks/>
              </p:cNvGrpSpPr>
              <p:nvPr/>
            </p:nvGrpSpPr>
            <p:grpSpPr bwMode="auto">
              <a:xfrm>
                <a:off x="7011832" y="4853107"/>
                <a:ext cx="482852" cy="196914"/>
                <a:chOff x="4650" y="1129"/>
                <a:chExt cx="246" cy="95"/>
              </a:xfrm>
            </p:grpSpPr>
            <p:sp>
              <p:nvSpPr>
                <p:cNvPr id="285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7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88" name="Group 734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291" name="Freeform 735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92" name="Freeform 736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289" name="Line 737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90" name="Line 738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4" name="Group 739"/>
              <p:cNvGrpSpPr>
                <a:grpSpLocks/>
              </p:cNvGrpSpPr>
              <p:nvPr/>
            </p:nvGrpSpPr>
            <p:grpSpPr bwMode="auto">
              <a:xfrm>
                <a:off x="7505827" y="5095066"/>
                <a:ext cx="482852" cy="196914"/>
                <a:chOff x="4650" y="1129"/>
                <a:chExt cx="246" cy="95"/>
              </a:xfrm>
            </p:grpSpPr>
            <p:sp>
              <p:nvSpPr>
                <p:cNvPr id="277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8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9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80" name="Group 743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283" name="Freeform 744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84" name="Freeform 745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281" name="Line 746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82" name="Line 747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5" name="Group 748"/>
              <p:cNvGrpSpPr>
                <a:grpSpLocks/>
              </p:cNvGrpSpPr>
              <p:nvPr/>
            </p:nvGrpSpPr>
            <p:grpSpPr bwMode="auto">
              <a:xfrm>
                <a:off x="6453458" y="5131103"/>
                <a:ext cx="482852" cy="196914"/>
                <a:chOff x="4650" y="1129"/>
                <a:chExt cx="246" cy="95"/>
              </a:xfrm>
            </p:grpSpPr>
            <p:sp>
              <p:nvSpPr>
                <p:cNvPr id="269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0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1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72" name="Group 752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275" name="Freeform 753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76" name="Freeform 754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273" name="Line 755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4" name="Line 756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6" name="Group 757"/>
              <p:cNvGrpSpPr>
                <a:grpSpLocks/>
              </p:cNvGrpSpPr>
              <p:nvPr/>
            </p:nvGrpSpPr>
            <p:grpSpPr bwMode="auto">
              <a:xfrm>
                <a:off x="6302412" y="4151683"/>
                <a:ext cx="304568" cy="137711"/>
                <a:chOff x="4650" y="1129"/>
                <a:chExt cx="246" cy="95"/>
              </a:xfrm>
            </p:grpSpPr>
            <p:sp>
              <p:nvSpPr>
                <p:cNvPr id="261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2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3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64" name="Group 761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267" name="Freeform 762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68" name="Freeform 763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265" name="Line 764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6" name="Line 765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7" name="Group 767"/>
              <p:cNvGrpSpPr>
                <a:grpSpLocks/>
              </p:cNvGrpSpPr>
              <p:nvPr/>
            </p:nvGrpSpPr>
            <p:grpSpPr bwMode="auto">
              <a:xfrm>
                <a:off x="6536409" y="3217308"/>
                <a:ext cx="304568" cy="137711"/>
                <a:chOff x="4650" y="1129"/>
                <a:chExt cx="246" cy="95"/>
              </a:xfrm>
            </p:grpSpPr>
            <p:sp>
              <p:nvSpPr>
                <p:cNvPr id="253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5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56" name="Group 771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259" name="Freeform 772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60" name="Freeform 773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257" name="Line 774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8" name="Line 775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8" name="Group 776"/>
              <p:cNvGrpSpPr>
                <a:grpSpLocks/>
              </p:cNvGrpSpPr>
              <p:nvPr/>
            </p:nvGrpSpPr>
            <p:grpSpPr bwMode="auto">
              <a:xfrm>
                <a:off x="5958225" y="4038425"/>
                <a:ext cx="394948" cy="285718"/>
                <a:chOff x="2967" y="478"/>
                <a:chExt cx="788" cy="625"/>
              </a:xfrm>
            </p:grpSpPr>
            <p:pic>
              <p:nvPicPr>
                <p:cNvPr id="251" name="Picture 777" descr="access_point_stylized_small"/>
                <p:cNvPicPr>
                  <a:picLocks noChangeAspect="1" noChangeArrowheads="1"/>
                </p:cNvPicPr>
                <p:nvPr/>
              </p:nvPicPr>
              <p:blipFill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12" y="559"/>
                  <a:ext cx="576" cy="5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2" name="Picture 778" descr="antenna_radiation_stylized"/>
                <p:cNvPicPr>
                  <a:picLocks noChangeAspect="1" noChangeArrowheads="1"/>
                </p:cNvPicPr>
                <p:nvPr/>
              </p:nvPicPr>
              <p:blipFill>
                <a:blip r:embed="rId10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7" y="478"/>
                  <a:ext cx="788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9" name="Group 779"/>
              <p:cNvGrpSpPr>
                <a:grpSpLocks/>
              </p:cNvGrpSpPr>
              <p:nvPr/>
            </p:nvGrpSpPr>
            <p:grpSpPr bwMode="auto">
              <a:xfrm>
                <a:off x="7144307" y="5257230"/>
                <a:ext cx="439519" cy="341060"/>
                <a:chOff x="2967" y="478"/>
                <a:chExt cx="788" cy="625"/>
              </a:xfrm>
            </p:grpSpPr>
            <p:pic>
              <p:nvPicPr>
                <p:cNvPr id="249" name="Picture 780" descr="access_point_stylized_small"/>
                <p:cNvPicPr>
                  <a:picLocks noChangeAspect="1" noChangeArrowheads="1"/>
                </p:cNvPicPr>
                <p:nvPr/>
              </p:nvPicPr>
              <p:blipFill>
                <a:blip r:embed="rId1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12" y="559"/>
                  <a:ext cx="576" cy="5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0" name="Picture 781" descr="antenna_radiation_stylized"/>
                <p:cNvPicPr>
                  <a:picLocks noChangeAspect="1" noChangeArrowheads="1"/>
                </p:cNvPicPr>
                <p:nvPr/>
              </p:nvPicPr>
              <p:blipFill>
                <a:blip r:embed="rId1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7" y="478"/>
                  <a:ext cx="788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0" name="Group 782"/>
              <p:cNvGrpSpPr>
                <a:grpSpLocks/>
              </p:cNvGrpSpPr>
              <p:nvPr/>
            </p:nvGrpSpPr>
            <p:grpSpPr bwMode="auto">
              <a:xfrm>
                <a:off x="6308602" y="2696066"/>
                <a:ext cx="356567" cy="512233"/>
                <a:chOff x="742" y="2409"/>
                <a:chExt cx="576" cy="881"/>
              </a:xfrm>
            </p:grpSpPr>
            <p:grpSp>
              <p:nvGrpSpPr>
                <p:cNvPr id="231" name="Group 783"/>
                <p:cNvGrpSpPr>
                  <a:grpSpLocks/>
                </p:cNvGrpSpPr>
                <p:nvPr/>
              </p:nvGrpSpPr>
              <p:grpSpPr bwMode="auto"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sp>
                <p:nvSpPr>
                  <p:cNvPr id="234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30" y="3288"/>
                    <a:ext cx="205" cy="6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35" name="Line 271"/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288"/>
                    <a:ext cx="205" cy="6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36" name="Line 272"/>
                  <p:cNvSpPr>
                    <a:spLocks noChangeShapeType="1"/>
                  </p:cNvSpPr>
                  <p:nvPr/>
                </p:nvSpPr>
                <p:spPr bwMode="auto">
                  <a:xfrm>
                    <a:off x="3130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37" name="Line 2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35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38" name="Line 274"/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303"/>
                    <a:ext cx="0" cy="7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39" name="Line 2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30" y="3888"/>
                    <a:ext cx="205" cy="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40" name="Line 27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35" y="3888"/>
                    <a:ext cx="205" cy="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41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3217" y="3668"/>
                    <a:ext cx="118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42" name="Line 27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668"/>
                    <a:ext cx="124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43" name="Line 279"/>
                  <p:cNvSpPr>
                    <a:spLocks noChangeShapeType="1"/>
                  </p:cNvSpPr>
                  <p:nvPr/>
                </p:nvSpPr>
                <p:spPr bwMode="auto">
                  <a:xfrm>
                    <a:off x="3178" y="3766"/>
                    <a:ext cx="152" cy="7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44" name="Line 28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781"/>
                    <a:ext cx="153" cy="6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45" name="Line 28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567"/>
                    <a:ext cx="78" cy="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46" name="Line 28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428"/>
                    <a:ext cx="49" cy="2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47" name="Line 283"/>
                  <p:cNvSpPr>
                    <a:spLocks noChangeShapeType="1"/>
                  </p:cNvSpPr>
                  <p:nvPr/>
                </p:nvSpPr>
                <p:spPr bwMode="auto">
                  <a:xfrm>
                    <a:off x="3247" y="3558"/>
                    <a:ext cx="9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  <p:sp>
                <p:nvSpPr>
                  <p:cNvPr id="248" name="Line 284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3422"/>
                    <a:ext cx="5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  <p:pic>
              <p:nvPicPr>
                <p:cNvPr id="232" name="Picture 799" descr="cell_tower_radiation copy"/>
                <p:cNvPicPr>
                  <a:picLocks noChangeAspect="1" noChangeArrowheads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2" y="2409"/>
                  <a:ext cx="576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3" name="Oval 800"/>
                <p:cNvSpPr>
                  <a:spLocks noChangeArrowheads="1"/>
                </p:cNvSpPr>
                <p:nvPr/>
              </p:nvSpPr>
              <p:spPr bwMode="auto">
                <a:xfrm>
                  <a:off x="986" y="2597"/>
                  <a:ext cx="66" cy="69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" name="Text Box 580"/>
              <p:cNvSpPr txBox="1">
                <a:spLocks noChangeArrowheads="1"/>
              </p:cNvSpPr>
              <p:nvPr/>
            </p:nvSpPr>
            <p:spPr bwMode="auto">
              <a:xfrm>
                <a:off x="6228127" y="2322831"/>
                <a:ext cx="1535732" cy="3206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 dirty="0">
                    <a:latin typeface="+mn-lt"/>
                  </a:rPr>
                  <a:t>mobile network</a:t>
                </a:r>
              </a:p>
            </p:txBody>
          </p:sp>
          <p:sp>
            <p:nvSpPr>
              <p:cNvPr id="62" name="Text Box 580"/>
              <p:cNvSpPr txBox="1">
                <a:spLocks noChangeArrowheads="1"/>
              </p:cNvSpPr>
              <p:nvPr/>
            </p:nvSpPr>
            <p:spPr bwMode="auto">
              <a:xfrm>
                <a:off x="7950088" y="2657599"/>
                <a:ext cx="1143610" cy="3206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 dirty="0">
                    <a:latin typeface="+mn-lt"/>
                  </a:rPr>
                  <a:t>Global ISP</a:t>
                </a:r>
              </a:p>
            </p:txBody>
          </p:sp>
          <p:sp>
            <p:nvSpPr>
              <p:cNvPr id="63" name="Text Box 580"/>
              <p:cNvSpPr txBox="1">
                <a:spLocks noChangeArrowheads="1"/>
              </p:cNvSpPr>
              <p:nvPr/>
            </p:nvSpPr>
            <p:spPr bwMode="auto">
              <a:xfrm>
                <a:off x="7938331" y="3820107"/>
                <a:ext cx="1354633" cy="3206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 dirty="0">
                    <a:latin typeface="+mn-lt"/>
                  </a:rPr>
                  <a:t>Regional ISP</a:t>
                </a:r>
              </a:p>
            </p:txBody>
          </p:sp>
          <p:sp>
            <p:nvSpPr>
              <p:cNvPr id="64" name="Text Box 580"/>
              <p:cNvSpPr txBox="1">
                <a:spLocks noChangeArrowheads="1"/>
              </p:cNvSpPr>
              <p:nvPr/>
            </p:nvSpPr>
            <p:spPr bwMode="auto">
              <a:xfrm>
                <a:off x="6693122" y="3581400"/>
                <a:ext cx="919991" cy="460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600" dirty="0">
                    <a:latin typeface="+mn-lt"/>
                  </a:rPr>
                  <a:t>Home 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1600" dirty="0">
                    <a:latin typeface="+mn-lt"/>
                  </a:rPr>
                  <a:t>Network</a:t>
                </a:r>
              </a:p>
            </p:txBody>
          </p:sp>
          <p:sp>
            <p:nvSpPr>
              <p:cNvPr id="65" name="Text Box 580"/>
              <p:cNvSpPr txBox="1">
                <a:spLocks noChangeArrowheads="1"/>
              </p:cNvSpPr>
              <p:nvPr/>
            </p:nvSpPr>
            <p:spPr bwMode="auto">
              <a:xfrm>
                <a:off x="5857941" y="5930358"/>
                <a:ext cx="1316838" cy="460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600" dirty="0">
                    <a:latin typeface="+mn-lt"/>
                  </a:rPr>
                  <a:t>Institutional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1600" dirty="0">
                    <a:latin typeface="+mn-lt"/>
                  </a:rPr>
                  <a:t>       Network</a:t>
                </a:r>
              </a:p>
            </p:txBody>
          </p:sp>
          <p:grpSp>
            <p:nvGrpSpPr>
              <p:cNvPr id="66" name="Group 950"/>
              <p:cNvGrpSpPr>
                <a:grpSpLocks/>
              </p:cNvGrpSpPr>
              <p:nvPr/>
            </p:nvGrpSpPr>
            <p:grpSpPr bwMode="auto">
              <a:xfrm>
                <a:off x="8008488" y="5255944"/>
                <a:ext cx="177045" cy="389967"/>
                <a:chOff x="4140" y="429"/>
                <a:chExt cx="1425" cy="2396"/>
              </a:xfrm>
            </p:grpSpPr>
            <p:sp>
              <p:nvSpPr>
                <p:cNvPr id="199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0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1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2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3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04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29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30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5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06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27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8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7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8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09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25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6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0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211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23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4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2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3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4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39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5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7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8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9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0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21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2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oup 983"/>
              <p:cNvGrpSpPr>
                <a:grpSpLocks/>
              </p:cNvGrpSpPr>
              <p:nvPr/>
            </p:nvGrpSpPr>
            <p:grpSpPr bwMode="auto">
              <a:xfrm>
                <a:off x="7762109" y="5500477"/>
                <a:ext cx="177045" cy="389967"/>
                <a:chOff x="4140" y="429"/>
                <a:chExt cx="1425" cy="2396"/>
              </a:xfrm>
            </p:grpSpPr>
            <p:sp>
              <p:nvSpPr>
                <p:cNvPr id="167" name="Freeform 984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8" name="Rectangle 985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9" name="Freeform 986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0" name="Freeform 987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1" name="Rectangle 988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72" name="Group 989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97" name="AutoShape 99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98" name="AutoShape 99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73" name="Rectangle 992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74" name="Group 993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95" name="AutoShape 994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96" name="AutoShape 995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75" name="Rectangle 996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6" name="Rectangle 997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77" name="Group 998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93" name="AutoShape 999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94" name="AutoShape 1000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78" name="Freeform 1001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79" name="Group 1002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91" name="AutoShape 1003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92" name="AutoShape 1004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80" name="Rectangle 1005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1" name="Freeform 1006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2" name="Freeform 1007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39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3" name="Oval 1008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" name="Freeform 1009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5" name="AutoShape 1010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" name="AutoShape 1011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7" name="Oval 1012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8" name="Oval 1013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89" name="Oval 1014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0" name="Rectangle 1015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8" name="Group 1016"/>
              <p:cNvGrpSpPr>
                <a:grpSpLocks/>
              </p:cNvGrpSpPr>
              <p:nvPr/>
            </p:nvGrpSpPr>
            <p:grpSpPr bwMode="auto">
              <a:xfrm>
                <a:off x="5716799" y="2856944"/>
                <a:ext cx="417233" cy="330764"/>
                <a:chOff x="877" y="1008"/>
                <a:chExt cx="2747" cy="2591"/>
              </a:xfrm>
            </p:grpSpPr>
            <p:pic>
              <p:nvPicPr>
                <p:cNvPr id="144" name="Picture 1017" descr="antenna_stylized"/>
                <p:cNvPicPr>
                  <a:picLocks noChangeAspect="1" noChangeArrowheads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5" name="Picture 1018" descr="laptop_keyboard"/>
                <p:cNvPicPr>
                  <a:picLocks noChangeAspect="1" noChangeArrowheads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6" name="Freeform 1019"/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2 w 2982"/>
                    <a:gd name="T1" fmla="*/ 0 h 2442"/>
                    <a:gd name="T2" fmla="*/ 0 w 2982"/>
                    <a:gd name="T3" fmla="*/ 2 h 2442"/>
                    <a:gd name="T4" fmla="*/ 10 w 2982"/>
                    <a:gd name="T5" fmla="*/ 3 h 2442"/>
                    <a:gd name="T6" fmla="*/ 12 w 2982"/>
                    <a:gd name="T7" fmla="*/ 1 h 2442"/>
                    <a:gd name="T8" fmla="*/ 2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47" name="Picture 1020" descr="screen"/>
                <p:cNvPicPr>
                  <a:picLocks noChangeAspect="1" noChangeArrowheads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8" name="Freeform 1021"/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10 w 2528"/>
                    <a:gd name="T3" fmla="*/ 1 h 455"/>
                    <a:gd name="T4" fmla="*/ 10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49" name="Freeform 1022"/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2 w 702"/>
                    <a:gd name="T1" fmla="*/ 0 h 1893"/>
                    <a:gd name="T2" fmla="*/ 0 w 702"/>
                    <a:gd name="T3" fmla="*/ 2 h 1893"/>
                    <a:gd name="T4" fmla="*/ 1 w 702"/>
                    <a:gd name="T5" fmla="*/ 2 h 1893"/>
                    <a:gd name="T6" fmla="*/ 3 w 702"/>
                    <a:gd name="T7" fmla="*/ 1 h 1893"/>
                    <a:gd name="T8" fmla="*/ 2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0" name="Freeform 1023"/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3 w 756"/>
                    <a:gd name="T1" fmla="*/ 0 h 2184"/>
                    <a:gd name="T2" fmla="*/ 1 w 756"/>
                    <a:gd name="T3" fmla="*/ 3 h 2184"/>
                    <a:gd name="T4" fmla="*/ 0 w 756"/>
                    <a:gd name="T5" fmla="*/ 3 h 2184"/>
                    <a:gd name="T6" fmla="*/ 2 w 756"/>
                    <a:gd name="T7" fmla="*/ 1 h 2184"/>
                    <a:gd name="T8" fmla="*/ 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1" name="Freeform 1024"/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10 w 2773"/>
                    <a:gd name="T5" fmla="*/ 1 h 738"/>
                    <a:gd name="T6" fmla="*/ 10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2" name="Freeform 1025"/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8 w 637"/>
                    <a:gd name="T1" fmla="*/ 0 h 1659"/>
                    <a:gd name="T2" fmla="*/ 8 w 637"/>
                    <a:gd name="T3" fmla="*/ 0 h 1659"/>
                    <a:gd name="T4" fmla="*/ 1 w 637"/>
                    <a:gd name="T5" fmla="*/ 42 h 1659"/>
                    <a:gd name="T6" fmla="*/ 0 w 637"/>
                    <a:gd name="T7" fmla="*/ 41 h 1659"/>
                    <a:gd name="T8" fmla="*/ 8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3" name="Freeform 1026"/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28 w 2216"/>
                    <a:gd name="T5" fmla="*/ 14 h 550"/>
                    <a:gd name="T6" fmla="*/ 28 w 2216"/>
                    <a:gd name="T7" fmla="*/ 1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54" name="Group 1027"/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61" name="Freeform 1028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2" name="Freeform 1029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3" name="Freeform 1030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4" name="Freeform 1031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5" name="Freeform 1032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66" name="Freeform 1033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5" name="Freeform 1034"/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6 h 792"/>
                    <a:gd name="T2" fmla="*/ 6 w 990"/>
                    <a:gd name="T3" fmla="*/ 0 h 792"/>
                    <a:gd name="T4" fmla="*/ 6 w 990"/>
                    <a:gd name="T5" fmla="*/ 1 h 792"/>
                    <a:gd name="T6" fmla="*/ 0 w 990"/>
                    <a:gd name="T7" fmla="*/ 6 h 792"/>
                    <a:gd name="T8" fmla="*/ 1 w 990"/>
                    <a:gd name="T9" fmla="*/ 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6" name="Freeform 1035"/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4 w 2532"/>
                    <a:gd name="T5" fmla="*/ 6 h 723"/>
                    <a:gd name="T6" fmla="*/ 14 w 2532"/>
                    <a:gd name="T7" fmla="*/ 6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7" name="Freeform 1036"/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8" name="Freeform 1037"/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6 w 1176"/>
                    <a:gd name="T1" fmla="*/ 0 h 606"/>
                    <a:gd name="T2" fmla="*/ 0 w 1176"/>
                    <a:gd name="T3" fmla="*/ 5 h 606"/>
                    <a:gd name="T4" fmla="*/ 1 w 1176"/>
                    <a:gd name="T5" fmla="*/ 5 h 606"/>
                    <a:gd name="T6" fmla="*/ 6 w 1176"/>
                    <a:gd name="T7" fmla="*/ 1 h 606"/>
                    <a:gd name="T8" fmla="*/ 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59" name="Freeform 1038"/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7 w 2532"/>
                    <a:gd name="T5" fmla="*/ 4 h 723"/>
                    <a:gd name="T6" fmla="*/ 7 w 2532"/>
                    <a:gd name="T7" fmla="*/ 4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0" name="Freeform 1039"/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6 h 723"/>
                    <a:gd name="T6" fmla="*/ 0 w 2532"/>
                    <a:gd name="T7" fmla="*/ 6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69" name="Group 1064"/>
              <p:cNvGrpSpPr>
                <a:grpSpLocks/>
              </p:cNvGrpSpPr>
              <p:nvPr/>
            </p:nvGrpSpPr>
            <p:grpSpPr bwMode="auto">
              <a:xfrm>
                <a:off x="6941262" y="5648483"/>
                <a:ext cx="370186" cy="330764"/>
                <a:chOff x="877" y="1008"/>
                <a:chExt cx="2747" cy="2591"/>
              </a:xfrm>
            </p:grpSpPr>
            <p:pic>
              <p:nvPicPr>
                <p:cNvPr id="121" name="Picture 1065" descr="antenna_stylized"/>
                <p:cNvPicPr>
                  <a:picLocks noChangeAspect="1" noChangeArrowheads="1"/>
                </p:cNvPicPr>
                <p:nvPr/>
              </p:nvPicPr>
              <p:blipFill>
                <a:blip r:embed="rId17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2" name="Picture 1066" descr="laptop_keyboard"/>
                <p:cNvPicPr>
                  <a:picLocks noChangeAspect="1" noChangeArrowheads="1"/>
                </p:cNvPicPr>
                <p:nvPr/>
              </p:nvPicPr>
              <p:blipFill>
                <a:blip r:embed="rId18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3" name="Freeform 1067"/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2 w 2982"/>
                    <a:gd name="T1" fmla="*/ 0 h 2442"/>
                    <a:gd name="T2" fmla="*/ 0 w 2982"/>
                    <a:gd name="T3" fmla="*/ 2 h 2442"/>
                    <a:gd name="T4" fmla="*/ 10 w 2982"/>
                    <a:gd name="T5" fmla="*/ 3 h 2442"/>
                    <a:gd name="T6" fmla="*/ 12 w 2982"/>
                    <a:gd name="T7" fmla="*/ 1 h 2442"/>
                    <a:gd name="T8" fmla="*/ 2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24" name="Picture 1068" descr="screen"/>
                <p:cNvPicPr>
                  <a:picLocks noChangeAspect="1" noChangeArrowheads="1"/>
                </p:cNvPicPr>
                <p:nvPr/>
              </p:nvPicPr>
              <p:blipFill>
                <a:blip r:embed="rId1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5" name="Freeform 1069"/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10 w 2528"/>
                    <a:gd name="T3" fmla="*/ 1 h 455"/>
                    <a:gd name="T4" fmla="*/ 10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6" name="Freeform 1070"/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2 w 702"/>
                    <a:gd name="T1" fmla="*/ 0 h 1893"/>
                    <a:gd name="T2" fmla="*/ 0 w 702"/>
                    <a:gd name="T3" fmla="*/ 2 h 1893"/>
                    <a:gd name="T4" fmla="*/ 1 w 702"/>
                    <a:gd name="T5" fmla="*/ 2 h 1893"/>
                    <a:gd name="T6" fmla="*/ 3 w 702"/>
                    <a:gd name="T7" fmla="*/ 1 h 1893"/>
                    <a:gd name="T8" fmla="*/ 2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7" name="Freeform 1071"/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3 w 756"/>
                    <a:gd name="T1" fmla="*/ 0 h 2184"/>
                    <a:gd name="T2" fmla="*/ 1 w 756"/>
                    <a:gd name="T3" fmla="*/ 3 h 2184"/>
                    <a:gd name="T4" fmla="*/ 0 w 756"/>
                    <a:gd name="T5" fmla="*/ 3 h 2184"/>
                    <a:gd name="T6" fmla="*/ 2 w 756"/>
                    <a:gd name="T7" fmla="*/ 1 h 2184"/>
                    <a:gd name="T8" fmla="*/ 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8" name="Freeform 1072"/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10 w 2773"/>
                    <a:gd name="T5" fmla="*/ 1 h 738"/>
                    <a:gd name="T6" fmla="*/ 10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9" name="Freeform 1073"/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8 w 637"/>
                    <a:gd name="T1" fmla="*/ 0 h 1659"/>
                    <a:gd name="T2" fmla="*/ 8 w 637"/>
                    <a:gd name="T3" fmla="*/ 0 h 1659"/>
                    <a:gd name="T4" fmla="*/ 1 w 637"/>
                    <a:gd name="T5" fmla="*/ 42 h 1659"/>
                    <a:gd name="T6" fmla="*/ 0 w 637"/>
                    <a:gd name="T7" fmla="*/ 41 h 1659"/>
                    <a:gd name="T8" fmla="*/ 8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0" name="Freeform 1074"/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28 w 2216"/>
                    <a:gd name="T5" fmla="*/ 14 h 550"/>
                    <a:gd name="T6" fmla="*/ 28 w 2216"/>
                    <a:gd name="T7" fmla="*/ 1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31" name="Group 1075"/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38" name="Freeform 1076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9" name="Freeform 1077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40" name="Freeform 1078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41" name="Freeform 1079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42" name="Freeform 1080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43" name="Freeform 1081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32" name="Freeform 1082"/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6 h 792"/>
                    <a:gd name="T2" fmla="*/ 6 w 990"/>
                    <a:gd name="T3" fmla="*/ 0 h 792"/>
                    <a:gd name="T4" fmla="*/ 6 w 990"/>
                    <a:gd name="T5" fmla="*/ 1 h 792"/>
                    <a:gd name="T6" fmla="*/ 0 w 990"/>
                    <a:gd name="T7" fmla="*/ 6 h 792"/>
                    <a:gd name="T8" fmla="*/ 1 w 990"/>
                    <a:gd name="T9" fmla="*/ 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3" name="Freeform 1083"/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4 w 2532"/>
                    <a:gd name="T5" fmla="*/ 6 h 723"/>
                    <a:gd name="T6" fmla="*/ 14 w 2532"/>
                    <a:gd name="T7" fmla="*/ 6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4" name="Freeform 1084"/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5" name="Freeform 1085"/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6 w 1176"/>
                    <a:gd name="T1" fmla="*/ 0 h 606"/>
                    <a:gd name="T2" fmla="*/ 0 w 1176"/>
                    <a:gd name="T3" fmla="*/ 5 h 606"/>
                    <a:gd name="T4" fmla="*/ 1 w 1176"/>
                    <a:gd name="T5" fmla="*/ 5 h 606"/>
                    <a:gd name="T6" fmla="*/ 6 w 1176"/>
                    <a:gd name="T7" fmla="*/ 1 h 606"/>
                    <a:gd name="T8" fmla="*/ 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6" name="Freeform 1086"/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7 w 2532"/>
                    <a:gd name="T5" fmla="*/ 4 h 723"/>
                    <a:gd name="T6" fmla="*/ 7 w 2532"/>
                    <a:gd name="T7" fmla="*/ 4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37" name="Freeform 1087"/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6 h 723"/>
                    <a:gd name="T6" fmla="*/ 0 w 2532"/>
                    <a:gd name="T7" fmla="*/ 6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70" name="Group 1114"/>
              <p:cNvGrpSpPr>
                <a:grpSpLocks/>
              </p:cNvGrpSpPr>
              <p:nvPr/>
            </p:nvGrpSpPr>
            <p:grpSpPr bwMode="auto">
              <a:xfrm>
                <a:off x="5918606" y="3666477"/>
                <a:ext cx="346663" cy="330764"/>
                <a:chOff x="877" y="1008"/>
                <a:chExt cx="2747" cy="2591"/>
              </a:xfrm>
            </p:grpSpPr>
            <p:pic>
              <p:nvPicPr>
                <p:cNvPr id="98" name="Picture 1115" descr="antenna_stylized"/>
                <p:cNvPicPr>
                  <a:picLocks noChangeAspect="1" noChangeArrowheads="1"/>
                </p:cNvPicPr>
                <p:nvPr/>
              </p:nvPicPr>
              <p:blipFill>
                <a:blip r:embed="rId20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9" name="Picture 1116" descr="laptop_keyboard"/>
                <p:cNvPicPr>
                  <a:picLocks noChangeAspect="1" noChangeArrowheads="1"/>
                </p:cNvPicPr>
                <p:nvPr/>
              </p:nvPicPr>
              <p:blipFill>
                <a:blip r:embed="rId2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0" name="Freeform 1117"/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2 w 2982"/>
                    <a:gd name="T1" fmla="*/ 0 h 2442"/>
                    <a:gd name="T2" fmla="*/ 0 w 2982"/>
                    <a:gd name="T3" fmla="*/ 2 h 2442"/>
                    <a:gd name="T4" fmla="*/ 10 w 2982"/>
                    <a:gd name="T5" fmla="*/ 3 h 2442"/>
                    <a:gd name="T6" fmla="*/ 12 w 2982"/>
                    <a:gd name="T7" fmla="*/ 1 h 2442"/>
                    <a:gd name="T8" fmla="*/ 2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01" name="Picture 1118" descr="screen"/>
                <p:cNvPicPr>
                  <a:picLocks noChangeAspect="1" noChangeArrowheads="1"/>
                </p:cNvPicPr>
                <p:nvPr/>
              </p:nvPicPr>
              <p:blipFill>
                <a:blip r:embed="rId2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02" name="Freeform 1119"/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10 w 2528"/>
                    <a:gd name="T3" fmla="*/ 1 h 455"/>
                    <a:gd name="T4" fmla="*/ 10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03" name="Freeform 1120"/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2 w 702"/>
                    <a:gd name="T1" fmla="*/ 0 h 1893"/>
                    <a:gd name="T2" fmla="*/ 0 w 702"/>
                    <a:gd name="T3" fmla="*/ 2 h 1893"/>
                    <a:gd name="T4" fmla="*/ 1 w 702"/>
                    <a:gd name="T5" fmla="*/ 2 h 1893"/>
                    <a:gd name="T6" fmla="*/ 3 w 702"/>
                    <a:gd name="T7" fmla="*/ 1 h 1893"/>
                    <a:gd name="T8" fmla="*/ 2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04" name="Freeform 1121"/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3 w 756"/>
                    <a:gd name="T1" fmla="*/ 0 h 2184"/>
                    <a:gd name="T2" fmla="*/ 1 w 756"/>
                    <a:gd name="T3" fmla="*/ 3 h 2184"/>
                    <a:gd name="T4" fmla="*/ 0 w 756"/>
                    <a:gd name="T5" fmla="*/ 3 h 2184"/>
                    <a:gd name="T6" fmla="*/ 2 w 756"/>
                    <a:gd name="T7" fmla="*/ 1 h 2184"/>
                    <a:gd name="T8" fmla="*/ 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05" name="Freeform 1122"/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10 w 2773"/>
                    <a:gd name="T5" fmla="*/ 1 h 738"/>
                    <a:gd name="T6" fmla="*/ 10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06" name="Freeform 1123"/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8 w 637"/>
                    <a:gd name="T1" fmla="*/ 0 h 1659"/>
                    <a:gd name="T2" fmla="*/ 8 w 637"/>
                    <a:gd name="T3" fmla="*/ 0 h 1659"/>
                    <a:gd name="T4" fmla="*/ 1 w 637"/>
                    <a:gd name="T5" fmla="*/ 42 h 1659"/>
                    <a:gd name="T6" fmla="*/ 0 w 637"/>
                    <a:gd name="T7" fmla="*/ 41 h 1659"/>
                    <a:gd name="T8" fmla="*/ 8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07" name="Freeform 1124"/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28 w 2216"/>
                    <a:gd name="T5" fmla="*/ 14 h 550"/>
                    <a:gd name="T6" fmla="*/ 28 w 2216"/>
                    <a:gd name="T7" fmla="*/ 1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08" name="Group 1125"/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15" name="Freeform 1126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16" name="Freeform 1127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17" name="Freeform 1128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18" name="Freeform 1129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19" name="Freeform 1130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20" name="Freeform 1131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09" name="Freeform 1132"/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6 h 792"/>
                    <a:gd name="T2" fmla="*/ 6 w 990"/>
                    <a:gd name="T3" fmla="*/ 0 h 792"/>
                    <a:gd name="T4" fmla="*/ 6 w 990"/>
                    <a:gd name="T5" fmla="*/ 1 h 792"/>
                    <a:gd name="T6" fmla="*/ 0 w 990"/>
                    <a:gd name="T7" fmla="*/ 6 h 792"/>
                    <a:gd name="T8" fmla="*/ 1 w 990"/>
                    <a:gd name="T9" fmla="*/ 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10" name="Freeform 1133"/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4 w 2532"/>
                    <a:gd name="T5" fmla="*/ 6 h 723"/>
                    <a:gd name="T6" fmla="*/ 14 w 2532"/>
                    <a:gd name="T7" fmla="*/ 6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11" name="Freeform 1134"/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12" name="Freeform 1135"/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6 w 1176"/>
                    <a:gd name="T1" fmla="*/ 0 h 606"/>
                    <a:gd name="T2" fmla="*/ 0 w 1176"/>
                    <a:gd name="T3" fmla="*/ 5 h 606"/>
                    <a:gd name="T4" fmla="*/ 1 w 1176"/>
                    <a:gd name="T5" fmla="*/ 5 h 606"/>
                    <a:gd name="T6" fmla="*/ 6 w 1176"/>
                    <a:gd name="T7" fmla="*/ 1 h 606"/>
                    <a:gd name="T8" fmla="*/ 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13" name="Freeform 1136"/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7 w 2532"/>
                    <a:gd name="T5" fmla="*/ 4 h 723"/>
                    <a:gd name="T6" fmla="*/ 7 w 2532"/>
                    <a:gd name="T7" fmla="*/ 4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14" name="Freeform 1137"/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6 h 723"/>
                    <a:gd name="T6" fmla="*/ 0 w 2532"/>
                    <a:gd name="T7" fmla="*/ 6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71" name="Group 1139"/>
              <p:cNvGrpSpPr>
                <a:grpSpLocks/>
              </p:cNvGrpSpPr>
              <p:nvPr/>
            </p:nvGrpSpPr>
            <p:grpSpPr bwMode="auto">
              <a:xfrm flipH="1">
                <a:off x="6214508" y="3813197"/>
                <a:ext cx="323139" cy="302449"/>
                <a:chOff x="2839" y="3501"/>
                <a:chExt cx="755" cy="803"/>
              </a:xfrm>
            </p:grpSpPr>
            <p:pic>
              <p:nvPicPr>
                <p:cNvPr id="96" name="Picture 114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7" name="Freeform 1141"/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72" name="Group 1142"/>
              <p:cNvGrpSpPr>
                <a:grpSpLocks/>
              </p:cNvGrpSpPr>
              <p:nvPr/>
            </p:nvGrpSpPr>
            <p:grpSpPr bwMode="auto">
              <a:xfrm>
                <a:off x="7280496" y="5597003"/>
                <a:ext cx="370186" cy="330764"/>
                <a:chOff x="877" y="1008"/>
                <a:chExt cx="2747" cy="2591"/>
              </a:xfrm>
            </p:grpSpPr>
            <p:pic>
              <p:nvPicPr>
                <p:cNvPr id="73" name="Picture 1143" descr="antenna_stylized"/>
                <p:cNvPicPr>
                  <a:picLocks noChangeAspect="1" noChangeArrowheads="1"/>
                </p:cNvPicPr>
                <p:nvPr/>
              </p:nvPicPr>
              <p:blipFill>
                <a:blip r:embed="rId17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4" name="Picture 1144" descr="laptop_keyboard"/>
                <p:cNvPicPr>
                  <a:picLocks noChangeAspect="1" noChangeArrowheads="1"/>
                </p:cNvPicPr>
                <p:nvPr/>
              </p:nvPicPr>
              <p:blipFill>
                <a:blip r:embed="rId18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" name="Freeform 1145"/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2 w 2982"/>
                    <a:gd name="T1" fmla="*/ 0 h 2442"/>
                    <a:gd name="T2" fmla="*/ 0 w 2982"/>
                    <a:gd name="T3" fmla="*/ 2 h 2442"/>
                    <a:gd name="T4" fmla="*/ 10 w 2982"/>
                    <a:gd name="T5" fmla="*/ 3 h 2442"/>
                    <a:gd name="T6" fmla="*/ 12 w 2982"/>
                    <a:gd name="T7" fmla="*/ 1 h 2442"/>
                    <a:gd name="T8" fmla="*/ 2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76" name="Picture 1146" descr="screen"/>
                <p:cNvPicPr>
                  <a:picLocks noChangeAspect="1" noChangeArrowheads="1"/>
                </p:cNvPicPr>
                <p:nvPr/>
              </p:nvPicPr>
              <p:blipFill>
                <a:blip r:embed="rId1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7" name="Freeform 1147"/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10 w 2528"/>
                    <a:gd name="T3" fmla="*/ 1 h 455"/>
                    <a:gd name="T4" fmla="*/ 10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8" name="Freeform 1148"/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2 w 702"/>
                    <a:gd name="T1" fmla="*/ 0 h 1893"/>
                    <a:gd name="T2" fmla="*/ 0 w 702"/>
                    <a:gd name="T3" fmla="*/ 2 h 1893"/>
                    <a:gd name="T4" fmla="*/ 1 w 702"/>
                    <a:gd name="T5" fmla="*/ 2 h 1893"/>
                    <a:gd name="T6" fmla="*/ 3 w 702"/>
                    <a:gd name="T7" fmla="*/ 1 h 1893"/>
                    <a:gd name="T8" fmla="*/ 2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9" name="Freeform 1149"/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3 w 756"/>
                    <a:gd name="T1" fmla="*/ 0 h 2184"/>
                    <a:gd name="T2" fmla="*/ 1 w 756"/>
                    <a:gd name="T3" fmla="*/ 3 h 2184"/>
                    <a:gd name="T4" fmla="*/ 0 w 756"/>
                    <a:gd name="T5" fmla="*/ 3 h 2184"/>
                    <a:gd name="T6" fmla="*/ 2 w 756"/>
                    <a:gd name="T7" fmla="*/ 1 h 2184"/>
                    <a:gd name="T8" fmla="*/ 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0" name="Freeform 1150"/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10 w 2773"/>
                    <a:gd name="T5" fmla="*/ 1 h 738"/>
                    <a:gd name="T6" fmla="*/ 10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1" name="Freeform 1151"/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8 w 637"/>
                    <a:gd name="T1" fmla="*/ 0 h 1659"/>
                    <a:gd name="T2" fmla="*/ 8 w 637"/>
                    <a:gd name="T3" fmla="*/ 0 h 1659"/>
                    <a:gd name="T4" fmla="*/ 1 w 637"/>
                    <a:gd name="T5" fmla="*/ 42 h 1659"/>
                    <a:gd name="T6" fmla="*/ 0 w 637"/>
                    <a:gd name="T7" fmla="*/ 41 h 1659"/>
                    <a:gd name="T8" fmla="*/ 8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2" name="Freeform 1152"/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28 w 2216"/>
                    <a:gd name="T5" fmla="*/ 14 h 550"/>
                    <a:gd name="T6" fmla="*/ 28 w 2216"/>
                    <a:gd name="T7" fmla="*/ 1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83" name="Group 1153"/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90" name="Freeform 1154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91" name="Freeform 1155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92" name="Freeform 1156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93" name="Freeform 1157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94" name="Freeform 1158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95" name="Freeform 1159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84" name="Freeform 1160"/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6 h 792"/>
                    <a:gd name="T2" fmla="*/ 6 w 990"/>
                    <a:gd name="T3" fmla="*/ 0 h 792"/>
                    <a:gd name="T4" fmla="*/ 6 w 990"/>
                    <a:gd name="T5" fmla="*/ 1 h 792"/>
                    <a:gd name="T6" fmla="*/ 0 w 990"/>
                    <a:gd name="T7" fmla="*/ 6 h 792"/>
                    <a:gd name="T8" fmla="*/ 1 w 990"/>
                    <a:gd name="T9" fmla="*/ 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5" name="Freeform 1161"/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4 w 2532"/>
                    <a:gd name="T5" fmla="*/ 6 h 723"/>
                    <a:gd name="T6" fmla="*/ 14 w 2532"/>
                    <a:gd name="T7" fmla="*/ 6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6" name="Freeform 1162"/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7" name="Freeform 1163"/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6 w 1176"/>
                    <a:gd name="T1" fmla="*/ 0 h 606"/>
                    <a:gd name="T2" fmla="*/ 0 w 1176"/>
                    <a:gd name="T3" fmla="*/ 5 h 606"/>
                    <a:gd name="T4" fmla="*/ 1 w 1176"/>
                    <a:gd name="T5" fmla="*/ 5 h 606"/>
                    <a:gd name="T6" fmla="*/ 6 w 1176"/>
                    <a:gd name="T7" fmla="*/ 1 h 606"/>
                    <a:gd name="T8" fmla="*/ 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8" name="Freeform 1164"/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7 w 2532"/>
                    <a:gd name="T5" fmla="*/ 4 h 723"/>
                    <a:gd name="T6" fmla="*/ 7 w 2532"/>
                    <a:gd name="T7" fmla="*/ 4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9" name="Freeform 1165"/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6 h 723"/>
                    <a:gd name="T6" fmla="*/ 0 w 2532"/>
                    <a:gd name="T7" fmla="*/ 6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</p:grpSp>
      <p:cxnSp>
        <p:nvCxnSpPr>
          <p:cNvPr id="363" name="Straight Arrow Connector 362"/>
          <p:cNvCxnSpPr/>
          <p:nvPr/>
        </p:nvCxnSpPr>
        <p:spPr>
          <a:xfrm flipV="1">
            <a:off x="4236957" y="2660294"/>
            <a:ext cx="494434" cy="33086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5" name="Straight Arrow Connector 364"/>
          <p:cNvCxnSpPr/>
          <p:nvPr/>
        </p:nvCxnSpPr>
        <p:spPr>
          <a:xfrm flipV="1">
            <a:off x="4412409" y="3523273"/>
            <a:ext cx="505898" cy="24912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6" name="Straight Arrow Connector 365"/>
          <p:cNvCxnSpPr/>
          <p:nvPr/>
        </p:nvCxnSpPr>
        <p:spPr>
          <a:xfrm flipV="1">
            <a:off x="4424142" y="5051761"/>
            <a:ext cx="555334" cy="14685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7" name="Straight Arrow Connector 366"/>
          <p:cNvCxnSpPr/>
          <p:nvPr/>
        </p:nvCxnSpPr>
        <p:spPr>
          <a:xfrm flipH="1" flipV="1">
            <a:off x="7141352" y="5196837"/>
            <a:ext cx="1046697" cy="9892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0" name="Straight Arrow Connector 369"/>
          <p:cNvCxnSpPr/>
          <p:nvPr/>
        </p:nvCxnSpPr>
        <p:spPr>
          <a:xfrm flipH="1" flipV="1">
            <a:off x="6950419" y="3868332"/>
            <a:ext cx="1046697" cy="9892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71" name="Straight Arrow Connector 370"/>
          <p:cNvCxnSpPr/>
          <p:nvPr/>
        </p:nvCxnSpPr>
        <p:spPr>
          <a:xfrm flipH="1" flipV="1">
            <a:off x="6833566" y="2766232"/>
            <a:ext cx="1062403" cy="163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61" name="TextBox 360">
            <a:extLst>
              <a:ext uri="{FF2B5EF4-FFF2-40B4-BE49-F238E27FC236}">
                <a16:creationId xmlns:a16="http://schemas.microsoft.com/office/drawing/2014/main" id="{03E908F8-1DA2-46CD-B3A0-6B4B93618956}"/>
              </a:ext>
            </a:extLst>
          </p:cNvPr>
          <p:cNvSpPr txBox="1"/>
          <p:nvPr/>
        </p:nvSpPr>
        <p:spPr>
          <a:xfrm>
            <a:off x="422977" y="3171292"/>
            <a:ext cx="34480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are other end devices?</a:t>
            </a:r>
          </a:p>
        </p:txBody>
      </p:sp>
    </p:spTree>
    <p:extLst>
      <p:ext uri="{BB962C8B-B14F-4D97-AF65-F5344CB8AC3E}">
        <p14:creationId xmlns:p14="http://schemas.microsoft.com/office/powerpoint/2010/main" val="222050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6F76-79AC-4FFE-8C91-0B5B7B8C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Network 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84CF9-B477-4DCA-AF53-58BC1C9A3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Host = End system</a:t>
            </a:r>
          </a:p>
          <a:p>
            <a:r>
              <a:rPr lang="en-US" dirty="0"/>
              <a:t>Hosts are sometimes further divided into two categories: </a:t>
            </a:r>
            <a:r>
              <a:rPr lang="en-US" dirty="0">
                <a:solidFill>
                  <a:schemeClr val="accent6"/>
                </a:solidFill>
              </a:rPr>
              <a:t>Client </a:t>
            </a:r>
            <a:r>
              <a:rPr lang="en-US" dirty="0"/>
              <a:t>and</a:t>
            </a:r>
            <a:r>
              <a:rPr lang="en-US" dirty="0">
                <a:solidFill>
                  <a:schemeClr val="accent6"/>
                </a:solidFill>
              </a:rPr>
              <a:t> Servers</a:t>
            </a:r>
          </a:p>
          <a:p>
            <a:r>
              <a:rPr lang="en-US" dirty="0"/>
              <a:t>Types of networks are based on role of workstation:</a:t>
            </a:r>
          </a:p>
          <a:p>
            <a:pPr lvl="1"/>
            <a:r>
              <a:rPr lang="en-US" sz="2200" dirty="0">
                <a:solidFill>
                  <a:schemeClr val="accent6"/>
                </a:solidFill>
              </a:rPr>
              <a:t>1. Peer to peer network </a:t>
            </a:r>
            <a:r>
              <a:rPr lang="en-US" sz="2200" dirty="0"/>
              <a:t>(each workstation is client and server both)</a:t>
            </a:r>
          </a:p>
          <a:p>
            <a:pPr lvl="1"/>
            <a:r>
              <a:rPr lang="en-US" sz="2200" dirty="0">
                <a:solidFill>
                  <a:schemeClr val="accent6"/>
                </a:solidFill>
              </a:rPr>
              <a:t>2. Client – server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90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Peer to Peer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Computers are connected </a:t>
            </a:r>
            <a:r>
              <a:rPr lang="en-IN" dirty="0">
                <a:solidFill>
                  <a:schemeClr val="accent6"/>
                </a:solidFill>
              </a:rPr>
              <a:t>together </a:t>
            </a:r>
            <a:r>
              <a:rPr lang="en-IN" dirty="0"/>
              <a:t>so that users can share resources and information.</a:t>
            </a:r>
            <a:endParaRPr lang="en-US" dirty="0"/>
          </a:p>
          <a:p>
            <a:pPr algn="just"/>
            <a:endParaRPr lang="en-IN" sz="3000" dirty="0"/>
          </a:p>
          <a:p>
            <a:pPr algn="just"/>
            <a:endParaRPr lang="en-IN" sz="3000" dirty="0"/>
          </a:p>
          <a:p>
            <a:r>
              <a:rPr lang="en-IN" dirty="0"/>
              <a:t>There is </a:t>
            </a:r>
            <a:r>
              <a:rPr lang="en-IN" dirty="0">
                <a:solidFill>
                  <a:schemeClr val="accent6"/>
                </a:solidFill>
              </a:rPr>
              <a:t>no central server </a:t>
            </a:r>
            <a:r>
              <a:rPr lang="en-IN" dirty="0"/>
              <a:t>for authenticating users, each of them works as both client and server. </a:t>
            </a:r>
          </a:p>
          <a:p>
            <a:r>
              <a:rPr lang="en-IN" dirty="0"/>
              <a:t>e.g. BitTorrent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6005945" y="3745980"/>
            <a:ext cx="2286000" cy="2286000"/>
            <a:chOff x="2895600" y="3429000"/>
            <a:chExt cx="3352800" cy="3048000"/>
          </a:xfrm>
        </p:grpSpPr>
        <p:pic>
          <p:nvPicPr>
            <p:cNvPr id="8" name="Picture 7" descr="http://blog.gogrid.com/wp-content/uploads/2009/05/image.png"/>
            <p:cNvPicPr/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2895600" y="3429000"/>
              <a:ext cx="33528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Rectangle 8"/>
            <p:cNvSpPr/>
            <p:nvPr/>
          </p:nvSpPr>
          <p:spPr>
            <a:xfrm>
              <a:off x="5334000" y="3886200"/>
              <a:ext cx="9144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6850" y="1257493"/>
            <a:ext cx="4178300" cy="10472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0738" y="3368155"/>
            <a:ext cx="75565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0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Client – Server Network</a:t>
            </a:r>
            <a:endParaRPr lang="en-US" b="1" dirty="0">
              <a:latin typeface="+mj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chemeClr val="accent6"/>
                </a:solidFill>
              </a:rPr>
              <a:t>Client</a:t>
            </a:r>
            <a:r>
              <a:rPr lang="en-IN" dirty="0"/>
              <a:t>: Request servers for a task.</a:t>
            </a:r>
          </a:p>
          <a:p>
            <a:pPr lvl="1" algn="just"/>
            <a:r>
              <a:rPr lang="en-IN" dirty="0"/>
              <a:t>Generally called desktop PCs or workstations.</a:t>
            </a:r>
          </a:p>
          <a:p>
            <a:pPr algn="just"/>
            <a:r>
              <a:rPr lang="en-IN" dirty="0">
                <a:solidFill>
                  <a:schemeClr val="accent6"/>
                </a:solidFill>
              </a:rPr>
              <a:t>Server</a:t>
            </a:r>
            <a:r>
              <a:rPr lang="en-IN" dirty="0"/>
              <a:t>: Receive requests from the clients. Process and response them.</a:t>
            </a:r>
          </a:p>
          <a:p>
            <a:pPr lvl="1" algn="just"/>
            <a:r>
              <a:rPr lang="en-IN" dirty="0"/>
              <a:t>e.g. Web Server, Email Server</a:t>
            </a:r>
          </a:p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3801" y="3429001"/>
            <a:ext cx="4540795" cy="2724477"/>
          </a:xfrm>
          <a:prstGeom prst="rect">
            <a:avLst/>
          </a:prstGeom>
        </p:spPr>
      </p:pic>
      <p:sp>
        <p:nvSpPr>
          <p:cNvPr id="3" name="Snip Same Side Corner Rectangle 2"/>
          <p:cNvSpPr/>
          <p:nvPr/>
        </p:nvSpPr>
        <p:spPr>
          <a:xfrm>
            <a:off x="5486400" y="3867477"/>
            <a:ext cx="228600" cy="228600"/>
          </a:xfrm>
          <a:prstGeom prst="snip2Same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nip Same Side Corner Rectangle 5"/>
          <p:cNvSpPr/>
          <p:nvPr/>
        </p:nvSpPr>
        <p:spPr>
          <a:xfrm>
            <a:off x="4655127" y="4541856"/>
            <a:ext cx="228600" cy="228600"/>
          </a:xfrm>
          <a:prstGeom prst="snip2Same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nip Same Side Corner Rectangle 7"/>
          <p:cNvSpPr/>
          <p:nvPr/>
        </p:nvSpPr>
        <p:spPr>
          <a:xfrm>
            <a:off x="5444836" y="5772477"/>
            <a:ext cx="228600" cy="228600"/>
          </a:xfrm>
          <a:prstGeom prst="snip2Same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nip Same Side Corner Rectangle 9"/>
          <p:cNvSpPr/>
          <p:nvPr/>
        </p:nvSpPr>
        <p:spPr>
          <a:xfrm>
            <a:off x="7467600" y="5239077"/>
            <a:ext cx="228600" cy="228600"/>
          </a:xfrm>
          <a:prstGeom prst="snip2Same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nip Same Side Corner Rectangle 6"/>
          <p:cNvSpPr/>
          <p:nvPr/>
        </p:nvSpPr>
        <p:spPr>
          <a:xfrm>
            <a:off x="7467600" y="5204100"/>
            <a:ext cx="228600" cy="228600"/>
          </a:xfrm>
          <a:prstGeom prst="snip2Same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nip Same Side Corner Rectangle 12"/>
          <p:cNvSpPr/>
          <p:nvPr/>
        </p:nvSpPr>
        <p:spPr>
          <a:xfrm>
            <a:off x="7467600" y="5239077"/>
            <a:ext cx="228600" cy="228600"/>
          </a:xfrm>
          <a:prstGeom prst="snip2Same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2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851 0.0169 0.01701 0.0338 0.03021 0.04236 C 0.0434 0.0507 0.06424 0.04445 0.07865 0.05047 C 0.09306 0.05649 0.10799 0.07061 0.11649 0.07871 C 0.12517 0.08681 0.12691 0.09121 0.13021 0.09885 C 0.13351 0.10672 0.1349 0.10973 0.13628 0.12524 C 0.1375 0.14074 0.13038 0.17871 0.13767 0.1919 C 0.14514 0.2051 0.16545 0.20186 0.18021 0.20394 C 0.19479 0.20602 0.21753 0.20324 0.22569 0.20394 " pathEditMode="relative" ptsTypes="AAAAAAAAA">
                                      <p:cBhvr>
                                        <p:cTn id="4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083 -0.00255 0.04184 -0.00509 0.05295 0.00393 C 0.06406 0.01296 0.05625 0.04606 0.06649 0.0544 C 0.07691 0.06296 0.09982 0.05185 0.1151 0.0544 C 0.1302 0.05717 0.14531 0.07037 0.15746 0.0706 C 0.16961 0.07083 0.17482 0.06111 0.18767 0.05648 C 0.20069 0.05185 0.22534 0.03264 0.23472 0.04236 C 0.24409 0.05208 0.22968 0.10324 0.24375 0.11504 C 0.25798 0.12685 0.31961 0.11296 0.31961 0.11296 " pathEditMode="relative" ptsTypes="AAAAAAAAA">
                                      <p:cBhvr>
                                        <p:cTn id="4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56 -0.0169 0.00312 -0.0338 0.0059 -0.04653 C 0.00868 -0.05949 0.0118 -0.06713 0.01649 -0.07685 C 0.02135 -0.08681 0.02465 -0.10255 0.03472 -0.10533 C 0.04479 -0.10787 0.06527 -0.09097 0.07725 -0.09306 C 0.08906 -0.09514 0.09652 -0.11065 0.1059 -0.11736 C 0.11527 -0.12408 0.12517 -0.13079 0.13316 -0.13357 C 0.14132 -0.13634 0.15086 -0.14329 0.15451 -0.13357 C 0.15798 -0.12384 0.15121 -0.08681 0.15451 -0.075 C 0.15764 -0.0632 0.16128 -0.0632 0.17413 -0.06273 C 0.18698 -0.0625 0.23177 -0.07292 0.23177 -0.07292 " pathEditMode="relative" ptsTypes="AAAAAAAAAAA"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5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631 0.00625 -0.03263 0.0125 -0.04392 0.01227 C -0.05538 0.0118 -0.06371 0.01088 -0.06822 -0.00185 C -0.07274 -0.01482 -0.05833 -0.06181 -0.07118 -0.06459 C -0.0842 -0.06736 -0.12725 -0.02315 -0.14548 -0.01806 C -0.16371 -0.01297 -0.16944 -0.03935 -0.18038 -0.03426 C -0.19114 -0.02917 -0.20451 -0.00301 -0.21059 0.01227 C -0.21666 0.02731 -0.2151 0.04514 -0.21666 0.05671 C -0.21822 0.06805 -0.21996 0.07777 -0.21961 0.08102 " pathEditMode="relative" ptsTypes="AAAAAAAAA">
                                      <p:cBhvr>
                                        <p:cTn id="6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3"/>
                                            </p:cond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C -0.0302 0.00533 -0.06041 0.01065 -0.07378 0.00232 C -0.08732 -0.00625 -0.06979 -0.04699 -0.08038 -0.05023 C -0.09114 -0.05347 -0.12083 -0.02106 -0.13784 -0.01736 C -0.15468 -0.01389 -0.18211 -0.02847 -0.18211 -0.02847 C -0.19895 -0.03287 -0.22743 -0.03171 -0.23941 -0.04375 C -0.25138 -0.05578 -0.24218 -0.09143 -0.25416 -0.10046 C -0.26614 -0.10972 -0.3026 -0.09791 -0.31145 -0.09838 " pathEditMode="relative" ptsTypes="AAAAAAAA">
                                      <p:cBhvr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03 0.00394 C -0.02604 0.01158 -0.06076 0.01922 -0.07882 0.00625 C -0.0967 -0.00625 -0.09236 -0.04745 -0.09913 -0.07199 C -0.10573 -0.09652 -0.10347 -0.12638 -0.11944 -0.14074 C -0.13524 -0.15509 -0.17482 -0.15231 -0.19479 -0.1574 C -0.21493 -0.16273 -0.22847 -0.16273 -0.23975 -0.17175 C -0.25087 -0.18078 -0.26059 -0.18333 -0.2618 -0.2118 " pathEditMode="relative" rAng="0" ptsTypes="AAAAAAA">
                                      <p:cBhvr>
                                        <p:cTn id="8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42" y="-1032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9"/>
                                            </p:cond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  <p:bldP spid="8" grpId="0" animBg="1"/>
      <p:bldP spid="8" grpId="1" animBg="1"/>
      <p:bldP spid="10" grpId="0" animBg="1"/>
      <p:bldP spid="10" grpId="1" animBg="1"/>
      <p:bldP spid="7" grpId="0" animBg="1"/>
      <p:bldP spid="7" grpId="1" animBg="1"/>
      <p:bldP spid="13" grpId="0" animBg="1"/>
      <p:bldP spid="1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+mj-lt"/>
              </a:rPr>
              <a:t>The Network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Defines the connection of different network segments together and process to transmit data packets across the network.</a:t>
            </a:r>
          </a:p>
          <a:p>
            <a:pPr lvl="0"/>
            <a:r>
              <a:rPr lang="en-IN" dirty="0"/>
              <a:t>It is implemented through the use of </a:t>
            </a:r>
            <a:r>
              <a:rPr lang="en-IN" dirty="0">
                <a:solidFill>
                  <a:schemeClr val="accent6"/>
                </a:solidFill>
              </a:rPr>
              <a:t>switching techniques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133600" y="2413694"/>
            <a:ext cx="8015424" cy="3229655"/>
          </a:xfrm>
          <a:prstGeom prst="rect">
            <a:avLst/>
          </a:prstGeom>
        </p:spPr>
      </p:sp>
      <p:sp>
        <p:nvSpPr>
          <p:cNvPr id="6" name="Text Box 13326"/>
          <p:cNvSpPr txBox="1"/>
          <p:nvPr/>
        </p:nvSpPr>
        <p:spPr>
          <a:xfrm>
            <a:off x="5222878" y="3204949"/>
            <a:ext cx="1860310" cy="74859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2000" dirty="0">
                <a:ea typeface="Times New Roman"/>
                <a:cs typeface="Times New Roman"/>
              </a:rPr>
              <a:t>Switched</a:t>
            </a:r>
          </a:p>
          <a:p>
            <a:pPr algn="ctr">
              <a:lnSpc>
                <a:spcPct val="115000"/>
              </a:lnSpc>
            </a:pPr>
            <a:r>
              <a:rPr lang="en-IN" sz="2000" dirty="0">
                <a:ea typeface="Times New Roman"/>
                <a:cs typeface="Times New Roman"/>
              </a:rPr>
              <a:t>Networks</a:t>
            </a:r>
          </a:p>
        </p:txBody>
      </p:sp>
      <p:sp>
        <p:nvSpPr>
          <p:cNvPr id="7" name="Text Box 13326"/>
          <p:cNvSpPr txBox="1"/>
          <p:nvPr/>
        </p:nvSpPr>
        <p:spPr>
          <a:xfrm>
            <a:off x="7483464" y="4356338"/>
            <a:ext cx="2339817" cy="82981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2000" dirty="0">
                <a:ea typeface="Times New Roman"/>
                <a:cs typeface="Times New Roman"/>
              </a:rPr>
              <a:t>Packet-Switched</a:t>
            </a:r>
            <a:endParaRPr lang="en-IN" sz="2000" dirty="0">
              <a:ea typeface="Times New Roman"/>
            </a:endParaRPr>
          </a:p>
          <a:p>
            <a:pPr algn="ctr">
              <a:lnSpc>
                <a:spcPct val="115000"/>
              </a:lnSpc>
            </a:pPr>
            <a:r>
              <a:rPr lang="en-IN" sz="2000" dirty="0">
                <a:ea typeface="Times New Roman"/>
                <a:cs typeface="Times New Roman"/>
              </a:rPr>
              <a:t>Networks</a:t>
            </a:r>
            <a:endParaRPr lang="en-IN" sz="2000" dirty="0">
              <a:ea typeface="Times New Roman"/>
            </a:endParaRPr>
          </a:p>
        </p:txBody>
      </p:sp>
      <p:sp>
        <p:nvSpPr>
          <p:cNvPr id="8" name="Text Box 13326"/>
          <p:cNvSpPr txBox="1"/>
          <p:nvPr/>
        </p:nvSpPr>
        <p:spPr>
          <a:xfrm>
            <a:off x="2549645" y="4360862"/>
            <a:ext cx="2338263" cy="82528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2000" dirty="0">
                <a:ea typeface="Times New Roman"/>
                <a:cs typeface="Times New Roman"/>
              </a:rPr>
              <a:t>Circuit-Switched</a:t>
            </a:r>
            <a:endParaRPr lang="en-IN" sz="2000" dirty="0">
              <a:ea typeface="Times New Roman"/>
            </a:endParaRPr>
          </a:p>
          <a:p>
            <a:pPr algn="ctr">
              <a:lnSpc>
                <a:spcPct val="115000"/>
              </a:lnSpc>
            </a:pPr>
            <a:r>
              <a:rPr lang="en-IN" sz="2000" dirty="0">
                <a:ea typeface="Times New Roman"/>
                <a:cs typeface="Times New Roman"/>
              </a:rPr>
              <a:t>Networks</a:t>
            </a:r>
            <a:endParaRPr lang="en-IN" sz="2000" dirty="0">
              <a:ea typeface="Times New Roman"/>
            </a:endParaRPr>
          </a:p>
        </p:txBody>
      </p:sp>
      <p:cxnSp>
        <p:nvCxnSpPr>
          <p:cNvPr id="23" name="Elbow Connector 22"/>
          <p:cNvCxnSpPr>
            <a:stCxn id="6" idx="2"/>
            <a:endCxn id="7" idx="0"/>
          </p:cNvCxnSpPr>
          <p:nvPr/>
        </p:nvCxnSpPr>
        <p:spPr>
          <a:xfrm rot="16200000" flipH="1">
            <a:off x="7201807" y="2904771"/>
            <a:ext cx="402793" cy="25003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6" idx="2"/>
            <a:endCxn id="8" idx="0"/>
          </p:cNvCxnSpPr>
          <p:nvPr/>
        </p:nvCxnSpPr>
        <p:spPr>
          <a:xfrm rot="5400000">
            <a:off x="4732247" y="2940075"/>
            <a:ext cx="407317" cy="2434256"/>
          </a:xfrm>
          <a:prstGeom prst="bentConnector3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94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Circuit Switched Network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dirty="0">
                <a:solidFill>
                  <a:schemeClr val="accent6"/>
                </a:solidFill>
              </a:rPr>
              <a:t>dedicated </a:t>
            </a:r>
            <a:r>
              <a:rPr lang="en-US" dirty="0"/>
              <a:t>channel has to be established before the call is made between users. </a:t>
            </a:r>
          </a:p>
          <a:p>
            <a:pPr algn="just"/>
            <a:r>
              <a:rPr lang="en-US" dirty="0"/>
              <a:t>The channel is </a:t>
            </a:r>
            <a:r>
              <a:rPr lang="en-US" dirty="0">
                <a:solidFill>
                  <a:schemeClr val="accent6"/>
                </a:solidFill>
              </a:rPr>
              <a:t>reserved </a:t>
            </a:r>
            <a:r>
              <a:rPr lang="en-US" dirty="0"/>
              <a:t>between the users till the </a:t>
            </a:r>
            <a:r>
              <a:rPr lang="en-US" dirty="0">
                <a:solidFill>
                  <a:schemeClr val="accent6"/>
                </a:solidFill>
              </a:rPr>
              <a:t>connection is active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For half duplex(one way) communication, one channel is allocated and for full duplex(two way) communication, two channels are allocated. </a:t>
            </a:r>
          </a:p>
          <a:p>
            <a:pPr algn="just"/>
            <a:r>
              <a:rPr lang="en-US" dirty="0"/>
              <a:t>It is mainly used for </a:t>
            </a:r>
            <a:r>
              <a:rPr lang="en-US" dirty="0">
                <a:solidFill>
                  <a:schemeClr val="accent6"/>
                </a:solidFill>
              </a:rPr>
              <a:t>voice communication </a:t>
            </a:r>
            <a:r>
              <a:rPr lang="en-US" dirty="0"/>
              <a:t>requiring </a:t>
            </a:r>
            <a:r>
              <a:rPr lang="en-US" dirty="0">
                <a:solidFill>
                  <a:schemeClr val="accent6"/>
                </a:solidFill>
              </a:rPr>
              <a:t>real time </a:t>
            </a:r>
            <a:r>
              <a:rPr lang="en-US" dirty="0"/>
              <a:t>services without delay.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951" y="3152633"/>
            <a:ext cx="6741319" cy="309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0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Switched Network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via circuit switching involves three phases: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Circuit Establishment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Data Transfer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Circuit Disconnect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574873" y="2634018"/>
            <a:ext cx="6855729" cy="3420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94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Switched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</a:t>
            </a:r>
            <a:r>
              <a:rPr lang="en-US" dirty="0">
                <a:solidFill>
                  <a:schemeClr val="accent6"/>
                </a:solidFill>
              </a:rPr>
              <a:t>not required </a:t>
            </a:r>
            <a:r>
              <a:rPr lang="en-US" dirty="0"/>
              <a:t>to establish the connection initially. </a:t>
            </a:r>
          </a:p>
          <a:p>
            <a:pPr algn="just"/>
            <a:r>
              <a:rPr lang="en-US" dirty="0"/>
              <a:t>The connection/channel is available to use by users. But when </a:t>
            </a:r>
            <a:r>
              <a:rPr lang="en-US" dirty="0">
                <a:solidFill>
                  <a:schemeClr val="accent6"/>
                </a:solidFill>
              </a:rPr>
              <a:t>traffic </a:t>
            </a:r>
            <a:r>
              <a:rPr lang="en-US" dirty="0"/>
              <a:t>or </a:t>
            </a:r>
            <a:r>
              <a:rPr lang="en-US" dirty="0">
                <a:solidFill>
                  <a:schemeClr val="accent6"/>
                </a:solidFill>
              </a:rPr>
              <a:t>number of users </a:t>
            </a:r>
            <a:r>
              <a:rPr lang="en-US" dirty="0"/>
              <a:t>increases then it will lead to </a:t>
            </a:r>
            <a:r>
              <a:rPr lang="en-US" dirty="0">
                <a:solidFill>
                  <a:schemeClr val="accent6"/>
                </a:solidFill>
              </a:rPr>
              <a:t>congestion </a:t>
            </a:r>
            <a:r>
              <a:rPr lang="en-US" dirty="0"/>
              <a:t>in the network. </a:t>
            </a:r>
          </a:p>
          <a:p>
            <a:pPr algn="just"/>
            <a:r>
              <a:rPr lang="en-US" dirty="0"/>
              <a:t>Packet switched networks are mainly used for </a:t>
            </a:r>
            <a:r>
              <a:rPr lang="en-US" dirty="0">
                <a:solidFill>
                  <a:schemeClr val="accent6"/>
                </a:solidFill>
              </a:rPr>
              <a:t>data </a:t>
            </a:r>
            <a:r>
              <a:rPr lang="en-US" dirty="0"/>
              <a:t>and </a:t>
            </a:r>
            <a:r>
              <a:rPr lang="en-US" dirty="0">
                <a:solidFill>
                  <a:schemeClr val="accent6"/>
                </a:solidFill>
              </a:rPr>
              <a:t>voice </a:t>
            </a:r>
            <a:r>
              <a:rPr lang="en-US" dirty="0"/>
              <a:t>applications requiring </a:t>
            </a:r>
            <a:r>
              <a:rPr lang="en-US" dirty="0">
                <a:solidFill>
                  <a:schemeClr val="accent6"/>
                </a:solidFill>
              </a:rPr>
              <a:t>non-real time </a:t>
            </a:r>
            <a:r>
              <a:rPr lang="en-US" dirty="0"/>
              <a:t>scenarios.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1067" y="3098043"/>
            <a:ext cx="8463588" cy="323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90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472553" y="990600"/>
          <a:ext cx="11141691" cy="518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98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Wingdings" charset="2"/>
                        <a:buNone/>
                      </a:pPr>
                      <a:r>
                        <a:rPr lang="en-US" sz="2800" dirty="0"/>
                        <a:t>Circuit Switching</a:t>
                      </a:r>
                      <a:endParaRPr lang="en-US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charset="2"/>
                        <a:buNone/>
                      </a:pPr>
                      <a:r>
                        <a:rPr lang="en-US" sz="2800" dirty="0"/>
                        <a:t>Packet Switching</a:t>
                      </a:r>
                      <a:endParaRPr 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472553" y="1509606"/>
          <a:ext cx="11141691" cy="74980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996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Dedicated path between source and 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dedicated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472553" y="2260260"/>
          <a:ext cx="11141691" cy="5486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996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 packets use same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Packets travel independently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72553" y="2809746"/>
          <a:ext cx="11141691" cy="42062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996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Reserve the entire bandwidth in advance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Does not reserve bandwidth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472553" y="3231216"/>
          <a:ext cx="11141691" cy="42062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98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Bandwidth wastage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bandwidth wastage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472553" y="3652684"/>
          <a:ext cx="11141691" cy="74980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98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store and forward transmission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Supports store and forward transmission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15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Switching Network</a:t>
            </a:r>
            <a:endParaRPr lang="en-IN" dirty="0">
              <a:latin typeface="+mj-lt"/>
            </a:endParaRPr>
          </a:p>
        </p:txBody>
      </p:sp>
      <p:pic>
        <p:nvPicPr>
          <p:cNvPr id="4" name="Circuit Switching and Packet Switching.mp4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26855" y="863600"/>
            <a:ext cx="7454900" cy="5591175"/>
          </a:xfr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69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08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100000">
                <p:cTn id="16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Transmission Media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647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Transmission Media</a:t>
            </a:r>
            <a:endParaRPr lang="en-IN" sz="4000" dirty="0"/>
          </a:p>
        </p:txBody>
      </p:sp>
      <p:graphicFrame>
        <p:nvGraphicFramePr>
          <p:cNvPr id="36" name="Content Placeholder 35"/>
          <p:cNvGraphicFramePr>
            <a:graphicFrameLocks noGrp="1"/>
          </p:cNvGraphicFramePr>
          <p:nvPr>
            <p:ph idx="1"/>
            <p:extLst/>
          </p:nvPr>
        </p:nvGraphicFramePr>
        <p:xfrm>
          <a:off x="131763" y="863600"/>
          <a:ext cx="11928475" cy="5591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4"/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</a:pPr>
            <a:r>
              <a:rPr lang="en-IN" dirty="0"/>
              <a:t>A transmission media can be defined as any medium that can </a:t>
            </a:r>
            <a:r>
              <a:rPr lang="en-IN" dirty="0">
                <a:solidFill>
                  <a:schemeClr val="accent6"/>
                </a:solidFill>
              </a:rPr>
              <a:t>carry information </a:t>
            </a:r>
            <a:r>
              <a:rPr lang="en-IN" dirty="0"/>
              <a:t>from a </a:t>
            </a:r>
            <a:r>
              <a:rPr lang="en-IN" dirty="0">
                <a:solidFill>
                  <a:schemeClr val="accent6"/>
                </a:solidFill>
              </a:rPr>
              <a:t>source to a destination.</a:t>
            </a:r>
            <a:endParaRPr lang="en-US" b="1" dirty="0">
              <a:solidFill>
                <a:schemeClr val="accent6"/>
              </a:solidFill>
            </a:endParaRPr>
          </a:p>
          <a:p>
            <a:pPr marL="0" indent="0" algn="ctr">
              <a:spcBef>
                <a:spcPts val="0"/>
              </a:spcBef>
              <a:buFont typeface="Wingdings 3" panose="05040102010807070707" pitchFamily="18" charset="2"/>
              <a:buNone/>
            </a:pPr>
            <a:endParaRPr lang="en-US" sz="2000" dirty="0">
              <a:solidFill>
                <a:schemeClr val="accent6"/>
              </a:solidFill>
              <a:latin typeface="Arial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562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60F8D779-5E35-4B58-A3C9-700D833248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graphicEl>
                                              <a:dgm id="{60F8D779-5E35-4B58-A3C9-700D833248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43E0B610-79FA-42C4-BF5B-C128DE0025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>
                                            <p:graphicEl>
                                              <a:dgm id="{43E0B610-79FA-42C4-BF5B-C128DE0025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9EC1ADC4-F758-4A3D-9E96-7CABA7243E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>
                                            <p:graphicEl>
                                              <a:dgm id="{9EC1ADC4-F758-4A3D-9E96-7CABA7243E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0D89EF9B-E12C-4061-8911-CC9256E11C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>
                                            <p:graphicEl>
                                              <a:dgm id="{0D89EF9B-E12C-4061-8911-CC9256E11C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9A2EBF82-9850-4D3F-8DD3-47B7BC5B7F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>
                                            <p:graphicEl>
                                              <a:dgm id="{9A2EBF82-9850-4D3F-8DD3-47B7BC5B7F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56E3A4DE-108E-40DF-85B2-DEE8C648B9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>
                                            <p:graphicEl>
                                              <a:dgm id="{56E3A4DE-108E-40DF-85B2-DEE8C648B9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33952B1D-5337-4E0D-8AC7-5ED5336FEF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>
                                            <p:graphicEl>
                                              <a:dgm id="{33952B1D-5337-4E0D-8AC7-5ED5336FEF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B8E9A1A5-0149-4AAD-9408-DF8E80C493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>
                                            <p:graphicEl>
                                              <a:dgm id="{B8E9A1A5-0149-4AAD-9408-DF8E80C493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98977085-6145-43DF-B095-6C3C86A44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>
                                            <p:graphicEl>
                                              <a:dgm id="{98977085-6145-43DF-B095-6C3C86A44F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02DF34E6-24ED-49A1-87DD-3837F371AF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>
                                            <p:graphicEl>
                                              <a:dgm id="{02DF34E6-24ED-49A1-87DD-3837F371AF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FED19440-6A28-4C43-8608-306E3859EF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>
                                            <p:graphicEl>
                                              <a:dgm id="{FED19440-6A28-4C43-8608-306E3859EF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BB151E64-DC66-4422-A73C-C39BCB7AFE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>
                                            <p:graphicEl>
                                              <a:dgm id="{BB151E64-DC66-4422-A73C-C39BCB7AFE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7994017F-063A-463B-9BEA-9F8A26DCFB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>
                                            <p:graphicEl>
                                              <a:dgm id="{7994017F-063A-463B-9BEA-9F8A26DCFB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CDFCEEE1-3CAE-4724-828B-9BC15ACEA7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>
                                            <p:graphicEl>
                                              <a:dgm id="{CDFCEEE1-3CAE-4724-828B-9BC15ACEA7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4FF85720-EBC9-4328-93A2-DE65B869B6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>
                                            <p:graphicEl>
                                              <a:dgm id="{4FF85720-EBC9-4328-93A2-DE65B869B6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335B9335-E773-484B-B72E-8576A11735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>
                                            <p:graphicEl>
                                              <a:dgm id="{335B9335-E773-484B-B72E-8576A11735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D1DA3F47-C4A9-47EE-BC7F-E2A53AF2B5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>
                                            <p:graphicEl>
                                              <a:dgm id="{D1DA3F47-C4A9-47EE-BC7F-E2A53AF2B5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6" grpId="0">
        <p:bldSub>
          <a:bldDgm bld="lvl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Guided Media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dirty="0"/>
              <a:t>Guided media are those that provide a </a:t>
            </a:r>
            <a:r>
              <a:rPr lang="en-IN" dirty="0">
                <a:solidFill>
                  <a:schemeClr val="accent6"/>
                </a:solidFill>
              </a:rPr>
              <a:t>wired - channel </a:t>
            </a:r>
            <a:r>
              <a:rPr lang="en-IN" dirty="0"/>
              <a:t>from one device to another.</a:t>
            </a:r>
            <a:endParaRPr lang="en-US" dirty="0"/>
          </a:p>
          <a:p>
            <a:pPr lvl="0" algn="just"/>
            <a:r>
              <a:rPr lang="en-IN" dirty="0"/>
              <a:t>Three Guided media commonly used for data transmission are:</a:t>
            </a:r>
            <a:endParaRPr lang="en-US" dirty="0"/>
          </a:p>
          <a:p>
            <a:pPr marL="0" indent="0" algn="ctr">
              <a:spcBef>
                <a:spcPts val="0"/>
              </a:spcBef>
              <a:buNone/>
            </a:pPr>
            <a:endParaRPr lang="en-US" b="1" dirty="0">
              <a:solidFill>
                <a:srgbClr val="1F497D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en-US" sz="2000" dirty="0">
              <a:latin typeface="Arial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8" name="Picture 4" descr="Image result for fiber optic cable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5783" y="3281679"/>
            <a:ext cx="2312894" cy="174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lated image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643376">
            <a:off x="4907281" y="3676737"/>
            <a:ext cx="2519385" cy="141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twisted pair cable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858131">
            <a:off x="2028936" y="3533812"/>
            <a:ext cx="2711527" cy="152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28801" y="2777067"/>
            <a:ext cx="2623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Twisted Pair Cable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07561" y="2771744"/>
            <a:ext cx="1918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Coaxial Cable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75430" y="2771744"/>
            <a:ext cx="2399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Fiber Optic Cable</a:t>
            </a:r>
            <a:endParaRPr lang="en-US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81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9612091-9AA9-3D4C-9613-B671053EA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Twisted Pair Cable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a physical media made up of a </a:t>
            </a:r>
            <a:r>
              <a:rPr lang="en-IN" dirty="0">
                <a:solidFill>
                  <a:srgbClr val="C00000"/>
                </a:solidFill>
              </a:rPr>
              <a:t>pair of cables twisted with each other</a:t>
            </a:r>
            <a:r>
              <a:rPr lang="en-IN" dirty="0"/>
              <a:t>. </a:t>
            </a:r>
          </a:p>
          <a:p>
            <a:r>
              <a:rPr lang="en-IN" dirty="0"/>
              <a:t>It is </a:t>
            </a:r>
            <a:r>
              <a:rPr lang="en-IN" dirty="0">
                <a:solidFill>
                  <a:srgbClr val="C00000"/>
                </a:solidFill>
              </a:rPr>
              <a:t>cheap</a:t>
            </a:r>
            <a:r>
              <a:rPr lang="en-IN" dirty="0"/>
              <a:t> as compared to other transmission media. </a:t>
            </a:r>
          </a:p>
          <a:p>
            <a:r>
              <a:rPr lang="en-IN" dirty="0">
                <a:solidFill>
                  <a:srgbClr val="C00000"/>
                </a:solidFill>
              </a:rPr>
              <a:t>Installation</a:t>
            </a:r>
            <a:r>
              <a:rPr lang="en-IN" dirty="0"/>
              <a:t> of the cable is </a:t>
            </a:r>
            <a:r>
              <a:rPr lang="en-IN" dirty="0">
                <a:solidFill>
                  <a:srgbClr val="C00000"/>
                </a:solidFill>
              </a:rPr>
              <a:t>easy</a:t>
            </a:r>
            <a:r>
              <a:rPr lang="en-IN" dirty="0"/>
              <a:t>, and it is a </a:t>
            </a:r>
            <a:r>
              <a:rPr lang="en-IN" dirty="0">
                <a:solidFill>
                  <a:srgbClr val="C00000"/>
                </a:solidFill>
              </a:rPr>
              <a:t>lightweight cable</a:t>
            </a:r>
            <a:r>
              <a:rPr lang="en-IN" dirty="0"/>
              <a:t>. </a:t>
            </a:r>
          </a:p>
          <a:p>
            <a:r>
              <a:rPr lang="en-IN" dirty="0"/>
              <a:t>The frequency range for cable is from 0 to 3.5KHz.</a:t>
            </a:r>
          </a:p>
          <a:p>
            <a:r>
              <a:rPr lang="en-IN" dirty="0"/>
              <a:t>It consists of two insulated copper wires arranged in a </a:t>
            </a:r>
            <a:r>
              <a:rPr lang="en-IN" dirty="0">
                <a:solidFill>
                  <a:srgbClr val="C00000"/>
                </a:solidFill>
              </a:rPr>
              <a:t>regular spiral pattern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degree of reduction in noise interference is determined by the </a:t>
            </a:r>
            <a:r>
              <a:rPr lang="en-IN" dirty="0">
                <a:solidFill>
                  <a:srgbClr val="C00000"/>
                </a:solidFill>
              </a:rPr>
              <a:t>number of turns per foot. </a:t>
            </a:r>
          </a:p>
          <a:p>
            <a:r>
              <a:rPr lang="en-IN" dirty="0">
                <a:solidFill>
                  <a:srgbClr val="C00000"/>
                </a:solidFill>
              </a:rPr>
              <a:t>Increasing</a:t>
            </a:r>
            <a:r>
              <a:rPr lang="en-IN" dirty="0"/>
              <a:t> the number of turns per foot </a:t>
            </a:r>
            <a:r>
              <a:rPr lang="en-IN" dirty="0">
                <a:solidFill>
                  <a:srgbClr val="C00000"/>
                </a:solidFill>
              </a:rPr>
              <a:t>decreases noise interference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60339" y="3429000"/>
            <a:ext cx="8071322" cy="112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733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F91D2-21A7-BF46-AB88-4257D03D1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Twisted Pair Cable -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E5C1F-EB09-A944-BE8C-405D70318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Separately </a:t>
            </a:r>
            <a:r>
              <a:rPr lang="en-US" dirty="0">
                <a:solidFill>
                  <a:schemeClr val="accent6"/>
                </a:solidFill>
              </a:rPr>
              <a:t>insulated.</a:t>
            </a:r>
          </a:p>
          <a:p>
            <a:r>
              <a:rPr lang="en-US" dirty="0"/>
              <a:t>It is widely used in different kinds of </a:t>
            </a:r>
            <a:r>
              <a:rPr lang="en-US" dirty="0">
                <a:solidFill>
                  <a:schemeClr val="accent6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voice</a:t>
            </a:r>
            <a:r>
              <a:rPr lang="en-US" dirty="0"/>
              <a:t> infrastructure.</a:t>
            </a:r>
          </a:p>
          <a:p>
            <a:r>
              <a:rPr lang="en-US" dirty="0"/>
              <a:t>The use of two wires </a:t>
            </a:r>
            <a:r>
              <a:rPr lang="en-US" dirty="0">
                <a:solidFill>
                  <a:schemeClr val="accent6"/>
                </a:solidFill>
              </a:rPr>
              <a:t>twisted together </a:t>
            </a:r>
            <a:r>
              <a:rPr lang="en-US" dirty="0"/>
              <a:t>helps to reduce </a:t>
            </a:r>
            <a:r>
              <a:rPr lang="en-US" dirty="0">
                <a:solidFill>
                  <a:schemeClr val="accent6"/>
                </a:solidFill>
              </a:rPr>
              <a:t>crosstalk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electromagnetic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induction</a:t>
            </a:r>
            <a:r>
              <a:rPr lang="en-US" dirty="0"/>
              <a:t>.</a:t>
            </a:r>
          </a:p>
          <a:p>
            <a:r>
              <a:rPr lang="en-US" dirty="0"/>
              <a:t>Two types of twisted pair cable:</a:t>
            </a:r>
          </a:p>
          <a:p>
            <a:endParaRPr lang="en-US" dirty="0"/>
          </a:p>
        </p:txBody>
      </p:sp>
      <p:pic>
        <p:nvPicPr>
          <p:cNvPr id="4" name="Picture 2" descr="Image result for STP(Shielded Twisted Pair)">
            <a:extLst>
              <a:ext uri="{FF2B5EF4-FFF2-40B4-BE49-F238E27FC236}">
                <a16:creationId xmlns:a16="http://schemas.microsoft.com/office/drawing/2014/main" id="{3C137644-7CA4-6F4D-BDA8-BF1CAE57D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745830">
            <a:off x="7135472" y="4155309"/>
            <a:ext cx="2947359" cy="165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UTP(Unshielded Twisted Pair)">
            <a:extLst>
              <a:ext uri="{FF2B5EF4-FFF2-40B4-BE49-F238E27FC236}">
                <a16:creationId xmlns:a16="http://schemas.microsoft.com/office/drawing/2014/main" id="{5FF77ADB-6E0F-3247-8E3C-D5E620EF5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0598595">
            <a:off x="2485693" y="4404004"/>
            <a:ext cx="2676037" cy="1164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1105B5-C98A-644D-969A-3064DE25B5B8}"/>
              </a:ext>
            </a:extLst>
          </p:cNvPr>
          <p:cNvSpPr txBox="1"/>
          <p:nvPr/>
        </p:nvSpPr>
        <p:spPr>
          <a:xfrm>
            <a:off x="2337810" y="3311291"/>
            <a:ext cx="3477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UTP </a:t>
            </a:r>
          </a:p>
          <a:p>
            <a:r>
              <a:rPr lang="en-US" sz="2000" b="1" dirty="0">
                <a:solidFill>
                  <a:schemeClr val="accent6"/>
                </a:solidFill>
              </a:rPr>
              <a:t>(Unshielded Twisted Pair)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DB579-A10E-0643-9BEE-33C51A963278}"/>
              </a:ext>
            </a:extLst>
          </p:cNvPr>
          <p:cNvSpPr txBox="1"/>
          <p:nvPr/>
        </p:nvSpPr>
        <p:spPr>
          <a:xfrm>
            <a:off x="7123250" y="3304977"/>
            <a:ext cx="297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STP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(Shielded Twisted Pair) </a:t>
            </a:r>
          </a:p>
        </p:txBody>
      </p:sp>
    </p:spTree>
    <p:extLst>
      <p:ext uri="{BB962C8B-B14F-4D97-AF65-F5344CB8AC3E}">
        <p14:creationId xmlns:p14="http://schemas.microsoft.com/office/powerpoint/2010/main" val="30365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8DB862-7C47-B04E-B1C9-66BE4C5C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Unshielded Twisted Pair Cable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A2CCB6-7A63-9941-A9B5-1690EC4C0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</a:t>
            </a:r>
            <a:r>
              <a:rPr lang="en-IN" dirty="0">
                <a:solidFill>
                  <a:srgbClr val="C00000"/>
                </a:solidFill>
              </a:rPr>
              <a:t>unshielded twisted pair </a:t>
            </a:r>
            <a:r>
              <a:rPr lang="en-IN" dirty="0"/>
              <a:t>is widely used in telecommunication. </a:t>
            </a:r>
          </a:p>
          <a:p>
            <a:pPr lvl="1"/>
            <a:r>
              <a:rPr lang="en-US" dirty="0"/>
              <a:t>Ordinary telephone wires.</a:t>
            </a:r>
          </a:p>
          <a:p>
            <a:pPr lvl="1"/>
            <a:r>
              <a:rPr lang="en-US" dirty="0"/>
              <a:t>Weak immunity against noise &amp; interferences.</a:t>
            </a:r>
          </a:p>
          <a:p>
            <a:r>
              <a:rPr lang="en-IN" dirty="0"/>
              <a:t>Following are the categories of UTP:</a:t>
            </a:r>
          </a:p>
          <a:p>
            <a:pPr lvl="1" algn="l"/>
            <a:r>
              <a:rPr lang="en-IN" dirty="0"/>
              <a:t>Category </a:t>
            </a:r>
            <a:r>
              <a:rPr lang="en-IN" dirty="0">
                <a:solidFill>
                  <a:srgbClr val="C00000"/>
                </a:solidFill>
              </a:rPr>
              <a:t>1</a:t>
            </a:r>
            <a:r>
              <a:rPr lang="en-IN" dirty="0"/>
              <a:t>: Used for telephone lines that have </a:t>
            </a:r>
            <a:r>
              <a:rPr lang="en-IN" dirty="0">
                <a:solidFill>
                  <a:srgbClr val="C00000"/>
                </a:solidFill>
              </a:rPr>
              <a:t>low-speed data</a:t>
            </a:r>
            <a:r>
              <a:rPr lang="en-IN" dirty="0"/>
              <a:t>. (Outdated)</a:t>
            </a:r>
          </a:p>
          <a:p>
            <a:pPr lvl="1" algn="l"/>
            <a:r>
              <a:rPr lang="en-IN" dirty="0"/>
              <a:t>Category </a:t>
            </a:r>
            <a:r>
              <a:rPr lang="en-IN" dirty="0">
                <a:solidFill>
                  <a:srgbClr val="C00000"/>
                </a:solidFill>
              </a:rPr>
              <a:t>2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</a:rPr>
              <a:t>&amp; 3</a:t>
            </a:r>
            <a:r>
              <a:rPr lang="en-IN" dirty="0"/>
              <a:t> : Support up-to </a:t>
            </a:r>
            <a:r>
              <a:rPr lang="en-IN" dirty="0">
                <a:solidFill>
                  <a:srgbClr val="C00000"/>
                </a:solidFill>
              </a:rPr>
              <a:t>4Mbps &amp; 16Mbps</a:t>
            </a:r>
            <a:r>
              <a:rPr lang="en-IN" dirty="0"/>
              <a:t>. (Nearly obsolete)</a:t>
            </a:r>
          </a:p>
          <a:p>
            <a:pPr lvl="1" algn="l"/>
            <a:r>
              <a:rPr lang="en-IN" dirty="0"/>
              <a:t>Category </a:t>
            </a:r>
            <a:r>
              <a:rPr lang="en-IN" dirty="0">
                <a:solidFill>
                  <a:srgbClr val="C00000"/>
                </a:solidFill>
              </a:rPr>
              <a:t>4</a:t>
            </a:r>
            <a:r>
              <a:rPr lang="en-IN" dirty="0"/>
              <a:t>: Support up-to </a:t>
            </a:r>
            <a:r>
              <a:rPr lang="en-IN" dirty="0">
                <a:solidFill>
                  <a:srgbClr val="C00000"/>
                </a:solidFill>
              </a:rPr>
              <a:t>20Mbps</a:t>
            </a:r>
            <a:r>
              <a:rPr lang="en-IN" dirty="0"/>
              <a:t> used for long-distance communication.</a:t>
            </a:r>
          </a:p>
          <a:p>
            <a:pPr lvl="1" algn="l"/>
            <a:r>
              <a:rPr lang="en-IN" dirty="0"/>
              <a:t>Category </a:t>
            </a:r>
            <a:r>
              <a:rPr lang="en-IN" dirty="0">
                <a:solidFill>
                  <a:srgbClr val="C00000"/>
                </a:solidFill>
              </a:rPr>
              <a:t>5</a:t>
            </a:r>
            <a:r>
              <a:rPr lang="en-IN" dirty="0"/>
              <a:t>: Support up-to </a:t>
            </a:r>
            <a:r>
              <a:rPr lang="en-IN" dirty="0">
                <a:solidFill>
                  <a:srgbClr val="C00000"/>
                </a:solidFill>
              </a:rPr>
              <a:t>100Mbps</a:t>
            </a:r>
            <a:r>
              <a:rPr lang="en-IN" dirty="0"/>
              <a:t>. </a:t>
            </a:r>
          </a:p>
          <a:p>
            <a:pPr lvl="1" algn="l"/>
            <a:r>
              <a:rPr lang="en-IN" dirty="0"/>
              <a:t>Category </a:t>
            </a:r>
            <a:r>
              <a:rPr lang="en-IN" dirty="0">
                <a:solidFill>
                  <a:srgbClr val="C00000"/>
                </a:solidFill>
              </a:rPr>
              <a:t>5e</a:t>
            </a:r>
            <a:r>
              <a:rPr lang="en-IN" dirty="0"/>
              <a:t>: Support up-to </a:t>
            </a:r>
            <a:r>
              <a:rPr lang="en-IN" dirty="0">
                <a:solidFill>
                  <a:srgbClr val="C00000"/>
                </a:solidFill>
              </a:rPr>
              <a:t>1Gbps</a:t>
            </a:r>
          </a:p>
          <a:p>
            <a:pPr lvl="1" algn="l"/>
            <a:r>
              <a:rPr lang="en-IN" dirty="0"/>
              <a:t>Category </a:t>
            </a:r>
            <a:r>
              <a:rPr lang="en-IN" dirty="0">
                <a:solidFill>
                  <a:srgbClr val="C00000"/>
                </a:solidFill>
              </a:rPr>
              <a:t>6</a:t>
            </a:r>
            <a:r>
              <a:rPr lang="en-IN" dirty="0"/>
              <a:t>: Support up-to </a:t>
            </a:r>
            <a:r>
              <a:rPr lang="en-IN" dirty="0">
                <a:solidFill>
                  <a:srgbClr val="C00000"/>
                </a:solidFill>
              </a:rPr>
              <a:t>1 Gbps but better shielding </a:t>
            </a:r>
            <a:r>
              <a:rPr lang="en-IN" dirty="0"/>
              <a:t>and reduced crosstalk</a:t>
            </a:r>
          </a:p>
          <a:p>
            <a:pPr lvl="1" algn="l"/>
            <a:r>
              <a:rPr lang="en-IN" dirty="0"/>
              <a:t>Category </a:t>
            </a:r>
            <a:r>
              <a:rPr lang="en-IN" dirty="0">
                <a:solidFill>
                  <a:srgbClr val="C00000"/>
                </a:solidFill>
              </a:rPr>
              <a:t>6a</a:t>
            </a:r>
            <a:r>
              <a:rPr lang="en-IN" dirty="0"/>
              <a:t>: Support up-to </a:t>
            </a:r>
            <a:r>
              <a:rPr lang="en-IN" dirty="0">
                <a:solidFill>
                  <a:srgbClr val="C00000"/>
                </a:solidFill>
              </a:rPr>
              <a:t>10 Gbps </a:t>
            </a:r>
            <a:r>
              <a:rPr lang="en-US" dirty="0"/>
              <a:t>A higher-performance version of CAT 6</a:t>
            </a:r>
            <a:endParaRPr lang="en-IN" dirty="0"/>
          </a:p>
          <a:p>
            <a:pPr lvl="1" algn="l"/>
            <a:r>
              <a:rPr lang="en-IN" dirty="0"/>
              <a:t>Category </a:t>
            </a:r>
            <a:r>
              <a:rPr lang="en-IN" dirty="0">
                <a:solidFill>
                  <a:srgbClr val="C00000"/>
                </a:solidFill>
              </a:rPr>
              <a:t>7</a:t>
            </a:r>
            <a:r>
              <a:rPr lang="en-IN" dirty="0"/>
              <a:t>: Support up-to </a:t>
            </a:r>
            <a:r>
              <a:rPr lang="en-IN" dirty="0">
                <a:solidFill>
                  <a:srgbClr val="C00000"/>
                </a:solidFill>
              </a:rPr>
              <a:t>10 Gbps </a:t>
            </a:r>
            <a:r>
              <a:rPr lang="en-US" dirty="0">
                <a:solidFill>
                  <a:srgbClr val="C00000"/>
                </a:solidFill>
              </a:rPr>
              <a:t>improved performance </a:t>
            </a:r>
            <a:r>
              <a:rPr lang="en-US" dirty="0"/>
              <a:t>in high-speed applications</a:t>
            </a:r>
            <a:endParaRPr lang="en-IN" dirty="0"/>
          </a:p>
          <a:p>
            <a:pPr lvl="1" algn="l"/>
            <a:r>
              <a:rPr lang="en-IN" dirty="0"/>
              <a:t>Category </a:t>
            </a:r>
            <a:r>
              <a:rPr lang="en-IN" dirty="0">
                <a:solidFill>
                  <a:srgbClr val="C00000"/>
                </a:solidFill>
              </a:rPr>
              <a:t>8</a:t>
            </a:r>
            <a:r>
              <a:rPr lang="en-IN" dirty="0"/>
              <a:t>: Support up-to </a:t>
            </a:r>
            <a:r>
              <a:rPr lang="en-IN" dirty="0">
                <a:solidFill>
                  <a:srgbClr val="C00000"/>
                </a:solidFill>
              </a:rPr>
              <a:t>25 to 40 Gbps </a:t>
            </a:r>
            <a:r>
              <a:rPr lang="en-US" dirty="0"/>
              <a:t>offering superb performance.</a:t>
            </a:r>
            <a:endParaRPr lang="en-IN" dirty="0"/>
          </a:p>
          <a:p>
            <a:pPr lvl="1" algn="l"/>
            <a:endParaRPr lang="en-IN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4948"/>
          <a:stretch/>
        </p:blipFill>
        <p:spPr bwMode="auto">
          <a:xfrm>
            <a:off x="8530220" y="863444"/>
            <a:ext cx="3530600" cy="287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548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8DB862-7C47-B04E-B1C9-66BE4C5C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Unshielded Twisted Pair Cable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A2CCB6-7A63-9941-A9B5-1690EC4C0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787550" cy="2565555"/>
          </a:xfrm>
        </p:spPr>
        <p:txBody>
          <a:bodyPr/>
          <a:lstStyle/>
          <a:p>
            <a:r>
              <a:rPr lang="en-IN" dirty="0"/>
              <a:t>Advantages</a:t>
            </a:r>
            <a:r>
              <a:rPr lang="en-IN" b="1" dirty="0"/>
              <a:t>:</a:t>
            </a:r>
          </a:p>
          <a:p>
            <a:pPr lvl="1"/>
            <a:r>
              <a:rPr lang="en-IN" dirty="0"/>
              <a:t>It is cheap.</a:t>
            </a:r>
          </a:p>
          <a:p>
            <a:pPr lvl="1"/>
            <a:r>
              <a:rPr lang="en-IN" dirty="0"/>
              <a:t>Installation of the unshielded twisted pair is easy.</a:t>
            </a:r>
          </a:p>
          <a:p>
            <a:pPr lvl="1"/>
            <a:r>
              <a:rPr lang="en-IN" dirty="0"/>
              <a:t>It can be used for high-speed LAN.</a:t>
            </a:r>
          </a:p>
          <a:p>
            <a:r>
              <a:rPr lang="en-US" dirty="0"/>
              <a:t>Disadvantage: </a:t>
            </a:r>
          </a:p>
          <a:p>
            <a:pPr lvl="1"/>
            <a:r>
              <a:rPr lang="en-IN" dirty="0"/>
              <a:t>This cable can only be used for shorter distances because of attenuation(weakening)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63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5BD49FB-0518-894F-A6AB-51DBF6DD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Shielded Twisted Pair Cable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shielded twisted pair is a cable that contains the </a:t>
            </a:r>
            <a:r>
              <a:rPr lang="en-IN" dirty="0">
                <a:solidFill>
                  <a:srgbClr val="C00000"/>
                </a:solidFill>
              </a:rPr>
              <a:t>mesh surrounding </a:t>
            </a:r>
            <a:r>
              <a:rPr lang="en-IN" dirty="0"/>
              <a:t>the wire that allows the </a:t>
            </a:r>
            <a:r>
              <a:rPr lang="en-IN" dirty="0">
                <a:solidFill>
                  <a:srgbClr val="C00000"/>
                </a:solidFill>
              </a:rPr>
              <a:t>higher transmission rate</a:t>
            </a:r>
            <a:r>
              <a:rPr lang="en-IN" dirty="0"/>
              <a:t>.</a:t>
            </a:r>
          </a:p>
          <a:p>
            <a:r>
              <a:rPr lang="en-IN" dirty="0"/>
              <a:t>An </a:t>
            </a:r>
            <a:r>
              <a:rPr lang="en-IN" dirty="0">
                <a:solidFill>
                  <a:srgbClr val="C00000"/>
                </a:solidFill>
              </a:rPr>
              <a:t>installation</a:t>
            </a:r>
            <a:r>
              <a:rPr lang="en-IN" dirty="0"/>
              <a:t> of STP is easy.</a:t>
            </a:r>
          </a:p>
          <a:p>
            <a:r>
              <a:rPr lang="en-IN" dirty="0"/>
              <a:t>It has a </a:t>
            </a:r>
            <a:r>
              <a:rPr lang="en-IN" dirty="0">
                <a:solidFill>
                  <a:srgbClr val="C00000"/>
                </a:solidFill>
              </a:rPr>
              <a:t>lower attenuation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It is </a:t>
            </a:r>
            <a:r>
              <a:rPr lang="en-IN" dirty="0">
                <a:solidFill>
                  <a:srgbClr val="C00000"/>
                </a:solidFill>
              </a:rPr>
              <a:t>shielded</a:t>
            </a:r>
            <a:r>
              <a:rPr lang="en-IN" dirty="0"/>
              <a:t> that provides the </a:t>
            </a:r>
            <a:r>
              <a:rPr lang="en-IN" dirty="0">
                <a:solidFill>
                  <a:srgbClr val="C00000"/>
                </a:solidFill>
              </a:rPr>
              <a:t>higher data transmission rate</a:t>
            </a:r>
            <a:r>
              <a:rPr lang="en-IN" dirty="0"/>
              <a:t>.</a:t>
            </a:r>
          </a:p>
          <a:p>
            <a:r>
              <a:rPr lang="en-IN" dirty="0"/>
              <a:t>It is more </a:t>
            </a:r>
            <a:r>
              <a:rPr lang="en-IN" dirty="0">
                <a:solidFill>
                  <a:srgbClr val="C00000"/>
                </a:solidFill>
              </a:rPr>
              <a:t>expensive</a:t>
            </a:r>
            <a:r>
              <a:rPr lang="en-IN" dirty="0"/>
              <a:t> as compared to UTP and coaxial cable.</a:t>
            </a:r>
          </a:p>
          <a:p>
            <a:r>
              <a:rPr lang="en-IN" dirty="0"/>
              <a:t>It has </a:t>
            </a:r>
            <a:r>
              <a:rPr lang="en-IN" dirty="0">
                <a:solidFill>
                  <a:srgbClr val="C00000"/>
                </a:solidFill>
              </a:rPr>
              <a:t>higher capacity </a:t>
            </a:r>
            <a:r>
              <a:rPr lang="en-IN" dirty="0"/>
              <a:t>as compared to unshielded twisted pair cable.</a:t>
            </a:r>
          </a:p>
          <a:p>
            <a:r>
              <a:rPr lang="en-US" dirty="0"/>
              <a:t>Used in </a:t>
            </a:r>
            <a:r>
              <a:rPr lang="en-US" dirty="0">
                <a:solidFill>
                  <a:srgbClr val="C00000"/>
                </a:solidFill>
              </a:rPr>
              <a:t>exterior</a:t>
            </a:r>
            <a:r>
              <a:rPr lang="en-US" dirty="0"/>
              <a:t> network(outside of building).</a:t>
            </a:r>
          </a:p>
          <a:p>
            <a:endParaRPr lang="en-IN" dirty="0"/>
          </a:p>
          <a:p>
            <a:endParaRPr lang="en-US" dirty="0"/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-8009" r="-11429"/>
          <a:stretch/>
        </p:blipFill>
        <p:spPr bwMode="auto">
          <a:xfrm>
            <a:off x="5740400" y="1174752"/>
            <a:ext cx="3708400" cy="2678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457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AEC779-E7CA-5144-8A9A-AABBFBD9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Open Sans Semibold" panose="020B0706030804020204" pitchFamily="34" charset="0"/>
                <a:cs typeface="Open Sans Semibold" panose="020B0706030804020204" pitchFamily="34" charset="0"/>
              </a:rPr>
              <a:t>Coaxial Cable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Outer conductor is </a:t>
            </a:r>
            <a:r>
              <a:rPr lang="en-US" dirty="0">
                <a:solidFill>
                  <a:schemeClr val="accent6"/>
                </a:solidFill>
              </a:rPr>
              <a:t>braided shield.</a:t>
            </a:r>
          </a:p>
          <a:p>
            <a:r>
              <a:rPr lang="en-US" dirty="0"/>
              <a:t>Inner conductor is </a:t>
            </a:r>
            <a:r>
              <a:rPr lang="en-US" dirty="0">
                <a:solidFill>
                  <a:schemeClr val="accent6"/>
                </a:solidFill>
              </a:rPr>
              <a:t>solid metal.</a:t>
            </a:r>
          </a:p>
          <a:p>
            <a:r>
              <a:rPr lang="en-US" dirty="0">
                <a:solidFill>
                  <a:schemeClr val="accent6"/>
                </a:solidFill>
              </a:rPr>
              <a:t>Separated</a:t>
            </a:r>
            <a:r>
              <a:rPr lang="en-US" dirty="0"/>
              <a:t> by insulating material, and whole cover by </a:t>
            </a:r>
            <a:r>
              <a:rPr lang="en-US" dirty="0">
                <a:solidFill>
                  <a:schemeClr val="accent6"/>
                </a:solidFill>
              </a:rPr>
              <a:t>plastic</a:t>
            </a:r>
            <a:r>
              <a:rPr lang="en-US" dirty="0"/>
              <a:t> cover.</a:t>
            </a:r>
          </a:p>
          <a:p>
            <a:r>
              <a:rPr lang="en-IN" dirty="0"/>
              <a:t>The middle core is responsible for the data transferring whereas the copper mesh prevents from the </a:t>
            </a:r>
            <a:r>
              <a:rPr lang="en-IN" b="1" dirty="0">
                <a:solidFill>
                  <a:srgbClr val="C00000"/>
                </a:solidFill>
              </a:rPr>
              <a:t>EMI</a:t>
            </a:r>
            <a:r>
              <a:rPr lang="en-IN" dirty="0">
                <a:solidFill>
                  <a:srgbClr val="C00000"/>
                </a:solidFill>
              </a:rPr>
              <a:t>(Electromagnetic interference).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66084" y="1798091"/>
            <a:ext cx="1882097" cy="8173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19780" y="1295400"/>
            <a:ext cx="5257800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Oval Callout 6"/>
          <p:cNvSpPr/>
          <p:nvPr/>
        </p:nvSpPr>
        <p:spPr>
          <a:xfrm>
            <a:off x="6096001" y="3186838"/>
            <a:ext cx="2468105" cy="934995"/>
          </a:xfrm>
          <a:prstGeom prst="wedgeEllipseCallout">
            <a:avLst>
              <a:gd name="adj1" fmla="val -22751"/>
              <a:gd name="adj2" fmla="val -17341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Outer conductor (shield)</a:t>
            </a:r>
          </a:p>
        </p:txBody>
      </p:sp>
      <p:sp>
        <p:nvSpPr>
          <p:cNvPr id="9" name="Oval Callout 8"/>
          <p:cNvSpPr/>
          <p:nvPr/>
        </p:nvSpPr>
        <p:spPr>
          <a:xfrm>
            <a:off x="5791201" y="990600"/>
            <a:ext cx="2070961" cy="429674"/>
          </a:xfrm>
          <a:prstGeom prst="wedgeEllipseCallout">
            <a:avLst>
              <a:gd name="adj1" fmla="val -53665"/>
              <a:gd name="adj2" fmla="val 6217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Callout 9"/>
          <p:cNvSpPr/>
          <p:nvPr/>
        </p:nvSpPr>
        <p:spPr>
          <a:xfrm>
            <a:off x="5790878" y="990600"/>
            <a:ext cx="2070961" cy="429674"/>
          </a:xfrm>
          <a:prstGeom prst="wedgeEllipseCallout">
            <a:avLst>
              <a:gd name="adj1" fmla="val 54847"/>
              <a:gd name="adj2" fmla="val 11028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Insulator</a:t>
            </a:r>
          </a:p>
        </p:txBody>
      </p:sp>
      <p:sp>
        <p:nvSpPr>
          <p:cNvPr id="11" name="Oval Callout 10"/>
          <p:cNvSpPr/>
          <p:nvPr/>
        </p:nvSpPr>
        <p:spPr>
          <a:xfrm>
            <a:off x="8564106" y="2853626"/>
            <a:ext cx="1864317" cy="579249"/>
          </a:xfrm>
          <a:prstGeom prst="wedgeEllipseCallout">
            <a:avLst>
              <a:gd name="adj1" fmla="val -28969"/>
              <a:gd name="adj2" fmla="val -17595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Inner Conductor</a:t>
            </a:r>
          </a:p>
        </p:txBody>
      </p:sp>
      <p:sp>
        <p:nvSpPr>
          <p:cNvPr id="12" name="Oval Callout 11"/>
          <p:cNvSpPr/>
          <p:nvPr/>
        </p:nvSpPr>
        <p:spPr>
          <a:xfrm>
            <a:off x="2548181" y="3124845"/>
            <a:ext cx="2070961" cy="514351"/>
          </a:xfrm>
          <a:prstGeom prst="wedgeEllipseCallout">
            <a:avLst>
              <a:gd name="adj1" fmla="val 54099"/>
              <a:gd name="adj2" fmla="val -13531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Plastic cover</a:t>
            </a:r>
          </a:p>
        </p:txBody>
      </p:sp>
    </p:spTree>
    <p:extLst>
      <p:ext uri="{BB962C8B-B14F-4D97-AF65-F5344CB8AC3E}">
        <p14:creationId xmlns:p14="http://schemas.microsoft.com/office/powerpoint/2010/main" val="412049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9EE1-A73A-5345-A3F2-AB5EAB5BF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Coaxial Cable – 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33091-5839-D64C-BF80-6BD93DB35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</a:t>
            </a:r>
            <a:r>
              <a:rPr lang="en-US" dirty="0">
                <a:solidFill>
                  <a:srgbClr val="C00000"/>
                </a:solidFill>
              </a:rPr>
              <a:t>television</a:t>
            </a:r>
            <a:r>
              <a:rPr lang="en-US" dirty="0"/>
              <a:t>, long distance </a:t>
            </a:r>
            <a:r>
              <a:rPr lang="en-US" dirty="0">
                <a:solidFill>
                  <a:srgbClr val="C00000"/>
                </a:solidFill>
              </a:rPr>
              <a:t>telephone transmission</a:t>
            </a:r>
            <a:r>
              <a:rPr lang="en-US" dirty="0"/>
              <a:t>.</a:t>
            </a:r>
          </a:p>
          <a:p>
            <a:pPr lvl="0"/>
            <a:r>
              <a:rPr lang="en-IN" dirty="0"/>
              <a:t>It has </a:t>
            </a:r>
            <a:r>
              <a:rPr lang="en-IN" dirty="0">
                <a:solidFill>
                  <a:srgbClr val="C00000"/>
                </a:solidFill>
              </a:rPr>
              <a:t>excellent noise immunity</a:t>
            </a:r>
            <a:r>
              <a:rPr lang="en-IN" dirty="0"/>
              <a:t>.</a:t>
            </a:r>
          </a:p>
          <a:p>
            <a:r>
              <a:rPr lang="en-IN" dirty="0"/>
              <a:t>It has a </a:t>
            </a:r>
            <a:r>
              <a:rPr lang="en-IN" dirty="0">
                <a:solidFill>
                  <a:srgbClr val="C00000"/>
                </a:solidFill>
              </a:rPr>
              <a:t>higher frequency </a:t>
            </a:r>
            <a:r>
              <a:rPr lang="en-IN" dirty="0"/>
              <a:t>as compared to Twisted pair cable.</a:t>
            </a:r>
          </a:p>
          <a:p>
            <a:r>
              <a:rPr lang="en-IN" dirty="0"/>
              <a:t>Coaxial cable is of two types: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Baseband transmission: </a:t>
            </a:r>
          </a:p>
          <a:p>
            <a:pPr lvl="1"/>
            <a:r>
              <a:rPr lang="en-IN" dirty="0"/>
              <a:t>It is defined as the process of transmitting a </a:t>
            </a:r>
            <a:r>
              <a:rPr lang="en-IN" dirty="0">
                <a:solidFill>
                  <a:srgbClr val="C00000"/>
                </a:solidFill>
              </a:rPr>
              <a:t>single signal </a:t>
            </a:r>
            <a:r>
              <a:rPr lang="en-IN" dirty="0"/>
              <a:t>at high speed.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Broadband transmission: </a:t>
            </a:r>
          </a:p>
          <a:p>
            <a:pPr lvl="1"/>
            <a:r>
              <a:rPr lang="en-IN" dirty="0"/>
              <a:t>It is defined as the process of transmitting </a:t>
            </a:r>
            <a:r>
              <a:rPr lang="en-IN" dirty="0">
                <a:solidFill>
                  <a:srgbClr val="C00000"/>
                </a:solidFill>
              </a:rPr>
              <a:t>multiple signals </a:t>
            </a:r>
            <a:r>
              <a:rPr lang="en-IN" dirty="0"/>
              <a:t>simultaneously.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89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5883-A297-1440-B69E-3ACC92A3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Coaxial Cable – 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5DBD8-D69A-244E-9C16-A718718F3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Advantages Of Coaxial cable: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The data can be transmitted at </a:t>
            </a:r>
            <a:r>
              <a:rPr lang="en-IN" dirty="0">
                <a:solidFill>
                  <a:srgbClr val="C00000"/>
                </a:solidFill>
              </a:rPr>
              <a:t>high speed</a:t>
            </a:r>
            <a:r>
              <a:rPr lang="en-IN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It has </a:t>
            </a:r>
            <a:r>
              <a:rPr lang="en-IN" dirty="0">
                <a:solidFill>
                  <a:srgbClr val="C00000"/>
                </a:solidFill>
              </a:rPr>
              <a:t>better shielding </a:t>
            </a:r>
            <a:r>
              <a:rPr lang="en-IN" dirty="0"/>
              <a:t>as compared to twisted pair cable.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It provides </a:t>
            </a:r>
            <a:r>
              <a:rPr lang="en-IN" dirty="0">
                <a:solidFill>
                  <a:srgbClr val="C00000"/>
                </a:solidFill>
              </a:rPr>
              <a:t>higher bandwidth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Disadvantages Of Coaxial cable:</a:t>
            </a:r>
          </a:p>
          <a:p>
            <a:pPr marL="369888" indent="-457200">
              <a:buFont typeface="+mj-lt"/>
              <a:buAutoNum type="arabicPeriod"/>
            </a:pPr>
            <a:r>
              <a:rPr lang="en-IN" dirty="0"/>
              <a:t>It is </a:t>
            </a:r>
            <a:r>
              <a:rPr lang="en-IN" dirty="0">
                <a:solidFill>
                  <a:srgbClr val="C00000"/>
                </a:solidFill>
              </a:rPr>
              <a:t>more expensive </a:t>
            </a:r>
            <a:r>
              <a:rPr lang="en-IN" dirty="0"/>
              <a:t>as compared to twisted pair cable.</a:t>
            </a:r>
          </a:p>
          <a:p>
            <a:pPr marL="369888" indent="-457200">
              <a:buFont typeface="+mj-lt"/>
              <a:buAutoNum type="arabicPeriod"/>
            </a:pPr>
            <a:r>
              <a:rPr lang="en-IN" dirty="0"/>
              <a:t>If any </a:t>
            </a:r>
            <a:r>
              <a:rPr lang="en-IN" dirty="0">
                <a:solidFill>
                  <a:srgbClr val="C00000"/>
                </a:solidFill>
              </a:rPr>
              <a:t>fault</a:t>
            </a:r>
            <a:r>
              <a:rPr lang="en-IN" dirty="0"/>
              <a:t> occurs in the cable causes the failure in the entire network.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9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67AA78-EAE8-9E42-9484-7FCED9960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Fiber Optic Cable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fiber-optic cable is made of </a:t>
            </a:r>
            <a:r>
              <a:rPr lang="en-US" dirty="0">
                <a:solidFill>
                  <a:srgbClr val="C00000"/>
                </a:solidFill>
              </a:rPr>
              <a:t>glass or plastic </a:t>
            </a:r>
            <a:r>
              <a:rPr lang="en-US" dirty="0"/>
              <a:t>and transmits signals in the </a:t>
            </a:r>
            <a:r>
              <a:rPr lang="en-US" dirty="0">
                <a:solidFill>
                  <a:srgbClr val="C00000"/>
                </a:solidFill>
              </a:rPr>
              <a:t>form of light.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glass or plastic core is surrounded by a </a:t>
            </a:r>
            <a:r>
              <a:rPr lang="en-US" dirty="0">
                <a:solidFill>
                  <a:srgbClr val="C00000"/>
                </a:solidFill>
              </a:rPr>
              <a:t>cladding</a:t>
            </a:r>
            <a:r>
              <a:rPr lang="en-US" dirty="0"/>
              <a:t> of less dense glass or plastic.</a:t>
            </a:r>
          </a:p>
          <a:p>
            <a:r>
              <a:rPr lang="en-US" dirty="0"/>
              <a:t>The difference in density of the two materials must be such that a beam of light moving through a core is reflected off the cladding instead of being refracted into it.</a:t>
            </a:r>
          </a:p>
          <a:p>
            <a:r>
              <a:rPr lang="en-US" dirty="0"/>
              <a:t>Optical fibers use </a:t>
            </a:r>
            <a:r>
              <a:rPr lang="en-US" dirty="0">
                <a:solidFill>
                  <a:srgbClr val="C00000"/>
                </a:solidFill>
              </a:rPr>
              <a:t>reflection</a:t>
            </a:r>
            <a:r>
              <a:rPr lang="en-US" dirty="0"/>
              <a:t> to guide light through a channel.</a:t>
            </a:r>
          </a:p>
          <a:p>
            <a:endParaRPr lang="en-US" dirty="0"/>
          </a:p>
        </p:txBody>
      </p:sp>
      <p:pic>
        <p:nvPicPr>
          <p:cNvPr id="3076" name="Picture 4" descr="Related image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2142" y="1332161"/>
            <a:ext cx="4827716" cy="271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EF37A29-74C4-D649-937E-7D7A4300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Fiber Optic Cable –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Core</a:t>
            </a:r>
            <a:r>
              <a:rPr lang="en-IN" b="1" dirty="0"/>
              <a:t>: </a:t>
            </a:r>
            <a:r>
              <a:rPr lang="en-IN" dirty="0"/>
              <a:t>The optical fibre consists of a narrow strand of glass or plastic known as a core. </a:t>
            </a:r>
          </a:p>
          <a:p>
            <a:r>
              <a:rPr lang="en-IN" b="1" dirty="0">
                <a:solidFill>
                  <a:srgbClr val="C00000"/>
                </a:solidFill>
              </a:rPr>
              <a:t>Cladding</a:t>
            </a:r>
            <a:r>
              <a:rPr lang="en-IN" b="1" dirty="0"/>
              <a:t>: </a:t>
            </a:r>
            <a:r>
              <a:rPr lang="en-IN" dirty="0"/>
              <a:t>The concentric layer of glass is known as cladding. </a:t>
            </a:r>
          </a:p>
          <a:p>
            <a:r>
              <a:rPr lang="en-IN" b="1" dirty="0">
                <a:solidFill>
                  <a:srgbClr val="C00000"/>
                </a:solidFill>
              </a:rPr>
              <a:t>Jacket</a:t>
            </a:r>
            <a:r>
              <a:rPr lang="en-IN" b="1" dirty="0"/>
              <a:t>:</a:t>
            </a:r>
            <a:r>
              <a:rPr lang="en-IN" dirty="0"/>
              <a:t> The protective coating consisting of plastic is known as a jacket. </a:t>
            </a:r>
            <a:endParaRPr lang="en-US" dirty="0"/>
          </a:p>
          <a:p>
            <a:r>
              <a:rPr lang="en-US" dirty="0"/>
              <a:t>Light travels in a straight line as long as it is moving through a single uniform substance.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24202" y="3658726"/>
            <a:ext cx="7743596" cy="1476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568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064A-E2EA-3443-A01F-A4FC2495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Fiber Optic Cable –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28784-67EE-D246-866D-3189F0B52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provide </a:t>
            </a:r>
            <a:r>
              <a:rPr lang="en-US" dirty="0">
                <a:solidFill>
                  <a:srgbClr val="C00000"/>
                </a:solidFill>
              </a:rPr>
              <a:t>faster data transmission </a:t>
            </a:r>
            <a:r>
              <a:rPr lang="en-US" dirty="0"/>
              <a:t>than copper wires.</a:t>
            </a:r>
          </a:p>
          <a:p>
            <a:r>
              <a:rPr lang="en-IN" dirty="0"/>
              <a:t>It carries the data at a </a:t>
            </a:r>
            <a:r>
              <a:rPr lang="en-IN" dirty="0">
                <a:solidFill>
                  <a:srgbClr val="C00000"/>
                </a:solidFill>
              </a:rPr>
              <a:t>longer distance </a:t>
            </a:r>
            <a:r>
              <a:rPr lang="en-IN" dirty="0"/>
              <a:t>as compared to copper cable.</a:t>
            </a:r>
            <a:endParaRPr lang="en-US" dirty="0"/>
          </a:p>
          <a:p>
            <a:r>
              <a:rPr lang="en-US" dirty="0"/>
              <a:t>Small </a:t>
            </a:r>
            <a:r>
              <a:rPr lang="en-US" dirty="0">
                <a:solidFill>
                  <a:srgbClr val="C00000"/>
                </a:solidFill>
              </a:rPr>
              <a:t>size &amp; weight</a:t>
            </a:r>
            <a:r>
              <a:rPr lang="en-US" dirty="0"/>
              <a:t>.</a:t>
            </a:r>
          </a:p>
          <a:p>
            <a:r>
              <a:rPr lang="en-US" dirty="0"/>
              <a:t>Better </a:t>
            </a:r>
            <a:r>
              <a:rPr lang="en-US" dirty="0">
                <a:solidFill>
                  <a:srgbClr val="C00000"/>
                </a:solidFill>
              </a:rPr>
              <a:t>Reliability</a:t>
            </a:r>
            <a:r>
              <a:rPr lang="en-US" dirty="0"/>
              <a:t>.</a:t>
            </a:r>
          </a:p>
          <a:p>
            <a:r>
              <a:rPr lang="en-US" dirty="0"/>
              <a:t>Used in </a:t>
            </a:r>
            <a:r>
              <a:rPr lang="en-US" dirty="0">
                <a:solidFill>
                  <a:srgbClr val="C00000"/>
                </a:solidFill>
              </a:rPr>
              <a:t>high bandwidth </a:t>
            </a:r>
            <a:r>
              <a:rPr lang="en-US" dirty="0"/>
              <a:t>network.</a:t>
            </a:r>
          </a:p>
          <a:p>
            <a:r>
              <a:rPr lang="en-US" dirty="0"/>
              <a:t>High </a:t>
            </a:r>
            <a:r>
              <a:rPr lang="en-US" dirty="0">
                <a:solidFill>
                  <a:srgbClr val="C00000"/>
                </a:solidFill>
              </a:rPr>
              <a:t>data rate </a:t>
            </a:r>
            <a:r>
              <a:rPr lang="en-US" dirty="0"/>
              <a:t>&amp; lower </a:t>
            </a:r>
            <a:r>
              <a:rPr lang="en-US" dirty="0">
                <a:solidFill>
                  <a:srgbClr val="C00000"/>
                </a:solidFill>
              </a:rPr>
              <a:t>attenuation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940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Unguided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An unguided transmission transmits the </a:t>
            </a:r>
            <a:r>
              <a:rPr lang="en-IN" dirty="0">
                <a:solidFill>
                  <a:srgbClr val="C00000"/>
                </a:solidFill>
              </a:rPr>
              <a:t>electromagnetic waves </a:t>
            </a:r>
            <a:r>
              <a:rPr lang="en-IN" dirty="0"/>
              <a:t>without using any physical medium. </a:t>
            </a:r>
          </a:p>
          <a:p>
            <a:r>
              <a:rPr lang="en-IN" dirty="0"/>
              <a:t>Therefore it is also known as </a:t>
            </a:r>
            <a:r>
              <a:rPr lang="en-IN" dirty="0">
                <a:solidFill>
                  <a:srgbClr val="C00000"/>
                </a:solidFill>
              </a:rPr>
              <a:t>wireless transmission</a:t>
            </a:r>
            <a:r>
              <a:rPr lang="en-IN" dirty="0"/>
              <a:t>. </a:t>
            </a:r>
          </a:p>
          <a:p>
            <a:r>
              <a:rPr lang="en-IN" dirty="0"/>
              <a:t>In unguided media, air is the media through which the electromagnetic energy can flow easily.</a:t>
            </a:r>
            <a:endParaRPr lang="en-IN" dirty="0">
              <a:latin typeface="+mn-lt"/>
            </a:endParaRPr>
          </a:p>
          <a:p>
            <a:pPr lvl="0" algn="just"/>
            <a:r>
              <a:rPr lang="en-IN" dirty="0">
                <a:latin typeface="+mn-lt"/>
              </a:rPr>
              <a:t>This type of communication is often referred to as </a:t>
            </a:r>
            <a:r>
              <a:rPr lang="en-IN" dirty="0">
                <a:solidFill>
                  <a:srgbClr val="C00000"/>
                </a:solidFill>
                <a:latin typeface="+mn-lt"/>
              </a:rPr>
              <a:t>wireless</a:t>
            </a:r>
            <a:r>
              <a:rPr lang="en-IN" dirty="0">
                <a:latin typeface="+mn-lt"/>
              </a:rPr>
              <a:t> communication.</a:t>
            </a:r>
            <a:endParaRPr lang="en-US" dirty="0">
              <a:latin typeface="+mn-lt"/>
            </a:endParaRPr>
          </a:p>
          <a:p>
            <a:pPr marL="857250" lvl="1" indent="-457200" algn="just">
              <a:buFont typeface="+mj-lt"/>
              <a:buAutoNum type="arabicPeriod"/>
            </a:pPr>
            <a:r>
              <a:rPr lang="en-US" altLang="en-US" dirty="0">
                <a:latin typeface="+mn-lt"/>
              </a:rPr>
              <a:t>Radio wave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altLang="en-US" dirty="0">
                <a:latin typeface="+mn-lt"/>
              </a:rPr>
              <a:t>Microwave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altLang="en-US" dirty="0">
                <a:latin typeface="+mn-lt"/>
              </a:rPr>
              <a:t>Infrared Wave</a:t>
            </a:r>
          </a:p>
        </p:txBody>
      </p:sp>
    </p:spTree>
    <p:extLst>
      <p:ext uri="{BB962C8B-B14F-4D97-AF65-F5344CB8AC3E}">
        <p14:creationId xmlns:p14="http://schemas.microsoft.com/office/powerpoint/2010/main" val="357994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4508-D7F9-D846-8639-CB0353E7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Radio Wave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0EF28-6629-D54D-9C67-84EB5E1BE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308719" cy="5590565"/>
          </a:xfrm>
        </p:spPr>
        <p:txBody>
          <a:bodyPr/>
          <a:lstStyle/>
          <a:p>
            <a:r>
              <a:rPr lang="en-IN" dirty="0"/>
              <a:t>Radio waves are the </a:t>
            </a:r>
            <a:r>
              <a:rPr lang="en-IN" dirty="0">
                <a:solidFill>
                  <a:srgbClr val="C00000"/>
                </a:solidFill>
              </a:rPr>
              <a:t>electromagnetic waves </a:t>
            </a:r>
            <a:r>
              <a:rPr lang="en-IN" dirty="0"/>
              <a:t>that are transmitted in </a:t>
            </a:r>
            <a:r>
              <a:rPr lang="en-IN" dirty="0">
                <a:solidFill>
                  <a:srgbClr val="C00000"/>
                </a:solidFill>
              </a:rPr>
              <a:t>all the directions </a:t>
            </a:r>
            <a:r>
              <a:rPr lang="en-IN" dirty="0"/>
              <a:t>of free space.</a:t>
            </a:r>
          </a:p>
          <a:p>
            <a:r>
              <a:rPr lang="en-IN" dirty="0"/>
              <a:t>Radio waves are </a:t>
            </a:r>
            <a:r>
              <a:rPr lang="en-IN" dirty="0">
                <a:solidFill>
                  <a:srgbClr val="C00000"/>
                </a:solidFill>
              </a:rPr>
              <a:t>omnidirectional(all direction)</a:t>
            </a:r>
            <a:r>
              <a:rPr lang="en-IN" dirty="0"/>
              <a:t>.</a:t>
            </a:r>
          </a:p>
          <a:p>
            <a:r>
              <a:rPr lang="en-IN" dirty="0"/>
              <a:t>The signals are propagated in all the directions.</a:t>
            </a:r>
          </a:p>
          <a:p>
            <a:r>
              <a:rPr lang="en-IN" dirty="0"/>
              <a:t>An example of the radio wave is </a:t>
            </a:r>
            <a:r>
              <a:rPr lang="en-IN" dirty="0">
                <a:solidFill>
                  <a:srgbClr val="C00000"/>
                </a:solidFill>
              </a:rPr>
              <a:t>FM radio.</a:t>
            </a:r>
          </a:p>
          <a:p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range</a:t>
            </a:r>
            <a:r>
              <a:rPr lang="en-IN" dirty="0"/>
              <a:t> in frequencies of radio waves is from </a:t>
            </a:r>
            <a:r>
              <a:rPr lang="en-IN" dirty="0">
                <a:solidFill>
                  <a:srgbClr val="C00000"/>
                </a:solidFill>
              </a:rPr>
              <a:t>3KHz to 1GHz.</a:t>
            </a:r>
          </a:p>
          <a:p>
            <a:r>
              <a:rPr lang="en-IN" dirty="0"/>
              <a:t>The sending and receiving antenna are </a:t>
            </a:r>
            <a:r>
              <a:rPr lang="en-IN" dirty="0">
                <a:solidFill>
                  <a:srgbClr val="C00000"/>
                </a:solidFill>
              </a:rPr>
              <a:t>not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</a:rPr>
              <a:t>aligned</a:t>
            </a:r>
            <a:r>
              <a:rPr lang="en-IN" dirty="0"/>
              <a:t>.</a:t>
            </a:r>
          </a:p>
          <a:p>
            <a:r>
              <a:rPr lang="en-IN" dirty="0"/>
              <a:t>The wave sent by the sending antenna can be received by any receiving antenna.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4288C-6C0F-3345-BC1E-1A4B489015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841"/>
          <a:stretch/>
        </p:blipFill>
        <p:spPr>
          <a:xfrm>
            <a:off x="7439899" y="1943100"/>
            <a:ext cx="4620921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6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101F-091B-BD41-A6C1-DB464EB4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Radio Wave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C657-A869-194C-AEA4-2D1143D7B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b="1" dirty="0"/>
              <a:t>Applications:</a:t>
            </a:r>
          </a:p>
          <a:p>
            <a:r>
              <a:rPr lang="en-IN" dirty="0"/>
              <a:t>A Radio wave is useful for </a:t>
            </a:r>
            <a:r>
              <a:rPr lang="en-IN" dirty="0">
                <a:solidFill>
                  <a:srgbClr val="C00000"/>
                </a:solidFill>
              </a:rPr>
              <a:t>multicasting</a:t>
            </a:r>
            <a:r>
              <a:rPr lang="en-IN" dirty="0"/>
              <a:t> when there is one sender and many receivers.</a:t>
            </a:r>
          </a:p>
          <a:p>
            <a:r>
              <a:rPr lang="en-IN" dirty="0"/>
              <a:t>An </a:t>
            </a:r>
            <a:r>
              <a:rPr lang="en-IN" dirty="0">
                <a:solidFill>
                  <a:srgbClr val="C00000"/>
                </a:solidFill>
              </a:rPr>
              <a:t>FM radio,                    television,               cordless phones </a:t>
            </a:r>
            <a:r>
              <a:rPr lang="en-IN" dirty="0"/>
              <a:t>are examples of a radio wave.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Advantages: </a:t>
            </a:r>
          </a:p>
          <a:p>
            <a:r>
              <a:rPr lang="en-IN" dirty="0"/>
              <a:t>Radio transmission is mainly used for </a:t>
            </a:r>
            <a:r>
              <a:rPr lang="en-IN" dirty="0">
                <a:solidFill>
                  <a:srgbClr val="C00000"/>
                </a:solidFill>
              </a:rPr>
              <a:t>wide area networks </a:t>
            </a:r>
            <a:r>
              <a:rPr lang="en-IN" dirty="0"/>
              <a:t>and </a:t>
            </a:r>
            <a:r>
              <a:rPr lang="en-IN" dirty="0">
                <a:solidFill>
                  <a:srgbClr val="C00000"/>
                </a:solidFill>
              </a:rPr>
              <a:t>mobile cellular </a:t>
            </a:r>
            <a:r>
              <a:rPr lang="en-IN" dirty="0"/>
              <a:t>phones.</a:t>
            </a:r>
          </a:p>
          <a:p>
            <a:r>
              <a:rPr lang="en-IN" dirty="0"/>
              <a:t>It covers a </a:t>
            </a:r>
            <a:r>
              <a:rPr lang="en-IN" dirty="0">
                <a:solidFill>
                  <a:srgbClr val="C00000"/>
                </a:solidFill>
              </a:rPr>
              <a:t>large area</a:t>
            </a:r>
            <a:r>
              <a:rPr lang="en-IN" dirty="0"/>
              <a:t>, and they can </a:t>
            </a:r>
            <a:r>
              <a:rPr lang="en-IN" dirty="0">
                <a:solidFill>
                  <a:srgbClr val="C00000"/>
                </a:solidFill>
              </a:rPr>
              <a:t>penetrate</a:t>
            </a:r>
            <a:r>
              <a:rPr lang="en-IN" dirty="0"/>
              <a:t> the walls.</a:t>
            </a:r>
          </a:p>
          <a:p>
            <a:r>
              <a:rPr lang="en-IN" dirty="0"/>
              <a:t>Radio transmission provides a </a:t>
            </a:r>
            <a:r>
              <a:rPr lang="en-IN" dirty="0">
                <a:solidFill>
                  <a:srgbClr val="C00000"/>
                </a:solidFill>
              </a:rPr>
              <a:t>higher transmission rate.</a:t>
            </a:r>
          </a:p>
          <a:p>
            <a:endParaRPr lang="en-US" dirty="0"/>
          </a:p>
        </p:txBody>
      </p:sp>
      <p:pic>
        <p:nvPicPr>
          <p:cNvPr id="1026" name="Picture 2" descr="cartoon tv news reporter woman graphic ...">
            <a:extLst>
              <a:ext uri="{FF2B5EF4-FFF2-40B4-BE49-F238E27FC236}">
                <a16:creationId xmlns:a16="http://schemas.microsoft.com/office/drawing/2014/main" id="{231E3E9C-C316-4EF1-8437-EA0CDC4AD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862" y="2394074"/>
            <a:ext cx="1495903" cy="159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922BFC-DD75-4FBD-BC88-8708D4C63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35" y="2289522"/>
            <a:ext cx="1802837" cy="1703858"/>
          </a:xfrm>
          <a:prstGeom prst="rect">
            <a:avLst/>
          </a:prstGeom>
        </p:spPr>
      </p:pic>
      <p:pic>
        <p:nvPicPr>
          <p:cNvPr id="1036" name="Picture 12" descr="23.3: Applications of EM Waves - Physics LibreTexts">
            <a:extLst>
              <a:ext uri="{FF2B5EF4-FFF2-40B4-BE49-F238E27FC236}">
                <a16:creationId xmlns:a16="http://schemas.microsoft.com/office/drawing/2014/main" id="{96834C1B-E86D-4FCA-AB9E-CD51BC3C9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045" y="2289522"/>
            <a:ext cx="1499616" cy="187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36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Microwaves are of two types:</a:t>
            </a:r>
          </a:p>
          <a:p>
            <a:pPr marL="0" indent="0">
              <a:buNone/>
            </a:pP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Use </a:t>
            </a:r>
            <a:r>
              <a:rPr lang="en-US" dirty="0">
                <a:solidFill>
                  <a:srgbClr val="C00000"/>
                </a:solidFill>
              </a:rPr>
              <a:t>directional</a:t>
            </a:r>
            <a:r>
              <a:rPr lang="en-US" dirty="0"/>
              <a:t> antennas - point to point line of sight communications.</a:t>
            </a:r>
          </a:p>
          <a:p>
            <a:r>
              <a:rPr lang="en-US" dirty="0"/>
              <a:t>Microwave communication.</a:t>
            </a:r>
          </a:p>
          <a:p>
            <a:pPr algn="just"/>
            <a:r>
              <a:rPr lang="en-US" dirty="0"/>
              <a:t>Used for </a:t>
            </a:r>
            <a:r>
              <a:rPr lang="en-US" dirty="0">
                <a:solidFill>
                  <a:srgbClr val="C00000"/>
                </a:solidFill>
              </a:rPr>
              <a:t>unicast</a:t>
            </a:r>
            <a:r>
              <a:rPr lang="en-US" dirty="0"/>
              <a:t> communication such as cellular telephones, satellite networks.</a:t>
            </a:r>
          </a:p>
          <a:p>
            <a:pPr algn="just"/>
            <a:r>
              <a:rPr lang="en-US" dirty="0"/>
              <a:t>Higher frequency ranges </a:t>
            </a:r>
            <a:r>
              <a:rPr lang="en-US" dirty="0">
                <a:solidFill>
                  <a:srgbClr val="C00000"/>
                </a:solidFill>
              </a:rPr>
              <a:t>cannot efficiently penetrate </a:t>
            </a:r>
            <a:r>
              <a:rPr lang="en-US" dirty="0"/>
              <a:t>walls.</a:t>
            </a:r>
          </a:p>
          <a:p>
            <a:pPr algn="just"/>
            <a:r>
              <a:rPr lang="en-US" dirty="0"/>
              <a:t>Frequency Range: 1GHz – 300GHz. </a:t>
            </a:r>
          </a:p>
        </p:txBody>
      </p:sp>
      <p:pic>
        <p:nvPicPr>
          <p:cNvPr id="1026" name="Picture 2" descr="Transmission media">
            <a:extLst>
              <a:ext uri="{FF2B5EF4-FFF2-40B4-BE49-F238E27FC236}">
                <a16:creationId xmlns:a16="http://schemas.microsoft.com/office/drawing/2014/main" id="{2AB4694E-5A14-8149-B8C6-752119FCA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750" y="1238157"/>
            <a:ext cx="4857371" cy="266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9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696A-D97A-B648-9278-7E28DD0D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Microwave -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454B1-5C53-1248-AA1E-059355A1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Frequency Range</a:t>
            </a:r>
          </a:p>
          <a:p>
            <a:pPr lvl="1"/>
            <a:r>
              <a:rPr lang="en-IN" dirty="0"/>
              <a:t>The frequency range of terrestrial microwave is from 4-6 GHz to 21-23 GHz. </a:t>
            </a:r>
          </a:p>
          <a:p>
            <a:r>
              <a:rPr lang="en-IN" dirty="0">
                <a:solidFill>
                  <a:srgbClr val="C00000"/>
                </a:solidFill>
              </a:rPr>
              <a:t>Bandwidth</a:t>
            </a:r>
            <a:endParaRPr lang="en-IN" dirty="0"/>
          </a:p>
          <a:p>
            <a:pPr lvl="1"/>
            <a:r>
              <a:rPr lang="en-IN" dirty="0"/>
              <a:t>It supports the bandwidth from 1 to 10 Mbps.</a:t>
            </a:r>
          </a:p>
          <a:p>
            <a:r>
              <a:rPr lang="en-IN" dirty="0">
                <a:solidFill>
                  <a:srgbClr val="C00000"/>
                </a:solidFill>
              </a:rPr>
              <a:t>Short Distance</a:t>
            </a:r>
            <a:endParaRPr lang="en-IN" dirty="0"/>
          </a:p>
          <a:p>
            <a:pPr lvl="1"/>
            <a:r>
              <a:rPr lang="en-IN" dirty="0"/>
              <a:t>It is inexpensive for short distance.</a:t>
            </a:r>
          </a:p>
          <a:p>
            <a:r>
              <a:rPr lang="en-IN" dirty="0">
                <a:solidFill>
                  <a:srgbClr val="C00000"/>
                </a:solidFill>
              </a:rPr>
              <a:t>Long Distance</a:t>
            </a:r>
            <a:endParaRPr lang="en-IN" dirty="0"/>
          </a:p>
          <a:p>
            <a:pPr lvl="1"/>
            <a:r>
              <a:rPr lang="en-IN" dirty="0"/>
              <a:t>It is expensive as it requires a higher tower for a longer distance.</a:t>
            </a:r>
          </a:p>
          <a:p>
            <a:r>
              <a:rPr lang="en-IN" dirty="0">
                <a:solidFill>
                  <a:srgbClr val="C00000"/>
                </a:solidFill>
              </a:rPr>
              <a:t>Attenuation</a:t>
            </a:r>
            <a:endParaRPr lang="en-IN" dirty="0"/>
          </a:p>
          <a:p>
            <a:pPr lvl="1"/>
            <a:r>
              <a:rPr lang="en-IN" dirty="0"/>
              <a:t>Attenuation means loss of signal. It is affected by environmental conditions and antenna size.</a:t>
            </a:r>
          </a:p>
        </p:txBody>
      </p:sp>
    </p:spTree>
    <p:extLst>
      <p:ext uri="{BB962C8B-B14F-4D97-AF65-F5344CB8AC3E}">
        <p14:creationId xmlns:p14="http://schemas.microsoft.com/office/powerpoint/2010/main" val="392662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016A9-6F51-D346-8B3A-B7BAF50F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Terrestrial Microwave Transmission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91067-55F9-8040-8037-31198DB78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a technology that transmits the </a:t>
            </a:r>
            <a:r>
              <a:rPr lang="en-IN" dirty="0">
                <a:solidFill>
                  <a:srgbClr val="C00000"/>
                </a:solidFill>
              </a:rPr>
              <a:t>focused beam of a radio signal </a:t>
            </a:r>
            <a:r>
              <a:rPr lang="en-IN" dirty="0"/>
              <a:t>from one ground-based microwave transmission antenna to another.</a:t>
            </a:r>
          </a:p>
          <a:p>
            <a:r>
              <a:rPr lang="en-IN" dirty="0"/>
              <a:t>Microwaves are unidirectional as the sending and receiving antenna is to be aligned.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Antennas are </a:t>
            </a:r>
            <a:r>
              <a:rPr lang="en-IN" dirty="0">
                <a:solidFill>
                  <a:srgbClr val="C00000"/>
                </a:solidFill>
              </a:rPr>
              <a:t>mounted on the towers </a:t>
            </a:r>
            <a:r>
              <a:rPr lang="en-IN" dirty="0"/>
              <a:t>to send a beam to another antenna which is km away.</a:t>
            </a:r>
          </a:p>
          <a:p>
            <a:r>
              <a:rPr lang="en-IN" dirty="0"/>
              <a:t>It works on the </a:t>
            </a:r>
            <a:r>
              <a:rPr lang="en-IN" dirty="0">
                <a:solidFill>
                  <a:srgbClr val="C00000"/>
                </a:solidFill>
              </a:rPr>
              <a:t>line of sight transmission</a:t>
            </a:r>
            <a:r>
              <a:rPr lang="en-IN" dirty="0"/>
              <a:t>.</a:t>
            </a:r>
          </a:p>
          <a:p>
            <a:r>
              <a:rPr lang="en-IN" dirty="0"/>
              <a:t>The antennas mounted on the towers are the </a:t>
            </a:r>
            <a:r>
              <a:rPr lang="en-IN" dirty="0">
                <a:solidFill>
                  <a:srgbClr val="C00000"/>
                </a:solidFill>
              </a:rPr>
              <a:t>direct sight </a:t>
            </a:r>
            <a:r>
              <a:rPr lang="en-IN" dirty="0"/>
              <a:t>of each other.</a:t>
            </a:r>
          </a:p>
          <a:p>
            <a:endParaRPr lang="en-US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949E346-41E9-0348-B7B5-3F9756D74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76900" y="2192192"/>
            <a:ext cx="4369526" cy="207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" name="Picture 2" descr="Related image">
            <a:extLst>
              <a:ext uri="{FF2B5EF4-FFF2-40B4-BE49-F238E27FC236}">
                <a16:creationId xmlns:a16="http://schemas.microsoft.com/office/drawing/2014/main" id="{B2DBB84E-DE18-554A-97B9-391A4779C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43101" y="2277195"/>
            <a:ext cx="336176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07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F714-49AE-344A-ACD5-BF028C72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Terrestrial Microwave Transmission </a:t>
            </a:r>
            <a:r>
              <a:rPr lang="en-US" dirty="0"/>
              <a:t>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D322D-F4AB-AC4F-B0B7-398F9D096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3954"/>
            <a:ext cx="11929641" cy="5590565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Advantages Of Microwave transmission :</a:t>
            </a:r>
          </a:p>
          <a:p>
            <a:pPr lvl="1"/>
            <a:r>
              <a:rPr lang="en-IN" sz="2200" dirty="0"/>
              <a:t>It is </a:t>
            </a:r>
            <a:r>
              <a:rPr lang="en-IN" sz="2200" dirty="0">
                <a:solidFill>
                  <a:srgbClr val="C00000"/>
                </a:solidFill>
              </a:rPr>
              <a:t>cheaper</a:t>
            </a:r>
            <a:r>
              <a:rPr lang="en-IN" sz="2200" dirty="0"/>
              <a:t> than using cables. </a:t>
            </a:r>
          </a:p>
          <a:p>
            <a:pPr lvl="1"/>
            <a:r>
              <a:rPr lang="en-IN" sz="2200" dirty="0"/>
              <a:t>It is </a:t>
            </a:r>
            <a:r>
              <a:rPr lang="en-IN" sz="2200" dirty="0">
                <a:solidFill>
                  <a:srgbClr val="C00000"/>
                </a:solidFill>
              </a:rPr>
              <a:t>free from land acquisition </a:t>
            </a:r>
            <a:r>
              <a:rPr lang="en-IN" sz="2200" dirty="0"/>
              <a:t>as it does not require any land for the installation of cables.</a:t>
            </a:r>
          </a:p>
          <a:p>
            <a:pPr lvl="1"/>
            <a:r>
              <a:rPr lang="en-IN" sz="2200" dirty="0"/>
              <a:t>It provides an </a:t>
            </a:r>
            <a:r>
              <a:rPr lang="en-IN" sz="2200" dirty="0">
                <a:solidFill>
                  <a:srgbClr val="C00000"/>
                </a:solidFill>
              </a:rPr>
              <a:t>easy communication in terrains </a:t>
            </a:r>
            <a:r>
              <a:rPr lang="en-IN" sz="2200" dirty="0"/>
              <a:t>as the installation of cable in terrain(area/field) is quite a difficult task.</a:t>
            </a:r>
          </a:p>
          <a:p>
            <a:pPr lvl="1"/>
            <a:r>
              <a:rPr lang="en-IN" sz="2200" dirty="0"/>
              <a:t>Communication </a:t>
            </a:r>
            <a:r>
              <a:rPr lang="en-IN" sz="2200" dirty="0">
                <a:solidFill>
                  <a:srgbClr val="C00000"/>
                </a:solidFill>
              </a:rPr>
              <a:t>over oceans </a:t>
            </a:r>
            <a:r>
              <a:rPr lang="en-IN" sz="2200" dirty="0"/>
              <a:t>can be achieved by using microwave transmission.</a:t>
            </a:r>
          </a:p>
          <a:p>
            <a:r>
              <a:rPr lang="en-IN" dirty="0">
                <a:solidFill>
                  <a:srgbClr val="C00000"/>
                </a:solidFill>
              </a:rPr>
              <a:t>Disadvantages of Microwave transmission :</a:t>
            </a:r>
          </a:p>
          <a:p>
            <a:pPr lvl="1"/>
            <a:r>
              <a:rPr lang="en-IN" sz="2200" dirty="0">
                <a:solidFill>
                  <a:srgbClr val="C00000"/>
                </a:solidFill>
              </a:rPr>
              <a:t>Eavesdropping(intruder/spy)</a:t>
            </a:r>
            <a:r>
              <a:rPr lang="en-IN" sz="2200" dirty="0"/>
              <a:t>: An eavesdropping creates insecure communication. Any malicious user can catch the signal in the air by using its own antenna.</a:t>
            </a:r>
          </a:p>
          <a:p>
            <a:pPr lvl="1"/>
            <a:r>
              <a:rPr lang="en-IN" sz="2200" dirty="0">
                <a:solidFill>
                  <a:srgbClr val="C00000"/>
                </a:solidFill>
              </a:rPr>
              <a:t>Out of phase signal</a:t>
            </a:r>
            <a:r>
              <a:rPr lang="en-IN" sz="2200" dirty="0"/>
              <a:t>: </a:t>
            </a:r>
            <a:r>
              <a:rPr lang="en-US" sz="2200" dirty="0"/>
              <a:t>Signals can arrive at the receiver slightly delayed and out of sync.</a:t>
            </a:r>
          </a:p>
          <a:p>
            <a:pPr lvl="1"/>
            <a:r>
              <a:rPr lang="en-IN" sz="2200" dirty="0">
                <a:solidFill>
                  <a:srgbClr val="C00000"/>
                </a:solidFill>
              </a:rPr>
              <a:t>Susceptible to weather condition</a:t>
            </a:r>
            <a:r>
              <a:rPr lang="en-IN" sz="2200" dirty="0"/>
              <a:t>: A microwave transmission is susceptible to weather condition. This means that any environmental change such as rain, wind can distort the signal.</a:t>
            </a:r>
          </a:p>
          <a:p>
            <a:pPr lvl="1"/>
            <a:r>
              <a:rPr lang="en-IN" sz="2200" dirty="0">
                <a:solidFill>
                  <a:srgbClr val="C00000"/>
                </a:solidFill>
              </a:rPr>
              <a:t>Bandwidth limited</a:t>
            </a:r>
            <a:r>
              <a:rPr lang="en-IN" sz="2200" dirty="0"/>
              <a:t>: Allocation of bandwidth is limited in the case of microwave transmission.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4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9141-99F2-2348-9B82-C0805AB3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Satellite Microwave Communication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58884-3AC4-3747-99F9-1BF6DB8A6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satellite is a physical object that revolves </a:t>
            </a:r>
            <a:r>
              <a:rPr lang="en-IN" dirty="0">
                <a:solidFill>
                  <a:srgbClr val="C00000"/>
                </a:solidFill>
              </a:rPr>
              <a:t>around the earth </a:t>
            </a:r>
            <a:r>
              <a:rPr lang="en-IN" dirty="0"/>
              <a:t>at a </a:t>
            </a:r>
            <a:r>
              <a:rPr lang="en-IN" dirty="0">
                <a:solidFill>
                  <a:srgbClr val="C00000"/>
                </a:solidFill>
              </a:rPr>
              <a:t>known height</a:t>
            </a:r>
            <a:r>
              <a:rPr lang="en-IN" dirty="0"/>
              <a:t>.</a:t>
            </a:r>
          </a:p>
          <a:p>
            <a:r>
              <a:rPr lang="en-IN" dirty="0"/>
              <a:t>Satellite communication is </a:t>
            </a:r>
            <a:r>
              <a:rPr lang="en-IN" dirty="0">
                <a:solidFill>
                  <a:srgbClr val="C00000"/>
                </a:solidFill>
              </a:rPr>
              <a:t>more reliable </a:t>
            </a:r>
            <a:r>
              <a:rPr lang="en-IN" dirty="0"/>
              <a:t>nowadays as it offers more flexibility than cable and fibre optic systems.</a:t>
            </a:r>
          </a:p>
          <a:p>
            <a:r>
              <a:rPr lang="en-IN" dirty="0"/>
              <a:t>We can </a:t>
            </a:r>
            <a:r>
              <a:rPr lang="en-IN" dirty="0">
                <a:solidFill>
                  <a:srgbClr val="C00000"/>
                </a:solidFill>
              </a:rPr>
              <a:t>communicate</a:t>
            </a:r>
            <a:r>
              <a:rPr lang="en-IN" dirty="0"/>
              <a:t> with any point on the globe by using satellite communication.</a:t>
            </a:r>
          </a:p>
          <a:p>
            <a:r>
              <a:rPr lang="en-IN" dirty="0">
                <a:solidFill>
                  <a:srgbClr val="C00000"/>
                </a:solidFill>
              </a:rPr>
              <a:t>How Does Satellite work?</a:t>
            </a:r>
          </a:p>
          <a:p>
            <a:r>
              <a:rPr lang="en-IN" dirty="0"/>
              <a:t>The satellite accepts the signal that is transmitted </a:t>
            </a:r>
            <a:r>
              <a:rPr lang="en-IN" dirty="0">
                <a:solidFill>
                  <a:srgbClr val="C00000"/>
                </a:solidFill>
              </a:rPr>
              <a:t>from the earth station</a:t>
            </a:r>
            <a:r>
              <a:rPr lang="en-IN" dirty="0"/>
              <a:t>, and it </a:t>
            </a:r>
            <a:r>
              <a:rPr lang="en-IN" dirty="0">
                <a:solidFill>
                  <a:srgbClr val="C00000"/>
                </a:solidFill>
              </a:rPr>
              <a:t>amplifies the signal</a:t>
            </a:r>
            <a:r>
              <a:rPr lang="en-IN" dirty="0"/>
              <a:t>. The amplified signal is retransmitted to another earth station.</a:t>
            </a:r>
          </a:p>
          <a:p>
            <a:endParaRPr lang="en-US" dirty="0"/>
          </a:p>
        </p:txBody>
      </p:sp>
      <p:pic>
        <p:nvPicPr>
          <p:cNvPr id="5122" name="Picture 2" descr="Satellite (VSAT) Link Terminology Explained - Satoms">
            <a:extLst>
              <a:ext uri="{FF2B5EF4-FFF2-40B4-BE49-F238E27FC236}">
                <a16:creationId xmlns:a16="http://schemas.microsoft.com/office/drawing/2014/main" id="{A7C7F2D6-D0D2-4B4B-87C8-BEEF96FBB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950" y="3750216"/>
            <a:ext cx="5118100" cy="270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22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8BEC-09F8-6B45-A700-7872AB268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Satellite Microwave Communication – 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AF04D-828A-F246-B421-AAC3E0300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Advantages Of Satellite Microwave Communication:</a:t>
            </a:r>
          </a:p>
          <a:p>
            <a:pPr lvl="1"/>
            <a:r>
              <a:rPr lang="en-IN" sz="2200" dirty="0"/>
              <a:t>The </a:t>
            </a:r>
            <a:r>
              <a:rPr lang="en-IN" sz="2200" dirty="0">
                <a:solidFill>
                  <a:srgbClr val="C00000"/>
                </a:solidFill>
              </a:rPr>
              <a:t>coverage area </a:t>
            </a:r>
            <a:r>
              <a:rPr lang="en-IN" sz="2200" dirty="0"/>
              <a:t>of a satellite microwave is more than the terrestrial microwave.</a:t>
            </a:r>
          </a:p>
          <a:p>
            <a:pPr lvl="1"/>
            <a:r>
              <a:rPr lang="en-IN" sz="2200" dirty="0"/>
              <a:t>The </a:t>
            </a:r>
            <a:r>
              <a:rPr lang="en-IN" sz="2200" dirty="0">
                <a:solidFill>
                  <a:srgbClr val="C00000"/>
                </a:solidFill>
              </a:rPr>
              <a:t>transmission cost </a:t>
            </a:r>
            <a:r>
              <a:rPr lang="en-IN" sz="2200" dirty="0"/>
              <a:t>of the satellite is </a:t>
            </a:r>
            <a:r>
              <a:rPr lang="en-IN" sz="2200" dirty="0">
                <a:solidFill>
                  <a:srgbClr val="C00000"/>
                </a:solidFill>
              </a:rPr>
              <a:t>independent</a:t>
            </a:r>
            <a:r>
              <a:rPr lang="en-IN" sz="2200" dirty="0"/>
              <a:t> of the distance from the centre of the coverage area.</a:t>
            </a:r>
          </a:p>
          <a:p>
            <a:pPr lvl="1"/>
            <a:r>
              <a:rPr lang="en-IN" sz="2200" dirty="0"/>
              <a:t>It is used in </a:t>
            </a:r>
            <a:r>
              <a:rPr lang="en-IN" sz="2200" dirty="0">
                <a:solidFill>
                  <a:srgbClr val="C00000"/>
                </a:solidFill>
              </a:rPr>
              <a:t>mobile and wireless </a:t>
            </a:r>
            <a:r>
              <a:rPr lang="en-IN" sz="2200" dirty="0"/>
              <a:t>communication applications.</a:t>
            </a:r>
          </a:p>
          <a:p>
            <a:pPr lvl="1"/>
            <a:r>
              <a:rPr lang="en-IN" sz="2200" dirty="0"/>
              <a:t>It is </a:t>
            </a:r>
            <a:r>
              <a:rPr lang="en-IN" sz="2200" dirty="0">
                <a:solidFill>
                  <a:srgbClr val="C00000"/>
                </a:solidFill>
              </a:rPr>
              <a:t>easy</a:t>
            </a:r>
            <a:r>
              <a:rPr lang="en-IN" sz="2200" dirty="0"/>
              <a:t> to install.</a:t>
            </a:r>
          </a:p>
          <a:p>
            <a:pPr lvl="1"/>
            <a:r>
              <a:rPr lang="en-IN" sz="2200" dirty="0"/>
              <a:t>It is used in a </a:t>
            </a:r>
            <a:r>
              <a:rPr lang="en-IN" sz="2200" dirty="0">
                <a:solidFill>
                  <a:srgbClr val="C00000"/>
                </a:solidFill>
              </a:rPr>
              <a:t>wide variety of applications </a:t>
            </a:r>
            <a:r>
              <a:rPr lang="en-IN" sz="2200" dirty="0"/>
              <a:t>such as weather forecasting, radio/TV signal broadcasting, mobile communication, etc.</a:t>
            </a:r>
          </a:p>
          <a:p>
            <a:r>
              <a:rPr lang="en-IN" dirty="0">
                <a:solidFill>
                  <a:srgbClr val="C00000"/>
                </a:solidFill>
              </a:rPr>
              <a:t>Disadvantages Of Satellite Microwave Communication:</a:t>
            </a:r>
          </a:p>
          <a:p>
            <a:pPr lvl="1"/>
            <a:r>
              <a:rPr lang="en-IN" sz="2200" dirty="0"/>
              <a:t>Satellite designing and development requires </a:t>
            </a:r>
            <a:r>
              <a:rPr lang="en-IN" sz="2200" dirty="0">
                <a:solidFill>
                  <a:srgbClr val="C00000"/>
                </a:solidFill>
              </a:rPr>
              <a:t>more time and higher cost</a:t>
            </a:r>
            <a:r>
              <a:rPr lang="en-IN" sz="2200" dirty="0"/>
              <a:t>.</a:t>
            </a:r>
          </a:p>
          <a:p>
            <a:pPr lvl="1"/>
            <a:r>
              <a:rPr lang="en-IN" sz="2200" dirty="0"/>
              <a:t>The Satellite needs to be </a:t>
            </a:r>
            <a:r>
              <a:rPr lang="en-IN" sz="2200" dirty="0">
                <a:solidFill>
                  <a:srgbClr val="C00000"/>
                </a:solidFill>
              </a:rPr>
              <a:t>monitored</a:t>
            </a:r>
            <a:r>
              <a:rPr lang="en-IN" sz="2200" dirty="0"/>
              <a:t> and </a:t>
            </a:r>
            <a:r>
              <a:rPr lang="en-IN" sz="2200" dirty="0">
                <a:solidFill>
                  <a:srgbClr val="C00000"/>
                </a:solidFill>
              </a:rPr>
              <a:t>controlled</a:t>
            </a:r>
            <a:r>
              <a:rPr lang="en-IN" sz="2200" dirty="0"/>
              <a:t> on regular periods so that it remains in orbit.</a:t>
            </a:r>
          </a:p>
          <a:p>
            <a:pPr lvl="1"/>
            <a:r>
              <a:rPr lang="en-IN" sz="2200" dirty="0"/>
              <a:t>The </a:t>
            </a:r>
            <a:r>
              <a:rPr lang="en-IN" sz="2200" dirty="0">
                <a:solidFill>
                  <a:srgbClr val="C00000"/>
                </a:solidFill>
              </a:rPr>
              <a:t>life of the satellite </a:t>
            </a:r>
            <a:r>
              <a:rPr lang="en-IN" sz="2200" dirty="0"/>
              <a:t>is about </a:t>
            </a:r>
            <a:r>
              <a:rPr lang="en-IN" sz="2200" dirty="0">
                <a:solidFill>
                  <a:srgbClr val="C00000"/>
                </a:solidFill>
              </a:rPr>
              <a:t>12-15 years</a:t>
            </a:r>
            <a:r>
              <a:rPr lang="en-IN" sz="2200" dirty="0"/>
              <a:t>. Due to this reason, another launch of the satellite has to be planned before it becomes non-functional.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66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Infrared 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infrared transmission is a </a:t>
            </a:r>
            <a:r>
              <a:rPr lang="en-IN" dirty="0">
                <a:solidFill>
                  <a:srgbClr val="C00000"/>
                </a:solidFill>
              </a:rPr>
              <a:t>wireless technology </a:t>
            </a:r>
            <a:r>
              <a:rPr lang="en-IN" dirty="0"/>
              <a:t>used for communication over </a:t>
            </a:r>
            <a:r>
              <a:rPr lang="en-IN" dirty="0">
                <a:solidFill>
                  <a:srgbClr val="C00000"/>
                </a:solidFill>
              </a:rPr>
              <a:t>short ranges</a:t>
            </a:r>
            <a:r>
              <a:rPr lang="en-IN" dirty="0"/>
              <a:t>.</a:t>
            </a:r>
          </a:p>
          <a:p>
            <a:r>
              <a:rPr lang="en-IN" dirty="0"/>
              <a:t>The frequency of the infrared in the range from 300 GHz to 400 THz.</a:t>
            </a:r>
          </a:p>
          <a:p>
            <a:r>
              <a:rPr lang="en-IN" dirty="0"/>
              <a:t>It is used for </a:t>
            </a:r>
            <a:r>
              <a:rPr lang="en-IN" dirty="0">
                <a:solidFill>
                  <a:srgbClr val="C00000"/>
                </a:solidFill>
              </a:rPr>
              <a:t>short-range communication</a:t>
            </a:r>
            <a:r>
              <a:rPr lang="en-IN" dirty="0"/>
              <a:t>.</a:t>
            </a:r>
          </a:p>
          <a:p>
            <a:r>
              <a:rPr lang="en-IN" dirty="0"/>
              <a:t>For Example, the data transfer between two cell phones, TV remote operation, data transfer between a computer and cell phone resides in the </a:t>
            </a:r>
            <a:r>
              <a:rPr lang="en-IN" dirty="0">
                <a:solidFill>
                  <a:srgbClr val="C00000"/>
                </a:solidFill>
              </a:rPr>
              <a:t>same closed area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1056" y="3658726"/>
            <a:ext cx="3329245" cy="255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1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5964-5423-B049-99B5-BEC394A9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Infrared Wave -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65C56-4A5A-3846-8CDE-A8D5DBEA0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Infrared waves </a:t>
            </a:r>
            <a:r>
              <a:rPr lang="en-IN" dirty="0">
                <a:solidFill>
                  <a:srgbClr val="C00000"/>
                </a:solidFill>
              </a:rPr>
              <a:t>cannot penetrate </a:t>
            </a:r>
            <a:r>
              <a:rPr lang="en-IN" dirty="0"/>
              <a:t>the walls. </a:t>
            </a:r>
          </a:p>
          <a:p>
            <a:r>
              <a:rPr lang="en-IN" dirty="0"/>
              <a:t>Therefore, the infrared communication in one room </a:t>
            </a:r>
            <a:r>
              <a:rPr lang="en-IN" dirty="0">
                <a:solidFill>
                  <a:srgbClr val="C00000"/>
                </a:solidFill>
              </a:rPr>
              <a:t>cannot be interrupted </a:t>
            </a:r>
            <a:r>
              <a:rPr lang="en-IN" dirty="0"/>
              <a:t>by the nearby rooms.</a:t>
            </a:r>
          </a:p>
          <a:p>
            <a:r>
              <a:rPr lang="en-IN" dirty="0"/>
              <a:t>An infrared communication provides </a:t>
            </a:r>
            <a:r>
              <a:rPr lang="en-IN" dirty="0">
                <a:solidFill>
                  <a:srgbClr val="C00000"/>
                </a:solidFill>
              </a:rPr>
              <a:t>better security </a:t>
            </a:r>
            <a:r>
              <a:rPr lang="en-IN" dirty="0"/>
              <a:t>with minimum interference.</a:t>
            </a:r>
          </a:p>
          <a:p>
            <a:r>
              <a:rPr lang="en-IN" dirty="0"/>
              <a:t>Infrared communication is </a:t>
            </a:r>
            <a:r>
              <a:rPr lang="en-IN" dirty="0">
                <a:solidFill>
                  <a:srgbClr val="C00000"/>
                </a:solidFill>
              </a:rPr>
              <a:t>unreliable</a:t>
            </a:r>
            <a:r>
              <a:rPr lang="en-IN" dirty="0"/>
              <a:t> outside the building because the sun rays will interfere with the infrared waves.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40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Network Topologies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4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Network Topologies</a:t>
            </a:r>
            <a:endParaRPr lang="en-IN" dirty="0">
              <a:latin typeface="+mj-lt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600" dirty="0">
                <a:latin typeface="+mn-lt"/>
              </a:rPr>
              <a:t>Network topology is the </a:t>
            </a:r>
            <a:r>
              <a:rPr lang="en-IN" sz="2600" dirty="0">
                <a:solidFill>
                  <a:schemeClr val="accent6"/>
                </a:solidFill>
                <a:latin typeface="+mn-lt"/>
              </a:rPr>
              <a:t>arrangement </a:t>
            </a:r>
            <a:r>
              <a:rPr lang="en-IN" sz="2600" dirty="0">
                <a:latin typeface="+mn-lt"/>
              </a:rPr>
              <a:t>of the various components (links, nodes, etc.) of a computer network.</a:t>
            </a:r>
          </a:p>
          <a:p>
            <a:pPr lvl="0"/>
            <a:r>
              <a:rPr lang="en-IN" dirty="0">
                <a:latin typeface="+mn-lt"/>
              </a:rPr>
              <a:t>Types of network topologies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latin typeface="+mn-lt"/>
              </a:rPr>
              <a:t>Bus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latin typeface="+mn-lt"/>
              </a:rPr>
              <a:t>Ring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latin typeface="+mn-lt"/>
              </a:rPr>
              <a:t>Star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latin typeface="+mn-lt"/>
              </a:rPr>
              <a:t>Mesh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latin typeface="+mn-lt"/>
              </a:rPr>
              <a:t>Tree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latin typeface="+mn-lt"/>
              </a:rPr>
              <a:t>Hybrid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9979" y="2294641"/>
            <a:ext cx="5098530" cy="215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1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Every computer and network device is connected to </a:t>
            </a:r>
            <a:r>
              <a:rPr lang="en-IN" dirty="0">
                <a:solidFill>
                  <a:srgbClr val="C00000"/>
                </a:solidFill>
              </a:rPr>
              <a:t>single cable</a:t>
            </a:r>
            <a:r>
              <a:rPr lang="en-IN" dirty="0"/>
              <a:t>.</a:t>
            </a:r>
            <a:endParaRPr lang="en-US" dirty="0"/>
          </a:p>
          <a:p>
            <a:pPr lvl="0"/>
            <a:r>
              <a:rPr lang="en-IN" dirty="0"/>
              <a:t>It transmits data only in </a:t>
            </a:r>
            <a:r>
              <a:rPr lang="en-IN" dirty="0">
                <a:solidFill>
                  <a:srgbClr val="C00000"/>
                </a:solidFill>
              </a:rPr>
              <a:t>one direction</a:t>
            </a:r>
            <a:r>
              <a:rPr lang="en-IN" dirty="0"/>
              <a:t>.</a:t>
            </a:r>
          </a:p>
          <a:p>
            <a:r>
              <a:rPr lang="en-IN" dirty="0"/>
              <a:t>When a node wants to send a message over the network, it puts a message over the network. </a:t>
            </a:r>
          </a:p>
          <a:p>
            <a:r>
              <a:rPr lang="en-IN" dirty="0"/>
              <a:t>All the stations available in the network will receive the message whether it has been addressed or not.</a:t>
            </a:r>
            <a:endParaRPr lang="en-US" dirty="0"/>
          </a:p>
          <a:p>
            <a:pPr lvl="0"/>
            <a:r>
              <a:rPr lang="en-IN" dirty="0"/>
              <a:t>Used in </a:t>
            </a:r>
            <a:r>
              <a:rPr lang="en-IN" dirty="0">
                <a:solidFill>
                  <a:srgbClr val="C00000"/>
                </a:solidFill>
              </a:rPr>
              <a:t>small networks</a:t>
            </a:r>
            <a:r>
              <a:rPr lang="en-IN" dirty="0"/>
              <a:t>.</a:t>
            </a:r>
            <a:endParaRPr lang="en-US" dirty="0"/>
          </a:p>
          <a:p>
            <a:pPr lvl="0"/>
            <a:r>
              <a:rPr lang="en-IN" dirty="0">
                <a:solidFill>
                  <a:srgbClr val="C00000"/>
                </a:solidFill>
              </a:rPr>
              <a:t>Easy to expand </a:t>
            </a:r>
            <a:r>
              <a:rPr lang="en-IN" dirty="0"/>
              <a:t>joining two cables together.</a:t>
            </a:r>
          </a:p>
          <a:p>
            <a:pPr lvl="0"/>
            <a:r>
              <a:rPr lang="en-IN" dirty="0"/>
              <a:t>It is used in </a:t>
            </a:r>
            <a:r>
              <a:rPr lang="en-IN" dirty="0">
                <a:solidFill>
                  <a:srgbClr val="C00000"/>
                </a:solidFill>
              </a:rPr>
              <a:t>early</a:t>
            </a:r>
            <a:r>
              <a:rPr lang="en-IN" dirty="0"/>
              <a:t> LAN connection.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7981" y="3171582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9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966E-55FA-9047-95A2-37B03EFB6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Topology –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2B70-C883-D04F-8992-71A8ED061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Low-cost cable: </a:t>
            </a:r>
          </a:p>
          <a:p>
            <a:pPr lvl="1"/>
            <a:r>
              <a:rPr lang="en-IN" dirty="0"/>
              <a:t>Nodes are directly connected to the cable </a:t>
            </a:r>
            <a:r>
              <a:rPr lang="en-IN" dirty="0">
                <a:solidFill>
                  <a:srgbClr val="C00000"/>
                </a:solidFill>
              </a:rPr>
              <a:t>without passing through a hub</a:t>
            </a:r>
            <a:r>
              <a:rPr lang="en-IN" dirty="0"/>
              <a:t>. Therefore, the initial cost of installation is low.</a:t>
            </a:r>
          </a:p>
          <a:p>
            <a:r>
              <a:rPr lang="en-IN" dirty="0">
                <a:solidFill>
                  <a:srgbClr val="C00000"/>
                </a:solidFill>
              </a:rPr>
              <a:t>Moderate data speeds: </a:t>
            </a:r>
          </a:p>
          <a:p>
            <a:pPr lvl="1"/>
            <a:r>
              <a:rPr lang="en-IN" dirty="0"/>
              <a:t>Coaxial or twisted pair cables are mainly used in bus-based networks that support </a:t>
            </a:r>
            <a:r>
              <a:rPr lang="en-IN" dirty="0" err="1"/>
              <a:t>upto</a:t>
            </a:r>
            <a:r>
              <a:rPr lang="en-IN" dirty="0"/>
              <a:t> 10 Mbps.</a:t>
            </a:r>
          </a:p>
          <a:p>
            <a:r>
              <a:rPr lang="en-IN" dirty="0">
                <a:solidFill>
                  <a:srgbClr val="C00000"/>
                </a:solidFill>
              </a:rPr>
              <a:t>Familiar technology: </a:t>
            </a:r>
          </a:p>
          <a:p>
            <a:pPr lvl="1"/>
            <a:r>
              <a:rPr lang="en-IN" dirty="0"/>
              <a:t>Bus topology is a familiar technology as the installation and troubleshooting techniques are well known, and hardware components are easily available.</a:t>
            </a:r>
          </a:p>
          <a:p>
            <a:r>
              <a:rPr lang="en-IN" dirty="0">
                <a:solidFill>
                  <a:srgbClr val="C00000"/>
                </a:solidFill>
              </a:rPr>
              <a:t>Limited failure: </a:t>
            </a:r>
          </a:p>
          <a:p>
            <a:pPr lvl="1"/>
            <a:r>
              <a:rPr lang="en-IN" dirty="0"/>
              <a:t>A failure in one node will not have any effect on other nodes.</a:t>
            </a:r>
          </a:p>
        </p:txBody>
      </p:sp>
    </p:spTree>
    <p:extLst>
      <p:ext uri="{BB962C8B-B14F-4D97-AF65-F5344CB8AC3E}">
        <p14:creationId xmlns:p14="http://schemas.microsoft.com/office/powerpoint/2010/main" val="98876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B83F-9A47-EC4B-A42C-8E51604D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Topology –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2C4D-94E4-C747-ADC5-04DD24CA9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Extensive cabling: </a:t>
            </a:r>
          </a:p>
          <a:p>
            <a:pPr lvl="1"/>
            <a:r>
              <a:rPr lang="en-IN" dirty="0"/>
              <a:t>A bus topology is quite simpler, but still it requires a lot of cabling.</a:t>
            </a:r>
          </a:p>
          <a:p>
            <a:r>
              <a:rPr lang="en-IN" dirty="0">
                <a:solidFill>
                  <a:srgbClr val="C00000"/>
                </a:solidFill>
              </a:rPr>
              <a:t>Difficult troubleshooting: </a:t>
            </a:r>
          </a:p>
          <a:p>
            <a:pPr lvl="1"/>
            <a:r>
              <a:rPr lang="en-IN" dirty="0"/>
              <a:t>It requires specialized test equipment to determine the cable faults. If any fault occurs in the cable, then it would disrupt the communication for all the nodes.</a:t>
            </a:r>
          </a:p>
          <a:p>
            <a:r>
              <a:rPr lang="en-IN" dirty="0">
                <a:solidFill>
                  <a:srgbClr val="C00000"/>
                </a:solidFill>
              </a:rPr>
              <a:t>Signal interference: </a:t>
            </a:r>
          </a:p>
          <a:p>
            <a:pPr lvl="1"/>
            <a:r>
              <a:rPr lang="en-IN" dirty="0"/>
              <a:t>If two nodes send the messages simultaneously, then the signals of both the nodes collide with each other.</a:t>
            </a:r>
          </a:p>
          <a:p>
            <a:r>
              <a:rPr lang="en-IN" dirty="0">
                <a:solidFill>
                  <a:srgbClr val="C00000"/>
                </a:solidFill>
              </a:rPr>
              <a:t>Reconfiguration difficult: </a:t>
            </a:r>
          </a:p>
          <a:p>
            <a:pPr lvl="1"/>
            <a:r>
              <a:rPr lang="en-IN" dirty="0"/>
              <a:t>Adding new devices to the network would slow down the network.</a:t>
            </a:r>
          </a:p>
          <a:p>
            <a:r>
              <a:rPr lang="en-IN" dirty="0">
                <a:solidFill>
                  <a:srgbClr val="C00000"/>
                </a:solidFill>
              </a:rPr>
              <a:t>Attenuation: </a:t>
            </a:r>
          </a:p>
          <a:p>
            <a:pPr lvl="1"/>
            <a:r>
              <a:rPr lang="en-IN" dirty="0"/>
              <a:t>Attenuation is a loss of signal leads to communication issues. Repeaters are used to regenerate the signal.</a:t>
            </a:r>
          </a:p>
        </p:txBody>
      </p:sp>
    </p:spTree>
    <p:extLst>
      <p:ext uri="{BB962C8B-B14F-4D97-AF65-F5344CB8AC3E}">
        <p14:creationId xmlns:p14="http://schemas.microsoft.com/office/powerpoint/2010/main" val="263788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Topology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56435" cy="5590565"/>
          </a:xfrm>
        </p:spPr>
        <p:txBody>
          <a:bodyPr>
            <a:normAutofit/>
          </a:bodyPr>
          <a:lstStyle/>
          <a:p>
            <a:r>
              <a:rPr lang="en-IN" dirty="0"/>
              <a:t>It forms a </a:t>
            </a:r>
            <a:r>
              <a:rPr lang="en-IN" dirty="0">
                <a:solidFill>
                  <a:schemeClr val="accent6"/>
                </a:solidFill>
              </a:rPr>
              <a:t>ring </a:t>
            </a:r>
            <a:r>
              <a:rPr lang="en-IN" dirty="0"/>
              <a:t>as each computer is connected to another computer, with the last one connected to the first.</a:t>
            </a:r>
          </a:p>
          <a:p>
            <a:pPr lvl="0" algn="just"/>
            <a:r>
              <a:rPr lang="en-IN" dirty="0"/>
              <a:t>Transmission is </a:t>
            </a:r>
            <a:r>
              <a:rPr lang="en-IN" dirty="0">
                <a:solidFill>
                  <a:schemeClr val="accent6"/>
                </a:solidFill>
              </a:rPr>
              <a:t>unidirectional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&amp; </a:t>
            </a:r>
            <a:r>
              <a:rPr lang="en-IN" dirty="0">
                <a:solidFill>
                  <a:schemeClr val="accent6"/>
                </a:solidFill>
              </a:rPr>
              <a:t>sequential </a:t>
            </a:r>
            <a:r>
              <a:rPr lang="en-IN" dirty="0"/>
              <a:t>way that is bit by bit.</a:t>
            </a:r>
          </a:p>
          <a:p>
            <a:r>
              <a:rPr lang="en-IN" dirty="0"/>
              <a:t>The data flows in a single loop continuously known as an endless loop.</a:t>
            </a:r>
          </a:p>
          <a:p>
            <a:r>
              <a:rPr lang="en-IN" dirty="0"/>
              <a:t>The data in a ring topology flow in a </a:t>
            </a:r>
            <a:r>
              <a:rPr lang="en-IN" dirty="0">
                <a:solidFill>
                  <a:srgbClr val="C00000"/>
                </a:solidFill>
              </a:rPr>
              <a:t>clockwise direction</a:t>
            </a:r>
            <a:r>
              <a:rPr lang="en-IN" dirty="0"/>
              <a:t>.</a:t>
            </a:r>
            <a:endParaRPr lang="en-US" dirty="0"/>
          </a:p>
          <a:p>
            <a:pPr lvl="0" algn="just"/>
            <a:r>
              <a:rPr lang="en-IN" dirty="0"/>
              <a:t>Transmitting network is not affected by high traffic or by adding more nodes, as only the nodes having </a:t>
            </a:r>
            <a:r>
              <a:rPr lang="en-IN" dirty="0">
                <a:solidFill>
                  <a:schemeClr val="accent6"/>
                </a:solidFill>
              </a:rPr>
              <a:t>tokens </a:t>
            </a:r>
            <a:r>
              <a:rPr lang="en-IN" dirty="0"/>
              <a:t>can transmit data.</a:t>
            </a:r>
            <a:endParaRPr lang="en-US" dirty="0"/>
          </a:p>
          <a:p>
            <a:pPr lvl="0"/>
            <a:r>
              <a:rPr lang="en-IN" dirty="0">
                <a:solidFill>
                  <a:schemeClr val="accent6"/>
                </a:solidFill>
              </a:rPr>
              <a:t>Cheap </a:t>
            </a:r>
            <a:r>
              <a:rPr lang="en-IN" dirty="0"/>
              <a:t>to install and expand.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7517" y="3621148"/>
            <a:ext cx="4482066" cy="22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A4428-A1F3-AA4B-9625-DC11F187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Topology –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0D36-3F0A-AD47-88B3-14859251B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Network Management: </a:t>
            </a:r>
          </a:p>
          <a:p>
            <a:pPr lvl="1"/>
            <a:r>
              <a:rPr lang="en-IN" dirty="0"/>
              <a:t>Faulty devices can be removed from the network without bringing the network down.</a:t>
            </a:r>
          </a:p>
          <a:p>
            <a:r>
              <a:rPr lang="en-IN" dirty="0">
                <a:solidFill>
                  <a:srgbClr val="C00000"/>
                </a:solidFill>
              </a:rPr>
              <a:t>Product availability: </a:t>
            </a:r>
          </a:p>
          <a:p>
            <a:pPr lvl="1"/>
            <a:r>
              <a:rPr lang="en-IN" dirty="0"/>
              <a:t>Many hardware and software tools for network operation and monitoring are available.</a:t>
            </a:r>
          </a:p>
          <a:p>
            <a:r>
              <a:rPr lang="en-IN" dirty="0">
                <a:solidFill>
                  <a:srgbClr val="C00000"/>
                </a:solidFill>
              </a:rPr>
              <a:t>Cost: </a:t>
            </a:r>
          </a:p>
          <a:p>
            <a:pPr lvl="1"/>
            <a:r>
              <a:rPr lang="en-IN" dirty="0"/>
              <a:t>Twisted pair cabling is inexpensive and easily available. So, the installation cost is very low. </a:t>
            </a:r>
          </a:p>
          <a:p>
            <a:r>
              <a:rPr lang="en-IN" dirty="0">
                <a:solidFill>
                  <a:srgbClr val="C00000"/>
                </a:solidFill>
              </a:rPr>
              <a:t>Reliable: </a:t>
            </a:r>
          </a:p>
          <a:p>
            <a:pPr lvl="1"/>
            <a:r>
              <a:rPr lang="en-IN" dirty="0"/>
              <a:t>It is a more reliable network because the communication system is not dependent on the single host computer.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3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9E68-2980-4844-B6BF-29067E10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Topology –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DE378-71EE-FA43-ADB3-520458D1D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Difficult troubleshooting</a:t>
            </a:r>
          </a:p>
          <a:p>
            <a:pPr lvl="1"/>
            <a:r>
              <a:rPr lang="en-IN" dirty="0"/>
              <a:t>It requires specialized test equipment to determine the cable faults. If any fault occurs in the cable, then it would disrupt the communication for all the nodes.</a:t>
            </a:r>
          </a:p>
          <a:p>
            <a:r>
              <a:rPr lang="en-IN" dirty="0">
                <a:solidFill>
                  <a:srgbClr val="C00000"/>
                </a:solidFill>
              </a:rPr>
              <a:t>Failure</a:t>
            </a:r>
          </a:p>
          <a:p>
            <a:pPr lvl="1"/>
            <a:r>
              <a:rPr lang="en-IN" dirty="0"/>
              <a:t>The breakdown in one station leads to the failure of the overall network.</a:t>
            </a:r>
          </a:p>
          <a:p>
            <a:r>
              <a:rPr lang="en-IN" dirty="0">
                <a:solidFill>
                  <a:srgbClr val="C00000"/>
                </a:solidFill>
              </a:rPr>
              <a:t>Reconfiguration difficult</a:t>
            </a:r>
          </a:p>
          <a:p>
            <a:pPr lvl="1"/>
            <a:r>
              <a:rPr lang="en-IN" dirty="0"/>
              <a:t>Adding new devices to the network would slow down the network.</a:t>
            </a:r>
          </a:p>
          <a:p>
            <a:r>
              <a:rPr lang="en-IN" dirty="0">
                <a:solidFill>
                  <a:srgbClr val="C00000"/>
                </a:solidFill>
              </a:rPr>
              <a:t>Delay</a:t>
            </a:r>
          </a:p>
          <a:p>
            <a:pPr lvl="1"/>
            <a:r>
              <a:rPr lang="en-IN" dirty="0"/>
              <a:t>Communication delay is directly proportional to the number of nodes. Adding new devices increases the communication delay.</a:t>
            </a:r>
          </a:p>
        </p:txBody>
      </p:sp>
    </p:spTree>
    <p:extLst>
      <p:ext uri="{BB962C8B-B14F-4D97-AF65-F5344CB8AC3E}">
        <p14:creationId xmlns:p14="http://schemas.microsoft.com/office/powerpoint/2010/main" val="365490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 Topology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11979043" cy="5590565"/>
          </a:xfrm>
        </p:spPr>
        <p:txBody>
          <a:bodyPr>
            <a:normAutofit/>
          </a:bodyPr>
          <a:lstStyle/>
          <a:p>
            <a:r>
              <a:rPr lang="en-IN" dirty="0"/>
              <a:t>Computers are connected to a single </a:t>
            </a:r>
            <a:r>
              <a:rPr lang="en-IN" dirty="0">
                <a:solidFill>
                  <a:schemeClr val="accent6"/>
                </a:solidFill>
              </a:rPr>
              <a:t>central hub </a:t>
            </a:r>
            <a:r>
              <a:rPr lang="en-IN" dirty="0"/>
              <a:t>through a cable.</a:t>
            </a:r>
          </a:p>
          <a:p>
            <a:pPr lvl="0" algn="just"/>
            <a:r>
              <a:rPr lang="en-IN" dirty="0">
                <a:solidFill>
                  <a:schemeClr val="accent6"/>
                </a:solidFill>
              </a:rPr>
              <a:t>Fast </a:t>
            </a:r>
            <a:r>
              <a:rPr lang="en-IN" dirty="0"/>
              <a:t>performance with few nodes and low network traffic.</a:t>
            </a:r>
          </a:p>
          <a:p>
            <a:pPr algn="just"/>
            <a:r>
              <a:rPr lang="en-IN" dirty="0">
                <a:solidFill>
                  <a:schemeClr val="accent6"/>
                </a:solidFill>
              </a:rPr>
              <a:t>Easy </a:t>
            </a:r>
            <a:r>
              <a:rPr lang="en-IN" dirty="0"/>
              <a:t>to troubleshoot</a:t>
            </a:r>
            <a:r>
              <a:rPr lang="en-US" dirty="0"/>
              <a:t> &amp; </a:t>
            </a:r>
            <a:r>
              <a:rPr lang="en-IN" dirty="0">
                <a:solidFill>
                  <a:schemeClr val="accent6"/>
                </a:solidFill>
              </a:rPr>
              <a:t>Easy </a:t>
            </a:r>
            <a:r>
              <a:rPr lang="en-IN" dirty="0"/>
              <a:t>to setup and modify.</a:t>
            </a:r>
            <a:endParaRPr lang="en-US" dirty="0"/>
          </a:p>
          <a:p>
            <a:pPr algn="just"/>
            <a:r>
              <a:rPr lang="en-IN" dirty="0"/>
              <a:t>Only that node is affected which has failed rest of the nodes can work smoothly.</a:t>
            </a:r>
            <a:endParaRPr lang="en-US" dirty="0"/>
          </a:p>
          <a:p>
            <a:pPr lvl="0"/>
            <a:r>
              <a:rPr lang="en-IN" dirty="0">
                <a:solidFill>
                  <a:schemeClr val="accent6"/>
                </a:solidFill>
              </a:rPr>
              <a:t>Hub </a:t>
            </a:r>
            <a:r>
              <a:rPr lang="en-IN" dirty="0"/>
              <a:t>can be upgraded easily.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1278" y="2808915"/>
            <a:ext cx="6385097" cy="31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9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5B66-2D1E-0949-88E1-86CD1886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Topology -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EC4C-4E6A-9146-920D-654E43606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dirty="0">
                <a:solidFill>
                  <a:srgbClr val="C00000"/>
                </a:solidFill>
              </a:rPr>
              <a:t>Efficient troubleshooting</a:t>
            </a:r>
          </a:p>
          <a:p>
            <a:pPr lvl="1"/>
            <a:r>
              <a:rPr lang="en-IN" dirty="0"/>
              <a:t>All the stations are connected to the centralized network. So, the network administrator has to go to the single station to troubleshoot the problem. </a:t>
            </a:r>
          </a:p>
          <a:p>
            <a:r>
              <a:rPr lang="en-IN" sz="2200" dirty="0">
                <a:solidFill>
                  <a:srgbClr val="C00000"/>
                </a:solidFill>
              </a:rPr>
              <a:t>Centralized Network control</a:t>
            </a:r>
          </a:p>
          <a:p>
            <a:pPr lvl="1"/>
            <a:r>
              <a:rPr lang="en-US" dirty="0"/>
              <a:t>The hub acts as a central point for network management and control. </a:t>
            </a:r>
            <a:endParaRPr lang="en-IN" dirty="0"/>
          </a:p>
          <a:p>
            <a:r>
              <a:rPr lang="en-IN" sz="2200" dirty="0">
                <a:solidFill>
                  <a:srgbClr val="C00000"/>
                </a:solidFill>
              </a:rPr>
              <a:t>Limited failure</a:t>
            </a:r>
          </a:p>
          <a:p>
            <a:pPr lvl="1"/>
            <a:r>
              <a:rPr lang="en-IN" dirty="0"/>
              <a:t>As each station is connected to the central hub with its own cable, therefore failure in one cable will not affect the entire network. </a:t>
            </a:r>
          </a:p>
          <a:p>
            <a:r>
              <a:rPr lang="en-IN" sz="2200" dirty="0">
                <a:solidFill>
                  <a:srgbClr val="C00000"/>
                </a:solidFill>
              </a:rPr>
              <a:t>Easily expandable</a:t>
            </a:r>
          </a:p>
          <a:p>
            <a:pPr lvl="1"/>
            <a:r>
              <a:rPr lang="en-IN" dirty="0"/>
              <a:t>It is easily expandable as new stations can be added to the open ports on the hub. </a:t>
            </a:r>
          </a:p>
          <a:p>
            <a:r>
              <a:rPr lang="en-IN" sz="2200" dirty="0">
                <a:solidFill>
                  <a:srgbClr val="C00000"/>
                </a:solidFill>
              </a:rPr>
              <a:t>High data speeds</a:t>
            </a:r>
          </a:p>
          <a:p>
            <a:pPr lvl="1"/>
            <a:r>
              <a:rPr lang="en-IN" sz="1900" dirty="0"/>
              <a:t>It supports a bandwidth of approx. 100Mbps. </a:t>
            </a:r>
          </a:p>
        </p:txBody>
      </p:sp>
    </p:spTree>
    <p:extLst>
      <p:ext uri="{BB962C8B-B14F-4D97-AF65-F5344CB8AC3E}">
        <p14:creationId xmlns:p14="http://schemas.microsoft.com/office/powerpoint/2010/main" val="216577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BA0CD-6138-3A40-AD6E-DB4FB4DB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Topology -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405E8-D7C3-EF41-96E7-99BC721CC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A Central point of failure </a:t>
            </a:r>
          </a:p>
          <a:p>
            <a:pPr lvl="1"/>
            <a:r>
              <a:rPr lang="en-IN" dirty="0"/>
              <a:t>If the central hub or switch goes down, then all the connected nodes will not be able to communicate with each other.</a:t>
            </a:r>
          </a:p>
          <a:p>
            <a:r>
              <a:rPr lang="en-US" dirty="0">
                <a:solidFill>
                  <a:srgbClr val="C00000"/>
                </a:solidFill>
              </a:rPr>
              <a:t>Cabling Costs and Complexity</a:t>
            </a:r>
            <a:endParaRPr lang="en-IN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Each device in a star topology requires a dedicated cable to connect to the central hub. This can lead to significant cabling costs, especially in larger networks with many devices.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964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589739" cy="559056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6"/>
                </a:solidFill>
              </a:rPr>
              <a:t>Point-to-point</a:t>
            </a:r>
            <a:r>
              <a:rPr lang="en-IN" dirty="0"/>
              <a:t> connection to other devices or fully connected.</a:t>
            </a:r>
            <a:endParaRPr lang="en-US" dirty="0"/>
          </a:p>
          <a:p>
            <a:pPr lvl="0" algn="just"/>
            <a:r>
              <a:rPr lang="en-IN" dirty="0"/>
              <a:t>Traffic is carried only between </a:t>
            </a:r>
            <a:r>
              <a:rPr lang="en-IN" dirty="0">
                <a:solidFill>
                  <a:schemeClr val="accent6"/>
                </a:solidFill>
              </a:rPr>
              <a:t>two connected </a:t>
            </a:r>
            <a:r>
              <a:rPr lang="en-IN" dirty="0"/>
              <a:t>devices. </a:t>
            </a:r>
            <a:endParaRPr lang="en-US" dirty="0"/>
          </a:p>
          <a:p>
            <a:pPr lvl="0"/>
            <a:r>
              <a:rPr lang="en-IN" dirty="0"/>
              <a:t>Robust, costly but not flexible.</a:t>
            </a:r>
          </a:p>
          <a:p>
            <a:pPr lvl="0"/>
            <a:r>
              <a:rPr lang="en-IN" dirty="0"/>
              <a:t>Fault is diagnosed </a:t>
            </a:r>
            <a:r>
              <a:rPr lang="en-IN" dirty="0">
                <a:solidFill>
                  <a:schemeClr val="accent6"/>
                </a:solidFill>
              </a:rPr>
              <a:t>easily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More cable resource used in setup.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9103" y="2127471"/>
            <a:ext cx="5085682" cy="329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1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0B7E-E2CE-7243-9666-3D908BDD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Topology -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B6008-D6A5-2944-91F7-974C0A615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Reliable</a:t>
            </a:r>
          </a:p>
          <a:p>
            <a:pPr lvl="1"/>
            <a:r>
              <a:rPr lang="en-IN" dirty="0"/>
              <a:t>The mesh topology networks are very reliable as if any link breakdown, it will not affect the communication between connected computers.</a:t>
            </a:r>
          </a:p>
          <a:p>
            <a:r>
              <a:rPr lang="en-IN" dirty="0">
                <a:solidFill>
                  <a:srgbClr val="C00000"/>
                </a:solidFill>
              </a:rPr>
              <a:t>Fast Communication</a:t>
            </a:r>
          </a:p>
          <a:p>
            <a:pPr lvl="1"/>
            <a:r>
              <a:rPr lang="en-IN" dirty="0"/>
              <a:t>Communication is very fast between the nodes.</a:t>
            </a:r>
          </a:p>
          <a:p>
            <a:r>
              <a:rPr lang="en-IN" dirty="0">
                <a:solidFill>
                  <a:srgbClr val="C00000"/>
                </a:solidFill>
              </a:rPr>
              <a:t>Easier Reconfiguration</a:t>
            </a:r>
          </a:p>
          <a:p>
            <a:pPr lvl="1"/>
            <a:r>
              <a:rPr lang="en-IN" dirty="0"/>
              <a:t>Adding new devices would not disrupt the communication between other devices.</a:t>
            </a:r>
          </a:p>
        </p:txBody>
      </p:sp>
    </p:spTree>
    <p:extLst>
      <p:ext uri="{BB962C8B-B14F-4D97-AF65-F5344CB8AC3E}">
        <p14:creationId xmlns:p14="http://schemas.microsoft.com/office/powerpoint/2010/main" val="58253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1FA5-F64A-0743-911C-7DDC4D2E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Topology -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4D777-0951-2F41-AA7B-40734DA14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Cost</a:t>
            </a:r>
          </a:p>
          <a:p>
            <a:pPr lvl="1"/>
            <a:r>
              <a:rPr lang="en-IN" dirty="0"/>
              <a:t>A mesh topology contains a large number of connected devices such as a router and more transmission media than other topologies.</a:t>
            </a:r>
          </a:p>
          <a:p>
            <a:r>
              <a:rPr lang="en-IN" dirty="0">
                <a:solidFill>
                  <a:srgbClr val="C00000"/>
                </a:solidFill>
              </a:rPr>
              <a:t>Management</a:t>
            </a:r>
          </a:p>
          <a:p>
            <a:pPr lvl="1"/>
            <a:r>
              <a:rPr lang="en-IN" dirty="0"/>
              <a:t>Mesh topology networks are very large and very difficult to maintain and manage. If the network is not monitored carefully, then the communication link failure goes undetected.</a:t>
            </a:r>
          </a:p>
          <a:p>
            <a:r>
              <a:rPr lang="en-IN" dirty="0">
                <a:solidFill>
                  <a:srgbClr val="C00000"/>
                </a:solidFill>
              </a:rPr>
              <a:t>Efficiency</a:t>
            </a:r>
          </a:p>
          <a:p>
            <a:pPr lvl="1"/>
            <a:r>
              <a:rPr lang="en-IN" dirty="0"/>
              <a:t>In this, redundant connections are high that reduces the efficiency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274029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sz="2800" dirty="0"/>
          </a:p>
          <a:p>
            <a:pPr lvl="0" algn="just"/>
            <a:r>
              <a:rPr lang="en-IN" sz="2600" dirty="0"/>
              <a:t>It has a root node and all other nodes are connected to it forming a </a:t>
            </a:r>
            <a:r>
              <a:rPr lang="en-IN" sz="2600" dirty="0">
                <a:solidFill>
                  <a:schemeClr val="accent6"/>
                </a:solidFill>
              </a:rPr>
              <a:t>hierarchy</a:t>
            </a:r>
            <a:r>
              <a:rPr lang="en-IN" sz="2600" dirty="0"/>
              <a:t>.</a:t>
            </a:r>
            <a:endParaRPr lang="en-US" sz="2600" dirty="0"/>
          </a:p>
          <a:p>
            <a:pPr lvl="0"/>
            <a:r>
              <a:rPr lang="en-IN" sz="2600" dirty="0"/>
              <a:t>Also called </a:t>
            </a:r>
            <a:r>
              <a:rPr lang="en-IN" sz="2600" dirty="0">
                <a:solidFill>
                  <a:schemeClr val="accent6"/>
                </a:solidFill>
              </a:rPr>
              <a:t>hierarchical </a:t>
            </a:r>
            <a:r>
              <a:rPr lang="en-IN" sz="2600" dirty="0"/>
              <a:t>topology.</a:t>
            </a:r>
            <a:endParaRPr lang="en-US" sz="2600" dirty="0"/>
          </a:p>
          <a:p>
            <a:pPr lvl="0"/>
            <a:r>
              <a:rPr lang="en-US" sz="2600" dirty="0"/>
              <a:t>Mostly </a:t>
            </a:r>
            <a:r>
              <a:rPr lang="en-IN" sz="2600" dirty="0"/>
              <a:t>used in Wide Area Network </a:t>
            </a:r>
            <a:r>
              <a:rPr lang="mr-IN" sz="2600" dirty="0"/>
              <a:t>–</a:t>
            </a:r>
            <a:r>
              <a:rPr lang="en-IN" sz="2600" dirty="0"/>
              <a:t> </a:t>
            </a:r>
            <a:r>
              <a:rPr lang="en-IN" sz="2600" dirty="0">
                <a:solidFill>
                  <a:schemeClr val="accent6"/>
                </a:solidFill>
              </a:rPr>
              <a:t>WAN</a:t>
            </a:r>
            <a:r>
              <a:rPr lang="en-IN" sz="2600" dirty="0"/>
              <a:t>.</a:t>
            </a:r>
            <a:endParaRPr lang="en-US" sz="2600" dirty="0"/>
          </a:p>
          <a:p>
            <a:pPr lvl="0"/>
            <a:r>
              <a:rPr lang="en-IN" sz="2600" dirty="0">
                <a:solidFill>
                  <a:schemeClr val="accent6"/>
                </a:solidFill>
              </a:rPr>
              <a:t>Expansion </a:t>
            </a:r>
            <a:r>
              <a:rPr lang="en-IN" sz="2600" dirty="0"/>
              <a:t>of nodes is possible and easy.</a:t>
            </a:r>
            <a:endParaRPr lang="en-US" sz="2600" dirty="0"/>
          </a:p>
          <a:p>
            <a:pPr lvl="0"/>
            <a:r>
              <a:rPr lang="en-IN" sz="2600" dirty="0"/>
              <a:t>Easily managed and maintained.</a:t>
            </a:r>
            <a:endParaRPr lang="en-US" sz="2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071" y="1295400"/>
            <a:ext cx="5313859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4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130B9-2A6A-C94C-AC17-913892B7D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Topology -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9B3B-BB7F-024A-ABFB-0C413A964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Support for broadband transmission</a:t>
            </a:r>
          </a:p>
          <a:p>
            <a:pPr lvl="1"/>
            <a:r>
              <a:rPr lang="en-IN" dirty="0"/>
              <a:t>Tree topology is mainly used to provide broadband transmission, i.e., signals are sent over long distances without being attenuated.</a:t>
            </a:r>
          </a:p>
          <a:p>
            <a:r>
              <a:rPr lang="en-IN" dirty="0">
                <a:solidFill>
                  <a:srgbClr val="C00000"/>
                </a:solidFill>
              </a:rPr>
              <a:t>Easily expandable</a:t>
            </a:r>
          </a:p>
          <a:p>
            <a:pPr lvl="1"/>
            <a:r>
              <a:rPr lang="en-IN" dirty="0"/>
              <a:t>We can add the new device to the existing network. Therefore, we can say that tree topology is easily expandable.</a:t>
            </a:r>
          </a:p>
          <a:p>
            <a:r>
              <a:rPr lang="en-IN" dirty="0">
                <a:solidFill>
                  <a:srgbClr val="C00000"/>
                </a:solidFill>
              </a:rPr>
              <a:t>Easily manageable</a:t>
            </a:r>
          </a:p>
          <a:p>
            <a:pPr lvl="1"/>
            <a:r>
              <a:rPr lang="en-IN" dirty="0"/>
              <a:t>In tree topology, the whole network is divided into segments known as star networks which can be easily managed and maintained.</a:t>
            </a:r>
          </a:p>
          <a:p>
            <a:r>
              <a:rPr lang="en-IN" dirty="0">
                <a:solidFill>
                  <a:srgbClr val="C00000"/>
                </a:solidFill>
              </a:rPr>
              <a:t>Error detection</a:t>
            </a:r>
          </a:p>
          <a:p>
            <a:pPr lvl="1"/>
            <a:r>
              <a:rPr lang="en-IN" dirty="0"/>
              <a:t>Error detection and error correction are very easy in segments in a tree topology.</a:t>
            </a:r>
          </a:p>
          <a:p>
            <a:r>
              <a:rPr lang="en-IN" dirty="0">
                <a:solidFill>
                  <a:srgbClr val="C00000"/>
                </a:solidFill>
              </a:rPr>
              <a:t>Point-to-point wiring</a:t>
            </a:r>
          </a:p>
          <a:p>
            <a:pPr lvl="1"/>
            <a:r>
              <a:rPr lang="en-IN" dirty="0"/>
              <a:t>It has point-to-point wiring for individual segments.</a:t>
            </a:r>
          </a:p>
        </p:txBody>
      </p:sp>
    </p:spTree>
    <p:extLst>
      <p:ext uri="{BB962C8B-B14F-4D97-AF65-F5344CB8AC3E}">
        <p14:creationId xmlns:p14="http://schemas.microsoft.com/office/powerpoint/2010/main" val="85605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1B80-666A-B64C-BE91-25CE2197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Topology -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433AE-320A-8144-9C2B-D33AFF9DB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Difficult troubleshooting </a:t>
            </a:r>
          </a:p>
          <a:p>
            <a:pPr lvl="1"/>
            <a:r>
              <a:rPr lang="en-IN" dirty="0"/>
              <a:t>If any fault occurs in the node, then it becomes difficult to troubleshoot the problem </a:t>
            </a:r>
            <a:r>
              <a:rPr lang="en-IN" b="1" dirty="0"/>
              <a:t>if tree structure is very deep.</a:t>
            </a:r>
          </a:p>
          <a:p>
            <a:r>
              <a:rPr lang="en-IN" dirty="0">
                <a:solidFill>
                  <a:srgbClr val="C00000"/>
                </a:solidFill>
              </a:rPr>
              <a:t>High cost</a:t>
            </a:r>
          </a:p>
          <a:p>
            <a:pPr lvl="1"/>
            <a:r>
              <a:rPr lang="en-IN" dirty="0"/>
              <a:t>Devices required for broadband transmission are very costly.</a:t>
            </a:r>
          </a:p>
          <a:p>
            <a:r>
              <a:rPr lang="en-IN" dirty="0">
                <a:solidFill>
                  <a:srgbClr val="C00000"/>
                </a:solidFill>
              </a:rPr>
              <a:t>Failure</a:t>
            </a:r>
          </a:p>
          <a:p>
            <a:pPr lvl="1"/>
            <a:r>
              <a:rPr lang="en-IN" dirty="0"/>
              <a:t>A tree topology mainly relies on main bus cable and failure in main bus cable will damage the overall network.</a:t>
            </a:r>
          </a:p>
          <a:p>
            <a:r>
              <a:rPr lang="en-IN" dirty="0">
                <a:solidFill>
                  <a:srgbClr val="C00000"/>
                </a:solidFill>
              </a:rPr>
              <a:t>Reconfiguration difficult</a:t>
            </a:r>
          </a:p>
          <a:p>
            <a:pPr lvl="1"/>
            <a:r>
              <a:rPr lang="en-IN" dirty="0"/>
              <a:t>If new devices are added, then it becomes difficult to reconfigure.</a:t>
            </a:r>
          </a:p>
        </p:txBody>
      </p:sp>
    </p:spTree>
    <p:extLst>
      <p:ext uri="{BB962C8B-B14F-4D97-AF65-F5344CB8AC3E}">
        <p14:creationId xmlns:p14="http://schemas.microsoft.com/office/powerpoint/2010/main" val="274441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75439" cy="5590565"/>
          </a:xfrm>
        </p:spPr>
        <p:txBody>
          <a:bodyPr>
            <a:normAutofit/>
          </a:bodyPr>
          <a:lstStyle/>
          <a:p>
            <a:pPr lvl="0" algn="just"/>
            <a:endParaRPr lang="en-IN" dirty="0"/>
          </a:p>
          <a:p>
            <a:pPr lvl="0" algn="just"/>
            <a:endParaRPr lang="en-IN" dirty="0"/>
          </a:p>
          <a:p>
            <a:pPr lvl="0" algn="just"/>
            <a:endParaRPr lang="en-IN" dirty="0"/>
          </a:p>
          <a:p>
            <a:pPr lvl="0" algn="just"/>
            <a:endParaRPr lang="en-IN" dirty="0"/>
          </a:p>
          <a:p>
            <a:pPr lvl="0" algn="just"/>
            <a:endParaRPr lang="en-IN" dirty="0"/>
          </a:p>
          <a:p>
            <a:pPr lvl="0" algn="just"/>
            <a:endParaRPr lang="en-IN" dirty="0"/>
          </a:p>
          <a:p>
            <a:pPr lvl="0" algn="just"/>
            <a:endParaRPr lang="en-IN" dirty="0"/>
          </a:p>
          <a:p>
            <a:pPr lvl="0" algn="just"/>
            <a:r>
              <a:rPr lang="en-IN" dirty="0"/>
              <a:t>A network structure whose design contains </a:t>
            </a:r>
            <a:r>
              <a:rPr lang="en-IN" dirty="0">
                <a:solidFill>
                  <a:schemeClr val="accent6"/>
                </a:solidFill>
              </a:rPr>
              <a:t>more than one topology </a:t>
            </a:r>
            <a:r>
              <a:rPr lang="en-IN" dirty="0"/>
              <a:t>is said to be hybrid topology.</a:t>
            </a:r>
            <a:endParaRPr lang="en-US" dirty="0"/>
          </a:p>
          <a:p>
            <a:pPr lvl="0" algn="just"/>
            <a:r>
              <a:rPr lang="en-IN" dirty="0"/>
              <a:t>It is a combination of two or more topologies.</a:t>
            </a:r>
            <a:endParaRPr lang="en-US" dirty="0"/>
          </a:p>
          <a:p>
            <a:pPr algn="just"/>
            <a:r>
              <a:rPr lang="en-IN" dirty="0"/>
              <a:t>Flexible</a:t>
            </a:r>
            <a:r>
              <a:rPr lang="en-US" dirty="0"/>
              <a:t> &amp; </a:t>
            </a:r>
            <a:r>
              <a:rPr lang="en-IN" dirty="0"/>
              <a:t>reliable as error detection and easy to troubleshoot.</a:t>
            </a:r>
            <a:endParaRPr lang="en-US" dirty="0"/>
          </a:p>
          <a:p>
            <a:pPr lvl="0" algn="just"/>
            <a:r>
              <a:rPr lang="en-IN" dirty="0">
                <a:solidFill>
                  <a:schemeClr val="accent6"/>
                </a:solidFill>
              </a:rPr>
              <a:t>Scalable </a:t>
            </a:r>
            <a:r>
              <a:rPr lang="en-IN" dirty="0"/>
              <a:t>as size can be increased easily.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33602" y="840500"/>
            <a:ext cx="5059070" cy="3048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050" name="Picture 2" descr="Hybrid Topology | What Is Hybrid Topology? | THE INSTRUMENT GURU">
            <a:extLst>
              <a:ext uri="{FF2B5EF4-FFF2-40B4-BE49-F238E27FC236}">
                <a16:creationId xmlns:a16="http://schemas.microsoft.com/office/drawing/2014/main" id="{04B60124-022F-4BB3-A2F2-482B2DA05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46" y="966177"/>
            <a:ext cx="6610309" cy="25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48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Topologies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31179" y="863756"/>
          <a:ext cx="11923284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87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7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7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31181" y="1234596"/>
          <a:ext cx="11934000" cy="14630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/>
                        <a:t>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kern="1200" dirty="0"/>
                        <a:t>every computer and network device is connected to single cable.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kern="1200" dirty="0"/>
                        <a:t>Each computer is connected to another, with the last one connected to the first.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kern="1200" dirty="0"/>
                        <a:t>All the computers are connected to a single hub through a cable.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kern="1200" dirty="0"/>
                        <a:t>All the network nodes are connected to each other.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kern="1200" dirty="0"/>
                        <a:t>It has a root node and all other nodes are connected to it forming a hierarchy. </a:t>
                      </a:r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31181" y="2967496"/>
          <a:ext cx="11934001" cy="370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7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6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4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6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Cost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Average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Cheap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High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High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High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31181" y="3338336"/>
          <a:ext cx="11923287" cy="64008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87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3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7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3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Used in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Small Network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Expand Network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Small Network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Expand Network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Expand Network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131181" y="3978416"/>
          <a:ext cx="11923287" cy="17373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65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3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7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3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3736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Troubleshoot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/>
                        <a:t>Easy, But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/>
                        <a:t>Cables fail then whole network fails.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Difficult;</a:t>
                      </a:r>
                      <a:r>
                        <a:rPr lang="en-US" b="0" baseline="0" dirty="0"/>
                        <a:t> </a:t>
                      </a:r>
                      <a:r>
                        <a:rPr lang="en-US" sz="1800" b="0" kern="1200" dirty="0"/>
                        <a:t>Failure of one computer disturbs the whole network.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/>
                        <a:t>Easy;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/>
                        <a:t>If the hub fails then the whole network is down.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/>
                        <a:t>Difficult;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/>
                        <a:t>Installation and configuration is difficult.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/>
                        <a:t>Easy;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/>
                        <a:t>Central root hub fails, network fails.</a:t>
                      </a:r>
                    </a:p>
                    <a:p>
                      <a:pPr algn="just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27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Layers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4107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IN" sz="2401" dirty="0"/>
              <a:t>To deals with connecting systems that are open for communication with other systems. </a:t>
            </a:r>
            <a:endParaRPr lang="en-US" sz="2401" dirty="0">
              <a:solidFill>
                <a:srgbClr val="FF0000"/>
              </a:solidFill>
            </a:endParaRPr>
          </a:p>
          <a:p>
            <a:pPr algn="just">
              <a:defRPr/>
            </a:pPr>
            <a:r>
              <a:rPr lang="en-US" sz="2401" dirty="0">
                <a:solidFill>
                  <a:schemeClr val="accent6"/>
                </a:solidFill>
              </a:rPr>
              <a:t>OSI Layer Model </a:t>
            </a:r>
            <a:r>
              <a:rPr lang="en-IN" dirty="0"/>
              <a:t>(Open Systems Interconnection) </a:t>
            </a:r>
            <a:endParaRPr lang="en-US" sz="2401" dirty="0"/>
          </a:p>
          <a:p>
            <a:pPr algn="just">
              <a:defRPr/>
            </a:pPr>
            <a:r>
              <a:rPr lang="en-IN" sz="2401" dirty="0"/>
              <a:t>Developed by the International Standards Organization (</a:t>
            </a:r>
            <a:r>
              <a:rPr lang="en-IN" sz="2401" dirty="0">
                <a:solidFill>
                  <a:schemeClr val="accent6"/>
                </a:solidFill>
              </a:rPr>
              <a:t>ISO</a:t>
            </a:r>
            <a:r>
              <a:rPr lang="en-IN" sz="2401" dirty="0"/>
              <a:t>) with </a:t>
            </a:r>
            <a:r>
              <a:rPr lang="en-IN" sz="2401" dirty="0">
                <a:solidFill>
                  <a:schemeClr val="accent6"/>
                </a:solidFill>
              </a:rPr>
              <a:t>seven </a:t>
            </a:r>
            <a:r>
              <a:rPr lang="en-IN" sz="2401" dirty="0"/>
              <a:t>different layers.</a:t>
            </a:r>
          </a:p>
          <a:p>
            <a:pPr marL="1200099" lvl="2" indent="-457200" algn="just">
              <a:buFont typeface="+mj-lt"/>
              <a:buAutoNum type="arabicPeriod"/>
              <a:defRPr/>
            </a:pPr>
            <a:r>
              <a:rPr lang="en-IN" sz="2000" dirty="0"/>
              <a:t>Physical Layer	</a:t>
            </a:r>
          </a:p>
          <a:p>
            <a:pPr marL="1200099" lvl="2" indent="-457200" algn="just">
              <a:buFont typeface="+mj-lt"/>
              <a:buAutoNum type="arabicPeriod"/>
              <a:defRPr/>
            </a:pPr>
            <a:r>
              <a:rPr lang="en-IN" sz="2000" dirty="0"/>
              <a:t>Data Link Layer</a:t>
            </a:r>
          </a:p>
          <a:p>
            <a:pPr marL="1200099" lvl="2" indent="-457200" algn="just">
              <a:buFont typeface="+mj-lt"/>
              <a:buAutoNum type="arabicPeriod"/>
              <a:defRPr/>
            </a:pPr>
            <a:r>
              <a:rPr lang="en-IN" sz="2000" dirty="0"/>
              <a:t>Network Layer	</a:t>
            </a:r>
          </a:p>
          <a:p>
            <a:pPr marL="1200099" lvl="2" indent="-457200" algn="just">
              <a:buFont typeface="+mj-lt"/>
              <a:buAutoNum type="arabicPeriod"/>
              <a:defRPr/>
            </a:pPr>
            <a:r>
              <a:rPr lang="en-IN" sz="2000" dirty="0"/>
              <a:t>Transport Layer</a:t>
            </a:r>
          </a:p>
          <a:p>
            <a:pPr marL="1200099" lvl="2" indent="-457200" algn="just">
              <a:buFont typeface="+mj-lt"/>
              <a:buAutoNum type="arabicPeriod"/>
              <a:defRPr/>
            </a:pPr>
            <a:r>
              <a:rPr lang="en-IN" sz="2000" dirty="0"/>
              <a:t>Session Layer	</a:t>
            </a:r>
          </a:p>
          <a:p>
            <a:pPr marL="1200099" lvl="2" indent="-457200" algn="just">
              <a:buFont typeface="+mj-lt"/>
              <a:buAutoNum type="arabicPeriod"/>
              <a:defRPr/>
            </a:pPr>
            <a:r>
              <a:rPr lang="en-IN" sz="2000" dirty="0"/>
              <a:t>Presentation Layer</a:t>
            </a:r>
          </a:p>
          <a:p>
            <a:pPr marL="1200099" lvl="2" indent="-457200" algn="just">
              <a:buFont typeface="+mj-lt"/>
              <a:buAutoNum type="arabicPeriod"/>
              <a:defRPr/>
            </a:pPr>
            <a:r>
              <a:rPr lang="en-IN" sz="2000" dirty="0"/>
              <a:t>Application Layer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14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Air Plane Travel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86020" y="1981910"/>
            <a:ext cx="2093843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ticket (purchase)</a:t>
            </a:r>
          </a:p>
          <a:p>
            <a:endParaRPr lang="en-US" altLang="en-US" sz="2000" dirty="0">
              <a:solidFill>
                <a:srgbClr val="000099"/>
              </a:solidFill>
              <a:latin typeface="+mn-lt"/>
            </a:endParaRPr>
          </a:p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baggage (check)</a:t>
            </a:r>
          </a:p>
          <a:p>
            <a:endParaRPr lang="en-US" altLang="en-US" sz="2000" dirty="0">
              <a:solidFill>
                <a:srgbClr val="000099"/>
              </a:solidFill>
              <a:latin typeface="+mn-lt"/>
            </a:endParaRPr>
          </a:p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gates (load)</a:t>
            </a:r>
          </a:p>
          <a:p>
            <a:endParaRPr lang="en-US" altLang="en-US" sz="2000" dirty="0">
              <a:solidFill>
                <a:srgbClr val="000099"/>
              </a:solidFill>
              <a:latin typeface="+mn-lt"/>
            </a:endParaRPr>
          </a:p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runway takeoff</a:t>
            </a:r>
          </a:p>
          <a:p>
            <a:endParaRPr lang="en-US" altLang="en-US" sz="2000" dirty="0">
              <a:solidFill>
                <a:srgbClr val="000099"/>
              </a:solidFill>
              <a:latin typeface="+mn-lt"/>
            </a:endParaRPr>
          </a:p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airplane routing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001384" y="1970416"/>
            <a:ext cx="2050561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ticket (complain)</a:t>
            </a:r>
          </a:p>
          <a:p>
            <a:endParaRPr lang="en-US" altLang="en-US" sz="2000" dirty="0">
              <a:solidFill>
                <a:srgbClr val="000099"/>
              </a:solidFill>
              <a:latin typeface="+mn-lt"/>
            </a:endParaRPr>
          </a:p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baggage (claim)</a:t>
            </a:r>
          </a:p>
          <a:p>
            <a:endParaRPr lang="en-US" altLang="en-US" sz="2000" dirty="0">
              <a:solidFill>
                <a:srgbClr val="000099"/>
              </a:solidFill>
              <a:latin typeface="+mn-lt"/>
            </a:endParaRPr>
          </a:p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gates (unload)</a:t>
            </a:r>
          </a:p>
          <a:p>
            <a:endParaRPr lang="en-US" altLang="en-US" sz="2000" dirty="0">
              <a:solidFill>
                <a:srgbClr val="000099"/>
              </a:solidFill>
              <a:latin typeface="+mn-lt"/>
            </a:endParaRPr>
          </a:p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runway landing</a:t>
            </a:r>
          </a:p>
          <a:p>
            <a:endParaRPr lang="en-US" altLang="en-US" sz="2000" dirty="0">
              <a:solidFill>
                <a:srgbClr val="000099"/>
              </a:solidFill>
              <a:latin typeface="+mn-lt"/>
            </a:endParaRPr>
          </a:p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airplane routing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995230" y="5464672"/>
            <a:ext cx="19527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2000" dirty="0">
                <a:solidFill>
                  <a:srgbClr val="000099"/>
                </a:solidFill>
                <a:latin typeface="+mn-lt"/>
              </a:rPr>
              <a:t>airplane routing</a:t>
            </a: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2635250" y="1968501"/>
            <a:ext cx="7042150" cy="3969353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100" h="2072">
                <a:moveTo>
                  <a:pt x="0" y="0"/>
                </a:moveTo>
                <a:lnTo>
                  <a:pt x="4" y="1736"/>
                </a:lnTo>
                <a:lnTo>
                  <a:pt x="804" y="2064"/>
                </a:lnTo>
                <a:lnTo>
                  <a:pt x="3468" y="2072"/>
                </a:lnTo>
                <a:lnTo>
                  <a:pt x="4100" y="1736"/>
                </a:lnTo>
                <a:lnTo>
                  <a:pt x="4100" y="96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200400" y="1218168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Departure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2298" y="1218168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Arrival</a:t>
            </a:r>
          </a:p>
        </p:txBody>
      </p:sp>
    </p:spTree>
    <p:extLst>
      <p:ext uri="{BB962C8B-B14F-4D97-AF65-F5344CB8AC3E}">
        <p14:creationId xmlns:p14="http://schemas.microsoft.com/office/powerpoint/2010/main" val="31143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allAtOnce" animBg="1"/>
      <p:bldP spid="9" grpId="0"/>
      <p:bldP spid="1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How OSI Layer Works?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" y="1921474"/>
            <a:ext cx="11811000" cy="2517747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1664F2-4DDC-7344-9023-5E851A4ED8D1}"/>
              </a:ext>
            </a:extLst>
          </p:cNvPr>
          <p:cNvSpPr/>
          <p:nvPr/>
        </p:nvSpPr>
        <p:spPr>
          <a:xfrm>
            <a:off x="5105400" y="2057402"/>
            <a:ext cx="2209800" cy="12191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hlinkClick r:id="rId3" action="ppaction://hlinkfile"/>
            <a:extLst>
              <a:ext uri="{FF2B5EF4-FFF2-40B4-BE49-F238E27FC236}">
                <a16:creationId xmlns:a16="http://schemas.microsoft.com/office/drawing/2014/main" id="{715AAD77-F38F-A64D-A58E-C31411ACFFA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0697" y="5089792"/>
            <a:ext cx="1359206" cy="135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635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Systems Interconnect (OSI) OSI Reference Model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82" y="1341194"/>
            <a:ext cx="8806596" cy="46528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11347" y="5468744"/>
            <a:ext cx="5295900" cy="52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73297" y="4757544"/>
            <a:ext cx="4572000" cy="476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78097" y="4109844"/>
            <a:ext cx="3975100" cy="438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63847" y="3576444"/>
            <a:ext cx="3403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55947" y="3131944"/>
            <a:ext cx="281305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90897" y="2700144"/>
            <a:ext cx="2330450" cy="317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206797" y="2300094"/>
            <a:ext cx="190500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8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Application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altLang="en-US" dirty="0"/>
          </a:p>
          <a:p>
            <a:pPr algn="just">
              <a:defRPr/>
            </a:pPr>
            <a:endParaRPr lang="en-US" altLang="en-US" sz="2100" dirty="0"/>
          </a:p>
          <a:p>
            <a:pPr algn="just">
              <a:defRPr/>
            </a:pPr>
            <a:r>
              <a:rPr lang="en-US" altLang="en-US" dirty="0"/>
              <a:t>The application layer is responsible for </a:t>
            </a:r>
            <a:r>
              <a:rPr lang="en-US" altLang="en-US" dirty="0">
                <a:solidFill>
                  <a:srgbClr val="C00000"/>
                </a:solidFill>
              </a:rPr>
              <a:t>providing services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to the user.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26900" y="863444"/>
            <a:ext cx="6538200" cy="3305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695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0FC42-E18C-1D44-A7AA-F7D4C0BE7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Application layer, which is implemented by the network applications is the </a:t>
            </a:r>
            <a:r>
              <a:rPr lang="en-US" dirty="0">
                <a:solidFill>
                  <a:srgbClr val="C00000"/>
                </a:solidFill>
              </a:rPr>
              <a:t>top</a:t>
            </a:r>
            <a:r>
              <a:rPr lang="en-US" dirty="0"/>
              <a:t> most layer of the OSI OSI Reference Model.</a:t>
            </a:r>
          </a:p>
          <a:p>
            <a:pPr lvl="0"/>
            <a:r>
              <a:rPr lang="en-US" dirty="0"/>
              <a:t>These applications </a:t>
            </a:r>
            <a:r>
              <a:rPr lang="en-US" b="1" dirty="0">
                <a:solidFill>
                  <a:srgbClr val="C00000"/>
                </a:solidFill>
              </a:rPr>
              <a:t>produce the data</a:t>
            </a:r>
            <a:r>
              <a:rPr lang="en-US" dirty="0"/>
              <a:t>, which has to be transferred over the network.</a:t>
            </a:r>
          </a:p>
          <a:p>
            <a:pPr lvl="0"/>
            <a:r>
              <a:rPr lang="en-US" dirty="0"/>
              <a:t>This layer also serves as a </a:t>
            </a:r>
            <a:r>
              <a:rPr lang="en-US" dirty="0">
                <a:solidFill>
                  <a:srgbClr val="C00000"/>
                </a:solidFill>
              </a:rPr>
              <a:t>window for users </a:t>
            </a:r>
            <a:r>
              <a:rPr lang="en-US" dirty="0"/>
              <a:t>and the </a:t>
            </a:r>
            <a:r>
              <a:rPr lang="en-US" dirty="0">
                <a:solidFill>
                  <a:srgbClr val="C00000"/>
                </a:solidFill>
              </a:rPr>
              <a:t>application services </a:t>
            </a:r>
            <a:r>
              <a:rPr lang="en-US" dirty="0"/>
              <a:t>to access the network and for displaying the received information to the user. </a:t>
            </a:r>
          </a:p>
          <a:p>
            <a:pPr lvl="0"/>
            <a:r>
              <a:rPr lang="en-US" dirty="0"/>
              <a:t>It handles issues such as network transparency, resource allocation, etc.</a:t>
            </a:r>
          </a:p>
          <a:p>
            <a:pPr lvl="0"/>
            <a:r>
              <a:rPr lang="en-US" dirty="0"/>
              <a:t>This layer provides the network services to the end-users.</a:t>
            </a:r>
          </a:p>
          <a:p>
            <a:pPr lvl="1" fontAlgn="base"/>
            <a:r>
              <a:rPr lang="en-US" dirty="0">
                <a:solidFill>
                  <a:srgbClr val="C00000"/>
                </a:solidFill>
              </a:rPr>
              <a:t>Example: Application – Browsers, Skype Messenger, etc. </a:t>
            </a:r>
          </a:p>
          <a:p>
            <a:pPr lvl="0"/>
            <a:r>
              <a:rPr lang="en-US" i="1" dirty="0"/>
              <a:t>Application Layer is also called </a:t>
            </a:r>
            <a:r>
              <a:rPr lang="en-US" i="1" dirty="0">
                <a:solidFill>
                  <a:srgbClr val="C00000"/>
                </a:solidFill>
              </a:rPr>
              <a:t>Desktop Layer.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3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 of Application layer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ABD72-E58D-D542-A8FC-67AAE63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6"/>
                </a:solidFill>
              </a:rPr>
              <a:t>File transfer, access, and management (FTAM)</a:t>
            </a:r>
            <a:endParaRPr lang="en-US" dirty="0"/>
          </a:p>
          <a:p>
            <a:pPr lvl="1"/>
            <a:r>
              <a:rPr lang="en-US" dirty="0"/>
              <a:t>An application layer allows a user to access the files in a remote computer, to retrieve the files from a computer and to manage the files in a remote computer.</a:t>
            </a:r>
          </a:p>
          <a:p>
            <a:pPr lvl="0"/>
            <a:r>
              <a:rPr lang="en-US" dirty="0">
                <a:solidFill>
                  <a:schemeClr val="accent6"/>
                </a:solidFill>
              </a:rPr>
              <a:t>Mail services</a:t>
            </a:r>
            <a:endParaRPr lang="en-US" dirty="0"/>
          </a:p>
          <a:p>
            <a:pPr lvl="1"/>
            <a:r>
              <a:rPr lang="en-US" dirty="0"/>
              <a:t>An application layer provides the facility for email forwarding and storage.</a:t>
            </a:r>
          </a:p>
          <a:p>
            <a:pPr lvl="0"/>
            <a:r>
              <a:rPr lang="en-US" dirty="0">
                <a:solidFill>
                  <a:schemeClr val="accent6"/>
                </a:solidFill>
              </a:rPr>
              <a:t>Directory services</a:t>
            </a:r>
          </a:p>
          <a:p>
            <a:pPr lvl="1"/>
            <a:r>
              <a:rPr lang="en-US" dirty="0"/>
              <a:t>An application provides the distributed database sources and is used to provide that global information about various objects.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143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0BE4-11E1-9241-98C1-1AFA2E8F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Application Layer – </a:t>
            </a:r>
            <a:r>
              <a:rPr lang="en-US" altLang="en-US" dirty="0" err="1">
                <a:ea typeface="Open Sans Semibold" charset="0"/>
                <a:cs typeface="Open Sans Semibold" charset="0"/>
              </a:rPr>
              <a:t>Cont</a:t>
            </a:r>
            <a:r>
              <a:rPr lang="gu-IN" altLang="en-US" dirty="0">
                <a:ea typeface="Open Sans Semibold" charset="0"/>
                <a:cs typeface="Open Sans Semibold" charset="0"/>
              </a:rPr>
              <a:t>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F1F7F-7EAC-2044-9560-7CBB59BA0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layer provides various services like:</a:t>
            </a:r>
          </a:p>
          <a:p>
            <a:pPr lvl="1"/>
            <a:r>
              <a:rPr lang="en-US" dirty="0"/>
              <a:t>Network virtual terminal</a:t>
            </a:r>
          </a:p>
          <a:p>
            <a:pPr lvl="1"/>
            <a:r>
              <a:rPr lang="en-US" dirty="0"/>
              <a:t>File transfer, access and management</a:t>
            </a:r>
          </a:p>
          <a:p>
            <a:pPr lvl="1"/>
            <a:r>
              <a:rPr lang="en-US" dirty="0"/>
              <a:t>Mail services </a:t>
            </a:r>
          </a:p>
          <a:p>
            <a:pPr lvl="1"/>
            <a:r>
              <a:rPr lang="en-US" dirty="0"/>
              <a:t>Directory services</a:t>
            </a:r>
          </a:p>
        </p:txBody>
      </p:sp>
    </p:spTree>
    <p:extLst>
      <p:ext uri="{BB962C8B-B14F-4D97-AF65-F5344CB8AC3E}">
        <p14:creationId xmlns:p14="http://schemas.microsoft.com/office/powerpoint/2010/main" val="245011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Presentation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algn="just">
              <a:defRPr/>
            </a:pPr>
            <a:r>
              <a:rPr lang="en-US" altLang="en-US" dirty="0"/>
              <a:t>The presentation layer is responsible for </a:t>
            </a:r>
            <a:r>
              <a:rPr lang="en-US" altLang="en-US" dirty="0">
                <a:solidFill>
                  <a:srgbClr val="C00000"/>
                </a:solidFill>
              </a:rPr>
              <a:t>translation, compression, and encryption</a:t>
            </a:r>
            <a:r>
              <a:rPr lang="en-US" altLang="en-US" dirty="0"/>
              <a:t>.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89289" y="1335474"/>
            <a:ext cx="7413423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968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E4EE0-B436-3442-BB96-103B3D0C0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 presentation layer is also called the </a:t>
            </a:r>
            <a:r>
              <a:rPr lang="en-US" dirty="0">
                <a:solidFill>
                  <a:srgbClr val="C00000"/>
                </a:solidFill>
              </a:rPr>
              <a:t>Translation layer. </a:t>
            </a:r>
          </a:p>
          <a:p>
            <a:pPr fontAlgn="base"/>
            <a:r>
              <a:rPr lang="en-US" dirty="0"/>
              <a:t>The data from the application layer is extracted here and manipulated as per the </a:t>
            </a:r>
            <a:r>
              <a:rPr lang="en-US" dirty="0">
                <a:solidFill>
                  <a:srgbClr val="C00000"/>
                </a:solidFill>
              </a:rPr>
              <a:t>required format </a:t>
            </a:r>
            <a:r>
              <a:rPr lang="en-US" dirty="0"/>
              <a:t>to transmit over the network.</a:t>
            </a:r>
          </a:p>
          <a:p>
            <a:pPr lvl="0"/>
            <a:r>
              <a:rPr lang="en-US" dirty="0"/>
              <a:t>This layer is a part of the operating system that </a:t>
            </a:r>
            <a:r>
              <a:rPr lang="en-US" dirty="0">
                <a:solidFill>
                  <a:srgbClr val="C00000"/>
                </a:solidFill>
              </a:rPr>
              <a:t>converts the data from one presentation format to another format.</a:t>
            </a:r>
          </a:p>
          <a:p>
            <a:pPr lvl="0"/>
            <a:r>
              <a:rPr lang="en-US" dirty="0"/>
              <a:t>The Presentation layer is also known as the </a:t>
            </a:r>
            <a:r>
              <a:rPr lang="en-US" dirty="0">
                <a:solidFill>
                  <a:srgbClr val="C00000"/>
                </a:solidFill>
              </a:rPr>
              <a:t>syntax layer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68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Functions of Presentation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C04E3-E0AB-A54E-09EC-CCEED0AE5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6"/>
                </a:solidFill>
              </a:rPr>
              <a:t>Translation</a:t>
            </a:r>
          </a:p>
          <a:p>
            <a:pPr lvl="1"/>
            <a:r>
              <a:rPr lang="en-US" dirty="0"/>
              <a:t>It acts as a </a:t>
            </a:r>
            <a:r>
              <a:rPr lang="en-US" dirty="0">
                <a:solidFill>
                  <a:srgbClr val="C00000"/>
                </a:solidFill>
              </a:rPr>
              <a:t>data translator </a:t>
            </a:r>
            <a:r>
              <a:rPr lang="en-US" dirty="0"/>
              <a:t>for a network, for example, ASCII to EBCDIC </a:t>
            </a:r>
          </a:p>
          <a:p>
            <a:pPr lvl="1"/>
            <a:r>
              <a:rPr lang="en-US" dirty="0"/>
              <a:t>The processes in two systems </a:t>
            </a:r>
            <a:r>
              <a:rPr lang="en-US" dirty="0">
                <a:solidFill>
                  <a:srgbClr val="C00000"/>
                </a:solidFill>
              </a:rPr>
              <a:t>exchange the information </a:t>
            </a:r>
            <a:r>
              <a:rPr lang="en-US" dirty="0"/>
              <a:t>in the form of character strings, numbers and so on. </a:t>
            </a:r>
          </a:p>
          <a:p>
            <a:pPr lvl="1"/>
            <a:r>
              <a:rPr lang="en-US" dirty="0"/>
              <a:t>Different computers use </a:t>
            </a:r>
            <a:r>
              <a:rPr lang="en-US" dirty="0">
                <a:solidFill>
                  <a:srgbClr val="C00000"/>
                </a:solidFill>
              </a:rPr>
              <a:t>different encoding methods</a:t>
            </a:r>
            <a:r>
              <a:rPr lang="en-US" dirty="0"/>
              <a:t>, the presentation layer handles the </a:t>
            </a:r>
            <a:r>
              <a:rPr lang="en-US" dirty="0">
                <a:solidFill>
                  <a:srgbClr val="C00000"/>
                </a:solidFill>
              </a:rPr>
              <a:t>interoperability</a:t>
            </a:r>
            <a:r>
              <a:rPr lang="en-US" dirty="0"/>
              <a:t> between the different encoding methods. </a:t>
            </a:r>
          </a:p>
          <a:p>
            <a:pPr lvl="1"/>
            <a:r>
              <a:rPr lang="en-US" dirty="0"/>
              <a:t>It converts the data from </a:t>
            </a:r>
            <a:r>
              <a:rPr lang="en-US" dirty="0">
                <a:solidFill>
                  <a:srgbClr val="C00000"/>
                </a:solidFill>
              </a:rPr>
              <a:t>sender-dependent format </a:t>
            </a:r>
            <a:r>
              <a:rPr lang="en-US" dirty="0"/>
              <a:t>into a </a:t>
            </a:r>
            <a:r>
              <a:rPr lang="en-US" dirty="0">
                <a:solidFill>
                  <a:srgbClr val="C00000"/>
                </a:solidFill>
              </a:rPr>
              <a:t>common format </a:t>
            </a:r>
            <a:r>
              <a:rPr lang="en-US" dirty="0"/>
              <a:t>and changes the </a:t>
            </a:r>
            <a:r>
              <a:rPr lang="en-US" dirty="0">
                <a:solidFill>
                  <a:srgbClr val="C00000"/>
                </a:solidFill>
              </a:rPr>
              <a:t>common format into receiver-dependent format</a:t>
            </a:r>
            <a:r>
              <a:rPr lang="en-US" dirty="0"/>
              <a:t> at the receiving end.</a:t>
            </a:r>
          </a:p>
          <a:p>
            <a:pPr lvl="0"/>
            <a:r>
              <a:rPr lang="en-US" dirty="0">
                <a:solidFill>
                  <a:schemeClr val="accent6"/>
                </a:solidFill>
              </a:rPr>
              <a:t>Encryption</a:t>
            </a:r>
          </a:p>
          <a:p>
            <a:pPr lvl="1"/>
            <a:r>
              <a:rPr lang="en-US" dirty="0"/>
              <a:t>Encryption is needed to maintain </a:t>
            </a:r>
            <a:r>
              <a:rPr lang="en-US" dirty="0">
                <a:solidFill>
                  <a:srgbClr val="C00000"/>
                </a:solidFill>
              </a:rPr>
              <a:t>privacy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Data </a:t>
            </a:r>
            <a:r>
              <a:rPr lang="en-US" dirty="0">
                <a:solidFill>
                  <a:srgbClr val="C00000"/>
                </a:solidFill>
              </a:rPr>
              <a:t>encryption</a:t>
            </a:r>
            <a:r>
              <a:rPr lang="en-US" dirty="0"/>
              <a:t> translates the data into another form or code.</a:t>
            </a:r>
          </a:p>
          <a:p>
            <a:pPr lvl="1"/>
            <a:r>
              <a:rPr lang="en-US" dirty="0"/>
              <a:t>The encrypted data is known as the </a:t>
            </a:r>
            <a:r>
              <a:rPr lang="en-US" dirty="0">
                <a:solidFill>
                  <a:srgbClr val="C00000"/>
                </a:solidFill>
              </a:rPr>
              <a:t>ciphertext</a:t>
            </a:r>
            <a:r>
              <a:rPr lang="en-US" dirty="0"/>
              <a:t> and the decrypted data is known as </a:t>
            </a:r>
            <a:r>
              <a:rPr lang="en-US" dirty="0">
                <a:solidFill>
                  <a:srgbClr val="C00000"/>
                </a:solidFill>
              </a:rPr>
              <a:t>plain text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 key value is used for encrypting as well as decrypting data</a:t>
            </a:r>
          </a:p>
          <a:p>
            <a:r>
              <a:rPr lang="en-US" dirty="0">
                <a:solidFill>
                  <a:schemeClr val="accent6"/>
                </a:solidFill>
              </a:rPr>
              <a:t>Compression</a:t>
            </a:r>
          </a:p>
          <a:p>
            <a:pPr lvl="1"/>
            <a:r>
              <a:rPr lang="en-US" dirty="0"/>
              <a:t>Data compression </a:t>
            </a:r>
            <a:r>
              <a:rPr lang="en-US" dirty="0">
                <a:solidFill>
                  <a:srgbClr val="C00000"/>
                </a:solidFill>
              </a:rPr>
              <a:t>reduces the number of bits </a:t>
            </a:r>
            <a:r>
              <a:rPr lang="en-US" dirty="0"/>
              <a:t>that need to be transmitted on the network</a:t>
            </a:r>
          </a:p>
          <a:p>
            <a:pPr lvl="1"/>
            <a:r>
              <a:rPr lang="en-US" dirty="0"/>
              <a:t>Data compression is very important in multimedia such as text, audio, video.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0076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2645-5A5F-364B-B23E-42314C89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Presentation Layer – </a:t>
            </a:r>
            <a:r>
              <a:rPr lang="en-US" altLang="en-US" dirty="0" err="1">
                <a:ea typeface="Open Sans Semibold" charset="0"/>
                <a:cs typeface="Open Sans Semibold" charset="0"/>
              </a:rPr>
              <a:t>Cont</a:t>
            </a:r>
            <a:r>
              <a:rPr lang="gu-IN" altLang="en-US" dirty="0">
                <a:ea typeface="Open Sans Semibold" charset="0"/>
                <a:cs typeface="Open Sans Semibold" charset="0"/>
              </a:rPr>
              <a:t>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E5090-98C8-0044-8EF5-5FE0C53FA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This layer is concerned with the syntax which refers to order in which data is presented and semantics helps in interpreting a particular pattern.</a:t>
            </a:r>
          </a:p>
          <a:p>
            <a:pPr algn="just"/>
            <a:r>
              <a:rPr lang="en-US" dirty="0"/>
              <a:t>Presentation layer is responsible for:</a:t>
            </a:r>
          </a:p>
          <a:p>
            <a:pPr lvl="1" algn="just"/>
            <a:r>
              <a:rPr lang="en-US" dirty="0"/>
              <a:t>Translation</a:t>
            </a:r>
          </a:p>
          <a:p>
            <a:pPr lvl="1" algn="just"/>
            <a:r>
              <a:rPr lang="en-US" dirty="0"/>
              <a:t>Encryption</a:t>
            </a:r>
          </a:p>
          <a:p>
            <a:pPr lvl="1" algn="just"/>
            <a:r>
              <a:rPr lang="en-US" dirty="0"/>
              <a:t>Compression</a:t>
            </a:r>
          </a:p>
        </p:txBody>
      </p:sp>
    </p:spTree>
    <p:extLst>
      <p:ext uri="{BB962C8B-B14F-4D97-AF65-F5344CB8AC3E}">
        <p14:creationId xmlns:p14="http://schemas.microsoft.com/office/powerpoint/2010/main" val="293839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Session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altLang="en-US" dirty="0"/>
              <a:t>The session layer is responsible for </a:t>
            </a:r>
            <a:r>
              <a:rPr lang="en-US" altLang="en-US" dirty="0">
                <a:solidFill>
                  <a:srgbClr val="C00000"/>
                </a:solidFill>
              </a:rPr>
              <a:t>dialog control and synchronization</a:t>
            </a:r>
            <a:r>
              <a:rPr lang="en-US" altLang="en-US" dirty="0"/>
              <a:t>.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834243" y="863444"/>
            <a:ext cx="6523513" cy="3035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933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 of Session layer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3CE3A-BF44-8C4C-BD1D-DFDC9FAC4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Session establishment, maintenance, and termination: </a:t>
            </a:r>
          </a:p>
          <a:p>
            <a:pPr lvl="1"/>
            <a:r>
              <a:rPr lang="en-US" dirty="0"/>
              <a:t>The layer allows the processes to establish, use and terminate a connection.</a:t>
            </a:r>
          </a:p>
          <a:p>
            <a:pPr lvl="0"/>
            <a:r>
              <a:rPr lang="en-US" dirty="0">
                <a:solidFill>
                  <a:schemeClr val="accent6"/>
                </a:solidFill>
              </a:rPr>
              <a:t>Dialog control: </a:t>
            </a:r>
          </a:p>
          <a:p>
            <a:pPr lvl="1"/>
            <a:r>
              <a:rPr lang="en-US" dirty="0"/>
              <a:t>Session layer acts as a dialog controller that creates a dialog between two processes.</a:t>
            </a:r>
          </a:p>
          <a:p>
            <a:pPr lvl="1"/>
            <a:r>
              <a:rPr lang="en-US" dirty="0"/>
              <a:t>In simple words, it allows the communication between two processes which can be either half-duplex or full-duplex.</a:t>
            </a:r>
          </a:p>
          <a:p>
            <a:pPr lvl="0"/>
            <a:r>
              <a:rPr lang="en-US" dirty="0">
                <a:solidFill>
                  <a:schemeClr val="accent6"/>
                </a:solidFill>
              </a:rPr>
              <a:t>Synchronization: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Session layer adds some </a:t>
            </a:r>
            <a:r>
              <a:rPr lang="en-US" dirty="0">
                <a:solidFill>
                  <a:srgbClr val="C00000"/>
                </a:solidFill>
              </a:rPr>
              <a:t>checkpoints</a:t>
            </a:r>
            <a:r>
              <a:rPr lang="en-US" dirty="0"/>
              <a:t> when transmitting the data in a sequence. </a:t>
            </a:r>
          </a:p>
          <a:p>
            <a:pPr lvl="1"/>
            <a:r>
              <a:rPr lang="en-US" dirty="0"/>
              <a:t>If some error occurs in the middle of the transmission of data, then the transmission will take place again from the checkpoint. </a:t>
            </a:r>
          </a:p>
          <a:p>
            <a:pPr lvl="1"/>
            <a:r>
              <a:rPr lang="en-US" dirty="0"/>
              <a:t>This process is known as synchronization and recovery.</a:t>
            </a:r>
          </a:p>
          <a:p>
            <a:pPr lvl="1"/>
            <a:r>
              <a:rPr lang="en-US" dirty="0"/>
              <a:t>Data loss is avoided by it.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6171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0ED1-B1FF-9948-8B7B-687E787C4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Session Layer – </a:t>
            </a:r>
            <a:r>
              <a:rPr lang="en-US" altLang="en-US" dirty="0" err="1">
                <a:ea typeface="Open Sans Semibold" charset="0"/>
                <a:cs typeface="Open Sans Semibold" charset="0"/>
              </a:rPr>
              <a:t>Cont</a:t>
            </a:r>
            <a:r>
              <a:rPr lang="en-US" altLang="en-US" dirty="0">
                <a:ea typeface="Open Sans Semibold" charset="0"/>
                <a:cs typeface="Open Sans Semibold" charset="0"/>
              </a:rPr>
              <a:t>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F4DF8-D795-5F49-B8E9-CB3EAEF34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This layer is network </a:t>
            </a:r>
            <a:r>
              <a:rPr lang="en-US" dirty="0">
                <a:solidFill>
                  <a:srgbClr val="C00000"/>
                </a:solidFill>
              </a:rPr>
              <a:t>dialog controller </a:t>
            </a:r>
            <a:r>
              <a:rPr lang="en-US" dirty="0"/>
              <a:t>– </a:t>
            </a:r>
            <a:r>
              <a:rPr lang="en-US" dirty="0">
                <a:solidFill>
                  <a:srgbClr val="C00000"/>
                </a:solidFill>
              </a:rPr>
              <a:t>establishes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maintains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synchronizes</a:t>
            </a:r>
            <a:r>
              <a:rPr lang="en-US" dirty="0"/>
              <a:t> the interaction among computers.</a:t>
            </a:r>
          </a:p>
          <a:p>
            <a:pPr algn="just"/>
            <a:r>
              <a:rPr lang="en-US" dirty="0"/>
              <a:t>Session layer is concerned with:</a:t>
            </a:r>
          </a:p>
          <a:p>
            <a:pPr lvl="1" algn="just"/>
            <a:r>
              <a:rPr lang="en-US" dirty="0"/>
              <a:t>Dialog control</a:t>
            </a:r>
          </a:p>
          <a:p>
            <a:pPr lvl="1" algn="just"/>
            <a:r>
              <a:rPr lang="en-US" dirty="0"/>
              <a:t>Synchronization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17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en-US" dirty="0"/>
              <a:t>The transport layer is responsible for the </a:t>
            </a:r>
            <a:r>
              <a:rPr lang="en-US" altLang="en-US" dirty="0">
                <a:solidFill>
                  <a:srgbClr val="C00000"/>
                </a:solidFill>
              </a:rPr>
              <a:t>delivery of a message </a:t>
            </a:r>
            <a:r>
              <a:rPr lang="en-US" altLang="en-US" dirty="0"/>
              <a:t>from one process to another.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6"/>
          <p:cNvPicPr>
            <a:picLocks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16000" y="909000"/>
            <a:ext cx="7560000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742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Functions of Transport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B0855-64A7-9392-31E2-27A7A7068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>
                <a:solidFill>
                  <a:schemeClr val="accent6"/>
                </a:solidFill>
              </a:rPr>
              <a:t>At sender’s side: </a:t>
            </a:r>
          </a:p>
          <a:p>
            <a:pPr lvl="1" fontAlgn="base"/>
            <a:r>
              <a:rPr lang="en-US" sz="2200" dirty="0"/>
              <a:t>Transport layer receives the formatted data from the upper layers, performs </a:t>
            </a:r>
            <a:r>
              <a:rPr lang="en-US" sz="2200" dirty="0">
                <a:solidFill>
                  <a:srgbClr val="C00000"/>
                </a:solidFill>
              </a:rPr>
              <a:t>Segmentation</a:t>
            </a:r>
            <a:r>
              <a:rPr lang="en-US" sz="2200" dirty="0"/>
              <a:t>, </a:t>
            </a:r>
          </a:p>
          <a:p>
            <a:pPr lvl="1" fontAlgn="base"/>
            <a:r>
              <a:rPr lang="en-US" sz="2200" dirty="0"/>
              <a:t>Implements </a:t>
            </a:r>
            <a:r>
              <a:rPr lang="en-US" sz="2200" dirty="0">
                <a:solidFill>
                  <a:srgbClr val="C00000"/>
                </a:solidFill>
              </a:rPr>
              <a:t>Flow &amp; Error control </a:t>
            </a:r>
            <a:r>
              <a:rPr lang="en-US" sz="2200" dirty="0"/>
              <a:t>to ensure proper data transmission. </a:t>
            </a:r>
          </a:p>
          <a:p>
            <a:pPr lvl="1" fontAlgn="base"/>
            <a:r>
              <a:rPr lang="en-US" sz="2200" dirty="0"/>
              <a:t>It also </a:t>
            </a:r>
            <a:r>
              <a:rPr lang="en-US" sz="2200" dirty="0">
                <a:solidFill>
                  <a:srgbClr val="C00000"/>
                </a:solidFill>
              </a:rPr>
              <a:t>adds Source and Destination port numbers </a:t>
            </a:r>
            <a:r>
              <a:rPr lang="en-US" sz="2200" dirty="0"/>
              <a:t>(</a:t>
            </a:r>
            <a:r>
              <a:rPr lang="en-US" sz="2200" i="1" dirty="0"/>
              <a:t>which is associated with the receiver’s application)</a:t>
            </a:r>
            <a:r>
              <a:rPr lang="en-US" sz="2200" dirty="0"/>
              <a:t> in its header and forwards the segmented data to the Network Layer. </a:t>
            </a:r>
          </a:p>
          <a:p>
            <a:pPr lvl="1" fontAlgn="base"/>
            <a:r>
              <a:rPr lang="en-US" sz="2200" dirty="0"/>
              <a:t>Generally, this </a:t>
            </a:r>
            <a:r>
              <a:rPr lang="en-US" sz="2200" dirty="0">
                <a:solidFill>
                  <a:srgbClr val="C00000"/>
                </a:solidFill>
              </a:rPr>
              <a:t>destination port number </a:t>
            </a:r>
            <a:r>
              <a:rPr lang="en-US" sz="2200" dirty="0"/>
              <a:t>is configured, either by default or manually. </a:t>
            </a:r>
          </a:p>
          <a:p>
            <a:pPr lvl="1" fontAlgn="base"/>
            <a:r>
              <a:rPr lang="en-US" sz="2200" dirty="0"/>
              <a:t>For example, a web server typically uses </a:t>
            </a:r>
            <a:r>
              <a:rPr lang="en-US" sz="2200" dirty="0">
                <a:solidFill>
                  <a:srgbClr val="C00000"/>
                </a:solidFill>
              </a:rPr>
              <a:t>port number 80 </a:t>
            </a:r>
            <a:r>
              <a:rPr lang="en-US" sz="2200" dirty="0"/>
              <a:t>by default. </a:t>
            </a:r>
          </a:p>
          <a:p>
            <a:pPr fontAlgn="base"/>
            <a:r>
              <a:rPr lang="en-US" dirty="0">
                <a:solidFill>
                  <a:schemeClr val="accent6"/>
                </a:solidFill>
              </a:rPr>
              <a:t>At receiver’s side: </a:t>
            </a:r>
          </a:p>
          <a:p>
            <a:pPr lvl="1" fontAlgn="base"/>
            <a:r>
              <a:rPr lang="en-US" sz="2200" dirty="0"/>
              <a:t>Transport Layer reads the port number from its header and forwards the Data that it has received to the respective application. </a:t>
            </a:r>
          </a:p>
          <a:p>
            <a:pPr lvl="1" fontAlgn="base"/>
            <a:r>
              <a:rPr lang="en-US" sz="2200" dirty="0"/>
              <a:t>It also performs </a:t>
            </a:r>
            <a:r>
              <a:rPr lang="en-US" sz="2200" dirty="0">
                <a:solidFill>
                  <a:srgbClr val="C00000"/>
                </a:solidFill>
              </a:rPr>
              <a:t>sequencing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reassembling</a:t>
            </a:r>
            <a:r>
              <a:rPr lang="en-US" sz="2200" dirty="0"/>
              <a:t> of the segmented data.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71833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C614A-9767-4843-AD3E-E5A4368B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Transport Layer – 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ECC4-F478-3D49-8C81-54B7AF2A8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layer ensures that the whole message arrives intact and in order.</a:t>
            </a:r>
          </a:p>
          <a:p>
            <a:r>
              <a:rPr lang="en-US" dirty="0"/>
              <a:t>Transport layer is concerned with:</a:t>
            </a:r>
          </a:p>
          <a:p>
            <a:pPr lvl="1"/>
            <a:r>
              <a:rPr lang="en-US" dirty="0"/>
              <a:t>Service-point addressing (port address)</a:t>
            </a:r>
          </a:p>
          <a:p>
            <a:pPr lvl="1"/>
            <a:r>
              <a:rPr lang="en-US" dirty="0"/>
              <a:t>Segmentation and Reassembly </a:t>
            </a:r>
          </a:p>
          <a:p>
            <a:pPr lvl="1"/>
            <a:r>
              <a:rPr lang="en-US" dirty="0"/>
              <a:t>Connection Control</a:t>
            </a:r>
          </a:p>
          <a:p>
            <a:pPr lvl="1"/>
            <a:r>
              <a:rPr lang="en-US" dirty="0"/>
              <a:t>Flow and Error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31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 marL="0" indent="0" algn="just"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The network layer is responsible for the </a:t>
            </a:r>
            <a:r>
              <a:rPr lang="en-US" dirty="0">
                <a:solidFill>
                  <a:srgbClr val="C00000"/>
                </a:solidFill>
              </a:rPr>
              <a:t>delivery of individual packets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from the source host to the destination host.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9310" y="991726"/>
            <a:ext cx="7941965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495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Functions of Network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B39DA-55C4-6037-4A2C-57FAF8E7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Internetworking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An internetworking is the main responsibility of the network layer. </a:t>
            </a:r>
          </a:p>
          <a:p>
            <a:pPr lvl="1"/>
            <a:r>
              <a:rPr lang="en-US" dirty="0"/>
              <a:t>It provides a logical connection between different devices.</a:t>
            </a:r>
          </a:p>
          <a:p>
            <a:r>
              <a:rPr lang="en-US" dirty="0">
                <a:solidFill>
                  <a:schemeClr val="accent6"/>
                </a:solidFill>
              </a:rPr>
              <a:t>Addressing</a:t>
            </a:r>
            <a:endParaRPr lang="en-US" dirty="0"/>
          </a:p>
          <a:p>
            <a:pPr lvl="1"/>
            <a:r>
              <a:rPr lang="en-US" dirty="0"/>
              <a:t>In order to identify each device on internetwork uniquely, the network layer defines an addressing scheme. </a:t>
            </a:r>
          </a:p>
          <a:p>
            <a:pPr lvl="1"/>
            <a:r>
              <a:rPr lang="en-US" dirty="0"/>
              <a:t>A Network layer adds the source and destination IP addresses to the header of the frame. </a:t>
            </a:r>
          </a:p>
          <a:p>
            <a:pPr lvl="1"/>
            <a:r>
              <a:rPr lang="en-US" dirty="0"/>
              <a:t>Addressing is used to identify the device uniquely and universally on the internet.</a:t>
            </a:r>
          </a:p>
          <a:p>
            <a:r>
              <a:rPr lang="en-US" dirty="0">
                <a:solidFill>
                  <a:schemeClr val="accent6"/>
                </a:solidFill>
              </a:rPr>
              <a:t>Routing</a:t>
            </a:r>
            <a:endParaRPr lang="en-US" dirty="0"/>
          </a:p>
          <a:p>
            <a:pPr lvl="1"/>
            <a:r>
              <a:rPr lang="en-US" dirty="0"/>
              <a:t>Routing is the major component of the network layer, and it determines the best optimal path out of the multiple paths from source to the destination.</a:t>
            </a:r>
          </a:p>
          <a:p>
            <a:r>
              <a:rPr lang="en-US" dirty="0">
                <a:solidFill>
                  <a:schemeClr val="accent6"/>
                </a:solidFill>
              </a:rPr>
              <a:t>Packetizing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Network Layer receives the data from the upper layer and converts them into packets. </a:t>
            </a:r>
          </a:p>
          <a:p>
            <a:pPr lvl="1"/>
            <a:r>
              <a:rPr lang="en-US" dirty="0"/>
              <a:t>This process is known as Packetizing. </a:t>
            </a:r>
          </a:p>
          <a:p>
            <a:pPr lvl="1"/>
            <a:r>
              <a:rPr lang="en-US" dirty="0"/>
              <a:t>It is achieved by internet protocol (IP).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99418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FC9A-48C3-D549-AD44-485F5A47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Open Sans Semibold" charset="0"/>
                <a:cs typeface="Open Sans Semibold" charset="0"/>
              </a:rPr>
              <a:t>Network Layer – Cont…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4015C-AC9C-9A4D-AA8A-46DCC9B11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In this layer, packet is combined with header and data.</a:t>
            </a:r>
          </a:p>
          <a:p>
            <a:pPr algn="just"/>
            <a:r>
              <a:rPr lang="en-US"/>
              <a:t>In case of data link layer, packet delivers on the </a:t>
            </a:r>
            <a:r>
              <a:rPr lang="en-US">
                <a:solidFill>
                  <a:srgbClr val="C00000"/>
                </a:solidFill>
              </a:rPr>
              <a:t>same network</a:t>
            </a:r>
            <a:r>
              <a:rPr lang="en-US"/>
              <a:t>. </a:t>
            </a:r>
          </a:p>
          <a:p>
            <a:pPr algn="just"/>
            <a:r>
              <a:rPr lang="en-US"/>
              <a:t>If two </a:t>
            </a:r>
            <a:r>
              <a:rPr lang="en-US">
                <a:solidFill>
                  <a:srgbClr val="C00000"/>
                </a:solidFill>
              </a:rPr>
              <a:t>different networks </a:t>
            </a:r>
            <a:r>
              <a:rPr lang="en-US"/>
              <a:t>are connected then packet is concern with network layer.</a:t>
            </a:r>
          </a:p>
          <a:p>
            <a:pPr algn="just"/>
            <a:r>
              <a:rPr lang="en-US"/>
              <a:t>Network layer is concerned with:</a:t>
            </a:r>
          </a:p>
          <a:p>
            <a:pPr lvl="1" algn="just"/>
            <a:r>
              <a:rPr lang="en-US"/>
              <a:t>Logical addressing e.g. 192.168.1.1 (IP Address)</a:t>
            </a:r>
          </a:p>
          <a:p>
            <a:pPr lvl="1" algn="just"/>
            <a:r>
              <a:rPr lang="en-US"/>
              <a:t>Routing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31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sz="2775" dirty="0"/>
          </a:p>
          <a:p>
            <a:pPr algn="just">
              <a:defRPr/>
            </a:pPr>
            <a:r>
              <a:rPr lang="en-US" altLang="en-US" dirty="0"/>
              <a:t>The data link layer is responsible for </a:t>
            </a:r>
            <a:r>
              <a:rPr lang="en-US" altLang="en-US" dirty="0">
                <a:solidFill>
                  <a:srgbClr val="C00000"/>
                </a:solidFill>
              </a:rPr>
              <a:t>moving frames </a:t>
            </a:r>
            <a:r>
              <a:rPr lang="en-US" altLang="en-US" dirty="0"/>
              <a:t>from one hop (node) to the next.</a:t>
            </a:r>
            <a:endParaRPr lang="en-IN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72620" y="1138726"/>
            <a:ext cx="7589257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009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Data-Link Layer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03937-5BD9-F744-A5FD-FB6819A7B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layer is </a:t>
            </a:r>
            <a:r>
              <a:rPr lang="en-US" dirty="0">
                <a:solidFill>
                  <a:schemeClr val="accent6"/>
                </a:solidFill>
              </a:rPr>
              <a:t>responsible</a:t>
            </a:r>
            <a:r>
              <a:rPr lang="en-US" dirty="0"/>
              <a:t> for the </a:t>
            </a:r>
            <a:r>
              <a:rPr lang="en-US" dirty="0">
                <a:solidFill>
                  <a:schemeClr val="accent6"/>
                </a:solidFill>
              </a:rPr>
              <a:t>error-free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transfer</a:t>
            </a:r>
            <a:r>
              <a:rPr lang="en-US" dirty="0"/>
              <a:t> of data frames.</a:t>
            </a:r>
          </a:p>
          <a:p>
            <a:r>
              <a:rPr lang="en-US" dirty="0"/>
              <a:t>It provides </a:t>
            </a:r>
            <a:r>
              <a:rPr lang="en-US" i="1" dirty="0"/>
              <a:t>hop-to-hop delivery.</a:t>
            </a:r>
            <a:endParaRPr lang="en-US" dirty="0"/>
          </a:p>
          <a:p>
            <a:r>
              <a:rPr lang="en-US" dirty="0"/>
              <a:t>It </a:t>
            </a:r>
            <a:r>
              <a:rPr lang="en-US" dirty="0">
                <a:solidFill>
                  <a:schemeClr val="accent6"/>
                </a:solidFill>
              </a:rPr>
              <a:t>defines</a:t>
            </a:r>
            <a:r>
              <a:rPr lang="en-US" dirty="0"/>
              <a:t> the </a:t>
            </a:r>
            <a:r>
              <a:rPr lang="en-US" dirty="0">
                <a:solidFill>
                  <a:schemeClr val="accent6"/>
                </a:solidFill>
              </a:rPr>
              <a:t>format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of</a:t>
            </a:r>
            <a:r>
              <a:rPr lang="en-US" dirty="0"/>
              <a:t> the </a:t>
            </a:r>
            <a:r>
              <a:rPr lang="en-US" dirty="0">
                <a:solidFill>
                  <a:schemeClr val="accent6"/>
                </a:solidFill>
              </a:rPr>
              <a:t>data</a:t>
            </a:r>
            <a:r>
              <a:rPr lang="en-US" dirty="0"/>
              <a:t> on the network.</a:t>
            </a:r>
          </a:p>
          <a:p>
            <a:r>
              <a:rPr lang="en-US" dirty="0"/>
              <a:t>It provides a </a:t>
            </a:r>
            <a:r>
              <a:rPr lang="en-US" dirty="0">
                <a:solidFill>
                  <a:schemeClr val="accent6"/>
                </a:solidFill>
              </a:rPr>
              <a:t>reliable</a:t>
            </a:r>
            <a:r>
              <a:rPr lang="en-US" dirty="0"/>
              <a:t> and efficient </a:t>
            </a:r>
            <a:r>
              <a:rPr lang="en-US" dirty="0">
                <a:solidFill>
                  <a:schemeClr val="accent6"/>
                </a:solidFill>
              </a:rPr>
              <a:t>communication</a:t>
            </a:r>
            <a:r>
              <a:rPr lang="en-US" dirty="0"/>
              <a:t>.</a:t>
            </a:r>
          </a:p>
          <a:p>
            <a:r>
              <a:rPr lang="en-US" dirty="0"/>
              <a:t>It is mainly responsible for the </a:t>
            </a:r>
            <a:r>
              <a:rPr lang="en-US" dirty="0">
                <a:solidFill>
                  <a:schemeClr val="accent6"/>
                </a:solidFill>
              </a:rPr>
              <a:t>unique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identification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of</a:t>
            </a:r>
            <a:r>
              <a:rPr lang="en-US" dirty="0"/>
              <a:t> each </a:t>
            </a:r>
            <a:r>
              <a:rPr lang="en-US" dirty="0">
                <a:solidFill>
                  <a:schemeClr val="accent6"/>
                </a:solidFill>
              </a:rPr>
              <a:t>device</a:t>
            </a:r>
            <a:r>
              <a:rPr lang="en-US" dirty="0"/>
              <a:t> that resides on a local network.</a:t>
            </a:r>
          </a:p>
          <a:p>
            <a:r>
              <a:rPr lang="en-US" dirty="0"/>
              <a:t>When a packet arrives in a network, it is the responsibility of DLL to </a:t>
            </a:r>
            <a:r>
              <a:rPr lang="en-US" dirty="0">
                <a:solidFill>
                  <a:schemeClr val="accent6"/>
                </a:solidFill>
              </a:rPr>
              <a:t>transmit</a:t>
            </a:r>
            <a:r>
              <a:rPr lang="en-US" dirty="0"/>
              <a:t> it </a:t>
            </a:r>
            <a:r>
              <a:rPr lang="en-US" dirty="0">
                <a:solidFill>
                  <a:schemeClr val="accent6"/>
                </a:solidFill>
              </a:rPr>
              <a:t>to</a:t>
            </a:r>
            <a:r>
              <a:rPr lang="en-US" dirty="0"/>
              <a:t> the </a:t>
            </a:r>
            <a:r>
              <a:rPr lang="en-US" dirty="0">
                <a:solidFill>
                  <a:schemeClr val="accent6"/>
                </a:solidFill>
              </a:rPr>
              <a:t>Host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using</a:t>
            </a:r>
            <a:r>
              <a:rPr lang="en-US" dirty="0"/>
              <a:t> its </a:t>
            </a:r>
            <a:r>
              <a:rPr lang="en-US" dirty="0">
                <a:solidFill>
                  <a:schemeClr val="accent6"/>
                </a:solidFill>
              </a:rPr>
              <a:t>MAC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address</a:t>
            </a:r>
          </a:p>
          <a:p>
            <a:r>
              <a:rPr lang="en-US" i="1" dirty="0"/>
              <a:t>Packet in Data Link layer is referred to as </a:t>
            </a:r>
            <a:r>
              <a:rPr lang="en-US" dirty="0">
                <a:solidFill>
                  <a:schemeClr val="accent6"/>
                </a:solidFill>
              </a:rPr>
              <a:t>Frame</a:t>
            </a:r>
          </a:p>
          <a:p>
            <a:r>
              <a:rPr lang="en-US" dirty="0"/>
              <a:t>Data Link layer is handled by the NIC (Network Interface Card) and device drivers of host machines</a:t>
            </a:r>
          </a:p>
          <a:p>
            <a:r>
              <a:rPr lang="en-US" dirty="0"/>
              <a:t>Switch &amp; Bridge are Data Link Layer devices.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56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Data-Link Layer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3D94E-8A1A-C14C-B003-9BC421FC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Data Link Layer is divided into two sublayers: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Logical Link Control Layer</a:t>
            </a:r>
          </a:p>
          <a:p>
            <a:pPr lvl="1"/>
            <a:r>
              <a:rPr lang="en-US" dirty="0"/>
              <a:t>It is responsible for transferring the packets to the Network layer.</a:t>
            </a:r>
          </a:p>
          <a:p>
            <a:pPr lvl="1"/>
            <a:r>
              <a:rPr lang="en-US" dirty="0"/>
              <a:t>It identifies the address of the network layer protocol from the header.</a:t>
            </a:r>
          </a:p>
          <a:p>
            <a:pPr lvl="1"/>
            <a:r>
              <a:rPr lang="en-US" dirty="0"/>
              <a:t>It also provides flow control.</a:t>
            </a:r>
          </a:p>
          <a:p>
            <a:pPr lvl="1"/>
            <a:r>
              <a:rPr lang="en-US" dirty="0"/>
              <a:t>Error detection, using Ethernet trailer field frame check sequence (FCS).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C00000"/>
                </a:solidFill>
              </a:rPr>
              <a:t>Media Access Control Layer</a:t>
            </a:r>
          </a:p>
          <a:p>
            <a:pPr lvl="1"/>
            <a:r>
              <a:rPr lang="en-US" dirty="0"/>
              <a:t>Provides physical addressing </a:t>
            </a:r>
          </a:p>
          <a:p>
            <a:pPr lvl="1"/>
            <a:r>
              <a:rPr lang="en-US" dirty="0"/>
              <a:t>A Media access control layer is a link between the Logical Link Control layer and the network's physical layer.</a:t>
            </a:r>
          </a:p>
          <a:p>
            <a:pPr lvl="1"/>
            <a:r>
              <a:rPr lang="en-US" dirty="0"/>
              <a:t>It is used for transferring the packets over the network.</a:t>
            </a:r>
          </a:p>
          <a:p>
            <a:endParaRPr lang="en-US" dirty="0"/>
          </a:p>
          <a:p>
            <a:r>
              <a:rPr lang="en-US" dirty="0"/>
              <a:t>The packet received from the Network layer is further divided into frames depending on the frame size of NIC (Network Interface Card). </a:t>
            </a:r>
          </a:p>
          <a:p>
            <a:r>
              <a:rPr lang="en-US" dirty="0"/>
              <a:t>DLL also encapsulates Sender and Receiver’s MAC address in the header. 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23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the Data-link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0F01C-241A-CE4D-96CF-030F74C8A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Framing</a:t>
            </a:r>
            <a:endParaRPr lang="en-US" dirty="0"/>
          </a:p>
          <a:p>
            <a:pPr lvl="1"/>
            <a:r>
              <a:rPr lang="en-US" dirty="0"/>
              <a:t>Framing is a function of the data link layer. </a:t>
            </a:r>
          </a:p>
          <a:p>
            <a:pPr lvl="1"/>
            <a:r>
              <a:rPr lang="en-US" dirty="0"/>
              <a:t>The data link layer translates the physical's raw bit stream into packets known as Frames. </a:t>
            </a:r>
          </a:p>
          <a:p>
            <a:pPr lvl="1"/>
            <a:r>
              <a:rPr lang="en-US" dirty="0"/>
              <a:t>Breaks messages into frames and reassembles frames into messages</a:t>
            </a:r>
          </a:p>
          <a:p>
            <a:pPr lvl="1"/>
            <a:r>
              <a:rPr lang="en-US" dirty="0"/>
              <a:t>Attaching special bit patterns to the beginning and end of the frame.</a:t>
            </a:r>
          </a:p>
          <a:p>
            <a:pPr lvl="1"/>
            <a:r>
              <a:rPr lang="en-US" dirty="0"/>
              <a:t>The Data link layer adds the header and trailer to the frame.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Physical Addressing</a:t>
            </a:r>
            <a:endParaRPr lang="en-US" dirty="0"/>
          </a:p>
          <a:p>
            <a:pPr lvl="1"/>
            <a:r>
              <a:rPr lang="en-US" dirty="0"/>
              <a:t>The Data link layer adds a header to the frame that contains destination and source addresses. </a:t>
            </a:r>
          </a:p>
          <a:p>
            <a:pPr lvl="1"/>
            <a:r>
              <a:rPr lang="en-US" dirty="0"/>
              <a:t>The frame is transmitted to the destination address mentioned in the header.</a:t>
            </a:r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8BBBE49-DD44-B083-69CB-6E946613A28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48567" y="3287886"/>
          <a:ext cx="3967356" cy="370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322452">
                  <a:extLst>
                    <a:ext uri="{9D8B030D-6E8A-4147-A177-3AD203B41FA5}">
                      <a16:colId xmlns:a16="http://schemas.microsoft.com/office/drawing/2014/main" val="2696901371"/>
                    </a:ext>
                  </a:extLst>
                </a:gridCol>
                <a:gridCol w="1322452">
                  <a:extLst>
                    <a:ext uri="{9D8B030D-6E8A-4147-A177-3AD203B41FA5}">
                      <a16:colId xmlns:a16="http://schemas.microsoft.com/office/drawing/2014/main" val="3030415995"/>
                    </a:ext>
                  </a:extLst>
                </a:gridCol>
                <a:gridCol w="1322452">
                  <a:extLst>
                    <a:ext uri="{9D8B030D-6E8A-4147-A177-3AD203B41FA5}">
                      <a16:colId xmlns:a16="http://schemas.microsoft.com/office/drawing/2014/main" val="1129853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845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73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/>
              <a:t>Functions of the Data-link layer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DDC769-1C70-7BEA-7834-EBD93A017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Flow Control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It is the main functionality of the Data-link layer. </a:t>
            </a:r>
          </a:p>
          <a:p>
            <a:pPr lvl="1"/>
            <a:r>
              <a:rPr lang="en-US" dirty="0"/>
              <a:t>It is the technique through which the constant data rate is maintained on both the sides so that no data get corrupted. </a:t>
            </a:r>
          </a:p>
          <a:p>
            <a:pPr lvl="1"/>
            <a:r>
              <a:rPr lang="en-US" dirty="0"/>
              <a:t>It keeps a fast transmitter from flooding a slow receiver.</a:t>
            </a:r>
          </a:p>
          <a:p>
            <a:r>
              <a:rPr lang="en-US" dirty="0">
                <a:solidFill>
                  <a:schemeClr val="accent6"/>
                </a:solidFill>
              </a:rPr>
              <a:t>Error Control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Adding a calculated value CRC (Cyclic Redundancy Check) that is placed to the DLL’s trailer.</a:t>
            </a:r>
          </a:p>
          <a:p>
            <a:pPr lvl="1"/>
            <a:r>
              <a:rPr lang="en-US" dirty="0"/>
              <a:t>The CRC is added to the message frame before it is sent to the physical layer. </a:t>
            </a:r>
          </a:p>
          <a:p>
            <a:pPr lvl="1"/>
            <a:r>
              <a:rPr lang="en-US" dirty="0"/>
              <a:t>If any error seems to occur, then the receiver sends the acknowledgment for the retransmission of the corrupted frames.</a:t>
            </a:r>
          </a:p>
          <a:p>
            <a:pPr lvl="1"/>
            <a:r>
              <a:rPr lang="en-US" dirty="0"/>
              <a:t>DLL provides the mechanism of error control in which it detects and retransmits damaged or lost frames.</a:t>
            </a:r>
          </a:p>
          <a:p>
            <a:r>
              <a:rPr lang="en-US" dirty="0">
                <a:solidFill>
                  <a:schemeClr val="accent6"/>
                </a:solidFill>
              </a:rPr>
              <a:t>Access Control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When two or more devices are connected to the same communication channel, then </a:t>
            </a:r>
          </a:p>
          <a:p>
            <a:pPr lvl="1"/>
            <a:r>
              <a:rPr lang="en-US" dirty="0"/>
              <a:t>DLL protocol are used to define which device has control over the communication link at a given time.</a:t>
            </a:r>
          </a:p>
        </p:txBody>
      </p:sp>
    </p:spTree>
    <p:extLst>
      <p:ext uri="{BB962C8B-B14F-4D97-AF65-F5344CB8AC3E}">
        <p14:creationId xmlns:p14="http://schemas.microsoft.com/office/powerpoint/2010/main" val="345921877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6E6A-A703-2C47-958F-950CB5104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Data Link Layer – 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1B54-E709-3242-AAA7-6B626AF51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link layer is concerned with:</a:t>
            </a:r>
          </a:p>
          <a:p>
            <a:pPr lvl="1"/>
            <a:r>
              <a:rPr lang="en-US" dirty="0"/>
              <a:t>Framing – divide bits stream into data unit (frame)</a:t>
            </a:r>
          </a:p>
          <a:p>
            <a:pPr lvl="1"/>
            <a:r>
              <a:rPr lang="en-US" dirty="0"/>
              <a:t>Physical addressing</a:t>
            </a:r>
          </a:p>
          <a:p>
            <a:pPr lvl="1"/>
            <a:r>
              <a:rPr lang="en-US" dirty="0"/>
              <a:t>Flow control – avoid over </a:t>
            </a:r>
            <a:r>
              <a:rPr lang="en-IN" dirty="0"/>
              <a:t>overwhelming </a:t>
            </a:r>
            <a:endParaRPr lang="en-US" dirty="0"/>
          </a:p>
          <a:p>
            <a:pPr lvl="1"/>
            <a:r>
              <a:rPr lang="en-US" dirty="0"/>
              <a:t>Error control – bit loses, retransmission</a:t>
            </a:r>
          </a:p>
          <a:p>
            <a:pPr lvl="1"/>
            <a:r>
              <a:rPr lang="en-US" dirty="0"/>
              <a:t>Access control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8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Physical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The physical layer is responsible for </a:t>
            </a:r>
            <a:r>
              <a:rPr lang="en-US" dirty="0">
                <a:solidFill>
                  <a:schemeClr val="accent6"/>
                </a:solidFill>
              </a:rPr>
              <a:t>movements of individual bits </a:t>
            </a:r>
            <a:r>
              <a:rPr lang="en-US" dirty="0"/>
              <a:t>from one hop (node) to the next.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82213" y="1155513"/>
            <a:ext cx="7874993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994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Layer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131179" y="935606"/>
            <a:ext cx="11377197" cy="5386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is the </a:t>
            </a:r>
            <a:r>
              <a:rPr lang="en-US" dirty="0">
                <a:solidFill>
                  <a:srgbClr val="C00000"/>
                </a:solidFill>
              </a:rPr>
              <a:t>lowest layer </a:t>
            </a:r>
            <a:r>
              <a:rPr lang="en-US" dirty="0"/>
              <a:t>of the OSI model.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chemeClr val="accent6"/>
                </a:solidFill>
              </a:rPr>
              <a:t>responsible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for</a:t>
            </a:r>
            <a:r>
              <a:rPr lang="en-US" dirty="0"/>
              <a:t> the actual </a:t>
            </a:r>
            <a:r>
              <a:rPr lang="en-US" dirty="0">
                <a:solidFill>
                  <a:schemeClr val="accent6"/>
                </a:solidFill>
              </a:rPr>
              <a:t>physical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connection</a:t>
            </a:r>
            <a:r>
              <a:rPr lang="en-US" dirty="0"/>
              <a:t> between the devices. </a:t>
            </a:r>
          </a:p>
          <a:p>
            <a:r>
              <a:rPr lang="en-US" dirty="0"/>
              <a:t>It </a:t>
            </a:r>
            <a:r>
              <a:rPr lang="en-US" dirty="0">
                <a:solidFill>
                  <a:schemeClr val="accent6"/>
                </a:solidFill>
              </a:rPr>
              <a:t>establishes</a:t>
            </a:r>
            <a:r>
              <a:rPr lang="en-US" dirty="0"/>
              <a:t>, </a:t>
            </a:r>
            <a:r>
              <a:rPr lang="en-US" dirty="0">
                <a:solidFill>
                  <a:schemeClr val="accent6"/>
                </a:solidFill>
              </a:rPr>
              <a:t>maintains</a:t>
            </a:r>
            <a:r>
              <a:rPr lang="en-US" dirty="0"/>
              <a:t> and deactivates the </a:t>
            </a:r>
            <a:r>
              <a:rPr lang="en-US" dirty="0">
                <a:solidFill>
                  <a:schemeClr val="accent6"/>
                </a:solidFill>
              </a:rPr>
              <a:t>physical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connection</a:t>
            </a:r>
            <a:r>
              <a:rPr lang="en-US" dirty="0"/>
              <a:t>.</a:t>
            </a:r>
          </a:p>
          <a:p>
            <a:r>
              <a:rPr lang="en-US" dirty="0"/>
              <a:t>The physical layer contains information in the form of</a:t>
            </a:r>
            <a:r>
              <a:rPr lang="en-US" b="1" dirty="0"/>
              <a:t> </a:t>
            </a:r>
            <a:r>
              <a:rPr lang="en-US" dirty="0">
                <a:solidFill>
                  <a:schemeClr val="accent6"/>
                </a:solidFill>
              </a:rPr>
              <a:t>bits</a:t>
            </a:r>
            <a:r>
              <a:rPr lang="en-US" b="1" dirty="0"/>
              <a:t>.</a:t>
            </a:r>
            <a:r>
              <a:rPr lang="en-US" dirty="0"/>
              <a:t> </a:t>
            </a:r>
          </a:p>
          <a:p>
            <a:r>
              <a:rPr lang="en-US" dirty="0"/>
              <a:t>The main functionality of the physical layer is to transmit the </a:t>
            </a:r>
            <a:r>
              <a:rPr lang="en-US" dirty="0">
                <a:solidFill>
                  <a:schemeClr val="accent6"/>
                </a:solidFill>
              </a:rPr>
              <a:t>individual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bits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from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one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node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to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another</a:t>
            </a:r>
            <a:r>
              <a:rPr lang="en-US" dirty="0"/>
              <a:t> node.</a:t>
            </a:r>
          </a:p>
          <a:p>
            <a:r>
              <a:rPr lang="en-US" dirty="0"/>
              <a:t>This layer will get the signal and send it to the Data Link layer. </a:t>
            </a:r>
          </a:p>
          <a:p>
            <a:r>
              <a:rPr lang="en-US" dirty="0"/>
              <a:t>Hub, Repeater, Modem, Cables are Physical Layer devices</a:t>
            </a:r>
          </a:p>
        </p:txBody>
      </p:sp>
    </p:spTree>
    <p:extLst>
      <p:ext uri="{BB962C8B-B14F-4D97-AF65-F5344CB8AC3E}">
        <p14:creationId xmlns:p14="http://schemas.microsoft.com/office/powerpoint/2010/main" val="362669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a Physical layer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C25AA9-337F-244B-AE18-4FAE0C278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Line Configuration</a:t>
            </a:r>
            <a:endParaRPr lang="en-US" dirty="0"/>
          </a:p>
          <a:p>
            <a:pPr lvl="1"/>
            <a:r>
              <a:rPr lang="en-US" dirty="0"/>
              <a:t>It defines the way how two or more devices can be connected physically.</a:t>
            </a:r>
          </a:p>
          <a:p>
            <a:r>
              <a:rPr lang="en-US" dirty="0">
                <a:solidFill>
                  <a:schemeClr val="accent6"/>
                </a:solidFill>
              </a:rPr>
              <a:t>Signals</a:t>
            </a:r>
            <a:endParaRPr lang="en-US" dirty="0"/>
          </a:p>
          <a:p>
            <a:pPr lvl="1"/>
            <a:r>
              <a:rPr lang="en-US" dirty="0"/>
              <a:t>It determines the type of the signal used for transmitting the information.</a:t>
            </a:r>
          </a:p>
          <a:p>
            <a:pPr lvl="0" fontAlgn="base"/>
            <a:r>
              <a:rPr lang="en-US" dirty="0">
                <a:solidFill>
                  <a:schemeClr val="accent6"/>
                </a:solidFill>
              </a:rPr>
              <a:t>Bit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synchronization</a:t>
            </a:r>
            <a:endParaRPr lang="en-US" dirty="0"/>
          </a:p>
          <a:p>
            <a:pPr lvl="1" fontAlgn="base"/>
            <a:r>
              <a:rPr lang="en-US" dirty="0"/>
              <a:t>It provides the synchronization of the bits by providing a clock. This clock controls both sender and receiver thus providing synchronization at bit level.</a:t>
            </a:r>
          </a:p>
          <a:p>
            <a:pPr lvl="0" fontAlgn="base"/>
            <a:r>
              <a:rPr lang="en-US" dirty="0">
                <a:solidFill>
                  <a:schemeClr val="accent6"/>
                </a:solidFill>
              </a:rPr>
              <a:t>Bit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rate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control</a:t>
            </a:r>
            <a:endParaRPr lang="en-US" dirty="0"/>
          </a:p>
          <a:p>
            <a:pPr lvl="1" fontAlgn="base"/>
            <a:r>
              <a:rPr lang="en-US" dirty="0"/>
              <a:t>It also defines the transmission rate i.e. the number of bits sent per second.</a:t>
            </a:r>
          </a:p>
          <a:p>
            <a:pPr lvl="0" fontAlgn="base"/>
            <a:r>
              <a:rPr lang="en-US" dirty="0">
                <a:solidFill>
                  <a:schemeClr val="accent6"/>
                </a:solidFill>
              </a:rPr>
              <a:t>Physical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topologies</a:t>
            </a:r>
            <a:endParaRPr lang="en-US" dirty="0"/>
          </a:p>
          <a:p>
            <a:pPr lvl="1" fontAlgn="base"/>
            <a:r>
              <a:rPr lang="en-US" dirty="0"/>
              <a:t>It specifies the way in which the different, devices/nodes are arranged in a network i.e. bus, star, or mesh topology.</a:t>
            </a:r>
          </a:p>
          <a:p>
            <a:pPr lvl="0" fontAlgn="base"/>
            <a:r>
              <a:rPr lang="en-US" dirty="0">
                <a:solidFill>
                  <a:schemeClr val="accent6"/>
                </a:solidFill>
              </a:rPr>
              <a:t>Transmission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mode</a:t>
            </a:r>
            <a:endParaRPr lang="en-US" dirty="0"/>
          </a:p>
          <a:p>
            <a:pPr lvl="1" fontAlgn="base"/>
            <a:r>
              <a:rPr lang="en-US" dirty="0"/>
              <a:t>It also defines the way in which the data flows between the two connected devices. </a:t>
            </a:r>
          </a:p>
          <a:p>
            <a:pPr lvl="1" fontAlgn="base"/>
            <a:r>
              <a:rPr lang="en-US" dirty="0"/>
              <a:t>The various transmission modes possible are Simplex, half-duplex and full-duplex.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 txBox="1">
            <a:spLocks/>
          </p:cNvSpPr>
          <p:nvPr/>
        </p:nvSpPr>
        <p:spPr>
          <a:xfrm>
            <a:off x="0" y="5291143"/>
            <a:ext cx="11691626" cy="93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09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AECB2-AB1A-E046-8CD6-B082A01CF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Physical Layer – Cont.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997FD-E98A-FC47-A756-0EE086C96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Carries the bit stream over a physical media.</a:t>
            </a:r>
          </a:p>
          <a:p>
            <a:pPr algn="just"/>
            <a:r>
              <a:rPr lang="en-US" dirty="0"/>
              <a:t>Physical Layer is concerned with:</a:t>
            </a:r>
          </a:p>
          <a:p>
            <a:pPr lvl="1" algn="just"/>
            <a:r>
              <a:rPr lang="en-US" dirty="0"/>
              <a:t>Interface and Medium like guided cables</a:t>
            </a:r>
          </a:p>
          <a:p>
            <a:pPr lvl="1" algn="just"/>
            <a:r>
              <a:rPr lang="en-US" dirty="0"/>
              <a:t>Representation of bits </a:t>
            </a:r>
          </a:p>
          <a:p>
            <a:pPr lvl="1" algn="just"/>
            <a:r>
              <a:rPr lang="en-US" dirty="0"/>
              <a:t>Data rate </a:t>
            </a:r>
          </a:p>
          <a:p>
            <a:pPr lvl="1" algn="just"/>
            <a:r>
              <a:rPr lang="en-US" dirty="0"/>
              <a:t>Synchronization of bits</a:t>
            </a:r>
          </a:p>
          <a:p>
            <a:pPr lvl="1" algn="just"/>
            <a:r>
              <a:rPr lang="en-US" dirty="0"/>
              <a:t>Line configuration</a:t>
            </a:r>
          </a:p>
          <a:p>
            <a:pPr lvl="1" algn="just"/>
            <a:r>
              <a:rPr lang="en-US" dirty="0"/>
              <a:t>Physical topology</a:t>
            </a:r>
          </a:p>
          <a:p>
            <a:pPr lvl="1" algn="just"/>
            <a:r>
              <a:rPr lang="en-US" dirty="0"/>
              <a:t>Transmission mode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11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Summary – OSI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7C571-0A23-FD42-96A4-0CA066A68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991100" y="1524000"/>
            <a:ext cx="2209800" cy="4572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9857" y="2134849"/>
            <a:ext cx="2209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79857" y="2745698"/>
            <a:ext cx="2209800" cy="4572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9857" y="3394022"/>
            <a:ext cx="2209800" cy="4572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Transport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79857" y="4042346"/>
            <a:ext cx="22098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Network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91100" y="4690670"/>
            <a:ext cx="2209800" cy="4572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1100" y="5345238"/>
            <a:ext cx="22098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Physical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7397646" y="1131491"/>
            <a:ext cx="2362200" cy="905655"/>
          </a:xfrm>
          <a:prstGeom prst="wedgeRoundRectCallout">
            <a:avLst>
              <a:gd name="adj1" fmla="val -58185"/>
              <a:gd name="adj2" fmla="val 15176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is generated from here using any application.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09800" y="1729537"/>
            <a:ext cx="2537085" cy="785019"/>
          </a:xfrm>
          <a:prstGeom prst="wedgeRoundRectCallout">
            <a:avLst>
              <a:gd name="adj1" fmla="val 58354"/>
              <a:gd name="adj2" fmla="val 34271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translate, encrypt and compress data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1905002" y="2745698"/>
            <a:ext cx="2841883" cy="1163611"/>
          </a:xfrm>
          <a:prstGeom prst="wedgeRoundRectCallout">
            <a:avLst>
              <a:gd name="adj1" fmla="val 58354"/>
              <a:gd name="adj2" fmla="val 34271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provide reliable process-to-process message delivery and error recovery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7386403" y="2305194"/>
            <a:ext cx="2519597" cy="898464"/>
          </a:xfrm>
          <a:prstGeom prst="wedgeRoundRectCallout">
            <a:avLst>
              <a:gd name="adj1" fmla="val -58185"/>
              <a:gd name="adj2" fmla="val 1517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establish, manage and terminate sessions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7386402" y="3479056"/>
            <a:ext cx="2748198" cy="1152637"/>
          </a:xfrm>
          <a:prstGeom prst="wedgeRoundRectCallout">
            <a:avLst>
              <a:gd name="adj1" fmla="val -58185"/>
              <a:gd name="adj2" fmla="val 151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move packets from source to destination; To provide internetworking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7416382" y="5019564"/>
            <a:ext cx="2718218" cy="1152637"/>
          </a:xfrm>
          <a:prstGeom prst="wedgeRoundRectCallout">
            <a:avLst>
              <a:gd name="adj1" fmla="val -58185"/>
              <a:gd name="adj2" fmla="val -8233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transmit bits over a medium; To provide mechanical &amp; electrical specification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2261017" y="4362852"/>
            <a:ext cx="2537085" cy="982387"/>
          </a:xfrm>
          <a:prstGeom prst="wedgeRoundRectCallout">
            <a:avLst>
              <a:gd name="adj1" fmla="val 58354"/>
              <a:gd name="adj2" fmla="val -4286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organize bits into frames; To provide hop-to-hop delivery</a:t>
            </a:r>
          </a:p>
        </p:txBody>
      </p:sp>
    </p:spTree>
    <p:extLst>
      <p:ext uri="{BB962C8B-B14F-4D97-AF65-F5344CB8AC3E}">
        <p14:creationId xmlns:p14="http://schemas.microsoft.com/office/powerpoint/2010/main" val="176084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5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altLang="en-US" sz="3600">
                <a:ea typeface="Times New Roman" charset="0"/>
                <a:cs typeface="Times New Roman" charset="0"/>
              </a:rPr>
              <a:t>TCP/IP Reference Model </a:t>
            </a:r>
            <a:br>
              <a:rPr lang="en-IN" altLang="en-US" sz="3600">
                <a:ea typeface="Times New Roman" charset="0"/>
                <a:cs typeface="Times New Roman" charset="0"/>
              </a:rPr>
            </a:br>
            <a:r>
              <a:rPr lang="en-IN" altLang="en-US" sz="1800">
                <a:ea typeface="Times New Roman" charset="0"/>
                <a:cs typeface="Times New Roman" charset="0"/>
              </a:rPr>
              <a:t>(Transmission Control Protocol/Internet Protocol)</a:t>
            </a:r>
            <a:endParaRPr lang="en-IN" altLang="en-US" sz="1800" dirty="0">
              <a:ea typeface="Times New Roman" charset="0"/>
              <a:cs typeface="Times New Roman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848" indent="-342848" algn="just">
              <a:defRPr/>
            </a:pPr>
            <a:r>
              <a:rPr lang="en-IN"/>
              <a:t>It was originally defined as having </a:t>
            </a:r>
            <a:r>
              <a:rPr lang="en-IN">
                <a:solidFill>
                  <a:srgbClr val="C00000"/>
                </a:solidFill>
              </a:rPr>
              <a:t>five </a:t>
            </a:r>
            <a:r>
              <a:rPr lang="en-IN"/>
              <a:t>layers: </a:t>
            </a:r>
          </a:p>
          <a:p>
            <a:pPr marL="342848" indent="-342848" algn="just">
              <a:defRPr/>
            </a:pPr>
            <a:r>
              <a:rPr lang="en-IN"/>
              <a:t>TCP/IP is a </a:t>
            </a:r>
            <a:r>
              <a:rPr lang="en-IN">
                <a:solidFill>
                  <a:srgbClr val="C00000"/>
                </a:solidFill>
              </a:rPr>
              <a:t>set of protocols </a:t>
            </a:r>
            <a:r>
              <a:rPr lang="en-IN"/>
              <a:t>developed to allow cooperating computers to share resources across the network.</a:t>
            </a:r>
          </a:p>
          <a:p>
            <a:pPr marL="785759" lvl="1" indent="-342848" algn="just">
              <a:buFont typeface="+mj-lt"/>
              <a:buAutoNum type="arabicPeriod"/>
              <a:defRPr/>
            </a:pPr>
            <a:r>
              <a:rPr lang="en-IN"/>
              <a:t>Application Layer</a:t>
            </a:r>
          </a:p>
          <a:p>
            <a:pPr marL="785759" lvl="1" indent="-342848" algn="just">
              <a:buFont typeface="+mj-lt"/>
              <a:buAutoNum type="arabicPeriod"/>
              <a:defRPr/>
            </a:pPr>
            <a:r>
              <a:rPr lang="en-IN"/>
              <a:t>Transport Layer</a:t>
            </a:r>
          </a:p>
          <a:p>
            <a:pPr marL="785759" lvl="1" indent="-342848" algn="just">
              <a:buFont typeface="+mj-lt"/>
              <a:buAutoNum type="arabicPeriod"/>
              <a:defRPr/>
            </a:pPr>
            <a:r>
              <a:rPr lang="en-IN"/>
              <a:t>Network Layer</a:t>
            </a:r>
          </a:p>
          <a:p>
            <a:pPr marL="785759" lvl="1" indent="-342848" algn="just">
              <a:buFont typeface="+mj-lt"/>
              <a:buAutoNum type="arabicPeriod"/>
              <a:defRPr/>
            </a:pPr>
            <a:r>
              <a:rPr lang="en-IN"/>
              <a:t>Data Link Layer</a:t>
            </a:r>
          </a:p>
          <a:p>
            <a:pPr marL="785759" lvl="1" indent="-342848" algn="just">
              <a:buFont typeface="+mj-lt"/>
              <a:buAutoNum type="arabicPeriod"/>
              <a:defRPr/>
            </a:pPr>
            <a:r>
              <a:rPr lang="en-IN"/>
              <a:t>Physical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73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Open Sans Semibold" charset="0"/>
                <a:cs typeface="Open Sans Semibold" charset="0"/>
              </a:rPr>
              <a:t>TCP/IP Model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96610-ECC2-F145-8F40-E5ABC2D31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575" y="1371601"/>
            <a:ext cx="6292850" cy="483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0484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85B5-4926-224C-937F-4B8FF263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5F76EE-E148-21D2-C8D9-F8F428000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he logical mapping between OSI basic reference model and the TCP/IP stack.  | Download Scientific Diagram">
            <a:extLst>
              <a:ext uri="{FF2B5EF4-FFF2-40B4-BE49-F238E27FC236}">
                <a16:creationId xmlns:a16="http://schemas.microsoft.com/office/drawing/2014/main" id="{1A0E2D57-605B-BF47-8E98-F16665033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8500" y="850900"/>
            <a:ext cx="10795000" cy="515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22966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- OSI Model and TCP/IP Protocol Layers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769494" y="862881"/>
          <a:ext cx="9144000" cy="822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</a:rPr>
                        <a:t>OSI</a:t>
                      </a:r>
                    </a:p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</a:rPr>
                        <a:t>(Open System Interconnection)</a:t>
                      </a:r>
                    </a:p>
                  </a:txBody>
                  <a:tcPr marL="43009" marR="43009" marT="21505" marB="2150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kern="1200" baseline="0" dirty="0">
                          <a:solidFill>
                            <a:schemeClr val="bg1"/>
                          </a:solidFill>
                        </a:rPr>
                        <a:t>TCP/IP </a:t>
                      </a:r>
                    </a:p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none" strike="noStrike" kern="1200" baseline="0" dirty="0">
                          <a:solidFill>
                            <a:schemeClr val="bg1"/>
                          </a:solidFill>
                        </a:rPr>
                        <a:t>(Transmission Control Protocol/ Internet Protocol)</a:t>
                      </a:r>
                    </a:p>
                  </a:txBody>
                  <a:tcPr marL="43009" marR="43009" marT="21505" marB="21505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2769494" y="1859507"/>
          <a:ext cx="9144000" cy="514536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536"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has 7 layers</a:t>
                      </a:r>
                    </a:p>
                  </a:txBody>
                  <a:tcPr marL="43009" marR="43009" marT="21505" marB="2150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It has 5 layers</a:t>
                      </a:r>
                    </a:p>
                  </a:txBody>
                  <a:tcPr marL="43009" marR="43009" marT="21505" marB="21505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769494" y="2547709"/>
          <a:ext cx="9144000" cy="8229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OSI provides layer functioning and also defines functions of all the layers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TCP/IP model is more based on protocols and protocols are not flexible with other layers</a:t>
                      </a: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710227" y="3567315"/>
          <a:ext cx="9144000" cy="760445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445"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OSI model has a separate presentation layer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 algn="just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itchFamily="2" charset="2"/>
                        <a:buChar char="ü"/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TCP/IP doesn’t have a separate presentation layer</a:t>
                      </a: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AutoShape 2" descr="Big Data Analytics for Security Intelligen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55575" y="862881"/>
            <a:ext cx="247679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8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OSI Model</a:t>
            </a:r>
          </a:p>
          <a:p>
            <a:pPr algn="ctr"/>
            <a:r>
              <a:rPr lang="en-US" sz="28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&amp;</a:t>
            </a:r>
          </a:p>
          <a:p>
            <a:pPr algn="ctr"/>
            <a:r>
              <a:rPr lang="en-US" sz="28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TCP/IP Protocol Layer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1026" name="Picture 2" descr="Layers Icon | Small &amp;amp; Flat Iconset | paomedia">
            <a:extLst>
              <a:ext uri="{FF2B5EF4-FFF2-40B4-BE49-F238E27FC236}">
                <a16:creationId xmlns:a16="http://schemas.microsoft.com/office/drawing/2014/main" id="{C20E76EB-5881-0F44-AC1D-3DA008A80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148" y="3821612"/>
            <a:ext cx="1777644" cy="177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eck, list, protocol icon - Download on Iconfinder">
            <a:extLst>
              <a:ext uri="{FF2B5EF4-FFF2-40B4-BE49-F238E27FC236}">
                <a16:creationId xmlns:a16="http://schemas.microsoft.com/office/drawing/2014/main" id="{DFCB9C48-E74C-7D4F-BFD0-39E2A2F73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2901" y="4569661"/>
            <a:ext cx="1089891" cy="108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E66356D-583E-4D4E-8FDF-010A96BB146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00929" y="4407197"/>
          <a:ext cx="9144000" cy="8229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Network layer of OSI model provide both connection oriented and connectionless service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The Network layer in TCP/IP model provides connectionless service</a:t>
                      </a: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B8DAE05-ACD1-4093-878F-9A3BCF03ED3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00929" y="5403823"/>
          <a:ext cx="9144000" cy="8229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OSI model the transport layer guarantees the delivery of packets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 TCP/IP model the transport layer does not guarantees delivery of packets</a:t>
                      </a: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65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Layers: Summary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1133" y="863600"/>
            <a:ext cx="7729735" cy="5591175"/>
          </a:xfrm>
        </p:spPr>
      </p:pic>
    </p:spTree>
    <p:extLst>
      <p:ext uri="{BB962C8B-B14F-4D97-AF65-F5344CB8AC3E}">
        <p14:creationId xmlns:p14="http://schemas.microsoft.com/office/powerpoint/2010/main" val="161759959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Delay, Loss &amp; 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/>
              <a:t>Delay</a:t>
            </a:r>
            <a:endParaRPr lang="en-US" b="1" dirty="0"/>
          </a:p>
          <a:p>
            <a:pPr lvl="1" algn="just"/>
            <a:r>
              <a:rPr lang="en-IN" sz="2200" dirty="0"/>
              <a:t>As a packet travels from one node (host or router) to the subsequent node (host or router) along this path, the packet suffers from </a:t>
            </a:r>
            <a:r>
              <a:rPr lang="en-IN" sz="2200" dirty="0">
                <a:solidFill>
                  <a:srgbClr val="C00000"/>
                </a:solidFill>
              </a:rPr>
              <a:t>several types of delays</a:t>
            </a:r>
            <a:r>
              <a:rPr lang="en-IN" sz="2200" dirty="0"/>
              <a:t> at each node along the path.</a:t>
            </a:r>
          </a:p>
          <a:p>
            <a:pPr marL="0" indent="0" algn="ctr">
              <a:buNone/>
            </a:pPr>
            <a:endParaRPr lang="en-IN" sz="2000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gu-IN" sz="2600" dirty="0"/>
          </a:p>
          <a:p>
            <a:pPr marL="457200" lvl="1" indent="0">
              <a:buNone/>
            </a:pPr>
            <a:r>
              <a:rPr lang="en-US" sz="2600" dirty="0"/>
              <a:t>Where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2057400" y="2656686"/>
            <a:ext cx="8077200" cy="1000915"/>
            <a:chOff x="533400" y="2656685"/>
            <a:chExt cx="8077200" cy="1000915"/>
          </a:xfrm>
        </p:grpSpPr>
        <p:sp>
          <p:nvSpPr>
            <p:cNvPr id="4" name="Rounded Rectangle 3"/>
            <p:cNvSpPr/>
            <p:nvPr/>
          </p:nvSpPr>
          <p:spPr>
            <a:xfrm>
              <a:off x="1066800" y="2667000"/>
              <a:ext cx="6934200" cy="762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33400" y="2656685"/>
              <a:ext cx="8077200" cy="100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14000"/>
                </a:lnSpc>
                <a:spcBef>
                  <a:spcPct val="20000"/>
                </a:spcBef>
              </a:pPr>
              <a:r>
                <a:rPr lang="en-IN" sz="3600" b="1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IN" sz="3600" b="1" baseline="-25000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r>
                <a:rPr lang="en-IN" sz="3600" b="1" baseline="-25000" dirty="0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3600" b="1" dirty="0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 =  </a:t>
              </a:r>
              <a:r>
                <a:rPr lang="en-IN" sz="3600" b="1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IN" sz="3600" b="1" baseline="-25000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proc</a:t>
              </a:r>
              <a:r>
                <a:rPr lang="en-IN" sz="3600" b="1" dirty="0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3600" b="1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IN" sz="3600" b="1" baseline="-25000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queue</a:t>
              </a:r>
              <a:r>
                <a:rPr lang="en-IN" sz="3600" b="1" dirty="0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3600" b="1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IN" sz="3600" b="1" baseline="-25000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tran</a:t>
              </a:r>
              <a:r>
                <a:rPr lang="en-IN" sz="3600" b="1" dirty="0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IN" sz="3600" b="1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IN" sz="3600" b="1" baseline="-25000" dirty="0" err="1">
                  <a:solidFill>
                    <a:prstClr val="black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prop</a:t>
              </a:r>
              <a:endParaRPr lang="en-IN" sz="3600" b="1" baseline="-25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dirty="0"/>
            </a:p>
          </p:txBody>
        </p:sp>
      </p:grp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814622"/>
              </p:ext>
            </p:extLst>
          </p:nvPr>
        </p:nvGraphicFramePr>
        <p:xfrm>
          <a:off x="1698702" y="3673334"/>
          <a:ext cx="590423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d</a:t>
                      </a:r>
                      <a:r>
                        <a:rPr lang="en-IN" sz="2400" baseline="-25000" dirty="0" err="1"/>
                        <a:t>total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Total Delay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d</a:t>
                      </a:r>
                      <a:r>
                        <a:rPr lang="en-IN" sz="2400" baseline="-25000" dirty="0" err="1"/>
                        <a:t>proc</a:t>
                      </a:r>
                      <a:r>
                        <a:rPr lang="en-IN" sz="2400" dirty="0"/>
                        <a:t> 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Processing Delay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d</a:t>
                      </a:r>
                      <a:r>
                        <a:rPr lang="en-IN" sz="2400" baseline="-25000" dirty="0" err="1"/>
                        <a:t>que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Queuing Delay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d</a:t>
                      </a:r>
                      <a:r>
                        <a:rPr lang="en-IN" sz="2400" baseline="-25000" dirty="0" err="1"/>
                        <a:t>tran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Transmission Delay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d</a:t>
                      </a:r>
                      <a:r>
                        <a:rPr lang="en-IN" sz="2400" baseline="-25000" dirty="0" err="1"/>
                        <a:t>prop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Propagation Delay</a:t>
                      </a:r>
                      <a:endParaRPr lang="en-IN" sz="24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47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– </a:t>
            </a:r>
            <a:r>
              <a:rPr lang="en-US" dirty="0" err="1"/>
              <a:t>Cont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Delay (</a:t>
            </a:r>
            <a:r>
              <a:rPr lang="en-US" dirty="0" err="1"/>
              <a:t>d</a:t>
            </a:r>
            <a:r>
              <a:rPr lang="en-US" baseline="-25000" dirty="0" err="1"/>
              <a:t>proc</a:t>
            </a:r>
            <a:r>
              <a:rPr lang="en-US" dirty="0"/>
              <a:t>)</a:t>
            </a:r>
          </a:p>
          <a:p>
            <a:pPr lvl="1" algn="just"/>
            <a:r>
              <a:rPr lang="en-US" dirty="0"/>
              <a:t>The time required to </a:t>
            </a:r>
            <a:r>
              <a:rPr lang="en-US" dirty="0">
                <a:solidFill>
                  <a:srgbClr val="C00000"/>
                </a:solidFill>
              </a:rPr>
              <a:t>examine</a:t>
            </a:r>
            <a:r>
              <a:rPr lang="en-US" dirty="0"/>
              <a:t> the packets header and </a:t>
            </a:r>
            <a:r>
              <a:rPr lang="en-US" dirty="0">
                <a:solidFill>
                  <a:srgbClr val="C00000"/>
                </a:solidFill>
              </a:rPr>
              <a:t>determine</a:t>
            </a:r>
            <a:r>
              <a:rPr lang="en-US" dirty="0"/>
              <a:t> where to </a:t>
            </a:r>
            <a:r>
              <a:rPr lang="en-US" dirty="0">
                <a:solidFill>
                  <a:srgbClr val="C00000"/>
                </a:solidFill>
              </a:rPr>
              <a:t>direct</a:t>
            </a:r>
            <a:r>
              <a:rPr lang="en-US" dirty="0"/>
              <a:t> the packet.</a:t>
            </a:r>
          </a:p>
          <a:p>
            <a:pPr lvl="1"/>
            <a:r>
              <a:rPr lang="en-US" dirty="0"/>
              <a:t>To check bit level error</a:t>
            </a:r>
          </a:p>
          <a:p>
            <a:pPr lvl="1"/>
            <a:r>
              <a:rPr lang="en-US" dirty="0"/>
              <a:t>Determine output link</a:t>
            </a:r>
          </a:p>
          <a:p>
            <a:pPr lvl="1"/>
            <a:r>
              <a:rPr lang="en-US" dirty="0"/>
              <a:t>Delay in terms of microseconds</a:t>
            </a:r>
          </a:p>
          <a:p>
            <a:pPr lvl="1"/>
            <a:endParaRPr lang="en-US" sz="2800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13606" y="3657600"/>
            <a:ext cx="9154394" cy="2667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0" y="5562600"/>
            <a:ext cx="10668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49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000" y="3657600"/>
            <a:ext cx="9154394" cy="266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– </a:t>
            </a:r>
            <a:r>
              <a:rPr lang="en-US" dirty="0" err="1"/>
              <a:t>Cont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Queuing Delay (</a:t>
            </a:r>
            <a:r>
              <a:rPr lang="en-US" dirty="0" err="1"/>
              <a:t>d</a:t>
            </a:r>
            <a:r>
              <a:rPr lang="en-US" baseline="-25000" dirty="0" err="1"/>
              <a:t>queue</a:t>
            </a:r>
            <a:r>
              <a:rPr lang="en-US" dirty="0"/>
              <a:t>)</a:t>
            </a:r>
          </a:p>
          <a:p>
            <a:pPr lvl="1" algn="just"/>
            <a:r>
              <a:rPr lang="en-US" dirty="0"/>
              <a:t>A time to </a:t>
            </a:r>
            <a:r>
              <a:rPr lang="en-US" dirty="0">
                <a:solidFill>
                  <a:srgbClr val="C00000"/>
                </a:solidFill>
              </a:rPr>
              <a:t>wait</a:t>
            </a:r>
            <a:r>
              <a:rPr lang="en-US" dirty="0"/>
              <a:t> at output link for transmission.</a:t>
            </a:r>
          </a:p>
          <a:p>
            <a:pPr lvl="1" algn="just"/>
            <a:r>
              <a:rPr lang="en-US" dirty="0"/>
              <a:t>Depends on </a:t>
            </a:r>
            <a:r>
              <a:rPr lang="en-US" dirty="0">
                <a:solidFill>
                  <a:srgbClr val="C00000"/>
                </a:solidFill>
              </a:rPr>
              <a:t>congestion</a:t>
            </a:r>
            <a:r>
              <a:rPr lang="en-US" dirty="0"/>
              <a:t> level of router.</a:t>
            </a:r>
          </a:p>
          <a:p>
            <a:pPr lvl="1" algn="just"/>
            <a:r>
              <a:rPr lang="en-US" dirty="0"/>
              <a:t>If queue is empty, then delay will be </a:t>
            </a:r>
            <a:r>
              <a:rPr lang="en-US" dirty="0">
                <a:solidFill>
                  <a:srgbClr val="C00000"/>
                </a:solidFill>
              </a:rPr>
              <a:t>zero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If queue is full (heavy traffic) then delay will be </a:t>
            </a:r>
            <a:r>
              <a:rPr lang="en-US" dirty="0">
                <a:solidFill>
                  <a:srgbClr val="C00000"/>
                </a:solidFill>
              </a:rPr>
              <a:t>long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Delay in terms of microsecond to millisecond.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5562600"/>
            <a:ext cx="1152000" cy="762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5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76400" y="2971800"/>
            <a:ext cx="8953500" cy="266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– </a:t>
            </a:r>
            <a:r>
              <a:rPr lang="en-US" dirty="0" err="1"/>
              <a:t>Cont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Transmission Delay (</a:t>
            </a:r>
            <a:r>
              <a:rPr lang="en-US" dirty="0" err="1"/>
              <a:t>d</a:t>
            </a:r>
            <a:r>
              <a:rPr lang="en-US" baseline="-25000" dirty="0" err="1"/>
              <a:t>tran</a:t>
            </a:r>
            <a:r>
              <a:rPr lang="en-US" dirty="0"/>
              <a:t> = L/R)</a:t>
            </a:r>
          </a:p>
          <a:p>
            <a:pPr lvl="1" algn="just"/>
            <a:r>
              <a:rPr lang="en-US" dirty="0"/>
              <a:t>An amount of time required for the router to transmit the packet.</a:t>
            </a:r>
          </a:p>
          <a:p>
            <a:pPr lvl="1" algn="just"/>
            <a:r>
              <a:rPr lang="en-US" dirty="0"/>
              <a:t>It is depending on </a:t>
            </a:r>
            <a:r>
              <a:rPr lang="en-US" dirty="0">
                <a:solidFill>
                  <a:srgbClr val="C00000"/>
                </a:solidFill>
              </a:rPr>
              <a:t>packet length(L)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transmission rate(R) </a:t>
            </a:r>
            <a:r>
              <a:rPr lang="en-US" dirty="0"/>
              <a:t>of link.</a:t>
            </a: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6781800" y="4845570"/>
            <a:ext cx="1219200" cy="304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0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4500" y="3657600"/>
            <a:ext cx="8953500" cy="266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– </a:t>
            </a:r>
            <a:r>
              <a:rPr lang="en-US" dirty="0" err="1"/>
              <a:t>Cont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Propagation Delay (</a:t>
            </a:r>
            <a:r>
              <a:rPr lang="en-US" dirty="0" err="1"/>
              <a:t>d</a:t>
            </a:r>
            <a:r>
              <a:rPr lang="en-US" baseline="-25000" dirty="0" err="1"/>
              <a:t>prop</a:t>
            </a:r>
            <a:r>
              <a:rPr lang="en-US" dirty="0"/>
              <a:t>= d/s)</a:t>
            </a:r>
          </a:p>
          <a:p>
            <a:pPr lvl="1" algn="just"/>
            <a:r>
              <a:rPr lang="en-US" dirty="0"/>
              <a:t>A time required to propagate from the beginning of the link to router B.</a:t>
            </a:r>
          </a:p>
          <a:p>
            <a:pPr lvl="1" algn="just"/>
            <a:r>
              <a:rPr lang="en-US" dirty="0"/>
              <a:t>Depends on the </a:t>
            </a:r>
            <a:r>
              <a:rPr lang="en-US" dirty="0">
                <a:solidFill>
                  <a:srgbClr val="C00000"/>
                </a:solidFill>
              </a:rPr>
              <a:t>length of physical medium(d) </a:t>
            </a:r>
            <a:r>
              <a:rPr lang="en-US" dirty="0"/>
              <a:t>link and </a:t>
            </a:r>
            <a:r>
              <a:rPr lang="en-US" dirty="0">
                <a:solidFill>
                  <a:srgbClr val="C00000"/>
                </a:solidFill>
              </a:rPr>
              <a:t>propagation speed(s) </a:t>
            </a:r>
            <a:r>
              <a:rPr lang="en-US" dirty="0"/>
              <a:t>of link</a:t>
            </a:r>
          </a:p>
          <a:p>
            <a:pPr lvl="1"/>
            <a:r>
              <a:rPr lang="en-US" dirty="0"/>
              <a:t>Delay in terms of millisecond.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62800" y="5181600"/>
            <a:ext cx="1143000" cy="304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9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Packet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Packet loss is the </a:t>
            </a:r>
            <a:r>
              <a:rPr lang="en-IN" dirty="0">
                <a:solidFill>
                  <a:srgbClr val="C00000"/>
                </a:solidFill>
              </a:rPr>
              <a:t>failure</a:t>
            </a:r>
            <a:r>
              <a:rPr lang="en-IN" dirty="0"/>
              <a:t> of one or more transmitted packets to arrive at their destination. </a:t>
            </a:r>
            <a:endParaRPr lang="en-US" dirty="0"/>
          </a:p>
          <a:p>
            <a:pPr lvl="0" algn="just"/>
            <a:r>
              <a:rPr lang="en-IN" dirty="0"/>
              <a:t>The loss of data packets depends on the </a:t>
            </a:r>
            <a:r>
              <a:rPr lang="en-IN" dirty="0">
                <a:solidFill>
                  <a:srgbClr val="C00000"/>
                </a:solidFill>
              </a:rPr>
              <a:t>switch queue/buffer</a:t>
            </a:r>
            <a:r>
              <a:rPr lang="en-IN" dirty="0"/>
              <a:t>. The loss of data packets increases with the increases in the </a:t>
            </a:r>
            <a:r>
              <a:rPr lang="en-IN" dirty="0">
                <a:solidFill>
                  <a:srgbClr val="C00000"/>
                </a:solidFill>
              </a:rPr>
              <a:t>traffic intensity.</a:t>
            </a:r>
          </a:p>
          <a:p>
            <a:pPr algn="just"/>
            <a:r>
              <a:rPr lang="en-IN" dirty="0"/>
              <a:t>It affects the performance </a:t>
            </a:r>
          </a:p>
          <a:p>
            <a:pPr marL="400050" lvl="1" indent="0" algn="just">
              <a:buNone/>
            </a:pPr>
            <a:r>
              <a:rPr lang="en-IN" sz="2400" dirty="0"/>
              <a:t>of the network.</a:t>
            </a:r>
            <a:endParaRPr lang="en-US" sz="2400" dirty="0"/>
          </a:p>
          <a:p>
            <a:pPr lvl="0" algn="just">
              <a:buFont typeface="Arial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905BE5-41BC-4B40-B870-F286C9DEB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0736" y="3052800"/>
            <a:ext cx="4776764" cy="33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1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Throughput or Network Throughput is the </a:t>
            </a:r>
            <a:r>
              <a:rPr lang="en-IN" dirty="0">
                <a:solidFill>
                  <a:srgbClr val="C00000"/>
                </a:solidFill>
              </a:rPr>
              <a:t>rate of successful message delivery </a:t>
            </a:r>
            <a:r>
              <a:rPr lang="en-IN" dirty="0"/>
              <a:t>over a communication channel. </a:t>
            </a:r>
            <a:endParaRPr lang="en-US" dirty="0"/>
          </a:p>
          <a:p>
            <a:pPr lvl="0" algn="just"/>
            <a:r>
              <a:rPr lang="en-IN" dirty="0"/>
              <a:t>Throughput is measured in bits(data) per second (bit/s or bps)</a:t>
            </a:r>
          </a:p>
          <a:p>
            <a:pPr lvl="0"/>
            <a:r>
              <a:rPr lang="en-IN" dirty="0"/>
              <a:t>If </a:t>
            </a:r>
            <a:r>
              <a:rPr lang="en-US" altLang="en-US" dirty="0">
                <a:latin typeface="Gill Sans MT" charset="0"/>
              </a:rPr>
              <a:t>R</a:t>
            </a:r>
            <a:r>
              <a:rPr lang="en-US" altLang="en-US" sz="3200" baseline="-25000" dirty="0">
                <a:latin typeface="Gill Sans MT" charset="0"/>
              </a:rPr>
              <a:t>s</a:t>
            </a:r>
            <a:r>
              <a:rPr lang="en-US" altLang="en-US" sz="3200" dirty="0">
                <a:latin typeface="Gill Sans MT" charset="0"/>
              </a:rPr>
              <a:t> &lt; </a:t>
            </a:r>
            <a:r>
              <a:rPr lang="en-US" altLang="en-US" dirty="0" err="1">
                <a:latin typeface="Gill Sans MT" charset="0"/>
              </a:rPr>
              <a:t>R</a:t>
            </a:r>
            <a:r>
              <a:rPr lang="en-US" altLang="en-US" sz="3200" baseline="-25000" dirty="0" err="1">
                <a:latin typeface="Gill Sans MT" charset="0"/>
              </a:rPr>
              <a:t>c</a:t>
            </a:r>
            <a:r>
              <a:rPr lang="en-US" altLang="en-US" sz="3200" baseline="-25000" dirty="0">
                <a:latin typeface="Gill Sans MT" charset="0"/>
              </a:rPr>
              <a:t> </a:t>
            </a:r>
            <a:r>
              <a:rPr lang="en-US" altLang="en-US" sz="3200" dirty="0">
                <a:latin typeface="Gill Sans MT" charset="0"/>
              </a:rPr>
              <a:t> </a:t>
            </a:r>
            <a:r>
              <a:rPr lang="en-US" altLang="en-US" dirty="0"/>
              <a:t> then average end-to-end throughput will be </a:t>
            </a:r>
            <a:r>
              <a:rPr lang="en-US" altLang="en-US" dirty="0">
                <a:latin typeface="Gill Sans MT" charset="0"/>
              </a:rPr>
              <a:t>R</a:t>
            </a:r>
            <a:r>
              <a:rPr lang="en-US" altLang="en-US" sz="3200" baseline="-25000" dirty="0">
                <a:latin typeface="Gill Sans MT" charset="0"/>
              </a:rPr>
              <a:t>s</a:t>
            </a:r>
            <a:r>
              <a:rPr lang="en-US" altLang="en-US" dirty="0"/>
              <a:t> </a:t>
            </a:r>
            <a:r>
              <a:rPr lang="en-US" altLang="en-US" sz="3200" dirty="0">
                <a:latin typeface="Gill Sans MT" charset="0"/>
              </a:rPr>
              <a:t> </a:t>
            </a:r>
          </a:p>
          <a:p>
            <a:r>
              <a:rPr lang="en-IN" dirty="0"/>
              <a:t>If </a:t>
            </a:r>
            <a:r>
              <a:rPr lang="en-US" altLang="en-US" dirty="0" err="1">
                <a:latin typeface="Gill Sans MT" charset="0"/>
              </a:rPr>
              <a:t>R</a:t>
            </a:r>
            <a:r>
              <a:rPr lang="en-US" altLang="en-US" sz="3200" baseline="-25000" dirty="0" err="1">
                <a:latin typeface="Gill Sans MT" charset="0"/>
              </a:rPr>
              <a:t>c</a:t>
            </a:r>
            <a:r>
              <a:rPr lang="en-IN" dirty="0"/>
              <a:t> </a:t>
            </a:r>
            <a:r>
              <a:rPr lang="en-US" altLang="en-US" sz="3200" dirty="0">
                <a:latin typeface="Gill Sans MT" charset="0"/>
              </a:rPr>
              <a:t>&lt; </a:t>
            </a:r>
            <a:r>
              <a:rPr lang="en-US" altLang="en-US" dirty="0">
                <a:latin typeface="Gill Sans MT" charset="0"/>
              </a:rPr>
              <a:t>R</a:t>
            </a:r>
            <a:r>
              <a:rPr lang="en-US" altLang="en-US" sz="3200" baseline="-25000" dirty="0">
                <a:latin typeface="Gill Sans MT" charset="0"/>
              </a:rPr>
              <a:t>s </a:t>
            </a:r>
            <a:r>
              <a:rPr lang="en-US" altLang="en-US" sz="3200" dirty="0">
                <a:latin typeface="Gill Sans MT" charset="0"/>
              </a:rPr>
              <a:t> </a:t>
            </a:r>
            <a:r>
              <a:rPr lang="en-US" altLang="en-US" dirty="0"/>
              <a:t> then average end-to-end throughput will be </a:t>
            </a:r>
            <a:r>
              <a:rPr lang="en-US" altLang="en-US" dirty="0" err="1">
                <a:latin typeface="Gill Sans MT" charset="0"/>
              </a:rPr>
              <a:t>R</a:t>
            </a:r>
            <a:r>
              <a:rPr lang="en-US" altLang="en-US" sz="3200" baseline="-25000" dirty="0" err="1">
                <a:latin typeface="Gill Sans MT" charset="0"/>
              </a:rPr>
              <a:t>c</a:t>
            </a:r>
            <a:r>
              <a:rPr lang="en-US" altLang="en-US" sz="3200" baseline="-25000" dirty="0">
                <a:latin typeface="Gill Sans MT" charset="0"/>
              </a:rPr>
              <a:t> </a:t>
            </a:r>
            <a:r>
              <a:rPr lang="en-US" altLang="en-US" sz="3200" dirty="0">
                <a:latin typeface="Gill Sans MT" charset="0"/>
              </a:rPr>
              <a:t> </a:t>
            </a:r>
            <a:r>
              <a:rPr lang="en-US" altLang="en-US" dirty="0"/>
              <a:t> </a:t>
            </a:r>
            <a:r>
              <a:rPr lang="en-US" altLang="en-US" sz="3200" dirty="0">
                <a:latin typeface="Gill Sans MT" charset="0"/>
              </a:rPr>
              <a:t> </a:t>
            </a:r>
          </a:p>
          <a:p>
            <a:endParaRPr lang="en-US" sz="3200" dirty="0">
              <a:latin typeface="Gill Sans MT" charset="0"/>
            </a:endParaRPr>
          </a:p>
          <a:p>
            <a:endParaRPr lang="en-US" sz="3200" dirty="0">
              <a:latin typeface="Gill Sans MT" charset="0"/>
            </a:endParaRPr>
          </a:p>
          <a:p>
            <a:endParaRPr lang="en-US" sz="3200" dirty="0">
              <a:latin typeface="Gill Sans MT" charset="0"/>
            </a:endParaRPr>
          </a:p>
          <a:p>
            <a:endParaRPr lang="en-US" sz="3200" dirty="0">
              <a:latin typeface="Gill Sans MT" charset="0"/>
            </a:endParaRPr>
          </a:p>
          <a:p>
            <a:r>
              <a:rPr lang="en-US" dirty="0"/>
              <a:t>In general, min(</a:t>
            </a:r>
            <a:r>
              <a:rPr lang="en-US" altLang="en-US" dirty="0" err="1">
                <a:latin typeface="Gill Sans MT" charset="0"/>
              </a:rPr>
              <a:t>R</a:t>
            </a:r>
            <a:r>
              <a:rPr lang="en-US" altLang="en-US" sz="3200" baseline="-25000" dirty="0" err="1">
                <a:latin typeface="Gill Sans MT" charset="0"/>
              </a:rPr>
              <a:t>c</a:t>
            </a:r>
            <a:r>
              <a:rPr lang="en-US" altLang="en-US" sz="3200" baseline="-25000" dirty="0">
                <a:latin typeface="Gill Sans MT" charset="0"/>
              </a:rPr>
              <a:t>, </a:t>
            </a:r>
            <a:r>
              <a:rPr lang="en-US" altLang="en-US" dirty="0">
                <a:latin typeface="Gill Sans MT" charset="0"/>
              </a:rPr>
              <a:t>R</a:t>
            </a:r>
            <a:r>
              <a:rPr lang="en-US" altLang="en-US" sz="3200" baseline="-25000" dirty="0">
                <a:latin typeface="Gill Sans MT" charset="0"/>
              </a:rPr>
              <a:t>s).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AutoShape 327"/>
          <p:cNvSpPr>
            <a:spLocks noChangeArrowheads="1"/>
          </p:cNvSpPr>
          <p:nvPr/>
        </p:nvSpPr>
        <p:spPr bwMode="auto">
          <a:xfrm>
            <a:off x="2286001" y="3200401"/>
            <a:ext cx="445035" cy="490215"/>
          </a:xfrm>
          <a:prstGeom prst="can">
            <a:avLst>
              <a:gd name="adj" fmla="val 23491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>
              <a:latin typeface="Times New Roman" charset="0"/>
            </a:endParaRPr>
          </a:p>
        </p:txBody>
      </p:sp>
      <p:grpSp>
        <p:nvGrpSpPr>
          <p:cNvPr id="7" name="Group 64"/>
          <p:cNvGrpSpPr>
            <a:grpSpLocks/>
          </p:cNvGrpSpPr>
          <p:nvPr/>
        </p:nvGrpSpPr>
        <p:grpSpPr bwMode="auto">
          <a:xfrm>
            <a:off x="2796024" y="3537926"/>
            <a:ext cx="313644" cy="739341"/>
            <a:chOff x="4140" y="429"/>
            <a:chExt cx="1425" cy="2396"/>
          </a:xfrm>
        </p:grpSpPr>
        <p:sp>
          <p:nvSpPr>
            <p:cNvPr id="8" name="Freeform 6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66"/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" name="Freeform 6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69"/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3" name="Group 7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8" name="AutoShape 71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9" name="AutoShape 7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" name="Rectangle 73"/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5" name="Group 7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6" name="AutoShape 75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7" name="AutoShape 76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6" name="Rectangle 77"/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" name="Rectangle 78"/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" name="Group 7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" name="AutoShape 8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" name="AutoShape 81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9" name="Freeform 8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8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" name="AutoShape 84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" name="AutoShape 85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1" name="Rectangle 86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2" name="Freeform 8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8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Oval 89"/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Freeform 9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AutoShape 91"/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" name="AutoShape 92"/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" name="Oval 93"/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" name="Oval 94"/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30" name="Oval 95"/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" name="Rectangle 96"/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0" name="Group 61"/>
          <p:cNvGrpSpPr>
            <a:grpSpLocks/>
          </p:cNvGrpSpPr>
          <p:nvPr/>
        </p:nvGrpSpPr>
        <p:grpSpPr bwMode="auto">
          <a:xfrm flipH="1">
            <a:off x="9002498" y="3590162"/>
            <a:ext cx="1061020" cy="988467"/>
            <a:chOff x="-44" y="1473"/>
            <a:chExt cx="981" cy="1105"/>
          </a:xfrm>
        </p:grpSpPr>
        <p:pic>
          <p:nvPicPr>
            <p:cNvPr id="41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6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3" name="Text Box 325"/>
          <p:cNvSpPr txBox="1">
            <a:spLocks noChangeArrowheads="1"/>
          </p:cNvSpPr>
          <p:nvPr/>
        </p:nvSpPr>
        <p:spPr bwMode="auto">
          <a:xfrm>
            <a:off x="2369939" y="4428546"/>
            <a:ext cx="1595309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2000" dirty="0">
                <a:latin typeface="Gill Sans MT" charset="0"/>
              </a:rPr>
              <a:t>server, with</a:t>
            </a:r>
          </a:p>
          <a:p>
            <a:pPr algn="ctr">
              <a:lnSpc>
                <a:spcPct val="85000"/>
              </a:lnSpc>
            </a:pPr>
            <a:r>
              <a:rPr lang="en-US" altLang="en-US" sz="2000" dirty="0">
                <a:latin typeface="Gill Sans MT" charset="0"/>
              </a:rPr>
              <a:t>file of F bits </a:t>
            </a:r>
          </a:p>
          <a:p>
            <a:pPr algn="ctr">
              <a:lnSpc>
                <a:spcPct val="85000"/>
              </a:lnSpc>
            </a:pPr>
            <a:r>
              <a:rPr lang="en-US" altLang="en-US" sz="2000" dirty="0">
                <a:latin typeface="Gill Sans MT" charset="0"/>
              </a:rPr>
              <a:t>send to client</a:t>
            </a:r>
          </a:p>
        </p:txBody>
      </p:sp>
      <p:sp>
        <p:nvSpPr>
          <p:cNvPr id="44" name="Text Box 328"/>
          <p:cNvSpPr txBox="1">
            <a:spLocks noChangeArrowheads="1"/>
          </p:cNvSpPr>
          <p:nvPr/>
        </p:nvSpPr>
        <p:spPr bwMode="auto">
          <a:xfrm>
            <a:off x="4322838" y="4354952"/>
            <a:ext cx="144052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2000" dirty="0">
                <a:latin typeface="Gill Sans MT" charset="0"/>
              </a:rPr>
              <a:t>link capacity</a:t>
            </a:r>
          </a:p>
          <a:p>
            <a:pPr algn="ctr">
              <a:lnSpc>
                <a:spcPct val="85000"/>
              </a:lnSpc>
            </a:pPr>
            <a:r>
              <a:rPr lang="en-US" altLang="en-US" sz="2000" dirty="0">
                <a:latin typeface="Gill Sans MT" charset="0"/>
              </a:rPr>
              <a:t> </a:t>
            </a:r>
            <a:r>
              <a:rPr lang="en-US" altLang="en-US" sz="2000" dirty="0" err="1">
                <a:latin typeface="Gill Sans MT" charset="0"/>
              </a:rPr>
              <a:t>R</a:t>
            </a:r>
            <a:r>
              <a:rPr lang="en-US" altLang="en-US" sz="2800" baseline="-25000" dirty="0" err="1">
                <a:latin typeface="Gill Sans MT" charset="0"/>
              </a:rPr>
              <a:t>s</a:t>
            </a:r>
            <a:r>
              <a:rPr lang="en-US" altLang="en-US" sz="2000" baseline="-25000" dirty="0">
                <a:latin typeface="Gill Sans MT" charset="0"/>
              </a:rPr>
              <a:t> </a:t>
            </a:r>
            <a:r>
              <a:rPr lang="en-US" altLang="en-US" sz="2000" dirty="0">
                <a:latin typeface="Gill Sans MT" charset="0"/>
              </a:rPr>
              <a:t>bits/sec</a:t>
            </a:r>
          </a:p>
        </p:txBody>
      </p:sp>
      <p:sp>
        <p:nvSpPr>
          <p:cNvPr id="45" name="Text Box 329"/>
          <p:cNvSpPr txBox="1">
            <a:spLocks noChangeArrowheads="1"/>
          </p:cNvSpPr>
          <p:nvPr/>
        </p:nvSpPr>
        <p:spPr bwMode="auto">
          <a:xfrm>
            <a:off x="6875785" y="4361648"/>
            <a:ext cx="144052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2000" dirty="0">
                <a:latin typeface="Gill Sans MT" charset="0"/>
              </a:rPr>
              <a:t>link capacity</a:t>
            </a:r>
          </a:p>
          <a:p>
            <a:pPr algn="ctr">
              <a:lnSpc>
                <a:spcPct val="85000"/>
              </a:lnSpc>
            </a:pPr>
            <a:r>
              <a:rPr lang="en-US" altLang="en-US" sz="2000" dirty="0">
                <a:latin typeface="Gill Sans MT" charset="0"/>
              </a:rPr>
              <a:t> </a:t>
            </a:r>
            <a:r>
              <a:rPr lang="en-US" altLang="en-US" sz="2000" dirty="0" err="1">
                <a:latin typeface="Gill Sans MT" charset="0"/>
              </a:rPr>
              <a:t>R</a:t>
            </a:r>
            <a:r>
              <a:rPr lang="en-US" altLang="en-US" sz="2800" baseline="-25000" dirty="0" err="1">
                <a:latin typeface="Gill Sans MT" charset="0"/>
              </a:rPr>
              <a:t>c</a:t>
            </a:r>
            <a:r>
              <a:rPr lang="en-US" altLang="en-US" sz="2000" baseline="-25000" dirty="0">
                <a:latin typeface="Gill Sans MT" charset="0"/>
              </a:rPr>
              <a:t> </a:t>
            </a:r>
            <a:r>
              <a:rPr lang="en-US" altLang="en-US" sz="2000" dirty="0">
                <a:latin typeface="Gill Sans MT" charset="0"/>
              </a:rPr>
              <a:t>bits/sec</a:t>
            </a:r>
          </a:p>
        </p:txBody>
      </p:sp>
      <p:sp>
        <p:nvSpPr>
          <p:cNvPr id="46" name="Line 337"/>
          <p:cNvSpPr>
            <a:spLocks noChangeShapeType="1"/>
          </p:cNvSpPr>
          <p:nvPr/>
        </p:nvSpPr>
        <p:spPr bwMode="auto">
          <a:xfrm flipH="1" flipV="1">
            <a:off x="4595943" y="4158062"/>
            <a:ext cx="251480" cy="25582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347"/>
          <p:cNvSpPr>
            <a:spLocks noChangeShapeType="1"/>
          </p:cNvSpPr>
          <p:nvPr/>
        </p:nvSpPr>
        <p:spPr bwMode="auto">
          <a:xfrm flipH="1" flipV="1">
            <a:off x="7374942" y="4216995"/>
            <a:ext cx="172363" cy="171441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352"/>
          <p:cNvSpPr>
            <a:spLocks noChangeShapeType="1"/>
          </p:cNvSpPr>
          <p:nvPr/>
        </p:nvSpPr>
        <p:spPr bwMode="auto">
          <a:xfrm flipH="1">
            <a:off x="2642029" y="4081717"/>
            <a:ext cx="9889" cy="346901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" name="Group 246"/>
          <p:cNvGrpSpPr>
            <a:grpSpLocks/>
          </p:cNvGrpSpPr>
          <p:nvPr/>
        </p:nvGrpSpPr>
        <p:grpSpPr bwMode="auto">
          <a:xfrm>
            <a:off x="5316478" y="3809821"/>
            <a:ext cx="939519" cy="304041"/>
            <a:chOff x="3600" y="219"/>
            <a:chExt cx="360" cy="175"/>
          </a:xfrm>
        </p:grpSpPr>
        <p:sp>
          <p:nvSpPr>
            <p:cNvPr id="51" name="Oval 24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>
                <a:latin typeface="Times New Roman" charset="0"/>
              </a:endParaRPr>
            </a:p>
          </p:txBody>
        </p:sp>
        <p:sp>
          <p:nvSpPr>
            <p:cNvPr id="52" name="Line 24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24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25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en-US" altLang="en-US">
                <a:latin typeface="Times New Roman" charset="0"/>
              </a:endParaRPr>
            </a:p>
          </p:txBody>
        </p:sp>
        <p:sp>
          <p:nvSpPr>
            <p:cNvPr id="55" name="Oval 25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>
                <a:latin typeface="Times New Roman" charset="0"/>
              </a:endParaRPr>
            </a:p>
          </p:txBody>
        </p:sp>
        <p:grpSp>
          <p:nvGrpSpPr>
            <p:cNvPr id="56" name="Group 25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1" name="Line 2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Line 2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Line 2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7" name="Group 25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58" name="Line 25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Line 25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Line 25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64" name="AutoShape 350"/>
          <p:cNvSpPr>
            <a:spLocks noChangeArrowheads="1"/>
          </p:cNvSpPr>
          <p:nvPr/>
        </p:nvSpPr>
        <p:spPr bwMode="auto">
          <a:xfrm>
            <a:off x="8413356" y="3752227"/>
            <a:ext cx="791174" cy="409852"/>
          </a:xfrm>
          <a:prstGeom prst="rightArrow">
            <a:avLst>
              <a:gd name="adj1" fmla="val 50000"/>
              <a:gd name="adj2" fmla="val 45752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>
              <a:latin typeface="Times New Roman" charset="0"/>
            </a:endParaRPr>
          </a:p>
        </p:txBody>
      </p:sp>
      <p:grpSp>
        <p:nvGrpSpPr>
          <p:cNvPr id="65" name="Group 335"/>
          <p:cNvGrpSpPr>
            <a:grpSpLocks/>
          </p:cNvGrpSpPr>
          <p:nvPr/>
        </p:nvGrpSpPr>
        <p:grpSpPr bwMode="auto">
          <a:xfrm>
            <a:off x="3178897" y="3781694"/>
            <a:ext cx="2066941" cy="330828"/>
            <a:chOff x="2249" y="3430"/>
            <a:chExt cx="1389" cy="256"/>
          </a:xfrm>
        </p:grpSpPr>
        <p:sp>
          <p:nvSpPr>
            <p:cNvPr id="66" name="Oval 333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" name="Rectangle 332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8" name="Oval 331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>
                <a:latin typeface="Times New Roman" charset="0"/>
              </a:endParaRPr>
            </a:p>
          </p:txBody>
        </p:sp>
        <p:sp>
          <p:nvSpPr>
            <p:cNvPr id="69" name="Rectangle 334"/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70" name="Group 341"/>
          <p:cNvGrpSpPr>
            <a:grpSpLocks/>
          </p:cNvGrpSpPr>
          <p:nvPr/>
        </p:nvGrpSpPr>
        <p:grpSpPr bwMode="auto">
          <a:xfrm>
            <a:off x="6288123" y="3708656"/>
            <a:ext cx="2493609" cy="490215"/>
            <a:chOff x="2249" y="3430"/>
            <a:chExt cx="1389" cy="256"/>
          </a:xfrm>
        </p:grpSpPr>
        <p:sp>
          <p:nvSpPr>
            <p:cNvPr id="71" name="Oval 342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2" name="Rectangle 343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3" name="Oval 344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>
                <a:latin typeface="Times New Roman" charset="0"/>
              </a:endParaRPr>
            </a:p>
          </p:txBody>
        </p:sp>
        <p:sp>
          <p:nvSpPr>
            <p:cNvPr id="74" name="Rectangle 345"/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79" name="AutoShape 351"/>
          <p:cNvSpPr>
            <a:spLocks noChangeArrowheads="1"/>
          </p:cNvSpPr>
          <p:nvPr/>
        </p:nvSpPr>
        <p:spPr bwMode="auto">
          <a:xfrm>
            <a:off x="5250076" y="3276601"/>
            <a:ext cx="1138725" cy="409852"/>
          </a:xfrm>
          <a:prstGeom prst="rightArrow">
            <a:avLst>
              <a:gd name="adj1" fmla="val 50000"/>
              <a:gd name="adj2" fmla="val 6585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>
              <a:latin typeface="Times New Roman" charset="0"/>
            </a:endParaRPr>
          </a:p>
        </p:txBody>
      </p:sp>
      <p:sp>
        <p:nvSpPr>
          <p:cNvPr id="80" name="AutoShape 349"/>
          <p:cNvSpPr>
            <a:spLocks noChangeArrowheads="1"/>
          </p:cNvSpPr>
          <p:nvPr/>
        </p:nvSpPr>
        <p:spPr bwMode="auto">
          <a:xfrm flipV="1">
            <a:off x="2380658" y="3531229"/>
            <a:ext cx="867465" cy="608081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9353468" y="442608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5960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3" grpId="0"/>
      <p:bldP spid="44" grpId="0"/>
      <p:bldP spid="45" grpId="0"/>
      <p:bldP spid="46" grpId="0" animBg="1"/>
      <p:bldP spid="47" grpId="0" animBg="1"/>
      <p:bldP spid="48" grpId="0" animBg="1"/>
      <p:bldP spid="64" grpId="0" animBg="1"/>
      <p:bldP spid="79" grpId="0" animBg="1"/>
      <p:bldP spid="80" grpId="0" animBg="1"/>
      <p:bldP spid="83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2CB84-94D9-45CC-AA06-6CA53E1E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</a:t>
            </a:r>
            <a:r>
              <a:rPr lang="en-US" dirty="0" err="1"/>
              <a:t>conti</a:t>
            </a:r>
            <a:r>
              <a:rPr lang="en-US" dirty="0"/>
              <a:t>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91C89-6935-40EA-A316-78E82E7E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When there is 10 connections</a:t>
            </a:r>
          </a:p>
          <a:p>
            <a:r>
              <a:rPr lang="en-US" dirty="0"/>
              <a:t>Per-connection throughput =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min(</a:t>
            </a:r>
            <a:r>
              <a:rPr lang="en-US" b="1" i="1" dirty="0" err="1"/>
              <a:t>Rc</a:t>
            </a:r>
            <a:r>
              <a:rPr lang="en-US" b="1" dirty="0"/>
              <a:t>​,</a:t>
            </a:r>
            <a:r>
              <a:rPr lang="en-US" b="1" i="1" dirty="0"/>
              <a:t>Rs</a:t>
            </a:r>
            <a:r>
              <a:rPr lang="en-US" b="1" dirty="0"/>
              <a:t>​,</a:t>
            </a:r>
            <a:r>
              <a:rPr lang="en-US" b="1" i="1" dirty="0"/>
              <a:t>R/10</a:t>
            </a:r>
            <a:r>
              <a:rPr lang="en-US" b="1" dirty="0"/>
              <a:t>​)</a:t>
            </a:r>
          </a:p>
          <a:p>
            <a:r>
              <a:rPr lang="en-US" b="1" i="1" dirty="0" err="1"/>
              <a:t>Rc</a:t>
            </a:r>
            <a:r>
              <a:rPr lang="en-US" b="1" dirty="0"/>
              <a:t>​</a:t>
            </a:r>
            <a:r>
              <a:rPr lang="en-US" dirty="0"/>
              <a:t>: The capacity of the </a:t>
            </a:r>
            <a:r>
              <a:rPr lang="en-US" b="1" dirty="0"/>
              <a:t>client's access link</a:t>
            </a:r>
            <a:r>
              <a:rPr lang="en-US" dirty="0"/>
              <a:t> </a:t>
            </a:r>
          </a:p>
          <a:p>
            <a:r>
              <a:rPr lang="en-US" b="1" dirty="0"/>
              <a:t>Rs​</a:t>
            </a:r>
            <a:r>
              <a:rPr lang="en-US" dirty="0"/>
              <a:t>: The capacity of the </a:t>
            </a:r>
            <a:r>
              <a:rPr lang="en-US" b="1" dirty="0"/>
              <a:t>server's access link</a:t>
            </a:r>
            <a:r>
              <a:rPr lang="en-US" dirty="0"/>
              <a:t> </a:t>
            </a:r>
          </a:p>
          <a:p>
            <a:r>
              <a:rPr lang="en-US" b="1" dirty="0"/>
              <a:t>R/10​</a:t>
            </a:r>
            <a:r>
              <a:rPr lang="en-US" dirty="0"/>
              <a:t>: The </a:t>
            </a:r>
            <a:r>
              <a:rPr lang="en-US" b="1" dirty="0"/>
              <a:t>fair share of the bottleneck link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   when 10 connections are sharing it.</a:t>
            </a:r>
          </a:p>
          <a:p>
            <a:pPr lvl="1"/>
            <a:r>
              <a:rPr lang="en-US" dirty="0"/>
              <a:t>R is the total capacity of the </a:t>
            </a:r>
            <a:r>
              <a:rPr lang="en-US" b="1" dirty="0"/>
              <a:t>bottleneck link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Since 10 connections are sharing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8" name="Picture 4" descr="Solved Consider the scenario shown below, with 10 different | Chegg.com">
            <a:extLst>
              <a:ext uri="{FF2B5EF4-FFF2-40B4-BE49-F238E27FC236}">
                <a16:creationId xmlns:a16="http://schemas.microsoft.com/office/drawing/2014/main" id="{D70C1841-C258-4599-82A4-ADB05ACEB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767" y="993914"/>
            <a:ext cx="5014981" cy="4579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08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Computer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1961-1972 : The development of Packet Switching</a:t>
            </a:r>
          </a:p>
          <a:p>
            <a:r>
              <a:rPr lang="en-US" dirty="0"/>
              <a:t>1972-1980 : Proprietary Network and Internetworking</a:t>
            </a:r>
          </a:p>
          <a:p>
            <a:r>
              <a:rPr lang="en-US" dirty="0"/>
              <a:t>1980-1990 : A Proliferation of Networks</a:t>
            </a:r>
          </a:p>
          <a:p>
            <a:r>
              <a:rPr lang="en-US" dirty="0"/>
              <a:t>1990s : The Internet Explosion</a:t>
            </a:r>
          </a:p>
          <a:p>
            <a:r>
              <a:rPr lang="en-US" dirty="0"/>
              <a:t>Recent Developments</a:t>
            </a:r>
            <a:r>
              <a:rPr lang="is-IS" dirty="0"/>
              <a:t>…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66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Outline - Revised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rmAutofit/>
          </a:bodyPr>
          <a:lstStyle/>
          <a:p>
            <a:r>
              <a:rPr lang="en-US" dirty="0"/>
              <a:t>What is Computer Network? </a:t>
            </a:r>
            <a:r>
              <a:rPr lang="en-US" dirty="0">
                <a:solidFill>
                  <a:srgbClr val="C00000"/>
                </a:solidFill>
              </a:rPr>
              <a:t>Connected each other</a:t>
            </a:r>
          </a:p>
          <a:p>
            <a:r>
              <a:rPr lang="en-US" dirty="0"/>
              <a:t>Advantages of Computer Network	</a:t>
            </a:r>
          </a:p>
          <a:p>
            <a:r>
              <a:rPr lang="en-US" dirty="0"/>
              <a:t>Applications of Computer Network</a:t>
            </a:r>
          </a:p>
          <a:p>
            <a:r>
              <a:rPr lang="en-US" dirty="0"/>
              <a:t>Type of Computer Network</a:t>
            </a:r>
            <a:r>
              <a:rPr lang="gu-IN" dirty="0"/>
              <a:t> </a:t>
            </a:r>
            <a:r>
              <a:rPr lang="en-US" dirty="0">
                <a:solidFill>
                  <a:srgbClr val="C00000"/>
                </a:solidFill>
              </a:rPr>
              <a:t>LAN, MAN, WAN</a:t>
            </a:r>
          </a:p>
          <a:p>
            <a:pPr lvl="0"/>
            <a:r>
              <a:rPr lang="en-US" dirty="0"/>
              <a:t>What is Internet? </a:t>
            </a:r>
            <a:r>
              <a:rPr lang="en-US" dirty="0">
                <a:solidFill>
                  <a:srgbClr val="C00000"/>
                </a:solidFill>
              </a:rPr>
              <a:t>Infinite </a:t>
            </a:r>
            <a:r>
              <a:rPr lang="en-IN" dirty="0">
                <a:solidFill>
                  <a:srgbClr val="C00000"/>
                </a:solidFill>
              </a:rPr>
              <a:t>nos. of connected computers across the world 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What is Protocol? 	</a:t>
            </a:r>
            <a:r>
              <a:rPr lang="en-US" dirty="0">
                <a:solidFill>
                  <a:srgbClr val="C00000"/>
                </a:solidFill>
              </a:rPr>
              <a:t>Set of Rules</a:t>
            </a:r>
          </a:p>
          <a:p>
            <a:r>
              <a:rPr lang="en-US" dirty="0"/>
              <a:t>The Network Edge  </a:t>
            </a:r>
            <a:r>
              <a:rPr lang="en-US" dirty="0">
                <a:solidFill>
                  <a:srgbClr val="C00000"/>
                </a:solidFill>
              </a:rPr>
              <a:t>Host-end system &amp; edge router</a:t>
            </a:r>
          </a:p>
          <a:p>
            <a:r>
              <a:rPr lang="en-US" dirty="0"/>
              <a:t>The Network Core  </a:t>
            </a:r>
            <a:r>
              <a:rPr lang="en-US" dirty="0">
                <a:solidFill>
                  <a:srgbClr val="C00000"/>
                </a:solidFill>
              </a:rPr>
              <a:t>Circuit Switched &amp; Packet Switched</a:t>
            </a:r>
          </a:p>
          <a:p>
            <a:r>
              <a:rPr lang="en-US" dirty="0"/>
              <a:t>Transmission Media </a:t>
            </a:r>
            <a:r>
              <a:rPr lang="en-US" dirty="0">
                <a:solidFill>
                  <a:srgbClr val="C00000"/>
                </a:solidFill>
              </a:rPr>
              <a:t>Guided- Wired &amp; Unguided-Wireless</a:t>
            </a:r>
          </a:p>
          <a:p>
            <a:r>
              <a:rPr lang="en-US" dirty="0"/>
              <a:t>Network Topologies </a:t>
            </a:r>
            <a:r>
              <a:rPr lang="en-US" dirty="0">
                <a:solidFill>
                  <a:srgbClr val="C00000"/>
                </a:solidFill>
              </a:rPr>
              <a:t>Bus, Ring, Star, Mesh, Tree, &amp; Hybrid</a:t>
            </a:r>
          </a:p>
          <a:p>
            <a:r>
              <a:rPr lang="en-US" dirty="0"/>
              <a:t>Protocol Layers </a:t>
            </a:r>
            <a:r>
              <a:rPr lang="en-US" dirty="0">
                <a:solidFill>
                  <a:srgbClr val="C00000"/>
                </a:solidFill>
              </a:rPr>
              <a:t>OSI Layer &amp; TCP/IP Layer</a:t>
            </a:r>
          </a:p>
          <a:p>
            <a:r>
              <a:rPr lang="en-US" dirty="0"/>
              <a:t>Delay, Loss &amp; Throughput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03992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Devangi.kotak@darshan.ac.in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Devangi</a:t>
            </a:r>
            <a:r>
              <a:rPr lang="en-US" dirty="0"/>
              <a:t> L. Kotak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549BA2-2678-C31B-B591-92E6E66952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#2305CS332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2BC776E-41A8-4659-A3F0-C48BFCBA0F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55" r="38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67651000"/>
      </p:ext>
    </p:extLst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deo Lecture 16x9 Light Template" id="{9B038876-6117-C44D-A8E1-0C9F5A6D484A}" vid="{1BA50858-3F7D-8A4C-807F-EF4253F7FE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VIdeo Lecture 16x9 Light Template</Template>
  <TotalTime>37709</TotalTime>
  <Words>7417</Words>
  <Application>Microsoft Office PowerPoint</Application>
  <PresentationFormat>Widescreen</PresentationFormat>
  <Paragraphs>1103</Paragraphs>
  <Slides>118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34" baseType="lpstr">
      <vt:lpstr>ＭＳ Ｐゴシック</vt:lpstr>
      <vt:lpstr>Arial</vt:lpstr>
      <vt:lpstr>Calibri</vt:lpstr>
      <vt:lpstr>Gill Sans MT</vt:lpstr>
      <vt:lpstr>Open Sans</vt:lpstr>
      <vt:lpstr>Open Sans SemiBold</vt:lpstr>
      <vt:lpstr>Open Sans SemiBold</vt:lpstr>
      <vt:lpstr>Roboto Condensed</vt:lpstr>
      <vt:lpstr>Roboto Condensed Light</vt:lpstr>
      <vt:lpstr>Segoe UI Black</vt:lpstr>
      <vt:lpstr>Times New Roman</vt:lpstr>
      <vt:lpstr>Wingdings</vt:lpstr>
      <vt:lpstr>Wingdings 2</vt:lpstr>
      <vt:lpstr>Wingdings 3</vt:lpstr>
      <vt:lpstr>ZapfDingbatsITC</vt:lpstr>
      <vt:lpstr>VIdeo Lecture 16x9 Light Template</vt:lpstr>
      <vt:lpstr>Unit-1 Introduction to  Computer Networks </vt:lpstr>
      <vt:lpstr>PowerPoint Presentation</vt:lpstr>
      <vt:lpstr>What is Computer Network?</vt:lpstr>
      <vt:lpstr>Advantages of Computer Network</vt:lpstr>
      <vt:lpstr>Advantages of Computer Network</vt:lpstr>
      <vt:lpstr>Applications of Computer Network</vt:lpstr>
      <vt:lpstr>Types of Computer Network</vt:lpstr>
      <vt:lpstr>Local Area Network</vt:lpstr>
      <vt:lpstr>Metropolitan Area Network</vt:lpstr>
      <vt:lpstr>Wide Area Network</vt:lpstr>
      <vt:lpstr>Types of Computer Networks - Summary</vt:lpstr>
      <vt:lpstr>Types of Computer Networks - Summary</vt:lpstr>
      <vt:lpstr>What is Internet?</vt:lpstr>
      <vt:lpstr>What is Protocol?</vt:lpstr>
      <vt:lpstr>A closure look at network structure</vt:lpstr>
      <vt:lpstr>The Network Edge</vt:lpstr>
      <vt:lpstr>The Network Edge</vt:lpstr>
      <vt:lpstr>Peer to Peer Network</vt:lpstr>
      <vt:lpstr>Client – Server Network</vt:lpstr>
      <vt:lpstr>The Network Core</vt:lpstr>
      <vt:lpstr>Circuit Switched Network</vt:lpstr>
      <vt:lpstr>Circuit Switched Network – Cont…</vt:lpstr>
      <vt:lpstr>Packet Switched Network</vt:lpstr>
      <vt:lpstr>Differences</vt:lpstr>
      <vt:lpstr>Switching Network</vt:lpstr>
      <vt:lpstr>Transmission Media</vt:lpstr>
      <vt:lpstr>Transmission Media</vt:lpstr>
      <vt:lpstr>Guided Media </vt:lpstr>
      <vt:lpstr>Twisted Pair Cable</vt:lpstr>
      <vt:lpstr>Twisted Pair Cable - Cont.</vt:lpstr>
      <vt:lpstr>Unshielded Twisted Pair Cable</vt:lpstr>
      <vt:lpstr>Unshielded Twisted Pair Cable</vt:lpstr>
      <vt:lpstr>Shielded Twisted Pair Cable</vt:lpstr>
      <vt:lpstr>Coaxial Cable</vt:lpstr>
      <vt:lpstr>Coaxial Cable – Cont. </vt:lpstr>
      <vt:lpstr>Coaxial Cable – Cont. </vt:lpstr>
      <vt:lpstr>Fiber Optic Cable</vt:lpstr>
      <vt:lpstr>Fiber Optic Cable – Cont.</vt:lpstr>
      <vt:lpstr>Fiber Optic Cable – Advantages</vt:lpstr>
      <vt:lpstr>Unguided Media</vt:lpstr>
      <vt:lpstr>Radio Wave</vt:lpstr>
      <vt:lpstr>Radio Wave – Cont.</vt:lpstr>
      <vt:lpstr>Microwave</vt:lpstr>
      <vt:lpstr>Microwave - Characteristics</vt:lpstr>
      <vt:lpstr>Terrestrial Microwave Transmission</vt:lpstr>
      <vt:lpstr>Terrestrial Microwave Transmission – Cont.</vt:lpstr>
      <vt:lpstr>Satellite Microwave Communication</vt:lpstr>
      <vt:lpstr>Satellite Microwave Communication – Cont.</vt:lpstr>
      <vt:lpstr>Infrared wave</vt:lpstr>
      <vt:lpstr>Infrared Wave - Characteristics</vt:lpstr>
      <vt:lpstr>Network Topologies</vt:lpstr>
      <vt:lpstr>Network Topologies</vt:lpstr>
      <vt:lpstr>Bus Topology</vt:lpstr>
      <vt:lpstr>Bus Topology – Advantages</vt:lpstr>
      <vt:lpstr>Bus Topology – Disadvantages</vt:lpstr>
      <vt:lpstr>Ring Topology</vt:lpstr>
      <vt:lpstr>Ring Topology – Advantages</vt:lpstr>
      <vt:lpstr>Ring Topology – Disadvantages</vt:lpstr>
      <vt:lpstr>Star Topology</vt:lpstr>
      <vt:lpstr>Star Topology - Advantages</vt:lpstr>
      <vt:lpstr>Star Topology - Disadvantages</vt:lpstr>
      <vt:lpstr>Mesh Topology</vt:lpstr>
      <vt:lpstr>Mesh Topology - Advantages</vt:lpstr>
      <vt:lpstr>Mesh Topology - Disadvantages</vt:lpstr>
      <vt:lpstr>Tree Topology</vt:lpstr>
      <vt:lpstr>Tree Topology - Advantages</vt:lpstr>
      <vt:lpstr>Tree Topology - Disadvantages</vt:lpstr>
      <vt:lpstr>Hybrid Topology</vt:lpstr>
      <vt:lpstr>Comparison of Topologies</vt:lpstr>
      <vt:lpstr>Protocol Layers</vt:lpstr>
      <vt:lpstr>Protocols Layers</vt:lpstr>
      <vt:lpstr>Example – Air Plane Travel</vt:lpstr>
      <vt:lpstr>How OSI Layer Works?</vt:lpstr>
      <vt:lpstr>Open Systems Interconnect (OSI) OSI Reference Model</vt:lpstr>
      <vt:lpstr>Application Layer</vt:lpstr>
      <vt:lpstr>Application Layer</vt:lpstr>
      <vt:lpstr>Functions of Application layer</vt:lpstr>
      <vt:lpstr>Application Layer – Cont.</vt:lpstr>
      <vt:lpstr>Presentation Layer</vt:lpstr>
      <vt:lpstr>Presentation Layer</vt:lpstr>
      <vt:lpstr>Functions of Presentation layer</vt:lpstr>
      <vt:lpstr>Presentation Layer – Cont.</vt:lpstr>
      <vt:lpstr>Session Layer</vt:lpstr>
      <vt:lpstr>Functions of Session layer</vt:lpstr>
      <vt:lpstr>Session Layer – Cont…</vt:lpstr>
      <vt:lpstr>Transport Layer</vt:lpstr>
      <vt:lpstr>Functions of Transport Layer</vt:lpstr>
      <vt:lpstr>Transport Layer – Cont.</vt:lpstr>
      <vt:lpstr>Network Layer</vt:lpstr>
      <vt:lpstr>Functions of Network Layer</vt:lpstr>
      <vt:lpstr>Network Layer – Cont…</vt:lpstr>
      <vt:lpstr>Data Link Layer</vt:lpstr>
      <vt:lpstr>Data-Link Layer – Cont.</vt:lpstr>
      <vt:lpstr>Data-Link Layer – Cont.</vt:lpstr>
      <vt:lpstr>Functions of the Data-link layer</vt:lpstr>
      <vt:lpstr>Functions of the Data-link layer</vt:lpstr>
      <vt:lpstr>Data Link Layer – Cont.</vt:lpstr>
      <vt:lpstr>Physical Layer</vt:lpstr>
      <vt:lpstr>Physical Layer</vt:lpstr>
      <vt:lpstr>Functions of a Physical layer</vt:lpstr>
      <vt:lpstr>Physical Layer – Cont. </vt:lpstr>
      <vt:lpstr>Summary – OSI Layer</vt:lpstr>
      <vt:lpstr>TCP/IP Reference Model  (Transmission Control Protocol/Internet Protocol)</vt:lpstr>
      <vt:lpstr>TCP/IP Model Architecture</vt:lpstr>
      <vt:lpstr>Comparison</vt:lpstr>
      <vt:lpstr>Difference - OSI Model and TCP/IP Protocol Layers</vt:lpstr>
      <vt:lpstr>Protocol Layers: Summary</vt:lpstr>
      <vt:lpstr>Delay, Loss &amp; Throughput</vt:lpstr>
      <vt:lpstr>Delay – Cont…</vt:lpstr>
      <vt:lpstr>Delay – Cont…</vt:lpstr>
      <vt:lpstr>Delay – Cont…</vt:lpstr>
      <vt:lpstr>Delay – Cont…</vt:lpstr>
      <vt:lpstr>Packet Loss</vt:lpstr>
      <vt:lpstr>Throughput</vt:lpstr>
      <vt:lpstr>Throughput conti..</vt:lpstr>
      <vt:lpstr>History of Computer Networks</vt:lpstr>
      <vt:lpstr>Outline - Revised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Maulik Trivedi</dc:creator>
  <cp:lastModifiedBy>HP</cp:lastModifiedBy>
  <cp:revision>165</cp:revision>
  <dcterms:created xsi:type="dcterms:W3CDTF">2020-06-29T07:50:49Z</dcterms:created>
  <dcterms:modified xsi:type="dcterms:W3CDTF">2026-07-20T03:43:32Z</dcterms:modified>
</cp:coreProperties>
</file>