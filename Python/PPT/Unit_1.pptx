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crdownload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5"/>
  </p:notesMasterIdLst>
  <p:sldIdLst>
    <p:sldId id="308" r:id="rId2"/>
    <p:sldId id="352" r:id="rId3"/>
    <p:sldId id="353" r:id="rId4"/>
    <p:sldId id="406" r:id="rId5"/>
    <p:sldId id="310" r:id="rId6"/>
    <p:sldId id="407" r:id="rId7"/>
    <p:sldId id="420" r:id="rId8"/>
    <p:sldId id="483" r:id="rId9"/>
    <p:sldId id="482" r:id="rId10"/>
    <p:sldId id="484" r:id="rId11"/>
    <p:sldId id="431" r:id="rId12"/>
    <p:sldId id="485" r:id="rId13"/>
    <p:sldId id="363" r:id="rId14"/>
    <p:sldId id="486" r:id="rId15"/>
    <p:sldId id="364" r:id="rId16"/>
    <p:sldId id="487" r:id="rId17"/>
    <p:sldId id="312" r:id="rId18"/>
    <p:sldId id="493" r:id="rId19"/>
    <p:sldId id="440" r:id="rId20"/>
    <p:sldId id="313" r:id="rId21"/>
    <p:sldId id="489" r:id="rId22"/>
    <p:sldId id="488" r:id="rId23"/>
    <p:sldId id="490" r:id="rId24"/>
    <p:sldId id="491" r:id="rId25"/>
    <p:sldId id="492" r:id="rId26"/>
    <p:sldId id="494" r:id="rId27"/>
    <p:sldId id="362" r:id="rId28"/>
    <p:sldId id="495" r:id="rId29"/>
    <p:sldId id="409" r:id="rId30"/>
    <p:sldId id="499" r:id="rId31"/>
    <p:sldId id="360" r:id="rId32"/>
    <p:sldId id="501" r:id="rId33"/>
    <p:sldId id="496" r:id="rId34"/>
    <p:sldId id="359" r:id="rId35"/>
    <p:sldId id="497" r:id="rId36"/>
    <p:sldId id="498" r:id="rId37"/>
    <p:sldId id="361" r:id="rId38"/>
    <p:sldId id="316" r:id="rId39"/>
    <p:sldId id="356" r:id="rId40"/>
    <p:sldId id="357" r:id="rId41"/>
    <p:sldId id="500" r:id="rId42"/>
    <p:sldId id="481" r:id="rId43"/>
    <p:sldId id="370" r:id="rId44"/>
    <p:sldId id="502" r:id="rId45"/>
    <p:sldId id="314" r:id="rId46"/>
    <p:sldId id="503" r:id="rId47"/>
    <p:sldId id="411" r:id="rId48"/>
    <p:sldId id="504" r:id="rId49"/>
    <p:sldId id="505" r:id="rId50"/>
    <p:sldId id="506" r:id="rId51"/>
    <p:sldId id="507" r:id="rId52"/>
    <p:sldId id="508" r:id="rId53"/>
    <p:sldId id="442" r:id="rId54"/>
    <p:sldId id="509" r:id="rId55"/>
    <p:sldId id="510" r:id="rId56"/>
    <p:sldId id="358" r:id="rId57"/>
    <p:sldId id="511" r:id="rId58"/>
    <p:sldId id="512" r:id="rId59"/>
    <p:sldId id="513" r:id="rId60"/>
    <p:sldId id="320" r:id="rId61"/>
    <p:sldId id="514" r:id="rId62"/>
    <p:sldId id="515" r:id="rId63"/>
    <p:sldId id="321" r:id="rId64"/>
    <p:sldId id="322" r:id="rId65"/>
    <p:sldId id="516" r:id="rId66"/>
    <p:sldId id="517" r:id="rId67"/>
    <p:sldId id="365" r:id="rId68"/>
    <p:sldId id="323" r:id="rId69"/>
    <p:sldId id="354" r:id="rId70"/>
    <p:sldId id="366" r:id="rId71"/>
    <p:sldId id="522" r:id="rId72"/>
    <p:sldId id="518" r:id="rId73"/>
    <p:sldId id="412" r:id="rId74"/>
    <p:sldId id="519" r:id="rId75"/>
    <p:sldId id="346" r:id="rId76"/>
    <p:sldId id="454" r:id="rId77"/>
    <p:sldId id="347" r:id="rId78"/>
    <p:sldId id="368" r:id="rId79"/>
    <p:sldId id="455" r:id="rId80"/>
    <p:sldId id="456" r:id="rId81"/>
    <p:sldId id="348" r:id="rId82"/>
    <p:sldId id="457" r:id="rId83"/>
    <p:sldId id="458" r:id="rId84"/>
    <p:sldId id="520" r:id="rId85"/>
    <p:sldId id="349" r:id="rId86"/>
    <p:sldId id="459" r:id="rId87"/>
    <p:sldId id="373" r:id="rId88"/>
    <p:sldId id="521" r:id="rId89"/>
    <p:sldId id="384" r:id="rId90"/>
    <p:sldId id="385" r:id="rId91"/>
    <p:sldId id="382" r:id="rId92"/>
    <p:sldId id="383" r:id="rId93"/>
    <p:sldId id="426" r:id="rId94"/>
  </p:sldIdLst>
  <p:sldSz cx="12192000" cy="6858000"/>
  <p:notesSz cx="6858000" cy="9144000"/>
  <p:embeddedFontLst>
    <p:embeddedFont>
      <p:font typeface="Calibri" panose="020F0502020204030204" pitchFamily="34" charset="0"/>
      <p:regular r:id="rId96"/>
      <p:bold r:id="rId97"/>
      <p:italic r:id="rId98"/>
      <p:boldItalic r:id="rId99"/>
    </p:embeddedFont>
    <p:embeddedFont>
      <p:font typeface="Consolas" panose="020B0609020204030204" pitchFamily="49" charset="0"/>
      <p:regular r:id="rId100"/>
      <p:bold r:id="rId101"/>
      <p:italic r:id="rId102"/>
      <p:boldItalic r:id="rId103"/>
    </p:embeddedFont>
    <p:embeddedFont>
      <p:font typeface="Arial Rounded MT Bold" panose="020F0704030504030204" pitchFamily="34" charset="0"/>
      <p:regular r:id="rId104"/>
    </p:embeddedFont>
    <p:embeddedFont>
      <p:font typeface="Ebrima" panose="02000000000000000000" pitchFamily="2" charset="0"/>
      <p:regular r:id="rId105"/>
      <p:bold r:id="rId106"/>
    </p:embeddedFont>
    <p:embeddedFont>
      <p:font typeface="Wingdings 3" panose="05040102010807070707" pitchFamily="18" charset="2"/>
      <p:regular r:id="rId107"/>
    </p:embeddedFont>
    <p:embeddedFont>
      <p:font typeface="Roboto Condensed" panose="02000000000000000000" pitchFamily="2" charset="0"/>
      <p:regular r:id="rId108"/>
      <p:bold r:id="rId109"/>
      <p:italic r:id="rId110"/>
      <p:boldItalic r:id="rId111"/>
    </p:embeddedFont>
    <p:embeddedFont>
      <p:font typeface="Segoe UI Black" panose="020B0A02040204020203" pitchFamily="34" charset="0"/>
      <p:bold r:id="rId112"/>
      <p:boldItalic r:id="rId113"/>
    </p:embeddedFont>
    <p:embeddedFont>
      <p:font typeface="Wingdings 2" panose="05020102010507070707" pitchFamily="18" charset="2"/>
      <p:regular r:id="rId114"/>
    </p:embeddedFont>
    <p:embeddedFont>
      <p:font typeface="Roboto Condensed Light" panose="02000000000000000000" pitchFamily="2" charset="0"/>
      <p:regular r:id="rId115"/>
      <p:italic r:id="rId1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YGRTyLzv+78QB/g6MMp/2A==" hashData="SFkIdwKlvvTywaZCp/dZPRPNRwbdVxlD5+360bcPlM/DhrS/aWP+gVsZgP/mMuLTzHd4xiVMO5s6yVOORWG4rQ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1B1C"/>
    <a:srgbClr val="EA1E63"/>
    <a:srgbClr val="301B92"/>
    <a:srgbClr val="C62827"/>
    <a:srgbClr val="D81A60"/>
    <a:srgbClr val="673BB7"/>
    <a:srgbClr val="607D8B"/>
    <a:srgbClr val="ED524F"/>
    <a:srgbClr val="F54337"/>
    <a:srgbClr val="890E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58" autoAdjust="0"/>
    <p:restoredTop sz="94660"/>
  </p:normalViewPr>
  <p:slideViewPr>
    <p:cSldViewPr snapToGrid="0">
      <p:cViewPr varScale="1">
        <p:scale>
          <a:sx n="83" d="100"/>
          <a:sy n="83" d="100"/>
        </p:scale>
        <p:origin x="811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font" Target="fonts/font17.fntdata"/><Relationship Id="rId16" Type="http://schemas.openxmlformats.org/officeDocument/2006/relationships/slide" Target="slides/slide15.xml"/><Relationship Id="rId107" Type="http://schemas.openxmlformats.org/officeDocument/2006/relationships/font" Target="fonts/font12.fntdata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font" Target="fonts/font7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font" Target="fonts/font18.fntdata"/><Relationship Id="rId118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8.fntdata"/><Relationship Id="rId108" Type="http://schemas.openxmlformats.org/officeDocument/2006/relationships/font" Target="fonts/font13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font" Target="fonts/font19.fntdata"/><Relationship Id="rId119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font" Target="fonts/font4.fntdata"/><Relationship Id="rId10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14.fntdata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2.fntdata"/><Relationship Id="rId104" Type="http://schemas.openxmlformats.org/officeDocument/2006/relationships/font" Target="fonts/font9.fntdata"/><Relationship Id="rId120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font" Target="fonts/font15.fntdata"/><Relationship Id="rId115" Type="http://schemas.openxmlformats.org/officeDocument/2006/relationships/font" Target="fonts/font20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5.fntdata"/><Relationship Id="rId105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font" Target="fonts/font3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font" Target="fonts/font2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font" Target="fonts/font16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3.jpe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14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12BAB0-1CB8-413D-970D-4F482F1A0EDB}"/>
              </a:ext>
            </a:extLst>
          </p:cNvPr>
          <p:cNvSpPr/>
          <p:nvPr userDrawn="1"/>
        </p:nvSpPr>
        <p:spPr>
          <a:xfrm>
            <a:off x="9253046" y="1708917"/>
            <a:ext cx="2554142" cy="58745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169281" y="923925"/>
            <a:ext cx="11746494" cy="5505450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6F4F3604-0A78-5C99-B067-C2415E89CC0E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IN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IN" dirty="0">
                <a:latin typeface="Roboto Condensed" panose="02000000000000000000" pitchFamily="2" charset="0"/>
              </a:rPr>
              <a:t>2305CS303</a:t>
            </a:r>
            <a:r>
              <a:rPr lang="en-IN" dirty="0"/>
              <a:t>  (PDS) Unit- 1 - Introduction to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IN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IN" dirty="0">
                <a:latin typeface="Roboto Condensed" panose="02000000000000000000" pitchFamily="2" charset="0"/>
              </a:rPr>
              <a:t>2305CS303</a:t>
            </a:r>
            <a:r>
              <a:rPr lang="en-IN" dirty="0"/>
              <a:t>  (PDS) Unit- 1 - Introduction to Python</a:t>
            </a:r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72510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41FBD5D-AB37-4F4E-A127-DAB7A6E35DEA}"/>
              </a:ext>
            </a:extLst>
          </p:cNvPr>
          <p:cNvGrpSpPr/>
          <p:nvPr userDrawn="1"/>
        </p:nvGrpSpPr>
        <p:grpSpPr>
          <a:xfrm>
            <a:off x="9056088" y="5857643"/>
            <a:ext cx="2877766" cy="578312"/>
            <a:chOff x="9724074" y="790264"/>
            <a:chExt cx="2336746" cy="469589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F51F16C-249B-E345-B841-8128601D1D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6E1CEFF-5022-B343-970D-93BF7837B193}"/>
                </a:ext>
              </a:extLst>
            </p:cNvPr>
            <p:cNvSpPr/>
            <p:nvPr userDrawn="1"/>
          </p:nvSpPr>
          <p:spPr>
            <a:xfrm>
              <a:off x="9724074" y="790264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71258223-F71B-0E01-5F0B-92433955D604}"/>
              </a:ext>
            </a:extLst>
          </p:cNvPr>
          <p:cNvSpPr/>
          <p:nvPr userDrawn="1"/>
        </p:nvSpPr>
        <p:spPr>
          <a:xfrm>
            <a:off x="10284812" y="5896156"/>
            <a:ext cx="1649042" cy="50128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C7E7D9-4E9C-F306-FB95-7FC0CAAD06A5}"/>
              </a:ext>
            </a:extLst>
          </p:cNvPr>
          <p:cNvSpPr/>
          <p:nvPr userDrawn="1"/>
        </p:nvSpPr>
        <p:spPr>
          <a:xfrm>
            <a:off x="219075" y="5808862"/>
            <a:ext cx="1649042" cy="50128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12BAB0-1CB8-413D-970D-4F482F1A0EDB}"/>
              </a:ext>
            </a:extLst>
          </p:cNvPr>
          <p:cNvSpPr/>
          <p:nvPr userDrawn="1"/>
        </p:nvSpPr>
        <p:spPr>
          <a:xfrm>
            <a:off x="139979" y="5809988"/>
            <a:ext cx="2554142" cy="58745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219075" y="917758"/>
            <a:ext cx="11832946" cy="5549717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D6C749C-25E3-B7A3-6F8C-70B2B5351F7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IN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IN" dirty="0">
                <a:latin typeface="Roboto Condensed" panose="02000000000000000000" pitchFamily="2" charset="0"/>
              </a:rPr>
              <a:t>2305CS303</a:t>
            </a:r>
            <a:r>
              <a:rPr lang="en-IN" dirty="0"/>
              <a:t>  (PDS) Unit- 1 - Introduction to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525FD31-DBEE-9A49-8D30-8AA370CD1AC6}"/>
              </a:ext>
            </a:extLst>
          </p:cNvPr>
          <p:cNvGrpSpPr/>
          <p:nvPr userDrawn="1"/>
        </p:nvGrpSpPr>
        <p:grpSpPr>
          <a:xfrm>
            <a:off x="10313386" y="6223181"/>
            <a:ext cx="1649043" cy="501287"/>
            <a:chOff x="10721798" y="852808"/>
            <a:chExt cx="1339023" cy="40704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E2024B0-256A-DE40-97A3-3554EEB4DE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7E3F7EC-9A5A-AA4D-ADD8-31449DFF979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FBF56C4-A1BE-EE44-A786-4A827E0E8E1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721" y="318857"/>
            <a:ext cx="2976891" cy="9049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026A30E-B0EE-991E-0979-12649F2AAFA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39237" y="2511454"/>
            <a:ext cx="2793273" cy="174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crdownload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shruti.maniar@darshan.ac.in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(O) 9727747317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Engineering Department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Shruti Maniar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Python for Data Science (</a:t>
            </a:r>
            <a:r>
              <a:rPr lang="en-IN" dirty="0">
                <a:latin typeface="Roboto Condensed" panose="02000000000000000000" pitchFamily="2" charset="0"/>
              </a:rPr>
              <a:t>2305CS303</a:t>
            </a:r>
            <a:r>
              <a:rPr lang="en-IN" dirty="0"/>
              <a:t>)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Unit-01</a:t>
            </a:r>
            <a:r>
              <a:rPr lang="en-US" dirty="0"/>
              <a:t> </a:t>
            </a:r>
            <a:br>
              <a:rPr lang="en-US" dirty="0"/>
            </a:br>
            <a:r>
              <a:rPr lang="en-IN" dirty="0"/>
              <a:t>Introduction to Python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161DE45-276D-7849-BC99-BAB0D00EC12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2436520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406628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12385"/>
            <a:ext cx="4909938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Outline</a:t>
            </a:r>
            <a:endParaRPr lang="en-US" b="1" dirty="0"/>
          </a:p>
          <a:p>
            <a:endParaRPr lang="en-US" b="1" dirty="0"/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Introduction to Python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Advantages of Python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Installing Python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User interface and IDE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Indentation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Comments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Reading Input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Print Output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Variables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Datatypes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Tokens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Type Conversion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Operators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Conditional Statements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Looping Statements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break, continue &amp; pass keywords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Magic Command</a:t>
            </a: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4FDAE-63DF-8D47-AAF3-9CE3DE8C9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Syllabus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0CECFDBB-80A6-A340-8B02-E63C62DFA3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8999"/>
              </p:ext>
            </p:extLst>
          </p:nvPr>
        </p:nvGraphicFramePr>
        <p:xfrm>
          <a:off x="299155" y="1150412"/>
          <a:ext cx="4780844" cy="301752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788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2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95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Sr.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Unit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9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/>
                        <a:t>Introduction to Python, Object and Data Structure, Python Operators	</a:t>
                      </a:r>
                      <a:endParaRPr lang="en-US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9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/>
                        <a:t>Conditional and Looping Statements, Functions in Python</a:t>
                      </a:r>
                      <a:endParaRPr lang="en-US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1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/>
                        <a:t> </a:t>
                      </a:r>
                      <a:r>
                        <a:rPr lang="en-US" sz="1800" kern="1200" baseline="0" dirty="0" err="1"/>
                        <a:t>Numpy</a:t>
                      </a:r>
                      <a:r>
                        <a:rPr lang="en-US" sz="1800" kern="1200" baseline="0" dirty="0"/>
                        <a:t> and Beautiful Soup</a:t>
                      </a:r>
                      <a:endParaRPr lang="en-US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1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/>
                        <a:t> Pandas</a:t>
                      </a:r>
                      <a:endParaRPr lang="en-US" sz="18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6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</a:rPr>
                        <a:t> Matplotlib</a:t>
                      </a:r>
                      <a:endParaRPr lang="en-US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CEEF694-0F3C-9249-A97A-DF55B0465232}"/>
              </a:ext>
            </a:extLst>
          </p:cNvPr>
          <p:cNvSpPr/>
          <p:nvPr/>
        </p:nvSpPr>
        <p:spPr>
          <a:xfrm>
            <a:off x="5350545" y="947212"/>
            <a:ext cx="6639959" cy="20621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Reference Book:</a:t>
            </a:r>
          </a:p>
          <a:p>
            <a:endParaRPr lang="en-US" sz="1400" dirty="0"/>
          </a:p>
          <a:p>
            <a:pPr marL="342900" indent="-342900">
              <a:buAutoNum type="arabicParenR"/>
            </a:pPr>
            <a:r>
              <a:rPr lang="en-US" sz="1600" dirty="0"/>
              <a:t>Programming in Python 3 : A Complete Introduction to the Python Language</a:t>
            </a:r>
          </a:p>
          <a:p>
            <a:pPr marL="342900" indent="-342900">
              <a:buAutoNum type="arabicParenR"/>
            </a:pPr>
            <a:r>
              <a:rPr lang="en-US" sz="1600" dirty="0"/>
              <a:t>Introduction to Computation and Programming using Python</a:t>
            </a:r>
          </a:p>
          <a:p>
            <a:pPr marL="342900" indent="-342900">
              <a:buAutoNum type="arabicParenR"/>
            </a:pPr>
            <a:r>
              <a:rPr lang="en-US" sz="1600" dirty="0"/>
              <a:t>Core Python Programming</a:t>
            </a:r>
          </a:p>
          <a:p>
            <a:pPr marL="342900" indent="-342900">
              <a:buFontTx/>
              <a:buAutoNum type="arabicParenR"/>
            </a:pPr>
            <a:r>
              <a:rPr lang="en-US" sz="1600" dirty="0"/>
              <a:t>Python for Data Science for Dummies</a:t>
            </a:r>
          </a:p>
          <a:p>
            <a:pPr marL="342900" indent="-342900">
              <a:buFontTx/>
              <a:buAutoNum type="arabicParenR"/>
            </a:pPr>
            <a:r>
              <a:rPr lang="en-US" sz="1600" dirty="0"/>
              <a:t>Python for Data Analysis</a:t>
            </a:r>
          </a:p>
          <a:p>
            <a:pPr marL="342900" indent="-342900">
              <a:buFontTx/>
              <a:buAutoNum type="arabicParenR"/>
            </a:pPr>
            <a:r>
              <a:rPr lang="en-US" sz="1600" dirty="0"/>
              <a:t>Introduction to Machine Learning with Python</a:t>
            </a:r>
          </a:p>
        </p:txBody>
      </p:sp>
    </p:spTree>
    <p:extLst>
      <p:ext uri="{BB962C8B-B14F-4D97-AF65-F5344CB8AC3E}">
        <p14:creationId xmlns:p14="http://schemas.microsoft.com/office/powerpoint/2010/main" val="936464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631E3-ECBC-F381-3340-D902C8686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2D3247-A647-CFE8-CA94-07842920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Python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09A34B-9E5C-040B-BA85-A85544572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212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is a programming language developed by </a:t>
            </a:r>
            <a:r>
              <a:rPr lang="en-US" b="1" dirty="0">
                <a:solidFill>
                  <a:srgbClr val="C00000"/>
                </a:solidFill>
              </a:rPr>
              <a:t>Guido van Rossum </a:t>
            </a:r>
            <a:r>
              <a:rPr lang="en-US" dirty="0"/>
              <a:t>of Netherlands in 1991.</a:t>
            </a:r>
          </a:p>
          <a:p>
            <a:r>
              <a:rPr lang="en-US" dirty="0"/>
              <a:t>Python is an </a:t>
            </a:r>
            <a:r>
              <a:rPr lang="en-US" dirty="0">
                <a:solidFill>
                  <a:srgbClr val="C00000"/>
                </a:solidFill>
              </a:rPr>
              <a:t>open source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interpreted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high-level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general-purpose</a:t>
            </a:r>
            <a:r>
              <a:rPr lang="en-US" dirty="0"/>
              <a:t> programming language.</a:t>
            </a:r>
          </a:p>
          <a:p>
            <a:r>
              <a:rPr lang="en-US" dirty="0"/>
              <a:t>Python's design philosophy emphasizes </a:t>
            </a:r>
            <a:r>
              <a:rPr lang="en-US" dirty="0">
                <a:solidFill>
                  <a:srgbClr val="C00000"/>
                </a:solidFill>
              </a:rPr>
              <a:t>code readability </a:t>
            </a:r>
            <a:r>
              <a:rPr lang="en-US" dirty="0"/>
              <a:t>with its notable </a:t>
            </a:r>
            <a:r>
              <a:rPr lang="en-US" dirty="0">
                <a:solidFill>
                  <a:srgbClr val="C00000"/>
                </a:solidFill>
              </a:rPr>
              <a:t>use of significant whitespace</a:t>
            </a:r>
            <a:r>
              <a:rPr lang="en-US" dirty="0"/>
              <a:t>.</a:t>
            </a:r>
          </a:p>
          <a:p>
            <a:r>
              <a:rPr lang="en-US" dirty="0"/>
              <a:t>Python is </a:t>
            </a:r>
            <a:r>
              <a:rPr lang="en-US" dirty="0">
                <a:solidFill>
                  <a:srgbClr val="C00000"/>
                </a:solidFill>
              </a:rPr>
              <a:t>dynamically typed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garbage-collected</a:t>
            </a:r>
            <a:r>
              <a:rPr lang="en-US" dirty="0"/>
              <a:t> language.</a:t>
            </a:r>
          </a:p>
          <a:p>
            <a:r>
              <a:rPr lang="en-US" dirty="0"/>
              <a:t>Python was inspired by the </a:t>
            </a:r>
            <a:r>
              <a:rPr lang="en-US" dirty="0">
                <a:solidFill>
                  <a:srgbClr val="C00000"/>
                </a:solidFill>
              </a:rPr>
              <a:t>ABC language </a:t>
            </a:r>
            <a:r>
              <a:rPr lang="en-US" dirty="0"/>
              <a:t>that was developed in 1980s.</a:t>
            </a:r>
          </a:p>
          <a:p>
            <a:r>
              <a:rPr lang="en-US" dirty="0"/>
              <a:t>Python version gets updated time to time.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latest version </a:t>
            </a:r>
            <a:r>
              <a:rPr lang="en-US" dirty="0"/>
              <a:t>is</a:t>
            </a:r>
            <a:r>
              <a:rPr lang="en-US" b="1" dirty="0">
                <a:solidFill>
                  <a:srgbClr val="C00000"/>
                </a:solidFill>
              </a:rPr>
              <a:t> Python 3.14 (as on June-2026).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D6774ED-C86E-BCE4-03A2-181269604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8828" y="2409523"/>
            <a:ext cx="2071992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50AC9-CB5B-4B0A-48C2-DCDFEC89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EF4C7B-8F06-9417-D856-7D49AEC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Python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BF2EE8-8B9C-C559-8923-E73C325F9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715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6493356" cy="5590565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Easy to Read, Learn and Understand </a:t>
            </a:r>
          </a:p>
          <a:p>
            <a:pPr lvl="1"/>
            <a:r>
              <a:rPr lang="en-IN" dirty="0"/>
              <a:t>Code written in Python is simple and readable.</a:t>
            </a:r>
          </a:p>
          <a:p>
            <a:pPr lvl="1"/>
            <a:r>
              <a:rPr lang="en-IN" dirty="0"/>
              <a:t>Uses more English keywords.</a:t>
            </a:r>
          </a:p>
          <a:p>
            <a:pPr lvl="1"/>
            <a:r>
              <a:rPr lang="en-IN" dirty="0"/>
              <a:t>It has fewer syntax constructions than other languages.</a:t>
            </a:r>
          </a:p>
          <a:p>
            <a:r>
              <a:rPr lang="en-US" b="1" dirty="0">
                <a:solidFill>
                  <a:srgbClr val="C00000"/>
                </a:solidFill>
              </a:rPr>
              <a:t>High-Level Language </a:t>
            </a:r>
            <a:endParaRPr lang="en-IN" b="1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Python is closer to human language than machine code (low-level language). </a:t>
            </a:r>
          </a:p>
          <a:p>
            <a:pPr lvl="1"/>
            <a:r>
              <a:rPr lang="en-US" dirty="0"/>
              <a:t>We do not need to manually allocate/deallocate memory, as </a:t>
            </a:r>
            <a:r>
              <a:rPr lang="en-US" dirty="0">
                <a:solidFill>
                  <a:srgbClr val="C00000"/>
                </a:solidFill>
              </a:rPr>
              <a:t>garbage collector </a:t>
            </a:r>
            <a:r>
              <a:rPr lang="en-US" dirty="0"/>
              <a:t>takes care of unused memory automatically.</a:t>
            </a:r>
            <a:endParaRPr lang="en-IN" dirty="0"/>
          </a:p>
          <a:p>
            <a:pPr lvl="1"/>
            <a:r>
              <a:rPr lang="en-US" dirty="0"/>
              <a:t>This gives you the ability to program at a faster rate.</a:t>
            </a:r>
            <a:endParaRPr lang="en-IN" dirty="0">
              <a:solidFill>
                <a:srgbClr val="C00000"/>
              </a:solidFill>
            </a:endParaRP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F38C5C-2160-A074-2753-76D80EAAF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008" y="2809787"/>
            <a:ext cx="2270957" cy="21337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7E6FDF-A81D-84C9-DB8A-24D649817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1295" y="2809787"/>
            <a:ext cx="2301439" cy="21490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3AA036-2E18-7D01-0E1E-37407ACE457E}"/>
              </a:ext>
            </a:extLst>
          </p:cNvPr>
          <p:cNvSpPr txBox="1"/>
          <p:nvPr/>
        </p:nvSpPr>
        <p:spPr>
          <a:xfrm>
            <a:off x="6255896" y="2322571"/>
            <a:ext cx="2745880" cy="400110"/>
          </a:xfrm>
          <a:prstGeom prst="rect">
            <a:avLst/>
          </a:prstGeom>
          <a:solidFill>
            <a:srgbClr val="002060"/>
          </a:solidFill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lt1"/>
                </a:solidFill>
                <a:latin typeface="Arial Rounded MT Bold" panose="020F07040305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Low-Level Language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DE9F0A-621B-1E45-0736-ABDF7E7CD56B}"/>
              </a:ext>
            </a:extLst>
          </p:cNvPr>
          <p:cNvSpPr txBox="1"/>
          <p:nvPr/>
        </p:nvSpPr>
        <p:spPr>
          <a:xfrm>
            <a:off x="9185305" y="4951296"/>
            <a:ext cx="2875514" cy="40011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lt1"/>
                </a:solidFill>
                <a:latin typeface="Arial Rounded MT Bold" panose="020F07040305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High-Level Language</a:t>
            </a:r>
            <a:endParaRPr lang="en-I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5927D9B-449B-8133-D5BD-9F40EBFC8A86}"/>
              </a:ext>
            </a:extLst>
          </p:cNvPr>
          <p:cNvGrpSpPr/>
          <p:nvPr/>
        </p:nvGrpSpPr>
        <p:grpSpPr>
          <a:xfrm>
            <a:off x="6940939" y="1815134"/>
            <a:ext cx="4751093" cy="1856600"/>
            <a:chOff x="96255" y="2555790"/>
            <a:chExt cx="6374104" cy="297562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F485F27-FEF2-1171-CB52-71F4C3C07C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255" y="3336665"/>
              <a:ext cx="6374104" cy="2194750"/>
            </a:xfrm>
            <a:prstGeom prst="rect">
              <a:avLst/>
            </a:prstGeom>
            <a:ln w="28575">
              <a:solidFill>
                <a:srgbClr val="002060"/>
              </a:solidFill>
            </a:ln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D76CCE7-3A25-DE9B-703F-2C84EF3824C0}"/>
                </a:ext>
              </a:extLst>
            </p:cNvPr>
            <p:cNvSpPr txBox="1"/>
            <p:nvPr/>
          </p:nvSpPr>
          <p:spPr>
            <a:xfrm>
              <a:off x="96255" y="2555790"/>
              <a:ext cx="1292041" cy="641267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bg1"/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Arial Rounded MT Bold" panose="020F0704030504030204" pitchFamily="34" charset="0"/>
                </a:rPr>
                <a:t>Java</a:t>
              </a:r>
              <a:endParaRPr lang="en-IN" sz="2000" dirty="0"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53F9A29-4CB8-A8DC-5611-D83032FE37D4}"/>
              </a:ext>
            </a:extLst>
          </p:cNvPr>
          <p:cNvGrpSpPr/>
          <p:nvPr/>
        </p:nvGrpSpPr>
        <p:grpSpPr>
          <a:xfrm>
            <a:off x="6972409" y="3876680"/>
            <a:ext cx="3747471" cy="1123341"/>
            <a:chOff x="6972410" y="3876680"/>
            <a:chExt cx="2736121" cy="112334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C20B310-2C12-C3BD-BFD7-C47D74D419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72410" y="4351320"/>
              <a:ext cx="2736121" cy="648701"/>
            </a:xfrm>
            <a:prstGeom prst="rect">
              <a:avLst/>
            </a:prstGeom>
            <a:ln w="28575">
              <a:solidFill>
                <a:srgbClr val="002060"/>
              </a:solidFill>
            </a:ln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A966043-B6C6-CE83-39DB-47155C245A0B}"/>
                </a:ext>
              </a:extLst>
            </p:cNvPr>
            <p:cNvSpPr txBox="1"/>
            <p:nvPr/>
          </p:nvSpPr>
          <p:spPr>
            <a:xfrm>
              <a:off x="6972410" y="3876680"/>
              <a:ext cx="1091820" cy="400110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bg1"/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Arial Rounded MT Bold" panose="020F0704030504030204" pitchFamily="34" charset="0"/>
                </a:rPr>
                <a:t>Python</a:t>
              </a:r>
              <a:endParaRPr lang="en-IN" sz="2000" dirty="0">
                <a:latin typeface="Arial Rounded MT Bold" panose="020F07040305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1944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41E1B-F237-F8F2-D321-300917C4F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90BF0-9414-4C8D-3F78-F1B858B5E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Garbage Collection is done?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2E7D9-268E-8B55-BF65-14D35859A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70272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x = 10</a:t>
            </a:r>
          </a:p>
          <a:p>
            <a:pPr lvl="1"/>
            <a:r>
              <a:rPr lang="en-US" dirty="0"/>
              <a:t>Python creates (or reuses) an integer object </a:t>
            </a:r>
            <a:r>
              <a:rPr lang="en-US" b="1" dirty="0"/>
              <a:t>10</a:t>
            </a:r>
            <a:r>
              <a:rPr lang="en-US" dirty="0"/>
              <a:t> in memory.</a:t>
            </a:r>
          </a:p>
          <a:p>
            <a:pPr lvl="1"/>
            <a:r>
              <a:rPr lang="en-US" dirty="0"/>
              <a:t>The name </a:t>
            </a:r>
            <a:r>
              <a:rPr lang="en-US" b="1" dirty="0"/>
              <a:t>x</a:t>
            </a:r>
            <a:r>
              <a:rPr lang="en-US" dirty="0"/>
              <a:t> is bound to this object.</a:t>
            </a: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y = x</a:t>
            </a:r>
          </a:p>
          <a:p>
            <a:pPr lvl="1"/>
            <a:r>
              <a:rPr lang="en-US" dirty="0"/>
              <a:t>Python does </a:t>
            </a:r>
            <a:r>
              <a:rPr lang="en-US" b="1" dirty="0"/>
              <a:t>not copy</a:t>
            </a:r>
            <a:r>
              <a:rPr lang="en-US" dirty="0"/>
              <a:t> the value It simply creates another name </a:t>
            </a:r>
            <a:r>
              <a:rPr lang="en-US" b="1" dirty="0"/>
              <a:t>y</a:t>
            </a:r>
            <a:r>
              <a:rPr lang="en-US" dirty="0"/>
              <a:t> pointing to the same object </a:t>
            </a:r>
            <a:r>
              <a:rPr lang="en-US" b="1" dirty="0"/>
              <a:t>10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Reference count of object 10 becomes </a:t>
            </a:r>
            <a:r>
              <a:rPr lang="en-US" b="1" dirty="0"/>
              <a:t>2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x = 20</a:t>
            </a:r>
          </a:p>
          <a:p>
            <a:pPr lvl="1"/>
            <a:r>
              <a:rPr lang="en-US" dirty="0"/>
              <a:t>Python creates (or reuses) an integer object </a:t>
            </a:r>
            <a:r>
              <a:rPr lang="en-US" b="1" dirty="0"/>
              <a:t>20</a:t>
            </a:r>
            <a:r>
              <a:rPr lang="en-US" dirty="0"/>
              <a:t>, now the name </a:t>
            </a:r>
            <a:r>
              <a:rPr lang="en-US" b="1" dirty="0"/>
              <a:t>x</a:t>
            </a:r>
            <a:r>
              <a:rPr lang="en-US" dirty="0"/>
              <a:t> is </a:t>
            </a:r>
            <a:r>
              <a:rPr lang="en-US" b="1" dirty="0"/>
              <a:t>rebound</a:t>
            </a:r>
            <a:r>
              <a:rPr lang="en-US" dirty="0"/>
              <a:t> to this new object</a:t>
            </a:r>
            <a:r>
              <a:rPr lang="en-IN" dirty="0"/>
              <a:t>.</a:t>
            </a:r>
          </a:p>
          <a:p>
            <a:pPr lvl="1"/>
            <a:r>
              <a:rPr lang="en-US" b="1" dirty="0"/>
              <a:t>y remains unchanged</a:t>
            </a:r>
            <a:r>
              <a:rPr lang="en-US" dirty="0"/>
              <a:t>, still pointing to </a:t>
            </a:r>
            <a:r>
              <a:rPr lang="en-US" b="1" dirty="0"/>
              <a:t>10.</a:t>
            </a:r>
          </a:p>
          <a:p>
            <a:pPr lvl="1"/>
            <a:r>
              <a:rPr lang="en-US" dirty="0"/>
              <a:t>Reference count of object 10 becomes 1 and Reference count of object 20 becomes 1.</a:t>
            </a:r>
          </a:p>
          <a:p>
            <a:pPr lvl="1"/>
            <a:r>
              <a:rPr lang="en-US" dirty="0"/>
              <a:t>The object 10 is </a:t>
            </a:r>
            <a:r>
              <a:rPr lang="en-US" b="1" dirty="0"/>
              <a:t>not deleted</a:t>
            </a:r>
            <a:r>
              <a:rPr lang="en-US" dirty="0"/>
              <a:t>, because y still refers to it.</a:t>
            </a:r>
          </a:p>
          <a:p>
            <a:pPr lvl="1"/>
            <a:r>
              <a:rPr lang="en-US" dirty="0"/>
              <a:t>Only when </a:t>
            </a:r>
            <a:r>
              <a:rPr lang="en-US" i="1" dirty="0"/>
              <a:t>no</a:t>
            </a:r>
            <a:r>
              <a:rPr lang="en-US" dirty="0"/>
              <a:t> name refers to 10, it becomes eligible for garbage collection.</a:t>
            </a:r>
            <a:endParaRPr lang="en-IN" dirty="0"/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y = 5</a:t>
            </a:r>
          </a:p>
          <a:p>
            <a:pPr lvl="1"/>
            <a:r>
              <a:rPr lang="en-US" dirty="0"/>
              <a:t>Now 10 has zero references Python will clean it up.</a:t>
            </a:r>
          </a:p>
          <a:p>
            <a:pPr lvl="1"/>
            <a:r>
              <a:rPr lang="en-US" dirty="0"/>
              <a:t>This is how Garbage Collection is done.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5451E9-661D-9E4B-40BE-9B612A2EEFCC}"/>
              </a:ext>
            </a:extLst>
          </p:cNvPr>
          <p:cNvSpPr txBox="1"/>
          <p:nvPr/>
        </p:nvSpPr>
        <p:spPr>
          <a:xfrm>
            <a:off x="8841559" y="1254869"/>
            <a:ext cx="36965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B71B1C"/>
                </a:solidFill>
              </a:rPr>
              <a:t>x 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1944B64-7639-1448-7755-A670A7E2EC48}"/>
              </a:ext>
            </a:extLst>
          </p:cNvPr>
          <p:cNvCxnSpPr>
            <a:cxnSpLocks/>
          </p:cNvCxnSpPr>
          <p:nvPr/>
        </p:nvCxnSpPr>
        <p:spPr>
          <a:xfrm>
            <a:off x="9387191" y="1503124"/>
            <a:ext cx="11205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16FAE47-74A4-5B7A-6777-51087B656DF9}"/>
              </a:ext>
            </a:extLst>
          </p:cNvPr>
          <p:cNvSpPr txBox="1"/>
          <p:nvPr/>
        </p:nvSpPr>
        <p:spPr>
          <a:xfrm>
            <a:off x="10814797" y="1264597"/>
            <a:ext cx="58690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B71B1C"/>
                </a:solidFill>
              </a:rPr>
              <a:t>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D3E786-E0A5-3857-7042-B276FE8507E8}"/>
              </a:ext>
            </a:extLst>
          </p:cNvPr>
          <p:cNvSpPr txBox="1"/>
          <p:nvPr/>
        </p:nvSpPr>
        <p:spPr>
          <a:xfrm>
            <a:off x="10507789" y="873827"/>
            <a:ext cx="100003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chemeClr val="accent4">
                    <a:lumMod val="75000"/>
                  </a:schemeClr>
                </a:solidFill>
              </a:rPr>
              <a:t>object</a:t>
            </a:r>
            <a:r>
              <a:rPr lang="en-IN" sz="2500" b="1" dirty="0">
                <a:solidFill>
                  <a:srgbClr val="B71B1C"/>
                </a:solidFill>
              </a:rPr>
              <a:t>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C9844A-5562-811F-DAD4-6E1A08833030}"/>
              </a:ext>
            </a:extLst>
          </p:cNvPr>
          <p:cNvSpPr txBox="1"/>
          <p:nvPr/>
        </p:nvSpPr>
        <p:spPr>
          <a:xfrm>
            <a:off x="8180966" y="873827"/>
            <a:ext cx="16893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chemeClr val="accent4">
                    <a:lumMod val="75000"/>
                  </a:schemeClr>
                </a:solidFill>
              </a:rPr>
              <a:t>namespace</a:t>
            </a:r>
            <a:r>
              <a:rPr lang="en-IN" sz="2500" b="1" dirty="0">
                <a:solidFill>
                  <a:srgbClr val="B71B1C"/>
                </a:solidFill>
              </a:rPr>
              <a:t>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6B7D9F-5CBC-05DD-0493-38B393B30419}"/>
              </a:ext>
            </a:extLst>
          </p:cNvPr>
          <p:cNvSpPr txBox="1"/>
          <p:nvPr/>
        </p:nvSpPr>
        <p:spPr>
          <a:xfrm>
            <a:off x="9366857" y="1683938"/>
            <a:ext cx="129657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301B92"/>
                </a:solidFill>
              </a:rPr>
              <a:t>binding</a:t>
            </a:r>
            <a:r>
              <a:rPr lang="en-IN" sz="2500" b="1" dirty="0">
                <a:solidFill>
                  <a:srgbClr val="B71B1C"/>
                </a:solidFill>
              </a:rPr>
              <a:t>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3AA581-E576-1217-9B8A-877AD650FA9B}"/>
              </a:ext>
            </a:extLst>
          </p:cNvPr>
          <p:cNvSpPr txBox="1"/>
          <p:nvPr/>
        </p:nvSpPr>
        <p:spPr>
          <a:xfrm>
            <a:off x="8841559" y="1884166"/>
            <a:ext cx="36965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B71B1C"/>
                </a:solidFill>
              </a:rPr>
              <a:t>y 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AA92888-3B49-2EC4-435A-CD3B60B5C4D0}"/>
              </a:ext>
            </a:extLst>
          </p:cNvPr>
          <p:cNvCxnSpPr>
            <a:cxnSpLocks/>
          </p:cNvCxnSpPr>
          <p:nvPr/>
        </p:nvCxnSpPr>
        <p:spPr>
          <a:xfrm flipV="1">
            <a:off x="9387191" y="1683938"/>
            <a:ext cx="1120598" cy="4770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B6EF817-DD72-8838-B6B8-EC68B3B0AD9C}"/>
              </a:ext>
            </a:extLst>
          </p:cNvPr>
          <p:cNvSpPr txBox="1"/>
          <p:nvPr/>
        </p:nvSpPr>
        <p:spPr>
          <a:xfrm>
            <a:off x="9281073" y="4980813"/>
            <a:ext cx="21206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301B92"/>
                </a:solidFill>
              </a:rPr>
              <a:t>Reference Count </a:t>
            </a:r>
          </a:p>
          <a:p>
            <a:r>
              <a:rPr lang="en-IN" sz="2000" b="1" dirty="0">
                <a:solidFill>
                  <a:srgbClr val="301B92"/>
                </a:solidFill>
              </a:rPr>
              <a:t>of object 10: </a:t>
            </a:r>
            <a:r>
              <a:rPr lang="en-IN" sz="2000" b="1" dirty="0">
                <a:solidFill>
                  <a:srgbClr val="B71B1C"/>
                </a:solidFill>
              </a:rPr>
              <a:t>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9DC604-8485-80B6-91C9-F99C61C7AAD7}"/>
              </a:ext>
            </a:extLst>
          </p:cNvPr>
          <p:cNvSpPr txBox="1"/>
          <p:nvPr/>
        </p:nvSpPr>
        <p:spPr>
          <a:xfrm>
            <a:off x="11456968" y="4953299"/>
            <a:ext cx="58690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B71B1C"/>
                </a:solidFill>
              </a:rPr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3E6ED7-3762-576F-0657-C09A0DAD264C}"/>
              </a:ext>
            </a:extLst>
          </p:cNvPr>
          <p:cNvSpPr txBox="1"/>
          <p:nvPr/>
        </p:nvSpPr>
        <p:spPr>
          <a:xfrm>
            <a:off x="11448492" y="4942916"/>
            <a:ext cx="58690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B71B1C"/>
                </a:solidFill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17FED1-EE3B-91A1-42BB-095BB7A8EB13}"/>
              </a:ext>
            </a:extLst>
          </p:cNvPr>
          <p:cNvSpPr txBox="1"/>
          <p:nvPr/>
        </p:nvSpPr>
        <p:spPr>
          <a:xfrm>
            <a:off x="11456968" y="4942916"/>
            <a:ext cx="58690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B71B1C"/>
                </a:solidFill>
              </a:rPr>
              <a:t>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F35859A-F2CB-3273-C6CA-564A49ECE29D}"/>
              </a:ext>
            </a:extLst>
          </p:cNvPr>
          <p:cNvCxnSpPr>
            <a:cxnSpLocks/>
          </p:cNvCxnSpPr>
          <p:nvPr/>
        </p:nvCxnSpPr>
        <p:spPr>
          <a:xfrm flipH="1">
            <a:off x="8083685" y="1575881"/>
            <a:ext cx="750731" cy="3465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3CED994-971A-3EB8-3568-8B6FE7B3D2D3}"/>
              </a:ext>
            </a:extLst>
          </p:cNvPr>
          <p:cNvSpPr txBox="1"/>
          <p:nvPr/>
        </p:nvSpPr>
        <p:spPr>
          <a:xfrm>
            <a:off x="7551244" y="1884166"/>
            <a:ext cx="58690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B71B1C"/>
                </a:solidFill>
              </a:rPr>
              <a:t>20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149AE9-73DA-AC9C-F0C9-614DAF8ACFA7}"/>
              </a:ext>
            </a:extLst>
          </p:cNvPr>
          <p:cNvSpPr txBox="1"/>
          <p:nvPr/>
        </p:nvSpPr>
        <p:spPr>
          <a:xfrm>
            <a:off x="7398737" y="5723718"/>
            <a:ext cx="21206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301B92"/>
                </a:solidFill>
              </a:rPr>
              <a:t>Reference Count </a:t>
            </a:r>
          </a:p>
          <a:p>
            <a:r>
              <a:rPr lang="en-IN" sz="2000" b="1" dirty="0">
                <a:solidFill>
                  <a:srgbClr val="301B92"/>
                </a:solidFill>
              </a:rPr>
              <a:t>of object 20: </a:t>
            </a:r>
            <a:r>
              <a:rPr lang="en-IN" sz="2000" b="1" dirty="0">
                <a:solidFill>
                  <a:srgbClr val="B71B1C"/>
                </a:solidFill>
              </a:rPr>
              <a:t>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5189FA-FF06-4382-569E-D2942038E93E}"/>
              </a:ext>
            </a:extLst>
          </p:cNvPr>
          <p:cNvSpPr txBox="1"/>
          <p:nvPr/>
        </p:nvSpPr>
        <p:spPr>
          <a:xfrm>
            <a:off x="9366857" y="5877826"/>
            <a:ext cx="50347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B71B1C"/>
                </a:solidFill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03AF49-CFE6-EB8B-1896-7AA0376271A5}"/>
              </a:ext>
            </a:extLst>
          </p:cNvPr>
          <p:cNvSpPr txBox="1"/>
          <p:nvPr/>
        </p:nvSpPr>
        <p:spPr>
          <a:xfrm>
            <a:off x="11456968" y="4926804"/>
            <a:ext cx="58690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B71B1C"/>
                </a:solidFill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E2E9FD-DB35-28B8-2386-5B99ACA0CDA6}"/>
              </a:ext>
            </a:extLst>
          </p:cNvPr>
          <p:cNvSpPr txBox="1"/>
          <p:nvPr/>
        </p:nvSpPr>
        <p:spPr>
          <a:xfrm>
            <a:off x="10840144" y="1941859"/>
            <a:ext cx="58690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B71B1C"/>
                </a:solidFill>
              </a:rPr>
              <a:t>5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13041DA-936C-524F-6AEA-3CF41C86A8EC}"/>
              </a:ext>
            </a:extLst>
          </p:cNvPr>
          <p:cNvCxnSpPr>
            <a:cxnSpLocks/>
          </p:cNvCxnSpPr>
          <p:nvPr/>
        </p:nvCxnSpPr>
        <p:spPr>
          <a:xfrm>
            <a:off x="9366857" y="2152123"/>
            <a:ext cx="129657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3D2E485-D6B7-6303-9487-AE467B38697C}"/>
              </a:ext>
            </a:extLst>
          </p:cNvPr>
          <p:cNvSpPr txBox="1"/>
          <p:nvPr/>
        </p:nvSpPr>
        <p:spPr>
          <a:xfrm>
            <a:off x="11465444" y="4942916"/>
            <a:ext cx="58690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B71B1C"/>
                </a:solidFill>
              </a:rPr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32EED7-2091-27C3-8DB4-E45A61869FBD}"/>
              </a:ext>
            </a:extLst>
          </p:cNvPr>
          <p:cNvSpPr txBox="1"/>
          <p:nvPr/>
        </p:nvSpPr>
        <p:spPr>
          <a:xfrm>
            <a:off x="9779831" y="3882157"/>
            <a:ext cx="194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301B92"/>
                </a:solidFill>
              </a:rPr>
              <a:t>Reference Count </a:t>
            </a:r>
          </a:p>
          <a:p>
            <a:r>
              <a:rPr lang="en-IN" sz="2000" b="1" dirty="0">
                <a:solidFill>
                  <a:srgbClr val="301B92"/>
                </a:solidFill>
              </a:rPr>
              <a:t>of object 5: </a:t>
            </a:r>
            <a:r>
              <a:rPr lang="en-IN" sz="2000" b="1" dirty="0">
                <a:solidFill>
                  <a:srgbClr val="B71B1C"/>
                </a:solidFill>
              </a:rPr>
              <a:t> 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39C917A-1386-2FD1-B95B-77423A89BDEA}"/>
              </a:ext>
            </a:extLst>
          </p:cNvPr>
          <p:cNvSpPr txBox="1"/>
          <p:nvPr/>
        </p:nvSpPr>
        <p:spPr>
          <a:xfrm>
            <a:off x="11205228" y="4236100"/>
            <a:ext cx="50347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B71B1C"/>
                </a:solidFill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A8CAC6-0D88-045A-09C1-58B90038C68B}"/>
              </a:ext>
            </a:extLst>
          </p:cNvPr>
          <p:cNvSpPr txBox="1"/>
          <p:nvPr/>
        </p:nvSpPr>
        <p:spPr>
          <a:xfrm>
            <a:off x="1365406" y="2304367"/>
            <a:ext cx="8414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a </a:t>
            </a:r>
            <a:r>
              <a:rPr lang="en-US" sz="2400" b="1" dirty="0">
                <a:solidFill>
                  <a:srgbClr val="C00000"/>
                </a:solidFill>
              </a:rPr>
              <a:t>namespace</a:t>
            </a:r>
            <a:r>
              <a:rPr lang="en-US" sz="2400" dirty="0">
                <a:solidFill>
                  <a:srgbClr val="C00000"/>
                </a:solidFill>
              </a:rPr>
              <a:t> is simply a </a:t>
            </a:r>
            <a:r>
              <a:rPr lang="en-US" sz="2400" i="1" dirty="0">
                <a:solidFill>
                  <a:srgbClr val="C00000"/>
                </a:solidFill>
              </a:rPr>
              <a:t>container that maps names to objects</a:t>
            </a:r>
            <a:endParaRPr lang="en-IN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787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/>
      <p:bldP spid="11" grpId="0"/>
      <p:bldP spid="14" grpId="0"/>
      <p:bldP spid="14" grpId="1"/>
      <p:bldP spid="15" grpId="0"/>
      <p:bldP spid="20" grpId="0"/>
      <p:bldP spid="21" grpId="0"/>
      <p:bldP spid="21" grpId="1"/>
      <p:bldP spid="22" grpId="0"/>
      <p:bldP spid="22" grpId="1"/>
      <p:bldP spid="23" grpId="0"/>
      <p:bldP spid="23" grpId="1"/>
      <p:bldP spid="23" grpId="2"/>
      <p:bldP spid="28" grpId="0"/>
      <p:bldP spid="29" grpId="0"/>
      <p:bldP spid="30" grpId="0"/>
      <p:bldP spid="31" grpId="0"/>
      <p:bldP spid="31" grpId="1"/>
      <p:bldP spid="32" grpId="0"/>
      <p:bldP spid="37" grpId="0"/>
      <p:bldP spid="39" grpId="0"/>
      <p:bldP spid="40" grpId="0"/>
      <p:bldP spid="5" grpId="0"/>
      <p:bldP spid="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425BD-452D-A579-253A-A5D4E29E1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7AABB-522E-2BA2-394B-71C2D8FE5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Garbage Collection is done?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215E5-D543-F5F1-716F-2B8BA2FAF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702725"/>
          </a:xfrm>
        </p:spPr>
        <p:txBody>
          <a:bodyPr/>
          <a:lstStyle/>
          <a:p>
            <a:r>
              <a:rPr lang="en-IN" dirty="0"/>
              <a:t>When we write x = 10 , </a:t>
            </a:r>
            <a:r>
              <a:rPr lang="en-US" dirty="0"/>
              <a:t>Python performs </a:t>
            </a:r>
            <a:r>
              <a:rPr lang="en-US" b="1" dirty="0"/>
              <a:t>following steps</a:t>
            </a:r>
            <a:r>
              <a:rPr lang="en-US" dirty="0"/>
              <a:t> internally:</a:t>
            </a:r>
          </a:p>
          <a:p>
            <a:r>
              <a:rPr lang="en-US" b="1" dirty="0">
                <a:solidFill>
                  <a:srgbClr val="C00000"/>
                </a:solidFill>
              </a:rPr>
              <a:t>Python creates an object for the value</a:t>
            </a:r>
          </a:p>
          <a:p>
            <a:pPr lvl="1"/>
            <a:r>
              <a:rPr lang="en-US" dirty="0"/>
              <a:t>Python stores all data as </a:t>
            </a:r>
            <a:r>
              <a:rPr lang="en-US" b="1" dirty="0"/>
              <a:t>objects</a:t>
            </a:r>
            <a:r>
              <a:rPr lang="en-US" dirty="0"/>
              <a:t>, not as raw values.</a:t>
            </a:r>
          </a:p>
          <a:p>
            <a:pPr lvl="1"/>
            <a:r>
              <a:rPr lang="en-US" dirty="0"/>
              <a:t>So, Python first creates an </a:t>
            </a:r>
            <a:r>
              <a:rPr lang="en-US" b="1" dirty="0"/>
              <a:t>integer object</a:t>
            </a:r>
            <a:r>
              <a:rPr lang="en-US" dirty="0"/>
              <a:t> with value </a:t>
            </a:r>
            <a:r>
              <a:rPr lang="en-US" b="1" dirty="0"/>
              <a:t>10</a:t>
            </a:r>
            <a:r>
              <a:rPr lang="en-US" dirty="0"/>
              <a:t> in memory.</a:t>
            </a:r>
          </a:p>
          <a:p>
            <a:r>
              <a:rPr lang="en-IN" b="1" dirty="0">
                <a:solidFill>
                  <a:srgbClr val="C00000"/>
                </a:solidFill>
              </a:rPr>
              <a:t>A name binding happens (x → object)</a:t>
            </a:r>
          </a:p>
          <a:p>
            <a:pPr lvl="1"/>
            <a:r>
              <a:rPr lang="en-US" dirty="0"/>
              <a:t>In Python, x is </a:t>
            </a:r>
            <a:r>
              <a:rPr lang="en-US" b="1" dirty="0"/>
              <a:t>not a box</a:t>
            </a:r>
            <a:r>
              <a:rPr lang="en-US" dirty="0"/>
              <a:t> that stores data.</a:t>
            </a:r>
          </a:p>
          <a:p>
            <a:pPr lvl="1"/>
            <a:r>
              <a:rPr lang="en-US" dirty="0"/>
              <a:t>x is just a </a:t>
            </a:r>
            <a:r>
              <a:rPr lang="en-US" b="1" dirty="0"/>
              <a:t>name (reference)</a:t>
            </a:r>
            <a:r>
              <a:rPr lang="en-US" dirty="0"/>
              <a:t> pointing to the object 10.</a:t>
            </a:r>
          </a:p>
          <a:p>
            <a:pPr lvl="1"/>
            <a:r>
              <a:rPr lang="en-US" dirty="0"/>
              <a:t>Python stores this mapping in a </a:t>
            </a:r>
            <a:r>
              <a:rPr lang="en-US" b="1" dirty="0"/>
              <a:t>namespace (dictionary)</a:t>
            </a:r>
            <a:r>
              <a:rPr lang="en-US" dirty="0"/>
              <a:t> for that scope.</a:t>
            </a:r>
          </a:p>
          <a:p>
            <a:r>
              <a:rPr lang="en-US" b="1" dirty="0">
                <a:solidFill>
                  <a:srgbClr val="C00000"/>
                </a:solidFill>
              </a:rPr>
              <a:t>Reference counting is used to manage object lifetime</a:t>
            </a:r>
          </a:p>
          <a:p>
            <a:pPr lvl="1"/>
            <a:r>
              <a:rPr lang="en-US" dirty="0"/>
              <a:t>Python uses </a:t>
            </a:r>
            <a:r>
              <a:rPr lang="en-US" b="1" dirty="0"/>
              <a:t>Reference Counting</a:t>
            </a:r>
            <a:r>
              <a:rPr lang="en-US" dirty="0"/>
              <a:t> to track how many names refer to an object.</a:t>
            </a:r>
          </a:p>
          <a:p>
            <a:pPr lvl="1"/>
            <a:r>
              <a:rPr lang="en-US" dirty="0"/>
              <a:t>If all references to an object are removed then </a:t>
            </a:r>
            <a:r>
              <a:rPr lang="en-IN" dirty="0"/>
              <a:t>reference count becomes zero, so now Python automatically </a:t>
            </a:r>
            <a:r>
              <a:rPr lang="en-IN" b="1" dirty="0"/>
              <a:t>deallocates</a:t>
            </a:r>
            <a:r>
              <a:rPr lang="en-IN" dirty="0"/>
              <a:t> it.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7231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123DE-F2C8-37BF-997B-87E4FFEB2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F90D4-3B2A-392A-5272-1E3CF094F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7B8AF-3FE9-0E2C-B06B-06018307E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6493356" cy="5590565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Easy to Read, Learn and Understand </a:t>
            </a:r>
          </a:p>
          <a:p>
            <a:pPr lvl="1"/>
            <a:r>
              <a:rPr lang="en-IN" dirty="0"/>
              <a:t>Code written in Python is simple and readable.</a:t>
            </a:r>
          </a:p>
          <a:p>
            <a:pPr lvl="1"/>
            <a:r>
              <a:rPr lang="en-IN" dirty="0"/>
              <a:t>Uses more English keywords.</a:t>
            </a:r>
          </a:p>
          <a:p>
            <a:pPr lvl="1"/>
            <a:r>
              <a:rPr lang="en-IN" dirty="0"/>
              <a:t>It has fewer syntax constructions than other languages.</a:t>
            </a:r>
          </a:p>
          <a:p>
            <a:r>
              <a:rPr lang="en-US" b="1" dirty="0">
                <a:solidFill>
                  <a:srgbClr val="C00000"/>
                </a:solidFill>
              </a:rPr>
              <a:t>High-Level Language </a:t>
            </a:r>
            <a:endParaRPr lang="en-IN" b="1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Python is closer to human language than machine code (low-level language). </a:t>
            </a:r>
          </a:p>
          <a:p>
            <a:pPr lvl="1"/>
            <a:r>
              <a:rPr lang="en-US" dirty="0"/>
              <a:t>We do not need to manually allocate/deallocate memory, as </a:t>
            </a:r>
            <a:r>
              <a:rPr lang="en-US" dirty="0">
                <a:solidFill>
                  <a:srgbClr val="C00000"/>
                </a:solidFill>
              </a:rPr>
              <a:t>garbage collector </a:t>
            </a:r>
            <a:r>
              <a:rPr lang="en-US" dirty="0"/>
              <a:t>takes care of unused memory automatically.</a:t>
            </a:r>
            <a:endParaRPr lang="en-IN" dirty="0"/>
          </a:p>
          <a:p>
            <a:pPr lvl="1"/>
            <a:r>
              <a:rPr lang="en-US" dirty="0"/>
              <a:t>This gives you the ability to program at a faster rate.</a:t>
            </a:r>
            <a:endParaRPr lang="en-IN" dirty="0">
              <a:solidFill>
                <a:srgbClr val="C00000"/>
              </a:solidFill>
            </a:endParaRPr>
          </a:p>
          <a:p>
            <a:r>
              <a:rPr lang="en-IN" b="1" dirty="0">
                <a:solidFill>
                  <a:srgbClr val="C00000"/>
                </a:solidFill>
              </a:rPr>
              <a:t>Dynamically Typed</a:t>
            </a:r>
          </a:p>
          <a:p>
            <a:pPr lvl="1"/>
            <a:r>
              <a:rPr lang="en-IN" dirty="0"/>
              <a:t>Python automatically assigns the data type during </a:t>
            </a:r>
            <a:r>
              <a:rPr lang="en-IN" dirty="0">
                <a:solidFill>
                  <a:srgbClr val="C00000"/>
                </a:solidFill>
              </a:rPr>
              <a:t>execution</a:t>
            </a:r>
            <a:r>
              <a:rPr lang="en-IN" dirty="0"/>
              <a:t>. </a:t>
            </a:r>
          </a:p>
          <a:p>
            <a:pPr lvl="1"/>
            <a:r>
              <a:rPr lang="en-IN" dirty="0"/>
              <a:t>The programmer doesn’t need to worry about declaring variables and their data types.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BD68639-1944-81FA-0A06-51BC1A7E1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477" y="2254477"/>
            <a:ext cx="4652206" cy="302666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11BDF0A-24AF-5840-E032-00895FD0A2C3}"/>
              </a:ext>
            </a:extLst>
          </p:cNvPr>
          <p:cNvSpPr txBox="1"/>
          <p:nvPr/>
        </p:nvSpPr>
        <p:spPr>
          <a:xfrm>
            <a:off x="7012477" y="5386688"/>
            <a:ext cx="4246675" cy="40011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lt1"/>
                </a:solidFill>
                <a:latin typeface="Arial Rounded MT Bold" panose="020F07040305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Automatic Data type Assignment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898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4EFEA-F1AE-396A-91B3-EFD312ADD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A4AEF-876A-C711-48D7-A318E673F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Python (cont.)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FC3FC-185B-3106-6FB9-04935F0F2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Interpreted Language</a:t>
            </a:r>
          </a:p>
          <a:p>
            <a:pPr lvl="1"/>
            <a:r>
              <a:rPr lang="en-IN" dirty="0"/>
              <a:t>A program written in high-level language has to be either </a:t>
            </a:r>
            <a:r>
              <a:rPr lang="en-IN" dirty="0">
                <a:solidFill>
                  <a:srgbClr val="C00000"/>
                </a:solidFill>
              </a:rPr>
              <a:t>compiled </a:t>
            </a:r>
            <a:r>
              <a:rPr lang="en-IN" dirty="0"/>
              <a:t>or</a:t>
            </a:r>
            <a:r>
              <a:rPr lang="en-IN" dirty="0">
                <a:solidFill>
                  <a:srgbClr val="C00000"/>
                </a:solidFill>
              </a:rPr>
              <a:t> interpreted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Python is an </a:t>
            </a:r>
            <a:r>
              <a:rPr lang="en-IN" dirty="0">
                <a:solidFill>
                  <a:srgbClr val="C00000"/>
                </a:solidFill>
              </a:rPr>
              <a:t>interpreted language </a:t>
            </a:r>
            <a:r>
              <a:rPr lang="en-IN" dirty="0"/>
              <a:t>which means that Python directly </a:t>
            </a:r>
            <a:r>
              <a:rPr lang="en-IN" dirty="0">
                <a:solidFill>
                  <a:srgbClr val="C00000"/>
                </a:solidFill>
              </a:rPr>
              <a:t>executes the code line by line</a:t>
            </a:r>
            <a:r>
              <a:rPr lang="en-IN" dirty="0"/>
              <a:t>. </a:t>
            </a:r>
          </a:p>
          <a:p>
            <a:pPr lvl="1"/>
            <a:r>
              <a:rPr lang="en-IN" dirty="0"/>
              <a:t>In case of any error, it stops further execution and reports back the error which has occurred.</a:t>
            </a:r>
            <a:endParaRPr lang="en-IN" dirty="0">
              <a:solidFill>
                <a:srgbClr val="C00000"/>
              </a:solidFill>
            </a:endParaRPr>
          </a:p>
          <a:p>
            <a:pPr lvl="1"/>
            <a:endParaRPr lang="en-IN" dirty="0"/>
          </a:p>
          <a:p>
            <a:pPr lvl="1"/>
            <a:endParaRPr lang="en-IN" dirty="0"/>
          </a:p>
          <a:p>
            <a:endParaRPr lang="en-IN" dirty="0"/>
          </a:p>
          <a:p>
            <a:pPr lvl="1"/>
            <a:endParaRPr 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5FCAAD59-AB83-937D-AD13-94772B69CB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A64A61-27DC-6130-31D1-D418480CE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572" y="2448300"/>
            <a:ext cx="7997151" cy="381413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DCC9E9F-68FF-B099-2BB6-1B276E18A5C3}"/>
              </a:ext>
            </a:extLst>
          </p:cNvPr>
          <p:cNvSpPr/>
          <p:nvPr/>
        </p:nvSpPr>
        <p:spPr>
          <a:xfrm>
            <a:off x="1049572" y="2859932"/>
            <a:ext cx="730590" cy="21400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CE2EBF-0E66-B992-781F-58828C21D9B5}"/>
              </a:ext>
            </a:extLst>
          </p:cNvPr>
          <p:cNvSpPr/>
          <p:nvPr/>
        </p:nvSpPr>
        <p:spPr>
          <a:xfrm>
            <a:off x="1049572" y="4597187"/>
            <a:ext cx="730590" cy="21400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B03A8A-9CF3-3406-EB7F-CC5DCD7F939D}"/>
              </a:ext>
            </a:extLst>
          </p:cNvPr>
          <p:cNvSpPr txBox="1"/>
          <p:nvPr/>
        </p:nvSpPr>
        <p:spPr>
          <a:xfrm>
            <a:off x="8044775" y="4477364"/>
            <a:ext cx="4016046" cy="40011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lt1"/>
                </a:solidFill>
                <a:latin typeface="Arial Rounded MT Bold" panose="020F07040305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r"/>
            <a:r>
              <a:rPr lang="en-US" dirty="0"/>
              <a:t>C : compiled language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EF5E45-2151-9BF5-A062-F90FC26E8EC8}"/>
              </a:ext>
            </a:extLst>
          </p:cNvPr>
          <p:cNvSpPr txBox="1"/>
          <p:nvPr/>
        </p:nvSpPr>
        <p:spPr>
          <a:xfrm>
            <a:off x="8044774" y="4985262"/>
            <a:ext cx="4016045" cy="40011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lt1"/>
                </a:solidFill>
                <a:latin typeface="Arial Rounded MT Bold" panose="020F07040305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r"/>
            <a:r>
              <a:rPr lang="en-US" dirty="0"/>
              <a:t>Python  : interpreted language</a:t>
            </a:r>
          </a:p>
        </p:txBody>
      </p:sp>
    </p:spTree>
    <p:extLst>
      <p:ext uri="{BB962C8B-B14F-4D97-AF65-F5344CB8AC3E}">
        <p14:creationId xmlns:p14="http://schemas.microsoft.com/office/powerpoint/2010/main" val="26548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EB6FB-1964-1CE2-E5DE-D5A22DE45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2036D-B826-DCF5-7E1C-7F4895997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Python (cont.)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85878-5ED3-2B0E-9B15-059FE9B17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Free and Open-Source</a:t>
            </a:r>
          </a:p>
          <a:p>
            <a:pPr lvl="1"/>
            <a:r>
              <a:rPr lang="en-US" dirty="0"/>
              <a:t>Python is completely </a:t>
            </a:r>
            <a:r>
              <a:rPr lang="en-US" dirty="0">
                <a:solidFill>
                  <a:srgbClr val="C00000"/>
                </a:solidFill>
              </a:rPr>
              <a:t>free to use and share </a:t>
            </a:r>
            <a:r>
              <a:rPr lang="en-US" dirty="0"/>
              <a:t>because it is released under an OSI-approved open-source license.</a:t>
            </a:r>
          </a:p>
          <a:p>
            <a:pPr lvl="1"/>
            <a:r>
              <a:rPr lang="en-US" dirty="0"/>
              <a:t>The Python Software Foundation (PSF) provides ready-to-install Python builds called </a:t>
            </a:r>
            <a:r>
              <a:rPr lang="en-US" dirty="0" err="1">
                <a:solidFill>
                  <a:srgbClr val="C00000"/>
                </a:solidFill>
              </a:rPr>
              <a:t>CPython</a:t>
            </a:r>
            <a:r>
              <a:rPr lang="en-US" dirty="0"/>
              <a:t> (C Implementation of Python) for all major operating systems.</a:t>
            </a:r>
          </a:p>
          <a:p>
            <a:pPr lvl="1"/>
            <a:r>
              <a:rPr lang="en-US" dirty="0"/>
              <a:t>You can also</a:t>
            </a:r>
            <a:r>
              <a:rPr lang="en-US" dirty="0">
                <a:solidFill>
                  <a:srgbClr val="C00000"/>
                </a:solidFill>
              </a:rPr>
              <a:t> download the </a:t>
            </a:r>
            <a:r>
              <a:rPr lang="en-US" dirty="0" err="1">
                <a:solidFill>
                  <a:srgbClr val="C00000"/>
                </a:solidFill>
              </a:rPr>
              <a:t>CPython</a:t>
            </a:r>
            <a:r>
              <a:rPr lang="en-US" dirty="0">
                <a:solidFill>
                  <a:srgbClr val="C00000"/>
                </a:solidFill>
              </a:rPr>
              <a:t> source code </a:t>
            </a:r>
            <a:r>
              <a:rPr lang="en-US" dirty="0"/>
              <a:t>from the </a:t>
            </a:r>
            <a:r>
              <a:rPr lang="en-US" dirty="0">
                <a:solidFill>
                  <a:srgbClr val="C00000"/>
                </a:solidFill>
              </a:rPr>
              <a:t>official Python website </a:t>
            </a:r>
            <a:r>
              <a:rPr lang="en-US" dirty="0"/>
              <a:t>or </a:t>
            </a:r>
            <a:r>
              <a:rPr lang="en-US" dirty="0">
                <a:solidFill>
                  <a:srgbClr val="C00000"/>
                </a:solidFill>
              </a:rPr>
              <a:t>its GitHub repository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If you want, you are </a:t>
            </a:r>
            <a:r>
              <a:rPr lang="en-US" dirty="0">
                <a:solidFill>
                  <a:srgbClr val="C00000"/>
                </a:solidFill>
              </a:rPr>
              <a:t>allowed to modify the source code and redistribute it</a:t>
            </a:r>
            <a:r>
              <a:rPr lang="en-US" dirty="0"/>
              <a:t>, as permitted by the </a:t>
            </a:r>
            <a:r>
              <a:rPr lang="en-US" dirty="0" err="1"/>
              <a:t>CPython</a:t>
            </a:r>
            <a:r>
              <a:rPr lang="en-US" dirty="0"/>
              <a:t> license.</a:t>
            </a:r>
            <a:endParaRPr lang="en-IN" dirty="0"/>
          </a:p>
          <a:p>
            <a:r>
              <a:rPr lang="en-IN" b="1" dirty="0">
                <a:solidFill>
                  <a:srgbClr val="C00000"/>
                </a:solidFill>
              </a:rPr>
              <a:t>Platform Independent and Portable</a:t>
            </a:r>
          </a:p>
          <a:p>
            <a:pPr lvl="1"/>
            <a:r>
              <a:rPr lang="en-IN" dirty="0"/>
              <a:t>In many languages like C/C++, you need to change your code to run the program on different platforms. </a:t>
            </a:r>
          </a:p>
          <a:p>
            <a:pPr lvl="1"/>
            <a:r>
              <a:rPr lang="en-IN" dirty="0"/>
              <a:t>That is not the same with Python. You only </a:t>
            </a:r>
            <a:r>
              <a:rPr lang="en-IN" dirty="0">
                <a:solidFill>
                  <a:srgbClr val="C00000"/>
                </a:solidFill>
              </a:rPr>
              <a:t>write once and run it anywhere</a:t>
            </a:r>
            <a:r>
              <a:rPr lang="en-IN" dirty="0"/>
              <a:t>.</a:t>
            </a:r>
          </a:p>
          <a:p>
            <a:pPr lvl="1"/>
            <a:r>
              <a:rPr lang="en-US" dirty="0"/>
              <a:t>Python runs on all major operating systems like Microsoft Windows, Linux, and Mac OS X.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same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Python source file </a:t>
            </a:r>
            <a:r>
              <a:rPr lang="en-US" dirty="0"/>
              <a:t>can be executed across these platforms </a:t>
            </a:r>
            <a:r>
              <a:rPr lang="en-US" dirty="0">
                <a:solidFill>
                  <a:srgbClr val="C00000"/>
                </a:solidFill>
              </a:rPr>
              <a:t>without modification</a:t>
            </a:r>
            <a:r>
              <a:rPr lang="en-US" dirty="0"/>
              <a:t>.</a:t>
            </a:r>
            <a:endParaRPr lang="en-IN" dirty="0">
              <a:solidFill>
                <a:srgbClr val="C00000"/>
              </a:solidFill>
            </a:endParaRPr>
          </a:p>
          <a:p>
            <a:endParaRPr lang="en-IN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615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D38F9-DBF8-6748-BE8B-7E6B7F93B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Python(cont.)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378B9-13E3-1F40-BB5D-41965DDE4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5"/>
            <a:ext cx="6588099" cy="5381712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Vast Libraries Support</a:t>
            </a:r>
          </a:p>
          <a:p>
            <a:pPr lvl="1"/>
            <a:r>
              <a:rPr lang="en-US" dirty="0"/>
              <a:t>Python provides a </a:t>
            </a:r>
            <a:r>
              <a:rPr lang="en-US" dirty="0">
                <a:solidFill>
                  <a:srgbClr val="C00000"/>
                </a:solidFill>
              </a:rPr>
              <a:t>huge standard library </a:t>
            </a:r>
            <a:r>
              <a:rPr lang="en-US" dirty="0"/>
              <a:t>for common tasks like file handling, networking, and data processing.</a:t>
            </a:r>
          </a:p>
          <a:p>
            <a:pPr lvl="1"/>
            <a:r>
              <a:rPr lang="en-US" dirty="0"/>
              <a:t>Thousands of </a:t>
            </a:r>
            <a:r>
              <a:rPr lang="en-US" dirty="0">
                <a:solidFill>
                  <a:srgbClr val="C00000"/>
                </a:solidFill>
              </a:rPr>
              <a:t>external libraries </a:t>
            </a:r>
            <a:r>
              <a:rPr lang="en-US" dirty="0"/>
              <a:t>(NumPy, Pandas, Django, etc.) are available for almost every domain.</a:t>
            </a:r>
          </a:p>
          <a:p>
            <a:pPr lvl="1"/>
            <a:r>
              <a:rPr lang="en-US" dirty="0"/>
              <a:t>Library support helps in </a:t>
            </a:r>
            <a:r>
              <a:rPr lang="en-US" dirty="0">
                <a:solidFill>
                  <a:srgbClr val="C00000"/>
                </a:solidFill>
              </a:rPr>
              <a:t>quick development </a:t>
            </a:r>
            <a:r>
              <a:rPr lang="en-US" dirty="0"/>
              <a:t>without writing everything from scratch.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It’s Safe</a:t>
            </a:r>
          </a:p>
          <a:p>
            <a:pPr lvl="1"/>
            <a:r>
              <a:rPr lang="en-US" dirty="0"/>
              <a:t>Python is considered safe because it </a:t>
            </a:r>
            <a:r>
              <a:rPr lang="en-US" dirty="0">
                <a:solidFill>
                  <a:srgbClr val="C00000"/>
                </a:solidFill>
              </a:rPr>
              <a:t>doesn’t use pointers</a:t>
            </a:r>
            <a:r>
              <a:rPr lang="en-US" dirty="0"/>
              <a:t> like C-based languages, which reduces many common programming errors.</a:t>
            </a:r>
          </a:p>
          <a:p>
            <a:pPr lvl="1"/>
            <a:r>
              <a:rPr lang="en-US" dirty="0"/>
              <a:t>Also, Python </a:t>
            </a:r>
            <a:r>
              <a:rPr lang="en-US" dirty="0">
                <a:solidFill>
                  <a:srgbClr val="C00000"/>
                </a:solidFill>
              </a:rPr>
              <a:t>never hides errors</a:t>
            </a:r>
            <a:r>
              <a:rPr lang="en-US" dirty="0"/>
              <a:t>. If something goes wrong, it </a:t>
            </a:r>
            <a:r>
              <a:rPr lang="en-US" dirty="0">
                <a:solidFill>
                  <a:srgbClr val="C00000"/>
                </a:solidFill>
              </a:rPr>
              <a:t>clearly shows an error message </a:t>
            </a:r>
            <a:r>
              <a:rPr lang="en-US" dirty="0"/>
              <a:t>so you can understand what happened and fix it easily.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8014D3-2441-353B-8EC1-0713EC932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280" y="1658566"/>
            <a:ext cx="5472720" cy="354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39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4EB143-9EDC-10E9-4DE9-EF5611789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Installing Python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64F4B7-A690-164A-C08F-1904A6F7FD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429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42150-EE49-3A42-AD1E-CC8F95720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Installing Python for Windows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D949917-2CD7-953B-D49A-5D8F007E6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Download Python</a:t>
            </a:r>
          </a:p>
          <a:p>
            <a:r>
              <a:rPr lang="en-US" sz="2200" dirty="0"/>
              <a:t>Open your web browser.</a:t>
            </a:r>
          </a:p>
          <a:p>
            <a:r>
              <a:rPr lang="en-US" sz="2200" dirty="0"/>
              <a:t>Visit the official Python website: </a:t>
            </a:r>
            <a:r>
              <a:rPr lang="en-US" u="sng" dirty="0"/>
              <a:t>https://www.python.org</a:t>
            </a:r>
          </a:p>
          <a:p>
            <a:r>
              <a:rPr lang="en-US" sz="2200" dirty="0"/>
              <a:t>Hover on the 'Downloads' menu.</a:t>
            </a:r>
          </a:p>
          <a:p>
            <a:r>
              <a:rPr lang="en-US" sz="2200" dirty="0"/>
              <a:t>Click the latest version of python.(Python 3.14.0)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68D6AF-E567-BBB1-072E-AEBD0965B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879" y="3161490"/>
            <a:ext cx="6000142" cy="3403262"/>
          </a:xfrm>
          <a:prstGeom prst="rect">
            <a:avLst/>
          </a:prstGeom>
          <a:ln w="3175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14722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23624-CADD-2DDB-4015-C3AB9E80E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E3A8C-DC78-BDAA-8A51-5898CE32D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Installing Python for Windows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74866F6-F4C8-DA2B-CAE5-205BAC0D5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b="1" dirty="0">
                <a:solidFill>
                  <a:srgbClr val="C00000"/>
                </a:solidFill>
              </a:rPr>
              <a:t>Run the Installer</a:t>
            </a:r>
          </a:p>
          <a:p>
            <a:r>
              <a:rPr lang="en-US" sz="2200" dirty="0"/>
              <a:t>After downloading, open the installer file.</a:t>
            </a:r>
          </a:p>
          <a:p>
            <a:r>
              <a:rPr lang="en-US" sz="2200" dirty="0"/>
              <a:t>Check the box that says 'Add python.exe to PATH’.</a:t>
            </a:r>
          </a:p>
          <a:p>
            <a:r>
              <a:rPr lang="en-US" sz="2200" dirty="0"/>
              <a:t>Click on 'Install Now’.</a:t>
            </a:r>
          </a:p>
          <a:p>
            <a:endParaRPr lang="en-US" dirty="0"/>
          </a:p>
          <a:p>
            <a:pPr marL="457200" indent="-457200">
              <a:buFont typeface="+mj-lt"/>
              <a:buAutoNum type="arabicPeriod" startAt="3"/>
            </a:pPr>
            <a:endParaRPr lang="en-US" b="1" dirty="0">
              <a:solidFill>
                <a:srgbClr val="C00000"/>
              </a:solidFill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b="1" dirty="0">
                <a:solidFill>
                  <a:srgbClr val="C00000"/>
                </a:solidFill>
              </a:rPr>
              <a:t>Verify Successful Installation</a:t>
            </a:r>
          </a:p>
          <a:p>
            <a:r>
              <a:rPr lang="en-US" dirty="0"/>
              <a:t>Open Command Prompt.</a:t>
            </a:r>
          </a:p>
          <a:p>
            <a:r>
              <a:rPr lang="en-US" dirty="0"/>
              <a:t>Type: </a:t>
            </a:r>
            <a:r>
              <a:rPr lang="en-US" b="1" dirty="0">
                <a:solidFill>
                  <a:srgbClr val="C00000"/>
                </a:solidFill>
              </a:rPr>
              <a:t>python --version. </a:t>
            </a:r>
          </a:p>
          <a:p>
            <a:r>
              <a:rPr lang="en-US" dirty="0"/>
              <a:t>You should see the installed Python version displayed.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3BD8DA-20A7-BFE2-17E5-214F68FEC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517" y="863445"/>
            <a:ext cx="4364652" cy="2978981"/>
          </a:xfrm>
          <a:prstGeom prst="rect">
            <a:avLst/>
          </a:prstGeom>
          <a:ln w="6350">
            <a:solidFill>
              <a:schemeClr val="tx2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B0990C-B365-ADBA-319D-3F5109544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834" y="4142764"/>
            <a:ext cx="4434335" cy="203471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9652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Installing Python for Linux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rgbClr val="C00000"/>
                </a:solidFill>
              </a:rPr>
              <a:t>Update System Packages:</a:t>
            </a:r>
          </a:p>
          <a:p>
            <a:pPr lvl="1"/>
            <a:r>
              <a:rPr lang="en-IN" dirty="0"/>
              <a:t>Open the Terminal</a:t>
            </a:r>
          </a:p>
          <a:p>
            <a:pPr lvl="1"/>
            <a:r>
              <a:rPr lang="en-IN" dirty="0"/>
              <a:t>Run: </a:t>
            </a:r>
            <a:r>
              <a:rPr lang="en-IN" b="1" dirty="0" err="1"/>
              <a:t>sudo</a:t>
            </a:r>
            <a:r>
              <a:rPr lang="en-IN" b="1" dirty="0"/>
              <a:t> apt update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rgbClr val="C00000"/>
                </a:solidFill>
              </a:rPr>
              <a:t>Install Python:</a:t>
            </a:r>
          </a:p>
          <a:p>
            <a:pPr lvl="1"/>
            <a:r>
              <a:rPr lang="en-IN" dirty="0"/>
              <a:t>Run: </a:t>
            </a:r>
            <a:r>
              <a:rPr lang="en-IN" b="1" dirty="0" err="1"/>
              <a:t>sudo</a:t>
            </a:r>
            <a:r>
              <a:rPr lang="en-IN" b="1" dirty="0"/>
              <a:t> apt install python3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rgbClr val="C00000"/>
                </a:solidFill>
              </a:rPr>
              <a:t>Verify Python Installation:</a:t>
            </a:r>
          </a:p>
          <a:p>
            <a:pPr lvl="1"/>
            <a:r>
              <a:rPr lang="en-IN" dirty="0"/>
              <a:t>Check Python version:</a:t>
            </a:r>
          </a:p>
          <a:p>
            <a:pPr lvl="1"/>
            <a:r>
              <a:rPr lang="en-IN" dirty="0"/>
              <a:t>Run: </a:t>
            </a:r>
            <a:r>
              <a:rPr lang="en-IN" b="1" dirty="0"/>
              <a:t>python3 --version</a:t>
            </a:r>
          </a:p>
        </p:txBody>
      </p:sp>
    </p:spTree>
    <p:extLst>
      <p:ext uri="{BB962C8B-B14F-4D97-AF65-F5344CB8AC3E}">
        <p14:creationId xmlns:p14="http://schemas.microsoft.com/office/powerpoint/2010/main" val="4217529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62A7B-29BA-2EFB-097D-283352D25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9BB5D2-6896-B259-98B6-1EF815264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Interface and IDE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85F286-D51C-13EA-16FC-5E49B079C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892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8919E-A8B4-B76F-11A2-3575B2E24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Interface and 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B660D-37F6-133B-715E-BDF117E09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5"/>
            <a:ext cx="6045884" cy="4321872"/>
          </a:xfrm>
        </p:spPr>
        <p:txBody>
          <a:bodyPr/>
          <a:lstStyle/>
          <a:p>
            <a:r>
              <a:rPr lang="en-IN" dirty="0"/>
              <a:t>Python supports </a:t>
            </a:r>
            <a:r>
              <a:rPr lang="en-IN" dirty="0">
                <a:solidFill>
                  <a:srgbClr val="C00000"/>
                </a:solidFill>
              </a:rPr>
              <a:t>two modes </a:t>
            </a:r>
            <a:r>
              <a:rPr lang="en-IN" dirty="0"/>
              <a:t>of programming: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solidFill>
                  <a:srgbClr val="C00000"/>
                </a:solidFill>
              </a:rPr>
              <a:t>Interactive Mode</a:t>
            </a:r>
          </a:p>
          <a:p>
            <a:pPr marL="1001712" lvl="1" indent="-457200"/>
            <a:r>
              <a:rPr lang="en-IN" dirty="0"/>
              <a:t>The code is written directly at the </a:t>
            </a:r>
            <a:r>
              <a:rPr lang="en-IN" dirty="0">
                <a:solidFill>
                  <a:srgbClr val="C00000"/>
                </a:solidFill>
              </a:rPr>
              <a:t>Python prompt</a:t>
            </a:r>
            <a:r>
              <a:rPr lang="en-IN" dirty="0"/>
              <a:t> (&gt;&gt;&gt;).</a:t>
            </a:r>
          </a:p>
          <a:p>
            <a:pPr marL="1001712" lvl="1" indent="-457200"/>
            <a:r>
              <a:rPr lang="en-IN" dirty="0"/>
              <a:t>The output is displayed immediately.</a:t>
            </a:r>
          </a:p>
          <a:p>
            <a:pPr marL="1001712" lvl="1" indent="-457200"/>
            <a:r>
              <a:rPr lang="en-IN" dirty="0"/>
              <a:t>The code written in this mode is </a:t>
            </a:r>
            <a:r>
              <a:rPr lang="en-IN" dirty="0">
                <a:solidFill>
                  <a:srgbClr val="C00000"/>
                </a:solidFill>
              </a:rPr>
              <a:t>not saved</a:t>
            </a:r>
            <a:r>
              <a:rPr lang="en-IN" dirty="0"/>
              <a:t>, so it has to be written each time.</a:t>
            </a:r>
          </a:p>
          <a:p>
            <a:pPr marL="1001712" lvl="1" indent="-457200"/>
            <a:r>
              <a:rPr lang="en-IN" dirty="0"/>
              <a:t>Thus it is preferred for experimentation purposes.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solidFill>
                  <a:srgbClr val="C00000"/>
                </a:solidFill>
              </a:rPr>
              <a:t>Script Mode</a:t>
            </a:r>
          </a:p>
          <a:p>
            <a:pPr lvl="1"/>
            <a:r>
              <a:rPr lang="en-IN" dirty="0"/>
              <a:t>The code is written in the file and then the file is run.</a:t>
            </a:r>
          </a:p>
          <a:p>
            <a:pPr lvl="1"/>
            <a:r>
              <a:rPr lang="en-IN" dirty="0"/>
              <a:t>The advantage of script mode is that </a:t>
            </a:r>
            <a:r>
              <a:rPr lang="en-IN" dirty="0">
                <a:solidFill>
                  <a:srgbClr val="C00000"/>
                </a:solidFill>
              </a:rPr>
              <a:t>the file can be saved for later use</a:t>
            </a:r>
            <a:r>
              <a:rPr lang="en-IN" dirty="0"/>
              <a:t>.</a:t>
            </a:r>
          </a:p>
          <a:p>
            <a:pPr lvl="1"/>
            <a:r>
              <a:rPr lang="en-IN" dirty="0">
                <a:solidFill>
                  <a:srgbClr val="C00000"/>
                </a:solidFill>
              </a:rPr>
              <a:t>To Save </a:t>
            </a:r>
            <a:r>
              <a:rPr lang="en-IN" dirty="0"/>
              <a:t>: IDLE -&gt; File -&gt; New File -&gt; write code -&gt; Save As -&gt; .</a:t>
            </a:r>
            <a:r>
              <a:rPr lang="en-IN" dirty="0" err="1"/>
              <a:t>py</a:t>
            </a:r>
            <a:r>
              <a:rPr lang="en-IN" dirty="0"/>
              <a:t> extension</a:t>
            </a:r>
          </a:p>
          <a:p>
            <a:pPr lvl="1"/>
            <a:r>
              <a:rPr lang="en-IN" dirty="0">
                <a:solidFill>
                  <a:srgbClr val="C00000"/>
                </a:solidFill>
              </a:rPr>
              <a:t>To Run </a:t>
            </a:r>
            <a:r>
              <a:rPr lang="en-IN" dirty="0"/>
              <a:t>: Run -&gt; Run Module OR (F5)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2F2377-4A57-A732-B7E3-5C6EE2883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249" y="808481"/>
            <a:ext cx="5776751" cy="2360043"/>
          </a:xfrm>
          <a:prstGeom prst="rect">
            <a:avLst/>
          </a:prstGeom>
          <a:ln w="3175">
            <a:solidFill>
              <a:schemeClr val="tx2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2F2AB4-5FE4-F958-9F57-3CBD69E3F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248" y="3510604"/>
            <a:ext cx="5776752" cy="2993911"/>
          </a:xfrm>
          <a:prstGeom prst="rect">
            <a:avLst/>
          </a:prstGeom>
          <a:ln w="3175">
            <a:solidFill>
              <a:schemeClr val="tx2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2BF785D-F43E-B0FE-2EAF-FE4D3B886042}"/>
              </a:ext>
            </a:extLst>
          </p:cNvPr>
          <p:cNvSpPr txBox="1"/>
          <p:nvPr/>
        </p:nvSpPr>
        <p:spPr>
          <a:xfrm>
            <a:off x="7704305" y="2442884"/>
            <a:ext cx="3735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Interactive Mode Programming</a:t>
            </a:r>
            <a:endParaRPr lang="en-IN" b="1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361C91-23CC-58A7-2854-0F4032E086BC}"/>
              </a:ext>
            </a:extLst>
          </p:cNvPr>
          <p:cNvSpPr txBox="1"/>
          <p:nvPr/>
        </p:nvSpPr>
        <p:spPr>
          <a:xfrm>
            <a:off x="7756925" y="6000879"/>
            <a:ext cx="3735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Script Mode Programming</a:t>
            </a:r>
            <a:endParaRPr lang="en-IN" b="1" dirty="0">
              <a:solidFill>
                <a:schemeClr val="tx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1B37B1-9613-FB80-38DB-1BAE0BF1B42D}"/>
              </a:ext>
            </a:extLst>
          </p:cNvPr>
          <p:cNvSpPr txBox="1"/>
          <p:nvPr/>
        </p:nvSpPr>
        <p:spPr>
          <a:xfrm>
            <a:off x="6415248" y="3168524"/>
            <a:ext cx="4118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>
                <a:solidFill>
                  <a:srgbClr val="C00000"/>
                </a:solidFill>
              </a:rPr>
              <a:t>File</a:t>
            </a:r>
            <a:endParaRPr lang="en-IN" sz="1000" b="1" dirty="0">
              <a:solidFill>
                <a:schemeClr val="tx2"/>
              </a:solidFill>
            </a:endParaRPr>
          </a:p>
        </p:txBody>
      </p:sp>
      <p:sp>
        <p:nvSpPr>
          <p:cNvPr id="17" name="Speech Bubble: Oval 16">
            <a:extLst>
              <a:ext uri="{FF2B5EF4-FFF2-40B4-BE49-F238E27FC236}">
                <a16:creationId xmlns:a16="http://schemas.microsoft.com/office/drawing/2014/main" id="{F5EE57A4-8ACC-D8E4-8A35-E3C59BFD05F7}"/>
              </a:ext>
            </a:extLst>
          </p:cNvPr>
          <p:cNvSpPr/>
          <p:nvPr/>
        </p:nvSpPr>
        <p:spPr>
          <a:xfrm>
            <a:off x="6261225" y="3024222"/>
            <a:ext cx="758759" cy="504916"/>
          </a:xfrm>
          <a:prstGeom prst="wedgeEllipseCallo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95A250-AA5D-0CB3-B7C8-6A8D1002BA52}"/>
              </a:ext>
            </a:extLst>
          </p:cNvPr>
          <p:cNvSpPr txBox="1"/>
          <p:nvPr/>
        </p:nvSpPr>
        <p:spPr>
          <a:xfrm>
            <a:off x="7750917" y="3781826"/>
            <a:ext cx="4118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>
                <a:solidFill>
                  <a:srgbClr val="C00000"/>
                </a:solidFill>
              </a:rPr>
              <a:t>Run</a:t>
            </a:r>
            <a:endParaRPr lang="en-IN" sz="1000" b="1" dirty="0">
              <a:solidFill>
                <a:schemeClr val="tx2"/>
              </a:solidFill>
            </a:endParaRPr>
          </a:p>
        </p:txBody>
      </p:sp>
      <p:sp>
        <p:nvSpPr>
          <p:cNvPr id="21" name="Speech Bubble: Oval 20">
            <a:extLst>
              <a:ext uri="{FF2B5EF4-FFF2-40B4-BE49-F238E27FC236}">
                <a16:creationId xmlns:a16="http://schemas.microsoft.com/office/drawing/2014/main" id="{EDDDDFFD-4B23-1602-9D1D-F652B9F12C65}"/>
              </a:ext>
            </a:extLst>
          </p:cNvPr>
          <p:cNvSpPr/>
          <p:nvPr/>
        </p:nvSpPr>
        <p:spPr>
          <a:xfrm>
            <a:off x="7597302" y="3658715"/>
            <a:ext cx="719037" cy="369332"/>
          </a:xfrm>
          <a:prstGeom prst="wedgeEllipseCallout">
            <a:avLst>
              <a:gd name="adj1" fmla="val -7304"/>
              <a:gd name="adj2" fmla="val 6776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590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7" grpId="0" animBg="1"/>
      <p:bldP spid="20" grpId="0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Interface and IDE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write python programs, we can use any text editor also.</a:t>
            </a:r>
          </a:p>
          <a:p>
            <a:r>
              <a:rPr lang="en-IN" dirty="0"/>
              <a:t>Create a new file in editor, save it as </a:t>
            </a:r>
            <a:r>
              <a:rPr lang="en-IN" b="1" dirty="0"/>
              <a:t>first</a:t>
            </a:r>
            <a:r>
              <a:rPr lang="en-IN" b="1" dirty="0">
                <a:solidFill>
                  <a:srgbClr val="FF0000"/>
                </a:solidFill>
              </a:rPr>
              <a:t>.py </a:t>
            </a:r>
            <a:r>
              <a:rPr lang="en-IN" dirty="0"/>
              <a:t>(.</a:t>
            </a:r>
            <a:r>
              <a:rPr lang="en-IN" dirty="0" err="1"/>
              <a:t>py</a:t>
            </a:r>
            <a:r>
              <a:rPr lang="en-IN" dirty="0"/>
              <a:t> – file extension)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To run the python file open command prompt and change directory to where your python file is.</a:t>
            </a:r>
          </a:p>
          <a:p>
            <a:r>
              <a:rPr lang="en-IN" dirty="0"/>
              <a:t>Next, run python command (python filename.py)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515509" y="2314302"/>
            <a:ext cx="403439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"Hello World..!!"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1015516" y="2314302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1015516" y="1985118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first.py</a:t>
            </a:r>
          </a:p>
        </p:txBody>
      </p:sp>
      <p:sp>
        <p:nvSpPr>
          <p:cNvPr id="10" name="Line Callout 1 9"/>
          <p:cNvSpPr/>
          <p:nvPr/>
        </p:nvSpPr>
        <p:spPr>
          <a:xfrm>
            <a:off x="5884333" y="1923732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89527"/>
              <a:gd name="adj4" fmla="val -14792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Python line does not end with </a:t>
            </a:r>
            <a:r>
              <a:rPr lang="en-IN" b="1" dirty="0">
                <a:solidFill>
                  <a:srgbClr val="FF0000"/>
                </a:solidFill>
              </a:rPr>
              <a:t>;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323E5C-04F9-9D91-1570-0DBEBA2AE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077" y="3429000"/>
            <a:ext cx="5562744" cy="30488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261C70-566A-1A57-7EB5-8FE4B708A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565" y="4088408"/>
            <a:ext cx="8715984" cy="105752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CBE27E7-DA20-E13A-3214-DDC4E2DF51DC}"/>
              </a:ext>
            </a:extLst>
          </p:cNvPr>
          <p:cNvCxnSpPr>
            <a:cxnSpLocks/>
          </p:cNvCxnSpPr>
          <p:nvPr/>
        </p:nvCxnSpPr>
        <p:spPr>
          <a:xfrm>
            <a:off x="7179013" y="4679004"/>
            <a:ext cx="817123" cy="0"/>
          </a:xfrm>
          <a:prstGeom prst="line">
            <a:avLst/>
          </a:prstGeom>
          <a:ln w="38100">
            <a:solidFill>
              <a:srgbClr val="B71B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0D5ED02-403D-A0B2-F725-5A395B2BA680}"/>
              </a:ext>
            </a:extLst>
          </p:cNvPr>
          <p:cNvCxnSpPr>
            <a:cxnSpLocks/>
          </p:cNvCxnSpPr>
          <p:nvPr/>
        </p:nvCxnSpPr>
        <p:spPr>
          <a:xfrm>
            <a:off x="8129080" y="4679004"/>
            <a:ext cx="1073285" cy="0"/>
          </a:xfrm>
          <a:prstGeom prst="line">
            <a:avLst/>
          </a:prstGeom>
          <a:ln w="38100">
            <a:solidFill>
              <a:srgbClr val="B71B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3886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build="p" animBg="1"/>
      <p:bldP spid="9" grpId="0" animBg="1"/>
      <p:bldP spid="11" grpId="0" animBg="1"/>
      <p:bldP spid="10" grpId="0" animBg="1"/>
      <p:bldP spid="10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E986B-9C97-8199-9D96-B329834B9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E95944-6B8F-1713-9DCF-3E4AD50A2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Installing Anaconda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058D25-24F5-A416-72EB-592B014BB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8382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3B7DD-44CE-B8F1-A112-F166009E5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24442-CEAD-768D-C266-3CE5A7F5D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Anaconda for 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B0E45-97AE-53C3-F893-C029D124D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37108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Anaconda</a:t>
            </a:r>
            <a:r>
              <a:rPr lang="en-US" dirty="0"/>
              <a:t> is a popular open-source distribution of the Python and R programming languages.</a:t>
            </a:r>
          </a:p>
          <a:p>
            <a:r>
              <a:rPr lang="en-US" dirty="0"/>
              <a:t>Anaconda comes packed with a suite of powerful tools designed to enhance your data science and machine learning workflow. </a:t>
            </a:r>
          </a:p>
          <a:p>
            <a:r>
              <a:rPr lang="en-US" dirty="0"/>
              <a:t>Following are some most useful ones:</a:t>
            </a:r>
          </a:p>
          <a:p>
            <a:pPr lvl="1"/>
            <a:r>
              <a:rPr lang="en-IN" dirty="0" err="1"/>
              <a:t>Jupyter</a:t>
            </a:r>
            <a:r>
              <a:rPr lang="en-IN" dirty="0"/>
              <a:t> Notebook</a:t>
            </a:r>
          </a:p>
          <a:p>
            <a:pPr lvl="1"/>
            <a:r>
              <a:rPr lang="en-IN" dirty="0"/>
              <a:t>Spyder</a:t>
            </a:r>
          </a:p>
          <a:p>
            <a:pPr lvl="1"/>
            <a:r>
              <a:rPr lang="en-IN" dirty="0" err="1"/>
              <a:t>Rstudio</a:t>
            </a:r>
            <a:endParaRPr lang="en-IN" dirty="0"/>
          </a:p>
          <a:p>
            <a:pPr lvl="1"/>
            <a:r>
              <a:rPr lang="en-IN" dirty="0"/>
              <a:t>VS Code (Visual Studio Code)</a:t>
            </a:r>
          </a:p>
          <a:p>
            <a:pPr lvl="1"/>
            <a:r>
              <a:rPr lang="en-IN" dirty="0"/>
              <a:t>Anaconda Navigator</a:t>
            </a:r>
          </a:p>
          <a:p>
            <a:pPr lvl="1"/>
            <a:r>
              <a:rPr lang="en-IN" dirty="0"/>
              <a:t>TensorFlow, etc…</a:t>
            </a:r>
            <a:endParaRPr lang="en-US" dirty="0"/>
          </a:p>
          <a:p>
            <a:endParaRPr lang="en-US" dirty="0"/>
          </a:p>
          <a:p>
            <a:r>
              <a:rPr lang="en-US" dirty="0"/>
              <a:t>We will use </a:t>
            </a:r>
            <a:r>
              <a:rPr lang="en-US" b="1" dirty="0" err="1">
                <a:solidFill>
                  <a:srgbClr val="C00000"/>
                </a:solidFill>
              </a:rPr>
              <a:t>Jupyter</a:t>
            </a:r>
            <a:r>
              <a:rPr lang="en-US" b="1" dirty="0">
                <a:solidFill>
                  <a:srgbClr val="C00000"/>
                </a:solidFill>
              </a:rPr>
              <a:t> Notebook</a:t>
            </a:r>
            <a:r>
              <a:rPr lang="en-US" sz="2000" b="1" dirty="0">
                <a:solidFill>
                  <a:srgbClr val="C00000"/>
                </a:solidFill>
              </a:rPr>
              <a:t> </a:t>
            </a:r>
            <a:r>
              <a:rPr lang="en-US" dirty="0"/>
              <a:t>for doing interactive programming and getting immediate visualization.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10C28A-6527-F803-3D25-7D384BD95F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305" y="1770612"/>
            <a:ext cx="5152078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303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FDD49-2BD0-82D1-D6F2-B11C7A8B8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3CCBC-F0F2-49E4-70CE-EA6774CE2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Installing Anaconda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6819C-7214-6F98-0023-8AE3949B0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1" y="863444"/>
            <a:ext cx="2348014" cy="5614375"/>
          </a:xfrm>
        </p:spPr>
        <p:txBody>
          <a:bodyPr/>
          <a:lstStyle/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4742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Download </a:t>
            </a:r>
            <a:r>
              <a:rPr lang="en-US" b="1" dirty="0">
                <a:solidFill>
                  <a:srgbClr val="C00000"/>
                </a:solidFill>
                <a:latin typeface="Roboto Condensed"/>
              </a:rPr>
              <a:t>Anaconda</a:t>
            </a:r>
            <a:endParaRPr lang="en-US" dirty="0"/>
          </a:p>
          <a:p>
            <a:pPr lvl="0"/>
            <a:r>
              <a:rPr lang="en-US" dirty="0"/>
              <a:t>Download Anaconda from Open official website:  </a:t>
            </a:r>
            <a:r>
              <a:rPr lang="en-US" u="sng" dirty="0">
                <a:solidFill>
                  <a:schemeClr val="accent3"/>
                </a:solidFill>
              </a:rPr>
              <a:t>repo.anaconda.com</a:t>
            </a:r>
            <a:endParaRPr lang="en-US" dirty="0">
              <a:solidFill>
                <a:schemeClr val="accent3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FD3ADB-6B41-23D9-B6B7-EC5697838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464" y="720929"/>
            <a:ext cx="9672536" cy="582578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CA4719B-24EC-E5FB-2490-2FF8DD28DB14}"/>
              </a:ext>
            </a:extLst>
          </p:cNvPr>
          <p:cNvSpPr/>
          <p:nvPr/>
        </p:nvSpPr>
        <p:spPr>
          <a:xfrm>
            <a:off x="3988340" y="5058384"/>
            <a:ext cx="2577830" cy="1488332"/>
          </a:xfrm>
          <a:prstGeom prst="rect">
            <a:avLst/>
          </a:prstGeom>
          <a:noFill/>
          <a:ln w="38100">
            <a:solidFill>
              <a:srgbClr val="B71B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38100">
                <a:solidFill>
                  <a:schemeClr val="tx1"/>
                </a:solidFill>
              </a:ln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961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93272-24FB-0ED7-24CE-6027F4D4F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537E24-81A3-CE13-0D7F-7D9C2B068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919" y="711201"/>
            <a:ext cx="7367081" cy="58841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225944-B14D-1FB9-6628-9EF49A24E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Installing Anaconda 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6A672-7DE1-CA6E-ADDD-8E9D0130C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4742"/>
              </a:buClr>
              <a:buSzTx/>
              <a:buFont typeface="+mj-lt"/>
              <a:buAutoNum type="arabicPeriod" startAt="2"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Run the Installer</a:t>
            </a:r>
            <a:endParaRPr lang="en-IN" dirty="0"/>
          </a:p>
          <a:p>
            <a:r>
              <a:rPr lang="en-IN" dirty="0"/>
              <a:t>Download the suitable installer.</a:t>
            </a:r>
          </a:p>
          <a:p>
            <a:r>
              <a:rPr lang="en-US" dirty="0"/>
              <a:t>Open installer.</a:t>
            </a:r>
          </a:p>
          <a:p>
            <a:r>
              <a:rPr lang="en-US" dirty="0"/>
              <a:t>Click on Next.</a:t>
            </a:r>
          </a:p>
          <a:p>
            <a:r>
              <a:rPr lang="en-US" dirty="0"/>
              <a:t>Check Agree to License Agreement.</a:t>
            </a:r>
          </a:p>
          <a:p>
            <a:r>
              <a:rPr lang="en-US" dirty="0"/>
              <a:t>Select Installation Type: </a:t>
            </a:r>
          </a:p>
          <a:p>
            <a:pPr lvl="1"/>
            <a:r>
              <a:rPr lang="en-US" dirty="0"/>
              <a:t>Just Me (recommended)</a:t>
            </a:r>
          </a:p>
          <a:p>
            <a:r>
              <a:rPr lang="en-US" dirty="0"/>
              <a:t>Choose installation location.</a:t>
            </a:r>
          </a:p>
          <a:p>
            <a:r>
              <a:rPr lang="en-US" dirty="0"/>
              <a:t>Select :</a:t>
            </a:r>
          </a:p>
          <a:p>
            <a:pPr lvl="1"/>
            <a:r>
              <a:rPr lang="en-US" dirty="0"/>
              <a:t>Add to PATH environment variables.</a:t>
            </a:r>
          </a:p>
          <a:p>
            <a:r>
              <a:rPr lang="en-US" dirty="0"/>
              <a:t>Click on install.</a:t>
            </a:r>
          </a:p>
          <a:p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ED91E-7208-8AF5-9E44-A11757DB4AC6}"/>
              </a:ext>
            </a:extLst>
          </p:cNvPr>
          <p:cNvSpPr/>
          <p:nvPr/>
        </p:nvSpPr>
        <p:spPr>
          <a:xfrm>
            <a:off x="4669282" y="2470826"/>
            <a:ext cx="2266541" cy="254037"/>
          </a:xfrm>
          <a:prstGeom prst="rect">
            <a:avLst/>
          </a:prstGeom>
          <a:noFill/>
          <a:ln w="38100">
            <a:solidFill>
              <a:srgbClr val="B71B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38100">
                <a:solidFill>
                  <a:schemeClr val="tx1"/>
                </a:solidFill>
              </a:ln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6714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5DF37-043B-366E-9822-8FB79EC1F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B1C44-99EE-E101-DFEB-4D3BB9F46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Installing Anaconda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7A851-19F6-5D89-A242-D90B1E7F3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b="1" dirty="0">
                <a:solidFill>
                  <a:srgbClr val="C00000"/>
                </a:solidFill>
              </a:rPr>
              <a:t>Verify Successful Installation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sz="2200" dirty="0">
                <a:solidFill>
                  <a:srgbClr val="C00000"/>
                </a:solidFill>
              </a:rPr>
              <a:t>Option 1: Using Anaconda Navigator</a:t>
            </a:r>
          </a:p>
          <a:p>
            <a:pPr lvl="1"/>
            <a:r>
              <a:rPr lang="en-US" dirty="0"/>
              <a:t>Open </a:t>
            </a:r>
            <a:r>
              <a:rPr lang="en-US" b="1" dirty="0"/>
              <a:t>Anaconda Navigator</a:t>
            </a:r>
            <a:r>
              <a:rPr lang="en-US" dirty="0"/>
              <a:t> from the Start Menu</a:t>
            </a:r>
          </a:p>
          <a:p>
            <a:pPr lvl="1"/>
            <a:r>
              <a:rPr lang="en-IN" dirty="0"/>
              <a:t>Find </a:t>
            </a:r>
            <a:r>
              <a:rPr lang="en-IN" b="1" dirty="0" err="1"/>
              <a:t>Jupyter</a:t>
            </a:r>
            <a:r>
              <a:rPr lang="en-IN" b="1" dirty="0"/>
              <a:t> Notebook</a:t>
            </a:r>
          </a:p>
          <a:p>
            <a:pPr lvl="1"/>
            <a:r>
              <a:rPr lang="en-IN" dirty="0"/>
              <a:t>Click </a:t>
            </a:r>
            <a:r>
              <a:rPr lang="en-IN" b="1" dirty="0"/>
              <a:t>Launch</a:t>
            </a:r>
            <a:r>
              <a:rPr lang="en-US" dirty="0"/>
              <a:t>. </a:t>
            </a:r>
          </a:p>
          <a:p>
            <a:pPr marL="457200" lvl="1" indent="0">
              <a:buNone/>
            </a:pPr>
            <a:r>
              <a:rPr lang="en-US" dirty="0"/>
              <a:t>     (It will open in your system’s default user folder)</a:t>
            </a:r>
          </a:p>
          <a:p>
            <a:pPr marL="457200" lvl="1" indent="0">
              <a:buNone/>
            </a:pPr>
            <a:endParaRPr lang="en-IN" dirty="0"/>
          </a:p>
          <a:p>
            <a:r>
              <a:rPr lang="en-US" sz="2200" dirty="0">
                <a:solidFill>
                  <a:srgbClr val="C00000"/>
                </a:solidFill>
              </a:rPr>
              <a:t>Option 2: </a:t>
            </a:r>
            <a:r>
              <a:rPr lang="en-IN" sz="2200" dirty="0">
                <a:solidFill>
                  <a:srgbClr val="C00000"/>
                </a:solidFill>
              </a:rPr>
              <a:t>Using Anaconda Prompt</a:t>
            </a:r>
            <a:endParaRPr lang="en-US" sz="2200" dirty="0">
              <a:solidFill>
                <a:srgbClr val="C00000"/>
              </a:solidFill>
            </a:endParaRPr>
          </a:p>
          <a:p>
            <a:pPr lvl="1"/>
            <a:r>
              <a:rPr lang="en-IN" dirty="0"/>
              <a:t>Open </a:t>
            </a:r>
            <a:r>
              <a:rPr lang="en-IN" b="1" dirty="0"/>
              <a:t>Anaconda Prompt</a:t>
            </a:r>
          </a:p>
          <a:p>
            <a:pPr lvl="1"/>
            <a:r>
              <a:rPr lang="en-US" dirty="0"/>
              <a:t>Navigate to the folder you want to use in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  <a:p>
            <a:pPr marL="457200" lvl="1" indent="0">
              <a:buNone/>
            </a:pPr>
            <a:r>
              <a:rPr lang="en-US" dirty="0"/>
              <a:t>      </a:t>
            </a:r>
            <a:r>
              <a:rPr lang="en-IN" dirty="0"/>
              <a:t>(Example: cd Desktop\Python)</a:t>
            </a:r>
            <a:endParaRPr lang="en-US" dirty="0"/>
          </a:p>
          <a:p>
            <a:pPr lvl="1"/>
            <a:r>
              <a:rPr lang="en-IN" dirty="0"/>
              <a:t>Type: </a:t>
            </a:r>
            <a:r>
              <a:rPr lang="en-IN" dirty="0" err="1"/>
              <a:t>jupyter</a:t>
            </a:r>
            <a:r>
              <a:rPr lang="en-IN" dirty="0"/>
              <a:t> notebook</a:t>
            </a:r>
          </a:p>
          <a:p>
            <a:pPr lvl="1"/>
            <a:r>
              <a:rPr lang="en-US" dirty="0"/>
              <a:t>Press </a:t>
            </a:r>
            <a:r>
              <a:rPr lang="en-US" b="1" dirty="0"/>
              <a:t>Enter</a:t>
            </a:r>
            <a:r>
              <a:rPr lang="en-US" dirty="0"/>
              <a:t> to open </a:t>
            </a:r>
            <a:r>
              <a:rPr lang="en-US" dirty="0" err="1"/>
              <a:t>Jupyter</a:t>
            </a:r>
            <a:r>
              <a:rPr lang="en-US" dirty="0"/>
              <a:t> Notebook (By default, it opens in the </a:t>
            </a:r>
            <a:r>
              <a:rPr lang="en-US" b="1" dirty="0"/>
              <a:t>default working directory)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AB71DF-9818-0918-118F-2F71C83C3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961" y="863446"/>
            <a:ext cx="6165859" cy="47202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009049-5988-1F37-8C96-D341E1AAD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961" y="1526322"/>
            <a:ext cx="6165859" cy="29961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86A890F-D79C-7596-0A04-01ACE205E6D1}"/>
              </a:ext>
            </a:extLst>
          </p:cNvPr>
          <p:cNvSpPr/>
          <p:nvPr/>
        </p:nvSpPr>
        <p:spPr>
          <a:xfrm>
            <a:off x="8852170" y="3745149"/>
            <a:ext cx="1566153" cy="183852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A50638-C771-4D00-3D99-838A7949D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79" y="787941"/>
            <a:ext cx="11929640" cy="509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51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AE3F2-7238-663F-3054-252BCD131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BA6529-2221-BACE-9E72-C877F823B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Indentation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BC3A77-88B8-FFE5-F993-5224635AD4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4246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C2B39-49AA-CB4F-9792-AC1F5B051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112FE-BC6B-D149-963D-833B6B7C7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Indentation in general means is, indenting words/spaces/lines in the document to follow the styling rule for documentation.</a:t>
            </a:r>
          </a:p>
          <a:p>
            <a:r>
              <a:rPr lang="en-US" dirty="0"/>
              <a:t>Indentation in Python refers to the </a:t>
            </a:r>
            <a:r>
              <a:rPr lang="en-US" dirty="0">
                <a:solidFill>
                  <a:srgbClr val="C00000"/>
                </a:solidFill>
              </a:rPr>
              <a:t>(spaces and tabs) </a:t>
            </a:r>
            <a:r>
              <a:rPr lang="en-US" dirty="0"/>
              <a:t>that are used </a:t>
            </a:r>
            <a:r>
              <a:rPr lang="en-US" dirty="0">
                <a:solidFill>
                  <a:srgbClr val="C00000"/>
                </a:solidFill>
              </a:rPr>
              <a:t>at the beginning of a statement</a:t>
            </a:r>
            <a:r>
              <a:rPr lang="en-US" dirty="0"/>
              <a:t>. 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statements with the same indentation </a:t>
            </a:r>
            <a:r>
              <a:rPr lang="en-US" dirty="0"/>
              <a:t>belong to the same group called a </a:t>
            </a:r>
            <a:r>
              <a:rPr lang="en-US" dirty="0">
                <a:solidFill>
                  <a:srgbClr val="C00000"/>
                </a:solidFill>
              </a:rPr>
              <a:t>suite</a:t>
            </a:r>
            <a:r>
              <a:rPr lang="en-US" dirty="0"/>
              <a:t>. </a:t>
            </a:r>
            <a:endParaRPr lang="en-IN" dirty="0"/>
          </a:p>
          <a:p>
            <a:r>
              <a:rPr lang="en-US" dirty="0"/>
              <a:t>Most programming languages like </a:t>
            </a:r>
            <a:r>
              <a:rPr lang="en-US" dirty="0">
                <a:solidFill>
                  <a:srgbClr val="C00000"/>
                </a:solidFill>
              </a:rPr>
              <a:t>C, C++, Java</a:t>
            </a:r>
            <a:r>
              <a:rPr lang="en-US" dirty="0"/>
              <a:t>, etc. use </a:t>
            </a:r>
            <a:r>
              <a:rPr lang="en-US" dirty="0">
                <a:solidFill>
                  <a:srgbClr val="C00000"/>
                </a:solidFill>
              </a:rPr>
              <a:t>curly braces {} </a:t>
            </a:r>
            <a:r>
              <a:rPr lang="en-US" dirty="0"/>
              <a:t>to define/identify a block of code in the program, </a:t>
            </a:r>
          </a:p>
          <a:p>
            <a:r>
              <a:rPr lang="en-US" dirty="0">
                <a:solidFill>
                  <a:srgbClr val="C00000"/>
                </a:solidFill>
              </a:rPr>
              <a:t>While in Python, it is done using the spaces or tabs</a:t>
            </a:r>
            <a:r>
              <a:rPr lang="en-US" dirty="0"/>
              <a:t>, which is known as </a:t>
            </a:r>
            <a:r>
              <a:rPr lang="en-US" dirty="0">
                <a:solidFill>
                  <a:srgbClr val="C00000"/>
                </a:solidFill>
              </a:rPr>
              <a:t>Indentation</a:t>
            </a:r>
            <a:r>
              <a:rPr lang="en-US" dirty="0"/>
              <a:t>.</a:t>
            </a:r>
          </a:p>
          <a:p>
            <a:r>
              <a:rPr lang="en-US" dirty="0"/>
              <a:t>It is generally known as </a:t>
            </a:r>
            <a:r>
              <a:rPr lang="en-US" dirty="0">
                <a:solidFill>
                  <a:srgbClr val="C00000"/>
                </a:solidFill>
              </a:rPr>
              <a:t>4 space rule </a:t>
            </a:r>
            <a:r>
              <a:rPr lang="en-US" dirty="0"/>
              <a:t>in Pep8 documentation of </a:t>
            </a:r>
            <a:r>
              <a:rPr lang="en-US" dirty="0">
                <a:solidFill>
                  <a:srgbClr val="C00000"/>
                </a:solidFill>
              </a:rPr>
              <a:t>rules for styling and designing the code for Python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C41F98-171C-F049-B94D-01AB8E4006F0}"/>
              </a:ext>
            </a:extLst>
          </p:cNvPr>
          <p:cNvSpPr/>
          <p:nvPr/>
        </p:nvSpPr>
        <p:spPr>
          <a:xfrm>
            <a:off x="969099" y="5213795"/>
            <a:ext cx="2721955" cy="1077218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Menlo" panose="020B0609030804020204" pitchFamily="49" charset="0"/>
              </a:rPr>
              <a:t>if Condition:</a:t>
            </a:r>
          </a:p>
          <a:p>
            <a:r>
              <a:rPr lang="en-IN" sz="1600" b="1" dirty="0">
                <a:solidFill>
                  <a:srgbClr val="000000"/>
                </a:solidFill>
                <a:latin typeface="Menlo" panose="020B0609030804020204" pitchFamily="49" charset="0"/>
              </a:rPr>
              <a:t>    print("True")</a:t>
            </a:r>
          </a:p>
          <a:p>
            <a:r>
              <a:rPr lang="en-IN" sz="1600" b="1" dirty="0">
                <a:solidFill>
                  <a:srgbClr val="000000"/>
                </a:solidFill>
                <a:latin typeface="Menlo" panose="020B0609030804020204" pitchFamily="49" charset="0"/>
              </a:rPr>
              <a:t> else:</a:t>
            </a:r>
          </a:p>
          <a:p>
            <a:r>
              <a:rPr lang="en-IN" sz="1600" b="1" dirty="0">
                <a:solidFill>
                  <a:srgbClr val="000000"/>
                </a:solidFill>
                <a:latin typeface="Menlo" panose="020B0609030804020204" pitchFamily="49" charset="0"/>
              </a:rPr>
              <a:t>    print("False")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DE6E85-8CBB-9D49-B753-6D6F6A54C3B4}"/>
              </a:ext>
            </a:extLst>
          </p:cNvPr>
          <p:cNvSpPr/>
          <p:nvPr/>
        </p:nvSpPr>
        <p:spPr>
          <a:xfrm>
            <a:off x="469106" y="5213795"/>
            <a:ext cx="499993" cy="107721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>
                <a:latin typeface="Consolas" panose="020B0609020204030204" pitchFamily="49" charset="0"/>
              </a:rPr>
              <a:t>4</a:t>
            </a:r>
            <a:endParaRPr lang="en-US" sz="1600" b="1" dirty="0"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96E7C351-8E9D-A643-96D0-723972564798}"/>
              </a:ext>
            </a:extLst>
          </p:cNvPr>
          <p:cNvSpPr/>
          <p:nvPr/>
        </p:nvSpPr>
        <p:spPr>
          <a:xfrm>
            <a:off x="469106" y="4884611"/>
            <a:ext cx="1778770" cy="329184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Line Callout 1 6">
            <a:extLst>
              <a:ext uri="{FF2B5EF4-FFF2-40B4-BE49-F238E27FC236}">
                <a16:creationId xmlns:a16="http://schemas.microsoft.com/office/drawing/2014/main" id="{CEFEDD48-434B-B64B-8342-9C23C8980A0E}"/>
              </a:ext>
            </a:extLst>
          </p:cNvPr>
          <p:cNvSpPr/>
          <p:nvPr/>
        </p:nvSpPr>
        <p:spPr>
          <a:xfrm>
            <a:off x="5003387" y="5331740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82408"/>
              <a:gd name="adj4" fmla="val -70600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IndentationError: </a:t>
            </a:r>
            <a:r>
              <a:rPr lang="en-US" dirty="0">
                <a:solidFill>
                  <a:schemeClr val="tx1"/>
                </a:solidFill>
              </a:rPr>
              <a:t>unindent does not match any outer indentation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2C4EBD-79A5-2D5A-C10C-90100A63AC9A}"/>
              </a:ext>
            </a:extLst>
          </p:cNvPr>
          <p:cNvCxnSpPr/>
          <p:nvPr/>
        </p:nvCxnSpPr>
        <p:spPr>
          <a:xfrm>
            <a:off x="969099" y="5958273"/>
            <a:ext cx="13012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708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animBg="1"/>
      <p:bldP spid="7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23C39-9192-A6E6-D19B-5D567887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CCC2EA-042E-12E1-B15C-ADB695CE9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F643D5-BC66-A1ED-4E34-DD6DC56EB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8298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EDF56-97BA-23FE-B318-23F5A5D60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8CD69-20D0-7300-41D0-4D9357377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9AE4E-D349-69B2-16FA-D8D7BC50D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281" y="914197"/>
            <a:ext cx="11746494" cy="5505450"/>
          </a:xfrm>
        </p:spPr>
        <p:txBody>
          <a:bodyPr/>
          <a:lstStyle/>
          <a:p>
            <a:r>
              <a:rPr lang="en-US" dirty="0"/>
              <a:t>In Python, comments are used to explain code and make it more readable. </a:t>
            </a:r>
          </a:p>
          <a:p>
            <a:r>
              <a:rPr lang="en-US" dirty="0"/>
              <a:t>They are ignored by the Python interpreter when the code is executed. </a:t>
            </a:r>
          </a:p>
          <a:p>
            <a:r>
              <a:rPr lang="en-US" dirty="0"/>
              <a:t>There are two main types of comments in Python: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solidFill>
                  <a:srgbClr val="C00000"/>
                </a:solidFill>
              </a:rPr>
              <a:t>Single-line Comments:</a:t>
            </a:r>
          </a:p>
          <a:p>
            <a:pPr marL="1001712" lvl="1" indent="-457200"/>
            <a:r>
              <a:rPr lang="en-IN" dirty="0"/>
              <a:t>These are created using the </a:t>
            </a:r>
            <a:r>
              <a:rPr lang="en-IN" b="1" dirty="0"/>
              <a:t>#</a:t>
            </a:r>
            <a:r>
              <a:rPr lang="en-IN" dirty="0"/>
              <a:t> symbol.</a:t>
            </a:r>
          </a:p>
          <a:p>
            <a:pPr marL="1001712" lvl="1" indent="-457200"/>
            <a:r>
              <a:rPr lang="en-IN" dirty="0"/>
              <a:t>Everything after the #, on that line is considered to be a comment.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solidFill>
                  <a:srgbClr val="C00000"/>
                </a:solidFill>
              </a:rPr>
              <a:t>Multi-line Comments:</a:t>
            </a:r>
          </a:p>
          <a:p>
            <a:pPr marL="1001712" lvl="1" indent="-457200"/>
            <a:r>
              <a:rPr lang="en-IN" dirty="0"/>
              <a:t>Python </a:t>
            </a:r>
            <a:r>
              <a:rPr lang="en-IN" dirty="0">
                <a:solidFill>
                  <a:srgbClr val="FF0000"/>
                </a:solidFill>
              </a:rPr>
              <a:t>does not provide </a:t>
            </a:r>
            <a:r>
              <a:rPr lang="en-IN" dirty="0"/>
              <a:t>the option for multiline comments.</a:t>
            </a:r>
          </a:p>
          <a:p>
            <a:pPr marL="1001712" lvl="1" indent="-457200"/>
            <a:r>
              <a:rPr lang="en-IN" dirty="0"/>
              <a:t>However it can be achieved using multiple #.</a:t>
            </a:r>
          </a:p>
          <a:p>
            <a:pPr marL="1001712" lvl="1" indent="-457200"/>
            <a:r>
              <a:rPr lang="en-IN" dirty="0"/>
              <a:t>Or these can be done using string literals </a:t>
            </a:r>
            <a:r>
              <a:rPr lang="en-IN" b="1" dirty="0"/>
              <a:t>(‘ ‘ ’ or “ ” ”) </a:t>
            </a:r>
            <a:r>
              <a:rPr lang="en-IN" dirty="0"/>
              <a:t>as Python ignores those string literals that are not assigned to a variable.</a:t>
            </a:r>
          </a:p>
          <a:p>
            <a:pPr marL="544512" lvl="1" indent="0">
              <a:buNone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255C26-58CB-C9FE-019D-B02D0250FFC5}"/>
              </a:ext>
            </a:extLst>
          </p:cNvPr>
          <p:cNvSpPr txBox="1"/>
          <p:nvPr/>
        </p:nvSpPr>
        <p:spPr>
          <a:xfrm>
            <a:off x="567563" y="5453056"/>
            <a:ext cx="7705898" cy="100450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endParaRPr lang="en-US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This is Single-line Comment</a:t>
            </a:r>
          </a:p>
          <a:p>
            <a:pPr>
              <a:lnSpc>
                <a:spcPts val="1425"/>
              </a:lnSpc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 World..!!"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#This comment is on the same line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58EAD6-E0F2-23C8-91FE-81C3A9716401}"/>
              </a:ext>
            </a:extLst>
          </p:cNvPr>
          <p:cNvSpPr txBox="1"/>
          <p:nvPr/>
        </p:nvSpPr>
        <p:spPr>
          <a:xfrm>
            <a:off x="7872041" y="1708606"/>
            <a:ext cx="4319959" cy="279986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endParaRPr lang="en-US" b="0" dirty="0">
              <a:solidFill>
                <a:srgbClr val="CE917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''' This is Multiline Comment </a:t>
            </a:r>
          </a:p>
          <a:p>
            <a:pPr>
              <a:lnSpc>
                <a:spcPts val="1425"/>
              </a:lnSpc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that spans multiple lines </a:t>
            </a:r>
          </a:p>
          <a:p>
            <a:pPr>
              <a:lnSpc>
                <a:spcPts val="1425"/>
              </a:lnSpc>
            </a:pPr>
            <a:endParaRPr lang="en-US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'''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 World..!!"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 </a:t>
            </a:r>
          </a:p>
          <a:p>
            <a:pPr>
              <a:lnSpc>
                <a:spcPts val="1425"/>
              </a:lnSpc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 Another multiline comments</a:t>
            </a:r>
          </a:p>
          <a:p>
            <a:pPr>
              <a:lnSpc>
                <a:spcPts val="1425"/>
              </a:lnSpc>
            </a:pPr>
            <a:endParaRPr lang="en-US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using  triple quotes </a:t>
            </a:r>
          </a:p>
          <a:p>
            <a:pPr>
              <a:lnSpc>
                <a:spcPts val="1425"/>
              </a:lnSpc>
            </a:pPr>
            <a:endParaRPr lang="en-US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970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7" grpId="1" animBg="1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CEC89-995F-39E4-0F6A-B56405CCA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DFAA0C-E4BB-DCBA-35A5-83E63E630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Reading Input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3D7602-1931-F8B8-00B4-DF68C0DCF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12927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8E574-D468-C44A-A4AF-B590E757B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Reding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5012C-9519-5847-A901-781E248F4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34632"/>
          </a:xfrm>
        </p:spPr>
        <p:txBody>
          <a:bodyPr/>
          <a:lstStyle/>
          <a:p>
            <a:r>
              <a:rPr lang="en-IN" dirty="0"/>
              <a:t>For </a:t>
            </a:r>
            <a:r>
              <a:rPr lang="en-IN" dirty="0">
                <a:solidFill>
                  <a:srgbClr val="C00000"/>
                </a:solidFill>
              </a:rPr>
              <a:t>taking input from the user</a:t>
            </a:r>
            <a:r>
              <a:rPr lang="en-IN" dirty="0"/>
              <a:t>, input() is used.</a:t>
            </a:r>
          </a:p>
          <a:p>
            <a:r>
              <a:rPr lang="en-IN" dirty="0"/>
              <a:t>The syntax of input function is as follows: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When input statement is executed, the </a:t>
            </a:r>
            <a:r>
              <a:rPr lang="en-IN" dirty="0">
                <a:solidFill>
                  <a:srgbClr val="C00000"/>
                </a:solidFill>
              </a:rPr>
              <a:t>prompt is displayed on the screen</a:t>
            </a:r>
            <a:r>
              <a:rPr lang="en-IN" dirty="0"/>
              <a:t>, and it </a:t>
            </a:r>
            <a:r>
              <a:rPr lang="en-IN" dirty="0">
                <a:solidFill>
                  <a:srgbClr val="C00000"/>
                </a:solidFill>
              </a:rPr>
              <a:t>waits for the user</a:t>
            </a:r>
            <a:r>
              <a:rPr lang="en-IN" dirty="0"/>
              <a:t> action.</a:t>
            </a:r>
          </a:p>
          <a:p>
            <a:r>
              <a:rPr lang="en-IN" dirty="0"/>
              <a:t>Whatever you enter as input, the input() </a:t>
            </a:r>
            <a:r>
              <a:rPr lang="en-IN" dirty="0">
                <a:solidFill>
                  <a:srgbClr val="C00000"/>
                </a:solidFill>
              </a:rPr>
              <a:t>converts it into a string</a:t>
            </a:r>
            <a:r>
              <a:rPr lang="en-IN" dirty="0"/>
              <a:t>. </a:t>
            </a:r>
          </a:p>
          <a:p>
            <a:r>
              <a:rPr lang="en-IN" dirty="0">
                <a:solidFill>
                  <a:srgbClr val="C00000"/>
                </a:solidFill>
              </a:rPr>
              <a:t>If you enter an integer value still input() function convert it into a string</a:t>
            </a:r>
            <a:r>
              <a:rPr lang="en-IN" dirty="0"/>
              <a:t>, </a:t>
            </a:r>
            <a:r>
              <a:rPr lang="en-IN" dirty="0">
                <a:solidFill>
                  <a:srgbClr val="C00000"/>
                </a:solidFill>
              </a:rPr>
              <a:t>that will need to be type casted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6A25C1-C974-2347-B0A4-8890AA017BD0}"/>
              </a:ext>
            </a:extLst>
          </p:cNvPr>
          <p:cNvSpPr/>
          <p:nvPr/>
        </p:nvSpPr>
        <p:spPr>
          <a:xfrm>
            <a:off x="1036004" y="2155468"/>
            <a:ext cx="5821996" cy="338554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Menlo" panose="020B0609030804020204" pitchFamily="49" charset="0"/>
              </a:rPr>
              <a:t>input([prompt])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F5EF8B-6810-DE4E-A8D2-ED702FA5D826}"/>
              </a:ext>
            </a:extLst>
          </p:cNvPr>
          <p:cNvSpPr/>
          <p:nvPr/>
        </p:nvSpPr>
        <p:spPr>
          <a:xfrm>
            <a:off x="536011" y="2155468"/>
            <a:ext cx="499993" cy="33855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B764F1CC-2F1C-9440-A694-A33B9B4DBBC2}"/>
              </a:ext>
            </a:extLst>
          </p:cNvPr>
          <p:cNvSpPr/>
          <p:nvPr/>
        </p:nvSpPr>
        <p:spPr>
          <a:xfrm>
            <a:off x="536011" y="1826284"/>
            <a:ext cx="1778770" cy="329184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C97D32B5-246A-D348-A901-FD8C92F2D6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3699319"/>
              </p:ext>
            </p:extLst>
          </p:nvPr>
        </p:nvGraphicFramePr>
        <p:xfrm>
          <a:off x="536011" y="2626931"/>
          <a:ext cx="11146748" cy="87418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38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8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42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Parameter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/>
                        <a:t>A string to be displayed on the screen (optional)</a:t>
                      </a:r>
                      <a:endParaRPr lang="en-US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741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9FE79-C2B8-032B-F933-393A4393C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A8EA8-1A52-9A4D-09C8-FC99E00D4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Input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E26C68-32E8-3925-C044-9F14A5A3FA47}"/>
              </a:ext>
            </a:extLst>
          </p:cNvPr>
          <p:cNvSpPr txBox="1"/>
          <p:nvPr/>
        </p:nvSpPr>
        <p:spPr>
          <a:xfrm>
            <a:off x="598105" y="889809"/>
            <a:ext cx="27574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Basic usage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8F6706-12B5-9759-EF41-322B8F2109BA}"/>
              </a:ext>
            </a:extLst>
          </p:cNvPr>
          <p:cNvSpPr txBox="1"/>
          <p:nvPr/>
        </p:nvSpPr>
        <p:spPr>
          <a:xfrm>
            <a:off x="5943616" y="925144"/>
            <a:ext cx="40524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Converting input to a number</a:t>
            </a:r>
            <a:endParaRPr lang="en-IN" sz="2200" b="1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64EEB9C-992F-39AF-DC38-98DED2666A98}"/>
              </a:ext>
            </a:extLst>
          </p:cNvPr>
          <p:cNvCxnSpPr/>
          <p:nvPr/>
        </p:nvCxnSpPr>
        <p:spPr>
          <a:xfrm>
            <a:off x="190036" y="3970754"/>
            <a:ext cx="11770468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3144C48-33B0-60F0-F988-5EE35079EE56}"/>
              </a:ext>
            </a:extLst>
          </p:cNvPr>
          <p:cNvSpPr txBox="1"/>
          <p:nvPr/>
        </p:nvSpPr>
        <p:spPr>
          <a:xfrm>
            <a:off x="368233" y="4122071"/>
            <a:ext cx="54868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Taking two inputs in one line of same datatype</a:t>
            </a:r>
            <a:endParaRPr lang="en-IN" sz="2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23F85B-2458-D728-9A0C-805805CA8CA4}"/>
              </a:ext>
            </a:extLst>
          </p:cNvPr>
          <p:cNvSpPr txBox="1"/>
          <p:nvPr/>
        </p:nvSpPr>
        <p:spPr>
          <a:xfrm>
            <a:off x="5955424" y="4115304"/>
            <a:ext cx="60050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Taking two inputs in one line of different datatypes</a:t>
            </a:r>
            <a:endParaRPr lang="en-IN" sz="22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B9FCDB-0F08-F26B-9599-EB92DD5A5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38" y="1339010"/>
            <a:ext cx="3539864" cy="15968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46FD2D9-EBA0-8CC6-7989-4B073199D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233" y="4571272"/>
            <a:ext cx="5486875" cy="181371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C52DFC0-D9D2-E440-1F9F-8EF232AB4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424" y="4540789"/>
            <a:ext cx="6005080" cy="18746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E2CCFF-3EB4-B647-8755-765278E15A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5108" y="1339010"/>
            <a:ext cx="4229467" cy="240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48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4" grpId="0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2F5AD-98F3-C226-A87D-66EF19698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53311F-8FBF-AC22-2C9B-8E170BDB6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Print Output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E83369-B78F-0DA7-6EEC-48A2052D4B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54732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8E574-D468-C44A-A4AF-B590E757B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5012C-9519-5847-A901-781E248F4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 print() function prints the </a:t>
            </a:r>
            <a:r>
              <a:rPr lang="en-US" dirty="0">
                <a:solidFill>
                  <a:srgbClr val="C00000"/>
                </a:solidFill>
              </a:rPr>
              <a:t>specified message </a:t>
            </a:r>
            <a:r>
              <a:rPr lang="en-US" dirty="0"/>
              <a:t>to the screen, or other standard output device. The object will be converted into a </a:t>
            </a:r>
            <a:r>
              <a:rPr lang="en-US" dirty="0">
                <a:solidFill>
                  <a:srgbClr val="C00000"/>
                </a:solidFill>
              </a:rPr>
              <a:t>string</a:t>
            </a:r>
            <a:r>
              <a:rPr lang="en-US" dirty="0"/>
              <a:t> before written to the screen.</a:t>
            </a:r>
          </a:p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3013E2-558B-0A48-9212-BFAAC5A1E50B}"/>
              </a:ext>
            </a:extLst>
          </p:cNvPr>
          <p:cNvSpPr/>
          <p:nvPr/>
        </p:nvSpPr>
        <p:spPr>
          <a:xfrm>
            <a:off x="1002551" y="2113815"/>
            <a:ext cx="8012106" cy="338554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Menlo" panose="020B0609030804020204" pitchFamily="49" charset="0"/>
              </a:rPr>
              <a:t>print(object(s), </a:t>
            </a:r>
            <a:r>
              <a:rPr lang="en-IN" sz="1600" b="1" dirty="0" err="1">
                <a:solidFill>
                  <a:srgbClr val="000000"/>
                </a:solidFill>
                <a:latin typeface="Menlo" panose="020B0609030804020204" pitchFamily="49" charset="0"/>
              </a:rPr>
              <a:t>sep</a:t>
            </a:r>
            <a:r>
              <a:rPr lang="en-IN" sz="1600" b="1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b="1" dirty="0">
                <a:solidFill>
                  <a:srgbClr val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‘ ‘</a:t>
            </a:r>
            <a:r>
              <a:rPr lang="en-IN" sz="1600" b="1" dirty="0">
                <a:solidFill>
                  <a:srgbClr val="000000"/>
                </a:solidFill>
                <a:latin typeface="Menlo" panose="020B0609030804020204" pitchFamily="49" charset="0"/>
              </a:rPr>
              <a:t>, end=</a:t>
            </a:r>
            <a:r>
              <a:rPr lang="en-IN" sz="1600" b="1" dirty="0">
                <a:solidFill>
                  <a:srgbClr val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‘</a:t>
            </a:r>
            <a:r>
              <a:rPr lang="en-IN" sz="1600" b="1" dirty="0">
                <a:solidFill>
                  <a:srgbClr val="000000"/>
                </a:solidFill>
                <a:latin typeface="Menlo" panose="020B0609030804020204" pitchFamily="49" charset="0"/>
              </a:rPr>
              <a:t>\n</a:t>
            </a:r>
            <a:r>
              <a:rPr lang="en-IN" sz="1600" b="1" dirty="0">
                <a:solidFill>
                  <a:srgbClr val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’</a:t>
            </a:r>
            <a:r>
              <a:rPr lang="en-IN" sz="1600" b="1" dirty="0">
                <a:solidFill>
                  <a:srgbClr val="000000"/>
                </a:solidFill>
                <a:latin typeface="Menlo" panose="020B0609030804020204" pitchFamily="49" charset="0"/>
              </a:rPr>
              <a:t>, file=</a:t>
            </a:r>
            <a:r>
              <a:rPr lang="en-IN" sz="1600" b="1" dirty="0" err="1">
                <a:solidFill>
                  <a:srgbClr val="000000"/>
                </a:solidFill>
                <a:latin typeface="Menlo" panose="020B0609030804020204" pitchFamily="49" charset="0"/>
              </a:rPr>
              <a:t>sys.stdout</a:t>
            </a:r>
            <a:r>
              <a:rPr lang="en-IN" sz="1600" b="1" dirty="0">
                <a:solidFill>
                  <a:srgbClr val="000000"/>
                </a:solidFill>
                <a:latin typeface="Menlo" panose="020B0609030804020204" pitchFamily="49" charset="0"/>
              </a:rPr>
              <a:t>, flush=False)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21B5BC-EFBC-7241-9BAC-5D4CFA6857A1}"/>
              </a:ext>
            </a:extLst>
          </p:cNvPr>
          <p:cNvSpPr/>
          <p:nvPr/>
        </p:nvSpPr>
        <p:spPr>
          <a:xfrm>
            <a:off x="502558" y="2113815"/>
            <a:ext cx="433819" cy="33855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A47D327F-5E68-5D45-9296-5BF721419726}"/>
              </a:ext>
            </a:extLst>
          </p:cNvPr>
          <p:cNvSpPr/>
          <p:nvPr/>
        </p:nvSpPr>
        <p:spPr>
          <a:xfrm>
            <a:off x="502558" y="1784631"/>
            <a:ext cx="1543348" cy="329184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graphicFrame>
        <p:nvGraphicFramePr>
          <p:cNvPr id="15" name="Content Placeholder 4">
            <a:extLst>
              <a:ext uri="{FF2B5EF4-FFF2-40B4-BE49-F238E27FC236}">
                <a16:creationId xmlns:a16="http://schemas.microsoft.com/office/drawing/2014/main" id="{01E1A7F1-00F6-574F-AA49-6BF704EF66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0681770"/>
              </p:ext>
            </p:extLst>
          </p:nvPr>
        </p:nvGraphicFramePr>
        <p:xfrm>
          <a:off x="502558" y="2862360"/>
          <a:ext cx="9671467" cy="349047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95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6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027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Parameter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39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Object(s)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/>
                        <a:t>One or more items to print. </a:t>
                      </a:r>
                    </a:p>
                    <a:p>
                      <a:r>
                        <a:rPr lang="en-US" sz="1800" kern="1200" baseline="0" dirty="0"/>
                        <a:t>Can be string, number, variable, etc.</a:t>
                      </a:r>
                    </a:p>
                    <a:p>
                      <a:r>
                        <a:rPr lang="en-US" sz="1800" kern="1200" baseline="0" dirty="0"/>
                        <a:t>Will be converted into string before printing.	</a:t>
                      </a:r>
                      <a:endParaRPr lang="en-US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209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sep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string inserted </a:t>
                      </a:r>
                      <a:r>
                        <a:rPr lang="en-US" b="1" dirty="0"/>
                        <a:t>between</a:t>
                      </a:r>
                      <a:r>
                        <a:rPr lang="en-US" dirty="0"/>
                        <a:t> the objects</a:t>
                      </a:r>
                      <a:r>
                        <a:rPr lang="en-US" sz="1800" kern="1200" baseline="0" dirty="0"/>
                        <a:t> (optional), Default : one space </a:t>
                      </a:r>
                      <a:r>
                        <a:rPr lang="en-US" sz="1600" b="0" kern="1200" dirty="0">
                          <a:solidFill>
                            <a:srgbClr val="000000"/>
                          </a:solidFill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(‘ ‘)</a:t>
                      </a:r>
                      <a:r>
                        <a:rPr lang="en-US" sz="1800" kern="1200" baseline="0" dirty="0"/>
                        <a:t>	</a:t>
                      </a:r>
                      <a:endParaRPr lang="en-US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47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/>
                        <a:t>A string to print at the end (optional), Default : '\n'</a:t>
                      </a:r>
                      <a:endParaRPr lang="en-US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148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Where to send the output, Default : </a:t>
                      </a:r>
                      <a:r>
                        <a:rPr lang="en-US" sz="1800" b="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sys.stdout</a:t>
                      </a: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(the screen)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output can be redirected to the file as well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505865"/>
                  </a:ext>
                </a:extLst>
              </a:tr>
              <a:tr h="39883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flush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Flush the buffer? (</a:t>
                      </a:r>
                      <a:r>
                        <a:rPr lang="en-US" sz="1800" b="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Trur</a:t>
                      </a: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/ False), Default :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634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641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 animBg="1"/>
      <p:bldP spid="13" grpId="0" animBg="1"/>
      <p:bldP spid="1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8E574-D468-C44A-A4AF-B590E757B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5012C-9519-5847-A901-781E248F4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BBC37A-934A-C2A2-C9DC-495FECCD3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17" y="1633265"/>
            <a:ext cx="2758679" cy="183657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21B7AB0-901E-92A1-0655-462264F1D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1140" y="1650298"/>
            <a:ext cx="4214225" cy="7468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F8A2322-EAD8-94B7-98A9-3DA2BB3C0AEE}"/>
              </a:ext>
            </a:extLst>
          </p:cNvPr>
          <p:cNvSpPr txBox="1"/>
          <p:nvPr/>
        </p:nvSpPr>
        <p:spPr>
          <a:xfrm>
            <a:off x="4982377" y="2889151"/>
            <a:ext cx="3715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Default </a:t>
            </a:r>
            <a:r>
              <a:rPr lang="en-IN" sz="2400" b="1" dirty="0" err="1">
                <a:solidFill>
                  <a:srgbClr val="C00000"/>
                </a:solidFill>
              </a:rPr>
              <a:t>sep</a:t>
            </a:r>
            <a:r>
              <a:rPr lang="en-IN" sz="2400" b="1" dirty="0">
                <a:solidFill>
                  <a:srgbClr val="C00000"/>
                </a:solidFill>
              </a:rPr>
              <a:t> is space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4F094B-3AE2-EE70-C1B8-FA4AA4D712B0}"/>
              </a:ext>
            </a:extLst>
          </p:cNvPr>
          <p:cNvSpPr txBox="1"/>
          <p:nvPr/>
        </p:nvSpPr>
        <p:spPr>
          <a:xfrm>
            <a:off x="530012" y="1275255"/>
            <a:ext cx="27574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Basic Printing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C0C85E-8B56-99A2-8B06-131BF53274F1}"/>
              </a:ext>
            </a:extLst>
          </p:cNvPr>
          <p:cNvSpPr txBox="1"/>
          <p:nvPr/>
        </p:nvSpPr>
        <p:spPr>
          <a:xfrm>
            <a:off x="3551139" y="1256824"/>
            <a:ext cx="32290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Printing Multiple Values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4FA97C-AD10-E9C8-FE7E-16AA8D9E6C34}"/>
              </a:ext>
            </a:extLst>
          </p:cNvPr>
          <p:cNvSpPr txBox="1"/>
          <p:nvPr/>
        </p:nvSpPr>
        <p:spPr>
          <a:xfrm>
            <a:off x="7932444" y="1219411"/>
            <a:ext cx="27574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Printing Variables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C63C05B-5B95-0041-147E-BAD7BEC41F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2444" y="1595652"/>
            <a:ext cx="3756986" cy="1348857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6B4AA2E-5D90-D7AE-69F7-C3CB302E8A52}"/>
              </a:ext>
            </a:extLst>
          </p:cNvPr>
          <p:cNvCxnSpPr/>
          <p:nvPr/>
        </p:nvCxnSpPr>
        <p:spPr>
          <a:xfrm>
            <a:off x="175098" y="3610835"/>
            <a:ext cx="11770468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ABF66A5-8C01-9876-FA09-9DE8F8D74940}"/>
              </a:ext>
            </a:extLst>
          </p:cNvPr>
          <p:cNvSpPr txBox="1"/>
          <p:nvPr/>
        </p:nvSpPr>
        <p:spPr>
          <a:xfrm>
            <a:off x="368234" y="3830243"/>
            <a:ext cx="27574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Using </a:t>
            </a:r>
            <a:r>
              <a:rPr lang="en-IN" sz="2200" b="1" dirty="0" err="1"/>
              <a:t>sep</a:t>
            </a:r>
            <a:r>
              <a:rPr lang="en-IN" sz="2200" b="1" dirty="0"/>
              <a:t> (separator)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911313-ACF5-D872-1FC9-0713F1DB89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235" y="4309770"/>
            <a:ext cx="6197932" cy="18137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B44C71-AC07-1ED1-B73E-704071600D9F}"/>
              </a:ext>
            </a:extLst>
          </p:cNvPr>
          <p:cNvSpPr txBox="1"/>
          <p:nvPr/>
        </p:nvSpPr>
        <p:spPr>
          <a:xfrm>
            <a:off x="8409766" y="3823476"/>
            <a:ext cx="27574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Using end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5CE1BC-E2D5-FCA9-5BE6-8E685679FB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5515" y="4261129"/>
            <a:ext cx="2248095" cy="21490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7C6AC5E-91E2-E5B2-AC85-98006750C1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5805" y="4254363"/>
            <a:ext cx="2911092" cy="13488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FB1733-E03A-B4A4-DE3B-9EBEA2E461D4}"/>
              </a:ext>
            </a:extLst>
          </p:cNvPr>
          <p:cNvSpPr txBox="1"/>
          <p:nvPr/>
        </p:nvSpPr>
        <p:spPr>
          <a:xfrm>
            <a:off x="7159464" y="5862329"/>
            <a:ext cx="3715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Default end is \n </a:t>
            </a:r>
          </a:p>
        </p:txBody>
      </p:sp>
    </p:spTree>
    <p:extLst>
      <p:ext uri="{BB962C8B-B14F-4D97-AF65-F5344CB8AC3E}">
        <p14:creationId xmlns:p14="http://schemas.microsoft.com/office/powerpoint/2010/main" val="290527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3" grpId="0"/>
      <p:bldP spid="4" grpId="0"/>
      <p:bldP spid="8" grpId="0"/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D6448-E71B-38C8-4241-FB29B0F3B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9D3D1-87F5-18BB-2A6E-2DD1C4DC8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 Output (f-string)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B27257E-2A86-DBCE-DB65-C2F14F092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f-strings are formatted string literals in Python.</a:t>
            </a:r>
          </a:p>
          <a:p>
            <a:r>
              <a:rPr lang="en-US" dirty="0"/>
              <a:t>These allow embedding variables and expressions inside strings using {} for clearer, faster, and more readable string formatting.</a:t>
            </a:r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789580D-BC58-9F22-BD9A-F0278BFB4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0049" y="4778942"/>
            <a:ext cx="3582938" cy="177885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0DC6D58-38F2-4CBD-E417-02859A33DAA8}"/>
              </a:ext>
            </a:extLst>
          </p:cNvPr>
          <p:cNvSpPr txBox="1"/>
          <p:nvPr/>
        </p:nvSpPr>
        <p:spPr>
          <a:xfrm>
            <a:off x="8130049" y="4351359"/>
            <a:ext cx="27574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Escape Characters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5F2EF20-5127-27B7-6B17-3CE0C21A7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90" y="2844790"/>
            <a:ext cx="3647482" cy="128499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A4A3CAC-B6D1-A7FD-9BA2-772D3A6859AB}"/>
              </a:ext>
            </a:extLst>
          </p:cNvPr>
          <p:cNvSpPr txBox="1"/>
          <p:nvPr/>
        </p:nvSpPr>
        <p:spPr>
          <a:xfrm>
            <a:off x="572390" y="2441056"/>
            <a:ext cx="27574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f-String Formatting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77EF3EE-3276-DB9A-4696-E9AB04291D7D}"/>
              </a:ext>
            </a:extLst>
          </p:cNvPr>
          <p:cNvCxnSpPr/>
          <p:nvPr/>
        </p:nvCxnSpPr>
        <p:spPr>
          <a:xfrm>
            <a:off x="282492" y="4312447"/>
            <a:ext cx="11770468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C7A06A5-2E7C-BF22-A46F-23E875169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44" y="4760494"/>
            <a:ext cx="2671730" cy="1609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3EB565-B20D-ABBA-089F-6EC7A9782CAC}"/>
              </a:ext>
            </a:extLst>
          </p:cNvPr>
          <p:cNvSpPr txBox="1"/>
          <p:nvPr/>
        </p:nvSpPr>
        <p:spPr>
          <a:xfrm>
            <a:off x="583358" y="4405513"/>
            <a:ext cx="35666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Expressions Inside f-strings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241BF4-5257-BD0D-DFB6-3DEA8DA1BB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0604" y="2884785"/>
            <a:ext cx="4930567" cy="10440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004796-01A1-400D-7B7D-9FE4F3136E2E}"/>
              </a:ext>
            </a:extLst>
          </p:cNvPr>
          <p:cNvSpPr txBox="1"/>
          <p:nvPr/>
        </p:nvSpPr>
        <p:spPr>
          <a:xfrm>
            <a:off x="4717258" y="2529627"/>
            <a:ext cx="27574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Decimal Formatting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B3305-5AF2-ABC6-E0BE-26AD724A14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4607" y="4743428"/>
            <a:ext cx="3315463" cy="17534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16BC680-430F-A8DC-D4F1-4C867CC73C16}"/>
              </a:ext>
            </a:extLst>
          </p:cNvPr>
          <p:cNvSpPr txBox="1"/>
          <p:nvPr/>
        </p:nvSpPr>
        <p:spPr>
          <a:xfrm>
            <a:off x="4344607" y="4405513"/>
            <a:ext cx="25363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Alignment</a:t>
            </a:r>
          </a:p>
        </p:txBody>
      </p:sp>
    </p:spTree>
    <p:extLst>
      <p:ext uri="{BB962C8B-B14F-4D97-AF65-F5344CB8AC3E}">
        <p14:creationId xmlns:p14="http://schemas.microsoft.com/office/powerpoint/2010/main" val="418027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6" grpId="0"/>
      <p:bldP spid="6" grpId="0"/>
      <p:bldP spid="9" grpId="0"/>
      <p:bldP spid="1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0F054-021D-1D4B-8906-51692AE72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5D317D-43D1-5547-92E5-72999EE37773}"/>
              </a:ext>
            </a:extLst>
          </p:cNvPr>
          <p:cNvSpPr/>
          <p:nvPr/>
        </p:nvSpPr>
        <p:spPr>
          <a:xfrm>
            <a:off x="902191" y="1387264"/>
            <a:ext cx="4550755" cy="32932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a =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str = input(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"Enter your name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num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int(input(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"Enter Number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-IN" sz="1600" dirty="0" err="1">
                <a:solidFill>
                  <a:srgbClr val="A31515"/>
                </a:solidFill>
                <a:latin typeface="Menlo" panose="020B0609030804020204" pitchFamily="49" charset="0"/>
              </a:rPr>
              <a:t>Hello"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 err="1">
                <a:solidFill>
                  <a:srgbClr val="A31515"/>
                </a:solidFill>
                <a:latin typeface="Menlo" panose="020B0609030804020204" pitchFamily="49" charset="0"/>
              </a:rPr>
              <a:t>"World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"Hello"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"World"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sep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"-"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"Hello"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"DU"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sep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"-"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,end=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"Hello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"DU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"a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a,end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",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-IN" sz="1600" dirty="0" err="1">
                <a:solidFill>
                  <a:srgbClr val="A31515"/>
                </a:solidFill>
                <a:latin typeface="Menlo" panose="020B0609030804020204" pitchFamily="49" charset="0"/>
              </a:rPr>
              <a:t>num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num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"your Name 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+ str)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"Your Name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str,sep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4B0FA7-043A-5B4E-9781-AB6666326AAA}"/>
              </a:ext>
            </a:extLst>
          </p:cNvPr>
          <p:cNvSpPr/>
          <p:nvPr/>
        </p:nvSpPr>
        <p:spPr>
          <a:xfrm>
            <a:off x="402198" y="1387264"/>
            <a:ext cx="499993" cy="32932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3306E25C-0AE7-E840-8055-1883A531731E}"/>
              </a:ext>
            </a:extLst>
          </p:cNvPr>
          <p:cNvSpPr/>
          <p:nvPr/>
        </p:nvSpPr>
        <p:spPr>
          <a:xfrm>
            <a:off x="402198" y="105808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30A89F-9926-0D43-BD83-4B132C1A1159}"/>
              </a:ext>
            </a:extLst>
          </p:cNvPr>
          <p:cNvSpPr/>
          <p:nvPr/>
        </p:nvSpPr>
        <p:spPr>
          <a:xfrm>
            <a:off x="6211983" y="1375334"/>
            <a:ext cx="3545334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Enter your name = ABC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Enter Number = 10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4 5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Hello World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Hello-World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Hello-DU Hello DU 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a =  4, </a:t>
            </a:r>
            <a:r>
              <a:rPr lang="en-IN" sz="1600" b="1" dirty="0" err="1">
                <a:latin typeface="Consolas" pitchFamily="49" charset="0"/>
                <a:cs typeface="Consolas" panose="020B0609020204030204" pitchFamily="49" charset="0"/>
              </a:rPr>
              <a:t>num</a:t>
            </a:r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=  10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your Name =ABC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Your Name =ABC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3E0CA86D-C187-054D-A4A2-2843ABBB5EAF}"/>
              </a:ext>
            </a:extLst>
          </p:cNvPr>
          <p:cNvSpPr/>
          <p:nvPr/>
        </p:nvSpPr>
        <p:spPr>
          <a:xfrm>
            <a:off x="6211983" y="1058080"/>
            <a:ext cx="126247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721947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uiExpand="1" build="p" animBg="1"/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/>
              <a:t>Program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799944"/>
            <a:ext cx="11929641" cy="5590565"/>
          </a:xfrm>
        </p:spPr>
        <p:txBody>
          <a:bodyPr/>
          <a:lstStyle/>
          <a:p>
            <a:r>
              <a:rPr lang="en-IN" dirty="0"/>
              <a:t>WAP to develop simple calculator in python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201706-5425-C740-85B5-B3D6F3A723A8}"/>
              </a:ext>
            </a:extLst>
          </p:cNvPr>
          <p:cNvSpPr/>
          <p:nvPr/>
        </p:nvSpPr>
        <p:spPr>
          <a:xfrm>
            <a:off x="991401" y="1632637"/>
            <a:ext cx="7282804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number1 = int(input(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"Enter first number: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number2 = int(input(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"Enter second number: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print(number1,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"+"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number2,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number1+number2)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print(number1,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"*"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number2,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number1*number2)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print(number1,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"-"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number2,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number1-number2)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print(number1,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"/"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number2,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number1/number2)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19642F-5D1A-FE4D-B4D4-C463D97A5E30}"/>
              </a:ext>
            </a:extLst>
          </p:cNvPr>
          <p:cNvSpPr/>
          <p:nvPr/>
        </p:nvSpPr>
        <p:spPr>
          <a:xfrm>
            <a:off x="491408" y="1632637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24" name="Rectangle: Top Corners Rounded 6">
            <a:extLst>
              <a:ext uri="{FF2B5EF4-FFF2-40B4-BE49-F238E27FC236}">
                <a16:creationId xmlns:a16="http://schemas.microsoft.com/office/drawing/2014/main" id="{BD17EFDB-5E2A-0E47-A330-1E891ECFE3E0}"/>
              </a:ext>
            </a:extLst>
          </p:cNvPr>
          <p:cNvSpPr/>
          <p:nvPr/>
        </p:nvSpPr>
        <p:spPr>
          <a:xfrm>
            <a:off x="491408" y="130345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C836B4-3A87-494C-AB65-0CA690BFC3A5}"/>
              </a:ext>
            </a:extLst>
          </p:cNvPr>
          <p:cNvSpPr/>
          <p:nvPr/>
        </p:nvSpPr>
        <p:spPr>
          <a:xfrm>
            <a:off x="491408" y="3746254"/>
            <a:ext cx="3545334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Enter first number: 3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Enter second number: 3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3 + 3 = 6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3 * 3 = 9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3 - 3 = 0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3 / 3 = 1.0</a:t>
            </a:r>
          </a:p>
        </p:txBody>
      </p:sp>
      <p:sp>
        <p:nvSpPr>
          <p:cNvPr id="26" name="Rectangle: Top Corners Rounded 6">
            <a:extLst>
              <a:ext uri="{FF2B5EF4-FFF2-40B4-BE49-F238E27FC236}">
                <a16:creationId xmlns:a16="http://schemas.microsoft.com/office/drawing/2014/main" id="{62ED6631-A899-4B4C-9AC3-E75EAD79764E}"/>
              </a:ext>
            </a:extLst>
          </p:cNvPr>
          <p:cNvSpPr/>
          <p:nvPr/>
        </p:nvSpPr>
        <p:spPr>
          <a:xfrm>
            <a:off x="491408" y="3429000"/>
            <a:ext cx="126247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842918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uild="p" animBg="1"/>
      <p:bldP spid="23" grpId="0" animBg="1"/>
      <p:bldP spid="24" grpId="0" animBg="1"/>
      <p:bldP spid="25" grpId="0" uiExpand="1" build="p" animBg="1"/>
      <p:bldP spid="2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/>
              <a:t>Program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799944"/>
            <a:ext cx="11929641" cy="5590565"/>
          </a:xfrm>
        </p:spPr>
        <p:txBody>
          <a:bodyPr/>
          <a:lstStyle/>
          <a:p>
            <a:r>
              <a:rPr lang="en-IN" dirty="0"/>
              <a:t>WAP to calculate simple interest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2CD77B-7355-4047-B1C0-9A2D543AED50}"/>
              </a:ext>
            </a:extLst>
          </p:cNvPr>
          <p:cNvSpPr/>
          <p:nvPr/>
        </p:nvSpPr>
        <p:spPr>
          <a:xfrm>
            <a:off x="999414" y="1639271"/>
            <a:ext cx="7282804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 = int(input(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"Enter P: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R = int(input(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"Enter R: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T = int(input(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"Enter N: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Simple_interest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(P * R * T) /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100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"The simple interest is:"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Simple_interest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46B9B0-EA81-0647-88CC-67081B168111}"/>
              </a:ext>
            </a:extLst>
          </p:cNvPr>
          <p:cNvSpPr/>
          <p:nvPr/>
        </p:nvSpPr>
        <p:spPr>
          <a:xfrm>
            <a:off x="499421" y="1639271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21" name="Rectangle: Top Corners Rounded 6">
            <a:extLst>
              <a:ext uri="{FF2B5EF4-FFF2-40B4-BE49-F238E27FC236}">
                <a16:creationId xmlns:a16="http://schemas.microsoft.com/office/drawing/2014/main" id="{FCC79A3A-C32F-9445-A595-5C10C6765460}"/>
              </a:ext>
            </a:extLst>
          </p:cNvPr>
          <p:cNvSpPr/>
          <p:nvPr/>
        </p:nvSpPr>
        <p:spPr>
          <a:xfrm>
            <a:off x="499421" y="131008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Example2.py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217CDE-4761-B544-B129-33DE33B3D90E}"/>
              </a:ext>
            </a:extLst>
          </p:cNvPr>
          <p:cNvSpPr/>
          <p:nvPr/>
        </p:nvSpPr>
        <p:spPr>
          <a:xfrm>
            <a:off x="499421" y="3514754"/>
            <a:ext cx="4050277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Enter P: 10000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Enter R: 5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Enter N: 1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The simple interest is: 500.0</a:t>
            </a:r>
          </a:p>
        </p:txBody>
      </p:sp>
      <p:sp>
        <p:nvSpPr>
          <p:cNvPr id="23" name="Rectangle: Top Corners Rounded 6">
            <a:extLst>
              <a:ext uri="{FF2B5EF4-FFF2-40B4-BE49-F238E27FC236}">
                <a16:creationId xmlns:a16="http://schemas.microsoft.com/office/drawing/2014/main" id="{9435A1AB-233B-8344-8059-A1098B8DFF2A}"/>
              </a:ext>
            </a:extLst>
          </p:cNvPr>
          <p:cNvSpPr/>
          <p:nvPr/>
        </p:nvSpPr>
        <p:spPr>
          <a:xfrm>
            <a:off x="499421" y="3197500"/>
            <a:ext cx="126247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73415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 animBg="1"/>
      <p:bldP spid="20" grpId="0" animBg="1"/>
      <p:bldP spid="21" grpId="0" animBg="1"/>
      <p:bldP spid="22" grpId="0" uiExpand="1" build="p" animBg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/>
              <a:t>Program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799944"/>
            <a:ext cx="11929641" cy="5590565"/>
          </a:xfrm>
        </p:spPr>
        <p:txBody>
          <a:bodyPr/>
          <a:lstStyle/>
          <a:p>
            <a:r>
              <a:rPr lang="en-IN" dirty="0"/>
              <a:t>WAP to calculate area of circle.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7238C0-42A4-6D4B-9339-A61E1CE24396}"/>
              </a:ext>
            </a:extLst>
          </p:cNvPr>
          <p:cNvSpPr/>
          <p:nvPr/>
        </p:nvSpPr>
        <p:spPr>
          <a:xfrm>
            <a:off x="977112" y="1650538"/>
            <a:ext cx="7282804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PI =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3.14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r = float(input(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"Enter the radius of a circle:"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area = PI * r * r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"Area of a circle = %.2f"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%area)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B89899-B118-984E-8C49-944AF3433FAF}"/>
              </a:ext>
            </a:extLst>
          </p:cNvPr>
          <p:cNvSpPr/>
          <p:nvPr/>
        </p:nvSpPr>
        <p:spPr>
          <a:xfrm>
            <a:off x="477119" y="1650538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12A0B103-383F-6E4D-96E4-176232B0EF8D}"/>
              </a:ext>
            </a:extLst>
          </p:cNvPr>
          <p:cNvSpPr/>
          <p:nvPr/>
        </p:nvSpPr>
        <p:spPr>
          <a:xfrm>
            <a:off x="477119" y="1321354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Example3.py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DDA960-75F4-B948-9626-A5D4437BD180}"/>
              </a:ext>
            </a:extLst>
          </p:cNvPr>
          <p:cNvSpPr/>
          <p:nvPr/>
        </p:nvSpPr>
        <p:spPr>
          <a:xfrm>
            <a:off x="477119" y="3456322"/>
            <a:ext cx="4540930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Enter the radius of a circle:100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Area of a circle = 31400.00</a:t>
            </a:r>
          </a:p>
        </p:txBody>
      </p:sp>
      <p:sp>
        <p:nvSpPr>
          <p:cNvPr id="21" name="Rectangle: Top Corners Rounded 6">
            <a:extLst>
              <a:ext uri="{FF2B5EF4-FFF2-40B4-BE49-F238E27FC236}">
                <a16:creationId xmlns:a16="http://schemas.microsoft.com/office/drawing/2014/main" id="{871562F6-23B5-434B-8966-297BB65058F3}"/>
              </a:ext>
            </a:extLst>
          </p:cNvPr>
          <p:cNvSpPr/>
          <p:nvPr/>
        </p:nvSpPr>
        <p:spPr>
          <a:xfrm>
            <a:off x="477119" y="3139068"/>
            <a:ext cx="126247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167390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 animBg="1"/>
      <p:bldP spid="17" grpId="0" animBg="1"/>
      <p:bldP spid="19" grpId="0" animBg="1"/>
      <p:bldP spid="20" grpId="0" uiExpand="1" build="p" animBg="1"/>
      <p:bldP spid="2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E4BCA-2831-AF97-B7EB-E4052B453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FED0EB-E86D-3D47-0EBD-41181DF31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33FBAE-E27C-99C3-52CC-1BC6456BE4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74641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702725"/>
          </a:xfrm>
        </p:spPr>
        <p:txBody>
          <a:bodyPr/>
          <a:lstStyle/>
          <a:p>
            <a:r>
              <a:rPr lang="en-US" dirty="0"/>
              <a:t>A Python variable is a </a:t>
            </a:r>
            <a:r>
              <a:rPr lang="en-US" b="1" dirty="0">
                <a:solidFill>
                  <a:srgbClr val="C00000"/>
                </a:solidFill>
              </a:rPr>
              <a:t>named reference </a:t>
            </a:r>
            <a:r>
              <a:rPr lang="en-US" dirty="0"/>
              <a:t>to a value stored in memory.</a:t>
            </a:r>
          </a:p>
          <a:p>
            <a:r>
              <a:rPr lang="en-US" dirty="0"/>
              <a:t>Unlike other programming languages, Python has </a:t>
            </a:r>
            <a:r>
              <a:rPr lang="en-US" dirty="0">
                <a:solidFill>
                  <a:srgbClr val="C00000"/>
                </a:solidFill>
              </a:rPr>
              <a:t>no command </a:t>
            </a:r>
            <a:r>
              <a:rPr lang="en-US" dirty="0"/>
              <a:t>for declaring a variable.</a:t>
            </a:r>
          </a:p>
          <a:p>
            <a:r>
              <a:rPr lang="en-US" dirty="0"/>
              <a:t>A variable is created the moment you </a:t>
            </a:r>
            <a:r>
              <a:rPr lang="en-US" dirty="0">
                <a:solidFill>
                  <a:srgbClr val="C00000"/>
                </a:solidFill>
              </a:rPr>
              <a:t>first assign </a:t>
            </a:r>
            <a:r>
              <a:rPr lang="en-US" dirty="0"/>
              <a:t>a value to it.</a:t>
            </a:r>
          </a:p>
          <a:p>
            <a:r>
              <a:rPr lang="en-IN" dirty="0"/>
              <a:t>Python uses Dynamic Typing so,</a:t>
            </a:r>
            <a:endParaRPr lang="en-US" dirty="0"/>
          </a:p>
          <a:p>
            <a:pPr lvl="1"/>
            <a:r>
              <a:rPr lang="en-US" dirty="0"/>
              <a:t>You do not need to specify the data type while creating a variable.</a:t>
            </a:r>
          </a:p>
          <a:p>
            <a:pPr lvl="1"/>
            <a:r>
              <a:rPr lang="en-US" dirty="0"/>
              <a:t>Python </a:t>
            </a:r>
            <a:r>
              <a:rPr lang="en-US" b="1" dirty="0"/>
              <a:t>automatically determines</a:t>
            </a:r>
            <a:r>
              <a:rPr lang="en-US" dirty="0"/>
              <a:t> the data type based on the value assigned.</a:t>
            </a:r>
          </a:p>
          <a:p>
            <a:pPr lvl="1"/>
            <a:r>
              <a:rPr lang="en-US" dirty="0"/>
              <a:t>You can </a:t>
            </a:r>
            <a:r>
              <a:rPr lang="en-US" b="1" dirty="0"/>
              <a:t>reassign a new value of a different type</a:t>
            </a:r>
            <a:r>
              <a:rPr lang="en-US" dirty="0"/>
              <a:t>:</a:t>
            </a:r>
            <a:endParaRPr lang="en-IN" dirty="0"/>
          </a:p>
          <a:p>
            <a:r>
              <a:rPr lang="en-IN" dirty="0"/>
              <a:t>We can check the current data type of the variable with </a:t>
            </a:r>
            <a:r>
              <a:rPr lang="en-IN" b="1" dirty="0">
                <a:solidFill>
                  <a:srgbClr val="C00000"/>
                </a:solidFill>
              </a:rPr>
              <a:t>type(</a:t>
            </a:r>
            <a:r>
              <a:rPr lang="en-IN" b="1" dirty="0" err="1">
                <a:solidFill>
                  <a:srgbClr val="C00000"/>
                </a:solidFill>
              </a:rPr>
              <a:t>variablename</a:t>
            </a:r>
            <a:r>
              <a:rPr lang="en-IN" b="1" dirty="0">
                <a:solidFill>
                  <a:srgbClr val="C00000"/>
                </a:solidFill>
              </a:rPr>
              <a:t>)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in-built function.</a:t>
            </a:r>
          </a:p>
          <a:p>
            <a:r>
              <a:rPr lang="en-IN" dirty="0"/>
              <a:t>Rules for Variable Name : </a:t>
            </a:r>
          </a:p>
          <a:p>
            <a:pPr lvl="1"/>
            <a:r>
              <a:rPr lang="en-IN" dirty="0"/>
              <a:t>Variable Name </a:t>
            </a:r>
            <a:r>
              <a:rPr lang="en-IN" dirty="0">
                <a:solidFill>
                  <a:srgbClr val="FF0000"/>
                </a:solidFill>
              </a:rPr>
              <a:t>must begin with Letter or Underscore(_),  </a:t>
            </a:r>
            <a:r>
              <a:rPr lang="en-IN" dirty="0"/>
              <a:t>it </a:t>
            </a:r>
            <a:r>
              <a:rPr lang="en-IN" dirty="0">
                <a:solidFill>
                  <a:srgbClr val="FF0000"/>
                </a:solidFill>
              </a:rPr>
              <a:t>can not start with digit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Spaces and Special Characters(</a:t>
            </a:r>
            <a:r>
              <a:rPr lang="en-IN" dirty="0">
                <a:solidFill>
                  <a:srgbClr val="FF0000"/>
                </a:solidFill>
              </a:rPr>
              <a:t>except underscore</a:t>
            </a:r>
            <a:r>
              <a:rPr lang="en-IN" dirty="0"/>
              <a:t>) are not allowed.</a:t>
            </a:r>
          </a:p>
          <a:p>
            <a:pPr lvl="1"/>
            <a:r>
              <a:rPr lang="en-IN" dirty="0"/>
              <a:t>Python </a:t>
            </a:r>
            <a:r>
              <a:rPr lang="en-IN" dirty="0">
                <a:solidFill>
                  <a:srgbClr val="FF0000"/>
                </a:solidFill>
              </a:rPr>
              <a:t>Keywords</a:t>
            </a:r>
            <a:r>
              <a:rPr lang="en-IN" dirty="0"/>
              <a:t> are not allowed to be a Variable Name.</a:t>
            </a:r>
          </a:p>
          <a:p>
            <a:pPr lvl="1"/>
            <a:r>
              <a:rPr lang="en-IN" dirty="0"/>
              <a:t>Variable Names are </a:t>
            </a:r>
            <a:r>
              <a:rPr lang="en-IN" dirty="0">
                <a:solidFill>
                  <a:srgbClr val="FF0000"/>
                </a:solidFill>
              </a:rPr>
              <a:t>case-sensitive</a:t>
            </a:r>
            <a:r>
              <a:rPr lang="en-IN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349BA7-6CEE-0A02-586F-E43FA63D4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4092" y="1682886"/>
            <a:ext cx="1982621" cy="8193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154BDA-13C6-D9B0-019F-A637600E0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186" y="2654492"/>
            <a:ext cx="1864618" cy="9646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799944"/>
            <a:ext cx="11929641" cy="5590565"/>
          </a:xfrm>
        </p:spPr>
        <p:txBody>
          <a:bodyPr/>
          <a:lstStyle/>
          <a:p>
            <a:r>
              <a:rPr lang="en-IN" dirty="0"/>
              <a:t>Example 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55170" y="1512070"/>
            <a:ext cx="8472276" cy="25853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10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print(x)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print(type(x))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y 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123.456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print(y)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insitute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of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engneering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and technology"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print(x)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print(type(x))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55177" y="1512070"/>
            <a:ext cx="499993" cy="25545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10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55177" y="1182886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demo.py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32909" y="4475738"/>
            <a:ext cx="8472276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python demo.py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32916" y="4475738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32916" y="4146554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Run in terminal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62019" y="5224040"/>
            <a:ext cx="8472276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10</a:t>
            </a:r>
          </a:p>
          <a:p>
            <a:r>
              <a:rPr lang="en-IN" sz="1600" b="1" dirty="0" err="1">
                <a:latin typeface="Consolas" pitchFamily="49" charset="0"/>
                <a:cs typeface="Consolas" panose="020B0609020204030204" pitchFamily="49" charset="0"/>
              </a:rPr>
              <a:t>int</a:t>
            </a:r>
            <a:endParaRPr lang="en-IN" sz="1600" b="1" dirty="0">
              <a:latin typeface="Consolas" pitchFamily="49" charset="0"/>
              <a:cs typeface="Consolas" panose="020B0609020204030204" pitchFamily="49" charset="0"/>
            </a:endParaRP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123.456</a:t>
            </a:r>
          </a:p>
          <a:p>
            <a:r>
              <a:rPr lang="en-IN" sz="1600" b="1" dirty="0" err="1">
                <a:latin typeface="Consolas" pitchFamily="49" charset="0"/>
                <a:cs typeface="Consolas" panose="020B0609020204030204" pitchFamily="49" charset="0"/>
              </a:rPr>
              <a:t>Darshan</a:t>
            </a:r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institute of engineering and technology</a:t>
            </a:r>
          </a:p>
          <a:p>
            <a:r>
              <a:rPr lang="en-IN" sz="1600" b="1" dirty="0" err="1">
                <a:latin typeface="Consolas" pitchFamily="49" charset="0"/>
                <a:cs typeface="Consolas" panose="020B0609020204030204" pitchFamily="49" charset="0"/>
              </a:rPr>
              <a:t>str</a:t>
            </a:r>
            <a:endParaRPr lang="en-IN" sz="1600" b="1" dirty="0">
              <a:latin typeface="Consolas" pitchFamily="49" charset="0"/>
              <a:cs typeface="Consolas" panose="020B06090202040302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62026" y="5224040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8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62026" y="4894856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9" name="Line Callout 1 18"/>
          <p:cNvSpPr/>
          <p:nvPr/>
        </p:nvSpPr>
        <p:spPr>
          <a:xfrm>
            <a:off x="4584700" y="1803400"/>
            <a:ext cx="4889500" cy="482600"/>
          </a:xfrm>
          <a:prstGeom prst="borderCallout1">
            <a:avLst>
              <a:gd name="adj1" fmla="val 50329"/>
              <a:gd name="adj2" fmla="val -392"/>
              <a:gd name="adj3" fmla="val -22139"/>
              <a:gd name="adj4" fmla="val -5409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Reassign same variable to hold different data type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1" name="Straight Connector 20"/>
          <p:cNvCxnSpPr>
            <a:endCxn id="19" idx="2"/>
          </p:cNvCxnSpPr>
          <p:nvPr/>
        </p:nvCxnSpPr>
        <p:spPr>
          <a:xfrm flipV="1">
            <a:off x="3594100" y="2044700"/>
            <a:ext cx="990600" cy="11938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 animBg="1"/>
      <p:bldP spid="10" grpId="0" animBg="1"/>
      <p:bldP spid="11" grpId="0" animBg="1"/>
      <p:bldP spid="13" grpId="0" build="p" animBg="1"/>
      <p:bldP spid="14" grpId="0" animBg="1"/>
      <p:bldP spid="15" grpId="0" animBg="1"/>
      <p:bldP spid="16" grpId="0" uiExpand="1" build="p" animBg="1"/>
      <p:bldP spid="17" grpId="0" animBg="1"/>
      <p:bldP spid="18" grpId="0" animBg="1"/>
      <p:bldP spid="1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68CF4-0EB1-BF67-EB4B-73E15196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599E94-0BBD-ED4B-1A5E-31FE472C7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Datatypes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3BD0A2-F6CA-5081-8461-A782F34D83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12389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9130332"/>
              </p:ext>
            </p:extLst>
          </p:nvPr>
        </p:nvGraphicFramePr>
        <p:xfrm>
          <a:off x="360825" y="160952"/>
          <a:ext cx="11224818" cy="31394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380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0043">
                  <a:extLst>
                    <a:ext uri="{9D8B030D-6E8A-4147-A177-3AD203B41FA5}">
                      <a16:colId xmlns:a16="http://schemas.microsoft.com/office/drawing/2014/main" val="1960142769"/>
                    </a:ext>
                  </a:extLst>
                </a:gridCol>
                <a:gridCol w="8774349">
                  <a:extLst>
                    <a:ext uri="{9D8B030D-6E8A-4147-A177-3AD203B41FA5}">
                      <a16:colId xmlns:a16="http://schemas.microsoft.com/office/drawing/2014/main" val="154927172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Data Type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Class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 gridSpan="3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9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Types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9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Integer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2"/>
                          </a:solidFill>
                        </a:rPr>
                        <a:t>int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Whole number such as 0,1,5,</a:t>
                      </a:r>
                      <a:r>
                        <a:rPr lang="en-US" sz="2000" baseline="0">
                          <a:solidFill>
                            <a:schemeClr val="tx1"/>
                          </a:solidFill>
                        </a:rPr>
                        <a:t> -5 etc..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Float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2"/>
                          </a:solidFill>
                        </a:rPr>
                        <a:t>float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Numbers with decimal points such as 1.5, 7.9</a:t>
                      </a:r>
                      <a:r>
                        <a:rPr lang="en-US" sz="2000" baseline="0">
                          <a:solidFill>
                            <a:schemeClr val="tx1"/>
                          </a:solidFill>
                        </a:rPr>
                        <a:t>, -8.2 etc..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Complex Number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complex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Complex number (real_part)+(imaginary_part)j such as 2 + 3j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2"/>
                          </a:solidFill>
                        </a:rPr>
                        <a:t>str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Sequence of character (Ordered) such as “darshan”, ‘college’, “</a:t>
                      </a:r>
                      <a:r>
                        <a:rPr lang="gu-IN" sz="2000" dirty="0">
                          <a:solidFill>
                            <a:schemeClr val="tx1"/>
                          </a:solidFill>
                        </a:rPr>
                        <a:t>રાજકોટ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” etc..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Boolean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bool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Logical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values indicating </a:t>
                      </a:r>
                      <a:r>
                        <a:rPr lang="en-US" sz="2000" b="1" baseline="0" dirty="0">
                          <a:solidFill>
                            <a:srgbClr val="FF0000"/>
                          </a:solidFill>
                        </a:rPr>
                        <a:t>T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ure or </a:t>
                      </a:r>
                      <a:r>
                        <a:rPr lang="en-US" sz="2000" b="1" baseline="0" dirty="0">
                          <a:solidFill>
                            <a:srgbClr val="FF0000"/>
                          </a:solidFill>
                        </a:rPr>
                        <a:t>F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alse (T and F here are capital in python)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21823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353734" y="3490549"/>
          <a:ext cx="11261092" cy="3215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354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965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Data Structures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List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list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Ordered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Sequence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of objects, will be represented with 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</a:rPr>
                        <a:t>square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brackets </a:t>
                      </a:r>
                      <a:r>
                        <a:rPr lang="en-US" sz="2000" b="1" baseline="0" dirty="0">
                          <a:solidFill>
                            <a:srgbClr val="FF0000"/>
                          </a:solidFill>
                        </a:rPr>
                        <a:t>[ ]</a:t>
                      </a:r>
                    </a:p>
                    <a:p>
                      <a:pPr algn="l"/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Example : [ 18, “</a:t>
                      </a:r>
                      <a:r>
                        <a:rPr lang="en-IN" sz="2000" b="0" baseline="0" dirty="0" err="1">
                          <a:solidFill>
                            <a:schemeClr val="tx1"/>
                          </a:solidFill>
                        </a:rPr>
                        <a:t>darshan</a:t>
                      </a: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”,  True, 102.3 ]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1900" dirty="0" err="1"/>
                        <a:t>Tuple</a:t>
                      </a:r>
                      <a:endParaRPr lang="en-IN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2"/>
                          </a:solidFill>
                        </a:rPr>
                        <a:t>Tup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Ordered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2000" b="1" baseline="0" dirty="0">
                          <a:solidFill>
                            <a:schemeClr val="tx1"/>
                          </a:solidFill>
                        </a:rPr>
                        <a:t>immutable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sequence of objects, will be represented with </a:t>
                      </a:r>
                      <a:r>
                        <a:rPr lang="en-IN" sz="2000" b="1" baseline="0" dirty="0">
                          <a:solidFill>
                            <a:schemeClr val="tx1"/>
                          </a:solidFill>
                        </a:rPr>
                        <a:t>round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brackets </a:t>
                      </a:r>
                      <a:r>
                        <a:rPr lang="en-IN" sz="2000" b="1" baseline="0" dirty="0">
                          <a:solidFill>
                            <a:srgbClr val="FF0000"/>
                          </a:solidFill>
                        </a:rPr>
                        <a:t>( 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Example : ( 18, “</a:t>
                      </a:r>
                      <a:r>
                        <a:rPr lang="en-IN" sz="2000" b="0" baseline="0" dirty="0" err="1">
                          <a:solidFill>
                            <a:schemeClr val="tx1"/>
                          </a:solidFill>
                        </a:rPr>
                        <a:t>darshan</a:t>
                      </a: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”,  True, 102.3 )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1900" dirty="0"/>
                        <a:t>Set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2"/>
                          </a:solidFill>
                        </a:rPr>
                        <a:t>Set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Unordered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collection of </a:t>
                      </a:r>
                      <a:r>
                        <a:rPr lang="en-IN" sz="2000" b="1" baseline="0" dirty="0">
                          <a:solidFill>
                            <a:schemeClr val="tx1"/>
                          </a:solidFill>
                        </a:rPr>
                        <a:t>unique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objects, will be represented with the </a:t>
                      </a:r>
                      <a:r>
                        <a:rPr lang="en-IN" sz="2000" b="1" baseline="0" dirty="0">
                          <a:solidFill>
                            <a:schemeClr val="tx1"/>
                          </a:solidFill>
                        </a:rPr>
                        <a:t>curly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brackets </a:t>
                      </a:r>
                      <a:r>
                        <a:rPr lang="en-IN" sz="2000" b="1" baseline="0" dirty="0">
                          <a:solidFill>
                            <a:srgbClr val="FF0000"/>
                          </a:solidFill>
                        </a:rPr>
                        <a:t>{ }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Example : { 18, “</a:t>
                      </a:r>
                      <a:r>
                        <a:rPr lang="en-IN" sz="2000" b="0" baseline="0" dirty="0" err="1">
                          <a:solidFill>
                            <a:schemeClr val="tx1"/>
                          </a:solidFill>
                        </a:rPr>
                        <a:t>darshan</a:t>
                      </a: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”,  True, 102.3 }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Dictionary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2"/>
                          </a:solidFill>
                        </a:rPr>
                        <a:t>Dict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Ordered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key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: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 value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pair of objects , will be represented with 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</a:rPr>
                        <a:t>curly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brackets </a:t>
                      </a:r>
                      <a:r>
                        <a:rPr lang="en-US" sz="2000" b="1" baseline="0" dirty="0">
                          <a:solidFill>
                            <a:srgbClr val="FF0000"/>
                          </a:solidFill>
                        </a:rPr>
                        <a:t>{ }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Example : { “college”: “</a:t>
                      </a:r>
                      <a:r>
                        <a:rPr lang="en-IN" sz="2000" b="0" baseline="0" dirty="0" err="1">
                          <a:solidFill>
                            <a:schemeClr val="tx1"/>
                          </a:solidFill>
                        </a:rPr>
                        <a:t>darshan</a:t>
                      </a: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”,  “code”: “054” }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ED9A3-37AA-7F2E-6AA8-AD2041AEF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Datatypes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C348A7-9246-0F0E-6D9B-D42D95080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45" y="1272577"/>
            <a:ext cx="6857217" cy="29085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7C86F8-3265-516D-500E-888BF3BA5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859" y="1262849"/>
            <a:ext cx="3900792" cy="13659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D705000-5681-CA8C-F837-1AE82FF2F815}"/>
              </a:ext>
            </a:extLst>
          </p:cNvPr>
          <p:cNvSpPr txBox="1"/>
          <p:nvPr/>
        </p:nvSpPr>
        <p:spPr>
          <a:xfrm>
            <a:off x="7383601" y="2912440"/>
            <a:ext cx="4264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Find memory address (identity) of an object 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CCFA8F-3C92-030C-B562-9010E3E13334}"/>
              </a:ext>
            </a:extLst>
          </p:cNvPr>
          <p:cNvSpPr txBox="1"/>
          <p:nvPr/>
        </p:nvSpPr>
        <p:spPr>
          <a:xfrm>
            <a:off x="7383601" y="3346364"/>
            <a:ext cx="2791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Find a datatype of a variable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85AA1C-9C1C-88D3-4B22-F8B49F30B5C9}"/>
              </a:ext>
            </a:extLst>
          </p:cNvPr>
          <p:cNvSpPr txBox="1"/>
          <p:nvPr/>
        </p:nvSpPr>
        <p:spPr>
          <a:xfrm>
            <a:off x="7383601" y="3780288"/>
            <a:ext cx="3788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Find the memory occupied by an object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1315D6-698C-A18E-9F6A-B88D89BD9547}"/>
              </a:ext>
            </a:extLst>
          </p:cNvPr>
          <p:cNvSpPr txBox="1"/>
          <p:nvPr/>
        </p:nvSpPr>
        <p:spPr>
          <a:xfrm>
            <a:off x="7898859" y="775793"/>
            <a:ext cx="125226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/>
              <a:t>Output :</a:t>
            </a:r>
            <a:endParaRPr lang="en-IN" sz="2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385577-7272-506C-02F6-FFCCE96C9A5A}"/>
              </a:ext>
            </a:extLst>
          </p:cNvPr>
          <p:cNvSpPr txBox="1"/>
          <p:nvPr/>
        </p:nvSpPr>
        <p:spPr>
          <a:xfrm>
            <a:off x="189545" y="737387"/>
            <a:ext cx="103746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/>
              <a:t>Input :</a:t>
            </a:r>
            <a:endParaRPr lang="en-IN" sz="2600" b="1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36F3998-546F-BEAC-428A-210FF79E0A41}"/>
              </a:ext>
            </a:extLst>
          </p:cNvPr>
          <p:cNvCxnSpPr>
            <a:stCxn id="13" idx="1"/>
          </p:cNvCxnSpPr>
          <p:nvPr/>
        </p:nvCxnSpPr>
        <p:spPr>
          <a:xfrm flipH="1">
            <a:off x="4299626" y="3097106"/>
            <a:ext cx="3083975" cy="184666"/>
          </a:xfrm>
          <a:prstGeom prst="straightConnector1">
            <a:avLst/>
          </a:prstGeom>
          <a:ln w="28575">
            <a:solidFill>
              <a:srgbClr val="301B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CACFDA3-35E5-CB57-2172-046D9D7CB9FF}"/>
              </a:ext>
            </a:extLst>
          </p:cNvPr>
          <p:cNvCxnSpPr>
            <a:cxnSpLocks/>
          </p:cNvCxnSpPr>
          <p:nvPr/>
        </p:nvCxnSpPr>
        <p:spPr>
          <a:xfrm flipH="1">
            <a:off x="4572000" y="3531030"/>
            <a:ext cx="2730537" cy="103230"/>
          </a:xfrm>
          <a:prstGeom prst="straightConnector1">
            <a:avLst/>
          </a:prstGeom>
          <a:ln w="28575">
            <a:solidFill>
              <a:srgbClr val="301B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7F3D73E-A047-E7E3-A500-8C5C5878D3C7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6971837" y="3964954"/>
            <a:ext cx="411764" cy="0"/>
          </a:xfrm>
          <a:prstGeom prst="straightConnector1">
            <a:avLst/>
          </a:prstGeom>
          <a:ln w="28575">
            <a:solidFill>
              <a:srgbClr val="301B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4900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8" grpId="0"/>
      <p:bldP spid="1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311C2-3F66-D565-854A-6A7115021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E56517-3DB6-78A0-3EBD-1D7EDA7CF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Tokens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7B2CE3-8FF7-2FD8-C7E3-5115D34AD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6764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8F5C6-CD6B-19A0-C33A-60BEAB13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050D1-76A2-F671-E422-8139E02F4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Tokens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34C29-5119-D09C-6570-9A87FE97C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34258"/>
            <a:ext cx="11929641" cy="5702725"/>
          </a:xfrm>
        </p:spPr>
        <p:txBody>
          <a:bodyPr/>
          <a:lstStyle/>
          <a:p>
            <a:r>
              <a:rPr lang="en-US" dirty="0"/>
              <a:t>In Python, a </a:t>
            </a:r>
            <a:r>
              <a:rPr lang="en-US" b="1" dirty="0"/>
              <a:t>Token</a:t>
            </a:r>
            <a:r>
              <a:rPr lang="en-US" dirty="0"/>
              <a:t> is the smallest unit of a program. </a:t>
            </a:r>
          </a:p>
          <a:p>
            <a:r>
              <a:rPr lang="en-US" dirty="0"/>
              <a:t>Tokens are the building blocks of a Python program. Here are the main types of tokens in Python: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6"/>
                </a:solidFill>
              </a:rPr>
              <a:t>Keywords : </a:t>
            </a:r>
            <a:r>
              <a:rPr lang="en-US" b="1" dirty="0"/>
              <a:t>Reserved words </a:t>
            </a:r>
            <a:r>
              <a:rPr lang="en-US" dirty="0"/>
              <a:t>that have special meaning and cannot be used as identifiers</a:t>
            </a:r>
            <a:r>
              <a:rPr lang="en-IN" dirty="0"/>
              <a:t>. Example : if, else, for, while, try, except, etc.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6"/>
                </a:solidFill>
              </a:rPr>
              <a:t>Identifiers: </a:t>
            </a:r>
            <a:r>
              <a:rPr lang="en-US" b="1" dirty="0"/>
              <a:t>Names given to variables, functions, classes, and other objects</a:t>
            </a:r>
            <a:r>
              <a:rPr lang="en-US" dirty="0"/>
              <a:t>.</a:t>
            </a:r>
            <a:endParaRPr lang="en-IN" dirty="0">
              <a:solidFill>
                <a:schemeClr val="accent6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6"/>
                </a:solidFill>
              </a:rPr>
              <a:t>Literals: </a:t>
            </a:r>
            <a:r>
              <a:rPr lang="en-US" b="1" dirty="0"/>
              <a:t>Constant values </a:t>
            </a:r>
            <a:r>
              <a:rPr lang="en-US" dirty="0"/>
              <a:t>used in programs. They can be of various types (string, numeric, </a:t>
            </a:r>
            <a:r>
              <a:rPr lang="en-US" dirty="0" err="1"/>
              <a:t>boolean</a:t>
            </a:r>
            <a:r>
              <a:rPr lang="en-US" dirty="0"/>
              <a:t>, etc..)</a:t>
            </a:r>
            <a:endParaRPr lang="en-IN" dirty="0">
              <a:solidFill>
                <a:schemeClr val="accent6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6"/>
                </a:solidFill>
              </a:rPr>
              <a:t>Delimiters: </a:t>
            </a:r>
            <a:r>
              <a:rPr lang="en-US" b="1" dirty="0"/>
              <a:t>Symbols used to separate code </a:t>
            </a:r>
            <a:r>
              <a:rPr lang="en-US" dirty="0"/>
              <a:t>elements. Example : (),[],{},:,.,; and comma(,).</a:t>
            </a:r>
            <a:endParaRPr lang="en-IN" dirty="0">
              <a:solidFill>
                <a:schemeClr val="accent6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6"/>
                </a:solidFill>
              </a:rPr>
              <a:t>Comments: </a:t>
            </a:r>
            <a:r>
              <a:rPr lang="en-US" b="1" dirty="0"/>
              <a:t>Text added to the code for documentation purposes</a:t>
            </a:r>
            <a:r>
              <a:rPr lang="en-US" dirty="0"/>
              <a:t>, which is ignored by the Python interpreter. Example : #, ’ ’ ’ ,” ” ”</a:t>
            </a:r>
            <a:endParaRPr lang="en-IN" dirty="0">
              <a:solidFill>
                <a:schemeClr val="accent6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6"/>
                </a:solidFill>
              </a:rPr>
              <a:t>Operators: </a:t>
            </a:r>
            <a:r>
              <a:rPr lang="en-US" b="1" dirty="0"/>
              <a:t>Symbols that perform operations </a:t>
            </a:r>
            <a:r>
              <a:rPr lang="en-US" dirty="0"/>
              <a:t>on one or more operands. Example : +,-,*,/,==, !=,etc.</a:t>
            </a:r>
            <a:endParaRPr lang="en-IN" dirty="0">
              <a:solidFill>
                <a:schemeClr val="accent6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IN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38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8CCA1-5570-AF98-7EC1-24E3633F7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C434E-E735-E263-033A-93A5B235C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Tokens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1281038-7E29-5207-BE96-81E2AF66F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E0499-039B-710D-C4BE-CE60917841C2}"/>
              </a:ext>
            </a:extLst>
          </p:cNvPr>
          <p:cNvSpPr txBox="1"/>
          <p:nvPr/>
        </p:nvSpPr>
        <p:spPr>
          <a:xfrm>
            <a:off x="0" y="863445"/>
            <a:ext cx="12191999" cy="253588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This is a comment</a:t>
            </a:r>
            <a:endParaRPr lang="en-US" sz="2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lang="en-US" sz="2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x is identifier , 42 is literal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x &gt; </a:t>
            </a:r>
            <a:r>
              <a:rPr lang="en-US" sz="2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 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if is keyword, &gt; is operator, 0 is literal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"x is positive"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print is function, "x is positive" is string literal</a:t>
            </a:r>
          </a:p>
          <a:p>
            <a:pPr>
              <a:lnSpc>
                <a:spcPct val="150000"/>
              </a:lnSpc>
            </a:pP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680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CB50E-F2CB-BD7E-2959-895E4EB4A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D7D4A2-3C0A-0DE9-BB6C-34C984438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 Conversion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05F084-0049-9857-6CEB-CCC803A93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5811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5A6ED-D935-2B67-99E4-186A4E301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EA6A0-F92F-D9A9-CE83-809A4F5AF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 Conversion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1C14B-23B4-489D-3838-9F2C6C822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34258"/>
            <a:ext cx="11929641" cy="5702725"/>
          </a:xfrm>
        </p:spPr>
        <p:txBody>
          <a:bodyPr/>
          <a:lstStyle/>
          <a:p>
            <a:r>
              <a:rPr lang="en-IN" dirty="0"/>
              <a:t>Type conversion is the process of converting a value from </a:t>
            </a:r>
            <a:r>
              <a:rPr lang="en-IN" b="1" dirty="0"/>
              <a:t>one data type to another</a:t>
            </a:r>
            <a:r>
              <a:rPr lang="en-IN" dirty="0"/>
              <a:t>.</a:t>
            </a:r>
          </a:p>
          <a:p>
            <a:r>
              <a:rPr lang="en-IN" dirty="0"/>
              <a:t>Types of Type Conversion: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Implicit Type Conversion (Automatic)</a:t>
            </a:r>
          </a:p>
          <a:p>
            <a:pPr marL="1001712" lvl="1" indent="-457200"/>
            <a:r>
              <a:rPr lang="en-US" dirty="0"/>
              <a:t>Performed automatically by Python.</a:t>
            </a:r>
          </a:p>
          <a:p>
            <a:pPr marL="1001712" lvl="1" indent="-457200"/>
            <a:r>
              <a:rPr lang="en-US" dirty="0"/>
              <a:t>No programmer intervention is required.</a:t>
            </a:r>
          </a:p>
          <a:p>
            <a:pPr marL="1001712" lvl="1" indent="-457200"/>
            <a:r>
              <a:rPr lang="en-US" dirty="0"/>
              <a:t>Usually converts a smaller data type to a larger compatible type.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Explicit Type Conversion (Type Casting)</a:t>
            </a:r>
          </a:p>
          <a:p>
            <a:pPr marL="1001712" lvl="1" indent="-457200"/>
            <a:r>
              <a:rPr lang="en-IN" dirty="0"/>
              <a:t>Performed manually by the programmer. </a:t>
            </a:r>
          </a:p>
          <a:p>
            <a:pPr marL="1001712" lvl="1" indent="-457200"/>
            <a:r>
              <a:rPr lang="en-IN" dirty="0"/>
              <a:t>Uses built-in conversion functions.</a:t>
            </a:r>
          </a:p>
          <a:p>
            <a:pPr marL="1001712" lvl="1" indent="-457200"/>
            <a:endParaRPr lang="en-IN" dirty="0"/>
          </a:p>
          <a:p>
            <a:pPr marL="544512" lvl="1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A5C558-E028-1D5D-2114-9AC9C7022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84" y="1346356"/>
            <a:ext cx="3305922" cy="252525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F223C8C-3E1F-45B8-91D6-3D85FDB9A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920635"/>
              </p:ext>
            </p:extLst>
          </p:nvPr>
        </p:nvGraphicFramePr>
        <p:xfrm>
          <a:off x="252036" y="4383708"/>
          <a:ext cx="11687928" cy="14833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47988">
                  <a:extLst>
                    <a:ext uri="{9D8B030D-6E8A-4147-A177-3AD203B41FA5}">
                      <a16:colId xmlns:a16="http://schemas.microsoft.com/office/drawing/2014/main" val="2101585327"/>
                    </a:ext>
                  </a:extLst>
                </a:gridCol>
                <a:gridCol w="1947988">
                  <a:extLst>
                    <a:ext uri="{9D8B030D-6E8A-4147-A177-3AD203B41FA5}">
                      <a16:colId xmlns:a16="http://schemas.microsoft.com/office/drawing/2014/main" val="2904790932"/>
                    </a:ext>
                  </a:extLst>
                </a:gridCol>
                <a:gridCol w="1947988">
                  <a:extLst>
                    <a:ext uri="{9D8B030D-6E8A-4147-A177-3AD203B41FA5}">
                      <a16:colId xmlns:a16="http://schemas.microsoft.com/office/drawing/2014/main" val="1240790247"/>
                    </a:ext>
                  </a:extLst>
                </a:gridCol>
                <a:gridCol w="1947988">
                  <a:extLst>
                    <a:ext uri="{9D8B030D-6E8A-4147-A177-3AD203B41FA5}">
                      <a16:colId xmlns:a16="http://schemas.microsoft.com/office/drawing/2014/main" val="1324367098"/>
                    </a:ext>
                  </a:extLst>
                </a:gridCol>
                <a:gridCol w="1947988">
                  <a:extLst>
                    <a:ext uri="{9D8B030D-6E8A-4147-A177-3AD203B41FA5}">
                      <a16:colId xmlns:a16="http://schemas.microsoft.com/office/drawing/2014/main" val="5077050"/>
                    </a:ext>
                  </a:extLst>
                </a:gridCol>
                <a:gridCol w="1947988">
                  <a:extLst>
                    <a:ext uri="{9D8B030D-6E8A-4147-A177-3AD203B41FA5}">
                      <a16:colId xmlns:a16="http://schemas.microsoft.com/office/drawing/2014/main" val="39022092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Converts to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Converts to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Converts to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237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int()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bool()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Boolean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tuple()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Tuple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660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float()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Floating Point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str()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set()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672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complex()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Complex Number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list()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dict</a:t>
                      </a:r>
                      <a:r>
                        <a:rPr lang="en-US" dirty="0"/>
                        <a:t>()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Dictionary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50304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94422E4-1341-1CD0-967F-BF692092FF92}"/>
              </a:ext>
            </a:extLst>
          </p:cNvPr>
          <p:cNvSpPr txBox="1"/>
          <p:nvPr/>
        </p:nvSpPr>
        <p:spPr>
          <a:xfrm>
            <a:off x="1935804" y="5990125"/>
            <a:ext cx="244490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solidFill>
                  <a:schemeClr val="tx2"/>
                </a:solidFill>
              </a:rPr>
              <a:t>int(“100”) </a:t>
            </a:r>
            <a:r>
              <a:rPr lang="en-US" sz="2600" b="1" dirty="0">
                <a:solidFill>
                  <a:srgbClr val="EA1E63"/>
                </a:solidFill>
              </a:rPr>
              <a:t>-&gt;</a:t>
            </a:r>
            <a:r>
              <a:rPr lang="en-US" sz="2600" b="1" dirty="0">
                <a:solidFill>
                  <a:srgbClr val="C00000"/>
                </a:solidFill>
              </a:rPr>
              <a:t> </a:t>
            </a:r>
            <a:r>
              <a:rPr lang="en-US" sz="2600" b="1" dirty="0">
                <a:solidFill>
                  <a:srgbClr val="00B050"/>
                </a:solidFill>
              </a:rPr>
              <a:t>100</a:t>
            </a:r>
            <a:endParaRPr lang="en-IN" sz="2600" b="1" dirty="0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A81E10-79E6-7970-4FEB-AFAEE320C9A5}"/>
              </a:ext>
            </a:extLst>
          </p:cNvPr>
          <p:cNvSpPr txBox="1"/>
          <p:nvPr/>
        </p:nvSpPr>
        <p:spPr>
          <a:xfrm>
            <a:off x="4962878" y="5990125"/>
            <a:ext cx="257153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solidFill>
                  <a:srgbClr val="0070C0"/>
                </a:solidFill>
              </a:rPr>
              <a:t>int(“</a:t>
            </a:r>
            <a:r>
              <a:rPr lang="en-US" sz="2600" b="1" dirty="0" err="1">
                <a:solidFill>
                  <a:srgbClr val="0070C0"/>
                </a:solidFill>
              </a:rPr>
              <a:t>abc</a:t>
            </a:r>
            <a:r>
              <a:rPr lang="en-US" sz="2600" b="1" dirty="0">
                <a:solidFill>
                  <a:srgbClr val="0070C0"/>
                </a:solidFill>
              </a:rPr>
              <a:t>”) </a:t>
            </a:r>
            <a:r>
              <a:rPr lang="en-US" sz="2600" b="1" dirty="0">
                <a:solidFill>
                  <a:srgbClr val="EA1E63"/>
                </a:solidFill>
              </a:rPr>
              <a:t>-&gt;</a:t>
            </a:r>
            <a:r>
              <a:rPr lang="en-US" sz="2600" b="1" dirty="0">
                <a:solidFill>
                  <a:srgbClr val="C00000"/>
                </a:solidFill>
              </a:rPr>
              <a:t> </a:t>
            </a:r>
            <a:r>
              <a:rPr lang="en-US" sz="2600" b="1" dirty="0">
                <a:solidFill>
                  <a:srgbClr val="FF0000"/>
                </a:solidFill>
              </a:rPr>
              <a:t>Error</a:t>
            </a:r>
            <a:endParaRPr lang="en-IN" sz="2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9264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F23BF-FA24-A35A-2447-A8E4FED15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E4D456-F73A-C4C1-FB23-C74D056DE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E36B27-4040-8597-9398-7F6F53EC9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8243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Operators in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Operators are used for performing </a:t>
            </a:r>
            <a:r>
              <a:rPr lang="en-US" dirty="0">
                <a:solidFill>
                  <a:srgbClr val="C00000"/>
                </a:solidFill>
              </a:rPr>
              <a:t>operations</a:t>
            </a:r>
            <a:r>
              <a:rPr lang="en-US" dirty="0"/>
              <a:t> on variables and values.</a:t>
            </a:r>
          </a:p>
          <a:p>
            <a:pPr lvl="0"/>
            <a:r>
              <a:rPr lang="en-US" dirty="0"/>
              <a:t>We can </a:t>
            </a:r>
            <a:r>
              <a:rPr lang="en-US" dirty="0">
                <a:solidFill>
                  <a:srgbClr val="C00000"/>
                </a:solidFill>
              </a:rPr>
              <a:t>segregate</a:t>
            </a:r>
            <a:r>
              <a:rPr lang="en-US" dirty="0"/>
              <a:t> python operators in following groups,</a:t>
            </a:r>
          </a:p>
          <a:p>
            <a:pPr lvl="1"/>
            <a:r>
              <a:rPr lang="en-US" dirty="0"/>
              <a:t>Arithmetic operators</a:t>
            </a:r>
          </a:p>
          <a:p>
            <a:pPr lvl="1"/>
            <a:r>
              <a:rPr lang="en-US" dirty="0"/>
              <a:t>Assignment operators</a:t>
            </a:r>
          </a:p>
          <a:p>
            <a:pPr lvl="1"/>
            <a:r>
              <a:rPr lang="en-US" dirty="0"/>
              <a:t>Comparison operators</a:t>
            </a:r>
          </a:p>
          <a:p>
            <a:pPr lvl="1"/>
            <a:r>
              <a:rPr lang="en-US" dirty="0"/>
              <a:t>Logical operators</a:t>
            </a:r>
          </a:p>
          <a:p>
            <a:pPr lvl="1"/>
            <a:r>
              <a:rPr lang="en-US" dirty="0"/>
              <a:t>Bitwise operators</a:t>
            </a:r>
          </a:p>
          <a:p>
            <a:pPr lvl="1"/>
            <a:r>
              <a:rPr lang="en-US" dirty="0"/>
              <a:t>Identity operators</a:t>
            </a:r>
          </a:p>
          <a:p>
            <a:pPr lvl="1"/>
            <a:r>
              <a:rPr lang="en-US" dirty="0"/>
              <a:t>Membership operators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Arithmetic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Arithmetic Operators can be used with </a:t>
            </a:r>
            <a:r>
              <a:rPr lang="en-US" dirty="0">
                <a:solidFill>
                  <a:srgbClr val="C00000"/>
                </a:solidFill>
              </a:rPr>
              <a:t>numeric values </a:t>
            </a:r>
            <a:r>
              <a:rPr lang="en-US" dirty="0"/>
              <a:t>or variables to perform common </a:t>
            </a:r>
            <a:r>
              <a:rPr lang="en-US" dirty="0">
                <a:solidFill>
                  <a:srgbClr val="C00000"/>
                </a:solidFill>
              </a:rPr>
              <a:t>mathematical</a:t>
            </a:r>
            <a:r>
              <a:rPr lang="en-US" dirty="0"/>
              <a:t> operations.</a:t>
            </a:r>
          </a:p>
          <a:p>
            <a:r>
              <a:rPr lang="en-IN" dirty="0"/>
              <a:t>Note : Consider A = 10 and B = 3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US" sz="2000" dirty="0">
                <a:solidFill>
                  <a:srgbClr val="FF0000"/>
                </a:solidFill>
              </a:rPr>
              <a:t>Imp. Point: Python does not support pre/post increment(++)/decrement(--) operators </a:t>
            </a:r>
            <a:endParaRPr lang="en-IN" sz="2000" dirty="0">
              <a:solidFill>
                <a:srgbClr val="FF0000"/>
              </a:solidFill>
            </a:endParaRPr>
          </a:p>
          <a:p>
            <a:endParaRPr lang="en-IN" dirty="0"/>
          </a:p>
          <a:p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386225" y="2102666"/>
          <a:ext cx="11413357" cy="32918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2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8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Addition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+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Subtraction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-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/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Division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/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3.3333333333333335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*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Multiplication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*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Modulus return the remainder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A % B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900" dirty="0"/>
                        <a:t>//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Floor division returns the quotient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A // B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900" dirty="0"/>
                        <a:t>**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Exponentiation 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A ** B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10 * 10 * 10 = 1000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4624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  <a:r>
              <a:rPr lang="en-IN" dirty="0"/>
              <a:t>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Assignment Operators are used to </a:t>
            </a:r>
            <a:r>
              <a:rPr lang="en-US" dirty="0">
                <a:solidFill>
                  <a:srgbClr val="C00000"/>
                </a:solidFill>
              </a:rPr>
              <a:t>assign values to variables</a:t>
            </a:r>
            <a:r>
              <a:rPr lang="en-US" dirty="0"/>
              <a:t>. </a:t>
            </a:r>
          </a:p>
          <a:p>
            <a:r>
              <a:rPr lang="en-IN" dirty="0"/>
              <a:t>Note : Consider A = 3, B = 5 and C = 0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475435" y="1783080"/>
          <a:ext cx="11413357" cy="37033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2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8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Assign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C = A +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+=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 and Assign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A+=B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-=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Subtract and Assign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A-=B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*=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Multiply and Assign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A*=B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/=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Divide and Assign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A/=B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0.6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%=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Modulus and Assign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A%=B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//=</a:t>
                      </a:r>
                      <a:endParaRPr lang="en-IN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Divide(floor) and Assign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A//=B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900" dirty="0"/>
                        <a:t>**=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Power and Assign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A**=B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243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882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538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DAB9A-3BD2-AF4F-BDF0-DE6DAB381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Relational Operators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10CF8-A27B-5F48-A09B-31FDF6AC5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Relational Operators are used for </a:t>
            </a:r>
            <a:r>
              <a:rPr lang="en-US" dirty="0">
                <a:solidFill>
                  <a:srgbClr val="C00000"/>
                </a:solidFill>
              </a:rPr>
              <a:t>comparing the values</a:t>
            </a:r>
            <a:r>
              <a:rPr lang="en-US" dirty="0"/>
              <a:t>. It either returns </a:t>
            </a:r>
            <a:r>
              <a:rPr lang="en-US" dirty="0">
                <a:solidFill>
                  <a:srgbClr val="C00000"/>
                </a:solidFill>
              </a:rPr>
              <a:t>True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False</a:t>
            </a:r>
            <a:r>
              <a:rPr lang="en-US" dirty="0"/>
              <a:t> according to the condition. </a:t>
            </a:r>
          </a:p>
          <a:p>
            <a:r>
              <a:rPr lang="en-IN" dirty="0"/>
              <a:t>Note : Consider A = 9, B = 5 </a:t>
            </a:r>
          </a:p>
          <a:p>
            <a:endParaRPr lang="en-IN" dirty="0"/>
          </a:p>
          <a:p>
            <a:endParaRPr lang="en-US" dirty="0"/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C2E19D27-DC77-9F45-B30D-34FD8E056936}"/>
              </a:ext>
            </a:extLst>
          </p:cNvPr>
          <p:cNvGraphicFramePr>
            <a:graphicFrameLocks/>
          </p:cNvGraphicFramePr>
          <p:nvPr/>
        </p:nvGraphicFramePr>
        <p:xfrm>
          <a:off x="389321" y="2218546"/>
          <a:ext cx="11413357" cy="2880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2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8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Greater than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&gt;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&lt;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Less than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&lt;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False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==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Equal to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==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False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!=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Equal to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!=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&gt;=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Greater than or equal to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&gt;=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&lt;=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Less than or equal to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&lt;=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False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6686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Logical Operators are used to perform </a:t>
            </a:r>
            <a:r>
              <a:rPr lang="en-IN" dirty="0">
                <a:solidFill>
                  <a:srgbClr val="C00000"/>
                </a:solidFill>
              </a:rPr>
              <a:t>logical operations </a:t>
            </a:r>
            <a:r>
              <a:rPr lang="en-IN" dirty="0"/>
              <a:t>on the values of variables. The value is either </a:t>
            </a:r>
            <a:r>
              <a:rPr lang="en-IN" dirty="0">
                <a:solidFill>
                  <a:srgbClr val="C00000"/>
                </a:solidFill>
              </a:rPr>
              <a:t>True</a:t>
            </a:r>
            <a:r>
              <a:rPr lang="en-IN" dirty="0"/>
              <a:t> or </a:t>
            </a:r>
            <a:r>
              <a:rPr lang="en-IN" dirty="0">
                <a:solidFill>
                  <a:srgbClr val="C00000"/>
                </a:solidFill>
              </a:rPr>
              <a:t>False</a:t>
            </a:r>
            <a:r>
              <a:rPr lang="en-IN" dirty="0"/>
              <a:t>. We can figure out the conditions by the result of the </a:t>
            </a:r>
            <a:r>
              <a:rPr lang="en-IN" dirty="0">
                <a:solidFill>
                  <a:srgbClr val="C00000"/>
                </a:solidFill>
              </a:rPr>
              <a:t>truth values</a:t>
            </a:r>
            <a:r>
              <a:rPr lang="en-IN" dirty="0"/>
              <a:t>.</a:t>
            </a:r>
          </a:p>
          <a:p>
            <a:r>
              <a:rPr lang="en-IN" dirty="0"/>
              <a:t>Note : Consider A = 10 and B = 3</a:t>
            </a:r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D2765B38-A80D-994B-97AF-6A6DBFA71DE6}"/>
              </a:ext>
            </a:extLst>
          </p:cNvPr>
          <p:cNvGraphicFramePr>
            <a:graphicFrameLocks/>
          </p:cNvGraphicFramePr>
          <p:nvPr/>
        </p:nvGraphicFramePr>
        <p:xfrm>
          <a:off x="467380" y="2146052"/>
          <a:ext cx="11413357" cy="18745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2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8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900" dirty="0"/>
                        <a:t>and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True if both statements are true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&gt; 5 </a:t>
                      </a:r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 B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&lt; 5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900" dirty="0"/>
                        <a:t>or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True if one of the statements is true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&gt; 5 </a:t>
                      </a:r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B &gt; 5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900" dirty="0"/>
                        <a:t>not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Negate the result, returns True if the result is False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not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 ( A &gt; 5 )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False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3879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7298B-8B7E-F345-9A4E-7EE58EE38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Bitwise Operators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152B6-B3BC-2B47-87BC-1528C5DDD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Bitwise Operators are used to perform </a:t>
            </a:r>
            <a:r>
              <a:rPr lang="en-US" dirty="0">
                <a:solidFill>
                  <a:srgbClr val="C00000"/>
                </a:solidFill>
              </a:rPr>
              <a:t>bitwise calculations </a:t>
            </a:r>
            <a:r>
              <a:rPr lang="en-US" dirty="0"/>
              <a:t>on </a:t>
            </a:r>
            <a:r>
              <a:rPr lang="en-US" b="1" dirty="0"/>
              <a:t>integers</a:t>
            </a:r>
            <a:r>
              <a:rPr lang="en-US" dirty="0"/>
              <a:t>. The integers are first converted </a:t>
            </a:r>
            <a:r>
              <a:rPr lang="en-US" dirty="0">
                <a:solidFill>
                  <a:srgbClr val="C00000"/>
                </a:solidFill>
              </a:rPr>
              <a:t>into binary </a:t>
            </a:r>
            <a:r>
              <a:rPr lang="en-US" dirty="0"/>
              <a:t>and then operations are performed on </a:t>
            </a:r>
            <a:r>
              <a:rPr lang="en-US" dirty="0">
                <a:solidFill>
                  <a:srgbClr val="C00000"/>
                </a:solidFill>
              </a:rPr>
              <a:t>bit by bit</a:t>
            </a:r>
            <a:r>
              <a:rPr lang="en-US" dirty="0"/>
              <a:t>, hence the name Bitwise Operators. Then the result is returned in </a:t>
            </a:r>
            <a:r>
              <a:rPr lang="en-US" dirty="0">
                <a:solidFill>
                  <a:srgbClr val="C00000"/>
                </a:solidFill>
              </a:rPr>
              <a:t>decimal format</a:t>
            </a:r>
            <a:r>
              <a:rPr lang="en-US" dirty="0"/>
              <a:t>.</a:t>
            </a:r>
          </a:p>
          <a:p>
            <a:r>
              <a:rPr lang="en-IN" dirty="0"/>
              <a:t>Note : Consider A = 10(binary - 1010) and B = 4(binary - 0100)</a:t>
            </a:r>
          </a:p>
          <a:p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A50A5AEC-4046-D841-B2A4-4DB74A70DC33}"/>
              </a:ext>
            </a:extLst>
          </p:cNvPr>
          <p:cNvGraphicFramePr>
            <a:graphicFrameLocks/>
          </p:cNvGraphicFramePr>
          <p:nvPr/>
        </p:nvGraphicFramePr>
        <p:xfrm>
          <a:off x="389321" y="2519629"/>
          <a:ext cx="11413357" cy="2880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2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8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&amp;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Bitwise AND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&amp;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|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Bitwise OR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|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14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~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Bitwise NOT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~A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-11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^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Bitwise XOR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^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Bitwise right shift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A&gt;&gt;1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&lt;&lt;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Bitwise left shift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A&lt;&lt;1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5865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C435-276C-1244-8962-5344CC26D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B67FC1-5AE1-4D4F-88D6-A05CF33FD941}"/>
              </a:ext>
            </a:extLst>
          </p:cNvPr>
          <p:cNvSpPr/>
          <p:nvPr/>
        </p:nvSpPr>
        <p:spPr>
          <a:xfrm>
            <a:off x="801830" y="1122312"/>
            <a:ext cx="4550755" cy="53860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x , y = </a:t>
            </a:r>
            <a:r>
              <a:rPr lang="en-IN" sz="14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4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endParaRPr lang="en-IN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a,b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IN" sz="1400" dirty="0" err="1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en-I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400" dirty="0" err="1">
                <a:solidFill>
                  <a:srgbClr val="0000FF"/>
                </a:solidFill>
                <a:latin typeface="Menlo" panose="020B0609030804020204" pitchFamily="49" charset="0"/>
              </a:rPr>
              <a:t>False</a:t>
            </a:r>
            <a:endParaRPr lang="en-IN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400" dirty="0">
                <a:solidFill>
                  <a:srgbClr val="008000"/>
                </a:solidFill>
                <a:latin typeface="Menlo" panose="020B0609030804020204" pitchFamily="49" charset="0"/>
              </a:rPr>
              <a:t>#Arithmetic operator</a:t>
            </a:r>
            <a:endParaRPr lang="en-IN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400" dirty="0">
                <a:solidFill>
                  <a:srgbClr val="A31515"/>
                </a:solidFill>
                <a:latin typeface="Menlo" panose="020B0609030804020204" pitchFamily="49" charset="0"/>
              </a:rPr>
              <a:t>'x // y ='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,x//y)</a:t>
            </a: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400" dirty="0">
                <a:solidFill>
                  <a:srgbClr val="A31515"/>
                </a:solidFill>
                <a:latin typeface="Menlo" panose="020B0609030804020204" pitchFamily="49" charset="0"/>
              </a:rPr>
              <a:t>'x ** y ='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,x**y)</a:t>
            </a: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400" dirty="0">
                <a:solidFill>
                  <a:srgbClr val="008000"/>
                </a:solidFill>
                <a:latin typeface="Menlo" panose="020B0609030804020204" pitchFamily="49" charset="0"/>
              </a:rPr>
              <a:t>#</a:t>
            </a:r>
            <a:r>
              <a:rPr lang="en-IN" sz="1400" dirty="0" err="1">
                <a:solidFill>
                  <a:srgbClr val="008000"/>
                </a:solidFill>
                <a:latin typeface="Menlo" panose="020B0609030804020204" pitchFamily="49" charset="0"/>
              </a:rPr>
              <a:t>Assignemnt</a:t>
            </a:r>
            <a:r>
              <a:rPr lang="en-IN" sz="1400" dirty="0">
                <a:solidFill>
                  <a:srgbClr val="008000"/>
                </a:solidFill>
                <a:latin typeface="Menlo" panose="020B0609030804020204" pitchFamily="49" charset="0"/>
              </a:rPr>
              <a:t> Operator</a:t>
            </a:r>
            <a:endParaRPr lang="en-IN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x+=</a:t>
            </a:r>
            <a:r>
              <a:rPr lang="en-IN" sz="14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400" dirty="0">
                <a:solidFill>
                  <a:srgbClr val="008000"/>
                </a:solidFill>
                <a:latin typeface="Menlo" panose="020B0609030804020204" pitchFamily="49" charset="0"/>
              </a:rPr>
              <a:t># x = 10 </a:t>
            </a:r>
            <a:endParaRPr lang="en-IN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y+=</a:t>
            </a:r>
            <a:r>
              <a:rPr lang="en-IN" sz="14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400" dirty="0">
                <a:solidFill>
                  <a:srgbClr val="008000"/>
                </a:solidFill>
                <a:latin typeface="Menlo" panose="020B0609030804020204" pitchFamily="49" charset="0"/>
              </a:rPr>
              <a:t># y = 4</a:t>
            </a:r>
            <a:endParaRPr lang="en-IN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400" dirty="0">
                <a:solidFill>
                  <a:srgbClr val="A31515"/>
                </a:solidFill>
                <a:latin typeface="Menlo" panose="020B0609030804020204" pitchFamily="49" charset="0"/>
              </a:rPr>
              <a:t>'x y ='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x,y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400" dirty="0">
                <a:solidFill>
                  <a:srgbClr val="008000"/>
                </a:solidFill>
                <a:latin typeface="Menlo" panose="020B0609030804020204" pitchFamily="49" charset="0"/>
              </a:rPr>
              <a:t>#Comparison Operator</a:t>
            </a:r>
            <a:endParaRPr lang="en-IN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400" dirty="0">
                <a:solidFill>
                  <a:srgbClr val="A31515"/>
                </a:solidFill>
                <a:latin typeface="Menlo" panose="020B0609030804020204" pitchFamily="49" charset="0"/>
              </a:rPr>
              <a:t>'x &gt;= y </a:t>
            </a:r>
            <a:r>
              <a:rPr lang="en-IN" sz="1400" dirty="0" err="1">
                <a:solidFill>
                  <a:srgbClr val="A31515"/>
                </a:solidFill>
                <a:latin typeface="Menlo" panose="020B0609030804020204" pitchFamily="49" charset="0"/>
              </a:rPr>
              <a:t>is'</a:t>
            </a:r>
            <a:r>
              <a:rPr lang="en-I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,x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&gt;=y)</a:t>
            </a: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400" dirty="0">
                <a:solidFill>
                  <a:srgbClr val="A31515"/>
                </a:solidFill>
                <a:latin typeface="Menlo" panose="020B0609030804020204" pitchFamily="49" charset="0"/>
              </a:rPr>
              <a:t>'x &lt;= y </a:t>
            </a:r>
            <a:r>
              <a:rPr lang="en-IN" sz="1400" dirty="0" err="1">
                <a:solidFill>
                  <a:srgbClr val="A31515"/>
                </a:solidFill>
                <a:latin typeface="Menlo" panose="020B0609030804020204" pitchFamily="49" charset="0"/>
              </a:rPr>
              <a:t>is'</a:t>
            </a:r>
            <a:r>
              <a:rPr lang="en-I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,x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&lt;=y)</a:t>
            </a: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400" dirty="0">
                <a:solidFill>
                  <a:srgbClr val="008000"/>
                </a:solidFill>
                <a:latin typeface="Menlo" panose="020B0609030804020204" pitchFamily="49" charset="0"/>
              </a:rPr>
              <a:t>#Logical Operator</a:t>
            </a:r>
            <a:endParaRPr lang="en-IN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400" dirty="0">
                <a:solidFill>
                  <a:srgbClr val="A31515"/>
                </a:solidFill>
                <a:latin typeface="Menlo" panose="020B0609030804020204" pitchFamily="49" charset="0"/>
              </a:rPr>
              <a:t>'x and y </a:t>
            </a:r>
            <a:r>
              <a:rPr lang="en-IN" sz="1400" dirty="0" err="1">
                <a:solidFill>
                  <a:srgbClr val="A31515"/>
                </a:solidFill>
                <a:latin typeface="Menlo" panose="020B0609030804020204" pitchFamily="49" charset="0"/>
              </a:rPr>
              <a:t>is'</a:t>
            </a:r>
            <a:r>
              <a:rPr lang="en-I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,a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Menlo" panose="020B0609030804020204" pitchFamily="49" charset="0"/>
              </a:rPr>
              <a:t>and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 b)</a:t>
            </a: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400" dirty="0">
                <a:solidFill>
                  <a:srgbClr val="A31515"/>
                </a:solidFill>
                <a:latin typeface="Menlo" panose="020B0609030804020204" pitchFamily="49" charset="0"/>
              </a:rPr>
              <a:t>'x or y </a:t>
            </a:r>
            <a:r>
              <a:rPr lang="en-IN" sz="1400" dirty="0" err="1">
                <a:solidFill>
                  <a:srgbClr val="A31515"/>
                </a:solidFill>
                <a:latin typeface="Menlo" panose="020B0609030804020204" pitchFamily="49" charset="0"/>
              </a:rPr>
              <a:t>is'</a:t>
            </a:r>
            <a:r>
              <a:rPr lang="en-I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,a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Menlo" panose="020B0609030804020204" pitchFamily="49" charset="0"/>
              </a:rPr>
              <a:t>or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 b)</a:t>
            </a: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400" dirty="0">
                <a:solidFill>
                  <a:srgbClr val="A31515"/>
                </a:solidFill>
                <a:latin typeface="Menlo" panose="020B0609030804020204" pitchFamily="49" charset="0"/>
              </a:rPr>
              <a:t>'not x </a:t>
            </a:r>
            <a:r>
              <a:rPr lang="en-IN" sz="1400" dirty="0" err="1">
                <a:solidFill>
                  <a:srgbClr val="A31515"/>
                </a:solidFill>
                <a:latin typeface="Menlo" panose="020B0609030804020204" pitchFamily="49" charset="0"/>
              </a:rPr>
              <a:t>is'</a:t>
            </a:r>
            <a:r>
              <a:rPr lang="en-I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400" dirty="0" err="1">
                <a:solidFill>
                  <a:srgbClr val="0000FF"/>
                </a:solidFill>
                <a:latin typeface="Menlo" panose="020B0609030804020204" pitchFamily="49" charset="0"/>
              </a:rPr>
              <a:t>not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 a)</a:t>
            </a: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400" dirty="0">
                <a:solidFill>
                  <a:srgbClr val="008000"/>
                </a:solidFill>
                <a:latin typeface="Menlo" panose="020B0609030804020204" pitchFamily="49" charset="0"/>
              </a:rPr>
              <a:t>#Bitwise Operators</a:t>
            </a:r>
            <a:endParaRPr lang="en-IN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400" dirty="0">
                <a:solidFill>
                  <a:srgbClr val="A31515"/>
                </a:solidFill>
                <a:latin typeface="Menlo" panose="020B0609030804020204" pitchFamily="49" charset="0"/>
              </a:rPr>
              <a:t>'x &amp; y </a:t>
            </a:r>
            <a:r>
              <a:rPr lang="en-IN" sz="1400" dirty="0" err="1">
                <a:solidFill>
                  <a:srgbClr val="A31515"/>
                </a:solidFill>
                <a:latin typeface="Menlo" panose="020B0609030804020204" pitchFamily="49" charset="0"/>
              </a:rPr>
              <a:t>is'</a:t>
            </a:r>
            <a:r>
              <a:rPr lang="en-I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,x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 &amp; y)</a:t>
            </a: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400" dirty="0">
                <a:solidFill>
                  <a:srgbClr val="A31515"/>
                </a:solidFill>
                <a:latin typeface="Menlo" panose="020B0609030804020204" pitchFamily="49" charset="0"/>
              </a:rPr>
              <a:t>'x | y </a:t>
            </a:r>
            <a:r>
              <a:rPr lang="en-IN" sz="1400" dirty="0" err="1">
                <a:solidFill>
                  <a:srgbClr val="A31515"/>
                </a:solidFill>
                <a:latin typeface="Menlo" panose="020B0609030804020204" pitchFamily="49" charset="0"/>
              </a:rPr>
              <a:t>is'</a:t>
            </a:r>
            <a:r>
              <a:rPr lang="en-I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,x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 | 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A4F24A-435D-8B48-BE29-F78559C56C31}"/>
              </a:ext>
            </a:extLst>
          </p:cNvPr>
          <p:cNvSpPr/>
          <p:nvPr/>
        </p:nvSpPr>
        <p:spPr>
          <a:xfrm>
            <a:off x="301837" y="1122312"/>
            <a:ext cx="499993" cy="52937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20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21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22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23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24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25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EE6EBCAF-0D0F-B247-BA83-37E89C35E36D}"/>
              </a:ext>
            </a:extLst>
          </p:cNvPr>
          <p:cNvSpPr/>
          <p:nvPr/>
        </p:nvSpPr>
        <p:spPr>
          <a:xfrm>
            <a:off x="301837" y="793128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668655-6333-054B-B538-C364A37255F4}"/>
              </a:ext>
            </a:extLst>
          </p:cNvPr>
          <p:cNvSpPr/>
          <p:nvPr/>
        </p:nvSpPr>
        <p:spPr>
          <a:xfrm>
            <a:off x="6211983" y="1375334"/>
            <a:ext cx="3545334" cy="2554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 // y = 2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 ** y = 25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  y = 10 4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 &gt;= y is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 &lt;= y is False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 and y is False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 or y is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not x is False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 &amp; y is 0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 | y is 14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ECE420CF-6D12-AE41-8275-CB62DCDBF9DC}"/>
              </a:ext>
            </a:extLst>
          </p:cNvPr>
          <p:cNvSpPr/>
          <p:nvPr/>
        </p:nvSpPr>
        <p:spPr>
          <a:xfrm>
            <a:off x="6211983" y="1058080"/>
            <a:ext cx="126247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724824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uiExpand="1" build="p" animBg="1"/>
      <p:bldP spid="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Identity &amp; Membership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Identity Operator</a:t>
            </a:r>
          </a:p>
          <a:p>
            <a:pPr lvl="1"/>
            <a:r>
              <a:rPr lang="en-IN" dirty="0"/>
              <a:t>Note : consider A = [1,2], B = [1,2] and C=A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>
                <a:solidFill>
                  <a:srgbClr val="C00000"/>
                </a:solidFill>
              </a:rPr>
              <a:t>Membership Operator</a:t>
            </a:r>
          </a:p>
          <a:p>
            <a:pPr lvl="1"/>
            <a:r>
              <a:rPr lang="en-IN" dirty="0"/>
              <a:t>Note : consider A = 2 and B = [1,2,3]</a:t>
            </a:r>
          </a:p>
          <a:p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707173" y="1622538"/>
          <a:ext cx="8983237" cy="18135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1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4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62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11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is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True if both variables are the </a:t>
                      </a:r>
                      <a:r>
                        <a:rPr lang="en-US" sz="1800" b="0" i="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same object</a:t>
                      </a:r>
                      <a:endParaRPr 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is B</a:t>
                      </a:r>
                    </a:p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is C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False</a:t>
                      </a:r>
                    </a:p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900" dirty="0"/>
                        <a:t>is</a:t>
                      </a:r>
                      <a:r>
                        <a:rPr lang="en-IN" sz="1900" baseline="0" dirty="0"/>
                        <a:t> not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True if both variables are </a:t>
                      </a:r>
                      <a:r>
                        <a:rPr lang="en-US" sz="1800" b="1" i="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different</a:t>
                      </a:r>
                      <a:r>
                        <a:rPr lang="en-US" sz="1800" b="0" i="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 object</a:t>
                      </a:r>
                      <a:endParaRPr 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is not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True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707173" y="4328682"/>
          <a:ext cx="8983237" cy="17526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1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4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70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06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in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True if a sequence with the specified value is </a:t>
                      </a:r>
                      <a:r>
                        <a:rPr lang="en-US" sz="1800" b="0" i="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present in the object</a:t>
                      </a:r>
                      <a:endParaRPr 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in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True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900" baseline="0" dirty="0"/>
                        <a:t>not in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True if a sequence with the specified value is </a:t>
                      </a:r>
                      <a:r>
                        <a:rPr lang="en-US" sz="1800" b="0" i="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not present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 the object	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not in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False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C435-276C-1244-8962-5344CC26D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B67FC1-5AE1-4D4F-88D6-A05CF33FD941}"/>
              </a:ext>
            </a:extLst>
          </p:cNvPr>
          <p:cNvSpPr/>
          <p:nvPr/>
        </p:nvSpPr>
        <p:spPr>
          <a:xfrm>
            <a:off x="801829" y="1122312"/>
            <a:ext cx="5844297" cy="47705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x2 =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'Hello'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y2 =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'Hello'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x3 = [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]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y3 = x3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x =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'Hello world'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y = {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'a'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'b'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z = [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]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Identity Operator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"x2 is y2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,x2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y2)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"x3 is y3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,x3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y3)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"x2 is not y2 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,x2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not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y2)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Membership Operator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"'H' in x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'H'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x)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"'hello' not in x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'hello'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not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x)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"5 in z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z)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"1 in y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A4F24A-435D-8B48-BE29-F78559C56C31}"/>
              </a:ext>
            </a:extLst>
          </p:cNvPr>
          <p:cNvSpPr/>
          <p:nvPr/>
        </p:nvSpPr>
        <p:spPr>
          <a:xfrm>
            <a:off x="301837" y="1122312"/>
            <a:ext cx="499993" cy="47705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20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EE6EBCAF-0D0F-B247-BA83-37E89C35E36D}"/>
              </a:ext>
            </a:extLst>
          </p:cNvPr>
          <p:cNvSpPr/>
          <p:nvPr/>
        </p:nvSpPr>
        <p:spPr>
          <a:xfrm>
            <a:off x="301837" y="793128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668655-6333-054B-B538-C364A37255F4}"/>
              </a:ext>
            </a:extLst>
          </p:cNvPr>
          <p:cNvSpPr/>
          <p:nvPr/>
        </p:nvSpPr>
        <p:spPr>
          <a:xfrm>
            <a:off x="7382861" y="1415978"/>
            <a:ext cx="3545334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x2 is y2 = 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x3 is y3 = 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x2 is not y2 = False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'H' in x = 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'hello' not in x =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5 in z =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1 in y = True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ECE420CF-6D12-AE41-8275-CB62DCDBF9DC}"/>
              </a:ext>
            </a:extLst>
          </p:cNvPr>
          <p:cNvSpPr/>
          <p:nvPr/>
        </p:nvSpPr>
        <p:spPr>
          <a:xfrm>
            <a:off x="7382861" y="1098724"/>
            <a:ext cx="126247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913932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uiExpand="1" build="p" animBg="1"/>
      <p:bldP spid="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34FDF-A9F1-065C-46E8-3ECAA9F52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DAA5D6-7BD3-4F67-2DD8-FF450FA28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Conditional Statements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DC8004-5172-5A5F-2E62-1FEDC22EF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77733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6209373" y="5149701"/>
            <a:ext cx="319148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/>
              </a:rPr>
              <a:t>X is greater than 5</a:t>
            </a:r>
            <a:endParaRPr lang="en-IN" sz="1600" b="1" dirty="0">
              <a:latin typeface="Consolas" pitchFamily="49" charset="0"/>
              <a:cs typeface="Consolas" panose="020B0609020204030204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709379" y="5149701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23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709379" y="482051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if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662" y="877239"/>
            <a:ext cx="11929641" cy="2075386"/>
          </a:xfrm>
        </p:spPr>
        <p:txBody>
          <a:bodyPr/>
          <a:lstStyle/>
          <a:p>
            <a:r>
              <a:rPr lang="en-US" dirty="0"/>
              <a:t>if statement is written using the </a:t>
            </a:r>
            <a:r>
              <a:rPr lang="en-US" b="1" dirty="0"/>
              <a:t>if</a:t>
            </a:r>
            <a:r>
              <a:rPr lang="en-US" dirty="0"/>
              <a:t> keyword followed by </a:t>
            </a:r>
            <a:r>
              <a:rPr lang="en-US" b="1" dirty="0">
                <a:solidFill>
                  <a:srgbClr val="C00000"/>
                </a:solidFill>
              </a:rPr>
              <a:t>condition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colon</a:t>
            </a:r>
            <a:r>
              <a:rPr lang="en-US" dirty="0"/>
              <a:t>(</a:t>
            </a:r>
            <a:r>
              <a:rPr lang="en-US" b="1" dirty="0"/>
              <a:t>:</a:t>
            </a:r>
            <a:r>
              <a:rPr lang="en-US" dirty="0"/>
              <a:t>) .</a:t>
            </a:r>
          </a:p>
          <a:p>
            <a:r>
              <a:rPr lang="en-IN" dirty="0"/>
              <a:t>Code to execute when the condition is true will be ideally written in the next line with </a:t>
            </a:r>
            <a:r>
              <a:rPr lang="en-IN" b="1" dirty="0">
                <a:solidFill>
                  <a:srgbClr val="C00000"/>
                </a:solidFill>
              </a:rPr>
              <a:t>indentation</a:t>
            </a:r>
            <a:r>
              <a:rPr lang="en-IN" dirty="0"/>
              <a:t> (white space).</a:t>
            </a:r>
          </a:p>
          <a:p>
            <a:r>
              <a:rPr lang="en-US" dirty="0"/>
              <a:t>Python relies on indentation to define scope in the code (Other programming languages often use curly-brackets for this purpose).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83709" y="3448532"/>
            <a:ext cx="847227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if </a:t>
            </a:r>
            <a:r>
              <a:rPr lang="en-IN" sz="1600" b="1" dirty="0" err="1">
                <a:latin typeface="Consolas" pitchFamily="49" charset="0"/>
                <a:cs typeface="Consolas" panose="020B0609020204030204" pitchFamily="49" charset="0"/>
              </a:rPr>
              <a:t>some_condition</a:t>
            </a:r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</a:t>
            </a:r>
            <a:r>
              <a:rPr lang="en-IN" sz="1600" b="1" dirty="0">
                <a:solidFill>
                  <a:srgbClr val="FF0000"/>
                </a:solidFill>
                <a:latin typeface="Consolas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  # Code to execute when condition is true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83716" y="3448532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83716" y="3119348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0" name="Line Callout 1 9"/>
          <p:cNvSpPr/>
          <p:nvPr/>
        </p:nvSpPr>
        <p:spPr>
          <a:xfrm>
            <a:off x="4045259" y="3049964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89527"/>
              <a:gd name="adj4" fmla="val -14792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if statement ends with </a:t>
            </a:r>
            <a:r>
              <a:rPr lang="en-IN" b="1" dirty="0">
                <a:solidFill>
                  <a:srgbClr val="FF0000"/>
                </a:solidFill>
              </a:rPr>
              <a:t>: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Line Callout 1 10"/>
          <p:cNvSpPr/>
          <p:nvPr/>
        </p:nvSpPr>
        <p:spPr>
          <a:xfrm>
            <a:off x="2245569" y="4065393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-23622"/>
              <a:gd name="adj4" fmla="val -2164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Indentation (tab/whitespace) at the beginning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225835" y="5149701"/>
            <a:ext cx="4003711" cy="11079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10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x &gt;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"X is greater than 5"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725842" y="5149701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7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725842" y="4820517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ifdemo.py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 animBg="1"/>
      <p:bldP spid="22" grpId="0" animBg="1"/>
      <p:bldP spid="23" grpId="0" animBg="1"/>
      <p:bldP spid="3" grpId="0" build="p"/>
      <p:bldP spid="4" grpId="0" uiExpand="1" build="p" animBg="1"/>
      <p:bldP spid="5" grpId="0" animBg="1"/>
      <p:bldP spid="6" grpId="0" animBg="1"/>
      <p:bldP spid="10" grpId="0" animBg="1"/>
      <p:bldP spid="10" grpId="1" animBg="1"/>
      <p:bldP spid="11" grpId="0" animBg="1"/>
      <p:bldP spid="11" grpId="1" animBg="1"/>
      <p:bldP spid="15" grpId="0" build="p" animBg="1"/>
      <p:bldP spid="16" grpId="0" animBg="1"/>
      <p:bldP spid="1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6037093" y="4141305"/>
            <a:ext cx="319148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/>
              </a:rPr>
              <a:t>X is less than 5</a:t>
            </a:r>
            <a:endParaRPr lang="en-IN" sz="1600" b="1" dirty="0">
              <a:latin typeface="Consolas" pitchFamily="49" charset="0"/>
              <a:cs typeface="Consolas" panose="020B0609020204030204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537099" y="4141305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23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537099" y="381212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if else statement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983348" y="2139513"/>
            <a:ext cx="847227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if </a:t>
            </a:r>
            <a:r>
              <a:rPr lang="en-IN" sz="1600" b="1" dirty="0" err="1">
                <a:latin typeface="Consolas" pitchFamily="49" charset="0"/>
                <a:cs typeface="Consolas" panose="020B0609020204030204" pitchFamily="49" charset="0"/>
              </a:rPr>
              <a:t>some_condition</a:t>
            </a:r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</a:t>
            </a:r>
            <a:r>
              <a:rPr lang="en-IN" sz="1600" b="1" dirty="0">
                <a:solidFill>
                  <a:srgbClr val="FF0000"/>
                </a:solidFill>
                <a:latin typeface="Consolas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  # Code to execute when condition is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else </a:t>
            </a:r>
            <a:r>
              <a:rPr lang="en-IN" sz="1600" b="1" dirty="0">
                <a:solidFill>
                  <a:srgbClr val="FF0000"/>
                </a:solidFill>
                <a:latin typeface="Consolas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  # Code to execute when condition is false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493629" y="2139513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483355" y="1810329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9777" y="4042617"/>
            <a:ext cx="4003711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x &gt;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"X is greater than 5"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"X is less than 5"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9784" y="4042617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7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9784" y="3713433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ifelsedemo.py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D433581-105A-E74B-A642-64AA64279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62" y="877239"/>
            <a:ext cx="11929641" cy="933090"/>
          </a:xfrm>
        </p:spPr>
        <p:txBody>
          <a:bodyPr/>
          <a:lstStyle/>
          <a:p>
            <a:r>
              <a:rPr lang="en-US" dirty="0"/>
              <a:t>This is basically a </a:t>
            </a:r>
            <a:r>
              <a:rPr lang="en-US" dirty="0">
                <a:solidFill>
                  <a:srgbClr val="C00000"/>
                </a:solidFill>
              </a:rPr>
              <a:t>“two-way” </a:t>
            </a:r>
            <a:r>
              <a:rPr lang="en-US" dirty="0"/>
              <a:t>decision statement. This is used when we must choose between two alternatives.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 animBg="1"/>
      <p:bldP spid="22" grpId="0" animBg="1"/>
      <p:bldP spid="23" grpId="0" animBg="1"/>
      <p:bldP spid="4" grpId="0" build="p" animBg="1"/>
      <p:bldP spid="5" grpId="0" animBg="1"/>
      <p:bldP spid="6" grpId="0" animBg="1"/>
      <p:bldP spid="15" grpId="0" build="p" animBg="1"/>
      <p:bldP spid="16" grpId="0" animBg="1"/>
      <p:bldP spid="17" grpId="0" animBg="1"/>
      <p:bldP spid="24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90B7D-8F60-0E49-89E6-050F4167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F65145-CDAE-4045-93D5-BD075ACCFAFC}"/>
              </a:ext>
            </a:extLst>
          </p:cNvPr>
          <p:cNvSpPr/>
          <p:nvPr/>
        </p:nvSpPr>
        <p:spPr>
          <a:xfrm>
            <a:off x="817904" y="1210207"/>
            <a:ext cx="6363481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/>
              </a:rPr>
              <a:t># Program checks if the number is positive or negative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Number="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&gt;=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"Positive number"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"Negative number"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F5CC2-3A89-B043-BD8A-E3175815A0AF}"/>
              </a:ext>
            </a:extLst>
          </p:cNvPr>
          <p:cNvSpPr/>
          <p:nvPr/>
        </p:nvSpPr>
        <p:spPr>
          <a:xfrm>
            <a:off x="317911" y="1210207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20B5B0D4-A0BB-DB45-84B6-5E79CA39BDB9}"/>
              </a:ext>
            </a:extLst>
          </p:cNvPr>
          <p:cNvSpPr/>
          <p:nvPr/>
        </p:nvSpPr>
        <p:spPr>
          <a:xfrm>
            <a:off x="317911" y="881023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0B4F37-3094-E849-9E2B-14CBE0612EF8}"/>
              </a:ext>
            </a:extLst>
          </p:cNvPr>
          <p:cNvSpPr/>
          <p:nvPr/>
        </p:nvSpPr>
        <p:spPr>
          <a:xfrm>
            <a:off x="7522016" y="1210207"/>
            <a:ext cx="3691475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/>
              </a:rPr>
              <a:t>Enter Number = 5</a:t>
            </a:r>
          </a:p>
          <a:p>
            <a:r>
              <a:rPr lang="en-US" sz="1600" dirty="0">
                <a:latin typeface="Consolas"/>
              </a:rPr>
              <a:t>Positive number  </a:t>
            </a:r>
            <a:endParaRPr lang="en-IN" sz="1600" b="1" dirty="0">
              <a:latin typeface="Consolas" pitchFamily="49" charset="0"/>
              <a:cs typeface="Consolas" panose="020B0609020204030204" pitchFamily="49" charset="0"/>
            </a:endParaRP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DBEFB88B-CA9A-664B-9952-4B4FE69CA22F}"/>
              </a:ext>
            </a:extLst>
          </p:cNvPr>
          <p:cNvSpPr/>
          <p:nvPr/>
        </p:nvSpPr>
        <p:spPr>
          <a:xfrm>
            <a:off x="7522016" y="88102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28896A-65EE-0C48-8F3B-7891AA8BE8A2}"/>
              </a:ext>
            </a:extLst>
          </p:cNvPr>
          <p:cNvSpPr/>
          <p:nvPr/>
        </p:nvSpPr>
        <p:spPr>
          <a:xfrm>
            <a:off x="817904" y="3684457"/>
            <a:ext cx="6363481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/>
              </a:rPr>
              <a:t># Program checks if the number is Odd or Even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Number="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%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"Even number"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"Odd number"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225EAC-B0D2-2642-B40C-4A245AB3AFB9}"/>
              </a:ext>
            </a:extLst>
          </p:cNvPr>
          <p:cNvSpPr/>
          <p:nvPr/>
        </p:nvSpPr>
        <p:spPr>
          <a:xfrm>
            <a:off x="317911" y="3684457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85AC9D8B-FA44-9647-8475-2166DC4208DE}"/>
              </a:ext>
            </a:extLst>
          </p:cNvPr>
          <p:cNvSpPr/>
          <p:nvPr/>
        </p:nvSpPr>
        <p:spPr>
          <a:xfrm>
            <a:off x="317911" y="3355273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Example2.py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F1F1A2-2578-9D4D-9165-01F387AA11B6}"/>
              </a:ext>
            </a:extLst>
          </p:cNvPr>
          <p:cNvSpPr/>
          <p:nvPr/>
        </p:nvSpPr>
        <p:spPr>
          <a:xfrm>
            <a:off x="7522016" y="3684457"/>
            <a:ext cx="3691475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/>
              </a:rPr>
              <a:t>Enter Number = 4</a:t>
            </a:r>
          </a:p>
          <a:p>
            <a:r>
              <a:rPr lang="en-US" sz="1600" dirty="0">
                <a:latin typeface="Consolas"/>
              </a:rPr>
              <a:t>Positive number  </a:t>
            </a:r>
            <a:endParaRPr lang="en-IN" sz="1600" b="1" dirty="0">
              <a:latin typeface="Consolas" pitchFamily="49" charset="0"/>
              <a:cs typeface="Consolas" panose="020B0609020204030204" pitchFamily="49" charset="0"/>
            </a:endParaRP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EEC407E8-CCAB-C24C-88D7-D630F8551F3F}"/>
              </a:ext>
            </a:extLst>
          </p:cNvPr>
          <p:cNvSpPr/>
          <p:nvPr/>
        </p:nvSpPr>
        <p:spPr>
          <a:xfrm>
            <a:off x="7522016" y="33552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045932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9" grpId="0" animBg="1"/>
      <p:bldP spid="10" grpId="0" build="p" animBg="1"/>
      <p:bldP spid="11" grpId="0" animBg="1"/>
      <p:bldP spid="12" grpId="0" animBg="1"/>
      <p:bldP spid="13" grpId="0" build="p" animBg="1"/>
      <p:bldP spid="1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Nested if statement</a:t>
            </a:r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D433581-105A-E74B-A642-64AA64279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62" y="877236"/>
            <a:ext cx="11929641" cy="433080"/>
          </a:xfrm>
        </p:spPr>
        <p:txBody>
          <a:bodyPr/>
          <a:lstStyle/>
          <a:p>
            <a:r>
              <a:rPr lang="en-IN" dirty="0"/>
              <a:t>An if-else statement is written within </a:t>
            </a:r>
            <a:r>
              <a:rPr lang="en-IN" dirty="0">
                <a:solidFill>
                  <a:srgbClr val="C00000"/>
                </a:solidFill>
              </a:rPr>
              <a:t>another if-else </a:t>
            </a:r>
            <a:r>
              <a:rPr lang="en-IN" dirty="0"/>
              <a:t>statement is called nested if statement. </a:t>
            </a:r>
          </a:p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7055F7-BBBC-384C-8822-8FC2A61C344E}"/>
              </a:ext>
            </a:extLst>
          </p:cNvPr>
          <p:cNvSpPr/>
          <p:nvPr/>
        </p:nvSpPr>
        <p:spPr>
          <a:xfrm>
            <a:off x="1029777" y="1719797"/>
            <a:ext cx="5549443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if some_condition1 </a:t>
            </a:r>
            <a:r>
              <a:rPr lang="en-IN" sz="1600" b="1" dirty="0">
                <a:solidFill>
                  <a:srgbClr val="FF0000"/>
                </a:solidFill>
                <a:latin typeface="Consolas" pitchFamily="49" charset="0"/>
                <a:cs typeface="Consolas" panose="020B0609020204030204" pitchFamily="49" charset="0"/>
              </a:rPr>
              <a:t>:</a:t>
            </a:r>
          </a:p>
          <a:p>
            <a:pPr lvl="1"/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if some_condition2 </a:t>
            </a:r>
            <a:r>
              <a:rPr lang="en-IN" sz="1600" b="1" dirty="0">
                <a:solidFill>
                  <a:srgbClr val="FF0000"/>
                </a:solidFill>
                <a:latin typeface="Consolas" pitchFamily="49" charset="0"/>
                <a:cs typeface="Consolas" panose="020B0609020204030204" pitchFamily="49" charset="0"/>
              </a:rPr>
              <a:t>:</a:t>
            </a:r>
          </a:p>
          <a:p>
            <a:pPr lvl="1"/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  # Code to execute when condition is true</a:t>
            </a:r>
          </a:p>
          <a:p>
            <a:pPr lvl="1"/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else </a:t>
            </a:r>
            <a:r>
              <a:rPr lang="en-IN" sz="1600" b="1" dirty="0">
                <a:solidFill>
                  <a:srgbClr val="FF0000"/>
                </a:solidFill>
                <a:latin typeface="Consolas" pitchFamily="49" charset="0"/>
                <a:cs typeface="Consolas" panose="020B0609020204030204" pitchFamily="49" charset="0"/>
              </a:rPr>
              <a:t>:</a:t>
            </a:r>
          </a:p>
          <a:p>
            <a:pPr lvl="1"/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  # Code to execute when condition is false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C03DB8-FDAF-C746-B78E-5672348FAF06}"/>
              </a:ext>
            </a:extLst>
          </p:cNvPr>
          <p:cNvSpPr/>
          <p:nvPr/>
        </p:nvSpPr>
        <p:spPr>
          <a:xfrm>
            <a:off x="540058" y="1719797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3D7655BF-CA24-7D41-BCD9-F97C7C5722A9}"/>
              </a:ext>
            </a:extLst>
          </p:cNvPr>
          <p:cNvSpPr/>
          <p:nvPr/>
        </p:nvSpPr>
        <p:spPr>
          <a:xfrm>
            <a:off x="529784" y="1390613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866395-ADD6-824A-90D3-9B4BCD50803C}"/>
              </a:ext>
            </a:extLst>
          </p:cNvPr>
          <p:cNvSpPr/>
          <p:nvPr/>
        </p:nvSpPr>
        <p:spPr>
          <a:xfrm>
            <a:off x="1040051" y="3701604"/>
            <a:ext cx="6363481" cy="21236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float(input(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a number: 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&gt;=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    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"Zero"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    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"Positive number"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"Negative number"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725AA6-02FF-D14C-883F-4D6A4B1113ED}"/>
              </a:ext>
            </a:extLst>
          </p:cNvPr>
          <p:cNvSpPr/>
          <p:nvPr/>
        </p:nvSpPr>
        <p:spPr>
          <a:xfrm>
            <a:off x="540058" y="3701604"/>
            <a:ext cx="499993" cy="20621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22" name="Rectangle: Top Corners Rounded 6">
            <a:extLst>
              <a:ext uri="{FF2B5EF4-FFF2-40B4-BE49-F238E27FC236}">
                <a16:creationId xmlns:a16="http://schemas.microsoft.com/office/drawing/2014/main" id="{ED29D29E-0900-9E44-9B68-619A4C32F87D}"/>
              </a:ext>
            </a:extLst>
          </p:cNvPr>
          <p:cNvSpPr/>
          <p:nvPr/>
        </p:nvSpPr>
        <p:spPr>
          <a:xfrm>
            <a:off x="540058" y="3372420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30ADCF-0409-444B-99ED-F46CD2336543}"/>
              </a:ext>
            </a:extLst>
          </p:cNvPr>
          <p:cNvSpPr/>
          <p:nvPr/>
        </p:nvSpPr>
        <p:spPr>
          <a:xfrm>
            <a:off x="7867703" y="1988460"/>
            <a:ext cx="3691475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/>
              </a:rPr>
              <a:t>Enter a Number = 4</a:t>
            </a:r>
          </a:p>
          <a:p>
            <a:r>
              <a:rPr lang="en-US" sz="1600" dirty="0">
                <a:latin typeface="Consolas"/>
              </a:rPr>
              <a:t>Positive number  </a:t>
            </a:r>
            <a:endParaRPr lang="en-IN" sz="1600" b="1" dirty="0">
              <a:latin typeface="Consolas" pitchFamily="49" charset="0"/>
              <a:cs typeface="Consolas" panose="020B0609020204030204" pitchFamily="49" charset="0"/>
            </a:endParaRPr>
          </a:p>
        </p:txBody>
      </p:sp>
      <p:sp>
        <p:nvSpPr>
          <p:cNvPr id="25" name="Rectangle: Top Corners Rounded 6">
            <a:extLst>
              <a:ext uri="{FF2B5EF4-FFF2-40B4-BE49-F238E27FC236}">
                <a16:creationId xmlns:a16="http://schemas.microsoft.com/office/drawing/2014/main" id="{3A2018FF-0AB6-684B-92E4-5227DF5CB6B7}"/>
              </a:ext>
            </a:extLst>
          </p:cNvPr>
          <p:cNvSpPr/>
          <p:nvPr/>
        </p:nvSpPr>
        <p:spPr>
          <a:xfrm>
            <a:off x="7867703" y="1659276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846111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  <p:bldP spid="12" grpId="0" build="p" animBg="1"/>
      <p:bldP spid="15" grpId="0" animBg="1"/>
      <p:bldP spid="16" grpId="0" animBg="1"/>
      <p:bldP spid="17" grpId="0" build="p" animBg="1"/>
      <p:bldP spid="21" grpId="0" animBg="1"/>
      <p:bldP spid="22" grpId="0" animBg="1"/>
      <p:bldP spid="23" grpId="0" build="p" animBg="1"/>
      <p:bldP spid="2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A35BB-0B94-C145-9DA1-CDBD9FA8B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7BE88C-ACE8-C544-9FE7-58AC68CE0A6A}"/>
              </a:ext>
            </a:extLst>
          </p:cNvPr>
          <p:cNvSpPr/>
          <p:nvPr/>
        </p:nvSpPr>
        <p:spPr>
          <a:xfrm>
            <a:off x="820813" y="1272700"/>
            <a:ext cx="4877460" cy="42780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/>
              </a:rPr>
              <a:t># find maximum number from three number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a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A="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b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B="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C="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a&gt;b: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a&gt;c: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    g=a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    g=c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b&gt;c: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    g=b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    g=c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"Greater  = 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,g)</a:t>
            </a:r>
            <a:endParaRPr lang="en-US" sz="160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0EBBE1-0CC7-1E43-9A06-8C22C45AAEA7}"/>
              </a:ext>
            </a:extLst>
          </p:cNvPr>
          <p:cNvSpPr/>
          <p:nvPr/>
        </p:nvSpPr>
        <p:spPr>
          <a:xfrm>
            <a:off x="320820" y="1272700"/>
            <a:ext cx="499993" cy="42780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5E94693-F33F-F64F-A741-A1A7B5E1B42A}"/>
              </a:ext>
            </a:extLst>
          </p:cNvPr>
          <p:cNvSpPr/>
          <p:nvPr/>
        </p:nvSpPr>
        <p:spPr>
          <a:xfrm>
            <a:off x="320820" y="943516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6CEDBA-0B2C-CC4E-B5A3-1BC5DC5E702C}"/>
              </a:ext>
            </a:extLst>
          </p:cNvPr>
          <p:cNvSpPr/>
          <p:nvPr/>
        </p:nvSpPr>
        <p:spPr>
          <a:xfrm>
            <a:off x="6096000" y="1437292"/>
            <a:ext cx="3691475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Enter A=10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Enter B=9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Enter C=2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Greater  =  10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FD2C07CC-4825-6E42-BA8B-1828FA5156ED}"/>
              </a:ext>
            </a:extLst>
          </p:cNvPr>
          <p:cNvSpPr/>
          <p:nvPr/>
        </p:nvSpPr>
        <p:spPr>
          <a:xfrm>
            <a:off x="6096000" y="1108108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737867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if, </a:t>
            </a:r>
            <a:r>
              <a:rPr lang="en-IN" dirty="0" err="1"/>
              <a:t>elif</a:t>
            </a:r>
            <a:r>
              <a:rPr lang="en-IN" dirty="0"/>
              <a:t> and else statement</a:t>
            </a:r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3AF844E-5FFD-8946-A0F6-1F13B514E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>
                <a:solidFill>
                  <a:srgbClr val="C00000"/>
                </a:solidFill>
              </a:rPr>
              <a:t>elif</a:t>
            </a:r>
            <a:r>
              <a:rPr lang="en-US" dirty="0"/>
              <a:t> is short for else if. It allows us to check for multiple expressions.</a:t>
            </a:r>
          </a:p>
          <a:p>
            <a:r>
              <a:rPr lang="en-US" dirty="0"/>
              <a:t>If the condition for if is </a:t>
            </a:r>
            <a:r>
              <a:rPr lang="en-US" dirty="0">
                <a:solidFill>
                  <a:srgbClr val="C00000"/>
                </a:solidFill>
              </a:rPr>
              <a:t>False</a:t>
            </a:r>
            <a:r>
              <a:rPr lang="en-US" dirty="0"/>
              <a:t>, it checks the condition of the </a:t>
            </a:r>
            <a:r>
              <a:rPr lang="en-US" dirty="0">
                <a:solidFill>
                  <a:srgbClr val="C00000"/>
                </a:solidFill>
              </a:rPr>
              <a:t>next </a:t>
            </a:r>
            <a:r>
              <a:rPr lang="en-US" dirty="0" err="1">
                <a:solidFill>
                  <a:srgbClr val="C00000"/>
                </a:solidFill>
              </a:rPr>
              <a:t>elif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block and so on.</a:t>
            </a:r>
          </a:p>
          <a:p>
            <a:r>
              <a:rPr lang="en-US" dirty="0"/>
              <a:t>If all the conditions </a:t>
            </a:r>
            <a:r>
              <a:rPr lang="en-US" dirty="0">
                <a:solidFill>
                  <a:srgbClr val="C00000"/>
                </a:solidFill>
              </a:rPr>
              <a:t>are False</a:t>
            </a:r>
            <a:r>
              <a:rPr lang="en-US" dirty="0"/>
              <a:t>, the body of </a:t>
            </a:r>
            <a:r>
              <a:rPr lang="en-US" dirty="0">
                <a:solidFill>
                  <a:srgbClr val="C00000"/>
                </a:solidFill>
              </a:rPr>
              <a:t>else</a:t>
            </a:r>
            <a:r>
              <a:rPr lang="en-US" dirty="0"/>
              <a:t> is executed.</a:t>
            </a:r>
          </a:p>
          <a:p>
            <a:r>
              <a:rPr lang="en-US" dirty="0"/>
              <a:t>Only </a:t>
            </a:r>
            <a:r>
              <a:rPr lang="en-US" dirty="0">
                <a:solidFill>
                  <a:srgbClr val="C00000"/>
                </a:solidFill>
              </a:rPr>
              <a:t>one block </a:t>
            </a:r>
            <a:r>
              <a:rPr lang="en-US" dirty="0"/>
              <a:t>among the several if...</a:t>
            </a:r>
            <a:r>
              <a:rPr lang="en-US" dirty="0" err="1"/>
              <a:t>elif</a:t>
            </a:r>
            <a:r>
              <a:rPr lang="en-US" dirty="0"/>
              <a:t>...else blocks is executed according to the condition. </a:t>
            </a:r>
          </a:p>
          <a:p>
            <a:r>
              <a:rPr lang="en-US" dirty="0"/>
              <a:t>The if a block can have only one else block, but it can have </a:t>
            </a:r>
            <a:r>
              <a:rPr lang="en-US" dirty="0">
                <a:solidFill>
                  <a:srgbClr val="C00000"/>
                </a:solidFill>
              </a:rPr>
              <a:t>multiple </a:t>
            </a:r>
            <a:r>
              <a:rPr lang="en-US" dirty="0" err="1">
                <a:solidFill>
                  <a:srgbClr val="C00000"/>
                </a:solidFill>
              </a:rPr>
              <a:t>elif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blocks.</a:t>
            </a:r>
          </a:p>
          <a:p>
            <a:r>
              <a:rPr lang="en-US" dirty="0"/>
              <a:t>This statement is alternative for nested if statement to </a:t>
            </a:r>
            <a:r>
              <a:rPr lang="en-US" dirty="0">
                <a:solidFill>
                  <a:srgbClr val="C00000"/>
                </a:solidFill>
              </a:rPr>
              <a:t>overcome</a:t>
            </a:r>
            <a:r>
              <a:rPr lang="en-US" dirty="0"/>
              <a:t> the </a:t>
            </a:r>
            <a:r>
              <a:rPr lang="en-US" dirty="0">
                <a:solidFill>
                  <a:srgbClr val="C00000"/>
                </a:solidFill>
              </a:rPr>
              <a:t>complexity problem </a:t>
            </a:r>
            <a:r>
              <a:rPr lang="en-US" dirty="0"/>
              <a:t>involved in nested if statement.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6013629" y="3322944"/>
            <a:ext cx="319148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/>
              </a:rPr>
              <a:t>X is greater than 5</a:t>
            </a:r>
            <a:endParaRPr lang="en-IN" sz="1600" b="1" dirty="0">
              <a:latin typeface="Consolas" pitchFamily="49" charset="0"/>
              <a:cs typeface="Consolas" panose="020B0609020204030204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513635" y="3322944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23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513635" y="299376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if, </a:t>
            </a:r>
            <a:r>
              <a:rPr lang="en-IN" dirty="0" err="1"/>
              <a:t>elif</a:t>
            </a:r>
            <a:r>
              <a:rPr lang="en-IN" dirty="0"/>
              <a:t> and else statement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83709" y="1236960"/>
            <a:ext cx="8472276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if some_condition_1 </a:t>
            </a:r>
            <a:r>
              <a:rPr lang="en-IN" sz="1600" b="1" dirty="0">
                <a:solidFill>
                  <a:srgbClr val="FF0000"/>
                </a:solidFill>
                <a:latin typeface="Consolas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  # Code to execute when condition 1 is true</a:t>
            </a:r>
          </a:p>
          <a:p>
            <a:r>
              <a:rPr lang="en-IN" sz="1600" b="1" dirty="0" err="1">
                <a:latin typeface="Consolas" pitchFamily="49" charset="0"/>
                <a:cs typeface="Consolas" panose="020B0609020204030204" pitchFamily="49" charset="0"/>
              </a:rPr>
              <a:t>elif</a:t>
            </a:r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some_condition_2 :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  # Code to execute when condition 2 is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else </a:t>
            </a:r>
            <a:r>
              <a:rPr lang="en-IN" sz="1600" b="1" dirty="0">
                <a:solidFill>
                  <a:srgbClr val="FF0000"/>
                </a:solidFill>
                <a:latin typeface="Consolas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  # Code to execute when both conditions are false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93990" y="1236960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83716" y="907776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130138" y="3322944"/>
            <a:ext cx="4003711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10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x &gt;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"X is greater than 12"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 err="1">
                <a:solidFill>
                  <a:srgbClr val="0000FF"/>
                </a:solidFill>
                <a:latin typeface="Consolas"/>
              </a:rPr>
              <a:t>elif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x &gt;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"X is greater than 5"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"X is less than 5"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630145" y="3322944"/>
            <a:ext cx="499993" cy="20621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17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630145" y="2993760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ifelifdemo.py</a:t>
            </a:r>
          </a:p>
        </p:txBody>
      </p:sp>
    </p:spTree>
    <p:extLst>
      <p:ext uri="{BB962C8B-B14F-4D97-AF65-F5344CB8AC3E}">
        <p14:creationId xmlns:p14="http://schemas.microsoft.com/office/powerpoint/2010/main" val="2013727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 animBg="1"/>
      <p:bldP spid="22" grpId="0" animBg="1"/>
      <p:bldP spid="23" grpId="0" animBg="1"/>
      <p:bldP spid="4" grpId="0" build="p" animBg="1"/>
      <p:bldP spid="5" grpId="0" animBg="1"/>
      <p:bldP spid="6" grpId="0" animBg="1"/>
      <p:bldP spid="15" grpId="0" build="p" animBg="1"/>
      <p:bldP spid="16" grpId="0" animBg="1"/>
      <p:bldP spid="1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8B5CA-09AC-FC47-8B8A-613A5C96E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C74091-77FB-3743-8E3C-76FAC9E2B4E1}"/>
              </a:ext>
            </a:extLst>
          </p:cNvPr>
          <p:cNvSpPr/>
          <p:nvPr/>
        </p:nvSpPr>
        <p:spPr>
          <a:xfrm>
            <a:off x="820812" y="1272700"/>
            <a:ext cx="5992583" cy="47089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8000"/>
                </a:solidFill>
                <a:latin typeface="Consolas"/>
              </a:rPr>
              <a:t># Python Program to find Student Grade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err="1">
                <a:solidFill>
                  <a:srgbClr val="000000"/>
                </a:solidFill>
                <a:latin typeface="Consolas"/>
              </a:rPr>
              <a:t>english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= float(input(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 Please enter English Marks: 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math = float(input(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 Please enter Math score: 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computers = float(input(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 Please enter Computer Marks: 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physics = float(input(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 Please enter Physics Marks: 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chemistry = float(input(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 Please enter Chemistry Marks: 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</a:rPr>
              <a:t>total =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english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+ math + computers + physics + chemistry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percentage = (total / </a:t>
            </a:r>
            <a:r>
              <a:rPr lang="en-US" sz="1200" dirty="0">
                <a:solidFill>
                  <a:srgbClr val="098658"/>
                </a:solidFill>
                <a:latin typeface="Consolas"/>
              </a:rPr>
              <a:t>500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 * </a:t>
            </a:r>
            <a:r>
              <a:rPr lang="en-US" sz="1200" dirty="0">
                <a:solidFill>
                  <a:srgbClr val="098658"/>
                </a:solidFill>
                <a:latin typeface="Consolas"/>
              </a:rPr>
              <a:t>100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"Total Marks = %.2f"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 %total)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"Marks Percentage = %.2f"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 %percentage)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</a:rPr>
            </a:br>
            <a:r>
              <a:rPr lang="en-US" sz="12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(percentage &gt;= </a:t>
            </a:r>
            <a:r>
              <a:rPr lang="en-US" sz="1200" dirty="0">
                <a:solidFill>
                  <a:srgbClr val="098658"/>
                </a:solidFill>
                <a:latin typeface="Consolas"/>
              </a:rPr>
              <a:t>90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"A Grade"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200" dirty="0" err="1">
                <a:solidFill>
                  <a:srgbClr val="0000FF"/>
                </a:solidFill>
                <a:latin typeface="Consolas"/>
              </a:rPr>
              <a:t>elif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(percentage &gt;= </a:t>
            </a:r>
            <a:r>
              <a:rPr lang="en-US" sz="1200" dirty="0">
                <a:solidFill>
                  <a:srgbClr val="098658"/>
                </a:solidFill>
                <a:latin typeface="Consolas"/>
              </a:rPr>
              <a:t>80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"B Grade"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200" dirty="0" err="1">
                <a:solidFill>
                  <a:srgbClr val="0000FF"/>
                </a:solidFill>
                <a:latin typeface="Consolas"/>
              </a:rPr>
              <a:t>elif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(percentage &gt;= </a:t>
            </a:r>
            <a:r>
              <a:rPr lang="en-US" sz="1200" dirty="0">
                <a:solidFill>
                  <a:srgbClr val="098658"/>
                </a:solidFill>
                <a:latin typeface="Consolas"/>
              </a:rPr>
              <a:t>70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"C Grade"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200" dirty="0" err="1">
                <a:solidFill>
                  <a:srgbClr val="0000FF"/>
                </a:solidFill>
                <a:latin typeface="Consolas"/>
              </a:rPr>
              <a:t>elif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(percentage &gt;= </a:t>
            </a:r>
            <a:r>
              <a:rPr lang="en-US" sz="1200" dirty="0">
                <a:solidFill>
                  <a:srgbClr val="098658"/>
                </a:solidFill>
                <a:latin typeface="Consolas"/>
              </a:rPr>
              <a:t>60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"D Grade"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200" dirty="0" err="1">
                <a:solidFill>
                  <a:srgbClr val="0000FF"/>
                </a:solidFill>
                <a:latin typeface="Consolas"/>
              </a:rPr>
              <a:t>elif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(percentage &gt;= </a:t>
            </a:r>
            <a:r>
              <a:rPr lang="en-US" sz="1200" dirty="0">
                <a:solidFill>
                  <a:srgbClr val="098658"/>
                </a:solidFill>
                <a:latin typeface="Consolas"/>
              </a:rPr>
              <a:t>40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"E Grade"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"Fail"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934E15-E02C-BD4F-B856-B5A41EF5DFDF}"/>
              </a:ext>
            </a:extLst>
          </p:cNvPr>
          <p:cNvSpPr/>
          <p:nvPr/>
        </p:nvSpPr>
        <p:spPr>
          <a:xfrm>
            <a:off x="320820" y="1272700"/>
            <a:ext cx="499993" cy="470898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20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21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22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23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24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F6A7EA51-D479-124A-A51D-6F390FDDB2DB}"/>
              </a:ext>
            </a:extLst>
          </p:cNvPr>
          <p:cNvSpPr/>
          <p:nvPr/>
        </p:nvSpPr>
        <p:spPr>
          <a:xfrm>
            <a:off x="320820" y="943516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C85B46-C0ED-B94E-8B95-82CCA7EFDEE8}"/>
              </a:ext>
            </a:extLst>
          </p:cNvPr>
          <p:cNvSpPr/>
          <p:nvPr/>
        </p:nvSpPr>
        <p:spPr>
          <a:xfrm>
            <a:off x="7177669" y="1272700"/>
            <a:ext cx="3973551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Please enter English Marks: 50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Please enter Math score: 50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Please enter Computer Marks: 50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Please enter Physics Marks: 50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Please enter Chemistry Marks: 50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Total Marks = 250.00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Marks Percentage = 50.00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E Grade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C188AB8C-7501-5C48-8E58-677D7183782D}"/>
              </a:ext>
            </a:extLst>
          </p:cNvPr>
          <p:cNvSpPr/>
          <p:nvPr/>
        </p:nvSpPr>
        <p:spPr>
          <a:xfrm>
            <a:off x="7177669" y="943516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558338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3FE73-9030-FEF1-0104-0799D2654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Ternary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8038A-6C16-F5F2-D1AE-E26AC103D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b="1" dirty="0"/>
              <a:t>ternary operator</a:t>
            </a:r>
            <a:r>
              <a:rPr lang="en-IN" dirty="0"/>
              <a:t> is a one-line shortcut to write a simple if-else statement.</a:t>
            </a:r>
          </a:p>
          <a:p>
            <a:r>
              <a:rPr lang="en-IN" b="1" dirty="0"/>
              <a:t>Syntax:</a:t>
            </a:r>
          </a:p>
          <a:p>
            <a:pPr marL="0" indent="447675" algn="l">
              <a:buNone/>
            </a:pPr>
            <a:r>
              <a:rPr lang="en-US" dirty="0" err="1"/>
              <a:t>value_if_true</a:t>
            </a:r>
            <a:r>
              <a:rPr lang="en-US" dirty="0"/>
              <a:t> </a:t>
            </a:r>
            <a:r>
              <a:rPr lang="en-US" b="1" dirty="0"/>
              <a:t>if</a:t>
            </a:r>
            <a:r>
              <a:rPr lang="en-US" dirty="0"/>
              <a:t> condition </a:t>
            </a:r>
            <a:r>
              <a:rPr lang="en-US" b="1" dirty="0"/>
              <a:t>else</a:t>
            </a:r>
            <a:r>
              <a:rPr lang="en-US" dirty="0"/>
              <a:t> </a:t>
            </a:r>
            <a:r>
              <a:rPr lang="en-US" dirty="0" err="1"/>
              <a:t>value_if_false</a:t>
            </a:r>
            <a:endParaRPr lang="en-IN" b="1" dirty="0"/>
          </a:p>
          <a:p>
            <a:r>
              <a:rPr lang="en-IN" b="1" dirty="0"/>
              <a:t>Example: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1B65D7-1D5F-26FD-F275-2299F278C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2977499"/>
            <a:ext cx="3456316" cy="1501270"/>
          </a:xfrm>
          <a:prstGeom prst="rect">
            <a:avLst/>
          </a:prstGeom>
          <a:ln w="19050">
            <a:solidFill>
              <a:srgbClr val="B71B1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ECB2C7-DDA5-C809-4FC8-F321B6C7D4B3}"/>
              </a:ext>
            </a:extLst>
          </p:cNvPr>
          <p:cNvSpPr txBox="1"/>
          <p:nvPr/>
        </p:nvSpPr>
        <p:spPr>
          <a:xfrm>
            <a:off x="6574206" y="1551401"/>
            <a:ext cx="4608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If the </a:t>
            </a:r>
            <a:r>
              <a:rPr lang="en-IN" b="1" dirty="0">
                <a:solidFill>
                  <a:srgbClr val="C00000"/>
                </a:solidFill>
              </a:rPr>
              <a:t>condition is True</a:t>
            </a:r>
            <a:r>
              <a:rPr lang="en-IN" dirty="0">
                <a:solidFill>
                  <a:srgbClr val="C00000"/>
                </a:solidFill>
              </a:rPr>
              <a:t>, </a:t>
            </a:r>
            <a:r>
              <a:rPr lang="en-IN" dirty="0" err="1">
                <a:solidFill>
                  <a:srgbClr val="C00000"/>
                </a:solidFill>
              </a:rPr>
              <a:t>value_if_true</a:t>
            </a:r>
            <a:r>
              <a:rPr lang="en-IN" dirty="0">
                <a:solidFill>
                  <a:srgbClr val="C00000"/>
                </a:solidFill>
              </a:rPr>
              <a:t> is returned.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0DF83A-8910-364F-657F-79BC44D04616}"/>
              </a:ext>
            </a:extLst>
          </p:cNvPr>
          <p:cNvSpPr txBox="1"/>
          <p:nvPr/>
        </p:nvSpPr>
        <p:spPr>
          <a:xfrm>
            <a:off x="6574206" y="2072977"/>
            <a:ext cx="4891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If the </a:t>
            </a:r>
            <a:r>
              <a:rPr lang="en-IN" b="1" dirty="0">
                <a:solidFill>
                  <a:srgbClr val="C00000"/>
                </a:solidFill>
              </a:rPr>
              <a:t>condition is False</a:t>
            </a:r>
            <a:r>
              <a:rPr lang="en-IN" dirty="0">
                <a:solidFill>
                  <a:srgbClr val="C00000"/>
                </a:solidFill>
              </a:rPr>
              <a:t>, </a:t>
            </a:r>
            <a:r>
              <a:rPr lang="en-IN" dirty="0" err="1">
                <a:solidFill>
                  <a:srgbClr val="C00000"/>
                </a:solidFill>
              </a:rPr>
              <a:t>value_if_false</a:t>
            </a:r>
            <a:r>
              <a:rPr lang="en-IN" dirty="0">
                <a:solidFill>
                  <a:srgbClr val="C00000"/>
                </a:solidFill>
              </a:rPr>
              <a:t> is returned.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9CCCED-DA36-DA5E-7A14-8C6F309DB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67" y="4691493"/>
            <a:ext cx="6218971" cy="1501270"/>
          </a:xfrm>
          <a:prstGeom prst="rect">
            <a:avLst/>
          </a:prstGeom>
          <a:ln w="19050">
            <a:solidFill>
              <a:srgbClr val="B71B1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6B280A-C92E-5FA9-9324-9393F6AC3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8068" y="2968420"/>
            <a:ext cx="7978893" cy="1510350"/>
          </a:xfrm>
          <a:prstGeom prst="rect">
            <a:avLst/>
          </a:prstGeom>
          <a:ln w="19050">
            <a:solidFill>
              <a:srgbClr val="B71B1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BC620A-7EB0-31E1-77E9-86E76C5967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3104" y="4699528"/>
            <a:ext cx="5253858" cy="1234547"/>
          </a:xfrm>
          <a:prstGeom prst="rect">
            <a:avLst/>
          </a:prstGeom>
          <a:ln w="19050">
            <a:solidFill>
              <a:srgbClr val="B71B1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91078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67F2C-D52B-6197-DBBC-2EF419C6B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2665B-3AD4-AA6C-7E5E-E3E316925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IN" dirty="0"/>
              <a:t>match case</a:t>
            </a:r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3F8E9EE-C825-F508-6C9C-1A061206A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match-case</a:t>
            </a:r>
            <a:r>
              <a:rPr lang="en-US" dirty="0"/>
              <a:t> is a </a:t>
            </a:r>
            <a:r>
              <a:rPr lang="en-US" b="1" dirty="0"/>
              <a:t>control flow statement</a:t>
            </a:r>
            <a:r>
              <a:rPr lang="en-US" dirty="0"/>
              <a:t>.</a:t>
            </a:r>
          </a:p>
          <a:p>
            <a:r>
              <a:rPr lang="en-US" dirty="0"/>
              <a:t>It is </a:t>
            </a:r>
            <a:r>
              <a:rPr lang="en-US" dirty="0">
                <a:solidFill>
                  <a:srgbClr val="C00000"/>
                </a:solidFill>
              </a:rPr>
              <a:t>similar to switch-case </a:t>
            </a:r>
            <a:r>
              <a:rPr lang="en-US" dirty="0"/>
              <a:t>in C, C++, Java.</a:t>
            </a:r>
          </a:p>
          <a:p>
            <a:r>
              <a:rPr lang="en-US" dirty="0"/>
              <a:t>Used for pattern-based decision making.</a:t>
            </a:r>
          </a:p>
          <a:p>
            <a:r>
              <a:rPr lang="en-IN" dirty="0"/>
              <a:t>match-case makes code: Cleaner, More readable and Structured.</a:t>
            </a:r>
          </a:p>
          <a:p>
            <a:pPr lvl="1"/>
            <a:r>
              <a:rPr lang="en-IN" b="1" dirty="0">
                <a:solidFill>
                  <a:srgbClr val="C00000"/>
                </a:solidFill>
              </a:rPr>
              <a:t>match</a:t>
            </a:r>
            <a:r>
              <a:rPr lang="en-IN" dirty="0"/>
              <a:t> → checks the expression</a:t>
            </a:r>
          </a:p>
          <a:p>
            <a:pPr lvl="1"/>
            <a:r>
              <a:rPr lang="en-IN" b="1" dirty="0">
                <a:solidFill>
                  <a:srgbClr val="C00000"/>
                </a:solidFill>
              </a:rPr>
              <a:t>case</a:t>
            </a:r>
            <a:r>
              <a:rPr lang="en-IN" dirty="0"/>
              <a:t> → checks pattern</a:t>
            </a:r>
          </a:p>
          <a:p>
            <a:pPr lvl="1"/>
            <a:r>
              <a:rPr lang="en-IN" b="1" dirty="0">
                <a:solidFill>
                  <a:srgbClr val="C00000"/>
                </a:solidFill>
              </a:rPr>
              <a:t>_</a:t>
            </a:r>
            <a:r>
              <a:rPr lang="en-IN" dirty="0"/>
              <a:t> → default case (like else)</a:t>
            </a:r>
            <a:endParaRPr lang="en-US" dirty="0"/>
          </a:p>
          <a:p>
            <a:r>
              <a:rPr lang="en-US" dirty="0"/>
              <a:t>Python evaluates the expression after match.</a:t>
            </a:r>
          </a:p>
          <a:p>
            <a:r>
              <a:rPr lang="en-US" dirty="0"/>
              <a:t>It compares with each case.</a:t>
            </a:r>
          </a:p>
          <a:p>
            <a:r>
              <a:rPr lang="en-IN" dirty="0"/>
              <a:t>First matching case executes.</a:t>
            </a:r>
          </a:p>
          <a:p>
            <a:r>
              <a:rPr lang="en-IN" dirty="0"/>
              <a:t>No break statement required.</a:t>
            </a:r>
          </a:p>
          <a:p>
            <a:r>
              <a:rPr lang="en-US" dirty="0"/>
              <a:t>If no case matches → _ executes.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DE916E-380C-39FB-4923-0BC5AB52E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4015" y="1544380"/>
            <a:ext cx="3977985" cy="26291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E59EF1-C3EC-53A6-D13B-6E74EE351F58}"/>
              </a:ext>
            </a:extLst>
          </p:cNvPr>
          <p:cNvSpPr txBox="1"/>
          <p:nvPr/>
        </p:nvSpPr>
        <p:spPr>
          <a:xfrm>
            <a:off x="8214015" y="957691"/>
            <a:ext cx="11785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solidFill>
                  <a:srgbClr val="C00000"/>
                </a:solidFill>
              </a:rPr>
              <a:t>Syntax:</a:t>
            </a:r>
            <a:endParaRPr lang="en-IN" sz="2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436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EE06E-344C-2ECB-FD67-DC3B27211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8AA1A-BB24-3D05-D88F-C452FD8D5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IN" dirty="0"/>
              <a:t>match case</a:t>
            </a:r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B3A0310-FE0F-B2C7-C5F7-8C42F396A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F93A96-03BD-1586-4AE8-AB18638D7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17" y="1436516"/>
            <a:ext cx="3323083" cy="34759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5E7710-CC1C-085F-50FE-CCE9CDC72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77" y="5529696"/>
            <a:ext cx="1280271" cy="4648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88E2B5-7E67-256F-FE0C-F2BFFDF49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809" y="1436516"/>
            <a:ext cx="3323084" cy="34078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ED4DFE-E2D2-5D1E-60BD-219BB02625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8179" y="5539424"/>
            <a:ext cx="1745344" cy="4572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F284BE-B09A-682F-5097-EBA25682A5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8193" y="1436515"/>
            <a:ext cx="4036556" cy="34078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E9B5F03-1399-E782-5C40-183A472E0A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8193" y="5551260"/>
            <a:ext cx="1935381" cy="363755"/>
          </a:xfrm>
          <a:prstGeom prst="rect">
            <a:avLst/>
          </a:prstGeom>
        </p:spPr>
      </p:pic>
      <p:sp>
        <p:nvSpPr>
          <p:cNvPr id="17" name="Rectangle: Top Corners Rounded 6">
            <a:extLst>
              <a:ext uri="{FF2B5EF4-FFF2-40B4-BE49-F238E27FC236}">
                <a16:creationId xmlns:a16="http://schemas.microsoft.com/office/drawing/2014/main" id="{BAB11CE7-DFB3-E423-035F-D6A068D691AF}"/>
              </a:ext>
            </a:extLst>
          </p:cNvPr>
          <p:cNvSpPr/>
          <p:nvPr/>
        </p:nvSpPr>
        <p:spPr>
          <a:xfrm>
            <a:off x="334517" y="1031210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input</a:t>
            </a:r>
          </a:p>
        </p:txBody>
      </p:sp>
      <p:sp>
        <p:nvSpPr>
          <p:cNvPr id="20" name="Rectangle: Top Corners Rounded 6">
            <a:extLst>
              <a:ext uri="{FF2B5EF4-FFF2-40B4-BE49-F238E27FC236}">
                <a16:creationId xmlns:a16="http://schemas.microsoft.com/office/drawing/2014/main" id="{219E9DAC-8391-54FA-515E-3F2568F435B7}"/>
              </a:ext>
            </a:extLst>
          </p:cNvPr>
          <p:cNvSpPr/>
          <p:nvPr/>
        </p:nvSpPr>
        <p:spPr>
          <a:xfrm>
            <a:off x="4392809" y="1040238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input</a:t>
            </a:r>
          </a:p>
        </p:txBody>
      </p:sp>
      <p:sp>
        <p:nvSpPr>
          <p:cNvPr id="21" name="Rectangle: Top Corners Rounded 6">
            <a:extLst>
              <a:ext uri="{FF2B5EF4-FFF2-40B4-BE49-F238E27FC236}">
                <a16:creationId xmlns:a16="http://schemas.microsoft.com/office/drawing/2014/main" id="{D37BD926-E2E8-B240-E864-4672FB919238}"/>
              </a:ext>
            </a:extLst>
          </p:cNvPr>
          <p:cNvSpPr/>
          <p:nvPr/>
        </p:nvSpPr>
        <p:spPr>
          <a:xfrm>
            <a:off x="7938193" y="1031209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input</a:t>
            </a:r>
          </a:p>
        </p:txBody>
      </p:sp>
      <p:sp>
        <p:nvSpPr>
          <p:cNvPr id="22" name="Rectangle: Top Corners Rounded 6">
            <a:extLst>
              <a:ext uri="{FF2B5EF4-FFF2-40B4-BE49-F238E27FC236}">
                <a16:creationId xmlns:a16="http://schemas.microsoft.com/office/drawing/2014/main" id="{E8283C24-44BF-17CC-A215-5FD75C826D74}"/>
              </a:ext>
            </a:extLst>
          </p:cNvPr>
          <p:cNvSpPr/>
          <p:nvPr/>
        </p:nvSpPr>
        <p:spPr>
          <a:xfrm>
            <a:off x="382733" y="5140746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3" name="Rectangle: Top Corners Rounded 6">
            <a:extLst>
              <a:ext uri="{FF2B5EF4-FFF2-40B4-BE49-F238E27FC236}">
                <a16:creationId xmlns:a16="http://schemas.microsoft.com/office/drawing/2014/main" id="{653CA296-A070-904F-DE8B-A76BD472F572}"/>
              </a:ext>
            </a:extLst>
          </p:cNvPr>
          <p:cNvSpPr/>
          <p:nvPr/>
        </p:nvSpPr>
        <p:spPr>
          <a:xfrm>
            <a:off x="4558179" y="5192892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5" name="Rectangle: Top Corners Rounded 6">
            <a:extLst>
              <a:ext uri="{FF2B5EF4-FFF2-40B4-BE49-F238E27FC236}">
                <a16:creationId xmlns:a16="http://schemas.microsoft.com/office/drawing/2014/main" id="{06CEFA06-CF70-F974-D9A6-2C3961BC0B6B}"/>
              </a:ext>
            </a:extLst>
          </p:cNvPr>
          <p:cNvSpPr/>
          <p:nvPr/>
        </p:nvSpPr>
        <p:spPr>
          <a:xfrm>
            <a:off x="7938193" y="5200512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746552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75E06-EB00-9364-CC7A-D35510129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C851AE-F28A-1364-4C12-FF879E2A6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Looping Statements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A4AA39-1128-0107-9A9B-D581BFF526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44528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Many objects in python are </a:t>
            </a:r>
            <a:r>
              <a:rPr lang="en-IN" dirty="0" err="1">
                <a:solidFill>
                  <a:srgbClr val="C00000"/>
                </a:solidFill>
              </a:rPr>
              <a:t>iterable</a:t>
            </a:r>
            <a:r>
              <a:rPr lang="en-IN" b="1" dirty="0"/>
              <a:t>, </a:t>
            </a:r>
            <a:r>
              <a:rPr lang="en-IN" dirty="0"/>
              <a:t>meaning we can iterate </a:t>
            </a:r>
            <a:r>
              <a:rPr lang="en-IN" dirty="0">
                <a:solidFill>
                  <a:srgbClr val="C00000"/>
                </a:solidFill>
              </a:rPr>
              <a:t>over every element </a:t>
            </a:r>
            <a:r>
              <a:rPr lang="en-IN" dirty="0"/>
              <a:t>in the object.</a:t>
            </a:r>
          </a:p>
          <a:p>
            <a:pPr lvl="1"/>
            <a:r>
              <a:rPr lang="en-IN" dirty="0"/>
              <a:t>such as every elements from the List, every characters from the string etc..</a:t>
            </a:r>
          </a:p>
          <a:p>
            <a:r>
              <a:rPr lang="en-IN" dirty="0"/>
              <a:t>We can use for loop to execute block of code for each element of </a:t>
            </a:r>
            <a:r>
              <a:rPr lang="en-IN" dirty="0" err="1">
                <a:solidFill>
                  <a:srgbClr val="C00000"/>
                </a:solidFill>
              </a:rPr>
              <a:t>iterable</a:t>
            </a:r>
            <a:r>
              <a:rPr lang="en-IN" dirty="0"/>
              <a:t> object.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83709" y="2582681"/>
            <a:ext cx="847227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temp_item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iterable_object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# Code to execute for each object in </a:t>
            </a:r>
            <a:r>
              <a:rPr lang="en-US" sz="1600" dirty="0" err="1">
                <a:solidFill>
                  <a:srgbClr val="008000"/>
                </a:solidFill>
                <a:latin typeface="Consolas"/>
              </a:rPr>
              <a:t>iterable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83716" y="2582681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83716" y="2253497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5675650" y="2184112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89527"/>
              <a:gd name="adj4" fmla="val -14792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For loop ends with </a:t>
            </a:r>
            <a:r>
              <a:rPr lang="en-IN" b="1" dirty="0">
                <a:solidFill>
                  <a:srgbClr val="FF0000"/>
                </a:solidFill>
              </a:rPr>
              <a:t>: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Line Callout 1 7"/>
          <p:cNvSpPr/>
          <p:nvPr/>
        </p:nvSpPr>
        <p:spPr>
          <a:xfrm>
            <a:off x="2245569" y="3199542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-23622"/>
              <a:gd name="adj4" fmla="val -2164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Indentation (tab/whitespace) at the beginning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79186" y="4407829"/>
            <a:ext cx="4003711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list_item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list_item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79193" y="4407829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79193" y="4078645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fordemo1.py</a:t>
            </a:r>
          </a:p>
        </p:txBody>
      </p:sp>
      <p:sp>
        <p:nvSpPr>
          <p:cNvPr id="12" name="Line Callout 1 11"/>
          <p:cNvSpPr/>
          <p:nvPr/>
        </p:nvSpPr>
        <p:spPr>
          <a:xfrm>
            <a:off x="4062511" y="4080294"/>
            <a:ext cx="1406636" cy="1449238"/>
          </a:xfrm>
          <a:prstGeom prst="borderCallout1">
            <a:avLst>
              <a:gd name="adj1" fmla="val 53885"/>
              <a:gd name="adj2" fmla="val -612"/>
              <a:gd name="adj3" fmla="val 70479"/>
              <a:gd name="adj4" fmla="val -4156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3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6539707" y="4407829"/>
            <a:ext cx="4003711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7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8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9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list_item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list_item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%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    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list_item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6039714" y="4407829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6039714" y="4078645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fordemo2.py</a:t>
            </a:r>
          </a:p>
        </p:txBody>
      </p:sp>
      <p:sp>
        <p:nvSpPr>
          <p:cNvPr id="16" name="Line Callout 1 15"/>
          <p:cNvSpPr/>
          <p:nvPr/>
        </p:nvSpPr>
        <p:spPr>
          <a:xfrm>
            <a:off x="10101002" y="4071668"/>
            <a:ext cx="1406636" cy="1449238"/>
          </a:xfrm>
          <a:prstGeom prst="borderCallout1">
            <a:avLst>
              <a:gd name="adj1" fmla="val 53885"/>
              <a:gd name="adj2" fmla="val -612"/>
              <a:gd name="adj3" fmla="val 87741"/>
              <a:gd name="adj4" fmla="val -5137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4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6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 animBg="1"/>
      <p:bldP spid="5" grpId="0" animBg="1"/>
      <p:bldP spid="6" grpId="0" animBg="1"/>
      <p:bldP spid="7" grpId="0" animBg="1"/>
      <p:bldP spid="7" grpId="1" animBg="1"/>
      <p:bldP spid="8" grpId="0" animBg="1"/>
      <p:bldP spid="8" grpId="1" animBg="1"/>
      <p:bldP spid="9" grpId="0" build="p" animBg="1"/>
      <p:bldP spid="10" grpId="0" animBg="1"/>
      <p:bldP spid="11" grpId="0" animBg="1"/>
      <p:bldP spid="12" grpId="0" animBg="1"/>
      <p:bldP spid="12" grpId="1" animBg="1"/>
      <p:bldP spid="13" grpId="0" build="p" animBg="1"/>
      <p:bldP spid="14" grpId="0" animBg="1"/>
      <p:bldP spid="15" grpId="0" animBg="1"/>
      <p:bldP spid="16" grpId="0" animBg="1"/>
      <p:bldP spid="16" grpId="1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F42C0-A469-B543-8979-A77B661F8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8AFC7-04C7-8E4E-9161-D90AFFA2C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280877"/>
          </a:xfrm>
        </p:spPr>
        <p:txBody>
          <a:bodyPr/>
          <a:lstStyle/>
          <a:p>
            <a:r>
              <a:rPr lang="en-US" dirty="0"/>
              <a:t>The range() function returns a </a:t>
            </a:r>
            <a:r>
              <a:rPr lang="en-US" dirty="0">
                <a:solidFill>
                  <a:srgbClr val="C00000"/>
                </a:solidFill>
              </a:rPr>
              <a:t>sequence of numbers</a:t>
            </a:r>
            <a:r>
              <a:rPr lang="en-US" dirty="0"/>
              <a:t>, starting from </a:t>
            </a:r>
            <a:r>
              <a:rPr lang="en-US" dirty="0">
                <a:solidFill>
                  <a:srgbClr val="C00000"/>
                </a:solidFill>
              </a:rPr>
              <a:t>0 by default</a:t>
            </a:r>
            <a:r>
              <a:rPr lang="en-US" dirty="0"/>
              <a:t>, and increments </a:t>
            </a:r>
            <a:r>
              <a:rPr lang="en-US" dirty="0">
                <a:solidFill>
                  <a:srgbClr val="C00000"/>
                </a:solidFill>
              </a:rPr>
              <a:t>by 1 (by default), </a:t>
            </a:r>
            <a:r>
              <a:rPr lang="en-US" dirty="0"/>
              <a:t>and stops </a:t>
            </a:r>
            <a:r>
              <a:rPr lang="en-US" dirty="0">
                <a:solidFill>
                  <a:srgbClr val="C00000"/>
                </a:solidFill>
              </a:rPr>
              <a:t>before a specified number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00FB35-2143-0348-B0C0-EE683C7E1B88}"/>
              </a:ext>
            </a:extLst>
          </p:cNvPr>
          <p:cNvSpPr/>
          <p:nvPr/>
        </p:nvSpPr>
        <p:spPr>
          <a:xfrm>
            <a:off x="972197" y="2073301"/>
            <a:ext cx="3387930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range(start, stop, step)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B44BC3-D818-C04C-AFE7-D65C8B535247}"/>
              </a:ext>
            </a:extLst>
          </p:cNvPr>
          <p:cNvSpPr/>
          <p:nvPr/>
        </p:nvSpPr>
        <p:spPr>
          <a:xfrm>
            <a:off x="482478" y="2073301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81767A9D-1B3A-3B4A-8107-937670B205DA}"/>
              </a:ext>
            </a:extLst>
          </p:cNvPr>
          <p:cNvSpPr/>
          <p:nvPr/>
        </p:nvSpPr>
        <p:spPr>
          <a:xfrm>
            <a:off x="472204" y="1744117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5C0E2E-94E1-7F4D-AC56-56960F2EB760}"/>
              </a:ext>
            </a:extLst>
          </p:cNvPr>
          <p:cNvSpPr/>
          <p:nvPr/>
        </p:nvSpPr>
        <p:spPr>
          <a:xfrm>
            <a:off x="982471" y="3283158"/>
            <a:ext cx="2028359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 = 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n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x: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print(n)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627646-A304-3C4D-BA89-FADAFDDD546C}"/>
              </a:ext>
            </a:extLst>
          </p:cNvPr>
          <p:cNvSpPr/>
          <p:nvPr/>
        </p:nvSpPr>
        <p:spPr>
          <a:xfrm>
            <a:off x="482478" y="3283158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4895A0A4-98F7-4E46-B5A2-02A15F7CCC16}"/>
              </a:ext>
            </a:extLst>
          </p:cNvPr>
          <p:cNvSpPr/>
          <p:nvPr/>
        </p:nvSpPr>
        <p:spPr>
          <a:xfrm>
            <a:off x="482478" y="2953974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CE2187-6590-1841-9B44-6F3FBCC8A9E2}"/>
              </a:ext>
            </a:extLst>
          </p:cNvPr>
          <p:cNvSpPr/>
          <p:nvPr/>
        </p:nvSpPr>
        <p:spPr>
          <a:xfrm>
            <a:off x="451066" y="4657607"/>
            <a:ext cx="2559764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3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4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2EC2EAFE-871F-1A4A-85EC-759F5CCD24E8}"/>
              </a:ext>
            </a:extLst>
          </p:cNvPr>
          <p:cNvSpPr/>
          <p:nvPr/>
        </p:nvSpPr>
        <p:spPr>
          <a:xfrm>
            <a:off x="451065" y="432842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154C32-5EFF-CE49-958D-A78EC3DBF895}"/>
              </a:ext>
            </a:extLst>
          </p:cNvPr>
          <p:cNvSpPr/>
          <p:nvPr/>
        </p:nvSpPr>
        <p:spPr>
          <a:xfrm>
            <a:off x="3718145" y="3271309"/>
            <a:ext cx="2336539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 = 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n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x: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print(n)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2415A5-B08A-474E-866D-E0D8CDCD7CDF}"/>
              </a:ext>
            </a:extLst>
          </p:cNvPr>
          <p:cNvSpPr/>
          <p:nvPr/>
        </p:nvSpPr>
        <p:spPr>
          <a:xfrm>
            <a:off x="3218152" y="3271309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6180B89B-94F7-0240-9EE5-B2A5CDF7A829}"/>
              </a:ext>
            </a:extLst>
          </p:cNvPr>
          <p:cNvSpPr/>
          <p:nvPr/>
        </p:nvSpPr>
        <p:spPr>
          <a:xfrm>
            <a:off x="3218152" y="2942125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Example2.py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94E2A8-4B1D-D94E-B70C-EC7B5565E23D}"/>
              </a:ext>
            </a:extLst>
          </p:cNvPr>
          <p:cNvSpPr/>
          <p:nvPr/>
        </p:nvSpPr>
        <p:spPr>
          <a:xfrm>
            <a:off x="3186740" y="4645758"/>
            <a:ext cx="2867944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3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5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-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19</a:t>
            </a: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C0F91CBE-E333-BE4A-91DE-945482FC4122}"/>
              </a:ext>
            </a:extLst>
          </p:cNvPr>
          <p:cNvSpPr/>
          <p:nvPr/>
        </p:nvSpPr>
        <p:spPr>
          <a:xfrm>
            <a:off x="3186739" y="4316574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ED6068-F6C6-0344-A685-DDB9E20DFA03}"/>
              </a:ext>
            </a:extLst>
          </p:cNvPr>
          <p:cNvSpPr/>
          <p:nvPr/>
        </p:nvSpPr>
        <p:spPr>
          <a:xfrm>
            <a:off x="6785725" y="3227106"/>
            <a:ext cx="2028359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 = 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n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x: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print(n)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28AC9E-A71B-9148-8290-D0A99580AAB8}"/>
              </a:ext>
            </a:extLst>
          </p:cNvPr>
          <p:cNvSpPr/>
          <p:nvPr/>
        </p:nvSpPr>
        <p:spPr>
          <a:xfrm>
            <a:off x="6285732" y="3227106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CB1F5832-199C-964E-A5BC-800600F03BE5}"/>
              </a:ext>
            </a:extLst>
          </p:cNvPr>
          <p:cNvSpPr/>
          <p:nvPr/>
        </p:nvSpPr>
        <p:spPr>
          <a:xfrm>
            <a:off x="6285732" y="2897922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Example3.py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F1F237-D070-8A4B-9F27-BD33F76E5AC2}"/>
              </a:ext>
            </a:extLst>
          </p:cNvPr>
          <p:cNvSpPr/>
          <p:nvPr/>
        </p:nvSpPr>
        <p:spPr>
          <a:xfrm>
            <a:off x="6254320" y="4601555"/>
            <a:ext cx="215399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-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19</a:t>
            </a:r>
          </a:p>
        </p:txBody>
      </p:sp>
      <p:sp>
        <p:nvSpPr>
          <p:cNvPr id="21" name="Rectangle: Top Corners Rounded 6">
            <a:extLst>
              <a:ext uri="{FF2B5EF4-FFF2-40B4-BE49-F238E27FC236}">
                <a16:creationId xmlns:a16="http://schemas.microsoft.com/office/drawing/2014/main" id="{93817837-8EFC-7642-BF3D-3242F2B774D0}"/>
              </a:ext>
            </a:extLst>
          </p:cNvPr>
          <p:cNvSpPr/>
          <p:nvPr/>
        </p:nvSpPr>
        <p:spPr>
          <a:xfrm>
            <a:off x="6254319" y="427237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5B434F-FAF8-D746-897C-A3EC8B28D1DC}"/>
              </a:ext>
            </a:extLst>
          </p:cNvPr>
          <p:cNvSpPr/>
          <p:nvPr/>
        </p:nvSpPr>
        <p:spPr>
          <a:xfrm>
            <a:off x="9382598" y="3238377"/>
            <a:ext cx="2809402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 = reversed(range(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n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x: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print(n)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7809E6-1274-F842-800D-CF6E490D54D1}"/>
              </a:ext>
            </a:extLst>
          </p:cNvPr>
          <p:cNvSpPr/>
          <p:nvPr/>
        </p:nvSpPr>
        <p:spPr>
          <a:xfrm>
            <a:off x="9034979" y="3225711"/>
            <a:ext cx="357947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27" name="Rectangle: Top Corners Rounded 6">
            <a:extLst>
              <a:ext uri="{FF2B5EF4-FFF2-40B4-BE49-F238E27FC236}">
                <a16:creationId xmlns:a16="http://schemas.microsoft.com/office/drawing/2014/main" id="{E90CEA1B-E1DC-1C45-BAC9-25675390A942}"/>
              </a:ext>
            </a:extLst>
          </p:cNvPr>
          <p:cNvSpPr/>
          <p:nvPr/>
        </p:nvSpPr>
        <p:spPr>
          <a:xfrm>
            <a:off x="9034979" y="2896527"/>
            <a:ext cx="1890166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Example4.py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673DE1-FE2D-1A41-8D3F-71B09F6387C4}"/>
              </a:ext>
            </a:extLst>
          </p:cNvPr>
          <p:cNvSpPr/>
          <p:nvPr/>
        </p:nvSpPr>
        <p:spPr>
          <a:xfrm>
            <a:off x="8987160" y="4644363"/>
            <a:ext cx="215399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19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18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-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29" name="Rectangle: Top Corners Rounded 6">
            <a:extLst>
              <a:ext uri="{FF2B5EF4-FFF2-40B4-BE49-F238E27FC236}">
                <a16:creationId xmlns:a16="http://schemas.microsoft.com/office/drawing/2014/main" id="{C657EED6-BFB9-3B43-BC00-C255FF936781}"/>
              </a:ext>
            </a:extLst>
          </p:cNvPr>
          <p:cNvSpPr/>
          <p:nvPr/>
        </p:nvSpPr>
        <p:spPr>
          <a:xfrm>
            <a:off x="8987159" y="4315179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516154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animBg="1"/>
      <p:bldP spid="10" grpId="0" build="p" animBg="1"/>
      <p:bldP spid="11" grpId="0" animBg="1"/>
      <p:bldP spid="12" grpId="0" build="p" animBg="1"/>
      <p:bldP spid="13" grpId="0" animBg="1"/>
      <p:bldP spid="14" grpId="0" animBg="1"/>
      <p:bldP spid="15" grpId="0" build="p" animBg="1"/>
      <p:bldP spid="16" grpId="0" animBg="1"/>
      <p:bldP spid="17" grpId="0" build="p" animBg="1"/>
      <p:bldP spid="18" grpId="0" animBg="1"/>
      <p:bldP spid="19" grpId="0" animBg="1"/>
      <p:bldP spid="20" grpId="0" build="p" animBg="1"/>
      <p:bldP spid="21" grpId="0" animBg="1"/>
      <p:bldP spid="25" grpId="0" build="p" animBg="1"/>
      <p:bldP spid="26" grpId="0" animBg="1"/>
      <p:bldP spid="27" grpId="0" animBg="1"/>
      <p:bldP spid="28" grpId="0" build="p" animBg="1"/>
      <p:bldP spid="2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 loop (tuple unpacking)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Sometimes we have nested data structure </a:t>
            </a:r>
            <a:r>
              <a:rPr lang="en-IN" dirty="0">
                <a:solidFill>
                  <a:srgbClr val="C00000"/>
                </a:solidFill>
              </a:rPr>
              <a:t>like List of </a:t>
            </a:r>
            <a:r>
              <a:rPr lang="en-IN" dirty="0" err="1">
                <a:solidFill>
                  <a:srgbClr val="C00000"/>
                </a:solidFill>
              </a:rPr>
              <a:t>tuples</a:t>
            </a:r>
            <a:r>
              <a:rPr lang="en-IN" dirty="0"/>
              <a:t>, and if we want to iterate with such list we can use </a:t>
            </a:r>
            <a:r>
              <a:rPr lang="en-IN" dirty="0" err="1">
                <a:solidFill>
                  <a:srgbClr val="C00000"/>
                </a:solidFill>
              </a:rPr>
              <a:t>tuple</a:t>
            </a:r>
            <a:r>
              <a:rPr lang="en-IN" dirty="0">
                <a:solidFill>
                  <a:srgbClr val="C00000"/>
                </a:solidFill>
              </a:rPr>
              <a:t> unpacking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79186" y="2208093"/>
            <a:ext cx="4605622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), 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), 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7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8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9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)]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list_item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list_item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79193" y="2208093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79193" y="1878909"/>
            <a:ext cx="269884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withouttupleunapacking.py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3769213" y="3114136"/>
            <a:ext cx="1406636" cy="1449238"/>
          </a:xfrm>
          <a:prstGeom prst="borderCallout1">
            <a:avLst>
              <a:gd name="adj1" fmla="val 53885"/>
              <a:gd name="adj2" fmla="val -612"/>
              <a:gd name="adj3" fmla="val -6307"/>
              <a:gd name="adj4" fmla="val -68550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5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6539707" y="2208093"/>
            <a:ext cx="4424467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), 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), 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7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8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9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)]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a,b,c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print(b)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6039714" y="2208093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6039715" y="1878909"/>
            <a:ext cx="277648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withtupleunpacking.py</a:t>
            </a:r>
          </a:p>
        </p:txBody>
      </p:sp>
      <p:sp>
        <p:nvSpPr>
          <p:cNvPr id="11" name="Line Callout 1 10"/>
          <p:cNvSpPr/>
          <p:nvPr/>
        </p:nvSpPr>
        <p:spPr>
          <a:xfrm>
            <a:off x="8392972" y="3122762"/>
            <a:ext cx="1406636" cy="1449238"/>
          </a:xfrm>
          <a:prstGeom prst="borderCallout1">
            <a:avLst>
              <a:gd name="adj1" fmla="val 53885"/>
              <a:gd name="adj2" fmla="val -612"/>
              <a:gd name="adj3" fmla="val -10473"/>
              <a:gd name="adj4" fmla="val -3972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5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Line Callout 1 11"/>
          <p:cNvSpPr/>
          <p:nvPr/>
        </p:nvSpPr>
        <p:spPr>
          <a:xfrm>
            <a:off x="6012081" y="3131389"/>
            <a:ext cx="1406636" cy="1449238"/>
          </a:xfrm>
          <a:prstGeom prst="borderCallout1">
            <a:avLst>
              <a:gd name="adj1" fmla="val -2067"/>
              <a:gd name="adj2" fmla="val 47836"/>
              <a:gd name="adj3" fmla="val -31307"/>
              <a:gd name="adj4" fmla="val 7495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This technique is known as </a:t>
            </a:r>
            <a:r>
              <a:rPr lang="en-IN" dirty="0" err="1">
                <a:solidFill>
                  <a:schemeClr val="tx1"/>
                </a:solidFill>
              </a:rPr>
              <a:t>tuple</a:t>
            </a:r>
            <a:r>
              <a:rPr lang="en-IN" dirty="0">
                <a:solidFill>
                  <a:schemeClr val="tx1"/>
                </a:solidFill>
              </a:rPr>
              <a:t> unpacking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animBg="1"/>
      <p:bldP spid="7" grpId="1" animBg="1"/>
      <p:bldP spid="8" grpId="0" uiExpand="1" build="p" animBg="1"/>
      <p:bldP spid="9" grpId="0" animBg="1"/>
      <p:bldP spid="10" grpId="0" animBg="1"/>
      <p:bldP spid="11" grpId="0" animBg="1"/>
      <p:bldP spid="11" grpId="1" animBg="1"/>
      <p:bldP spid="12" grpId="0" animBg="1"/>
      <p:bldP spid="12" grpId="1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 loop with else</a:t>
            </a:r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3AF844E-5FFD-8946-A0F6-1F13B514E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The else block just after for/while is executed only when the loop is </a:t>
            </a:r>
            <a:r>
              <a:rPr lang="en-US" dirty="0">
                <a:solidFill>
                  <a:srgbClr val="C00000"/>
                </a:solidFill>
              </a:rPr>
              <a:t>NOT terminated </a:t>
            </a:r>
            <a:r>
              <a:rPr lang="en-US" dirty="0"/>
              <a:t>by a break statement.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0E434B-044D-DC42-80D1-F2F813706E5E}"/>
              </a:ext>
            </a:extLst>
          </p:cNvPr>
          <p:cNvSpPr/>
          <p:nvPr/>
        </p:nvSpPr>
        <p:spPr>
          <a:xfrm>
            <a:off x="1034581" y="2053028"/>
            <a:ext cx="3626629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print(i)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"No Break"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707BE7-60A8-4B49-8669-B81A21CD70D3}"/>
              </a:ext>
            </a:extLst>
          </p:cNvPr>
          <p:cNvSpPr/>
          <p:nvPr/>
        </p:nvSpPr>
        <p:spPr>
          <a:xfrm>
            <a:off x="534588" y="2053028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44FCFFD0-2407-FA4F-A6AE-38ECBBEF3E7B}"/>
              </a:ext>
            </a:extLst>
          </p:cNvPr>
          <p:cNvSpPr/>
          <p:nvPr/>
        </p:nvSpPr>
        <p:spPr>
          <a:xfrm>
            <a:off x="534588" y="1723844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F08611-7A58-5249-ABFB-98DCC4A2436E}"/>
              </a:ext>
            </a:extLst>
          </p:cNvPr>
          <p:cNvSpPr/>
          <p:nvPr/>
        </p:nvSpPr>
        <p:spPr>
          <a:xfrm>
            <a:off x="534588" y="4116464"/>
            <a:ext cx="3973551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1 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2 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3 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No Break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00EA69AD-C86D-9B4A-A86B-1D7E1E90132B}"/>
              </a:ext>
            </a:extLst>
          </p:cNvPr>
          <p:cNvSpPr/>
          <p:nvPr/>
        </p:nvSpPr>
        <p:spPr>
          <a:xfrm>
            <a:off x="534588" y="378728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773214-FFF9-884C-9B9E-82F4494C3030}"/>
              </a:ext>
            </a:extLst>
          </p:cNvPr>
          <p:cNvSpPr/>
          <p:nvPr/>
        </p:nvSpPr>
        <p:spPr>
          <a:xfrm>
            <a:off x="6260786" y="2053028"/>
            <a:ext cx="4726212" cy="13542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print(i)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break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 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# Not executed as there is a break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"No Break"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F2B7DC-AFBF-C145-B653-EE2B136837EB}"/>
              </a:ext>
            </a:extLst>
          </p:cNvPr>
          <p:cNvSpPr/>
          <p:nvPr/>
        </p:nvSpPr>
        <p:spPr>
          <a:xfrm>
            <a:off x="5760793" y="2053028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0931CBEE-F502-8B47-90CD-6DCB353F02B4}"/>
              </a:ext>
            </a:extLst>
          </p:cNvPr>
          <p:cNvSpPr/>
          <p:nvPr/>
        </p:nvSpPr>
        <p:spPr>
          <a:xfrm>
            <a:off x="5760793" y="1723844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Example2.py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9B6788-FA8E-C74A-962B-076357ABB9EE}"/>
              </a:ext>
            </a:extLst>
          </p:cNvPr>
          <p:cNvSpPr/>
          <p:nvPr/>
        </p:nvSpPr>
        <p:spPr>
          <a:xfrm>
            <a:off x="5757076" y="4116464"/>
            <a:ext cx="397355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A1FD993B-C7EF-704E-B8E9-0D2DBFD473D9}"/>
              </a:ext>
            </a:extLst>
          </p:cNvPr>
          <p:cNvSpPr/>
          <p:nvPr/>
        </p:nvSpPr>
        <p:spPr>
          <a:xfrm>
            <a:off x="5757076" y="378728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496706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9B84E-F653-9147-9A5E-8FB14CE57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0E434B-044D-DC42-80D1-F2F813706E5E}"/>
              </a:ext>
            </a:extLst>
          </p:cNvPr>
          <p:cNvSpPr/>
          <p:nvPr/>
        </p:nvSpPr>
        <p:spPr>
          <a:xfrm>
            <a:off x="786931" y="1147972"/>
            <a:ext cx="5813894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/>
              </a:rPr>
              <a:t>#odd numbers between 1 to n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Number = 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,num+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 %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!=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    print(i)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707BE7-60A8-4B49-8669-B81A21CD70D3}"/>
              </a:ext>
            </a:extLst>
          </p:cNvPr>
          <p:cNvSpPr/>
          <p:nvPr/>
        </p:nvSpPr>
        <p:spPr>
          <a:xfrm>
            <a:off x="286938" y="1147972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44FCFFD0-2407-FA4F-A6AE-38ECBBEF3E7B}"/>
              </a:ext>
            </a:extLst>
          </p:cNvPr>
          <p:cNvSpPr/>
          <p:nvPr/>
        </p:nvSpPr>
        <p:spPr>
          <a:xfrm>
            <a:off x="286938" y="818788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F08611-7A58-5249-ABFB-98DCC4A2436E}"/>
              </a:ext>
            </a:extLst>
          </p:cNvPr>
          <p:cNvSpPr/>
          <p:nvPr/>
        </p:nvSpPr>
        <p:spPr>
          <a:xfrm>
            <a:off x="8154589" y="1331795"/>
            <a:ext cx="2170512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Enter Number = 5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3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00EA69AD-C86D-9B4A-A86B-1D7E1E90132B}"/>
              </a:ext>
            </a:extLst>
          </p:cNvPr>
          <p:cNvSpPr/>
          <p:nvPr/>
        </p:nvSpPr>
        <p:spPr>
          <a:xfrm>
            <a:off x="8154588" y="100261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0E434B-044D-DC42-80D1-F2F813706E5E}"/>
              </a:ext>
            </a:extLst>
          </p:cNvPr>
          <p:cNvSpPr/>
          <p:nvPr/>
        </p:nvSpPr>
        <p:spPr>
          <a:xfrm>
            <a:off x="786931" y="3019901"/>
            <a:ext cx="5813894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/>
              </a:rPr>
              <a:t>#series 1 + 4 + 9 + 16 + 25 + 36 + ...n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Number = 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sum 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,num+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sum = sum + i**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"Sum="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,sum)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707BE7-60A8-4B49-8669-B81A21CD70D3}"/>
              </a:ext>
            </a:extLst>
          </p:cNvPr>
          <p:cNvSpPr/>
          <p:nvPr/>
        </p:nvSpPr>
        <p:spPr>
          <a:xfrm>
            <a:off x="286938" y="3019901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44FCFFD0-2407-FA4F-A6AE-38ECBBEF3E7B}"/>
              </a:ext>
            </a:extLst>
          </p:cNvPr>
          <p:cNvSpPr/>
          <p:nvPr/>
        </p:nvSpPr>
        <p:spPr>
          <a:xfrm>
            <a:off x="286938" y="2690717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Example2.py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F08611-7A58-5249-ABFB-98DCC4A2436E}"/>
              </a:ext>
            </a:extLst>
          </p:cNvPr>
          <p:cNvSpPr/>
          <p:nvPr/>
        </p:nvSpPr>
        <p:spPr>
          <a:xfrm>
            <a:off x="8154589" y="3184493"/>
            <a:ext cx="261818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Enter Number = 10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Sum= 385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00EA69AD-C86D-9B4A-A86B-1D7E1E90132B}"/>
              </a:ext>
            </a:extLst>
          </p:cNvPr>
          <p:cNvSpPr/>
          <p:nvPr/>
        </p:nvSpPr>
        <p:spPr>
          <a:xfrm>
            <a:off x="8154588" y="2855309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05647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9C5AD-9834-BC43-A5B0-C49238E06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0E434B-044D-DC42-80D1-F2F813706E5E}"/>
              </a:ext>
            </a:extLst>
          </p:cNvPr>
          <p:cNvSpPr/>
          <p:nvPr/>
        </p:nvSpPr>
        <p:spPr>
          <a:xfrm>
            <a:off x="762513" y="1218743"/>
            <a:ext cx="5813894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/>
              </a:rPr>
              <a:t># Find factorial of the given number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Number = 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fact 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,num+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fact = fact * i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"Factorial ="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 fact 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707BE7-60A8-4B49-8669-B81A21CD70D3}"/>
              </a:ext>
            </a:extLst>
          </p:cNvPr>
          <p:cNvSpPr/>
          <p:nvPr/>
        </p:nvSpPr>
        <p:spPr>
          <a:xfrm>
            <a:off x="262520" y="1218743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44FCFFD0-2407-FA4F-A6AE-38ECBBEF3E7B}"/>
              </a:ext>
            </a:extLst>
          </p:cNvPr>
          <p:cNvSpPr/>
          <p:nvPr/>
        </p:nvSpPr>
        <p:spPr>
          <a:xfrm>
            <a:off x="262520" y="889559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Example3.py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F08611-7A58-5249-ABFB-98DCC4A2436E}"/>
              </a:ext>
            </a:extLst>
          </p:cNvPr>
          <p:cNvSpPr/>
          <p:nvPr/>
        </p:nvSpPr>
        <p:spPr>
          <a:xfrm>
            <a:off x="8130171" y="1383335"/>
            <a:ext cx="2985504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Enter Number = 5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Factorial = 120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00EA69AD-C86D-9B4A-A86B-1D7E1E90132B}"/>
              </a:ext>
            </a:extLst>
          </p:cNvPr>
          <p:cNvSpPr/>
          <p:nvPr/>
        </p:nvSpPr>
        <p:spPr>
          <a:xfrm>
            <a:off x="8130170" y="105415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E6B2D7-C293-AE40-A907-72DC2E3FA71D}"/>
              </a:ext>
            </a:extLst>
          </p:cNvPr>
          <p:cNvSpPr/>
          <p:nvPr/>
        </p:nvSpPr>
        <p:spPr>
          <a:xfrm>
            <a:off x="762513" y="3530501"/>
            <a:ext cx="5813894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/>
              </a:rPr>
              <a:t>#series 1 – 2 + 3 – 4 + 5 – 6 + 7 ... n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Number = 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sum 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,num+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 %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    sum = sum - i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    sum = sum + i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"Sum="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,sum)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217884-822B-3148-8BA2-6F6645B7F3D7}"/>
              </a:ext>
            </a:extLst>
          </p:cNvPr>
          <p:cNvSpPr/>
          <p:nvPr/>
        </p:nvSpPr>
        <p:spPr>
          <a:xfrm>
            <a:off x="262520" y="3530501"/>
            <a:ext cx="499993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44BEABCC-8962-454E-9895-A46772BC494E}"/>
              </a:ext>
            </a:extLst>
          </p:cNvPr>
          <p:cNvSpPr/>
          <p:nvPr/>
        </p:nvSpPr>
        <p:spPr>
          <a:xfrm>
            <a:off x="262520" y="3201317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Example4.py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6ED549-DA02-8A4C-B511-8B89D7546423}"/>
              </a:ext>
            </a:extLst>
          </p:cNvPr>
          <p:cNvSpPr/>
          <p:nvPr/>
        </p:nvSpPr>
        <p:spPr>
          <a:xfrm>
            <a:off x="8063264" y="3695093"/>
            <a:ext cx="2799160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Enter Number = 10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Sum= -5</a:t>
            </a:r>
          </a:p>
        </p:txBody>
      </p:sp>
      <p:sp>
        <p:nvSpPr>
          <p:cNvPr id="18" name="Rectangle: Top Corners Rounded 6">
            <a:extLst>
              <a:ext uri="{FF2B5EF4-FFF2-40B4-BE49-F238E27FC236}">
                <a16:creationId xmlns:a16="http://schemas.microsoft.com/office/drawing/2014/main" id="{CE267B41-41F1-B449-A9EB-62DCC7C352D1}"/>
              </a:ext>
            </a:extLst>
          </p:cNvPr>
          <p:cNvSpPr/>
          <p:nvPr/>
        </p:nvSpPr>
        <p:spPr>
          <a:xfrm>
            <a:off x="8063263" y="3365909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02312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nimBg="1"/>
      <p:bldP spid="10" grpId="0" animBg="1"/>
      <p:bldP spid="11" grpId="0" animBg="1"/>
      <p:bldP spid="12" grpId="0" build="p" animBg="1"/>
      <p:bldP spid="13" grpId="0" animBg="1"/>
      <p:bldP spid="14" grpId="0" build="p" animBg="1"/>
      <p:bldP spid="15" grpId="0" animBg="1"/>
      <p:bldP spid="16" grpId="0" animBg="1"/>
      <p:bldP spid="17" grpId="0" build="p" animBg="1"/>
      <p:bldP spid="1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while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425843"/>
          </a:xfrm>
        </p:spPr>
        <p:txBody>
          <a:bodyPr/>
          <a:lstStyle/>
          <a:p>
            <a:r>
              <a:rPr lang="en-IN" dirty="0"/>
              <a:t>While loop will continue to </a:t>
            </a:r>
            <a:r>
              <a:rPr lang="en-IN" dirty="0">
                <a:solidFill>
                  <a:srgbClr val="C00000"/>
                </a:solidFill>
              </a:rPr>
              <a:t>execute block of code </a:t>
            </a:r>
            <a:r>
              <a:rPr lang="en-IN" dirty="0"/>
              <a:t>until some condition </a:t>
            </a:r>
            <a:r>
              <a:rPr lang="en-IN" dirty="0">
                <a:solidFill>
                  <a:srgbClr val="C00000"/>
                </a:solidFill>
              </a:rPr>
              <a:t>remains True</a:t>
            </a:r>
            <a:r>
              <a:rPr lang="en-IN" dirty="0"/>
              <a:t>.</a:t>
            </a:r>
          </a:p>
          <a:p>
            <a:r>
              <a:rPr lang="en-IN" dirty="0"/>
              <a:t>For example, </a:t>
            </a:r>
          </a:p>
          <a:p>
            <a:pPr lvl="1"/>
            <a:r>
              <a:rPr lang="en-IN" dirty="0"/>
              <a:t>while felling hungry, keep eating </a:t>
            </a:r>
          </a:p>
          <a:p>
            <a:pPr lvl="1"/>
            <a:r>
              <a:rPr lang="en-IN" dirty="0"/>
              <a:t>while have internet pack available, keep watching videos</a:t>
            </a:r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83709" y="2798341"/>
            <a:ext cx="847227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some_condition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# Code to execute in loop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83716" y="2798341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83716" y="2469157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5675650" y="2399772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95034"/>
              <a:gd name="adj4" fmla="val -44533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while loop ends with </a:t>
            </a:r>
            <a:r>
              <a:rPr lang="en-IN" b="1" dirty="0">
                <a:solidFill>
                  <a:srgbClr val="FF0000"/>
                </a:solidFill>
              </a:rPr>
              <a:t>: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Line Callout 1 7"/>
          <p:cNvSpPr/>
          <p:nvPr/>
        </p:nvSpPr>
        <p:spPr>
          <a:xfrm>
            <a:off x="2245569" y="3415202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-23622"/>
              <a:gd name="adj4" fmla="val -2164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Indentation (tab/whitespace) at the beginning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79186" y="4528599"/>
            <a:ext cx="4881667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x &lt;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print(x)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x +=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# x++ is 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invalid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 in python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79193" y="4528599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79193" y="4199415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whiledemo.py</a:t>
            </a:r>
          </a:p>
        </p:txBody>
      </p:sp>
      <p:sp>
        <p:nvSpPr>
          <p:cNvPr id="12" name="Line Callout 1 11"/>
          <p:cNvSpPr/>
          <p:nvPr/>
        </p:nvSpPr>
        <p:spPr>
          <a:xfrm>
            <a:off x="5494496" y="4261448"/>
            <a:ext cx="1406636" cy="1449238"/>
          </a:xfrm>
          <a:prstGeom prst="borderCallout1">
            <a:avLst>
              <a:gd name="adj1" fmla="val 53885"/>
              <a:gd name="adj2" fmla="val -612"/>
              <a:gd name="adj3" fmla="val 65122"/>
              <a:gd name="adj4" fmla="val -21021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0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7514491" y="4045518"/>
            <a:ext cx="4677509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x &lt;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print(x)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x +=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# x++ is 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invalid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 in python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"X is greater than 3"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7014498" y="4045518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7014498" y="3716334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withelse.py</a:t>
            </a:r>
          </a:p>
        </p:txBody>
      </p:sp>
      <p:sp>
        <p:nvSpPr>
          <p:cNvPr id="16" name="Line Callout 1 15"/>
          <p:cNvSpPr/>
          <p:nvPr/>
        </p:nvSpPr>
        <p:spPr>
          <a:xfrm>
            <a:off x="10489190" y="3269409"/>
            <a:ext cx="1406636" cy="1449238"/>
          </a:xfrm>
          <a:prstGeom prst="borderCallout1">
            <a:avLst>
              <a:gd name="adj1" fmla="val 53885"/>
              <a:gd name="adj2" fmla="val -612"/>
              <a:gd name="adj3" fmla="val 140122"/>
              <a:gd name="adj4" fmla="val -134782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X is greater than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 animBg="1"/>
      <p:bldP spid="5" grpId="0" animBg="1"/>
      <p:bldP spid="6" grpId="0" animBg="1"/>
      <p:bldP spid="7" grpId="0" animBg="1"/>
      <p:bldP spid="7" grpId="1" animBg="1"/>
      <p:bldP spid="8" grpId="0" animBg="1"/>
      <p:bldP spid="8" grpId="1" animBg="1"/>
      <p:bldP spid="9" grpId="0" build="p" animBg="1"/>
      <p:bldP spid="10" grpId="0" animBg="1"/>
      <p:bldP spid="11" grpId="0" animBg="1"/>
      <p:bldP spid="12" grpId="0" animBg="1"/>
      <p:bldP spid="12" grpId="1" animBg="1"/>
      <p:bldP spid="13" grpId="0" build="p" animBg="1"/>
      <p:bldP spid="14" grpId="0" animBg="1"/>
      <p:bldP spid="15" grpId="0" animBg="1"/>
      <p:bldP spid="16" grpId="0" animBg="1"/>
      <p:bldP spid="16" grpId="1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0E434B-044D-DC42-80D1-F2F813706E5E}"/>
              </a:ext>
            </a:extLst>
          </p:cNvPr>
          <p:cNvSpPr/>
          <p:nvPr/>
        </p:nvSpPr>
        <p:spPr>
          <a:xfrm>
            <a:off x="786931" y="1147972"/>
            <a:ext cx="5813894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/>
              </a:rPr>
              <a:t>#odd numbers between 1 to n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Number = 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i=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(i&lt;=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 %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!=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    print(i)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i+=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707BE7-60A8-4B49-8669-B81A21CD70D3}"/>
              </a:ext>
            </a:extLst>
          </p:cNvPr>
          <p:cNvSpPr/>
          <p:nvPr/>
        </p:nvSpPr>
        <p:spPr>
          <a:xfrm>
            <a:off x="286938" y="1147972"/>
            <a:ext cx="49999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44FCFFD0-2407-FA4F-A6AE-38ECBBEF3E7B}"/>
              </a:ext>
            </a:extLst>
          </p:cNvPr>
          <p:cNvSpPr/>
          <p:nvPr/>
        </p:nvSpPr>
        <p:spPr>
          <a:xfrm>
            <a:off x="286938" y="818788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F08611-7A58-5249-ABFB-98DCC4A2436E}"/>
              </a:ext>
            </a:extLst>
          </p:cNvPr>
          <p:cNvSpPr/>
          <p:nvPr/>
        </p:nvSpPr>
        <p:spPr>
          <a:xfrm>
            <a:off x="8154589" y="1331795"/>
            <a:ext cx="2170512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Enter Number = 5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3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00EA69AD-C86D-9B4A-A86B-1D7E1E90132B}"/>
              </a:ext>
            </a:extLst>
          </p:cNvPr>
          <p:cNvSpPr/>
          <p:nvPr/>
        </p:nvSpPr>
        <p:spPr>
          <a:xfrm>
            <a:off x="8154588" y="100261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0E434B-044D-DC42-80D1-F2F813706E5E}"/>
              </a:ext>
            </a:extLst>
          </p:cNvPr>
          <p:cNvSpPr/>
          <p:nvPr/>
        </p:nvSpPr>
        <p:spPr>
          <a:xfrm>
            <a:off x="786932" y="3574566"/>
            <a:ext cx="5813894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/>
              </a:rPr>
              <a:t>#series 1 + 4 + 9 + 16 + 25 + 36 + ...n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Number = 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sum = i 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(i&lt;=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sum = sum + i**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i+=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"Sum="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,sum)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707BE7-60A8-4B49-8669-B81A21CD70D3}"/>
              </a:ext>
            </a:extLst>
          </p:cNvPr>
          <p:cNvSpPr/>
          <p:nvPr/>
        </p:nvSpPr>
        <p:spPr>
          <a:xfrm>
            <a:off x="286939" y="3574566"/>
            <a:ext cx="49999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44FCFFD0-2407-FA4F-A6AE-38ECBBEF3E7B}"/>
              </a:ext>
            </a:extLst>
          </p:cNvPr>
          <p:cNvSpPr/>
          <p:nvPr/>
        </p:nvSpPr>
        <p:spPr>
          <a:xfrm>
            <a:off x="286939" y="3245382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Example2.py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F08611-7A58-5249-ABFB-98DCC4A2436E}"/>
              </a:ext>
            </a:extLst>
          </p:cNvPr>
          <p:cNvSpPr/>
          <p:nvPr/>
        </p:nvSpPr>
        <p:spPr>
          <a:xfrm>
            <a:off x="8154590" y="3739158"/>
            <a:ext cx="261818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Enter Number = 10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Sum= 385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00EA69AD-C86D-9B4A-A86B-1D7E1E90132B}"/>
              </a:ext>
            </a:extLst>
          </p:cNvPr>
          <p:cNvSpPr/>
          <p:nvPr/>
        </p:nvSpPr>
        <p:spPr>
          <a:xfrm>
            <a:off x="8154589" y="3409974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34452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Following programs using for and while loop.</a:t>
            </a:r>
          </a:p>
          <a:p>
            <a:pPr lvl="1"/>
            <a:r>
              <a:rPr lang="en-US" dirty="0"/>
              <a:t>WAP to find out sum of first and last digit of a given number</a:t>
            </a:r>
          </a:p>
          <a:p>
            <a:pPr lvl="1"/>
            <a:r>
              <a:rPr lang="en-US" dirty="0"/>
              <a:t>WAP to find whether the given number is prime or not.</a:t>
            </a:r>
          </a:p>
          <a:p>
            <a:pPr lvl="1"/>
            <a:r>
              <a:rPr lang="en-US" dirty="0"/>
              <a:t>WAP to find out prime numbers between given two numbers</a:t>
            </a:r>
          </a:p>
          <a:p>
            <a:pPr lvl="1"/>
            <a:r>
              <a:rPr lang="en-US" dirty="0"/>
              <a:t>WAP to print given number in reverse order.</a:t>
            </a:r>
          </a:p>
          <a:p>
            <a:pPr lvl="1"/>
            <a:r>
              <a:rPr lang="en-US" dirty="0"/>
              <a:t>WAP to check whether the given number is Armstrong or not.</a:t>
            </a:r>
          </a:p>
          <a:p>
            <a:pPr lvl="1"/>
            <a:r>
              <a:rPr lang="en-US" dirty="0"/>
              <a:t>WAP to find the sum of 1 + (1+2) + (1+2+3) + (1+2+3+4)+ …+(1+2+3+4+….+n).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580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25CD2-CD25-D2AA-71E1-98DBD6936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4D3486-783D-D976-D6D8-ACF325C53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break, continue &amp; pass keywords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6FC0AA-5E1B-5360-98BA-B287B03D6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76130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break keyword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5"/>
            <a:ext cx="11870320" cy="2492688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Breaks</a:t>
            </a:r>
            <a:r>
              <a:rPr lang="en-IN" dirty="0"/>
              <a:t> out of the current </a:t>
            </a:r>
            <a:r>
              <a:rPr lang="en-IN" dirty="0">
                <a:solidFill>
                  <a:srgbClr val="C00000"/>
                </a:solidFill>
              </a:rPr>
              <a:t>closest enclosing loop</a:t>
            </a:r>
            <a:r>
              <a:rPr lang="en-IN" dirty="0"/>
              <a:t>.</a:t>
            </a:r>
          </a:p>
          <a:p>
            <a:r>
              <a:rPr lang="en-US" dirty="0"/>
              <a:t>Break Statement is a loop control statement that is used to </a:t>
            </a:r>
            <a:r>
              <a:rPr lang="en-US" dirty="0">
                <a:solidFill>
                  <a:srgbClr val="C00000"/>
                </a:solidFill>
              </a:rPr>
              <a:t>terminate the loop</a:t>
            </a:r>
            <a:r>
              <a:rPr lang="en-US" dirty="0"/>
              <a:t>. </a:t>
            </a:r>
          </a:p>
          <a:p>
            <a:r>
              <a:rPr lang="en-US" dirty="0"/>
              <a:t>As soon as the break statement is encountered from within a loop, the loop iterations stop there, and control returns from the loop immediately to the </a:t>
            </a:r>
            <a:r>
              <a:rPr lang="en-US" dirty="0">
                <a:solidFill>
                  <a:srgbClr val="C00000"/>
                </a:solidFill>
              </a:rPr>
              <a:t>first statement </a:t>
            </a:r>
            <a:r>
              <a:rPr lang="en-US" dirty="0"/>
              <a:t>after the loop. </a:t>
            </a:r>
          </a:p>
          <a:p>
            <a:r>
              <a:rPr lang="en-US" dirty="0"/>
              <a:t>Basically, break statements are used in situations when we are not sure about the actual number of iterations for the loop or we want to </a:t>
            </a:r>
            <a:r>
              <a:rPr lang="en-US" dirty="0">
                <a:solidFill>
                  <a:srgbClr val="C00000"/>
                </a:solidFill>
              </a:rPr>
              <a:t>terminate the loop based on some condition</a:t>
            </a:r>
            <a:r>
              <a:rPr lang="en-US" dirty="0"/>
              <a:t>.  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940611" y="3731791"/>
            <a:ext cx="152614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break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440618" y="3731791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440618" y="3402607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940611" y="4594602"/>
            <a:ext cx="4605622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temp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temp ==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break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print(temp)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440618" y="4594602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7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440618" y="4265418"/>
            <a:ext cx="171156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breakdemo.py</a:t>
            </a:r>
          </a:p>
        </p:txBody>
      </p:sp>
      <p:sp>
        <p:nvSpPr>
          <p:cNvPr id="18" name="Line Callout 1 17"/>
          <p:cNvSpPr/>
          <p:nvPr/>
        </p:nvSpPr>
        <p:spPr>
          <a:xfrm>
            <a:off x="4381136" y="4198041"/>
            <a:ext cx="1406636" cy="1673525"/>
          </a:xfrm>
          <a:prstGeom prst="borderCallout1">
            <a:avLst>
              <a:gd name="adj1" fmla="val 53885"/>
              <a:gd name="adj2" fmla="val -612"/>
              <a:gd name="adj3" fmla="val 47769"/>
              <a:gd name="adj4" fmla="val -105347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0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uiExpand="1" build="p" animBg="1"/>
      <p:bldP spid="13" grpId="0" animBg="1"/>
      <p:bldP spid="14" grpId="0" animBg="1"/>
      <p:bldP spid="15" grpId="0" build="p" animBg="1"/>
      <p:bldP spid="16" grpId="0" animBg="1"/>
      <p:bldP spid="17" grpId="0" animBg="1"/>
      <p:bldP spid="18" grpId="0" animBg="1"/>
      <p:bldP spid="18" grpId="1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255FD-5826-3944-9285-B13BD18ED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 keyword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A557487-BA34-6F4D-884C-8B7660368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Goes to the top of the </a:t>
            </a:r>
            <a:r>
              <a:rPr lang="en-US" dirty="0">
                <a:solidFill>
                  <a:srgbClr val="C00000"/>
                </a:solidFill>
              </a:rPr>
              <a:t>current closest enclosing loop</a:t>
            </a:r>
            <a:r>
              <a:rPr lang="en-US" dirty="0"/>
              <a:t>.</a:t>
            </a:r>
          </a:p>
          <a:p>
            <a:r>
              <a:rPr lang="en-US" dirty="0"/>
              <a:t>Continue statement is a loop control statement that forces to execute the </a:t>
            </a:r>
            <a:r>
              <a:rPr lang="en-US" dirty="0">
                <a:solidFill>
                  <a:srgbClr val="C00000"/>
                </a:solidFill>
              </a:rPr>
              <a:t>next iteration </a:t>
            </a:r>
            <a:r>
              <a:rPr lang="en-US" dirty="0"/>
              <a:t>of the loop while </a:t>
            </a:r>
            <a:r>
              <a:rPr lang="en-US" dirty="0">
                <a:solidFill>
                  <a:srgbClr val="C00000"/>
                </a:solidFill>
              </a:rPr>
              <a:t>skipping the rest </a:t>
            </a:r>
            <a:r>
              <a:rPr lang="en-US" dirty="0"/>
              <a:t>of the code inside the loop for the current iteration only i.e. </a:t>
            </a:r>
          </a:p>
          <a:p>
            <a:r>
              <a:rPr lang="en-US" dirty="0"/>
              <a:t>When the continue statement is executed in the loop, the code inside the loop following the continue statement will be </a:t>
            </a:r>
            <a:r>
              <a:rPr lang="en-US" dirty="0">
                <a:solidFill>
                  <a:srgbClr val="C00000"/>
                </a:solidFill>
              </a:rPr>
              <a:t>skipped</a:t>
            </a:r>
            <a:r>
              <a:rPr lang="en-US" dirty="0"/>
              <a:t> for the </a:t>
            </a:r>
            <a:r>
              <a:rPr lang="en-US" dirty="0">
                <a:solidFill>
                  <a:srgbClr val="C00000"/>
                </a:solidFill>
              </a:rPr>
              <a:t>current iteration </a:t>
            </a:r>
            <a:r>
              <a:rPr lang="en-US" dirty="0"/>
              <a:t>and the next iteration of the loop will begin.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306E76-8171-FE4F-BE47-219508BA77AC}"/>
              </a:ext>
            </a:extLst>
          </p:cNvPr>
          <p:cNvSpPr/>
          <p:nvPr/>
        </p:nvSpPr>
        <p:spPr>
          <a:xfrm>
            <a:off x="940611" y="3731791"/>
            <a:ext cx="152614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continue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384E69-6117-724A-AFE4-26E5C787745E}"/>
              </a:ext>
            </a:extLst>
          </p:cNvPr>
          <p:cNvSpPr/>
          <p:nvPr/>
        </p:nvSpPr>
        <p:spPr>
          <a:xfrm>
            <a:off x="440618" y="3731791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2D9C5D7E-09AD-374C-9EFD-3F49F8874894}"/>
              </a:ext>
            </a:extLst>
          </p:cNvPr>
          <p:cNvSpPr/>
          <p:nvPr/>
        </p:nvSpPr>
        <p:spPr>
          <a:xfrm>
            <a:off x="440618" y="3402607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E377BE-B153-8D4F-A1C3-73032CFED4A8}"/>
              </a:ext>
            </a:extLst>
          </p:cNvPr>
          <p:cNvSpPr/>
          <p:nvPr/>
        </p:nvSpPr>
        <p:spPr>
          <a:xfrm>
            <a:off x="854251" y="4678847"/>
            <a:ext cx="4605622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temp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temp ==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continue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print(temp)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087BD3-ADA5-4343-9CE8-88D9812F3107}"/>
              </a:ext>
            </a:extLst>
          </p:cNvPr>
          <p:cNvSpPr/>
          <p:nvPr/>
        </p:nvSpPr>
        <p:spPr>
          <a:xfrm>
            <a:off x="354258" y="4678847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23" name="Rectangle: Top Corners Rounded 6">
            <a:extLst>
              <a:ext uri="{FF2B5EF4-FFF2-40B4-BE49-F238E27FC236}">
                <a16:creationId xmlns:a16="http://schemas.microsoft.com/office/drawing/2014/main" id="{D5A555B7-C5A1-9A49-95DD-E043E10D3567}"/>
              </a:ext>
            </a:extLst>
          </p:cNvPr>
          <p:cNvSpPr/>
          <p:nvPr/>
        </p:nvSpPr>
        <p:spPr>
          <a:xfrm>
            <a:off x="354259" y="4349663"/>
            <a:ext cx="1697566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continuedemo.py</a:t>
            </a:r>
          </a:p>
        </p:txBody>
      </p:sp>
      <p:sp>
        <p:nvSpPr>
          <p:cNvPr id="24" name="Line Callout 1 23">
            <a:extLst>
              <a:ext uri="{FF2B5EF4-FFF2-40B4-BE49-F238E27FC236}">
                <a16:creationId xmlns:a16="http://schemas.microsoft.com/office/drawing/2014/main" id="{FE909BD2-F445-3C42-99C1-1713155BD007}"/>
              </a:ext>
            </a:extLst>
          </p:cNvPr>
          <p:cNvSpPr/>
          <p:nvPr/>
        </p:nvSpPr>
        <p:spPr>
          <a:xfrm>
            <a:off x="4294776" y="4282286"/>
            <a:ext cx="1406636" cy="1673525"/>
          </a:xfrm>
          <a:prstGeom prst="borderCallout1">
            <a:avLst>
              <a:gd name="adj1" fmla="val 53885"/>
              <a:gd name="adj2" fmla="val -612"/>
              <a:gd name="adj3" fmla="val 47769"/>
              <a:gd name="adj4" fmla="val -105347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0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3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5369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 animBg="1"/>
      <p:bldP spid="12" grpId="0" animBg="1"/>
      <p:bldP spid="13" grpId="0" animBg="1"/>
      <p:bldP spid="21" grpId="0" build="p" animBg="1"/>
      <p:bldP spid="22" grpId="0" animBg="1"/>
      <p:bldP spid="23" grpId="0" animBg="1"/>
      <p:bldP spid="24" grpId="0" animBg="1"/>
      <p:bldP spid="24" grpId="1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255FD-5826-3944-9285-B13BD18ED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pass keyword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A557487-BA34-6F4D-884C-8B7660368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IN" dirty="0"/>
              <a:t>Does nothing at all, will be used as a </a:t>
            </a:r>
            <a:r>
              <a:rPr lang="en-IN" dirty="0">
                <a:solidFill>
                  <a:srgbClr val="C00000"/>
                </a:solidFill>
              </a:rPr>
              <a:t>placeholder</a:t>
            </a:r>
            <a:r>
              <a:rPr lang="en-IN" dirty="0"/>
              <a:t> in conditions where you don’t want to write anything.</a:t>
            </a:r>
          </a:p>
          <a:p>
            <a:r>
              <a:rPr lang="en-US" dirty="0"/>
              <a:t>The pass statement is a </a:t>
            </a:r>
            <a:r>
              <a:rPr lang="en-US" dirty="0">
                <a:solidFill>
                  <a:srgbClr val="C00000"/>
                </a:solidFill>
              </a:rPr>
              <a:t>null statement</a:t>
            </a:r>
            <a:r>
              <a:rPr lang="en-US" dirty="0"/>
              <a:t>. But the difference between pass and comment is that comment is ignored by the interpreter whereas pass is not ignored. </a:t>
            </a:r>
          </a:p>
          <a:p>
            <a:endParaRPr lang="en-IN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FE048D-4B78-F045-9C7B-E41C1DD7739E}"/>
              </a:ext>
            </a:extLst>
          </p:cNvPr>
          <p:cNvSpPr/>
          <p:nvPr/>
        </p:nvSpPr>
        <p:spPr>
          <a:xfrm>
            <a:off x="1086992" y="3085285"/>
            <a:ext cx="152614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pass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A4606D-01A3-0B47-BFE8-F76BBD9ADD68}"/>
              </a:ext>
            </a:extLst>
          </p:cNvPr>
          <p:cNvSpPr/>
          <p:nvPr/>
        </p:nvSpPr>
        <p:spPr>
          <a:xfrm>
            <a:off x="586999" y="3085285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FD87D6F1-678F-F34E-9A83-37292ADA8FCA}"/>
              </a:ext>
            </a:extLst>
          </p:cNvPr>
          <p:cNvSpPr/>
          <p:nvPr/>
        </p:nvSpPr>
        <p:spPr>
          <a:xfrm>
            <a:off x="586999" y="2756101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14E5A4-2084-C24E-A406-34E20D2CD840}"/>
              </a:ext>
            </a:extLst>
          </p:cNvPr>
          <p:cNvSpPr/>
          <p:nvPr/>
        </p:nvSpPr>
        <p:spPr>
          <a:xfrm>
            <a:off x="1086992" y="3947369"/>
            <a:ext cx="4605622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temp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pass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38113D-0666-A647-82C0-E49A32EE4ACA}"/>
              </a:ext>
            </a:extLst>
          </p:cNvPr>
          <p:cNvSpPr/>
          <p:nvPr/>
        </p:nvSpPr>
        <p:spPr>
          <a:xfrm>
            <a:off x="586999" y="3947369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20" name="Rectangle: Top Corners Rounded 6">
            <a:extLst>
              <a:ext uri="{FF2B5EF4-FFF2-40B4-BE49-F238E27FC236}">
                <a16:creationId xmlns:a16="http://schemas.microsoft.com/office/drawing/2014/main" id="{0EEF7339-C4B8-EB4B-A7FB-3BA75A442D3C}"/>
              </a:ext>
            </a:extLst>
          </p:cNvPr>
          <p:cNvSpPr/>
          <p:nvPr/>
        </p:nvSpPr>
        <p:spPr>
          <a:xfrm>
            <a:off x="586999" y="3618185"/>
            <a:ext cx="184396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passdemo.py</a:t>
            </a:r>
          </a:p>
        </p:txBody>
      </p:sp>
      <p:sp>
        <p:nvSpPr>
          <p:cNvPr id="21" name="Line Callout 1 20">
            <a:extLst>
              <a:ext uri="{FF2B5EF4-FFF2-40B4-BE49-F238E27FC236}">
                <a16:creationId xmlns:a16="http://schemas.microsoft.com/office/drawing/2014/main" id="{3C524E1D-965B-7F46-B359-63E9207646EC}"/>
              </a:ext>
            </a:extLst>
          </p:cNvPr>
          <p:cNvSpPr/>
          <p:nvPr/>
        </p:nvSpPr>
        <p:spPr>
          <a:xfrm>
            <a:off x="5948815" y="3731715"/>
            <a:ext cx="2151383" cy="431307"/>
          </a:xfrm>
          <a:prstGeom prst="borderCallout1">
            <a:avLst>
              <a:gd name="adj1" fmla="val 53885"/>
              <a:gd name="adj2" fmla="val -612"/>
              <a:gd name="adj3" fmla="val 125771"/>
              <a:gd name="adj4" fmla="val -6732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 </a:t>
            </a:r>
            <a:r>
              <a:rPr lang="en-IN" dirty="0">
                <a:solidFill>
                  <a:schemeClr val="tx1"/>
                </a:solidFill>
              </a:rPr>
              <a:t>(nothing)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33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 animBg="1"/>
      <p:bldP spid="18" grpId="0" animBg="1"/>
      <p:bldP spid="19" grpId="0" animBg="1"/>
      <p:bldP spid="11" grpId="0" build="p" animBg="1"/>
      <p:bldP spid="12" grpId="0" animBg="1"/>
      <p:bldP spid="20" grpId="0" animBg="1"/>
      <p:bldP spid="21" grpId="0" animBg="1"/>
      <p:bldP spid="21" grpId="1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1AA67-8AA2-8AD7-B183-BD92C2894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A316D9-D818-2BD4-F70E-2F861845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Magic Command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09414D-9743-271C-2DCF-98461195C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56228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D79D4-58AB-124C-8E12-3E529DB83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Magic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EFEF4-CF56-174E-95A6-0D059BCBC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IPython’s</a:t>
            </a:r>
            <a:r>
              <a:rPr lang="en-IN" dirty="0"/>
              <a:t> special commands (which are not built into Python itself) are known as “magic” commands. </a:t>
            </a:r>
          </a:p>
          <a:p>
            <a:r>
              <a:rPr lang="en-IN" dirty="0"/>
              <a:t>These are designed to facilitate common tasks and enable you to easily control the </a:t>
            </a:r>
            <a:r>
              <a:rPr lang="en-IN" dirty="0" err="1"/>
              <a:t>behavior</a:t>
            </a:r>
            <a:r>
              <a:rPr lang="en-IN" dirty="0"/>
              <a:t> of the </a:t>
            </a:r>
            <a:r>
              <a:rPr lang="en-IN" dirty="0" err="1"/>
              <a:t>IPython</a:t>
            </a:r>
            <a:r>
              <a:rPr lang="en-IN" dirty="0"/>
              <a:t> system. </a:t>
            </a:r>
          </a:p>
          <a:p>
            <a:r>
              <a:rPr lang="en-IN" dirty="0"/>
              <a:t>magic command is any command prefixed by the percent symbol % </a:t>
            </a:r>
          </a:p>
          <a:p>
            <a:r>
              <a:rPr lang="en-IN" dirty="0"/>
              <a:t>For example, you can check the execution time of any Python statement, such as a matrix multiplication, using the %</a:t>
            </a:r>
            <a:r>
              <a:rPr lang="en-IN" dirty="0" err="1"/>
              <a:t>timeit</a:t>
            </a:r>
            <a:r>
              <a:rPr lang="en-IN" dirty="0"/>
              <a:t> magic function (which will be discussed in more detail later): </a:t>
            </a:r>
          </a:p>
          <a:p>
            <a:r>
              <a:rPr lang="en-IN" dirty="0"/>
              <a:t>Magic commands come in two type: </a:t>
            </a:r>
          </a:p>
          <a:p>
            <a:pPr lvl="1"/>
            <a:r>
              <a:rPr lang="en-IN" dirty="0">
                <a:solidFill>
                  <a:srgbClr val="C00000"/>
                </a:solidFill>
              </a:rPr>
              <a:t>line magics</a:t>
            </a:r>
            <a:r>
              <a:rPr lang="en-IN" dirty="0"/>
              <a:t>, which are denoted by a single % prefix and operate on a single line of input,</a:t>
            </a:r>
          </a:p>
          <a:p>
            <a:pPr lvl="1"/>
            <a:r>
              <a:rPr lang="en-IN" dirty="0">
                <a:solidFill>
                  <a:srgbClr val="C00000"/>
                </a:solidFill>
              </a:rPr>
              <a:t>cell magics</a:t>
            </a:r>
            <a:r>
              <a:rPr lang="en-IN" dirty="0"/>
              <a:t>, which are denoted by a double %% prefix and operate on multiple lines of input. </a:t>
            </a:r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25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95CFC-1EEB-8D4D-80E5-BD09791F6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Magic Command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8BA38E3-46B6-4646-A9C8-44DE122E5C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738121"/>
              </p:ext>
            </p:extLst>
          </p:nvPr>
        </p:nvGraphicFramePr>
        <p:xfrm>
          <a:off x="370467" y="886934"/>
          <a:ext cx="11594554" cy="5581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8499">
                  <a:extLst>
                    <a:ext uri="{9D8B030D-6E8A-4147-A177-3AD203B41FA5}">
                      <a16:colId xmlns:a16="http://schemas.microsoft.com/office/drawing/2014/main" val="1163265020"/>
                    </a:ext>
                  </a:extLst>
                </a:gridCol>
                <a:gridCol w="9666055">
                  <a:extLst>
                    <a:ext uri="{9D8B030D-6E8A-4147-A177-3AD203B41FA5}">
                      <a16:colId xmlns:a16="http://schemas.microsoft.com/office/drawing/2014/main" val="876783068"/>
                    </a:ext>
                  </a:extLst>
                </a:gridCol>
              </a:tblGrid>
              <a:tr h="3862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Command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165024"/>
                  </a:ext>
                </a:extLst>
              </a:tr>
              <a:tr h="386240">
                <a:tc>
                  <a:txBody>
                    <a:bodyPr/>
                    <a:lstStyle/>
                    <a:p>
                      <a:r>
                        <a:rPr lang="en-US" dirty="0"/>
                        <a:t>%</a:t>
                      </a:r>
                      <a:r>
                        <a:rPr lang="en-US" dirty="0" err="1"/>
                        <a:t>quickref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 the 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IPython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Quick Reference Card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992387"/>
                  </a:ext>
                </a:extLst>
              </a:tr>
              <a:tr h="386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%magic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 detailed documentation for all of the available magic commands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8143325"/>
                  </a:ext>
                </a:extLst>
              </a:tr>
              <a:tr h="6666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%who, %</a:t>
                      </a:r>
                      <a:r>
                        <a:rPr lang="en-IN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whos</a:t>
                      </a: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%</a:t>
                      </a:r>
                      <a:r>
                        <a:rPr lang="en-IN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who_ls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 all information related to interactive variables.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003135"/>
                  </a:ext>
                </a:extLst>
              </a:tr>
              <a:tr h="386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%hist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 command input (and optionally output) history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910586"/>
                  </a:ext>
                </a:extLst>
              </a:tr>
              <a:tr h="386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%cd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Change the current working directory.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018532"/>
                  </a:ext>
                </a:extLst>
              </a:tr>
              <a:tr h="386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%paste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Execute preformatted Python code from clipboard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431458"/>
                  </a:ext>
                </a:extLst>
              </a:tr>
              <a:tr h="386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cpaste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 a special prompt for manually pasting Python code to be executed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378424"/>
                  </a:ext>
                </a:extLst>
              </a:tr>
              <a:tr h="386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%reset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 all variables/names defined in interactive namespace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04644"/>
                  </a:ext>
                </a:extLst>
              </a:tr>
              <a:tr h="386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%page </a:t>
                      </a:r>
                      <a:r>
                        <a:rPr lang="en-IN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Pretty-print the object and display it through a pager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670325"/>
                  </a:ext>
                </a:extLst>
              </a:tr>
              <a:tr h="386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%run </a:t>
                      </a:r>
                      <a:r>
                        <a:rPr lang="en-IN" sz="18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script.py</a:t>
                      </a:r>
                      <a:r>
                        <a:rPr lang="en-IN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Run a Python script inside 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IPython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626620"/>
                  </a:ext>
                </a:extLst>
              </a:tr>
              <a:tr h="386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%time </a:t>
                      </a:r>
                      <a:r>
                        <a:rPr lang="en-IN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statement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Report the execution time of a single statement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764399"/>
                  </a:ext>
                </a:extLst>
              </a:tr>
              <a:tr h="6666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timeit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statement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Run a statement multiple times to compute an ensemble average execution time; useful for timing code with very short execution time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696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6292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80D6-B8FB-FC44-89AD-A158D64D0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Introspection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635F8-F54A-9248-B7AA-7D60596C1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Using a question mark (?) before or after a variable will display some general information about the object: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r>
              <a:rPr lang="en-IN" dirty="0"/>
              <a:t>Then using ? shows us the docstring if defined.</a:t>
            </a:r>
          </a:p>
          <a:p>
            <a:r>
              <a:rPr lang="en-IN" dirty="0"/>
              <a:t>Using ?? will also show the function’s source code if possible: 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70C5FC-638E-4342-A189-96E2E1AE56C6}"/>
              </a:ext>
            </a:extLst>
          </p:cNvPr>
          <p:cNvSpPr/>
          <p:nvPr/>
        </p:nvSpPr>
        <p:spPr>
          <a:xfrm>
            <a:off x="1449659" y="2001867"/>
            <a:ext cx="3880624" cy="2554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b=[1,2,3]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b?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Type: list</a:t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String Form:[1, 2, 3]</a:t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Length: 3</a:t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Docstring:</a:t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list() -&gt; new empty list</a:t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list(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iterable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 -&gt; new list initialized from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iterable's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items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6D18DF-BA82-F949-B215-565C61CB2B21}"/>
              </a:ext>
            </a:extLst>
          </p:cNvPr>
          <p:cNvSpPr/>
          <p:nvPr/>
        </p:nvSpPr>
        <p:spPr>
          <a:xfrm>
            <a:off x="512302" y="2001867"/>
            <a:ext cx="937357" cy="25545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solidFill>
                  <a:srgbClr val="000000"/>
                </a:solidFill>
                <a:latin typeface="Consolas"/>
              </a:rPr>
              <a:t>In[1]: In[2]: </a:t>
            </a:r>
            <a:endParaRPr lang="en-IN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9883D395-E79A-B040-B245-8088506BBD63}"/>
              </a:ext>
            </a:extLst>
          </p:cNvPr>
          <p:cNvSpPr/>
          <p:nvPr/>
        </p:nvSpPr>
        <p:spPr>
          <a:xfrm>
            <a:off x="512302" y="167268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/>
              <a:t>Introspection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AD5B75-241F-934C-A0FF-7C42A96FA371}"/>
              </a:ext>
            </a:extLst>
          </p:cNvPr>
          <p:cNvSpPr/>
          <p:nvPr/>
        </p:nvSpPr>
        <p:spPr>
          <a:xfrm>
            <a:off x="6720468" y="2001867"/>
            <a:ext cx="4959230" cy="30469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add_numbers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??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Signature: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add_numbers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(a, b) Source:</a:t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def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add_numbers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(a, b): 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latin typeface="Consolas"/>
              </a:rPr>
              <a:t>""" 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latin typeface="Consolas"/>
              </a:rPr>
              <a:t>Add two numbers together Returns</a:t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-------</a:t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 err="1">
                <a:solidFill>
                  <a:srgbClr val="000000"/>
                </a:solidFill>
                <a:latin typeface="Consolas"/>
              </a:rPr>
              <a:t>the_sum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: type of arguments 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latin typeface="Consolas"/>
              </a:rPr>
              <a:t>"""</a:t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return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a+b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File: &lt;ipython-input-9-6a548a216e27&gt; Type: function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A8872-79DB-0448-9F3A-6BC19F9B2981}"/>
              </a:ext>
            </a:extLst>
          </p:cNvPr>
          <p:cNvSpPr/>
          <p:nvPr/>
        </p:nvSpPr>
        <p:spPr>
          <a:xfrm>
            <a:off x="5783111" y="2001867"/>
            <a:ext cx="937357" cy="30469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solidFill>
                  <a:srgbClr val="000000"/>
                </a:solidFill>
                <a:latin typeface="Consolas"/>
              </a:rPr>
              <a:t>In[1]:</a:t>
            </a:r>
            <a:endParaRPr lang="en-IN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9B6CA047-794D-CE4F-A2C3-BE6A63136D16}"/>
              </a:ext>
            </a:extLst>
          </p:cNvPr>
          <p:cNvSpPr/>
          <p:nvPr/>
        </p:nvSpPr>
        <p:spPr>
          <a:xfrm>
            <a:off x="5783111" y="167268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/>
              <a:t>Introspection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2658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5EFB0-8191-974B-ABA2-FD17218AB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%run Command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F8714-A3C0-7A48-9A2E-9D163BB10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You can run any file as a Python program inside the environment of your </a:t>
            </a:r>
            <a:r>
              <a:rPr lang="en-IN" dirty="0" err="1"/>
              <a:t>IPython</a:t>
            </a:r>
            <a:r>
              <a:rPr lang="en-IN" dirty="0"/>
              <a:t> session using the %run command.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All of the variables (imports, functions, and </a:t>
            </a:r>
            <a:r>
              <a:rPr lang="en-US" dirty="0" err="1"/>
              <a:t>globals</a:t>
            </a:r>
            <a:r>
              <a:rPr lang="en-US" dirty="0"/>
              <a:t>) defined in the file (up until an exception, if any, is raised) will then be accessible in the </a:t>
            </a:r>
            <a:r>
              <a:rPr lang="en-US" dirty="0" err="1"/>
              <a:t>IPython</a:t>
            </a:r>
            <a:r>
              <a:rPr lang="en-US" dirty="0"/>
              <a:t> shell: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BAFF25-3CFD-D543-9D3B-44126B06CF88}"/>
              </a:ext>
            </a:extLst>
          </p:cNvPr>
          <p:cNvSpPr/>
          <p:nvPr/>
        </p:nvSpPr>
        <p:spPr>
          <a:xfrm>
            <a:off x="911934" y="2318771"/>
            <a:ext cx="3280925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f(x, y, z): </a:t>
            </a:r>
          </a:p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	return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x+y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)/z</a:t>
            </a:r>
          </a:p>
          <a:p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a=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b=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6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c=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7.5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result = f(a, b, c)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84C16F-E448-874F-91A5-7BB4A5BEF1C8}"/>
              </a:ext>
            </a:extLst>
          </p:cNvPr>
          <p:cNvSpPr/>
          <p:nvPr/>
        </p:nvSpPr>
        <p:spPr>
          <a:xfrm>
            <a:off x="411941" y="2318771"/>
            <a:ext cx="499993" cy="20621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5A550B39-7BC2-B84C-ADDB-BF9548376E90}"/>
              </a:ext>
            </a:extLst>
          </p:cNvPr>
          <p:cNvSpPr/>
          <p:nvPr/>
        </p:nvSpPr>
        <p:spPr>
          <a:xfrm>
            <a:off x="411941" y="198958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42CB78-A93A-8E45-B184-145C5A65F53C}"/>
              </a:ext>
            </a:extLst>
          </p:cNvPr>
          <p:cNvSpPr/>
          <p:nvPr/>
        </p:nvSpPr>
        <p:spPr>
          <a:xfrm>
            <a:off x="5999354" y="1819848"/>
            <a:ext cx="3893675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%run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demo.py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</a:p>
          <a:p>
            <a:endParaRPr lang="en-IN" dirty="0"/>
          </a:p>
          <a:p>
            <a:r>
              <a:rPr lang="en-IN" dirty="0"/>
              <a:t>c</a:t>
            </a:r>
          </a:p>
          <a:p>
            <a:r>
              <a:rPr lang="en-IN" dirty="0"/>
              <a:t>7.5 </a:t>
            </a:r>
          </a:p>
          <a:p>
            <a:r>
              <a:rPr lang="en-IN" dirty="0"/>
              <a:t> 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result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1.4666666666666666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342FEE-3DC2-7947-876E-0F19CEB2034D}"/>
              </a:ext>
            </a:extLst>
          </p:cNvPr>
          <p:cNvSpPr/>
          <p:nvPr/>
        </p:nvSpPr>
        <p:spPr>
          <a:xfrm>
            <a:off x="4780492" y="1819848"/>
            <a:ext cx="1218863" cy="20313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rgbClr val="000000"/>
                </a:solidFill>
                <a:latin typeface="Consolas"/>
              </a:rPr>
              <a:t>In[1]:</a:t>
            </a:r>
          </a:p>
          <a:p>
            <a:pPr algn="r"/>
            <a:endParaRPr lang="en-US" dirty="0">
              <a:solidFill>
                <a:srgbClr val="000000"/>
              </a:solidFill>
              <a:latin typeface="Consolas"/>
            </a:endParaRPr>
          </a:p>
          <a:p>
            <a:pPr algn="r"/>
            <a:r>
              <a:rPr lang="en-US" dirty="0">
                <a:solidFill>
                  <a:srgbClr val="000000"/>
                </a:solidFill>
                <a:latin typeface="Consolas"/>
              </a:rPr>
              <a:t>In[2]:</a:t>
            </a:r>
          </a:p>
          <a:p>
            <a:pPr algn="r"/>
            <a:r>
              <a:rPr lang="en-US" dirty="0">
                <a:solidFill>
                  <a:srgbClr val="000000"/>
                </a:solidFill>
                <a:latin typeface="Consolas"/>
              </a:rPr>
              <a:t>Out[2]:</a:t>
            </a:r>
          </a:p>
          <a:p>
            <a:pPr algn="r"/>
            <a:endParaRPr lang="en-US" dirty="0">
              <a:solidFill>
                <a:srgbClr val="000000"/>
              </a:solidFill>
              <a:latin typeface="Consolas"/>
            </a:endParaRPr>
          </a:p>
          <a:p>
            <a:pPr algn="r"/>
            <a:r>
              <a:rPr lang="en-US" dirty="0">
                <a:solidFill>
                  <a:srgbClr val="000000"/>
                </a:solidFill>
                <a:latin typeface="Consolas"/>
              </a:rPr>
              <a:t>In[3]:</a:t>
            </a:r>
          </a:p>
          <a:p>
            <a:pPr algn="r"/>
            <a:r>
              <a:rPr lang="en-US" dirty="0">
                <a:solidFill>
                  <a:srgbClr val="000000"/>
                </a:solidFill>
                <a:latin typeface="Consolas"/>
              </a:rPr>
              <a:t>Out[3]: 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2E0AC7E9-6E7B-A44E-BF58-D6C0A2B0B7C8}"/>
              </a:ext>
            </a:extLst>
          </p:cNvPr>
          <p:cNvSpPr/>
          <p:nvPr/>
        </p:nvSpPr>
        <p:spPr>
          <a:xfrm>
            <a:off x="4780492" y="1490664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 err="1"/>
              <a:t>lPython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1698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9" grpId="0" build="p" animBg="1"/>
      <p:bldP spid="10" grpId="0" animBg="1"/>
      <p:bldP spid="11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16BD6-D103-B1BF-CF2B-6EF5AAFA3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798EDE-6976-D9A5-5945-7B9F1FB59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08162C-41D2-6F36-47FF-EC02FC3B0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802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5239</TotalTime>
  <Words>6095</Words>
  <Application>Microsoft Office PowerPoint</Application>
  <PresentationFormat>Widescreen</PresentationFormat>
  <Paragraphs>1738</Paragraphs>
  <Slides>93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106" baseType="lpstr">
      <vt:lpstr>Menlo</vt:lpstr>
      <vt:lpstr>Wingdings</vt:lpstr>
      <vt:lpstr>Calibri</vt:lpstr>
      <vt:lpstr>Consolas</vt:lpstr>
      <vt:lpstr>Arial</vt:lpstr>
      <vt:lpstr>Arial Rounded MT Bold</vt:lpstr>
      <vt:lpstr>Ebrima</vt:lpstr>
      <vt:lpstr>Wingdings 3</vt:lpstr>
      <vt:lpstr>Roboto Condensed</vt:lpstr>
      <vt:lpstr>Segoe UI Black</vt:lpstr>
      <vt:lpstr>Wingdings 2</vt:lpstr>
      <vt:lpstr>Roboto Condensed Light</vt:lpstr>
      <vt:lpstr>Office Theme</vt:lpstr>
      <vt:lpstr>Unit-01  Introduction to Python  </vt:lpstr>
      <vt:lpstr>PowerPoint Presentation</vt:lpstr>
      <vt:lpstr>Syllabus</vt:lpstr>
      <vt:lpstr>Introduction to Python</vt:lpstr>
      <vt:lpstr>Introduction to Python</vt:lpstr>
      <vt:lpstr>Advantages of Python</vt:lpstr>
      <vt:lpstr>Advantages of Python</vt:lpstr>
      <vt:lpstr>How Garbage Collection is done? - Example</vt:lpstr>
      <vt:lpstr>How Garbage Collection is done?</vt:lpstr>
      <vt:lpstr>Advantages of Python</vt:lpstr>
      <vt:lpstr>Advantages of Python (cont.)</vt:lpstr>
      <vt:lpstr>Advantages of Python (cont.)</vt:lpstr>
      <vt:lpstr>Advantages of Python(cont.)</vt:lpstr>
      <vt:lpstr>Installing Python</vt:lpstr>
      <vt:lpstr>Installing Python for Windows</vt:lpstr>
      <vt:lpstr>Installing Python for Windows</vt:lpstr>
      <vt:lpstr>Installing Python for Linux</vt:lpstr>
      <vt:lpstr>User Interface and IDE</vt:lpstr>
      <vt:lpstr>User Interface and IDE</vt:lpstr>
      <vt:lpstr>User Interface and IDE</vt:lpstr>
      <vt:lpstr>Installing Anaconda </vt:lpstr>
      <vt:lpstr>Anaconda for Python</vt:lpstr>
      <vt:lpstr>Installing Anaconda </vt:lpstr>
      <vt:lpstr>Installing Anaconda </vt:lpstr>
      <vt:lpstr>Installing Anaconda </vt:lpstr>
      <vt:lpstr>Indentation</vt:lpstr>
      <vt:lpstr>Indentation</vt:lpstr>
      <vt:lpstr>Comments</vt:lpstr>
      <vt:lpstr>Comments</vt:lpstr>
      <vt:lpstr>Reading Input</vt:lpstr>
      <vt:lpstr>Reding Input</vt:lpstr>
      <vt:lpstr>Reading Input</vt:lpstr>
      <vt:lpstr>Print Output</vt:lpstr>
      <vt:lpstr>Print Output</vt:lpstr>
      <vt:lpstr>Print Output</vt:lpstr>
      <vt:lpstr>Print Output (f-string)</vt:lpstr>
      <vt:lpstr>Example</vt:lpstr>
      <vt:lpstr>Program 1</vt:lpstr>
      <vt:lpstr>Program 2</vt:lpstr>
      <vt:lpstr>Program 3</vt:lpstr>
      <vt:lpstr>Variables</vt:lpstr>
      <vt:lpstr>Variables</vt:lpstr>
      <vt:lpstr>Variables</vt:lpstr>
      <vt:lpstr>Datatypes</vt:lpstr>
      <vt:lpstr>PowerPoint Presentation</vt:lpstr>
      <vt:lpstr>Datatypes</vt:lpstr>
      <vt:lpstr>Tokens</vt:lpstr>
      <vt:lpstr>Tokens</vt:lpstr>
      <vt:lpstr>Tokens</vt:lpstr>
      <vt:lpstr>Type Conversion</vt:lpstr>
      <vt:lpstr>Type Conversion</vt:lpstr>
      <vt:lpstr>Operators</vt:lpstr>
      <vt:lpstr>Operators in Python</vt:lpstr>
      <vt:lpstr>Arithmetic Operators</vt:lpstr>
      <vt:lpstr>Assignment Operators</vt:lpstr>
      <vt:lpstr>Relational Operators</vt:lpstr>
      <vt:lpstr>Logical Operators</vt:lpstr>
      <vt:lpstr>Bitwise Operators</vt:lpstr>
      <vt:lpstr>Example</vt:lpstr>
      <vt:lpstr>Identity &amp; Membership Operators</vt:lpstr>
      <vt:lpstr>Example</vt:lpstr>
      <vt:lpstr>Conditional Statements</vt:lpstr>
      <vt:lpstr>if statement</vt:lpstr>
      <vt:lpstr>if else statement</vt:lpstr>
      <vt:lpstr>Example</vt:lpstr>
      <vt:lpstr>Nested if statement</vt:lpstr>
      <vt:lpstr>Example</vt:lpstr>
      <vt:lpstr>if, elif and else statement</vt:lpstr>
      <vt:lpstr>if, elif and else statement</vt:lpstr>
      <vt:lpstr>Example</vt:lpstr>
      <vt:lpstr>Ternary Operator</vt:lpstr>
      <vt:lpstr>match case</vt:lpstr>
      <vt:lpstr>match case</vt:lpstr>
      <vt:lpstr>Looping Statements</vt:lpstr>
      <vt:lpstr>for loop</vt:lpstr>
      <vt:lpstr>range() function</vt:lpstr>
      <vt:lpstr>for loop (tuple unpacking)</vt:lpstr>
      <vt:lpstr>for loop with else</vt:lpstr>
      <vt:lpstr>Example</vt:lpstr>
      <vt:lpstr>Example</vt:lpstr>
      <vt:lpstr>while loop</vt:lpstr>
      <vt:lpstr>Example</vt:lpstr>
      <vt:lpstr>Exercise programs</vt:lpstr>
      <vt:lpstr>break, continue &amp; pass keywords</vt:lpstr>
      <vt:lpstr>break keyword</vt:lpstr>
      <vt:lpstr>continue keyword</vt:lpstr>
      <vt:lpstr>pass keyword</vt:lpstr>
      <vt:lpstr>Magic Command</vt:lpstr>
      <vt:lpstr>Magic Command</vt:lpstr>
      <vt:lpstr>Magic Command</vt:lpstr>
      <vt:lpstr>Introspection</vt:lpstr>
      <vt:lpstr>The %run Command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709</cp:revision>
  <dcterms:created xsi:type="dcterms:W3CDTF">2020-05-01T05:09:15Z</dcterms:created>
  <dcterms:modified xsi:type="dcterms:W3CDTF">2026-06-30T04:00:38Z</dcterms:modified>
</cp:coreProperties>
</file>