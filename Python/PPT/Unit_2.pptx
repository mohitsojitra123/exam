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1"/>
  </p:notesMasterIdLst>
  <p:sldIdLst>
    <p:sldId id="308" r:id="rId2"/>
    <p:sldId id="407" r:id="rId3"/>
    <p:sldId id="417" r:id="rId4"/>
    <p:sldId id="324" r:id="rId5"/>
    <p:sldId id="332" r:id="rId6"/>
    <p:sldId id="325" r:id="rId7"/>
    <p:sldId id="326" r:id="rId8"/>
    <p:sldId id="330" r:id="rId9"/>
    <p:sldId id="328" r:id="rId10"/>
    <p:sldId id="329" r:id="rId11"/>
    <p:sldId id="331" r:id="rId12"/>
    <p:sldId id="333" r:id="rId13"/>
    <p:sldId id="334" r:id="rId14"/>
    <p:sldId id="419" r:id="rId15"/>
    <p:sldId id="418" r:id="rId16"/>
    <p:sldId id="335" r:id="rId17"/>
    <p:sldId id="420" r:id="rId18"/>
    <p:sldId id="336" r:id="rId19"/>
    <p:sldId id="338" r:id="rId20"/>
    <p:sldId id="339" r:id="rId21"/>
    <p:sldId id="340" r:id="rId22"/>
    <p:sldId id="371" r:id="rId23"/>
    <p:sldId id="372" r:id="rId24"/>
    <p:sldId id="341" r:id="rId25"/>
    <p:sldId id="345" r:id="rId26"/>
    <p:sldId id="342" r:id="rId27"/>
    <p:sldId id="344" r:id="rId28"/>
    <p:sldId id="355" r:id="rId29"/>
    <p:sldId id="350" r:id="rId30"/>
    <p:sldId id="376" r:id="rId31"/>
    <p:sldId id="377" r:id="rId32"/>
    <p:sldId id="351" r:id="rId33"/>
    <p:sldId id="378" r:id="rId34"/>
    <p:sldId id="379" r:id="rId35"/>
    <p:sldId id="410" r:id="rId36"/>
    <p:sldId id="409" r:id="rId37"/>
    <p:sldId id="381" r:id="rId38"/>
    <p:sldId id="382" r:id="rId39"/>
    <p:sldId id="383" r:id="rId40"/>
    <p:sldId id="384" r:id="rId41"/>
    <p:sldId id="385" r:id="rId42"/>
    <p:sldId id="413" r:id="rId43"/>
    <p:sldId id="414" r:id="rId44"/>
    <p:sldId id="386" r:id="rId45"/>
    <p:sldId id="387" r:id="rId46"/>
    <p:sldId id="388" r:id="rId47"/>
    <p:sldId id="389" r:id="rId48"/>
    <p:sldId id="390" r:id="rId49"/>
    <p:sldId id="392" r:id="rId50"/>
    <p:sldId id="393" r:id="rId51"/>
    <p:sldId id="394" r:id="rId52"/>
    <p:sldId id="395" r:id="rId53"/>
    <p:sldId id="396" r:id="rId54"/>
    <p:sldId id="403" r:id="rId55"/>
    <p:sldId id="404" r:id="rId56"/>
    <p:sldId id="398" r:id="rId57"/>
    <p:sldId id="399" r:id="rId58"/>
    <p:sldId id="400" r:id="rId59"/>
    <p:sldId id="401" r:id="rId60"/>
  </p:sldIdLst>
  <p:sldSz cx="12192000" cy="6858000"/>
  <p:notesSz cx="6858000" cy="9144000"/>
  <p:embeddedFontLst>
    <p:embeddedFont>
      <p:font typeface="Roboto Condensed Light" panose="02000000000000000000" pitchFamily="2" charset="0"/>
      <p:regular r:id="rId62"/>
      <p:italic r:id="rId63"/>
    </p:embeddedFont>
    <p:embeddedFont>
      <p:font typeface="Segoe UI Black" panose="020B0A02040204020203" pitchFamily="34" charset="0"/>
      <p:bold r:id="rId64"/>
      <p:boldItalic r:id="rId65"/>
    </p:embeddedFont>
    <p:embeddedFont>
      <p:font typeface="Wingdings 3" panose="05040102010807070707" pitchFamily="18" charset="2"/>
      <p:regular r:id="rId66"/>
    </p:embeddedFont>
    <p:embeddedFont>
      <p:font typeface="Wingdings 2" panose="05020102010507070707" pitchFamily="18" charset="2"/>
      <p:regular r:id="rId67"/>
    </p:embeddedFont>
    <p:embeddedFont>
      <p:font typeface="Calibri" panose="020F0502020204030204" pitchFamily="34" charset="0"/>
      <p:regular r:id="rId68"/>
      <p:bold r:id="rId69"/>
      <p:italic r:id="rId70"/>
      <p:boldItalic r:id="rId71"/>
    </p:embeddedFont>
    <p:embeddedFont>
      <p:font typeface="Roboto Condensed" panose="02000000000000000000" pitchFamily="2" charset="0"/>
      <p:regular r:id="rId72"/>
      <p:bold r:id="rId73"/>
      <p:italic r:id="rId74"/>
      <p:boldItalic r:id="rId75"/>
    </p:embeddedFont>
    <p:embeddedFont>
      <p:font typeface="Consolas" panose="020B0609020204030204" pitchFamily="49" charset="0"/>
      <p:regular r:id="rId76"/>
      <p:bold r:id="rId77"/>
      <p:italic r:id="rId78"/>
      <p:boldItalic r:id="rId7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Fjlwhg8kZH4EmJVXzfpPmA==" hashData="njNgKS+YxNbH0DHWftw33qHEzvsgueWNuTBZEQ3pju2MICFvmfn6LuO3AuVoeN2wK6IjbMgQ2YhrWi14RdRTDQ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2827"/>
    <a:srgbClr val="D81A60"/>
    <a:srgbClr val="301B92"/>
    <a:srgbClr val="673BB7"/>
    <a:srgbClr val="607D8B"/>
    <a:srgbClr val="ED524F"/>
    <a:srgbClr val="B71B1C"/>
    <a:srgbClr val="F54337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04" autoAdjust="0"/>
    <p:restoredTop sz="94660"/>
  </p:normalViewPr>
  <p:slideViewPr>
    <p:cSldViewPr snapToGrid="0">
      <p:cViewPr varScale="1">
        <p:scale>
          <a:sx n="83" d="100"/>
          <a:sy n="83" d="100"/>
        </p:scale>
        <p:origin x="73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2.fntdata"/><Relationship Id="rId68" Type="http://schemas.openxmlformats.org/officeDocument/2006/relationships/font" Target="fonts/font7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3.fntdata"/><Relationship Id="rId79" Type="http://schemas.openxmlformats.org/officeDocument/2006/relationships/font" Target="fonts/font18.fntdata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3.fntdata"/><Relationship Id="rId69" Type="http://schemas.openxmlformats.org/officeDocument/2006/relationships/font" Target="fonts/font8.fntdata"/><Relationship Id="rId77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1.fntdata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1.fntdata"/><Relationship Id="rId70" Type="http://schemas.openxmlformats.org/officeDocument/2006/relationships/font" Target="fonts/font9.fntdata"/><Relationship Id="rId75" Type="http://schemas.openxmlformats.org/officeDocument/2006/relationships/font" Target="fonts/font14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4.fntdata"/><Relationship Id="rId73" Type="http://schemas.openxmlformats.org/officeDocument/2006/relationships/font" Target="fonts/font12.fntdata"/><Relationship Id="rId78" Type="http://schemas.openxmlformats.org/officeDocument/2006/relationships/font" Target="fonts/font17.fntdata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5.fntdata"/><Relationship Id="rId7" Type="http://schemas.openxmlformats.org/officeDocument/2006/relationships/slide" Target="slides/slide6.xml"/><Relationship Id="rId71" Type="http://schemas.openxmlformats.org/officeDocument/2006/relationships/font" Target="fonts/font10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3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3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Shruti R. Maniar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IN" dirty="0">
                <a:latin typeface="Roboto Condensed" panose="02000000000000000000" pitchFamily="2" charset="0"/>
              </a:rPr>
              <a:t>2305CS303</a:t>
            </a:r>
            <a:r>
              <a:rPr lang="en-IN" dirty="0"/>
              <a:t>  (PDS) Unit- 2</a:t>
            </a:r>
            <a:endParaRPr lang="en-US" dirty="0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32187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41FBD5D-AB37-4F4E-A127-DAB7A6E35DEA}"/>
              </a:ext>
            </a:extLst>
          </p:cNvPr>
          <p:cNvGrpSpPr/>
          <p:nvPr userDrawn="1"/>
        </p:nvGrpSpPr>
        <p:grpSpPr>
          <a:xfrm>
            <a:off x="10313386" y="5940670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51F16C-249B-E345-B841-8128601D1D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E1CEFF-5022-B343-970D-93BF7837B193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525FD31-DBEE-9A49-8D30-8AA370CD1AC6}"/>
              </a:ext>
            </a:extLst>
          </p:cNvPr>
          <p:cNvGrpSpPr/>
          <p:nvPr userDrawn="1"/>
        </p:nvGrpSpPr>
        <p:grpSpPr>
          <a:xfrm>
            <a:off x="10313386" y="6223181"/>
            <a:ext cx="1649043" cy="501287"/>
            <a:chOff x="10721798" y="852808"/>
            <a:chExt cx="1339023" cy="40704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E2024B0-256A-DE40-97A3-3554EEB4DE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E3F7EC-9A5A-AA4D-ADD8-31449DFF979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#3150713 (PDS)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Overview of Python and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FBF56C4-A1BE-EE44-A786-4A827E0E8E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721" y="318857"/>
            <a:ext cx="2976891" cy="9049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B827F4-CE70-CDC3-45B7-3768C164C10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shruti.maniar@darshan.ac.in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(O) 9727747317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Shruti Maniar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Python for Data Science (</a:t>
            </a:r>
            <a:r>
              <a:rPr lang="en-IN" dirty="0">
                <a:latin typeface="Roboto Condensed" panose="02000000000000000000" pitchFamily="2" charset="0"/>
              </a:rPr>
              <a:t>2305CS303</a:t>
            </a:r>
            <a:r>
              <a:rPr lang="en-IN" dirty="0"/>
              <a:t>)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Unit-02</a:t>
            </a:r>
            <a:r>
              <a:rPr lang="en-US" dirty="0"/>
              <a:t> </a:t>
            </a:r>
            <a:br>
              <a:rPr lang="en-US" dirty="0"/>
            </a:br>
            <a:r>
              <a:rPr lang="en-IN" dirty="0"/>
              <a:t>Data Structure and Function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A161DE45-276D-7849-BC99-BAB0D00EC1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3604457"/>
            <a:ext cx="0" cy="265042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Concept of mutability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Indexing &amp; Slicing of a String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String Methods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String Formatting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List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Tuple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Set 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Dictionary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Creating Function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DOCSTRING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Types of arguments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Calling Function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return statement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lambda expression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Recursion </a:t>
            </a:r>
          </a:p>
        </p:txBody>
      </p:sp>
    </p:spTree>
    <p:extLst>
      <p:ext uri="{BB962C8B-B14F-4D97-AF65-F5344CB8AC3E}">
        <p14:creationId xmlns:p14="http://schemas.microsoft.com/office/powerpoint/2010/main" val="146210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29A6F-0B72-94DA-B3D1-1687D10E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072D88-BED5-3BD3-5256-DBA0359A4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4B3CDF-AEEB-5ABD-CC69-C88EE7811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907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Concept of mutability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 is </a:t>
            </a:r>
            <a:r>
              <a:rPr lang="en-US" dirty="0">
                <a:solidFill>
                  <a:srgbClr val="C00000"/>
                </a:solidFill>
              </a:rPr>
              <a:t>Ordered Sequence of character </a:t>
            </a:r>
            <a:r>
              <a:rPr lang="en-US" dirty="0"/>
              <a:t>such as “</a:t>
            </a:r>
            <a:r>
              <a:rPr lang="en-US" dirty="0" err="1"/>
              <a:t>darshan</a:t>
            </a:r>
            <a:r>
              <a:rPr lang="en-US" dirty="0"/>
              <a:t>”, ‘college’, “</a:t>
            </a:r>
            <a:r>
              <a:rPr lang="en-US" dirty="0" err="1"/>
              <a:t>રાજકોટ</a:t>
            </a:r>
            <a:r>
              <a:rPr lang="en-US" dirty="0"/>
              <a:t>” etc..</a:t>
            </a:r>
          </a:p>
          <a:p>
            <a:r>
              <a:rPr lang="en-US" dirty="0"/>
              <a:t>Strings are </a:t>
            </a:r>
            <a:r>
              <a:rPr lang="en-US" dirty="0">
                <a:solidFill>
                  <a:srgbClr val="C00000"/>
                </a:solidFill>
              </a:rPr>
              <a:t>arrays of characters </a:t>
            </a:r>
            <a:r>
              <a:rPr lang="en-US" dirty="0"/>
              <a:t>representing </a:t>
            </a:r>
            <a:r>
              <a:rPr lang="en-US" dirty="0">
                <a:solidFill>
                  <a:srgbClr val="C00000"/>
                </a:solidFill>
              </a:rPr>
              <a:t>Unicode </a:t>
            </a:r>
            <a:r>
              <a:rPr lang="en-US" dirty="0"/>
              <a:t>characters.</a:t>
            </a:r>
          </a:p>
          <a:p>
            <a:r>
              <a:rPr lang="en-IN" dirty="0"/>
              <a:t>String can be represented as single, double or triple quotes.</a:t>
            </a:r>
          </a:p>
          <a:p>
            <a:pPr fontAlgn="base"/>
            <a:r>
              <a:rPr lang="en-US" dirty="0"/>
              <a:t>String with </a:t>
            </a:r>
            <a:r>
              <a:rPr lang="en-US" dirty="0">
                <a:solidFill>
                  <a:srgbClr val="C00000"/>
                </a:solidFill>
              </a:rPr>
              <a:t>triple</a:t>
            </a:r>
            <a:r>
              <a:rPr lang="en-US" dirty="0"/>
              <a:t> Quotes allows </a:t>
            </a:r>
            <a:r>
              <a:rPr lang="en-US" dirty="0">
                <a:solidFill>
                  <a:srgbClr val="C00000"/>
                </a:solidFill>
              </a:rPr>
              <a:t>multiple</a:t>
            </a:r>
            <a:r>
              <a:rPr lang="en-US" dirty="0"/>
              <a:t> lines.</a:t>
            </a:r>
          </a:p>
          <a:p>
            <a:pPr fontAlgn="base"/>
            <a:r>
              <a:rPr lang="en-IN" dirty="0"/>
              <a:t>String in Python is </a:t>
            </a:r>
            <a:r>
              <a:rPr lang="en-IN" dirty="0">
                <a:solidFill>
                  <a:srgbClr val="C00000"/>
                </a:solidFill>
              </a:rPr>
              <a:t>immutable</a:t>
            </a:r>
            <a:r>
              <a:rPr lang="en-IN" dirty="0"/>
              <a:t>.</a:t>
            </a:r>
            <a:endParaRPr lang="en-US" dirty="0"/>
          </a:p>
          <a:p>
            <a:r>
              <a:rPr lang="en-US" dirty="0"/>
              <a:t>Square brackets can be used to access elements of the string, Ex. “</a:t>
            </a:r>
            <a:r>
              <a:rPr lang="en-US" dirty="0" err="1"/>
              <a:t>Darshan</a:t>
            </a:r>
            <a:r>
              <a:rPr lang="en-US" dirty="0"/>
              <a:t>”[1] = a, characters can also be accessed with reverse index like “</a:t>
            </a:r>
            <a:r>
              <a:rPr lang="en-US" dirty="0" err="1"/>
              <a:t>Darshan</a:t>
            </a:r>
            <a:r>
              <a:rPr lang="en-US" dirty="0"/>
              <a:t>”[-1] = n.</a:t>
            </a:r>
            <a:endParaRPr lang="en-IN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452435" y="4255264"/>
            <a:ext cx="10869686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3200" b="1" dirty="0">
                <a:latin typeface="Consolas" pitchFamily="49" charset="0"/>
                <a:cs typeface="Consolas" panose="020B0609020204030204" pitchFamily="49" charset="0"/>
              </a:rPr>
              <a:t>            x = "  D  a  r  s  h  a  n  "</a:t>
            </a:r>
          </a:p>
          <a:p>
            <a:r>
              <a:rPr lang="en-IN" sz="3200" b="1" dirty="0">
                <a:latin typeface="Consolas" pitchFamily="49" charset="0"/>
                <a:cs typeface="Consolas" panose="020B0609020204030204" pitchFamily="49" charset="0"/>
              </a:rPr>
              <a:t>        index =    0  1  2  3  4  5  6</a:t>
            </a:r>
          </a:p>
          <a:p>
            <a:r>
              <a:rPr lang="en-IN" sz="3200" b="1" dirty="0">
                <a:latin typeface="Consolas" pitchFamily="49" charset="0"/>
                <a:cs typeface="Consolas" panose="020B0609020204030204" pitchFamily="49" charset="0"/>
              </a:rPr>
              <a:t>Reverse index </a:t>
            </a:r>
            <a:r>
              <a:rPr lang="en-IN" sz="3200" b="1">
                <a:latin typeface="Consolas" pitchFamily="49" charset="0"/>
                <a:cs typeface="Consolas" panose="020B0609020204030204" pitchFamily="49" charset="0"/>
              </a:rPr>
              <a:t>=    -7 </a:t>
            </a:r>
            <a:r>
              <a:rPr lang="en-IN" sz="3200" b="1" dirty="0">
                <a:latin typeface="Consolas" pitchFamily="49" charset="0"/>
                <a:cs typeface="Consolas" panose="020B0609020204030204" pitchFamily="49" charset="0"/>
              </a:rPr>
              <a:t>-6 -5 -4 -3 -2 -1 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52435" y="3926080"/>
            <a:ext cx="1551026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String 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uiExpand="1" build="p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Indexing &amp; Slicing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get the </a:t>
            </a:r>
            <a:r>
              <a:rPr lang="en-US" dirty="0">
                <a:solidFill>
                  <a:srgbClr val="C00000"/>
                </a:solidFill>
              </a:rPr>
              <a:t>substring</a:t>
            </a:r>
            <a:r>
              <a:rPr lang="en-US" dirty="0"/>
              <a:t> in python using string slicing, we can specify </a:t>
            </a:r>
            <a:r>
              <a:rPr lang="en-US" dirty="0">
                <a:solidFill>
                  <a:srgbClr val="C00000"/>
                </a:solidFill>
              </a:rPr>
              <a:t>start index, end index and steps </a:t>
            </a:r>
            <a:r>
              <a:rPr lang="en-US" dirty="0"/>
              <a:t>(colon separated) to slice the string.</a:t>
            </a:r>
          </a:p>
          <a:p>
            <a:endParaRPr lang="en-IN" dirty="0"/>
          </a:p>
          <a:p>
            <a:endParaRPr lang="en-IN" dirty="0"/>
          </a:p>
          <a:p>
            <a:pPr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buNone/>
            </a:pPr>
            <a:endParaRPr lang="en-IN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522641" y="1895324"/>
            <a:ext cx="10238491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 institute of engineering and technology,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gujarat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INDIA'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subx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x[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startindex:endindex:steps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566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165339"/>
            <a:ext cx="9679232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 of engineering and technology,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gujarat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 INDIA'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subx1 = x[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subx2 = x[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49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subx3 = x[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subx4 = x[::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subx5 = x[::-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print(subx1)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print(subx2)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print(subx3)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print(subx4)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print(subx5)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165339"/>
            <a:ext cx="499993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83615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strslicedemo.py</a:t>
            </a:r>
          </a:p>
        </p:txBody>
      </p:sp>
      <p:sp>
        <p:nvSpPr>
          <p:cNvPr id="17" name="Line Callout 1 16"/>
          <p:cNvSpPr/>
          <p:nvPr/>
        </p:nvSpPr>
        <p:spPr>
          <a:xfrm>
            <a:off x="4665133" y="3525454"/>
            <a:ext cx="5607967" cy="420013"/>
          </a:xfrm>
          <a:prstGeom prst="borderCallout1">
            <a:avLst>
              <a:gd name="adj1" fmla="val 53885"/>
              <a:gd name="adj2" fmla="val -612"/>
              <a:gd name="adj3" fmla="val 299567"/>
              <a:gd name="adj4" fmla="val -38789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5794233" y="2331655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7568"/>
              <a:gd name="adj4" fmla="val -57919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tx1"/>
                </a:solidFill>
              </a:rPr>
              <a:t>endindex</a:t>
            </a:r>
            <a:r>
              <a:rPr lang="en-IN" dirty="0">
                <a:solidFill>
                  <a:schemeClr val="tx1"/>
                </a:solidFill>
              </a:rPr>
              <a:t> will not be included in the substring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3" name="Line Callout 1 12"/>
          <p:cNvSpPr/>
          <p:nvPr/>
        </p:nvSpPr>
        <p:spPr>
          <a:xfrm>
            <a:off x="4682066" y="4016521"/>
            <a:ext cx="5607967" cy="420013"/>
          </a:xfrm>
          <a:prstGeom prst="borderCallout1">
            <a:avLst>
              <a:gd name="adj1" fmla="val 53885"/>
              <a:gd name="adj2" fmla="val -612"/>
              <a:gd name="adj3" fmla="val 247156"/>
              <a:gd name="adj4" fmla="val -3939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8" name="Line Callout 1 17"/>
          <p:cNvSpPr/>
          <p:nvPr/>
        </p:nvSpPr>
        <p:spPr>
          <a:xfrm>
            <a:off x="4682066" y="4524521"/>
            <a:ext cx="5607967" cy="420013"/>
          </a:xfrm>
          <a:prstGeom prst="borderCallout1">
            <a:avLst>
              <a:gd name="adj1" fmla="val 53885"/>
              <a:gd name="adj2" fmla="val -612"/>
              <a:gd name="adj3" fmla="val 180634"/>
              <a:gd name="adj4" fmla="val -3894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INDIA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9" name="Line Callout 1 18"/>
          <p:cNvSpPr/>
          <p:nvPr/>
        </p:nvSpPr>
        <p:spPr>
          <a:xfrm>
            <a:off x="4682066" y="5049454"/>
            <a:ext cx="5607967" cy="420013"/>
          </a:xfrm>
          <a:prstGeom prst="borderCallout1">
            <a:avLst>
              <a:gd name="adj1" fmla="val 53885"/>
              <a:gd name="adj2" fmla="val -612"/>
              <a:gd name="adj3" fmla="val 116128"/>
              <a:gd name="adj4" fmla="val -3909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drhnisiueo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niern</a:t>
            </a:r>
            <a:r>
              <a:rPr lang="en-IN" i="1" dirty="0">
                <a:solidFill>
                  <a:schemeClr val="tx1"/>
                </a:solidFill>
              </a:rPr>
              <a:t> n </a:t>
            </a:r>
            <a:r>
              <a:rPr lang="en-IN" i="1" dirty="0" err="1">
                <a:solidFill>
                  <a:schemeClr val="tx1"/>
                </a:solidFill>
              </a:rPr>
              <a:t>ehooy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akt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uaa,IDA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0" name="Line Callout 1 19"/>
          <p:cNvSpPr/>
          <p:nvPr/>
        </p:nvSpPr>
        <p:spPr>
          <a:xfrm>
            <a:off x="2971800" y="5532054"/>
            <a:ext cx="7318233" cy="420013"/>
          </a:xfrm>
          <a:prstGeom prst="borderCallout1">
            <a:avLst>
              <a:gd name="adj1" fmla="val 53885"/>
              <a:gd name="adj2" fmla="val -612"/>
              <a:gd name="adj3" fmla="val 55654"/>
              <a:gd name="adj4" fmla="val -7189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AIDNI ,</a:t>
            </a:r>
            <a:r>
              <a:rPr lang="en-IN" i="1" dirty="0" err="1">
                <a:solidFill>
                  <a:schemeClr val="tx1"/>
                </a:solidFill>
              </a:rPr>
              <a:t>tarajug</a:t>
            </a:r>
            <a:r>
              <a:rPr lang="en-IN" i="1" dirty="0">
                <a:solidFill>
                  <a:schemeClr val="tx1"/>
                </a:solidFill>
              </a:rPr>
              <a:t> ,</a:t>
            </a:r>
            <a:r>
              <a:rPr lang="en-IN" i="1" dirty="0" err="1">
                <a:solidFill>
                  <a:schemeClr val="tx1"/>
                </a:solidFill>
              </a:rPr>
              <a:t>tokjar</a:t>
            </a:r>
            <a:r>
              <a:rPr lang="en-IN" i="1" dirty="0">
                <a:solidFill>
                  <a:schemeClr val="tx1"/>
                </a:solidFill>
              </a:rPr>
              <a:t> ,</a:t>
            </a:r>
            <a:r>
              <a:rPr lang="en-IN" i="1" dirty="0" err="1">
                <a:solidFill>
                  <a:schemeClr val="tx1"/>
                </a:solidFill>
              </a:rPr>
              <a:t>ygolonhcet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dna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gnireenigne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fo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etutitsni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i="1" dirty="0" err="1">
                <a:solidFill>
                  <a:schemeClr val="tx1"/>
                </a:solidFill>
              </a:rPr>
              <a:t>nahsrad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 animBg="1"/>
      <p:bldP spid="6" grpId="0" animBg="1"/>
      <p:bldP spid="14" grpId="0" build="p" animBg="1"/>
      <p:bldP spid="15" grpId="0" animBg="1"/>
      <p:bldP spid="16" grpId="0" animBg="1"/>
      <p:bldP spid="17" grpId="0" animBg="1"/>
      <p:bldP spid="17" grpId="1" animBg="1"/>
      <p:bldP spid="12" grpId="0" animBg="1"/>
      <p:bldP spid="12" grpId="1" animBg="1"/>
      <p:bldP spid="13" grpId="0" animBg="1"/>
      <p:bldP spid="13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has lots of </a:t>
            </a:r>
            <a:r>
              <a:rPr lang="en-US" dirty="0">
                <a:solidFill>
                  <a:srgbClr val="C00000"/>
                </a:solidFill>
              </a:rPr>
              <a:t>built-in methods </a:t>
            </a:r>
            <a:r>
              <a:rPr lang="en-US" dirty="0"/>
              <a:t>that you can use on strings, we are going to cover some frequently used methods for string like</a:t>
            </a:r>
          </a:p>
          <a:p>
            <a:pPr lvl="1"/>
            <a:r>
              <a:rPr lang="en-IN" b="1" dirty="0" err="1">
                <a:solidFill>
                  <a:srgbClr val="C00000"/>
                </a:solidFill>
              </a:rPr>
              <a:t>len</a:t>
            </a:r>
            <a:r>
              <a:rPr lang="en-IN" b="1" dirty="0">
                <a:solidFill>
                  <a:srgbClr val="C00000"/>
                </a:solidFill>
              </a:rPr>
              <a:t>()</a:t>
            </a:r>
          </a:p>
          <a:p>
            <a:pPr lvl="1"/>
            <a:r>
              <a:rPr lang="en-IN" dirty="0"/>
              <a:t>count()</a:t>
            </a:r>
          </a:p>
          <a:p>
            <a:pPr lvl="1"/>
            <a:r>
              <a:rPr lang="en-IN" dirty="0"/>
              <a:t>title(), lower(), upper(), </a:t>
            </a:r>
            <a:r>
              <a:rPr lang="en-IN" dirty="0" err="1"/>
              <a:t>casefold</a:t>
            </a:r>
            <a:r>
              <a:rPr lang="en-IN" dirty="0"/>
              <a:t>(), </a:t>
            </a:r>
            <a:r>
              <a:rPr lang="en-IN" dirty="0" err="1"/>
              <a:t>swapcase</a:t>
            </a:r>
            <a:r>
              <a:rPr lang="en-IN" dirty="0"/>
              <a:t>()</a:t>
            </a:r>
          </a:p>
          <a:p>
            <a:pPr lvl="1"/>
            <a:r>
              <a:rPr lang="en-IN" dirty="0" err="1"/>
              <a:t>istitle</a:t>
            </a:r>
            <a:r>
              <a:rPr lang="en-IN" dirty="0"/>
              <a:t>(), </a:t>
            </a:r>
            <a:r>
              <a:rPr lang="en-IN" dirty="0" err="1"/>
              <a:t>islower</a:t>
            </a:r>
            <a:r>
              <a:rPr lang="en-IN" dirty="0"/>
              <a:t>(), </a:t>
            </a:r>
            <a:r>
              <a:rPr lang="en-IN" dirty="0" err="1"/>
              <a:t>isupper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find(), </a:t>
            </a:r>
            <a:r>
              <a:rPr lang="en-IN" dirty="0" err="1"/>
              <a:t>rfind</a:t>
            </a:r>
            <a:r>
              <a:rPr lang="en-IN" dirty="0"/>
              <a:t>(), replace()</a:t>
            </a:r>
          </a:p>
          <a:p>
            <a:pPr lvl="1"/>
            <a:r>
              <a:rPr lang="en-IN" dirty="0"/>
              <a:t>index(), </a:t>
            </a:r>
            <a:r>
              <a:rPr lang="en-IN" dirty="0" err="1"/>
              <a:t>rindex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Methods for validations like</a:t>
            </a:r>
          </a:p>
          <a:p>
            <a:pPr lvl="2"/>
            <a:r>
              <a:rPr lang="en-IN" dirty="0" err="1"/>
              <a:t>isalpha</a:t>
            </a:r>
            <a:r>
              <a:rPr lang="en-IN" dirty="0"/>
              <a:t>(), </a:t>
            </a:r>
            <a:r>
              <a:rPr lang="en-IN" dirty="0" err="1"/>
              <a:t>isalnum</a:t>
            </a:r>
            <a:r>
              <a:rPr lang="en-IN" dirty="0"/>
              <a:t>(), </a:t>
            </a:r>
            <a:r>
              <a:rPr lang="en-IN" dirty="0" err="1"/>
              <a:t>isdigit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strip(), </a:t>
            </a:r>
            <a:r>
              <a:rPr lang="en-IN" dirty="0" err="1"/>
              <a:t>lstrip</a:t>
            </a:r>
            <a:r>
              <a:rPr lang="en-IN" dirty="0"/>
              <a:t>(), </a:t>
            </a:r>
            <a:r>
              <a:rPr lang="en-IN" dirty="0" err="1"/>
              <a:t>rstrip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split()</a:t>
            </a:r>
          </a:p>
          <a:p>
            <a:pPr lvl="1"/>
            <a:r>
              <a:rPr lang="en-IN" dirty="0"/>
              <a:t>Etc..</a:t>
            </a:r>
          </a:p>
          <a:p>
            <a:r>
              <a:rPr lang="en-IN" b="1" dirty="0"/>
              <a:t>Note</a:t>
            </a:r>
            <a:r>
              <a:rPr lang="en-IN" dirty="0"/>
              <a:t> : </a:t>
            </a:r>
            <a:r>
              <a:rPr lang="en-IN" dirty="0" err="1"/>
              <a:t>len</a:t>
            </a:r>
            <a:r>
              <a:rPr lang="en-IN" dirty="0"/>
              <a:t>() is not the method of the string but can be used to get the </a:t>
            </a:r>
            <a:r>
              <a:rPr lang="en-IN" dirty="0">
                <a:solidFill>
                  <a:srgbClr val="C00000"/>
                </a:solidFill>
              </a:rPr>
              <a:t>length of the string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12002" y="6024043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(x))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12009" y="6024043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12009" y="569485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lendemo.py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3346258" y="5828534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89527"/>
              <a:gd name="adj4" fmla="val -1479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7 (length of “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”)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count</a:t>
            </a:r>
            <a:r>
              <a:rPr lang="en-IN" dirty="0"/>
              <a:t>() method will </a:t>
            </a:r>
            <a:r>
              <a:rPr lang="en-US" dirty="0"/>
              <a:t>returns the number of times a </a:t>
            </a:r>
            <a:r>
              <a:rPr lang="en-US" dirty="0">
                <a:solidFill>
                  <a:srgbClr val="C00000"/>
                </a:solidFill>
              </a:rPr>
              <a:t>specified value occurs </a:t>
            </a:r>
            <a:r>
              <a:rPr lang="en-US" dirty="0"/>
              <a:t>in a string.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title</a:t>
            </a:r>
            <a:r>
              <a:rPr lang="en-IN" sz="2400" dirty="0"/>
              <a:t>(), </a:t>
            </a:r>
            <a:r>
              <a:rPr lang="en-IN" sz="2400" b="1" dirty="0"/>
              <a:t>lower</a:t>
            </a:r>
            <a:r>
              <a:rPr lang="en-IN" sz="2400" dirty="0"/>
              <a:t>(), </a:t>
            </a:r>
            <a:r>
              <a:rPr lang="en-IN" sz="2400" b="1" dirty="0"/>
              <a:t>upper</a:t>
            </a:r>
            <a:r>
              <a:rPr lang="en-IN" sz="2400" dirty="0"/>
              <a:t>()</a:t>
            </a:r>
            <a:r>
              <a:rPr lang="en-US" sz="2400" dirty="0"/>
              <a:t> will returns </a:t>
            </a:r>
            <a:r>
              <a:rPr lang="en-US" sz="2400" dirty="0">
                <a:solidFill>
                  <a:srgbClr val="C00000"/>
                </a:solidFill>
              </a:rPr>
              <a:t>capitalized, lower case and upper case </a:t>
            </a:r>
            <a:r>
              <a:rPr lang="en-US" sz="2400" dirty="0"/>
              <a:t>string respectively.</a:t>
            </a:r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598979"/>
            <a:ext cx="8472276" cy="85847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ca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x.count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'a'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print(ca)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59897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26979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countdemo.py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3728366" y="1679695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98649"/>
              <a:gd name="adj4" fmla="val -3343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2 (occurrence of ‘a’ in “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”)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41471" y="3826759"/>
            <a:ext cx="8472276" cy="1846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 = </a:t>
            </a:r>
            <a:r>
              <a:rPr lang="en-US" sz="1600">
                <a:solidFill>
                  <a:srgbClr val="000000"/>
                </a:solidFill>
                <a:latin typeface="Consolas"/>
              </a:rPr>
              <a:t>x.title()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l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x.lower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u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x.upper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print(c)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print(l)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print(u)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41478" y="3826759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41478" y="349757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changecase.py</a:t>
            </a:r>
          </a:p>
        </p:txBody>
      </p:sp>
      <p:sp>
        <p:nvSpPr>
          <p:cNvPr id="11" name="Line Callout 1 10"/>
          <p:cNvSpPr/>
          <p:nvPr/>
        </p:nvSpPr>
        <p:spPr>
          <a:xfrm>
            <a:off x="4723247" y="3917751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204649"/>
              <a:gd name="adj4" fmla="val -590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 Institute, Rajkot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4721535" y="4501666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140236"/>
              <a:gd name="adj4" fmla="val -590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 institute, </a:t>
            </a:r>
            <a:r>
              <a:rPr lang="en-IN" dirty="0" err="1">
                <a:solidFill>
                  <a:schemeClr val="tx1"/>
                </a:solidFill>
              </a:rPr>
              <a:t>rajkot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Line Callout 1 12"/>
          <p:cNvSpPr/>
          <p:nvPr/>
        </p:nvSpPr>
        <p:spPr>
          <a:xfrm>
            <a:off x="4740371" y="5085580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71797"/>
              <a:gd name="adj4" fmla="val -5948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DARSHAN INSTITUTE, RAJKOT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8" grpId="0" build="p" animBg="1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 err="1"/>
              <a:t>istitle</a:t>
            </a:r>
            <a:r>
              <a:rPr lang="en-IN" sz="2400" dirty="0"/>
              <a:t>(), </a:t>
            </a:r>
            <a:r>
              <a:rPr lang="en-IN" sz="2400" b="1" dirty="0" err="1"/>
              <a:t>islower</a:t>
            </a:r>
            <a:r>
              <a:rPr lang="en-IN" sz="2400" dirty="0"/>
              <a:t>(), </a:t>
            </a:r>
            <a:r>
              <a:rPr lang="en-IN" sz="2400" b="1" dirty="0" err="1"/>
              <a:t>isupper</a:t>
            </a:r>
            <a:r>
              <a:rPr lang="en-IN" sz="2400" dirty="0"/>
              <a:t>()</a:t>
            </a:r>
            <a:r>
              <a:rPr lang="en-US" sz="2400" dirty="0"/>
              <a:t> will returns True if the given string is </a:t>
            </a:r>
            <a:r>
              <a:rPr lang="en-US" sz="2400" dirty="0">
                <a:solidFill>
                  <a:srgbClr val="C00000"/>
                </a:solidFill>
              </a:rPr>
              <a:t>capitalized, lower case and upper case</a:t>
            </a:r>
            <a:r>
              <a:rPr lang="en-US" sz="2400" dirty="0"/>
              <a:t> respectively.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strip</a:t>
            </a:r>
            <a:r>
              <a:rPr lang="en-IN" sz="2400" dirty="0"/>
              <a:t>() method will </a:t>
            </a:r>
            <a:r>
              <a:rPr lang="en-US" sz="2400" dirty="0">
                <a:solidFill>
                  <a:srgbClr val="C00000"/>
                </a:solidFill>
              </a:rPr>
              <a:t>remove whitespaces from both</a:t>
            </a:r>
            <a:r>
              <a:rPr lang="en-US" sz="2400" dirty="0"/>
              <a:t> side of the string and returns the string.</a:t>
            </a:r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endParaRPr lang="en-IN" sz="2400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 err="1"/>
              <a:t>rstrip</a:t>
            </a:r>
            <a:r>
              <a:rPr lang="en-IN" sz="2400" dirty="0"/>
              <a:t>() and </a:t>
            </a:r>
            <a:r>
              <a:rPr lang="en-IN" sz="2400" b="1" dirty="0" err="1"/>
              <a:t>lstrip</a:t>
            </a:r>
            <a:r>
              <a:rPr lang="en-IN" sz="2400" dirty="0"/>
              <a:t>() will remove whitespaces from </a:t>
            </a:r>
            <a:r>
              <a:rPr lang="en-IN" sz="2400" dirty="0">
                <a:solidFill>
                  <a:srgbClr val="C00000"/>
                </a:solidFill>
              </a:rPr>
              <a:t>right and left </a:t>
            </a:r>
            <a:r>
              <a:rPr lang="en-IN" sz="2400" dirty="0"/>
              <a:t>side respectively.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05702" y="4771862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    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 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x.strip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print(f)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05709" y="4771862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05709" y="444267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stripdemo.py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3711433" y="4852578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98649"/>
              <a:gd name="adj4" fmla="val -3343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 (without space)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41471" y="1964093"/>
            <a:ext cx="8472276" cy="18466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x.istitle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l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x.islower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u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x.isupper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print(c)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print(l)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print(u)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41478" y="1964093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41478" y="163490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checkcase.py</a:t>
            </a:r>
          </a:p>
        </p:txBody>
      </p:sp>
      <p:sp>
        <p:nvSpPr>
          <p:cNvPr id="11" name="Line Callout 1 10"/>
          <p:cNvSpPr/>
          <p:nvPr/>
        </p:nvSpPr>
        <p:spPr>
          <a:xfrm>
            <a:off x="4723247" y="2055085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204649"/>
              <a:gd name="adj4" fmla="val -590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False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4721535" y="2639000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140236"/>
              <a:gd name="adj4" fmla="val -590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True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3" name="Line Callout 1 12"/>
          <p:cNvSpPr/>
          <p:nvPr/>
        </p:nvSpPr>
        <p:spPr>
          <a:xfrm>
            <a:off x="4740371" y="3222914"/>
            <a:ext cx="4495800" cy="510412"/>
          </a:xfrm>
          <a:prstGeom prst="borderCallout1">
            <a:avLst>
              <a:gd name="adj1" fmla="val 53885"/>
              <a:gd name="adj2" fmla="val -612"/>
              <a:gd name="adj3" fmla="val 71797"/>
              <a:gd name="adj4" fmla="val -5948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False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8" grpId="0" uiExpand="1" build="p" animBg="1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find</a:t>
            </a:r>
            <a:r>
              <a:rPr lang="en-IN" dirty="0"/>
              <a:t>() method will search the string and </a:t>
            </a:r>
            <a:r>
              <a:rPr lang="en-US" dirty="0">
                <a:solidFill>
                  <a:srgbClr val="C00000"/>
                </a:solidFill>
              </a:rPr>
              <a:t>returns the index </a:t>
            </a:r>
            <a:r>
              <a:rPr lang="en-US" dirty="0"/>
              <a:t>at which they find the specified value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 err="1"/>
              <a:t>rfind</a:t>
            </a:r>
            <a:r>
              <a:rPr lang="en-IN" dirty="0"/>
              <a:t>() will search the string and </a:t>
            </a:r>
            <a:r>
              <a:rPr lang="en-US" dirty="0"/>
              <a:t>returns the </a:t>
            </a:r>
            <a:r>
              <a:rPr lang="en-US" dirty="0">
                <a:solidFill>
                  <a:srgbClr val="C00000"/>
                </a:solidFill>
              </a:rPr>
              <a:t>last index</a:t>
            </a:r>
            <a:r>
              <a:rPr lang="en-US" dirty="0"/>
              <a:t> at which they find the specified value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Note</a:t>
            </a:r>
            <a:r>
              <a:rPr lang="en-IN" sz="2400" dirty="0"/>
              <a:t> : </a:t>
            </a:r>
            <a:r>
              <a:rPr lang="en-IN" sz="2400" b="1" dirty="0"/>
              <a:t>find</a:t>
            </a:r>
            <a:r>
              <a:rPr lang="en-IN" sz="2400" dirty="0"/>
              <a:t>() and </a:t>
            </a:r>
            <a:r>
              <a:rPr lang="en-IN" sz="2400" b="1" dirty="0" err="1"/>
              <a:t>rfind</a:t>
            </a:r>
            <a:r>
              <a:rPr lang="en-IN" sz="2400" dirty="0"/>
              <a:t>() will </a:t>
            </a:r>
            <a:r>
              <a:rPr lang="en-IN" sz="2400" b="1" dirty="0"/>
              <a:t>return -1</a:t>
            </a:r>
            <a:r>
              <a:rPr lang="en-IN" sz="2400" dirty="0"/>
              <a:t> if they are unable to find the given string.</a:t>
            </a:r>
          </a:p>
          <a:p>
            <a:pPr marL="265113" lvl="1" indent="-265113">
              <a:spcBef>
                <a:spcPts val="1000"/>
              </a:spcBef>
              <a:buFont typeface="Wingdings 3" panose="05040102010807070707" pitchFamily="18" charset="2"/>
              <a:buChar char=""/>
            </a:pPr>
            <a:r>
              <a:rPr lang="en-IN" sz="2400" b="1" dirty="0"/>
              <a:t>replace</a:t>
            </a:r>
            <a:r>
              <a:rPr lang="en-IN" sz="2400" dirty="0"/>
              <a:t>() will </a:t>
            </a:r>
            <a:r>
              <a:rPr lang="en-US" sz="2400" dirty="0">
                <a:solidFill>
                  <a:srgbClr val="C00000"/>
                </a:solidFill>
              </a:rPr>
              <a:t>replace</a:t>
            </a:r>
            <a:r>
              <a:rPr lang="en-US" sz="2400" dirty="0"/>
              <a:t> str1 with str2 from our string and return the updated string</a:t>
            </a:r>
            <a:endParaRPr lang="en-IN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598979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x.find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print(f)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59897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26979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finddemo.py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794233" y="1688161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8 (occurrence of ‘in’  in x)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27778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x.rfind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print(r)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27778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09859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rfinddemo.py</a:t>
            </a:r>
          </a:p>
        </p:txBody>
      </p:sp>
      <p:sp>
        <p:nvSpPr>
          <p:cNvPr id="17" name="Line Callout 1 16"/>
          <p:cNvSpPr/>
          <p:nvPr/>
        </p:nvSpPr>
        <p:spPr>
          <a:xfrm>
            <a:off x="5794233" y="3516960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27 (last occurrence of ‘in’  in x)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5696863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x.replace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print(r)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568839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535921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replacedemo.py</a:t>
            </a:r>
          </a:p>
        </p:txBody>
      </p:sp>
      <p:sp>
        <p:nvSpPr>
          <p:cNvPr id="21" name="Line Callout 1 20"/>
          <p:cNvSpPr/>
          <p:nvPr/>
        </p:nvSpPr>
        <p:spPr>
          <a:xfrm>
            <a:off x="5794233" y="5786045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“</a:t>
            </a:r>
            <a:r>
              <a:rPr lang="en-IN" dirty="0" err="1">
                <a:solidFill>
                  <a:schemeClr val="tx1"/>
                </a:solidFill>
              </a:rPr>
              <a:t>darshan</a:t>
            </a:r>
            <a:r>
              <a:rPr lang="en-IN" dirty="0">
                <a:solidFill>
                  <a:schemeClr val="tx1"/>
                </a:solidFill>
              </a:rPr>
              <a:t> institute, </a:t>
            </a:r>
            <a:r>
              <a:rPr lang="en-IN" dirty="0" err="1">
                <a:solidFill>
                  <a:schemeClr val="tx1"/>
                </a:solidFill>
              </a:rPr>
              <a:t>rajkot</a:t>
            </a:r>
            <a:r>
              <a:rPr lang="en-IN" dirty="0">
                <a:solidFill>
                  <a:schemeClr val="tx1"/>
                </a:solidFill>
              </a:rPr>
              <a:t>, INDIA”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14" grpId="0" build="p" animBg="1"/>
      <p:bldP spid="15" grpId="0" animBg="1"/>
      <p:bldP spid="16" grpId="0" animBg="1"/>
      <p:bldP spid="17" grpId="0" animBg="1"/>
      <p:bldP spid="17" grpId="1" animBg="1"/>
      <p:bldP spid="18" grpId="0" build="p" animBg="1"/>
      <p:bldP spid="19" grpId="0" animBg="1"/>
      <p:bldP spid="20" grpId="0" animBg="1"/>
      <p:bldP spid="21" grpId="0" animBg="1"/>
      <p:bldP spid="2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index</a:t>
            </a:r>
            <a:r>
              <a:rPr lang="en-IN" dirty="0"/>
              <a:t>() method will search the string and </a:t>
            </a:r>
            <a:r>
              <a:rPr lang="en-US" dirty="0"/>
              <a:t>returns the </a:t>
            </a:r>
            <a:r>
              <a:rPr lang="en-US" dirty="0">
                <a:solidFill>
                  <a:srgbClr val="C00000"/>
                </a:solidFill>
              </a:rPr>
              <a:t>index</a:t>
            </a:r>
            <a:r>
              <a:rPr lang="en-US" dirty="0"/>
              <a:t> at which they find the specified value, but if they are unable to find the string it will raise an exception.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 err="1"/>
              <a:t>rindex</a:t>
            </a:r>
            <a:r>
              <a:rPr lang="en-IN" dirty="0"/>
              <a:t>() will search the string and </a:t>
            </a:r>
            <a:r>
              <a:rPr lang="en-US" dirty="0"/>
              <a:t>returns the </a:t>
            </a:r>
            <a:r>
              <a:rPr lang="en-US" dirty="0">
                <a:solidFill>
                  <a:srgbClr val="C00000"/>
                </a:solidFill>
              </a:rPr>
              <a:t>last index </a:t>
            </a:r>
            <a:r>
              <a:rPr lang="en-US" dirty="0"/>
              <a:t>at which they find the specified value , but if they are unable to find the string it will raise an exception.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Note : </a:t>
            </a:r>
            <a:r>
              <a:rPr lang="en-IN" b="1" dirty="0"/>
              <a:t>find</a:t>
            </a:r>
            <a:r>
              <a:rPr lang="en-IN" dirty="0"/>
              <a:t>() and </a:t>
            </a:r>
            <a:r>
              <a:rPr lang="en-IN" b="1" dirty="0"/>
              <a:t>index</a:t>
            </a:r>
            <a:r>
              <a:rPr lang="en-IN" dirty="0"/>
              <a:t>() are almost same, the only difference is if </a:t>
            </a:r>
            <a:r>
              <a:rPr lang="en-IN" b="1" dirty="0"/>
              <a:t>find</a:t>
            </a:r>
            <a:r>
              <a:rPr lang="en-IN" dirty="0"/>
              <a:t>() is unable to find the string it will </a:t>
            </a:r>
            <a:r>
              <a:rPr lang="en-IN" dirty="0">
                <a:solidFill>
                  <a:srgbClr val="C00000"/>
                </a:solidFill>
              </a:rPr>
              <a:t>return -1 </a:t>
            </a:r>
            <a:r>
              <a:rPr lang="en-IN" dirty="0"/>
              <a:t>and if </a:t>
            </a:r>
            <a:r>
              <a:rPr lang="en-IN" b="1" dirty="0"/>
              <a:t>index</a:t>
            </a:r>
            <a:r>
              <a:rPr lang="en-IN" dirty="0"/>
              <a:t>() is unable to find the </a:t>
            </a:r>
            <a:r>
              <a:rPr lang="en-IN" dirty="0">
                <a:solidFill>
                  <a:srgbClr val="C00000"/>
                </a:solidFill>
              </a:rPr>
              <a:t>string it will raise an exception</a:t>
            </a:r>
            <a:r>
              <a:rPr lang="en-IN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895324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x.index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print(f)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895324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566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indexdemo.py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794233" y="1984506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8 (occurrence of ‘in’  in x)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4139006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institute,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x.rindex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print(r)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413900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80982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rindexdemo.py</a:t>
            </a:r>
          </a:p>
        </p:txBody>
      </p:sp>
      <p:sp>
        <p:nvSpPr>
          <p:cNvPr id="17" name="Line Callout 1 16"/>
          <p:cNvSpPr/>
          <p:nvPr/>
        </p:nvSpPr>
        <p:spPr>
          <a:xfrm>
            <a:off x="5794233" y="4228188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27 (last occurrence of ‘in’  in x)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14" grpId="0" build="p" animBg="1"/>
      <p:bldP spid="15" grpId="0" animBg="1"/>
      <p:bldP spid="16" grpId="0" animBg="1"/>
      <p:bldP spid="17" grpId="0" animBg="1"/>
      <p:bldP spid="1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Methods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isalnum</a:t>
            </a:r>
            <a:r>
              <a:rPr lang="en-IN" dirty="0"/>
              <a:t>() method will </a:t>
            </a:r>
            <a:r>
              <a:rPr lang="en-US" dirty="0"/>
              <a:t>return true if all the characters in the string are </a:t>
            </a:r>
            <a:r>
              <a:rPr lang="en-US" dirty="0">
                <a:solidFill>
                  <a:srgbClr val="C00000"/>
                </a:solidFill>
              </a:rPr>
              <a:t>alphanumeric</a:t>
            </a:r>
            <a:r>
              <a:rPr lang="en-US" dirty="0"/>
              <a:t> (</a:t>
            </a:r>
            <a:r>
              <a:rPr lang="en-US" dirty="0" err="1"/>
              <a:t>i.e</a:t>
            </a:r>
            <a:r>
              <a:rPr lang="en-US" dirty="0"/>
              <a:t> either alphabets or numeric).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 err="1"/>
              <a:t>isalpha</a:t>
            </a:r>
            <a:r>
              <a:rPr lang="en-IN" dirty="0"/>
              <a:t>() and </a:t>
            </a:r>
            <a:r>
              <a:rPr lang="en-IN" b="1" dirty="0"/>
              <a:t>is</a:t>
            </a:r>
            <a:r>
              <a:rPr lang="en-US" b="1" dirty="0"/>
              <a:t>numeric</a:t>
            </a:r>
            <a:r>
              <a:rPr lang="en-IN" dirty="0"/>
              <a:t>() will return true if all the characters in the string are only </a:t>
            </a:r>
            <a:r>
              <a:rPr lang="en-IN" dirty="0">
                <a:solidFill>
                  <a:srgbClr val="C00000"/>
                </a:solidFill>
              </a:rPr>
              <a:t>alphabets and </a:t>
            </a:r>
            <a:r>
              <a:rPr lang="en-US" dirty="0">
                <a:solidFill>
                  <a:srgbClr val="C00000"/>
                </a:solidFill>
              </a:rPr>
              <a:t>numeric respectively.</a:t>
            </a:r>
            <a:endParaRPr lang="en-IN" dirty="0">
              <a:solidFill>
                <a:srgbClr val="C00000"/>
              </a:solidFill>
            </a:endParaRPr>
          </a:p>
          <a:p>
            <a:r>
              <a:rPr lang="en-IN" b="1" dirty="0" err="1"/>
              <a:t>isdecimal</a:t>
            </a:r>
            <a:r>
              <a:rPr lang="en-IN" dirty="0"/>
              <a:t>() will </a:t>
            </a:r>
            <a:r>
              <a:rPr lang="en-US" dirty="0"/>
              <a:t>return true is all the characters in the string are </a:t>
            </a:r>
            <a:r>
              <a:rPr lang="en-US" dirty="0">
                <a:solidFill>
                  <a:srgbClr val="C00000"/>
                </a:solidFill>
              </a:rPr>
              <a:t>decimal</a:t>
            </a:r>
            <a:r>
              <a:rPr lang="en-US" dirty="0"/>
              <a:t>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Note</a:t>
            </a:r>
            <a:r>
              <a:rPr lang="en-IN" dirty="0"/>
              <a:t> : </a:t>
            </a:r>
            <a:r>
              <a:rPr lang="en-IN" b="1" dirty="0" err="1"/>
              <a:t>isnumeric</a:t>
            </a:r>
            <a:r>
              <a:rPr lang="en-IN" dirty="0"/>
              <a:t>() and </a:t>
            </a:r>
            <a:r>
              <a:rPr lang="en-IN" b="1" dirty="0" err="1"/>
              <a:t>isdigit</a:t>
            </a:r>
            <a:r>
              <a:rPr lang="en-IN" dirty="0"/>
              <a:t>() are almost same, you suppose to find the difference as Home work assignment for the string methods.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895324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'darshan123'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x.isalnum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print(f)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895324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566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isalnumdemo.py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794233" y="1984506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True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4587739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'123.5'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r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x.isdecimal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print(r)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458773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25855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isdecimaldemo.py</a:t>
            </a:r>
          </a:p>
        </p:txBody>
      </p:sp>
      <p:sp>
        <p:nvSpPr>
          <p:cNvPr id="17" name="Line Callout 1 16"/>
          <p:cNvSpPr/>
          <p:nvPr/>
        </p:nvSpPr>
        <p:spPr>
          <a:xfrm>
            <a:off x="5794233" y="4676921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00001"/>
              <a:gd name="adj4" fmla="val -8296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False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animBg="1"/>
      <p:bldP spid="7" grpId="1" animBg="1"/>
      <p:bldP spid="14" grpId="0" build="p" animBg="1"/>
      <p:bldP spid="15" grpId="0" animBg="1"/>
      <p:bldP spid="16" grpId="0" animBg="1"/>
      <p:bldP spid="17" grpId="0" animBg="1"/>
      <p:bldP spid="1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str.format</a:t>
            </a:r>
            <a:r>
              <a:rPr lang="en-US" b="1" dirty="0"/>
              <a:t>()</a:t>
            </a:r>
            <a:r>
              <a:rPr lang="en-US" dirty="0"/>
              <a:t> is one of the </a:t>
            </a:r>
            <a:r>
              <a:rPr lang="en-US" i="1" dirty="0"/>
              <a:t>string formatting methods</a:t>
            </a:r>
            <a:r>
              <a:rPr lang="en-US" dirty="0"/>
              <a:t> in Python3, which allows multiple </a:t>
            </a:r>
            <a:r>
              <a:rPr lang="en-US" dirty="0">
                <a:solidFill>
                  <a:srgbClr val="C00000"/>
                </a:solidFill>
              </a:rPr>
              <a:t>substitutions</a:t>
            </a:r>
            <a:r>
              <a:rPr lang="en-US" dirty="0"/>
              <a:t> and value formatting. </a:t>
            </a:r>
          </a:p>
          <a:p>
            <a:r>
              <a:rPr lang="en-US" dirty="0"/>
              <a:t>This method lets us concatenate elements within a string through positional formatting.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specify multiple parameters to the function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2496457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'{} </a:t>
            </a:r>
            <a:r>
              <a:rPr lang="fr-FR" sz="1600" dirty="0" err="1">
                <a:solidFill>
                  <a:srgbClr val="A31515"/>
                </a:solidFill>
                <a:latin typeface="Consolas"/>
              </a:rPr>
              <a:t>institute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, </a:t>
            </a:r>
            <a:r>
              <a:rPr lang="fr-FR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'</a:t>
            </a:r>
            <a:endParaRPr lang="fr-FR" sz="1600" dirty="0">
              <a:solidFill>
                <a:srgbClr val="000000"/>
              </a:solidFill>
              <a:latin typeface="Consolas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nsolas"/>
              </a:rPr>
              <a:t>y = </a:t>
            </a:r>
            <a:r>
              <a:rPr lang="fr-FR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'darshan'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fr-FR" sz="1600" dirty="0" err="1">
                <a:solidFill>
                  <a:srgbClr val="000000"/>
                </a:solidFill>
                <a:latin typeface="Consolas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(y)</a:t>
            </a:r>
          </a:p>
          <a:p>
            <a:r>
              <a:rPr lang="fr-FR" sz="1600" dirty="0" err="1">
                <a:solidFill>
                  <a:srgbClr val="000000"/>
                </a:solidFill>
                <a:latin typeface="Consolas"/>
              </a:rPr>
              <a:t>print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'ABCD'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))</a:t>
            </a:r>
            <a:endParaRPr lang="fr-FR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4964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1672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5794233" y="2585640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30505"/>
              <a:gd name="adj4" fmla="val -714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 institute,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1" name="Line Callout 1 10"/>
          <p:cNvSpPr/>
          <p:nvPr/>
        </p:nvSpPr>
        <p:spPr>
          <a:xfrm>
            <a:off x="5794233" y="3068240"/>
            <a:ext cx="5220900" cy="657093"/>
          </a:xfrm>
          <a:prstGeom prst="borderCallout1">
            <a:avLst>
              <a:gd name="adj1" fmla="val 53885"/>
              <a:gd name="adj2" fmla="val -612"/>
              <a:gd name="adj3" fmla="val 57703"/>
              <a:gd name="adj4" fmla="val -39694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Inline function call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ABCD institute,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4680857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'{} institute, {}'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y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print(y)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'ABCD'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'XYZ'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46808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3516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794233" y="4770040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30505"/>
              <a:gd name="adj4" fmla="val -714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 institute,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6" name="Line Callout 1 15"/>
          <p:cNvSpPr/>
          <p:nvPr/>
        </p:nvSpPr>
        <p:spPr>
          <a:xfrm>
            <a:off x="5794233" y="5252640"/>
            <a:ext cx="5220900" cy="657093"/>
          </a:xfrm>
          <a:prstGeom prst="borderCallout1">
            <a:avLst>
              <a:gd name="adj1" fmla="val 53885"/>
              <a:gd name="adj2" fmla="val -612"/>
              <a:gd name="adj3" fmla="val 56415"/>
              <a:gd name="adj4" fmla="val -26234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Inline function call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ABCD institute, XYZ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build="p" animBg="1"/>
      <p:bldP spid="8" grpId="0" animBg="1"/>
      <p:bldP spid="9" grpId="0" animBg="1"/>
      <p:bldP spid="10" grpId="0" animBg="1"/>
      <p:bldP spid="10" grpId="1" animBg="1"/>
      <p:bldP spid="11" grpId="0" animBg="1"/>
      <p:bldP spid="11" grpId="1" animBg="1"/>
      <p:bldP spid="12" grpId="0" build="p" animBg="1"/>
      <p:bldP spid="13" grpId="0" animBg="1"/>
      <p:bldP spid="14" grpId="0" animBg="1"/>
      <p:bldP spid="15" grpId="0" animBg="1"/>
      <p:bldP spid="15" grpId="1" animBg="1"/>
      <p:bldP spid="16" grpId="0" animBg="1"/>
      <p:bldP spid="16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Formatting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specify the order of parameters in the string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also specify alias within the string to specify the order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We can format the decimal values using format method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'{1} institute, {0}'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y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print(y)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'ABCD'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'XYZ'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794233" y="17305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30505"/>
              <a:gd name="adj4" fmla="val -714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 institute,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6" name="Line Callout 1 15"/>
          <p:cNvSpPr/>
          <p:nvPr/>
        </p:nvSpPr>
        <p:spPr>
          <a:xfrm>
            <a:off x="5794233" y="2213107"/>
            <a:ext cx="5220900" cy="657093"/>
          </a:xfrm>
          <a:prstGeom prst="borderCallout1">
            <a:avLst>
              <a:gd name="adj1" fmla="val 53885"/>
              <a:gd name="adj2" fmla="val -612"/>
              <a:gd name="adj3" fmla="val 55126"/>
              <a:gd name="adj4" fmla="val -2720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Inline function call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XYZ institute, ABCD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842657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'{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collegename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} institute, {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cityname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}'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x.format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collegename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,cityname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842657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5134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20" name="Line Callout 1 19"/>
          <p:cNvSpPr/>
          <p:nvPr/>
        </p:nvSpPr>
        <p:spPr>
          <a:xfrm>
            <a:off x="8071767" y="3940306"/>
            <a:ext cx="3730767" cy="428493"/>
          </a:xfrm>
          <a:prstGeom prst="borderCallout1">
            <a:avLst>
              <a:gd name="adj1" fmla="val 53885"/>
              <a:gd name="adj2" fmla="val -612"/>
              <a:gd name="adj3" fmla="val 73204"/>
              <a:gd name="adj4" fmla="val -1882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 institute,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5239657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000000"/>
                </a:solidFill>
                <a:latin typeface="Consolas"/>
              </a:rPr>
              <a:t>per = (</a:t>
            </a:r>
            <a:r>
              <a:rPr lang="it-IT" sz="1600" dirty="0">
                <a:solidFill>
                  <a:srgbClr val="098658"/>
                </a:solidFill>
                <a:latin typeface="Consolas"/>
              </a:rPr>
              <a:t>438</a:t>
            </a:r>
            <a:r>
              <a:rPr lang="it-IT" sz="1600" dirty="0">
                <a:solidFill>
                  <a:srgbClr val="000000"/>
                </a:solidFill>
                <a:latin typeface="Consolas"/>
              </a:rPr>
              <a:t> / </a:t>
            </a:r>
            <a:r>
              <a:rPr lang="it-IT" sz="1600" dirty="0">
                <a:solidFill>
                  <a:srgbClr val="098658"/>
                </a:solidFill>
                <a:latin typeface="Consolas"/>
              </a:rPr>
              <a:t>500</a:t>
            </a:r>
            <a:r>
              <a:rPr lang="it-IT" sz="1600" dirty="0">
                <a:solidFill>
                  <a:srgbClr val="000000"/>
                </a:solidFill>
                <a:latin typeface="Consolas"/>
              </a:rPr>
              <a:t>) * </a:t>
            </a:r>
            <a:r>
              <a:rPr lang="it-IT" sz="1600" dirty="0">
                <a:solidFill>
                  <a:srgbClr val="098658"/>
                </a:solidFill>
                <a:latin typeface="Consolas"/>
              </a:rPr>
              <a:t>100</a:t>
            </a:r>
            <a:endParaRPr lang="it-IT" sz="1600" dirty="0">
              <a:solidFill>
                <a:srgbClr val="000000"/>
              </a:solidFill>
              <a:latin typeface="Consolas"/>
            </a:endParaRPr>
          </a:p>
          <a:p>
            <a:r>
              <a:rPr lang="it-IT" sz="1600" dirty="0">
                <a:solidFill>
                  <a:srgbClr val="000000"/>
                </a:solidFill>
                <a:latin typeface="Consolas"/>
              </a:rPr>
              <a:t>x = </a:t>
            </a:r>
            <a:r>
              <a:rPr lang="it-IT" sz="1600" dirty="0">
                <a:solidFill>
                  <a:srgbClr val="A31515"/>
                </a:solidFill>
                <a:latin typeface="Consolas"/>
              </a:rPr>
              <a:t>'result = {r</a:t>
            </a:r>
            <a:r>
              <a:rPr lang="it-IT" sz="1600" dirty="0">
                <a:solidFill>
                  <a:srgbClr val="0000FF"/>
                </a:solidFill>
                <a:latin typeface="Consolas"/>
              </a:rPr>
              <a:t>:3.2f</a:t>
            </a:r>
            <a:r>
              <a:rPr lang="it-IT" sz="1600" dirty="0">
                <a:solidFill>
                  <a:srgbClr val="A31515"/>
                </a:solidFill>
                <a:latin typeface="Consolas"/>
              </a:rPr>
              <a:t>} %'</a:t>
            </a:r>
            <a:r>
              <a:rPr lang="it-IT" sz="1600" dirty="0">
                <a:solidFill>
                  <a:srgbClr val="000000"/>
                </a:solidFill>
                <a:latin typeface="Consolas"/>
              </a:rPr>
              <a:t>.format(r=per)</a:t>
            </a:r>
          </a:p>
          <a:p>
            <a:r>
              <a:rPr lang="it-IT" sz="1600" dirty="0">
                <a:solidFill>
                  <a:srgbClr val="000000"/>
                </a:solidFill>
                <a:latin typeface="Consolas"/>
              </a:rPr>
              <a:t>print(x)</a:t>
            </a:r>
            <a:endParaRPr lang="it-IT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5239657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9104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strformat.py</a:t>
            </a:r>
          </a:p>
        </p:txBody>
      </p:sp>
      <p:sp>
        <p:nvSpPr>
          <p:cNvPr id="25" name="Line Callout 1 24"/>
          <p:cNvSpPr/>
          <p:nvPr/>
        </p:nvSpPr>
        <p:spPr>
          <a:xfrm>
            <a:off x="5997433" y="5481239"/>
            <a:ext cx="3730767" cy="428493"/>
          </a:xfrm>
          <a:prstGeom prst="borderCallout1">
            <a:avLst>
              <a:gd name="adj1" fmla="val 53885"/>
              <a:gd name="adj2" fmla="val -612"/>
              <a:gd name="adj3" fmla="val 114698"/>
              <a:gd name="adj4" fmla="val -10642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result = 87.60 %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6" name="Line Callout 1 25"/>
          <p:cNvSpPr/>
          <p:nvPr/>
        </p:nvSpPr>
        <p:spPr>
          <a:xfrm>
            <a:off x="2559967" y="6124704"/>
            <a:ext cx="835167" cy="428493"/>
          </a:xfrm>
          <a:prstGeom prst="borderCallout1">
            <a:avLst>
              <a:gd name="adj1" fmla="val -3417"/>
              <a:gd name="adj2" fmla="val 50077"/>
              <a:gd name="adj3" fmla="val -88821"/>
              <a:gd name="adj4" fmla="val 5753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width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7" name="Line Callout 1 26"/>
          <p:cNvSpPr/>
          <p:nvPr/>
        </p:nvSpPr>
        <p:spPr>
          <a:xfrm>
            <a:off x="3550567" y="6124704"/>
            <a:ext cx="1309300" cy="428493"/>
          </a:xfrm>
          <a:prstGeom prst="borderCallout1">
            <a:avLst>
              <a:gd name="adj1" fmla="val -3417"/>
              <a:gd name="adj2" fmla="val 50077"/>
              <a:gd name="adj3" fmla="val -82893"/>
              <a:gd name="adj4" fmla="val -19669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precision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build="p" animBg="1"/>
      <p:bldP spid="13" grpId="0" animBg="1"/>
      <p:bldP spid="14" grpId="0" animBg="1"/>
      <p:bldP spid="15" grpId="0" animBg="1"/>
      <p:bldP spid="15" grpId="1" animBg="1"/>
      <p:bldP spid="16" grpId="0" animBg="1"/>
      <p:bldP spid="16" grpId="1" animBg="1"/>
      <p:bldP spid="17" grpId="0" build="p" animBg="1"/>
      <p:bldP spid="18" grpId="0" animBg="1"/>
      <p:bldP spid="19" grpId="0" animBg="1"/>
      <p:bldP spid="20" grpId="0" animBg="1"/>
      <p:bldP spid="20" grpId="1" animBg="1"/>
      <p:bldP spid="22" grpId="0" uiExpand="1" build="p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1942C-5A25-2977-D647-89963EE91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4925-F56F-96EF-D9CB-9ACAABAE6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Formatting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02CCE-B881-528A-1DFF-3D70D0587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feature </a:t>
            </a:r>
            <a:r>
              <a:rPr lang="en-US" b="1" dirty="0">
                <a:solidFill>
                  <a:srgbClr val="C00000"/>
                </a:solidFill>
              </a:rPr>
              <a:t>f-string</a:t>
            </a:r>
            <a:r>
              <a:rPr lang="en-US" dirty="0"/>
              <a:t> (formatted string literal) provides easier way for string formatting and interpolation (the process of substituting values of variables into placeholders in a string).</a:t>
            </a:r>
          </a:p>
          <a:p>
            <a:r>
              <a:rPr lang="en-US" dirty="0"/>
              <a:t>We can use </a:t>
            </a:r>
            <a:r>
              <a:rPr lang="en-US" dirty="0" err="1"/>
              <a:t>fstring</a:t>
            </a:r>
            <a:r>
              <a:rPr lang="en-US" dirty="0"/>
              <a:t> to print the values of variables.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use f-string to evaluate expressions.</a:t>
            </a:r>
          </a:p>
          <a:p>
            <a:endParaRPr lang="en-US" sz="1600" dirty="0">
              <a:solidFill>
                <a:srgbClr val="A31515"/>
              </a:solidFill>
              <a:latin typeface="Consola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B2487F-01EA-3DB1-1138-4E2012A326C3}"/>
              </a:ext>
            </a:extLst>
          </p:cNvPr>
          <p:cNvSpPr/>
          <p:nvPr/>
        </p:nvSpPr>
        <p:spPr>
          <a:xfrm>
            <a:off x="1022635" y="2496457"/>
            <a:ext cx="847227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Consolas"/>
              </a:rPr>
              <a:t>x</a:t>
            </a:r>
            <a:r>
              <a:rPr lang="fr-FR" sz="1600" b="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‘Darshan’</a:t>
            </a:r>
          </a:p>
          <a:p>
            <a:r>
              <a:rPr lang="fr-FR" sz="1600" dirty="0">
                <a:solidFill>
                  <a:srgbClr val="000000"/>
                </a:solidFill>
                <a:latin typeface="Consolas"/>
              </a:rPr>
              <a:t>y = 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‘Rajkot’</a:t>
            </a:r>
          </a:p>
          <a:p>
            <a:r>
              <a:rPr lang="fr-FR" sz="1600" dirty="0" err="1">
                <a:solidFill>
                  <a:srgbClr val="000000"/>
                </a:solidFill>
                <a:latin typeface="Consolas"/>
              </a:rPr>
              <a:t>p</a:t>
            </a:r>
            <a:r>
              <a:rPr lang="fr-FR" sz="1600" b="0" dirty="0" err="1">
                <a:solidFill>
                  <a:srgbClr val="000000"/>
                </a:solidFill>
                <a:latin typeface="Consolas"/>
              </a:rPr>
              <a:t>rint</a:t>
            </a:r>
            <a:r>
              <a:rPr lang="fr-FR" sz="1600" b="0" dirty="0">
                <a:solidFill>
                  <a:srgbClr val="000000"/>
                </a:solidFill>
                <a:latin typeface="Consolas"/>
              </a:rPr>
              <a:t>(f</a:t>
            </a:r>
            <a:r>
              <a:rPr lang="en-US" sz="1600" dirty="0">
                <a:latin typeface="Consolas"/>
              </a:rPr>
              <a:t>"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{x} </a:t>
            </a:r>
            <a:r>
              <a:rPr lang="fr-FR" sz="1600" b="0" dirty="0">
                <a:solidFill>
                  <a:srgbClr val="000000"/>
                </a:solidFill>
                <a:latin typeface="Consolas"/>
              </a:rPr>
              <a:t>Institute , </a:t>
            </a:r>
            <a:r>
              <a:rPr lang="fr-FR" sz="1600" dirty="0">
                <a:solidFill>
                  <a:srgbClr val="A31515"/>
                </a:solidFill>
                <a:latin typeface="Consolas"/>
              </a:rPr>
              <a:t>{y}</a:t>
            </a:r>
            <a:r>
              <a:rPr lang="fr-FR" sz="1600" dirty="0">
                <a:latin typeface="Consolas"/>
              </a:rPr>
              <a:t>.</a:t>
            </a:r>
            <a:r>
              <a:rPr lang="en-US" sz="1600" dirty="0">
                <a:latin typeface="Consolas"/>
              </a:rPr>
              <a:t>"</a:t>
            </a:r>
            <a:r>
              <a:rPr lang="fr-FR" sz="1600" dirty="0">
                <a:latin typeface="Consolas"/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120B0B-39B9-AD57-367B-673191A05E36}"/>
              </a:ext>
            </a:extLst>
          </p:cNvPr>
          <p:cNvSpPr/>
          <p:nvPr/>
        </p:nvSpPr>
        <p:spPr>
          <a:xfrm>
            <a:off x="522642" y="2496457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8A6E538B-2464-ACC6-2BA8-3A2149AF0ECB}"/>
              </a:ext>
            </a:extLst>
          </p:cNvPr>
          <p:cNvSpPr/>
          <p:nvPr/>
        </p:nvSpPr>
        <p:spPr>
          <a:xfrm>
            <a:off x="522642" y="21672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fstring.py</a:t>
            </a:r>
          </a:p>
        </p:txBody>
      </p:sp>
      <p:sp>
        <p:nvSpPr>
          <p:cNvPr id="10" name="Line Callout 1 9">
            <a:extLst>
              <a:ext uri="{FF2B5EF4-FFF2-40B4-BE49-F238E27FC236}">
                <a16:creationId xmlns:a16="http://schemas.microsoft.com/office/drawing/2014/main" id="{3D7F4BDA-D3DE-C500-3358-69F28D7B190A}"/>
              </a:ext>
            </a:extLst>
          </p:cNvPr>
          <p:cNvSpPr/>
          <p:nvPr/>
        </p:nvSpPr>
        <p:spPr>
          <a:xfrm>
            <a:off x="6063365" y="2697708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96452"/>
              <a:gd name="adj4" fmla="val -29369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Darshan Institute , Rajkot.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984FFA-7832-71CD-39BF-B4B0DFE3D87F}"/>
              </a:ext>
            </a:extLst>
          </p:cNvPr>
          <p:cNvSpPr/>
          <p:nvPr/>
        </p:nvSpPr>
        <p:spPr>
          <a:xfrm>
            <a:off x="1022635" y="4680857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25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y =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z =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1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print(f</a:t>
            </a:r>
            <a:r>
              <a:rPr lang="en-US" sz="1600" dirty="0">
                <a:latin typeface="Consolas"/>
              </a:rPr>
              <a:t>"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{x}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{y}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-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{z}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600" dirty="0">
                <a:solidFill>
                  <a:srgbClr val="C00000"/>
                </a:solidFill>
                <a:latin typeface="Consolas"/>
              </a:rPr>
              <a:t>{x*y-z}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")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1546E3-5C85-A509-EC36-C2B072D41A10}"/>
              </a:ext>
            </a:extLst>
          </p:cNvPr>
          <p:cNvSpPr/>
          <p:nvPr/>
        </p:nvSpPr>
        <p:spPr>
          <a:xfrm>
            <a:off x="522642" y="46808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B0940702-3C47-23F1-4E0F-21987EB77A2F}"/>
              </a:ext>
            </a:extLst>
          </p:cNvPr>
          <p:cNvSpPr/>
          <p:nvPr/>
        </p:nvSpPr>
        <p:spPr>
          <a:xfrm>
            <a:off x="522642" y="43516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fstring.py</a:t>
            </a:r>
          </a:p>
        </p:txBody>
      </p:sp>
      <p:sp>
        <p:nvSpPr>
          <p:cNvPr id="16" name="Line Callout 1 15">
            <a:extLst>
              <a:ext uri="{FF2B5EF4-FFF2-40B4-BE49-F238E27FC236}">
                <a16:creationId xmlns:a16="http://schemas.microsoft.com/office/drawing/2014/main" id="{862DDE92-07C0-2A66-8424-356EFFCB3A23}"/>
              </a:ext>
            </a:extLst>
          </p:cNvPr>
          <p:cNvSpPr/>
          <p:nvPr/>
        </p:nvSpPr>
        <p:spPr>
          <a:xfrm>
            <a:off x="6526279" y="5100982"/>
            <a:ext cx="5220900" cy="657093"/>
          </a:xfrm>
          <a:prstGeom prst="borderCallout1">
            <a:avLst>
              <a:gd name="adj1" fmla="val 53885"/>
              <a:gd name="adj2" fmla="val -612"/>
              <a:gd name="adj3" fmla="val 69739"/>
              <a:gd name="adj4" fmla="val -2735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i="1" dirty="0">
                <a:solidFill>
                  <a:schemeClr val="tx1"/>
                </a:solidFill>
              </a:rPr>
              <a:t>Output : </a:t>
            </a:r>
            <a:r>
              <a:rPr lang="en-US" altLang="en-US" i="1" dirty="0">
                <a:solidFill>
                  <a:schemeClr val="tx1"/>
                </a:solidFill>
              </a:rPr>
              <a:t>25 * 5 - 1 = 124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10C9F40-490A-A113-9D09-F3CC6B2C2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41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build="p" animBg="1"/>
      <p:bldP spid="8" grpId="0" animBg="1"/>
      <p:bldP spid="9" grpId="0" animBg="1"/>
      <p:bldP spid="10" grpId="0" animBg="1"/>
      <p:bldP spid="12" grpId="0" build="p" animBg="1"/>
      <p:bldP spid="13" grpId="0" animBg="1"/>
      <p:bldP spid="14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DFD4C-F342-C7D6-0B0C-F954E65DF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FA9271-8AC1-332D-6DBC-DAE6ACF5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Structures in Python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779110-7055-6F52-9839-1D30F5C4D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385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four built-in data structures in Python - </a:t>
            </a:r>
            <a:r>
              <a:rPr lang="en-US" i="1" dirty="0"/>
              <a:t>list, dictionary, </a:t>
            </a:r>
            <a:r>
              <a:rPr lang="en-US" i="1" dirty="0" err="1"/>
              <a:t>tuple</a:t>
            </a:r>
            <a:r>
              <a:rPr lang="en-US" i="1" dirty="0"/>
              <a:t> and set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Lets explore all the data structures in detail…</a:t>
            </a:r>
          </a:p>
        </p:txBody>
      </p:sp>
      <p:graphicFrame>
        <p:nvGraphicFramePr>
          <p:cNvPr id="21" name="Content Placeholder 4">
            <a:extLst>
              <a:ext uri="{FF2B5EF4-FFF2-40B4-BE49-F238E27FC236}">
                <a16:creationId xmlns:a16="http://schemas.microsoft.com/office/drawing/2014/main" id="{2486BC6F-42B7-4A1D-889E-1B1818D1D5FB}"/>
              </a:ext>
            </a:extLst>
          </p:cNvPr>
          <p:cNvGraphicFramePr>
            <a:graphicFrameLocks/>
          </p:cNvGraphicFramePr>
          <p:nvPr/>
        </p:nvGraphicFramePr>
        <p:xfrm>
          <a:off x="369291" y="1490045"/>
          <a:ext cx="11413358" cy="32156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354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8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2"/>
                          </a:solidFill>
                        </a:rPr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Sequence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of objects, will be represented with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square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[ ]</a:t>
                      </a:r>
                    </a:p>
                    <a:p>
                      <a:pPr algn="l"/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[ 18,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102.3 ]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Dictionary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2"/>
                          </a:solidFill>
                        </a:rPr>
                        <a:t>dict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key 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: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 value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pair of objects , will be represented with 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</a:rPr>
                        <a:t>curly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US" sz="2000" b="1" baseline="0" dirty="0">
                          <a:solidFill>
                            <a:srgbClr val="FF0000"/>
                          </a:solidFill>
                        </a:rPr>
                        <a:t>{ 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{ “college”: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“code”: “054” }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1900" dirty="0" err="1"/>
                        <a:t>Tuple</a:t>
                      </a:r>
                      <a:endParaRPr lang="en-IN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>
                          <a:solidFill>
                            <a:schemeClr val="tx2"/>
                          </a:solidFill>
                        </a:rPr>
                        <a:t>tup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Ordered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immutable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sequence of objects, will be represented with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round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IN" sz="2000" b="1" baseline="0" dirty="0">
                          <a:solidFill>
                            <a:srgbClr val="FF0000"/>
                          </a:solidFill>
                        </a:rPr>
                        <a:t>( 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( 18,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102.3 )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sz="1900" dirty="0"/>
                        <a:t>Set</a:t>
                      </a:r>
                      <a:endParaRPr lang="en-US" sz="19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solidFill>
                            <a:schemeClr val="tx2"/>
                          </a:solidFill>
                        </a:rPr>
                        <a:t>set</a:t>
                      </a:r>
                      <a:endParaRPr lang="en-US" sz="20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Unordered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collection of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unique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objects, will be represented with the </a:t>
                      </a:r>
                      <a:r>
                        <a:rPr lang="en-IN" sz="2000" b="1" baseline="0" dirty="0">
                          <a:solidFill>
                            <a:schemeClr val="tx1"/>
                          </a:solidFill>
                        </a:rPr>
                        <a:t>curly</a:t>
                      </a:r>
                      <a:r>
                        <a:rPr lang="en-IN" sz="2000" baseline="0" dirty="0">
                          <a:solidFill>
                            <a:schemeClr val="tx1"/>
                          </a:solidFill>
                        </a:rPr>
                        <a:t> brackets </a:t>
                      </a:r>
                      <a:r>
                        <a:rPr lang="en-IN" sz="2000" b="1" baseline="0" dirty="0">
                          <a:solidFill>
                            <a:srgbClr val="FF0000"/>
                          </a:solidFill>
                        </a:rPr>
                        <a:t>{ }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Example : { 18, “</a:t>
                      </a:r>
                      <a:r>
                        <a:rPr lang="en-IN" sz="2000" b="0" baseline="0" dirty="0" err="1">
                          <a:solidFill>
                            <a:schemeClr val="tx1"/>
                          </a:solidFill>
                        </a:rPr>
                        <a:t>darshan</a:t>
                      </a:r>
                      <a:r>
                        <a:rPr lang="en-IN" sz="2000" b="0" baseline="0" dirty="0">
                          <a:solidFill>
                            <a:schemeClr val="tx1"/>
                          </a:solidFill>
                        </a:rPr>
                        <a:t>”,  True, 102.3 }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B63AB-DB96-7443-4A27-B51C94BA1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10F5EA0-78A1-1DA3-DB71-6C9054F04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DD0955-256F-6C2D-D6D2-578CAE003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29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is a </a:t>
            </a:r>
            <a:r>
              <a:rPr lang="en-US" dirty="0">
                <a:solidFill>
                  <a:srgbClr val="C00000"/>
                </a:solidFill>
              </a:rPr>
              <a:t>mutable ordered sequence of objects</a:t>
            </a:r>
            <a:r>
              <a:rPr lang="en-US" dirty="0"/>
              <a:t>, duplicate values are allowed inside list.</a:t>
            </a:r>
          </a:p>
          <a:p>
            <a:r>
              <a:rPr lang="en-US" dirty="0"/>
              <a:t>List will be represented by </a:t>
            </a:r>
            <a:r>
              <a:rPr lang="en-US" dirty="0">
                <a:solidFill>
                  <a:srgbClr val="C00000"/>
                </a:solidFill>
              </a:rPr>
              <a:t>square brackets </a:t>
            </a:r>
            <a:r>
              <a:rPr lang="en-US" dirty="0"/>
              <a:t>[ ].</a:t>
            </a:r>
          </a:p>
          <a:p>
            <a:r>
              <a:rPr lang="en-US" dirty="0"/>
              <a:t>Python does not have array, List can be used similar to Array.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use slicing similar to string in order to get the sub list from the list.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2614991"/>
            <a:ext cx="8472276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 =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b="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b="0" dirty="0">
                <a:solidFill>
                  <a:srgbClr val="000000"/>
                </a:solidFill>
                <a:latin typeface="Consolas"/>
              </a:rPr>
              <a:t>[-1])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614991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28580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list.py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6260060" y="2792675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07614"/>
              <a:gd name="adj4" fmla="val -5721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3 </a:t>
            </a:r>
            <a:r>
              <a:rPr lang="en-IN" dirty="0">
                <a:solidFill>
                  <a:schemeClr val="tx1"/>
                </a:solidFill>
              </a:rPr>
              <a:t>(length of the List)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6260059" y="2319501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64842"/>
              <a:gd name="adj4" fmla="val -6126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institute </a:t>
            </a:r>
            <a:r>
              <a:rPr lang="en-IN" dirty="0">
                <a:solidFill>
                  <a:schemeClr val="tx1"/>
                </a:solidFill>
              </a:rPr>
              <a:t>(List index starts with 0)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6251433" y="3257383"/>
            <a:ext cx="5220900" cy="624504"/>
          </a:xfrm>
          <a:prstGeom prst="borderCallout1">
            <a:avLst>
              <a:gd name="adj1" fmla="val 53885"/>
              <a:gd name="adj2" fmla="val -612"/>
              <a:gd name="adj3" fmla="val 77979"/>
              <a:gd name="adj4" fmla="val -6791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</a:p>
          <a:p>
            <a:pPr algn="ctr"/>
            <a:r>
              <a:rPr lang="en-IN" b="1" i="1" dirty="0">
                <a:solidFill>
                  <a:schemeClr val="tx1"/>
                </a:solidFill>
              </a:rPr>
              <a:t>Note : </a:t>
            </a:r>
            <a:r>
              <a:rPr lang="en-IN" i="1" dirty="0">
                <a:solidFill>
                  <a:schemeClr val="tx1"/>
                </a:solidFill>
              </a:rPr>
              <a:t> spelling of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 is updated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5222724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'gujarat'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'INDIA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5222724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8935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list.py</a:t>
            </a:r>
          </a:p>
        </p:txBody>
      </p:sp>
      <p:sp>
        <p:nvSpPr>
          <p:cNvPr id="13" name="Line Callout 1 12"/>
          <p:cNvSpPr/>
          <p:nvPr/>
        </p:nvSpPr>
        <p:spPr>
          <a:xfrm>
            <a:off x="6251433" y="5616707"/>
            <a:ext cx="5220900" cy="716360"/>
          </a:xfrm>
          <a:prstGeom prst="borderCallout1">
            <a:avLst>
              <a:gd name="adj1" fmla="val 53885"/>
              <a:gd name="adj2" fmla="val -612"/>
              <a:gd name="adj3" fmla="val 13685"/>
              <a:gd name="adj4" fmla="val -5785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['institute',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</a:p>
          <a:p>
            <a:pPr algn="ctr"/>
            <a:r>
              <a:rPr lang="en-IN" b="1" i="1" dirty="0">
                <a:solidFill>
                  <a:schemeClr val="tx1"/>
                </a:solidFill>
              </a:rPr>
              <a:t>Note : </a:t>
            </a:r>
            <a:r>
              <a:rPr lang="en-IN" i="1" dirty="0">
                <a:solidFill>
                  <a:schemeClr val="tx1"/>
                </a:solidFill>
              </a:rPr>
              <a:t> end index not included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Line Callout 1 13"/>
          <p:cNvSpPr/>
          <p:nvPr/>
        </p:nvSpPr>
        <p:spPr>
          <a:xfrm>
            <a:off x="6260060" y="3931362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27086"/>
              <a:gd name="adj4" fmla="val -5920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chemeClr val="tx1"/>
                </a:solidFill>
              </a:rPr>
              <a:t>(-1 represent last element)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build="p" animBg="1"/>
      <p:bldP spid="11" grpId="0" animBg="1"/>
      <p:bldP spid="12" grpId="0" animBg="1"/>
      <p:bldP spid="13" grpId="0" animBg="1"/>
      <p:bldP spid="13" grpId="1" animBg="1"/>
      <p:bldP spid="14" grpId="0" animBg="1"/>
      <p:bldP spid="14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append() method will </a:t>
            </a:r>
            <a:r>
              <a:rPr lang="en-US" dirty="0">
                <a:solidFill>
                  <a:srgbClr val="C00000"/>
                </a:solidFill>
              </a:rPr>
              <a:t>add element </a:t>
            </a:r>
            <a:r>
              <a:rPr lang="en-US" dirty="0"/>
              <a:t>at the end of the list.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insert() method will </a:t>
            </a:r>
            <a:r>
              <a:rPr lang="en-US" dirty="0">
                <a:solidFill>
                  <a:srgbClr val="C00000"/>
                </a:solidFill>
              </a:rPr>
              <a:t>add element </a:t>
            </a:r>
            <a:r>
              <a:rPr lang="en-US" dirty="0"/>
              <a:t>at the </a:t>
            </a:r>
            <a:r>
              <a:rPr lang="en-US" dirty="0">
                <a:solidFill>
                  <a:srgbClr val="C00000"/>
                </a:solidFill>
              </a:rPr>
              <a:t>specified index </a:t>
            </a:r>
            <a:r>
              <a:rPr lang="en-US" dirty="0"/>
              <a:t>in the list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700" dirty="0"/>
          </a:p>
          <a:p>
            <a:r>
              <a:rPr lang="en-US" dirty="0"/>
              <a:t>extend() method will add </a:t>
            </a:r>
            <a:r>
              <a:rPr lang="en-US" dirty="0">
                <a:solidFill>
                  <a:srgbClr val="C00000"/>
                </a:solidFill>
              </a:rPr>
              <a:t>one data structure </a:t>
            </a:r>
            <a:r>
              <a:rPr lang="en-US" dirty="0"/>
              <a:t>(List or any) to current List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my_list.append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gujarat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appendlistdemo.py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980499" y="1942174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90987"/>
              <a:gd name="adj4" fmla="val -6174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gujarat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36257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my_list.insert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my_list.insert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'engineering'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362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107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insertlistdemo.py</a:t>
            </a:r>
          </a:p>
        </p:txBody>
      </p:sp>
      <p:sp>
        <p:nvSpPr>
          <p:cNvPr id="30" name="Line Callout 1 29"/>
          <p:cNvSpPr/>
          <p:nvPr/>
        </p:nvSpPr>
        <p:spPr>
          <a:xfrm>
            <a:off x="5980499" y="37371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50265"/>
              <a:gd name="adj4" fmla="val -6223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'of', 'engineering',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9568" y="5468257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my_list1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my_list2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'gujarat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my_list1.extend(my_list2)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print(my_list1)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9575" y="546825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3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9575" y="5139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extendlistdemo.py</a:t>
            </a:r>
          </a:p>
        </p:txBody>
      </p:sp>
      <p:sp>
        <p:nvSpPr>
          <p:cNvPr id="35" name="Line Callout 1 34"/>
          <p:cNvSpPr/>
          <p:nvPr/>
        </p:nvSpPr>
        <p:spPr>
          <a:xfrm>
            <a:off x="4194033" y="6065440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70147"/>
              <a:gd name="adj4" fmla="val -2463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‘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‘</a:t>
            </a:r>
            <a:r>
              <a:rPr lang="en-IN" i="1" dirty="0" err="1">
                <a:solidFill>
                  <a:schemeClr val="tx1"/>
                </a:solidFill>
              </a:rPr>
              <a:t>gujarat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build="p" animBg="1"/>
      <p:bldP spid="13" grpId="0" animBg="1"/>
      <p:bldP spid="14" grpId="0" animBg="1"/>
      <p:bldP spid="15" grpId="0" animBg="1"/>
      <p:bldP spid="15" grpId="1" animBg="1"/>
      <p:bldP spid="21" grpId="0" build="p" animBg="1"/>
      <p:bldP spid="28" grpId="0" animBg="1"/>
      <p:bldP spid="29" grpId="0" animBg="1"/>
      <p:bldP spid="30" grpId="0" animBg="1"/>
      <p:bldP spid="30" grpId="1" animBg="1"/>
      <p:bldP spid="31" grpId="0" build="p" animBg="1"/>
      <p:bldP spid="32" grpId="0" animBg="1"/>
      <p:bldP spid="33" grpId="0" animBg="1"/>
      <p:bldP spid="35" grpId="0" animBg="1"/>
      <p:bldP spid="35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Methods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pop() method will remove the </a:t>
            </a:r>
            <a:r>
              <a:rPr lang="en-US" dirty="0">
                <a:solidFill>
                  <a:srgbClr val="C00000"/>
                </a:solidFill>
              </a:rPr>
              <a:t>last element </a:t>
            </a:r>
            <a:r>
              <a:rPr lang="en-US" dirty="0"/>
              <a:t>from the list and return it.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remove() method will remove </a:t>
            </a:r>
            <a:r>
              <a:rPr lang="en-US" dirty="0">
                <a:solidFill>
                  <a:srgbClr val="C00000"/>
                </a:solidFill>
              </a:rPr>
              <a:t>first occurrence </a:t>
            </a:r>
            <a:r>
              <a:rPr lang="en-US" dirty="0"/>
              <a:t>of specified element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sz="700" dirty="0"/>
          </a:p>
          <a:p>
            <a:r>
              <a:rPr lang="en-US" dirty="0"/>
              <a:t>clear() method will </a:t>
            </a:r>
            <a:r>
              <a:rPr lang="en-US" dirty="0">
                <a:solidFill>
                  <a:srgbClr val="C00000"/>
                </a:solidFill>
              </a:rPr>
              <a:t>remove all </a:t>
            </a:r>
            <a:r>
              <a:rPr lang="en-US" dirty="0"/>
              <a:t>the elements from the List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index() method will return </a:t>
            </a:r>
            <a:r>
              <a:rPr lang="en-US" dirty="0">
                <a:solidFill>
                  <a:srgbClr val="C00000"/>
                </a:solidFill>
              </a:rPr>
              <a:t>first index </a:t>
            </a:r>
            <a:r>
              <a:rPr lang="en-US" dirty="0"/>
              <a:t>of the specified element.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institute'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temp = my_list.pop()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print(temp)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poplistdemo.py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989126" y="1761019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31251"/>
              <a:gd name="adj4" fmla="val -68687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36257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my_list.remove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36257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107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removelistdemo.py</a:t>
            </a:r>
          </a:p>
        </p:txBody>
      </p:sp>
      <p:sp>
        <p:nvSpPr>
          <p:cNvPr id="30" name="Line Callout 1 29"/>
          <p:cNvSpPr/>
          <p:nvPr/>
        </p:nvSpPr>
        <p:spPr>
          <a:xfrm>
            <a:off x="5980499" y="37371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91882"/>
              <a:gd name="adj4" fmla="val -6223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['institute', 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9568" y="4993805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my_list.clear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9575" y="4993805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3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9575" y="466462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clearlistdemo.py</a:t>
            </a:r>
          </a:p>
        </p:txBody>
      </p:sp>
      <p:sp>
        <p:nvSpPr>
          <p:cNvPr id="34" name="Line Callout 1 33"/>
          <p:cNvSpPr/>
          <p:nvPr/>
        </p:nvSpPr>
        <p:spPr>
          <a:xfrm>
            <a:off x="5997432" y="5294655"/>
            <a:ext cx="3180435" cy="428493"/>
          </a:xfrm>
          <a:prstGeom prst="borderCallout1">
            <a:avLst>
              <a:gd name="adj1" fmla="val 53885"/>
              <a:gd name="adj2" fmla="val -612"/>
              <a:gd name="adj3" fmla="val 82824"/>
              <a:gd name="adj4" fmla="val -10067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6" name="Line Callout 1 15"/>
          <p:cNvSpPr/>
          <p:nvPr/>
        </p:nvSpPr>
        <p:spPr>
          <a:xfrm>
            <a:off x="5989126" y="2244098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74882"/>
              <a:gd name="adj4" fmla="val -620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'institute‘]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build="p" animBg="1"/>
      <p:bldP spid="13" grpId="0" animBg="1"/>
      <p:bldP spid="14" grpId="0" animBg="1"/>
      <p:bldP spid="15" grpId="0" animBg="1"/>
      <p:bldP spid="15" grpId="1" animBg="1"/>
      <p:bldP spid="21" grpId="0" build="p" animBg="1"/>
      <p:bldP spid="28" grpId="0" animBg="1"/>
      <p:bldP spid="29" grpId="0" animBg="1"/>
      <p:bldP spid="30" grpId="0" animBg="1"/>
      <p:bldP spid="30" grpId="1" animBg="1"/>
      <p:bldP spid="31" grpId="0" build="p" animBg="1"/>
      <p:bldP spid="32" grpId="0" animBg="1"/>
      <p:bldP spid="33" grpId="0" animBg="1"/>
      <p:bldP spid="34" grpId="0" animBg="1"/>
      <p:bldP spid="34" grpId="1" animBg="1"/>
      <p:bldP spid="16" grpId="0" animBg="1"/>
      <p:bldP spid="16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Methods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count() method will return the </a:t>
            </a:r>
            <a:r>
              <a:rPr lang="en-US" dirty="0">
                <a:solidFill>
                  <a:srgbClr val="C00000"/>
                </a:solidFill>
              </a:rPr>
              <a:t>number of occurrence </a:t>
            </a:r>
            <a:r>
              <a:rPr lang="en-US" dirty="0"/>
              <a:t>of the specified element.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reverse() method will </a:t>
            </a:r>
            <a:r>
              <a:rPr lang="en-US" dirty="0">
                <a:solidFill>
                  <a:srgbClr val="C00000"/>
                </a:solidFill>
              </a:rPr>
              <a:t>reverse</a:t>
            </a:r>
            <a:r>
              <a:rPr lang="en-US" dirty="0"/>
              <a:t> the elements of the List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sz="700" dirty="0"/>
          </a:p>
          <a:p>
            <a:r>
              <a:rPr lang="en-US" dirty="0"/>
              <a:t>sort() method will </a:t>
            </a:r>
            <a:r>
              <a:rPr lang="en-US" dirty="0">
                <a:solidFill>
                  <a:srgbClr val="C00000"/>
                </a:solidFill>
              </a:rPr>
              <a:t>sort</a:t>
            </a:r>
            <a:r>
              <a:rPr lang="en-US" dirty="0"/>
              <a:t> the elements in the List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c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my_list.count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print(c)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countlistdemo.py</a:t>
            </a:r>
          </a:p>
        </p:txBody>
      </p:sp>
      <p:sp>
        <p:nvSpPr>
          <p:cNvPr id="15" name="Line Callout 1 14"/>
          <p:cNvSpPr/>
          <p:nvPr/>
        </p:nvSpPr>
        <p:spPr>
          <a:xfrm>
            <a:off x="5989126" y="1761019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127225"/>
              <a:gd name="adj4" fmla="val -7414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2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36257"/>
            <a:ext cx="8472276" cy="861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institute'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my_list.reverse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36257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107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reverselistdemo.py</a:t>
            </a:r>
          </a:p>
        </p:txBody>
      </p:sp>
      <p:sp>
        <p:nvSpPr>
          <p:cNvPr id="30" name="Line Callout 1 29"/>
          <p:cNvSpPr/>
          <p:nvPr/>
        </p:nvSpPr>
        <p:spPr>
          <a:xfrm>
            <a:off x="5980499" y="37371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91882"/>
              <a:gd name="adj4" fmla="val -6223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‘</a:t>
            </a:r>
            <a:r>
              <a:rPr lang="en-IN" i="1" dirty="0" err="1">
                <a:solidFill>
                  <a:schemeClr val="tx1"/>
                </a:solidFill>
              </a:rPr>
              <a:t>institute','darshan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9568" y="4993805"/>
            <a:ext cx="847227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college'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'enginnering'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my_list.sort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my_list.sort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(reverse=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True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my_list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9575" y="4993805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3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9575" y="466462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sortlistdemo.py</a:t>
            </a:r>
          </a:p>
        </p:txBody>
      </p:sp>
      <p:sp>
        <p:nvSpPr>
          <p:cNvPr id="34" name="Line Callout 1 33"/>
          <p:cNvSpPr/>
          <p:nvPr/>
        </p:nvSpPr>
        <p:spPr>
          <a:xfrm>
            <a:off x="5997431" y="5294655"/>
            <a:ext cx="5165149" cy="428493"/>
          </a:xfrm>
          <a:prstGeom prst="borderCallout1">
            <a:avLst>
              <a:gd name="adj1" fmla="val 53885"/>
              <a:gd name="adj2" fmla="val -612"/>
              <a:gd name="adj3" fmla="val 84837"/>
              <a:gd name="adj4" fmla="val -6276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['college', 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enginnering</a:t>
            </a:r>
            <a:r>
              <a:rPr lang="en-IN" i="1" dirty="0">
                <a:solidFill>
                  <a:schemeClr val="tx1"/>
                </a:solidFill>
              </a:rPr>
              <a:t>', 'of',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7" name="Line Callout 1 16"/>
          <p:cNvSpPr/>
          <p:nvPr/>
        </p:nvSpPr>
        <p:spPr>
          <a:xfrm>
            <a:off x="5997431" y="5794987"/>
            <a:ext cx="5165149" cy="428493"/>
          </a:xfrm>
          <a:prstGeom prst="borderCallout1">
            <a:avLst>
              <a:gd name="adj1" fmla="val 53885"/>
              <a:gd name="adj2" fmla="val -612"/>
              <a:gd name="adj3" fmla="val 80811"/>
              <a:gd name="adj4" fmla="val -6359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'of', '</a:t>
            </a:r>
            <a:r>
              <a:rPr lang="en-IN" i="1" dirty="0" err="1">
                <a:solidFill>
                  <a:schemeClr val="tx1"/>
                </a:solidFill>
              </a:rPr>
              <a:t>enginnering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'college']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build="p" animBg="1"/>
      <p:bldP spid="13" grpId="0" animBg="1"/>
      <p:bldP spid="14" grpId="0" animBg="1"/>
      <p:bldP spid="15" grpId="0" animBg="1"/>
      <p:bldP spid="15" grpId="1" animBg="1"/>
      <p:bldP spid="21" grpId="0" build="p" animBg="1"/>
      <p:bldP spid="28" grpId="0" animBg="1"/>
      <p:bldP spid="29" grpId="0" animBg="1"/>
      <p:bldP spid="30" grpId="0" animBg="1"/>
      <p:bldP spid="30" grpId="1" animBg="1"/>
      <p:bldP spid="31" grpId="0" build="p" animBg="1"/>
      <p:bldP spid="32" grpId="0" animBg="1"/>
      <p:bldP spid="33" grpId="0" animBg="1"/>
      <p:bldP spid="34" grpId="0" animBg="1"/>
      <p:bldP spid="34" grpId="1" animBg="1"/>
      <p:bldP spid="17" grpId="0" animBg="1"/>
      <p:bldP spid="17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7903-D47C-B749-A7BE-4A2268DFF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List Comprehension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FCF50-7584-A14C-B2F1-0E0B509DF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comprehensions offer a way to </a:t>
            </a:r>
            <a:r>
              <a:rPr lang="en-US" dirty="0">
                <a:solidFill>
                  <a:srgbClr val="C00000"/>
                </a:solidFill>
              </a:rPr>
              <a:t>create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lists</a:t>
            </a:r>
            <a:r>
              <a:rPr lang="en-US" dirty="0"/>
              <a:t> based on </a:t>
            </a:r>
            <a:r>
              <a:rPr lang="en-US" dirty="0">
                <a:solidFill>
                  <a:srgbClr val="C00000"/>
                </a:solidFill>
              </a:rPr>
              <a:t>existing </a:t>
            </a:r>
            <a:r>
              <a:rPr lang="en-US" dirty="0" err="1">
                <a:solidFill>
                  <a:srgbClr val="C00000"/>
                </a:solidFill>
              </a:rPr>
              <a:t>iterable</a:t>
            </a:r>
            <a:r>
              <a:rPr lang="en-US" dirty="0"/>
              <a:t>. When using list comprehensions, lists can be </a:t>
            </a:r>
            <a:r>
              <a:rPr lang="en-US" dirty="0">
                <a:solidFill>
                  <a:srgbClr val="C00000"/>
                </a:solidFill>
              </a:rPr>
              <a:t>built</a:t>
            </a:r>
            <a:r>
              <a:rPr lang="en-US" dirty="0"/>
              <a:t> by using any </a:t>
            </a:r>
            <a:r>
              <a:rPr lang="en-US" dirty="0" err="1">
                <a:solidFill>
                  <a:srgbClr val="C00000"/>
                </a:solidFill>
              </a:rPr>
              <a:t>iterable</a:t>
            </a:r>
            <a:r>
              <a:rPr lang="en-US" dirty="0"/>
              <a:t>, including </a:t>
            </a:r>
            <a:r>
              <a:rPr lang="en-US" dirty="0">
                <a:solidFill>
                  <a:srgbClr val="C00000"/>
                </a:solidFill>
              </a:rPr>
              <a:t>strings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list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tuples</a:t>
            </a:r>
            <a:r>
              <a:rPr lang="en-US" dirty="0"/>
              <a:t>.</a:t>
            </a:r>
            <a:endParaRPr lang="en-IN" dirty="0"/>
          </a:p>
          <a:p>
            <a:r>
              <a:rPr lang="en-US" dirty="0"/>
              <a:t>For example, if we want to create a list of characters from the string, we can use for loop like below example,</a:t>
            </a:r>
            <a:endParaRPr lang="en-IN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2181BE-ED75-C34E-9799-2E45E5B93E34}"/>
              </a:ext>
            </a:extLst>
          </p:cNvPr>
          <p:cNvSpPr/>
          <p:nvPr/>
        </p:nvSpPr>
        <p:spPr>
          <a:xfrm>
            <a:off x="966879" y="3013501"/>
            <a:ext cx="2980653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mystr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BA212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'darshan'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mylist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[]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c </a:t>
            </a:r>
            <a:r>
              <a:rPr lang="en-US" sz="1600" b="1" dirty="0">
                <a:solidFill>
                  <a:srgbClr val="AA22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mystr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: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mylist</a:t>
            </a:r>
            <a:r>
              <a:rPr lang="en-US" sz="1600" dirty="0" err="1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append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(c)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print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mylist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)</a:t>
            </a:r>
            <a:endParaRPr lang="en-IN" sz="1600" dirty="0"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46F95E-42B4-2043-9507-D41CADC01B4C}"/>
              </a:ext>
            </a:extLst>
          </p:cNvPr>
          <p:cNvSpPr/>
          <p:nvPr/>
        </p:nvSpPr>
        <p:spPr>
          <a:xfrm>
            <a:off x="466886" y="3013501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8B08C7D-DD38-0E4B-8283-41F68EEE15C6}"/>
              </a:ext>
            </a:extLst>
          </p:cNvPr>
          <p:cNvSpPr/>
          <p:nvPr/>
        </p:nvSpPr>
        <p:spPr>
          <a:xfrm>
            <a:off x="466886" y="268431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ForLoop.py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C0E1D2-AF07-A844-AC8D-82D457F47448}"/>
              </a:ext>
            </a:extLst>
          </p:cNvPr>
          <p:cNvSpPr/>
          <p:nvPr/>
        </p:nvSpPr>
        <p:spPr>
          <a:xfrm>
            <a:off x="466886" y="4806816"/>
            <a:ext cx="410692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['d', 'a', 'r', 's', 'h', 'a', 'n']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E7496F0F-88D7-F04D-9BE8-F8E170CA079C}"/>
              </a:ext>
            </a:extLst>
          </p:cNvPr>
          <p:cNvSpPr/>
          <p:nvPr/>
        </p:nvSpPr>
        <p:spPr>
          <a:xfrm>
            <a:off x="466886" y="450519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22F795-2948-AE4B-AC36-AC4520601224}"/>
              </a:ext>
            </a:extLst>
          </p:cNvPr>
          <p:cNvSpPr/>
          <p:nvPr/>
        </p:nvSpPr>
        <p:spPr>
          <a:xfrm>
            <a:off x="5096107" y="2550271"/>
            <a:ext cx="6289288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[ expression for item in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iterable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]</a:t>
            </a: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OR</a:t>
            </a:r>
          </a:p>
          <a:p>
            <a:pPr latinLnBrk="1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[ expression for item in 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iterable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if condition ]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C3AA2CF3-FE0A-394A-BCCC-7040519F1EFA}"/>
              </a:ext>
            </a:extLst>
          </p:cNvPr>
          <p:cNvSpPr/>
          <p:nvPr/>
        </p:nvSpPr>
        <p:spPr>
          <a:xfrm>
            <a:off x="5096107" y="223758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5B3260-559D-1940-B76B-E4510377D6F8}"/>
              </a:ext>
            </a:extLst>
          </p:cNvPr>
          <p:cNvSpPr/>
          <p:nvPr/>
        </p:nvSpPr>
        <p:spPr>
          <a:xfrm>
            <a:off x="5573798" y="4023141"/>
            <a:ext cx="4106926" cy="6416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atinLnBrk="1"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[c 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c </a:t>
            </a:r>
            <a:r>
              <a:rPr lang="en-US" sz="1600" b="1" dirty="0">
                <a:solidFill>
                  <a:srgbClr val="AA22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BA212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'darshan'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</a:t>
            </a:r>
            <a:endParaRPr lang="en-IN" sz="1600" dirty="0">
              <a:latin typeface="LM Roman 12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atinLnBrk="1">
              <a:lnSpc>
                <a:spcPct val="115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IN" sz="1600" dirty="0">
              <a:latin typeface="LM Roman 12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2BEDAC-D54A-BA48-A24F-EF875CB014C5}"/>
              </a:ext>
            </a:extLst>
          </p:cNvPr>
          <p:cNvSpPr/>
          <p:nvPr/>
        </p:nvSpPr>
        <p:spPr>
          <a:xfrm>
            <a:off x="5073805" y="4023141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AE35BFE9-3C3E-B44B-B12D-6E25A1881ECD}"/>
              </a:ext>
            </a:extLst>
          </p:cNvPr>
          <p:cNvSpPr/>
          <p:nvPr/>
        </p:nvSpPr>
        <p:spPr>
          <a:xfrm>
            <a:off x="5073805" y="369395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Example1.py</a:t>
            </a:r>
          </a:p>
        </p:txBody>
      </p:sp>
    </p:spTree>
    <p:extLst>
      <p:ext uri="{BB962C8B-B14F-4D97-AF65-F5344CB8AC3E}">
        <p14:creationId xmlns:p14="http://schemas.microsoft.com/office/powerpoint/2010/main" val="224345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uiExpand="1" build="p" animBg="1"/>
      <p:bldP spid="9" grpId="0" animBg="1"/>
      <p:bldP spid="13" grpId="0" build="p" animBg="1"/>
      <p:bldP spid="15" grpId="0" animBg="1"/>
      <p:bldP spid="16" grpId="0" build="p" animBg="1"/>
      <p:bldP spid="17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609B-5896-FD41-8633-E181C241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Comprehension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C8663-615F-3144-8FEE-FA89CB42F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Similarly, we can use list comprehensions in many cases where we want to create a list out of </a:t>
            </a:r>
            <a:r>
              <a:rPr lang="en-US" dirty="0">
                <a:solidFill>
                  <a:srgbClr val="C00000"/>
                </a:solidFill>
              </a:rPr>
              <a:t>other </a:t>
            </a:r>
            <a:r>
              <a:rPr lang="en-US" dirty="0" err="1">
                <a:solidFill>
                  <a:srgbClr val="C00000"/>
                </a:solidFill>
              </a:rPr>
              <a:t>iterable</a:t>
            </a:r>
            <a:r>
              <a:rPr lang="en-US" dirty="0"/>
              <a:t>, let’s see another example of the use of List Comprehension.</a:t>
            </a:r>
            <a:endParaRPr lang="en-IN" dirty="0"/>
          </a:p>
          <a:p>
            <a:pPr lvl="0"/>
            <a:r>
              <a:rPr lang="en-US" dirty="0"/>
              <a:t>Example (Using for loop):</a:t>
            </a:r>
            <a:endParaRPr lang="en-IN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B3FDC6-1B2A-404C-8606-020D1C217545}"/>
              </a:ext>
            </a:extLst>
          </p:cNvPr>
          <p:cNvSpPr/>
          <p:nvPr/>
        </p:nvSpPr>
        <p:spPr>
          <a:xfrm>
            <a:off x="966879" y="2600906"/>
            <a:ext cx="404001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i="1" dirty="0">
                <a:solidFill>
                  <a:srgbClr val="4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#list of square from 1 to 10</a:t>
            </a:r>
            <a:r>
              <a:rPr lang="en-US" altLang="en-US" sz="1100" dirty="0"/>
              <a:t> 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[]</a:t>
            </a:r>
            <a:endParaRPr lang="en-US" altLang="en-US" sz="11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b="1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>
                <a:solidFill>
                  <a:srgbClr val="AA22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range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11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):</a:t>
            </a:r>
            <a:endParaRPr lang="en-US" altLang="en-US" sz="11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 err="1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append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**2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altLang="en-US" sz="11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8387EF-4C81-384D-86F8-5E74D6E6CEA8}"/>
              </a:ext>
            </a:extLst>
          </p:cNvPr>
          <p:cNvSpPr/>
          <p:nvPr/>
        </p:nvSpPr>
        <p:spPr>
          <a:xfrm>
            <a:off x="466886" y="2600906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83BB5533-03B9-0F47-8D36-94B9FB9D97DC}"/>
              </a:ext>
            </a:extLst>
          </p:cNvPr>
          <p:cNvSpPr/>
          <p:nvPr/>
        </p:nvSpPr>
        <p:spPr>
          <a:xfrm>
            <a:off x="466886" y="227172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ForLoop1.py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0DBC3B-B0F1-EC40-B96D-4FEDE1ED2454}"/>
              </a:ext>
            </a:extLst>
          </p:cNvPr>
          <p:cNvSpPr/>
          <p:nvPr/>
        </p:nvSpPr>
        <p:spPr>
          <a:xfrm>
            <a:off x="466886" y="4555155"/>
            <a:ext cx="4841094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[1, 4, 9, 16, 25, 36, 49, 64, 81, 100]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1E66B573-50DE-5C42-B785-B70BFBED77CF}"/>
              </a:ext>
            </a:extLst>
          </p:cNvPr>
          <p:cNvSpPr/>
          <p:nvPr/>
        </p:nvSpPr>
        <p:spPr>
          <a:xfrm>
            <a:off x="466886" y="4253529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C5B5C6-3403-1D41-A754-B9503370094E}"/>
              </a:ext>
            </a:extLst>
          </p:cNvPr>
          <p:cNvSpPr/>
          <p:nvPr/>
        </p:nvSpPr>
        <p:spPr>
          <a:xfrm>
            <a:off x="6730393" y="2600906"/>
            <a:ext cx="4710758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i="1" dirty="0">
                <a:solidFill>
                  <a:srgbClr val="40808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list of square from 1 to 10</a:t>
            </a:r>
            <a:r>
              <a:rPr lang="en-US" altLang="en-US" sz="1100" dirty="0"/>
              <a:t> 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[ 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**2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>
                <a:solidFill>
                  <a:srgbClr val="AA22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range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</a:t>
            </a:r>
            <a:r>
              <a:rPr lang="en-US" altLang="en-US" sz="1600" dirty="0">
                <a:solidFill>
                  <a:srgbClr val="66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11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 ]</a:t>
            </a:r>
            <a:endParaRPr lang="en-US" altLang="en-US" sz="11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altLang="en-US" sz="1600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altLang="en-US" sz="16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mylist</a:t>
            </a:r>
            <a:r>
              <a:rPr lang="en-US" alt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17CA24-15D2-8943-942B-F3B19F563B43}"/>
              </a:ext>
            </a:extLst>
          </p:cNvPr>
          <p:cNvSpPr/>
          <p:nvPr/>
        </p:nvSpPr>
        <p:spPr>
          <a:xfrm>
            <a:off x="6230400" y="260090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45DCA462-BE19-FC4C-B320-1EE219AB42F6}"/>
              </a:ext>
            </a:extLst>
          </p:cNvPr>
          <p:cNvSpPr/>
          <p:nvPr/>
        </p:nvSpPr>
        <p:spPr>
          <a:xfrm>
            <a:off x="6230400" y="2271722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Example2.py</a:t>
            </a:r>
          </a:p>
        </p:txBody>
      </p:sp>
    </p:spTree>
    <p:extLst>
      <p:ext uri="{BB962C8B-B14F-4D97-AF65-F5344CB8AC3E}">
        <p14:creationId xmlns:p14="http://schemas.microsoft.com/office/powerpoint/2010/main" val="130941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15" grpId="0" uiExpand="1" build="p" animBg="1"/>
      <p:bldP spid="16" grpId="0" animBg="1"/>
      <p:bldP spid="17" grpId="0" build="p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Tuple</a:t>
            </a:r>
            <a:r>
              <a:rPr lang="en-US" dirty="0"/>
              <a:t> is a </a:t>
            </a:r>
            <a:r>
              <a:rPr lang="en-US" dirty="0">
                <a:solidFill>
                  <a:srgbClr val="C00000"/>
                </a:solidFill>
              </a:rPr>
              <a:t>immutable ordered sequence of objects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duplicate</a:t>
            </a:r>
            <a:r>
              <a:rPr lang="en-US" dirty="0"/>
              <a:t> values are allowed inside list.</a:t>
            </a:r>
          </a:p>
          <a:p>
            <a:r>
              <a:rPr lang="en-US" dirty="0" err="1"/>
              <a:t>Tuple</a:t>
            </a:r>
            <a:r>
              <a:rPr lang="en-US" dirty="0"/>
              <a:t> will be represented by </a:t>
            </a:r>
            <a:r>
              <a:rPr lang="en-US" dirty="0">
                <a:solidFill>
                  <a:srgbClr val="C00000"/>
                </a:solidFill>
              </a:rPr>
              <a:t>round brackets </a:t>
            </a:r>
            <a:r>
              <a:rPr lang="en-US" dirty="0"/>
              <a:t>( ).</a:t>
            </a:r>
          </a:p>
          <a:p>
            <a:r>
              <a:rPr lang="en-US" dirty="0" err="1"/>
              <a:t>Tuple</a:t>
            </a:r>
            <a:r>
              <a:rPr lang="en-US" dirty="0"/>
              <a:t> is similar to List but List is mutable whereas </a:t>
            </a:r>
            <a:r>
              <a:rPr lang="en-US" dirty="0" err="1"/>
              <a:t>Tuple</a:t>
            </a:r>
            <a:r>
              <a:rPr lang="en-US" dirty="0"/>
              <a:t> is </a:t>
            </a:r>
            <a:r>
              <a:rPr lang="en-US" dirty="0">
                <a:solidFill>
                  <a:srgbClr val="C00000"/>
                </a:solidFill>
              </a:rPr>
              <a:t>immutable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2614991"/>
            <a:ext cx="8472276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'institute'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'engineering'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my_tuple.index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'engineering'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my_tuple.count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'of'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my_tuple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[-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614991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28580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tupledemo.py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6251433" y="3042841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59298"/>
              <a:gd name="adj4" fmla="val -2020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3 </a:t>
            </a:r>
            <a:r>
              <a:rPr lang="en-IN" dirty="0">
                <a:solidFill>
                  <a:schemeClr val="tx1"/>
                </a:solidFill>
              </a:rPr>
              <a:t>(index of ‘engineering’)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6251432" y="2517908"/>
            <a:ext cx="5808295" cy="428493"/>
          </a:xfrm>
          <a:prstGeom prst="borderCallout1">
            <a:avLst>
              <a:gd name="adj1" fmla="val 53885"/>
              <a:gd name="adj2" fmla="val -612"/>
              <a:gd name="adj3" fmla="val 122565"/>
              <a:gd name="adj4" fmla="val -5859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('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'institute', 'of', 'engineering', 'of',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Line Callout 1 8"/>
          <p:cNvSpPr/>
          <p:nvPr/>
        </p:nvSpPr>
        <p:spPr>
          <a:xfrm>
            <a:off x="6251433" y="3559307"/>
            <a:ext cx="5220900" cy="434723"/>
          </a:xfrm>
          <a:prstGeom prst="borderCallout1">
            <a:avLst>
              <a:gd name="adj1" fmla="val 53885"/>
              <a:gd name="adj2" fmla="val -612"/>
              <a:gd name="adj3" fmla="val -4757"/>
              <a:gd name="adj4" fmla="val -3883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4" name="Line Callout 1 13"/>
          <p:cNvSpPr/>
          <p:nvPr/>
        </p:nvSpPr>
        <p:spPr>
          <a:xfrm>
            <a:off x="6251433" y="4076892"/>
            <a:ext cx="5220900" cy="434723"/>
          </a:xfrm>
          <a:prstGeom prst="borderCallout1">
            <a:avLst>
              <a:gd name="adj1" fmla="val 53885"/>
              <a:gd name="adj2" fmla="val -612"/>
              <a:gd name="adj3" fmla="val -70241"/>
              <a:gd name="adj4" fmla="val -56510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 animBg="1"/>
      <p:bldP spid="5" grpId="0" animBg="1"/>
      <p:bldP spid="6" grpId="0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4" grpId="0" animBg="1"/>
      <p:bldP spid="14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is </a:t>
            </a:r>
            <a:r>
              <a:rPr lang="en-US" dirty="0">
                <a:solidFill>
                  <a:srgbClr val="C00000"/>
                </a:solidFill>
              </a:rPr>
              <a:t>a unordered collection of unique objects</a:t>
            </a:r>
            <a:r>
              <a:rPr lang="en-US" dirty="0"/>
              <a:t>.</a:t>
            </a:r>
          </a:p>
          <a:p>
            <a:r>
              <a:rPr lang="en-US" dirty="0"/>
              <a:t>Set will be represented by </a:t>
            </a:r>
            <a:r>
              <a:rPr lang="en-US" dirty="0">
                <a:solidFill>
                  <a:srgbClr val="C00000"/>
                </a:solidFill>
              </a:rPr>
              <a:t>curly brackets </a:t>
            </a:r>
            <a:r>
              <a:rPr lang="en-US" dirty="0"/>
              <a:t>{ }.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Set has many in-built methods such as add(), clear(), copy(), pop(), remove() etc.. which are similar to methods we have previously seen.</a:t>
            </a:r>
          </a:p>
          <a:p>
            <a:r>
              <a:rPr lang="en-US" dirty="0"/>
              <a:t>Only difference between Set and List is that Set will have only unique elements and List can have duplicate elements.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2209549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my_set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my_set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2209549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88036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setdemo.py</a:t>
            </a:r>
          </a:p>
        </p:txBody>
      </p:sp>
      <p:sp>
        <p:nvSpPr>
          <p:cNvPr id="8" name="Line Callout 1 7"/>
          <p:cNvSpPr/>
          <p:nvPr/>
        </p:nvSpPr>
        <p:spPr>
          <a:xfrm>
            <a:off x="6035771" y="2267742"/>
            <a:ext cx="5808295" cy="428493"/>
          </a:xfrm>
          <a:prstGeom prst="borderCallout1">
            <a:avLst>
              <a:gd name="adj1" fmla="val 53885"/>
              <a:gd name="adj2" fmla="val -612"/>
              <a:gd name="adj3" fmla="val 88341"/>
              <a:gd name="adj4" fmla="val -5859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{1, 2, 3, 5, 9}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8" grpId="0" animBg="1"/>
      <p:bldP spid="8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Dictionary was </a:t>
            </a:r>
            <a:r>
              <a:rPr lang="en-US" dirty="0">
                <a:solidFill>
                  <a:srgbClr val="C00000"/>
                </a:solidFill>
              </a:rPr>
              <a:t>unordered</a:t>
            </a:r>
            <a:r>
              <a:rPr lang="en-US" dirty="0"/>
              <a:t> collection of </a:t>
            </a:r>
            <a:r>
              <a:rPr lang="en-US" dirty="0">
                <a:solidFill>
                  <a:srgbClr val="C00000"/>
                </a:solidFill>
              </a:rPr>
              <a:t>key-value pair before Python 3.7 but after 3.7 it is ordered.</a:t>
            </a:r>
            <a:endParaRPr lang="en-US" dirty="0"/>
          </a:p>
          <a:p>
            <a:r>
              <a:rPr lang="en-US" dirty="0"/>
              <a:t>Dictionary will be represented by </a:t>
            </a:r>
            <a:r>
              <a:rPr lang="en-US" dirty="0">
                <a:solidFill>
                  <a:srgbClr val="C00000"/>
                </a:solidFill>
              </a:rPr>
              <a:t>curly brackets </a:t>
            </a:r>
            <a:r>
              <a:rPr lang="en-US" dirty="0"/>
              <a:t>{ }. Dictionary is </a:t>
            </a:r>
            <a:r>
              <a:rPr lang="en-US" dirty="0">
                <a:solidFill>
                  <a:srgbClr val="C00000"/>
                </a:solidFill>
              </a:rPr>
              <a:t>mutable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4728462"/>
            <a:ext cx="847227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rajkot"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'type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"engineering"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print(my_dict.get(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4728462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439927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dictdemo.py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406044" y="5190818"/>
            <a:ext cx="5523624" cy="1020201"/>
          </a:xfrm>
          <a:prstGeom prst="borderCallout1">
            <a:avLst>
              <a:gd name="adj1" fmla="val 53885"/>
              <a:gd name="adj2" fmla="val -612"/>
              <a:gd name="adj3" fmla="val 5546"/>
              <a:gd name="adj4" fmla="val -2532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values can be accessed using key inside square brackets as well as using get() method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endParaRPr lang="en-IN" i="1" dirty="0">
              <a:solidFill>
                <a:schemeClr val="tx1"/>
              </a:solidFill>
            </a:endParaRPr>
          </a:p>
          <a:p>
            <a:pPr algn="ctr"/>
            <a:r>
              <a:rPr lang="en-IN" i="1" dirty="0">
                <a:solidFill>
                  <a:schemeClr val="tx1"/>
                </a:solidFill>
              </a:rPr>
              <a:t>            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522641" y="2533680"/>
            <a:ext cx="10238491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'key1'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'value1'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'key2'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'value2'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}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220449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1" name="Line Callout 1 20"/>
          <p:cNvSpPr/>
          <p:nvPr/>
        </p:nvSpPr>
        <p:spPr>
          <a:xfrm>
            <a:off x="946187" y="3237430"/>
            <a:ext cx="2754544" cy="626533"/>
          </a:xfrm>
          <a:prstGeom prst="borderCallout1">
            <a:avLst>
              <a:gd name="adj1" fmla="val 2941"/>
              <a:gd name="adj2" fmla="val 50044"/>
              <a:gd name="adj3" fmla="val -69174"/>
              <a:gd name="adj4" fmla="val 6142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Key value is </a:t>
            </a:r>
            <a:r>
              <a:rPr lang="en-IN" dirty="0" err="1">
                <a:solidFill>
                  <a:schemeClr val="tx1"/>
                </a:solidFill>
              </a:rPr>
              <a:t>seperated</a:t>
            </a:r>
            <a:r>
              <a:rPr lang="en-IN" dirty="0">
                <a:solidFill>
                  <a:schemeClr val="tx1"/>
                </a:solidFill>
              </a:rPr>
              <a:t> by </a:t>
            </a:r>
            <a:r>
              <a:rPr lang="en-IN" b="1" dirty="0">
                <a:solidFill>
                  <a:srgbClr val="FF0000"/>
                </a:solidFill>
              </a:rPr>
              <a:t>: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22" name="Line Callout 1 21"/>
          <p:cNvSpPr/>
          <p:nvPr/>
        </p:nvSpPr>
        <p:spPr>
          <a:xfrm>
            <a:off x="4077575" y="3237430"/>
            <a:ext cx="3306635" cy="626533"/>
          </a:xfrm>
          <a:prstGeom prst="borderCallout1">
            <a:avLst>
              <a:gd name="adj1" fmla="val 2941"/>
              <a:gd name="adj2" fmla="val 50044"/>
              <a:gd name="adj3" fmla="val -60913"/>
              <a:gd name="adj4" fmla="val -1185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Key value pairs is separated by </a:t>
            </a:r>
            <a:r>
              <a:rPr lang="en-IN" b="1" dirty="0">
                <a:solidFill>
                  <a:srgbClr val="FF0000"/>
                </a:solidFill>
              </a:rPr>
              <a:t>,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 animBg="1"/>
      <p:bldP spid="5" grpId="0" animBg="1"/>
      <p:bldP spid="6" grpId="0" animBg="1"/>
      <p:bldP spid="7" grpId="0" animBg="1"/>
      <p:bldP spid="7" grpId="1" animBg="1"/>
      <p:bldP spid="19" grpId="0" uiExpand="1" build="p" animBg="1"/>
      <p:bldP spid="20" grpId="0" animBg="1"/>
      <p:bldP spid="21" grpId="0" animBg="1"/>
      <p:bldP spid="21" grpId="1" animBg="1"/>
      <p:bldP spid="22" grpId="0" animBg="1"/>
      <p:bldP spid="2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keys() method will return list of </a:t>
            </a:r>
            <a:r>
              <a:rPr lang="en-US" dirty="0">
                <a:solidFill>
                  <a:srgbClr val="C00000"/>
                </a:solidFill>
              </a:rPr>
              <a:t>all the keys </a:t>
            </a:r>
            <a:r>
              <a:rPr lang="en-US" dirty="0"/>
              <a:t>associated with the Dictionary.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dirty="0"/>
              <a:t>values() method will return list of </a:t>
            </a:r>
            <a:r>
              <a:rPr lang="en-US" dirty="0">
                <a:solidFill>
                  <a:srgbClr val="C00000"/>
                </a:solidFill>
              </a:rPr>
              <a:t>all the values </a:t>
            </a:r>
            <a:r>
              <a:rPr lang="en-US" dirty="0"/>
              <a:t>associated with the Dictionary.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sz="700" dirty="0"/>
          </a:p>
          <a:p>
            <a:r>
              <a:rPr lang="en-US" dirty="0"/>
              <a:t>items() method will return </a:t>
            </a:r>
            <a:r>
              <a:rPr lang="en-US" dirty="0">
                <a:solidFill>
                  <a:srgbClr val="C00000"/>
                </a:solidFill>
              </a:rPr>
              <a:t>list of </a:t>
            </a:r>
            <a:r>
              <a:rPr lang="en-US" dirty="0" err="1">
                <a:solidFill>
                  <a:srgbClr val="C00000"/>
                </a:solidFill>
              </a:rPr>
              <a:t>tuples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for </a:t>
            </a:r>
            <a:r>
              <a:rPr lang="en-US" dirty="0">
                <a:solidFill>
                  <a:srgbClr val="C00000"/>
                </a:solidFill>
              </a:rPr>
              <a:t>each key value pair </a:t>
            </a:r>
            <a:r>
              <a:rPr lang="en-US" dirty="0"/>
              <a:t>associated with the Dictionary.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1641324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rajkot"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'type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"engineering"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my_dict.keys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1641324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1312140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keydemo.py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2635" y="3436257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rajkot"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'type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"engineering"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my_dict.values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2642" y="3436257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2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22642" y="3107073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valuedemo.py</a:t>
            </a:r>
          </a:p>
        </p:txBody>
      </p:sp>
      <p:sp>
        <p:nvSpPr>
          <p:cNvPr id="30" name="Line Callout 1 29"/>
          <p:cNvSpPr/>
          <p:nvPr/>
        </p:nvSpPr>
        <p:spPr>
          <a:xfrm>
            <a:off x="5980499" y="3737107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33499"/>
              <a:gd name="adj4" fmla="val -4290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', 'engineering']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9568" y="4993805"/>
            <a:ext cx="847227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= {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'college'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'city'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rajkot"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'type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"engineering"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my_dict.items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9575" y="4993805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3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39575" y="466462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itemsdemo.py</a:t>
            </a:r>
          </a:p>
        </p:txBody>
      </p:sp>
      <p:sp>
        <p:nvSpPr>
          <p:cNvPr id="34" name="Line Callout 1 33"/>
          <p:cNvSpPr/>
          <p:nvPr/>
        </p:nvSpPr>
        <p:spPr>
          <a:xfrm>
            <a:off x="5997432" y="5294655"/>
            <a:ext cx="4914983" cy="709330"/>
          </a:xfrm>
          <a:prstGeom prst="borderCallout1">
            <a:avLst>
              <a:gd name="adj1" fmla="val 53885"/>
              <a:gd name="adj2" fmla="val -612"/>
              <a:gd name="adj3" fmla="val 18739"/>
              <a:gd name="adj4" fmla="val -48115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[('college', '</a:t>
            </a:r>
            <a:r>
              <a:rPr lang="en-IN" i="1" dirty="0" err="1">
                <a:solidFill>
                  <a:schemeClr val="tx1"/>
                </a:solidFill>
              </a:rPr>
              <a:t>darshan</a:t>
            </a:r>
            <a:r>
              <a:rPr lang="en-IN" i="1" dirty="0">
                <a:solidFill>
                  <a:schemeClr val="tx1"/>
                </a:solidFill>
              </a:rPr>
              <a:t>'), ('city', '</a:t>
            </a:r>
            <a:r>
              <a:rPr lang="en-IN" i="1" dirty="0" err="1">
                <a:solidFill>
                  <a:schemeClr val="tx1"/>
                </a:solidFill>
              </a:rPr>
              <a:t>rajkot</a:t>
            </a:r>
            <a:r>
              <a:rPr lang="en-IN" i="1" dirty="0">
                <a:solidFill>
                  <a:schemeClr val="tx1"/>
                </a:solidFill>
              </a:rPr>
              <a:t>'), ('type', 'engineering')]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16" name="Line Callout 1 15"/>
          <p:cNvSpPr/>
          <p:nvPr/>
        </p:nvSpPr>
        <p:spPr>
          <a:xfrm>
            <a:off x="5980499" y="2114701"/>
            <a:ext cx="5220900" cy="428493"/>
          </a:xfrm>
          <a:prstGeom prst="borderCallout1">
            <a:avLst>
              <a:gd name="adj1" fmla="val 53885"/>
              <a:gd name="adj2" fmla="val -612"/>
              <a:gd name="adj3" fmla="val -15712"/>
              <a:gd name="adj4" fmla="val -4720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Output : </a:t>
            </a:r>
            <a:r>
              <a:rPr lang="en-IN" i="1" dirty="0">
                <a:solidFill>
                  <a:schemeClr val="tx1"/>
                </a:solidFill>
              </a:rPr>
              <a:t>['college', 'city', 'type']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build="p" animBg="1"/>
      <p:bldP spid="13" grpId="0" animBg="1"/>
      <p:bldP spid="14" grpId="0" animBg="1"/>
      <p:bldP spid="21" grpId="0" build="p" animBg="1"/>
      <p:bldP spid="28" grpId="0" animBg="1"/>
      <p:bldP spid="29" grpId="0" animBg="1"/>
      <p:bldP spid="30" grpId="0" animBg="1"/>
      <p:bldP spid="30" grpId="1" animBg="1"/>
      <p:bldP spid="31" grpId="0" build="p" animBg="1"/>
      <p:bldP spid="32" grpId="0" animBg="1"/>
      <p:bldP spid="33" grpId="0" animBg="1"/>
      <p:bldP spid="34" grpId="0" animBg="1"/>
      <p:bldP spid="34" grpId="1" animBg="1"/>
      <p:bldP spid="16" grpId="0" animBg="1"/>
      <p:bldP spid="16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1C05-4355-BD48-B6E5-6584D541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List vs. Tuple vs. Set vs. Dictionary</a:t>
            </a:r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7CA0CF7-2347-074D-ADAE-8BED1D18B0CB}"/>
              </a:ext>
            </a:extLst>
          </p:cNvPr>
          <p:cNvGraphicFramePr>
            <a:graphicFrameLocks/>
          </p:cNvGraphicFramePr>
          <p:nvPr/>
        </p:nvGraphicFramePr>
        <p:xfrm>
          <a:off x="266658" y="979973"/>
          <a:ext cx="11413357" cy="41300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5657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43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7029">
                  <a:extLst>
                    <a:ext uri="{9D8B030D-6E8A-4147-A177-3AD203B41FA5}">
                      <a16:colId xmlns:a16="http://schemas.microsoft.com/office/drawing/2014/main" val="79124219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List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Tuple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</a:rPr>
                        <a:t>Sets</a:t>
                      </a:r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Dictionaries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Ordered Data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Ordered Data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Unordered Data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Ordered Data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Mutable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immutable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mutable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mutable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Square braces.[]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Parenthesis ()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Curly brackets {}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Curly brackets {key : value}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Duplicate elements allowed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Duplicate elements allowed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 Duplicate elements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 Duplicate key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append()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 cannot be added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add()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update()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8848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We can create a list using the list() function.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We can create a tuple using the tuple() function.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We can create a set using the set()function.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We can create a dictionary using the 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dict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() function.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87269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my_list</a:t>
                      </a: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 [5,6,7,8]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my_tuple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= (5,6,7,8)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my_sets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= {3,4,5,6}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my_dictionaries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 = {"name" : "XYZ", "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rollno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." : "101"}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552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61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Creating </a:t>
            </a:r>
            <a:r>
              <a:rPr lang="en-IN" dirty="0">
                <a:solidFill>
                  <a:srgbClr val="C00000"/>
                </a:solidFill>
              </a:rPr>
              <a:t>clean repeatable code </a:t>
            </a:r>
            <a:r>
              <a:rPr lang="en-IN" dirty="0"/>
              <a:t>is a key part of becoming an effective programmer.</a:t>
            </a:r>
          </a:p>
          <a:p>
            <a:r>
              <a:rPr lang="en-US" dirty="0"/>
              <a:t>A function is a block of code which only </a:t>
            </a:r>
            <a:r>
              <a:rPr lang="en-US" dirty="0">
                <a:solidFill>
                  <a:srgbClr val="C00000"/>
                </a:solidFill>
              </a:rPr>
              <a:t>runs when it is called</a:t>
            </a:r>
            <a:r>
              <a:rPr lang="en-US" dirty="0"/>
              <a:t>.</a:t>
            </a:r>
          </a:p>
          <a:p>
            <a:r>
              <a:rPr lang="en-US" dirty="0"/>
              <a:t>In Python a function is defined using the </a:t>
            </a:r>
            <a:r>
              <a:rPr lang="en-US" dirty="0">
                <a:solidFill>
                  <a:srgbClr val="C00000"/>
                </a:solidFill>
              </a:rPr>
              <a:t>def</a:t>
            </a:r>
            <a:r>
              <a:rPr lang="en-US" dirty="0"/>
              <a:t> keyword: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583716" y="2582681"/>
            <a:ext cx="895213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function_name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#code to execute when function is called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83716" y="2253497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675650" y="218411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95034"/>
              <a:gd name="adj4" fmla="val -58156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ends with </a:t>
            </a:r>
            <a:r>
              <a:rPr lang="en-IN" b="1" dirty="0">
                <a:solidFill>
                  <a:srgbClr val="FF0000"/>
                </a:solidFill>
              </a:rPr>
              <a:t>: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Line Callout 1 7"/>
          <p:cNvSpPr/>
          <p:nvPr/>
        </p:nvSpPr>
        <p:spPr>
          <a:xfrm>
            <a:off x="2245569" y="3199542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-22245"/>
              <a:gd name="adj4" fmla="val -30282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Indentation (tab/whitespace) at the beginning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79186" y="4394787"/>
            <a:ext cx="5649418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seperator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'=============================='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"hello world"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seperator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"from 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 college"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seperator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79193" y="4394787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79193" y="4065603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Functiondemo.py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Line Callout 1 11"/>
          <p:cNvSpPr/>
          <p:nvPr/>
        </p:nvSpPr>
        <p:spPr>
          <a:xfrm>
            <a:off x="7228404" y="3778370"/>
            <a:ext cx="4365497" cy="1811547"/>
          </a:xfrm>
          <a:prstGeom prst="borderCallout1">
            <a:avLst>
              <a:gd name="adj1" fmla="val 53885"/>
              <a:gd name="adj2" fmla="val -612"/>
              <a:gd name="adj3" fmla="val 109646"/>
              <a:gd name="adj4" fmla="val -4966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hello world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==============================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from </a:t>
            </a:r>
            <a:r>
              <a:rPr lang="en-US" dirty="0" err="1">
                <a:solidFill>
                  <a:schemeClr val="tx1"/>
                </a:solidFill>
              </a:rPr>
              <a:t>darshan</a:t>
            </a:r>
            <a:r>
              <a:rPr lang="en-US" dirty="0">
                <a:solidFill>
                  <a:schemeClr val="tx1"/>
                </a:solidFill>
              </a:rPr>
              <a:t> college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==============================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rajkot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 animBg="1"/>
      <p:bldP spid="6" grpId="0" animBg="1"/>
      <p:bldP spid="7" grpId="0" animBg="1"/>
      <p:bldP spid="7" grpId="1" animBg="1"/>
      <p:bldP spid="8" grpId="0" animBg="1"/>
      <p:bldP spid="8" grpId="1" animBg="1"/>
      <p:bldP spid="9" grpId="0" build="p" animBg="1"/>
      <p:bldP spid="10" grpId="0" animBg="1"/>
      <p:bldP spid="11" grpId="0" animBg="1"/>
      <p:bldP spid="12" grpId="0" animBg="1"/>
      <p:bldP spid="12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1D844-36DB-9F42-ABAF-47FD59709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3429F-0D54-7C46-9ED8-1CD650809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kinds of functions in Python.</a:t>
            </a:r>
          </a:p>
          <a:p>
            <a:r>
              <a:rPr lang="en-US" dirty="0">
                <a:solidFill>
                  <a:srgbClr val="C00000"/>
                </a:solidFill>
              </a:rPr>
              <a:t>Built-in Functions : </a:t>
            </a:r>
            <a:r>
              <a:rPr lang="en-US" dirty="0"/>
              <a:t>Functions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that are provided as part of Python - input(), print()...</a:t>
            </a:r>
          </a:p>
          <a:p>
            <a:r>
              <a:rPr lang="en-US" dirty="0">
                <a:solidFill>
                  <a:srgbClr val="C00000"/>
                </a:solidFill>
              </a:rPr>
              <a:t>User Defined Functions : </a:t>
            </a:r>
            <a:r>
              <a:rPr lang="en-US" dirty="0"/>
              <a:t>Functions that we define ourselves and then use.</a:t>
            </a:r>
          </a:p>
          <a:p>
            <a:r>
              <a:rPr lang="en-US" dirty="0"/>
              <a:t>Then we treat the built-in function names as </a:t>
            </a:r>
            <a:r>
              <a:rPr lang="en-US" dirty="0">
                <a:solidFill>
                  <a:srgbClr val="C00000"/>
                </a:solidFill>
              </a:rPr>
              <a:t>"new" reserved </a:t>
            </a:r>
            <a:r>
              <a:rPr lang="en-US" dirty="0"/>
              <a:t>words (i.e. we avoid them as variable names)</a:t>
            </a:r>
          </a:p>
          <a:p>
            <a:r>
              <a:rPr lang="en-US" dirty="0"/>
              <a:t>In Python a function is some </a:t>
            </a:r>
            <a:r>
              <a:rPr lang="en-US" dirty="0">
                <a:solidFill>
                  <a:srgbClr val="C00000"/>
                </a:solidFill>
              </a:rPr>
              <a:t>reusable code </a:t>
            </a:r>
            <a:r>
              <a:rPr lang="en-US" dirty="0"/>
              <a:t>that takes </a:t>
            </a:r>
            <a:r>
              <a:rPr lang="en-US" dirty="0">
                <a:solidFill>
                  <a:srgbClr val="C00000"/>
                </a:solidFill>
              </a:rPr>
              <a:t>arguments(s)</a:t>
            </a:r>
            <a:r>
              <a:rPr lang="en-US" dirty="0"/>
              <a:t> as input, does some computation and </a:t>
            </a:r>
            <a:r>
              <a:rPr lang="en-US" dirty="0">
                <a:solidFill>
                  <a:srgbClr val="C00000"/>
                </a:solidFill>
              </a:rPr>
              <a:t>then returns a result(s)</a:t>
            </a:r>
          </a:p>
          <a:p>
            <a:r>
              <a:rPr lang="en-US" dirty="0"/>
              <a:t>We call/invoke the function by using the function name, parenthesis and arguments in an expression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D26724-DBBF-5A4E-8D4B-6216B8FB911A}"/>
              </a:ext>
            </a:extLst>
          </p:cNvPr>
          <p:cNvSpPr/>
          <p:nvPr/>
        </p:nvSpPr>
        <p:spPr>
          <a:xfrm>
            <a:off x="4773816" y="5409781"/>
            <a:ext cx="1976248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a = max(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90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print(a)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AFB02A-DC1A-3D4E-AFDA-07E237A8836C}"/>
              </a:ext>
            </a:extLst>
          </p:cNvPr>
          <p:cNvSpPr/>
          <p:nvPr/>
        </p:nvSpPr>
        <p:spPr>
          <a:xfrm>
            <a:off x="4273823" y="5409781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AAD17209-3736-D040-AE60-224D505578FC}"/>
              </a:ext>
            </a:extLst>
          </p:cNvPr>
          <p:cNvSpPr/>
          <p:nvPr/>
        </p:nvSpPr>
        <p:spPr>
          <a:xfrm>
            <a:off x="4273823" y="508059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Functiondemo.py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Line Callout 1 15">
            <a:extLst>
              <a:ext uri="{FF2B5EF4-FFF2-40B4-BE49-F238E27FC236}">
                <a16:creationId xmlns:a16="http://schemas.microsoft.com/office/drawing/2014/main" id="{CC3F3C64-2E92-BF41-8723-C12A592B2152}"/>
              </a:ext>
            </a:extLst>
          </p:cNvPr>
          <p:cNvSpPr/>
          <p:nvPr/>
        </p:nvSpPr>
        <p:spPr>
          <a:xfrm>
            <a:off x="8375092" y="4993652"/>
            <a:ext cx="1265387" cy="416129"/>
          </a:xfrm>
          <a:prstGeom prst="borderCallout1">
            <a:avLst>
              <a:gd name="adj1" fmla="val 53885"/>
              <a:gd name="adj2" fmla="val -612"/>
              <a:gd name="adj3" fmla="val 118408"/>
              <a:gd name="adj4" fmla="val -19058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Arguments</a:t>
            </a:r>
          </a:p>
        </p:txBody>
      </p:sp>
      <p:sp>
        <p:nvSpPr>
          <p:cNvPr id="17" name="Line Callout 1 16">
            <a:extLst>
              <a:ext uri="{FF2B5EF4-FFF2-40B4-BE49-F238E27FC236}">
                <a16:creationId xmlns:a16="http://schemas.microsoft.com/office/drawing/2014/main" id="{1ADBEBC2-BDB6-8944-988E-87740C66E255}"/>
              </a:ext>
            </a:extLst>
          </p:cNvPr>
          <p:cNvSpPr/>
          <p:nvPr/>
        </p:nvSpPr>
        <p:spPr>
          <a:xfrm>
            <a:off x="1625102" y="5129496"/>
            <a:ext cx="1557467" cy="416129"/>
          </a:xfrm>
          <a:prstGeom prst="borderCallout1">
            <a:avLst>
              <a:gd name="adj1" fmla="val 51205"/>
              <a:gd name="adj2" fmla="val 100732"/>
              <a:gd name="adj3" fmla="val 102329"/>
              <a:gd name="adj4" fmla="val 22443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Function name</a:t>
            </a:r>
          </a:p>
        </p:txBody>
      </p:sp>
    </p:spTree>
    <p:extLst>
      <p:ext uri="{BB962C8B-B14F-4D97-AF65-F5344CB8AC3E}">
        <p14:creationId xmlns:p14="http://schemas.microsoft.com/office/powerpoint/2010/main" val="92885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 animBg="1"/>
      <p:bldP spid="14" grpId="0" animBg="1"/>
      <p:bldP spid="15" grpId="0" animBg="1"/>
      <p:bldP spid="16" grpId="0" animBg="1"/>
      <p:bldP spid="16" grpId="1" animBg="1"/>
      <p:bldP spid="17" grpId="0" animBg="1"/>
      <p:bldP spid="17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26102-78E5-C54E-8ABD-6D7BA2DA5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F26FE-A373-6145-84C2-7D30F33BB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</a:t>
            </a:r>
            <a:r>
              <a:rPr lang="en-US" dirty="0">
                <a:solidFill>
                  <a:srgbClr val="C00000"/>
                </a:solidFill>
              </a:rPr>
              <a:t>naming scheme</a:t>
            </a:r>
            <a:r>
              <a:rPr lang="en-US" dirty="0"/>
              <a:t>, and use it </a:t>
            </a:r>
            <a:r>
              <a:rPr lang="en-US" dirty="0">
                <a:solidFill>
                  <a:srgbClr val="C00000"/>
                </a:solidFill>
              </a:rPr>
              <a:t>consistently</a:t>
            </a:r>
            <a:r>
              <a:rPr lang="en-US" dirty="0"/>
              <a:t> (camel case syntax).</a:t>
            </a:r>
          </a:p>
          <a:p>
            <a:r>
              <a:rPr lang="en-US" dirty="0"/>
              <a:t>For all names, avoid </a:t>
            </a:r>
            <a:r>
              <a:rPr lang="en-US" dirty="0">
                <a:solidFill>
                  <a:srgbClr val="C00000"/>
                </a:solidFill>
              </a:rPr>
              <a:t>abbreviations</a:t>
            </a:r>
            <a:r>
              <a:rPr lang="en-US" dirty="0"/>
              <a:t>, unless they are both standardized and widely used. </a:t>
            </a:r>
          </a:p>
          <a:p>
            <a:r>
              <a:rPr lang="en-US" dirty="0"/>
              <a:t>The name should describe the </a:t>
            </a:r>
            <a:r>
              <a:rPr lang="en-US" dirty="0">
                <a:solidFill>
                  <a:srgbClr val="C00000"/>
                </a:solidFill>
              </a:rPr>
              <a:t>data’s meaning </a:t>
            </a:r>
            <a:r>
              <a:rPr lang="en-US" dirty="0"/>
              <a:t>rather than its </a:t>
            </a:r>
            <a:r>
              <a:rPr lang="en-US" dirty="0">
                <a:solidFill>
                  <a:srgbClr val="C00000"/>
                </a:solidFill>
              </a:rPr>
              <a:t>type</a:t>
            </a:r>
            <a:r>
              <a:rPr lang="en-US" dirty="0"/>
              <a:t> (e.g., </a:t>
            </a:r>
            <a:r>
              <a:rPr lang="en-US" dirty="0" err="1"/>
              <a:t>amount_due</a:t>
            </a:r>
            <a:r>
              <a:rPr lang="en-US" dirty="0"/>
              <a:t> rather than money), </a:t>
            </a:r>
          </a:p>
          <a:p>
            <a:r>
              <a:rPr lang="en-US" dirty="0"/>
              <a:t>Functions and methods should have names that </a:t>
            </a:r>
            <a:r>
              <a:rPr lang="en-US" dirty="0">
                <a:solidFill>
                  <a:srgbClr val="C00000"/>
                </a:solidFill>
              </a:rPr>
              <a:t>say what they do </a:t>
            </a:r>
            <a:r>
              <a:rPr lang="en-US" dirty="0"/>
              <a:t>or what they return (depending on their emphasis), but never how they do it—since that might change. </a:t>
            </a:r>
          </a:p>
          <a:p>
            <a:r>
              <a:rPr lang="en-IN" dirty="0"/>
              <a:t>All three functions below return the index position of the first occurrence of a name in a list of names, starting from the given starting index and using an algorithm that assumes the list is already sorted.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E4B03-A26A-FC46-936B-AA6C718C608F}"/>
              </a:ext>
            </a:extLst>
          </p:cNvPr>
          <p:cNvSpPr/>
          <p:nvPr/>
        </p:nvSpPr>
        <p:spPr>
          <a:xfrm>
            <a:off x="1012279" y="5163559"/>
            <a:ext cx="7518404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find(l, s,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BAD 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linear_search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(l, s,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BAD 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first_index_of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sorted_name_list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name, start=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 </a:t>
            </a:r>
            <a:r>
              <a:rPr lang="en-IN" sz="1600" dirty="0">
                <a:solidFill>
                  <a:srgbClr val="008000"/>
                </a:solidFill>
                <a:latin typeface="Menlo" panose="020B0609030804020204" pitchFamily="49" charset="0"/>
              </a:rPr>
              <a:t># GOOD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AEAEBD-D882-2B41-9523-9C2AB1C5CBA6}"/>
              </a:ext>
            </a:extLst>
          </p:cNvPr>
          <p:cNvSpPr/>
          <p:nvPr/>
        </p:nvSpPr>
        <p:spPr>
          <a:xfrm>
            <a:off x="512286" y="516355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A92F2A29-3DB0-8E40-80C3-0D33919FFC3A}"/>
              </a:ext>
            </a:extLst>
          </p:cNvPr>
          <p:cNvSpPr/>
          <p:nvPr/>
        </p:nvSpPr>
        <p:spPr>
          <a:xfrm>
            <a:off x="512286" y="4834375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Functiondemo.py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77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  <p:bldP spid="8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Doc string helps us to define the documentation about the function within the function itself.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>
              <a:buNone/>
            </a:pPr>
            <a:endParaRPr lang="en-IN" dirty="0"/>
          </a:p>
          <a:p>
            <a:endParaRPr lang="en-IN" b="1" dirty="0"/>
          </a:p>
          <a:p>
            <a:r>
              <a:rPr lang="en-IN" dirty="0"/>
              <a:t>Unlike conventional source code comments, the docstring should describe what the function does, not how.</a:t>
            </a:r>
          </a:p>
          <a:p>
            <a:r>
              <a:rPr lang="en-IN" dirty="0"/>
              <a:t>The docstrings can be accessed using the __doc__ method of the object or using the help function.</a:t>
            </a:r>
          </a:p>
          <a:p>
            <a:endParaRPr lang="en-IN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33BD42-6377-914D-AD67-7AB7F65EC799}"/>
              </a:ext>
            </a:extLst>
          </p:cNvPr>
          <p:cNvSpPr/>
          <p:nvPr/>
        </p:nvSpPr>
        <p:spPr>
          <a:xfrm>
            <a:off x="583715" y="1651036"/>
            <a:ext cx="5377137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function_name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'''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A31515"/>
                </a:solidFill>
                <a:latin typeface="Consolas"/>
              </a:rPr>
              <a:t>        DOCSTRING: explains the function</a:t>
            </a:r>
          </a:p>
          <a:p>
            <a:r>
              <a:rPr lang="en-IN" sz="1600" dirty="0">
                <a:solidFill>
                  <a:srgbClr val="A31515"/>
                </a:solidFill>
                <a:latin typeface="Consolas"/>
              </a:rPr>
              <a:t>	INPUT: explains input</a:t>
            </a:r>
          </a:p>
          <a:p>
            <a:r>
              <a:rPr lang="en-IN" sz="1600" dirty="0">
                <a:solidFill>
                  <a:srgbClr val="A31515"/>
                </a:solidFill>
                <a:latin typeface="Consolas"/>
              </a:rPr>
              <a:t>	OUTPUT: explains output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A31515"/>
                </a:solidFill>
                <a:latin typeface="Consolas"/>
              </a:rPr>
              <a:t>    '''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#code to execute when function is called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0BD9A95C-320C-4E48-950F-BF49C7998E71}"/>
              </a:ext>
            </a:extLst>
          </p:cNvPr>
          <p:cNvSpPr/>
          <p:nvPr/>
        </p:nvSpPr>
        <p:spPr>
          <a:xfrm>
            <a:off x="583716" y="1321852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0" name="Line Callout 1 19">
            <a:extLst>
              <a:ext uri="{FF2B5EF4-FFF2-40B4-BE49-F238E27FC236}">
                <a16:creationId xmlns:a16="http://schemas.microsoft.com/office/drawing/2014/main" id="{5CB0AFA4-596C-FA45-99FC-B22A3595EE5E}"/>
              </a:ext>
            </a:extLst>
          </p:cNvPr>
          <p:cNvSpPr/>
          <p:nvPr/>
        </p:nvSpPr>
        <p:spPr>
          <a:xfrm>
            <a:off x="5675650" y="1252467"/>
            <a:ext cx="4495800" cy="626533"/>
          </a:xfrm>
          <a:prstGeom prst="borderCallout1">
            <a:avLst>
              <a:gd name="adj1" fmla="val 53885"/>
              <a:gd name="adj2" fmla="val -612"/>
              <a:gd name="adj3" fmla="val 128078"/>
              <a:gd name="adj4" fmla="val -93078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Enclosed within triple quotes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DD3D11-7461-AF44-BA3B-E212C77E9A19}"/>
              </a:ext>
            </a:extLst>
          </p:cNvPr>
          <p:cNvSpPr/>
          <p:nvPr/>
        </p:nvSpPr>
        <p:spPr>
          <a:xfrm>
            <a:off x="1083708" y="5700740"/>
            <a:ext cx="3321024" cy="6155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Function_name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IN" dirty="0">
                <a:latin typeface="Consolas" panose="020B0609020204030204" pitchFamily="49" charset="0"/>
                <a:cs typeface="Consolas" panose="020B0609020204030204" pitchFamily="49" charset="0"/>
              </a:rPr>
              <a:t> __doc__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help(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Function_name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3ACF25-EFAA-FD4B-B02E-7A911997F6DA}"/>
              </a:ext>
            </a:extLst>
          </p:cNvPr>
          <p:cNvSpPr/>
          <p:nvPr/>
        </p:nvSpPr>
        <p:spPr>
          <a:xfrm>
            <a:off x="583715" y="5700740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6B3F7925-1761-B84D-8E39-182CD6641873}"/>
              </a:ext>
            </a:extLst>
          </p:cNvPr>
          <p:cNvSpPr/>
          <p:nvPr/>
        </p:nvSpPr>
        <p:spPr>
          <a:xfrm>
            <a:off x="583715" y="5371556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Help.py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8" grpId="0" build="p" animBg="1"/>
      <p:bldP spid="19" grpId="0" animBg="1"/>
      <p:bldP spid="20" grpId="0" animBg="1"/>
      <p:bldP spid="20" grpId="1" animBg="1"/>
      <p:bldP spid="10" grpId="0" uiExpand="1" build="p" animBg="1"/>
      <p:bldP spid="12" grpId="0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2BC3-73B7-6649-9A0E-6897E7B00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 Types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B29E9C-E58E-F946-8EC2-FA0A59B95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488801"/>
          </a:xfrm>
        </p:spPr>
        <p:txBody>
          <a:bodyPr/>
          <a:lstStyle/>
          <a:p>
            <a:r>
              <a:rPr lang="en-IN" dirty="0"/>
              <a:t>Four kinds of functions can be created in Python: </a:t>
            </a:r>
            <a:r>
              <a:rPr lang="en-IN" dirty="0">
                <a:solidFill>
                  <a:srgbClr val="C00000"/>
                </a:solidFill>
              </a:rPr>
              <a:t>global functions, local functions, lambda functions, and methods</a:t>
            </a:r>
            <a:r>
              <a:rPr lang="en-IN" dirty="0"/>
              <a:t>. </a:t>
            </a:r>
          </a:p>
          <a:p>
            <a:r>
              <a:rPr lang="en-IN" dirty="0">
                <a:solidFill>
                  <a:srgbClr val="C00000"/>
                </a:solidFill>
              </a:rPr>
              <a:t>Global functions</a:t>
            </a:r>
          </a:p>
          <a:p>
            <a:pPr lvl="1"/>
            <a:r>
              <a:rPr lang="en-IN" dirty="0"/>
              <a:t>Global objects (including functions) are </a:t>
            </a:r>
            <a:r>
              <a:rPr lang="en-IN" dirty="0">
                <a:solidFill>
                  <a:srgbClr val="C00000"/>
                </a:solidFill>
              </a:rPr>
              <a:t>accessible to any code in the same module </a:t>
            </a:r>
            <a:r>
              <a:rPr lang="en-IN" dirty="0"/>
              <a:t>(i.e., the same .</a:t>
            </a:r>
            <a:r>
              <a:rPr lang="en-IN" dirty="0" err="1"/>
              <a:t>py</a:t>
            </a:r>
            <a:r>
              <a:rPr lang="en-IN" dirty="0"/>
              <a:t> file) in which the object is created. </a:t>
            </a:r>
          </a:p>
          <a:p>
            <a:r>
              <a:rPr lang="en-IN" dirty="0">
                <a:solidFill>
                  <a:srgbClr val="C00000"/>
                </a:solidFill>
              </a:rPr>
              <a:t>Local functions </a:t>
            </a:r>
          </a:p>
          <a:p>
            <a:pPr lvl="1"/>
            <a:r>
              <a:rPr lang="en-IN" dirty="0"/>
              <a:t>(also called </a:t>
            </a:r>
            <a:r>
              <a:rPr lang="en-IN" dirty="0">
                <a:solidFill>
                  <a:srgbClr val="C00000"/>
                </a:solidFill>
              </a:rPr>
              <a:t>nested functions</a:t>
            </a:r>
            <a:r>
              <a:rPr lang="en-IN" dirty="0"/>
              <a:t>) are functions that are </a:t>
            </a:r>
            <a:r>
              <a:rPr lang="en-IN" dirty="0">
                <a:solidFill>
                  <a:srgbClr val="C00000"/>
                </a:solidFill>
              </a:rPr>
              <a:t>defined inside </a:t>
            </a:r>
            <a:r>
              <a:rPr lang="en-IN" dirty="0"/>
              <a:t>other functions. These functions are visible only to the function where they are defined;</a:t>
            </a:r>
          </a:p>
          <a:p>
            <a:pPr lvl="1"/>
            <a:r>
              <a:rPr lang="en-IN" dirty="0"/>
              <a:t>They are especially useful for </a:t>
            </a:r>
            <a:r>
              <a:rPr lang="en-IN" dirty="0">
                <a:solidFill>
                  <a:srgbClr val="C00000"/>
                </a:solidFill>
              </a:rPr>
              <a:t>creating small helper </a:t>
            </a:r>
            <a:r>
              <a:rPr lang="en-IN" dirty="0"/>
              <a:t>functions that have no use elsewhere. </a:t>
            </a:r>
          </a:p>
          <a:p>
            <a:r>
              <a:rPr lang="en-IN" dirty="0">
                <a:solidFill>
                  <a:srgbClr val="C00000"/>
                </a:solidFill>
              </a:rPr>
              <a:t>Lambda functions</a:t>
            </a:r>
          </a:p>
          <a:p>
            <a:pPr lvl="1"/>
            <a:r>
              <a:rPr lang="en-IN" dirty="0"/>
              <a:t>Lambda functions are expressions, so they can be created at their point of use; </a:t>
            </a:r>
          </a:p>
          <a:p>
            <a:pPr lvl="1"/>
            <a:r>
              <a:rPr lang="en-IN" dirty="0"/>
              <a:t>however, they are much more limited than normal functions. </a:t>
            </a:r>
          </a:p>
          <a:p>
            <a:r>
              <a:rPr lang="en-IN" dirty="0">
                <a:solidFill>
                  <a:srgbClr val="C00000"/>
                </a:solidFill>
              </a:rPr>
              <a:t>Methods</a:t>
            </a:r>
          </a:p>
          <a:p>
            <a:pPr lvl="1"/>
            <a:r>
              <a:rPr lang="en-IN" i="1" dirty="0"/>
              <a:t>Methods </a:t>
            </a:r>
            <a:r>
              <a:rPr lang="en-IN" dirty="0"/>
              <a:t>are functions that are associated with a particular </a:t>
            </a:r>
            <a:r>
              <a:rPr lang="en-IN" dirty="0">
                <a:solidFill>
                  <a:srgbClr val="C00000"/>
                </a:solidFill>
              </a:rPr>
              <a:t>data type </a:t>
            </a:r>
            <a:r>
              <a:rPr lang="en-IN" dirty="0"/>
              <a:t>and can be used only in conjunction with the data type (when we cover object-oriented programming.)</a:t>
            </a:r>
          </a:p>
          <a:p>
            <a:pPr lvl="1"/>
            <a:endParaRPr lang="en-IN" dirty="0"/>
          </a:p>
          <a:p>
            <a:endParaRPr lang="en-IN" dirty="0"/>
          </a:p>
          <a:p>
            <a:pPr marL="457200" lvl="1" indent="0">
              <a:buNone/>
            </a:pPr>
            <a:r>
              <a:rPr lang="en-IN" dirty="0"/>
              <a:t> 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180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EE33-CD7F-1843-A7A5-ACB88154C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F6C0B-4CD3-D343-9A3D-81851BE6C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WAP to count simple interest using function.</a:t>
            </a:r>
          </a:p>
          <a:p>
            <a:r>
              <a:rPr lang="en-US" dirty="0"/>
              <a:t>WAP to find maximum number from given two numbers using function.</a:t>
            </a:r>
          </a:p>
          <a:p>
            <a:r>
              <a:rPr lang="en-US" dirty="0"/>
              <a:t>WAP that defines a function exchange to interchange the values of two variables, say x and y.</a:t>
            </a:r>
          </a:p>
        </p:txBody>
      </p:sp>
    </p:spTree>
    <p:extLst>
      <p:ext uri="{BB962C8B-B14F-4D97-AF65-F5344CB8AC3E}">
        <p14:creationId xmlns:p14="http://schemas.microsoft.com/office/powerpoint/2010/main" val="388994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A48EC-B2B5-5A77-48FD-A7F0FF32E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3D17E-6743-BD11-9F18-F9AAC3932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Function Arguments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71B59-2733-3885-FAE8-5F7F28C11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Positional Arguments</a:t>
            </a:r>
          </a:p>
          <a:p>
            <a:r>
              <a:rPr lang="en-US" dirty="0"/>
              <a:t>Keyword Arguments</a:t>
            </a:r>
          </a:p>
          <a:p>
            <a:r>
              <a:rPr lang="en-US" dirty="0"/>
              <a:t>Default Arguments</a:t>
            </a:r>
          </a:p>
          <a:p>
            <a:r>
              <a:rPr lang="en-US" dirty="0"/>
              <a:t>Variable Length Arguments</a:t>
            </a:r>
          </a:p>
          <a:p>
            <a:pPr lvl="1"/>
            <a:r>
              <a:rPr lang="en-US" dirty="0"/>
              <a:t>Variable Length Positional Arguments</a:t>
            </a:r>
          </a:p>
          <a:p>
            <a:pPr lvl="1"/>
            <a:r>
              <a:rPr lang="en-US" dirty="0"/>
              <a:t>Variable Length Keyword Arguments</a:t>
            </a:r>
          </a:p>
          <a:p>
            <a:r>
              <a:rPr lang="en-US" dirty="0"/>
              <a:t>Positional Only Arguments</a:t>
            </a:r>
          </a:p>
          <a:p>
            <a:r>
              <a:rPr lang="en-US" dirty="0"/>
              <a:t>Keyword Only Arguments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03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ABA0-4FB5-9187-1392-E1AF69CA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6A7CD-112F-DCD7-0FEC-C81C5F714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Positional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9F320-7050-D362-116E-8F43DF65F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Positional arguments are the arguments passed to a function in </a:t>
            </a:r>
            <a:r>
              <a:rPr lang="en-US" dirty="0">
                <a:solidFill>
                  <a:srgbClr val="C00000"/>
                </a:solidFill>
              </a:rPr>
              <a:t>correct positional</a:t>
            </a:r>
            <a:r>
              <a:rPr lang="en-US" dirty="0"/>
              <a:t> order. </a:t>
            </a:r>
          </a:p>
          <a:p>
            <a:r>
              <a:rPr lang="en-US" dirty="0"/>
              <a:t>During a function call, values passed through arguments should be in the </a:t>
            </a:r>
            <a:r>
              <a:rPr lang="en-US" dirty="0">
                <a:solidFill>
                  <a:srgbClr val="C00000"/>
                </a:solidFill>
              </a:rPr>
              <a:t>order of parameters </a:t>
            </a:r>
            <a:r>
              <a:rPr lang="en-US" dirty="0"/>
              <a:t>in the function definition.</a:t>
            </a:r>
          </a:p>
          <a:p>
            <a:r>
              <a:rPr lang="en-IN" dirty="0"/>
              <a:t>Order must match.</a:t>
            </a:r>
          </a:p>
          <a:p>
            <a:r>
              <a:rPr lang="en-US" dirty="0"/>
              <a:t>Number of arguments must match number of parameters, </a:t>
            </a:r>
          </a:p>
          <a:p>
            <a:r>
              <a:rPr lang="en-US" dirty="0"/>
              <a:t>Otherwise generates </a:t>
            </a:r>
            <a:r>
              <a:rPr lang="en-IN" dirty="0" err="1"/>
              <a:t>TypeError</a:t>
            </a:r>
            <a:r>
              <a:rPr lang="en-IN" dirty="0"/>
              <a:t>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F76301-5A5E-F3C6-73BA-EA9A5E2DDA7E}"/>
              </a:ext>
            </a:extLst>
          </p:cNvPr>
          <p:cNvSpPr/>
          <p:nvPr/>
        </p:nvSpPr>
        <p:spPr>
          <a:xfrm>
            <a:off x="1068035" y="4393970"/>
            <a:ext cx="400576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(n1,n2):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"Sum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n1+n2)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7C53CC-D109-7AD8-EDB9-B2034B21197B}"/>
              </a:ext>
            </a:extLst>
          </p:cNvPr>
          <p:cNvSpPr/>
          <p:nvPr/>
        </p:nvSpPr>
        <p:spPr>
          <a:xfrm>
            <a:off x="568042" y="4393970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C7E24566-51A5-FEC3-0515-6E10BCFB60CA}"/>
              </a:ext>
            </a:extLst>
          </p:cNvPr>
          <p:cNvSpPr/>
          <p:nvPr/>
        </p:nvSpPr>
        <p:spPr>
          <a:xfrm>
            <a:off x="568042" y="4064786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56B57D-B12F-A4D0-647C-3FA3EFD825E5}"/>
              </a:ext>
            </a:extLst>
          </p:cNvPr>
          <p:cNvSpPr/>
          <p:nvPr/>
        </p:nvSpPr>
        <p:spPr>
          <a:xfrm>
            <a:off x="5192835" y="4390488"/>
            <a:ext cx="208099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8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F2617B25-C56D-7FDA-9F60-972B6E387B3F}"/>
              </a:ext>
            </a:extLst>
          </p:cNvPr>
          <p:cNvSpPr/>
          <p:nvPr/>
        </p:nvSpPr>
        <p:spPr>
          <a:xfrm>
            <a:off x="5192835" y="4064786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D70256-EB10-555A-CFC7-4E2F83E0B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941" y="2188936"/>
            <a:ext cx="3772227" cy="1943268"/>
          </a:xfrm>
          <a:prstGeom prst="rect">
            <a:avLst/>
          </a:prstGeom>
        </p:spPr>
      </p:pic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FE3C669-B9C8-D006-96C6-C7718A246F91}"/>
              </a:ext>
            </a:extLst>
          </p:cNvPr>
          <p:cNvSpPr/>
          <p:nvPr/>
        </p:nvSpPr>
        <p:spPr>
          <a:xfrm>
            <a:off x="7886941" y="1872100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input.py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66D25-A3E2-A407-F0C7-F17442607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581" y="4760918"/>
            <a:ext cx="2225233" cy="777307"/>
          </a:xfrm>
          <a:prstGeom prst="rect">
            <a:avLst/>
          </a:prstGeom>
        </p:spPr>
      </p:pic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B4916437-C1CF-3CD3-C901-B8D440C0266D}"/>
              </a:ext>
            </a:extLst>
          </p:cNvPr>
          <p:cNvSpPr/>
          <p:nvPr/>
        </p:nvSpPr>
        <p:spPr>
          <a:xfrm>
            <a:off x="7955581" y="4431734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12422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/>
      <p:bldP spid="12" grpId="0" animBg="1"/>
      <p:bldP spid="13" grpId="0" animBg="1"/>
      <p:bldP spid="14" grpId="0" build="p" animBg="1"/>
      <p:bldP spid="15" grpId="0" animBg="1"/>
      <p:bldP spid="6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07A7C-036D-6A43-9A0D-165C79869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Keyword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389C0-F3A3-494B-B83C-E8E89F11A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Arguments passed using </a:t>
            </a:r>
            <a:r>
              <a:rPr lang="en-US" b="1" dirty="0"/>
              <a:t>parameter name = value</a:t>
            </a:r>
            <a:r>
              <a:rPr lang="en-US" dirty="0"/>
              <a:t> format.</a:t>
            </a:r>
          </a:p>
          <a:p>
            <a:r>
              <a:rPr lang="en-IN" dirty="0"/>
              <a:t>Order does not matter.</a:t>
            </a:r>
          </a:p>
          <a:p>
            <a:r>
              <a:rPr lang="en-US" dirty="0"/>
              <a:t>Parameter names must match exactly.</a:t>
            </a:r>
          </a:p>
          <a:p>
            <a:r>
              <a:rPr lang="en-IN" dirty="0"/>
              <a:t>Cannot repeat same argument.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920D8E-ED10-5445-AB39-E729FE200BB0}"/>
              </a:ext>
            </a:extLst>
          </p:cNvPr>
          <p:cNvSpPr/>
          <p:nvPr/>
        </p:nvSpPr>
        <p:spPr>
          <a:xfrm>
            <a:off x="835992" y="3348473"/>
            <a:ext cx="6146805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subtract_number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(n1,n2):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"Subtraction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n1-n2)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subtract_number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subtract_number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(n2=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,n1=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Keyword Arguments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19209D-C6EB-B046-BA8A-FA98D607866A}"/>
              </a:ext>
            </a:extLst>
          </p:cNvPr>
          <p:cNvSpPr/>
          <p:nvPr/>
        </p:nvSpPr>
        <p:spPr>
          <a:xfrm>
            <a:off x="336000" y="3348473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7C8B1114-DF3B-364E-84C7-4A01736A37DE}"/>
              </a:ext>
            </a:extLst>
          </p:cNvPr>
          <p:cNvSpPr/>
          <p:nvPr/>
        </p:nvSpPr>
        <p:spPr>
          <a:xfrm>
            <a:off x="336000" y="3019289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727406-12AD-0047-B686-632CD6BFBDA8}"/>
              </a:ext>
            </a:extLst>
          </p:cNvPr>
          <p:cNvSpPr/>
          <p:nvPr/>
        </p:nvSpPr>
        <p:spPr>
          <a:xfrm>
            <a:off x="336000" y="5346728"/>
            <a:ext cx="2436023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Subtraction =  10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Subtraction =  -10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B2B3AD81-8175-7046-BB17-6B504EBC1F11}"/>
              </a:ext>
            </a:extLst>
          </p:cNvPr>
          <p:cNvSpPr/>
          <p:nvPr/>
        </p:nvSpPr>
        <p:spPr>
          <a:xfrm>
            <a:off x="336000" y="5021026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227D3C-0C16-1C05-C994-88C0B966C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927" y="2024793"/>
            <a:ext cx="4846740" cy="19889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953D2C-44C5-067C-10C3-C907F39A4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927" y="4577605"/>
            <a:ext cx="2377646" cy="823031"/>
          </a:xfrm>
          <a:prstGeom prst="rect">
            <a:avLst/>
          </a:prstGeom>
        </p:spPr>
      </p:pic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9369E63-BF29-A52F-2696-54B79051576E}"/>
              </a:ext>
            </a:extLst>
          </p:cNvPr>
          <p:cNvSpPr/>
          <p:nvPr/>
        </p:nvSpPr>
        <p:spPr>
          <a:xfrm>
            <a:off x="7171927" y="1672683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D2AC1B4E-A6E9-3F6A-BD34-938634C48C78}"/>
              </a:ext>
            </a:extLst>
          </p:cNvPr>
          <p:cNvSpPr/>
          <p:nvPr/>
        </p:nvSpPr>
        <p:spPr>
          <a:xfrm>
            <a:off x="7216289" y="4248895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0986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 animBg="1"/>
      <p:bldP spid="11" grpId="0" animBg="1"/>
      <p:bldP spid="12" grpId="0" build="p" animBg="1"/>
      <p:bldP spid="13" grpId="0" animBg="1"/>
      <p:bldP spid="8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E5C2-E9C7-2049-AFB9-29D7DFF56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2F94D-CD24-6F4C-AA2E-C2B2DFE7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default argument is an argument that </a:t>
            </a:r>
            <a:r>
              <a:rPr lang="en-US" dirty="0">
                <a:solidFill>
                  <a:srgbClr val="C00000"/>
                </a:solidFill>
              </a:rPr>
              <a:t>assumes a default value </a:t>
            </a:r>
            <a:r>
              <a:rPr lang="en-US" dirty="0"/>
              <a:t>if a value is not provided in the function call for that argument.</a:t>
            </a:r>
          </a:p>
          <a:p>
            <a:r>
              <a:rPr lang="en-US" dirty="0"/>
              <a:t>Default arguments are values that are provided while </a:t>
            </a:r>
            <a:r>
              <a:rPr lang="en-US" dirty="0">
                <a:solidFill>
                  <a:srgbClr val="C00000"/>
                </a:solidFill>
              </a:rPr>
              <a:t>defining functions</a:t>
            </a:r>
            <a:r>
              <a:rPr lang="en-US" dirty="0"/>
              <a:t>.</a:t>
            </a:r>
          </a:p>
          <a:p>
            <a:r>
              <a:rPr lang="en-US" dirty="0"/>
              <a:t>The assignment </a:t>
            </a:r>
            <a:r>
              <a:rPr lang="en-US" dirty="0">
                <a:solidFill>
                  <a:srgbClr val="C00000"/>
                </a:solidFill>
              </a:rPr>
              <a:t>operator = is </a:t>
            </a:r>
            <a:r>
              <a:rPr lang="en-US" dirty="0"/>
              <a:t>used to assign a default value to the argument.</a:t>
            </a:r>
          </a:p>
          <a:p>
            <a:r>
              <a:rPr lang="en-US" dirty="0"/>
              <a:t>Default arguments become </a:t>
            </a:r>
            <a:r>
              <a:rPr lang="en-US" dirty="0">
                <a:solidFill>
                  <a:srgbClr val="C00000"/>
                </a:solidFill>
              </a:rPr>
              <a:t>optional during the function calls</a:t>
            </a:r>
            <a:r>
              <a:rPr lang="en-US" dirty="0"/>
              <a:t>. </a:t>
            </a:r>
          </a:p>
          <a:p>
            <a:r>
              <a:rPr lang="en-US" dirty="0"/>
              <a:t>If we provide a value to the default arguments during function calls, it overrides the default value. </a:t>
            </a:r>
          </a:p>
          <a:p>
            <a:r>
              <a:rPr lang="en-US" dirty="0"/>
              <a:t>Default parameters must come </a:t>
            </a:r>
            <a:r>
              <a:rPr lang="en-US" b="1" dirty="0"/>
              <a:t>after non-default parameters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FED380-C156-3846-A191-721B621CF0B5}"/>
              </a:ext>
            </a:extLst>
          </p:cNvPr>
          <p:cNvSpPr/>
          <p:nvPr/>
        </p:nvSpPr>
        <p:spPr>
          <a:xfrm>
            <a:off x="1536385" y="4888820"/>
            <a:ext cx="6146805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(n1,n2 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"Sum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n1+n2)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611733-C19C-4C4A-9FDD-83CCEE84603E}"/>
              </a:ext>
            </a:extLst>
          </p:cNvPr>
          <p:cNvSpPr/>
          <p:nvPr/>
        </p:nvSpPr>
        <p:spPr>
          <a:xfrm>
            <a:off x="1036393" y="4888820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50502CA9-DC95-274F-B67A-686C4D1A4C03}"/>
              </a:ext>
            </a:extLst>
          </p:cNvPr>
          <p:cNvSpPr/>
          <p:nvPr/>
        </p:nvSpPr>
        <p:spPr>
          <a:xfrm>
            <a:off x="1036393" y="4559636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C1934D-EA6A-AD42-9EDC-E35CD5CFB84B}"/>
              </a:ext>
            </a:extLst>
          </p:cNvPr>
          <p:cNvSpPr/>
          <p:nvPr/>
        </p:nvSpPr>
        <p:spPr>
          <a:xfrm>
            <a:off x="8023821" y="4846478"/>
            <a:ext cx="2436023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5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13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DC025F72-8B46-AB45-9F8F-E95B23254E07}"/>
              </a:ext>
            </a:extLst>
          </p:cNvPr>
          <p:cNvSpPr/>
          <p:nvPr/>
        </p:nvSpPr>
        <p:spPr>
          <a:xfrm>
            <a:off x="8023821" y="4520776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7570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7BA0B-D42E-D640-828D-47ED53818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Variable-length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8083E-08A7-ED44-BF93-FAA8F1DD0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Variable-length arguments are also known as </a:t>
            </a:r>
            <a:r>
              <a:rPr lang="en-US" dirty="0">
                <a:solidFill>
                  <a:schemeClr val="accent6"/>
                </a:solidFill>
              </a:rPr>
              <a:t>arbitrary arguments</a:t>
            </a:r>
            <a:r>
              <a:rPr lang="en-US" dirty="0"/>
              <a:t>. </a:t>
            </a:r>
          </a:p>
          <a:p>
            <a:r>
              <a:rPr lang="en-US" dirty="0"/>
              <a:t>If we don’t know the number of arguments needed for the function in advance, we can use </a:t>
            </a:r>
            <a:r>
              <a:rPr lang="en-US" dirty="0">
                <a:solidFill>
                  <a:schemeClr val="accent6"/>
                </a:solidFill>
              </a:rPr>
              <a:t>arbitrary arguments</a:t>
            </a:r>
            <a:r>
              <a:rPr lang="en-US" dirty="0"/>
              <a:t>.</a:t>
            </a:r>
          </a:p>
          <a:p>
            <a:r>
              <a:rPr lang="en-US" dirty="0"/>
              <a:t>There are </a:t>
            </a:r>
            <a:r>
              <a:rPr lang="en-US" dirty="0">
                <a:solidFill>
                  <a:schemeClr val="accent6"/>
                </a:solidFill>
              </a:rPr>
              <a:t>two types </a:t>
            </a:r>
            <a:r>
              <a:rPr lang="en-US" dirty="0"/>
              <a:t>of variable length arguments:</a:t>
            </a:r>
          </a:p>
          <a:p>
            <a:r>
              <a:rPr lang="en-US" dirty="0">
                <a:solidFill>
                  <a:schemeClr val="accent6"/>
                </a:solidFill>
              </a:rPr>
              <a:t>Variable length positional arguments (*</a:t>
            </a:r>
            <a:r>
              <a:rPr lang="en-US" dirty="0" err="1">
                <a:solidFill>
                  <a:schemeClr val="accent6"/>
                </a:solidFill>
              </a:rPr>
              <a:t>args</a:t>
            </a:r>
            <a:r>
              <a:rPr lang="en-US" dirty="0">
                <a:solidFill>
                  <a:schemeClr val="accent6"/>
                </a:solidFill>
              </a:rPr>
              <a:t>)</a:t>
            </a:r>
            <a:endParaRPr lang="en-US" dirty="0"/>
          </a:p>
          <a:p>
            <a:pPr lvl="1"/>
            <a:r>
              <a:rPr lang="en-US" altLang="en-US" dirty="0"/>
              <a:t>You may need to process a function for more arguments than you specified while </a:t>
            </a:r>
            <a:r>
              <a:rPr lang="en-US" altLang="en-US" dirty="0">
                <a:solidFill>
                  <a:schemeClr val="accent6"/>
                </a:solidFill>
              </a:rPr>
              <a:t>defining the function</a:t>
            </a:r>
            <a:r>
              <a:rPr lang="en-US" altLang="en-US" dirty="0"/>
              <a:t>. </a:t>
            </a:r>
          </a:p>
          <a:p>
            <a:pPr lvl="1"/>
            <a:r>
              <a:rPr lang="en-US" altLang="en-US" dirty="0"/>
              <a:t>These arguments are called </a:t>
            </a:r>
            <a:r>
              <a:rPr lang="en-US" altLang="en-US" i="1" dirty="0"/>
              <a:t>variable-length</a:t>
            </a:r>
            <a:r>
              <a:rPr lang="en-US" altLang="en-US" dirty="0"/>
              <a:t> arguments and are not </a:t>
            </a:r>
            <a:r>
              <a:rPr lang="en-US" altLang="en-US" dirty="0">
                <a:solidFill>
                  <a:schemeClr val="accent6"/>
                </a:solidFill>
              </a:rPr>
              <a:t>named in the function definition</a:t>
            </a:r>
            <a:r>
              <a:rPr lang="en-US" altLang="en-US" dirty="0"/>
              <a:t>, unlike required and default arguments.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marL="457200" lvl="1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An </a:t>
            </a:r>
            <a:r>
              <a:rPr lang="en-US" altLang="en-US" dirty="0">
                <a:solidFill>
                  <a:schemeClr val="accent6"/>
                </a:solidFill>
              </a:rPr>
              <a:t>asterisk (*)</a:t>
            </a:r>
            <a:r>
              <a:rPr lang="en-US" altLang="en-US" dirty="0"/>
              <a:t> is placed before the variable name that will hold the values of all non keyword variable arguments. </a:t>
            </a:r>
          </a:p>
          <a:p>
            <a:pPr lvl="1"/>
            <a:r>
              <a:rPr lang="en-US" altLang="en-US" dirty="0"/>
              <a:t>This tuple remains empty if no additional arguments are specified during the function call.</a:t>
            </a:r>
          </a:p>
          <a:p>
            <a:pPr lvl="1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1FAB70-DAE9-4A4A-A49E-0A01BB1B12F0}"/>
              </a:ext>
            </a:extLst>
          </p:cNvPr>
          <p:cNvSpPr/>
          <p:nvPr/>
        </p:nvSpPr>
        <p:spPr>
          <a:xfrm>
            <a:off x="918253" y="4376450"/>
            <a:ext cx="670918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functionname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([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formal_args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,] *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args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8000"/>
                </a:solidFill>
                <a:latin typeface="Consolas"/>
              </a:rPr>
              <a:t>#code to execute when function is called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2FB8D216-D16B-BC4E-8AD6-09F0E8C86ED3}"/>
              </a:ext>
            </a:extLst>
          </p:cNvPr>
          <p:cNvSpPr/>
          <p:nvPr/>
        </p:nvSpPr>
        <p:spPr>
          <a:xfrm>
            <a:off x="918253" y="4047266"/>
            <a:ext cx="128618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11" name="Line Callout 1 10">
            <a:extLst>
              <a:ext uri="{FF2B5EF4-FFF2-40B4-BE49-F238E27FC236}">
                <a16:creationId xmlns:a16="http://schemas.microsoft.com/office/drawing/2014/main" id="{A9D09450-6B02-524C-B753-FBB5BB98F443}"/>
              </a:ext>
            </a:extLst>
          </p:cNvPr>
          <p:cNvSpPr/>
          <p:nvPr/>
        </p:nvSpPr>
        <p:spPr>
          <a:xfrm>
            <a:off x="8228981" y="3896284"/>
            <a:ext cx="2565400" cy="772553"/>
          </a:xfrm>
          <a:prstGeom prst="borderCallout1">
            <a:avLst>
              <a:gd name="adj1" fmla="val 53885"/>
              <a:gd name="adj2" fmla="val -612"/>
              <a:gd name="adj3" fmla="val 79856"/>
              <a:gd name="adj4" fmla="val -92833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Tuple representing variable length arguments</a:t>
            </a:r>
          </a:p>
        </p:txBody>
      </p:sp>
    </p:spTree>
    <p:extLst>
      <p:ext uri="{BB962C8B-B14F-4D97-AF65-F5344CB8AC3E}">
        <p14:creationId xmlns:p14="http://schemas.microsoft.com/office/powerpoint/2010/main" val="238229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0" grpId="0" animBg="1"/>
      <p:bldP spid="11" grpId="0" animBg="1"/>
      <p:bldP spid="11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86B6C-1779-0346-8014-05AF5E474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Variable-length arguments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5D9D9-3F2F-2044-A4F3-90323AEE8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Variable length positional arguments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example</a:t>
            </a: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FD8444-AFA1-A04F-9BD0-1F0C585403D1}"/>
              </a:ext>
            </a:extLst>
          </p:cNvPr>
          <p:cNvSpPr/>
          <p:nvPr/>
        </p:nvSpPr>
        <p:spPr>
          <a:xfrm>
            <a:off x="878462" y="1896099"/>
            <a:ext cx="6146805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(n1,*n):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 = n1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sum = sum +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"Sum =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sum)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00142F-EC17-5C48-8720-25C1526F4371}"/>
              </a:ext>
            </a:extLst>
          </p:cNvPr>
          <p:cNvSpPr/>
          <p:nvPr/>
        </p:nvSpPr>
        <p:spPr>
          <a:xfrm>
            <a:off x="378470" y="1896099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1C89979-E80C-444F-B4D9-BB0F388B52C6}"/>
              </a:ext>
            </a:extLst>
          </p:cNvPr>
          <p:cNvSpPr/>
          <p:nvPr/>
        </p:nvSpPr>
        <p:spPr>
          <a:xfrm>
            <a:off x="378470" y="1566915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94445F-E6E5-444C-A17B-A090C0B7A5DD}"/>
              </a:ext>
            </a:extLst>
          </p:cNvPr>
          <p:cNvSpPr/>
          <p:nvPr/>
        </p:nvSpPr>
        <p:spPr>
          <a:xfrm>
            <a:off x="7365898" y="1853757"/>
            <a:ext cx="2436023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2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 =  40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94A7F754-7E73-8540-9635-1884247B9515}"/>
              </a:ext>
            </a:extLst>
          </p:cNvPr>
          <p:cNvSpPr/>
          <p:nvPr/>
        </p:nvSpPr>
        <p:spPr>
          <a:xfrm>
            <a:off x="7365898" y="1528055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6317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F3B95-78B6-364F-9C35-6C3C867E0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Variable-length arguments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B6EFF-A6A8-504D-89C8-8BCB3AB22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Variable-length keyword arguments (**</a:t>
            </a:r>
            <a:r>
              <a:rPr lang="en-US" dirty="0" err="1">
                <a:solidFill>
                  <a:schemeClr val="accent6"/>
                </a:solidFill>
              </a:rPr>
              <a:t>kwargs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  <a:p>
            <a:pPr lvl="1"/>
            <a:r>
              <a:rPr lang="en-US" dirty="0"/>
              <a:t>For </a:t>
            </a:r>
            <a:r>
              <a:rPr lang="en-US" altLang="en-US" dirty="0"/>
              <a:t>Variable-length</a:t>
            </a:r>
            <a:r>
              <a:rPr lang="en-US" dirty="0"/>
              <a:t> keyword argument, </a:t>
            </a:r>
            <a:r>
              <a:rPr lang="en-US" dirty="0">
                <a:solidFill>
                  <a:schemeClr val="accent6"/>
                </a:solidFill>
              </a:rPr>
              <a:t>a double asterisk (**) </a:t>
            </a:r>
            <a:r>
              <a:rPr lang="en-US" dirty="0"/>
              <a:t>is placed before a parameter in a function which can hold keyword variable-length arguments. </a:t>
            </a:r>
          </a:p>
          <a:p>
            <a:pPr lvl="1"/>
            <a:r>
              <a:rPr lang="en-IN" dirty="0"/>
              <a:t>Stored as dictionary.</a:t>
            </a:r>
            <a:endParaRPr lang="en-US" dirty="0"/>
          </a:p>
          <a:p>
            <a:pPr lvl="1"/>
            <a:r>
              <a:rPr lang="en-US" dirty="0"/>
              <a:t>Must be written at last in parameter list.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A1C3C0-8B7F-A847-9FAC-A531711F10B4}"/>
              </a:ext>
            </a:extLst>
          </p:cNvPr>
          <p:cNvSpPr/>
          <p:nvPr/>
        </p:nvSpPr>
        <p:spPr>
          <a:xfrm>
            <a:off x="1056882" y="3335083"/>
            <a:ext cx="5187801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(**a):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sum 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sum = a[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'a'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 + a[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'b'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"Sum="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,sum)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for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a.items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print(a) 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add_Number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(a=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,b=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,c=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6CE646-F116-BF47-BEC1-B443B60CF110}"/>
              </a:ext>
            </a:extLst>
          </p:cNvPr>
          <p:cNvSpPr/>
          <p:nvPr/>
        </p:nvSpPr>
        <p:spPr>
          <a:xfrm>
            <a:off x="556890" y="3335083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F725046E-F450-A347-85D5-E9D2729FFD9D}"/>
              </a:ext>
            </a:extLst>
          </p:cNvPr>
          <p:cNvSpPr/>
          <p:nvPr/>
        </p:nvSpPr>
        <p:spPr>
          <a:xfrm>
            <a:off x="556890" y="3005899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C71B42-A6E7-D544-A26C-743D305FC054}"/>
              </a:ext>
            </a:extLst>
          </p:cNvPr>
          <p:cNvSpPr/>
          <p:nvPr/>
        </p:nvSpPr>
        <p:spPr>
          <a:xfrm>
            <a:off x="6551859" y="3331601"/>
            <a:ext cx="4942213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Sum= 7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('a', 4)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('b', 3)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('c', 4)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{'a': 4, 'b': 3, 'c': 4}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5D8728C2-6CBB-9C43-9BE8-4C013D5E2519}"/>
              </a:ext>
            </a:extLst>
          </p:cNvPr>
          <p:cNvSpPr/>
          <p:nvPr/>
        </p:nvSpPr>
        <p:spPr>
          <a:xfrm>
            <a:off x="6551859" y="3005899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218396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nimBg="1"/>
      <p:bldP spid="11" grpId="0" animBg="1"/>
      <p:bldP spid="12" grpId="0" animBg="1"/>
      <p:bldP spid="13" grpId="0" build="p" animBg="1"/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CD43C-51A5-CB5A-12C6-00536F694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9FEC3-C8ED-0C04-58E3-ADDE6DE16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Positional Only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B46B8-E91A-8A7B-764A-578B7D8EC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positional-only argument</a:t>
            </a:r>
            <a:r>
              <a:rPr lang="en-US" dirty="0"/>
              <a:t> is a function parameter that </a:t>
            </a:r>
            <a:r>
              <a:rPr lang="en-US" b="1" dirty="0"/>
              <a:t>must be passed by position</a:t>
            </a:r>
            <a:r>
              <a:rPr lang="en-US" dirty="0"/>
              <a:t>, not by keyword.</a:t>
            </a:r>
          </a:p>
          <a:p>
            <a:r>
              <a:rPr lang="en-US" dirty="0"/>
              <a:t>A </a:t>
            </a:r>
            <a:r>
              <a:rPr lang="en-US" b="1" dirty="0"/>
              <a:t>positional-only argument</a:t>
            </a:r>
            <a:r>
              <a:rPr lang="en-US" dirty="0"/>
              <a:t> is defined using a </a:t>
            </a:r>
            <a:r>
              <a:rPr lang="en-US" b="1" dirty="0"/>
              <a:t>/ (forward slash)</a:t>
            </a:r>
            <a:r>
              <a:rPr lang="en-US" dirty="0"/>
              <a:t> in the function definition.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F795C0AA-5E8D-FD09-F30B-3D4CEB1060E1}"/>
              </a:ext>
            </a:extLst>
          </p:cNvPr>
          <p:cNvSpPr/>
          <p:nvPr/>
        </p:nvSpPr>
        <p:spPr>
          <a:xfrm>
            <a:off x="758521" y="2127720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903B8B-E85F-E590-3377-70E4EB3EC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18" y="2456904"/>
            <a:ext cx="3962743" cy="1767993"/>
          </a:xfrm>
          <a:prstGeom prst="rect">
            <a:avLst/>
          </a:prstGeom>
        </p:spPr>
      </p:pic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2D532FFB-D546-DC01-414E-70A6190A7923}"/>
              </a:ext>
            </a:extLst>
          </p:cNvPr>
          <p:cNvSpPr/>
          <p:nvPr/>
        </p:nvSpPr>
        <p:spPr>
          <a:xfrm>
            <a:off x="805909" y="4293556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F60E70-E85F-3F59-5934-97D677FAB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09" y="4735478"/>
            <a:ext cx="1524132" cy="43437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70F166-F017-FD52-1351-8AF5894D1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185" y="2456904"/>
            <a:ext cx="3799561" cy="1699917"/>
          </a:xfrm>
          <a:prstGeom prst="rect">
            <a:avLst/>
          </a:prstGeom>
        </p:spPr>
      </p:pic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37C7BA5D-E167-0E4C-9A41-8DAAA32B4DDD}"/>
              </a:ext>
            </a:extLst>
          </p:cNvPr>
          <p:cNvSpPr/>
          <p:nvPr/>
        </p:nvSpPr>
        <p:spPr>
          <a:xfrm>
            <a:off x="5193884" y="2127720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FB29C947-FA58-3986-34CE-2E452EB6353E}"/>
              </a:ext>
            </a:extLst>
          </p:cNvPr>
          <p:cNvSpPr/>
          <p:nvPr/>
        </p:nvSpPr>
        <p:spPr>
          <a:xfrm>
            <a:off x="5193884" y="4220437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78494F4-0D90-2D91-7FBB-415BEAD070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884" y="4579278"/>
            <a:ext cx="6031835" cy="133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5CF26-549A-68F8-9DE4-F4E2A7B7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775A7-2F4C-796A-B93F-F1AAB28F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Keyword Only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679DE-5BDA-96C4-816F-FD8173D26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keyword-only argument</a:t>
            </a:r>
            <a:r>
              <a:rPr lang="en-US" dirty="0"/>
              <a:t> is a function parameter that must be passed using its parameter name and cannot be passed by position.</a:t>
            </a:r>
          </a:p>
          <a:p>
            <a:r>
              <a:rPr lang="en-US" dirty="0"/>
              <a:t>A </a:t>
            </a:r>
            <a:r>
              <a:rPr lang="en-US" b="1" dirty="0"/>
              <a:t>keyword-only argument</a:t>
            </a:r>
            <a:r>
              <a:rPr lang="en-US" dirty="0"/>
              <a:t> Is defined using * in the function definition.</a:t>
            </a:r>
          </a:p>
          <a:p>
            <a:pPr lvl="1"/>
            <a:endParaRPr lang="en-US" dirty="0"/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7DD7C7B-78AD-8B06-8F69-05AE283C119F}"/>
              </a:ext>
            </a:extLst>
          </p:cNvPr>
          <p:cNvSpPr/>
          <p:nvPr/>
        </p:nvSpPr>
        <p:spPr>
          <a:xfrm>
            <a:off x="758521" y="2127720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B11F519F-99EE-AD89-EA2D-5819818EAA1A}"/>
              </a:ext>
            </a:extLst>
          </p:cNvPr>
          <p:cNvSpPr/>
          <p:nvPr/>
        </p:nvSpPr>
        <p:spPr>
          <a:xfrm>
            <a:off x="696036" y="4284054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08C6F6-DF47-DE4A-636D-B2273B6AC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36" y="4750939"/>
            <a:ext cx="1524132" cy="434378"/>
          </a:xfrm>
          <a:prstGeom prst="rect">
            <a:avLst/>
          </a:prstGeom>
        </p:spPr>
      </p:pic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D3D2F3E1-8D83-740A-00F8-7AC52A1AC797}"/>
              </a:ext>
            </a:extLst>
          </p:cNvPr>
          <p:cNvSpPr/>
          <p:nvPr/>
        </p:nvSpPr>
        <p:spPr>
          <a:xfrm>
            <a:off x="5193884" y="2127720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Rectangle: Top Corners Rounded 6">
            <a:extLst>
              <a:ext uri="{FF2B5EF4-FFF2-40B4-BE49-F238E27FC236}">
                <a16:creationId xmlns:a16="http://schemas.microsoft.com/office/drawing/2014/main" id="{514E480A-46C4-0A4B-2B2B-378271EB2AAE}"/>
              </a:ext>
            </a:extLst>
          </p:cNvPr>
          <p:cNvSpPr/>
          <p:nvPr/>
        </p:nvSpPr>
        <p:spPr>
          <a:xfrm>
            <a:off x="5193884" y="4220437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13123-C3D3-8E60-495E-74065CD09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36" y="2484359"/>
            <a:ext cx="3486826" cy="1672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AA4327-AEC7-BA9B-8157-46D2F1A8F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884" y="2484359"/>
            <a:ext cx="3599920" cy="16724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F99204-05EE-DBA2-7758-8EAC68D34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883" y="4613238"/>
            <a:ext cx="5350899" cy="128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522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  <p:bldP spid="18" grpId="0" animBg="1"/>
      <p:bldP spid="1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43DB-F29F-F848-8798-6E824035A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reference vs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C3EE4-1E9B-034B-BD16-42B8E169E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call by value method, the value of the </a:t>
            </a:r>
            <a:r>
              <a:rPr lang="en-US" dirty="0">
                <a:solidFill>
                  <a:srgbClr val="C00000"/>
                </a:solidFill>
              </a:rPr>
              <a:t>actual parameters is copied </a:t>
            </a:r>
            <a:r>
              <a:rPr lang="en-US" dirty="0"/>
              <a:t>into the formal parameters. </a:t>
            </a:r>
          </a:p>
          <a:p>
            <a:r>
              <a:rPr lang="en-US" dirty="0"/>
              <a:t>In call by reference, the </a:t>
            </a:r>
            <a:r>
              <a:rPr lang="en-US" dirty="0">
                <a:solidFill>
                  <a:srgbClr val="C00000"/>
                </a:solidFill>
              </a:rPr>
              <a:t>address of the variable </a:t>
            </a:r>
            <a:r>
              <a:rPr lang="en-US" dirty="0"/>
              <a:t>is passed into the function call as the </a:t>
            </a:r>
            <a:r>
              <a:rPr lang="en-US" dirty="0">
                <a:solidFill>
                  <a:srgbClr val="C00000"/>
                </a:solidFill>
              </a:rPr>
              <a:t>actual parameter.</a:t>
            </a:r>
          </a:p>
          <a:p>
            <a:r>
              <a:rPr lang="en-US" dirty="0"/>
              <a:t>In python value is passed as </a:t>
            </a:r>
            <a:r>
              <a:rPr lang="en-IN" dirty="0"/>
              <a:t>“</a:t>
            </a:r>
            <a:r>
              <a:rPr lang="en-IN" dirty="0">
                <a:solidFill>
                  <a:srgbClr val="C00000"/>
                </a:solidFill>
              </a:rPr>
              <a:t>Call by Object Reference</a:t>
            </a:r>
            <a:r>
              <a:rPr lang="en-IN" dirty="0"/>
              <a:t>” or “</a:t>
            </a:r>
            <a:r>
              <a:rPr lang="en-IN" dirty="0">
                <a:solidFill>
                  <a:srgbClr val="C00000"/>
                </a:solidFill>
              </a:rPr>
              <a:t>Call by assignment</a:t>
            </a:r>
            <a:r>
              <a:rPr lang="en-IN" dirty="0"/>
              <a:t>”.</a:t>
            </a:r>
          </a:p>
          <a:p>
            <a:r>
              <a:rPr lang="en-US" dirty="0"/>
              <a:t>When we pass </a:t>
            </a:r>
            <a:r>
              <a:rPr lang="en-IN" dirty="0"/>
              <a:t>whole numbers, strings or tuples to a function,  the passing is like </a:t>
            </a:r>
            <a:r>
              <a:rPr lang="en-IN" dirty="0">
                <a:solidFill>
                  <a:srgbClr val="C00000"/>
                </a:solidFill>
              </a:rPr>
              <a:t>call-by-value</a:t>
            </a:r>
            <a:r>
              <a:rPr lang="en-IN" dirty="0"/>
              <a:t> because you </a:t>
            </a:r>
            <a:r>
              <a:rPr lang="en-IN" dirty="0">
                <a:solidFill>
                  <a:srgbClr val="C00000"/>
                </a:solidFill>
              </a:rPr>
              <a:t>can not change the value of the immutable </a:t>
            </a:r>
            <a:r>
              <a:rPr lang="en-IN" dirty="0"/>
              <a:t>objects being passed to the function.</a:t>
            </a:r>
          </a:p>
          <a:p>
            <a:r>
              <a:rPr lang="en-IN" dirty="0"/>
              <a:t>Whereas passing mutable objects can be considered as call by reference because when their values are </a:t>
            </a:r>
            <a:r>
              <a:rPr lang="en-IN" dirty="0">
                <a:solidFill>
                  <a:srgbClr val="C00000"/>
                </a:solidFill>
              </a:rPr>
              <a:t>changed inside the function</a:t>
            </a:r>
            <a:r>
              <a:rPr lang="en-IN" dirty="0"/>
              <a:t>, then it will also be </a:t>
            </a:r>
            <a:r>
              <a:rPr lang="en-IN" dirty="0">
                <a:solidFill>
                  <a:srgbClr val="C00000"/>
                </a:solidFill>
              </a:rPr>
              <a:t>reflected outside the function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pic>
        <p:nvPicPr>
          <p:cNvPr id="1026" name="Picture 2" descr="Pass by value/reference :EXPLAINED WITH SINGLE GIF (Believe me it&amp;#39;s true) -  DEV Community">
            <a:extLst>
              <a:ext uri="{FF2B5EF4-FFF2-40B4-BE49-F238E27FC236}">
                <a16:creationId xmlns:a16="http://schemas.microsoft.com/office/drawing/2014/main" id="{08C70D9C-117A-8446-AA62-A8E53399B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8681" y="4686660"/>
            <a:ext cx="3923371" cy="1817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184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F1B7-D796-8B43-91C3-E1AF8C52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reference vs value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19936C-EC13-5F44-8904-73554A2A6091}"/>
              </a:ext>
            </a:extLst>
          </p:cNvPr>
          <p:cNvSpPr/>
          <p:nvPr/>
        </p:nvSpPr>
        <p:spPr>
          <a:xfrm>
            <a:off x="688892" y="1316236"/>
            <a:ext cx="436261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Call by Value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modifiy_String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"Darshan University"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Function:"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s)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 =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"Darshan"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modifiy_String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"Outside 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Function:"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,str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07E88D-77C8-F746-8317-12EA92354F7E}"/>
              </a:ext>
            </a:extLst>
          </p:cNvPr>
          <p:cNvSpPr/>
          <p:nvPr/>
        </p:nvSpPr>
        <p:spPr>
          <a:xfrm>
            <a:off x="188899" y="1316236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2743F716-0241-6447-A579-E0EB87791B51}"/>
              </a:ext>
            </a:extLst>
          </p:cNvPr>
          <p:cNvSpPr/>
          <p:nvPr/>
        </p:nvSpPr>
        <p:spPr>
          <a:xfrm>
            <a:off x="188899" y="9870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CallByValue.py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844690-AF7E-F542-9831-D0D1C22F7FB4}"/>
              </a:ext>
            </a:extLst>
          </p:cNvPr>
          <p:cNvSpPr/>
          <p:nvPr/>
        </p:nvSpPr>
        <p:spPr>
          <a:xfrm>
            <a:off x="188899" y="4390705"/>
            <a:ext cx="447231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Inside Function: Darshan University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Outside Function: Darshan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3E3F65A-59EA-CA4F-B290-C55468095DB9}"/>
              </a:ext>
            </a:extLst>
          </p:cNvPr>
          <p:cNvSpPr/>
          <p:nvPr/>
        </p:nvSpPr>
        <p:spPr>
          <a:xfrm>
            <a:off x="188899" y="4065003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A91ECE-AEDA-6A43-A03A-583A1BF4C04F}"/>
              </a:ext>
            </a:extLst>
          </p:cNvPr>
          <p:cNvSpPr/>
          <p:nvPr/>
        </p:nvSpPr>
        <p:spPr>
          <a:xfrm>
            <a:off x="6051487" y="1313133"/>
            <a:ext cx="4989985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Call by Reference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add_more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(list):</a:t>
            </a:r>
          </a:p>
          <a:p>
            <a:pPr lvl="1"/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list.append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Function:"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list)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add_more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(list)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"Outside 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Function:"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,list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92A309-CB07-814B-A056-294306C33C93}"/>
              </a:ext>
            </a:extLst>
          </p:cNvPr>
          <p:cNvSpPr/>
          <p:nvPr/>
        </p:nvSpPr>
        <p:spPr>
          <a:xfrm>
            <a:off x="5551495" y="1313133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DC4ED1F-C23E-5641-8907-07FFDA00032D}"/>
              </a:ext>
            </a:extLst>
          </p:cNvPr>
          <p:cNvSpPr/>
          <p:nvPr/>
        </p:nvSpPr>
        <p:spPr>
          <a:xfrm>
            <a:off x="5551495" y="983949"/>
            <a:ext cx="18083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CallByReference.py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513B98-78CC-1F4E-9563-18953E57DCFD}"/>
              </a:ext>
            </a:extLst>
          </p:cNvPr>
          <p:cNvSpPr/>
          <p:nvPr/>
        </p:nvSpPr>
        <p:spPr>
          <a:xfrm>
            <a:off x="5551495" y="4387602"/>
            <a:ext cx="4472312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Inside Function: [1, 2, 3, 4, 5, 50]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Outside Function: [1, 2, 3, 4, 5, 50]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A60E1B03-8050-3C4F-A823-3071778F9863}"/>
              </a:ext>
            </a:extLst>
          </p:cNvPr>
          <p:cNvSpPr/>
          <p:nvPr/>
        </p:nvSpPr>
        <p:spPr>
          <a:xfrm>
            <a:off x="5551495" y="4061900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23192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22F4-E59D-864B-BD9F-77BCCE3C0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reference vs value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9F5543-3892-7B4B-9A54-A5F699A9B3F4}"/>
              </a:ext>
            </a:extLst>
          </p:cNvPr>
          <p:cNvSpPr/>
          <p:nvPr/>
        </p:nvSpPr>
        <p:spPr>
          <a:xfrm>
            <a:off x="390293" y="994939"/>
            <a:ext cx="3088887" cy="7111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printA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(a):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a = </a:t>
            </a:r>
            <a:r>
              <a:rPr lang="en-IN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307D31-52C7-6544-9416-67D30F3AA809}"/>
              </a:ext>
            </a:extLst>
          </p:cNvPr>
          <p:cNvSpPr/>
          <p:nvPr/>
        </p:nvSpPr>
        <p:spPr>
          <a:xfrm>
            <a:off x="390293" y="2306443"/>
            <a:ext cx="3088887" cy="11225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x=</a:t>
            </a:r>
            <a:r>
              <a:rPr lang="en-I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endParaRPr lang="en-I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dirty="0" err="1">
                <a:solidFill>
                  <a:srgbClr val="000000"/>
                </a:solidFill>
                <a:latin typeface="Menlo" panose="020B0609030804020204" pitchFamily="49" charset="0"/>
              </a:rPr>
              <a:t>printA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(x)</a:t>
            </a:r>
          </a:p>
          <a:p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dirty="0">
                <a:solidFill>
                  <a:srgbClr val="A31515"/>
                </a:solidFill>
                <a:latin typeface="Menlo" panose="020B0609030804020204" pitchFamily="49" charset="0"/>
              </a:rPr>
              <a:t>"A = "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,x)</a:t>
            </a:r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FC57526A-1912-0841-94A8-35D156019CEC}"/>
              </a:ext>
            </a:extLst>
          </p:cNvPr>
          <p:cNvSpPr/>
          <p:nvPr/>
        </p:nvSpPr>
        <p:spPr>
          <a:xfrm>
            <a:off x="390293" y="5687121"/>
            <a:ext cx="825190" cy="57738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B13632-C408-AD45-BC0C-45F8684AB874}"/>
              </a:ext>
            </a:extLst>
          </p:cNvPr>
          <p:cNvCxnSpPr/>
          <p:nvPr/>
        </p:nvCxnSpPr>
        <p:spPr>
          <a:xfrm>
            <a:off x="814039" y="4850780"/>
            <a:ext cx="0" cy="691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A89C2C3-3114-3F48-B1C2-B668CC4FE7C4}"/>
              </a:ext>
            </a:extLst>
          </p:cNvPr>
          <p:cNvSpPr txBox="1"/>
          <p:nvPr/>
        </p:nvSpPr>
        <p:spPr>
          <a:xfrm>
            <a:off x="658387" y="459363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D858511F-9614-DA43-A1E7-5C200F3CADBA}"/>
              </a:ext>
            </a:extLst>
          </p:cNvPr>
          <p:cNvSpPr/>
          <p:nvPr/>
        </p:nvSpPr>
        <p:spPr>
          <a:xfrm>
            <a:off x="2092712" y="5687121"/>
            <a:ext cx="825190" cy="57738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9C29A4-81B2-6349-A7E4-5C1A3AB5EF3F}"/>
              </a:ext>
            </a:extLst>
          </p:cNvPr>
          <p:cNvCxnSpPr/>
          <p:nvPr/>
        </p:nvCxnSpPr>
        <p:spPr>
          <a:xfrm>
            <a:off x="2516458" y="4850780"/>
            <a:ext cx="0" cy="691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063392-BF73-AF4C-9301-0228EE24B37A}"/>
              </a:ext>
            </a:extLst>
          </p:cNvPr>
          <p:cNvSpPr txBox="1"/>
          <p:nvPr/>
        </p:nvSpPr>
        <p:spPr>
          <a:xfrm>
            <a:off x="2368821" y="448144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7C882D-C93F-9C44-BBAB-006E5C639835}"/>
              </a:ext>
            </a:extLst>
          </p:cNvPr>
          <p:cNvSpPr txBox="1"/>
          <p:nvPr/>
        </p:nvSpPr>
        <p:spPr>
          <a:xfrm>
            <a:off x="1142433" y="3878612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by Value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FD0DCF3-021F-7C48-B9AB-7ADF59284282}"/>
              </a:ext>
            </a:extLst>
          </p:cNvPr>
          <p:cNvSpPr/>
          <p:nvPr/>
        </p:nvSpPr>
        <p:spPr>
          <a:xfrm>
            <a:off x="5917581" y="994939"/>
            <a:ext cx="3088887" cy="7111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Menlo" panose="020B0609030804020204" pitchFamily="49" charset="0"/>
              </a:rPr>
              <a:t>printList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(a):</a:t>
            </a:r>
          </a:p>
          <a:p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	</a:t>
            </a:r>
            <a:r>
              <a:rPr lang="en-IN" dirty="0" err="1">
                <a:solidFill>
                  <a:srgbClr val="000000"/>
                </a:solidFill>
                <a:latin typeface="Menlo" panose="020B0609030804020204" pitchFamily="49" charset="0"/>
              </a:rPr>
              <a:t>a.append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FB2B47-E422-FA40-B517-2F66E4F45A7E}"/>
              </a:ext>
            </a:extLst>
          </p:cNvPr>
          <p:cNvSpPr/>
          <p:nvPr/>
        </p:nvSpPr>
        <p:spPr>
          <a:xfrm>
            <a:off x="5917581" y="2306443"/>
            <a:ext cx="3088887" cy="112255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x= [</a:t>
            </a:r>
            <a:r>
              <a:rPr lang="en-IN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printList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List"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,x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30" name="Can 29">
            <a:extLst>
              <a:ext uri="{FF2B5EF4-FFF2-40B4-BE49-F238E27FC236}">
                <a16:creationId xmlns:a16="http://schemas.microsoft.com/office/drawing/2014/main" id="{AC4698FA-F0F8-B846-A162-66924F03CEAC}"/>
              </a:ext>
            </a:extLst>
          </p:cNvPr>
          <p:cNvSpPr/>
          <p:nvPr/>
        </p:nvSpPr>
        <p:spPr>
          <a:xfrm>
            <a:off x="5917581" y="5687121"/>
            <a:ext cx="825190" cy="57738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[1,2]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9C4B094-323A-5F41-A42B-8D40124A5475}"/>
              </a:ext>
            </a:extLst>
          </p:cNvPr>
          <p:cNvCxnSpPr/>
          <p:nvPr/>
        </p:nvCxnSpPr>
        <p:spPr>
          <a:xfrm>
            <a:off x="6341327" y="4850780"/>
            <a:ext cx="0" cy="691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5FB3643-0765-FC4F-9CC5-F920A44D355D}"/>
              </a:ext>
            </a:extLst>
          </p:cNvPr>
          <p:cNvSpPr txBox="1"/>
          <p:nvPr/>
        </p:nvSpPr>
        <p:spPr>
          <a:xfrm>
            <a:off x="6185675" y="459363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41D88E2-876C-3C44-B968-9A622B728DAE}"/>
              </a:ext>
            </a:extLst>
          </p:cNvPr>
          <p:cNvCxnSpPr>
            <a:cxnSpLocks/>
          </p:cNvCxnSpPr>
          <p:nvPr/>
        </p:nvCxnSpPr>
        <p:spPr>
          <a:xfrm flipH="1">
            <a:off x="6669722" y="4868177"/>
            <a:ext cx="497028" cy="673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A60EC00-41B2-1D42-B195-5F3AD44676A3}"/>
              </a:ext>
            </a:extLst>
          </p:cNvPr>
          <p:cNvSpPr txBox="1"/>
          <p:nvPr/>
        </p:nvSpPr>
        <p:spPr>
          <a:xfrm>
            <a:off x="7166750" y="459229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B2D499-C2E3-804F-9E8D-4DFC34AB1B38}"/>
              </a:ext>
            </a:extLst>
          </p:cNvPr>
          <p:cNvSpPr txBox="1"/>
          <p:nvPr/>
        </p:nvSpPr>
        <p:spPr>
          <a:xfrm>
            <a:off x="6669721" y="3878612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by Reference</a:t>
            </a:r>
          </a:p>
        </p:txBody>
      </p:sp>
    </p:spTree>
    <p:extLst>
      <p:ext uri="{BB962C8B-B14F-4D97-AF65-F5344CB8AC3E}">
        <p14:creationId xmlns:p14="http://schemas.microsoft.com/office/powerpoint/2010/main" val="337813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3" grpId="0"/>
      <p:bldP spid="14" grpId="0" animBg="1"/>
      <p:bldP spid="16" grpId="0"/>
      <p:bldP spid="17" grpId="0"/>
      <p:bldP spid="28" grpId="0" animBg="1"/>
      <p:bldP spid="29" grpId="0" animBg="1"/>
      <p:bldP spid="30" grpId="0" animBg="1"/>
      <p:bldP spid="32" grpId="0"/>
      <p:bldP spid="35" grpId="0"/>
      <p:bldP spid="3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A64AB-0F9B-4F48-A9C0-B1A22C913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D09E3-4713-E246-9FB8-C30C22585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return statement </a:t>
            </a:r>
            <a:r>
              <a:rPr lang="en-IN" dirty="0"/>
              <a:t>: return allows us to assign the output of the </a:t>
            </a:r>
            <a:r>
              <a:rPr lang="en-IN" dirty="0">
                <a:solidFill>
                  <a:srgbClr val="C00000"/>
                </a:solidFill>
              </a:rPr>
              <a:t>function to a new variable</a:t>
            </a:r>
            <a:r>
              <a:rPr lang="en-IN" dirty="0"/>
              <a:t>, return is use to send back the </a:t>
            </a:r>
            <a:r>
              <a:rPr lang="en-IN" dirty="0">
                <a:solidFill>
                  <a:srgbClr val="C00000"/>
                </a:solidFill>
              </a:rPr>
              <a:t>result of the function</a:t>
            </a:r>
            <a:r>
              <a:rPr lang="en-IN" dirty="0"/>
              <a:t>, instead of just </a:t>
            </a:r>
            <a:r>
              <a:rPr lang="en-IN" dirty="0">
                <a:solidFill>
                  <a:srgbClr val="C00000"/>
                </a:solidFill>
              </a:rPr>
              <a:t>printing it out</a:t>
            </a:r>
            <a:r>
              <a:rPr lang="en-IN" dirty="0"/>
              <a:t>.</a:t>
            </a:r>
          </a:p>
          <a:p>
            <a:r>
              <a:rPr lang="en-IN" dirty="0"/>
              <a:t>A return statement is used to </a:t>
            </a:r>
            <a:r>
              <a:rPr lang="en-IN" dirty="0">
                <a:solidFill>
                  <a:srgbClr val="C00000"/>
                </a:solidFill>
              </a:rPr>
              <a:t>end the execution </a:t>
            </a:r>
            <a:r>
              <a:rPr lang="en-IN" dirty="0"/>
              <a:t>of the function call. The statements after the return statements are </a:t>
            </a:r>
            <a:r>
              <a:rPr lang="en-IN" dirty="0">
                <a:solidFill>
                  <a:srgbClr val="C00000"/>
                </a:solidFill>
              </a:rPr>
              <a:t>not executed</a:t>
            </a:r>
            <a:r>
              <a:rPr lang="en-IN" dirty="0"/>
              <a:t>. </a:t>
            </a:r>
          </a:p>
          <a:p>
            <a:r>
              <a:rPr lang="en-IN" dirty="0"/>
              <a:t>If the return statement is without any expression, then the special value </a:t>
            </a:r>
            <a:r>
              <a:rPr lang="en-IN" dirty="0">
                <a:solidFill>
                  <a:srgbClr val="C00000"/>
                </a:solidFill>
              </a:rPr>
              <a:t>None is returned</a:t>
            </a:r>
            <a:r>
              <a:rPr lang="en-IN" dirty="0"/>
              <a:t>. </a:t>
            </a:r>
          </a:p>
          <a:p>
            <a:r>
              <a:rPr lang="en-IN" dirty="0"/>
              <a:t>In python we can return multiple values from function using </a:t>
            </a:r>
            <a:r>
              <a:rPr lang="en-IN" dirty="0">
                <a:solidFill>
                  <a:srgbClr val="C00000"/>
                </a:solidFill>
              </a:rPr>
              <a:t>object, tuple, list, Dictionary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B35A4B-2506-BB40-9FFD-590B1BD9DB2D}"/>
              </a:ext>
            </a:extLst>
          </p:cNvPr>
          <p:cNvSpPr/>
          <p:nvPr/>
        </p:nvSpPr>
        <p:spPr>
          <a:xfrm>
            <a:off x="946914" y="3836412"/>
            <a:ext cx="4881667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add_number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(n1,n2) 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n1 + n2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sum1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add_number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sum2 = 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add_number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Consolas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print(sum1)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print(sum2)</a:t>
            </a:r>
            <a:endParaRPr lang="en-US" sz="1600" b="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4BAEF2-01CB-3048-BAE7-826CA10D191B}"/>
              </a:ext>
            </a:extLst>
          </p:cNvPr>
          <p:cNvSpPr/>
          <p:nvPr/>
        </p:nvSpPr>
        <p:spPr>
          <a:xfrm>
            <a:off x="446921" y="3836412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3B9A112A-EFB4-7246-B9FB-B12E04580EF8}"/>
              </a:ext>
            </a:extLst>
          </p:cNvPr>
          <p:cNvSpPr/>
          <p:nvPr/>
        </p:nvSpPr>
        <p:spPr>
          <a:xfrm>
            <a:off x="446921" y="3507228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returnDemo.py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Line Callout 1 10">
            <a:extLst>
              <a:ext uri="{FF2B5EF4-FFF2-40B4-BE49-F238E27FC236}">
                <a16:creationId xmlns:a16="http://schemas.microsoft.com/office/drawing/2014/main" id="{74195BCD-1DFA-3446-BE37-AD48E0DDBBC0}"/>
              </a:ext>
            </a:extLst>
          </p:cNvPr>
          <p:cNvSpPr/>
          <p:nvPr/>
        </p:nvSpPr>
        <p:spPr>
          <a:xfrm>
            <a:off x="4689364" y="3983329"/>
            <a:ext cx="1406636" cy="1449238"/>
          </a:xfrm>
          <a:prstGeom prst="borderCallout1">
            <a:avLst>
              <a:gd name="adj1" fmla="val 53885"/>
              <a:gd name="adj2" fmla="val -612"/>
              <a:gd name="adj3" fmla="val 94290"/>
              <a:gd name="adj4" fmla="val -162381"/>
            </a:avLst>
          </a:prstGeom>
          <a:solidFill>
            <a:schemeClr val="bg1">
              <a:lumMod val="85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Output :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8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02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9" grpId="0" animBg="1"/>
      <p:bldP spid="10" grpId="0" animBg="1"/>
      <p:bldP spid="11" grpId="0" animBg="1"/>
      <p:bldP spid="11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EB8DA-1E0E-8044-A4BE-5C0CAAAC5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Multiple values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1849BF-8FE0-BB49-B537-7EF7A4B5E6B6}"/>
              </a:ext>
            </a:extLst>
          </p:cNvPr>
          <p:cNvSpPr/>
          <p:nvPr/>
        </p:nvSpPr>
        <p:spPr>
          <a:xfrm>
            <a:off x="790797" y="1305085"/>
            <a:ext cx="5487339" cy="280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test():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return multiple values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test()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test()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print(x)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print(x[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"a, b, c="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a,b,c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17C725-8335-1947-905E-92141ABDF25E}"/>
              </a:ext>
            </a:extLst>
          </p:cNvPr>
          <p:cNvSpPr/>
          <p:nvPr/>
        </p:nvSpPr>
        <p:spPr>
          <a:xfrm>
            <a:off x="290804" y="1305085"/>
            <a:ext cx="499993" cy="28007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AF8FEC0C-B3E4-7C4A-A394-4DA990671618}"/>
              </a:ext>
            </a:extLst>
          </p:cNvPr>
          <p:cNvSpPr/>
          <p:nvPr/>
        </p:nvSpPr>
        <p:spPr>
          <a:xfrm>
            <a:off x="290804" y="975901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returndemo.py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D41EB0-1D96-7A4F-B96A-E57E8D80F345}"/>
              </a:ext>
            </a:extLst>
          </p:cNvPr>
          <p:cNvSpPr/>
          <p:nvPr/>
        </p:nvSpPr>
        <p:spPr>
          <a:xfrm>
            <a:off x="6497443" y="1301603"/>
            <a:ext cx="4472312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(1, 2, 3)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2</a:t>
            </a:r>
          </a:p>
          <a:p>
            <a:r>
              <a:rPr lang="en-IN" sz="1600" b="1" dirty="0">
                <a:latin typeface="Consolas" pitchFamily="49" charset="0"/>
                <a:cs typeface="Consolas" panose="020B0609020204030204" pitchFamily="49" charset="0"/>
              </a:rPr>
              <a:t>a, b, c= 1 2 3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B36B5C3-3AA9-F042-803F-CDE8A8766F8A}"/>
              </a:ext>
            </a:extLst>
          </p:cNvPr>
          <p:cNvSpPr/>
          <p:nvPr/>
        </p:nvSpPr>
        <p:spPr>
          <a:xfrm>
            <a:off x="6497443" y="975901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8991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B4257-21DC-0045-958F-445B9395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Scope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E9D4F-CFFA-A849-AFF0-13F7B1CA6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variables in a program </a:t>
            </a:r>
            <a:r>
              <a:rPr lang="en-US" dirty="0">
                <a:solidFill>
                  <a:schemeClr val="accent6"/>
                </a:solidFill>
              </a:rPr>
              <a:t>may not be accessible at all locations</a:t>
            </a:r>
            <a:r>
              <a:rPr lang="en-US" dirty="0"/>
              <a:t> in that program. This depends on where you have </a:t>
            </a:r>
            <a:r>
              <a:rPr lang="en-US" dirty="0">
                <a:solidFill>
                  <a:schemeClr val="accent6"/>
                </a:solidFill>
              </a:rPr>
              <a:t>declared a variable</a:t>
            </a:r>
            <a:r>
              <a:rPr lang="en-US" dirty="0"/>
              <a:t>.</a:t>
            </a:r>
          </a:p>
          <a:p>
            <a:r>
              <a:rPr lang="en-US" dirty="0"/>
              <a:t>The scope of a variable determines the portion of the program where you can access a particular identifier. There are two basic scopes of variables in Python:</a:t>
            </a:r>
          </a:p>
          <a:p>
            <a:pPr lvl="1"/>
            <a:r>
              <a:rPr lang="en-US" dirty="0"/>
              <a:t>Global variables</a:t>
            </a:r>
          </a:p>
          <a:p>
            <a:pPr lvl="1"/>
            <a:r>
              <a:rPr lang="en-US" dirty="0"/>
              <a:t>Local variables</a:t>
            </a:r>
          </a:p>
          <a:p>
            <a:r>
              <a:rPr lang="en-US" altLang="en-US" dirty="0"/>
              <a:t>Variables that are defined inside a </a:t>
            </a:r>
            <a:r>
              <a:rPr lang="en-US" altLang="en-US" dirty="0">
                <a:solidFill>
                  <a:schemeClr val="accent6"/>
                </a:solidFill>
              </a:rPr>
              <a:t>function body have a local scope</a:t>
            </a:r>
            <a:r>
              <a:rPr lang="en-US" altLang="en-US" dirty="0"/>
              <a:t>, and those defined outside have a </a:t>
            </a:r>
            <a:r>
              <a:rPr lang="en-US" altLang="en-US" dirty="0">
                <a:solidFill>
                  <a:schemeClr val="accent6"/>
                </a:solidFill>
              </a:rPr>
              <a:t>global scope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This means that local variables can be accessed </a:t>
            </a:r>
            <a:r>
              <a:rPr lang="en-US" altLang="en-US" dirty="0">
                <a:solidFill>
                  <a:schemeClr val="accent6"/>
                </a:solidFill>
              </a:rPr>
              <a:t>only inside the function </a:t>
            </a:r>
            <a:r>
              <a:rPr lang="en-US" altLang="en-US" dirty="0"/>
              <a:t>in which they are declared.</a:t>
            </a:r>
          </a:p>
          <a:p>
            <a:r>
              <a:rPr lang="en-US" altLang="en-US" dirty="0"/>
              <a:t>whereas global variables can be accessed throughout the </a:t>
            </a:r>
            <a:r>
              <a:rPr lang="en-US" altLang="en-US" dirty="0">
                <a:solidFill>
                  <a:schemeClr val="accent6"/>
                </a:solidFill>
              </a:rPr>
              <a:t>program body by all functions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When we call a function, the variables declared inside it are </a:t>
            </a:r>
            <a:r>
              <a:rPr lang="en-US" altLang="en-US" dirty="0">
                <a:solidFill>
                  <a:schemeClr val="accent6"/>
                </a:solidFill>
              </a:rPr>
              <a:t>brought into scope</a:t>
            </a:r>
            <a:r>
              <a:rPr lang="en-US" alt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53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2C91D-212D-4148-837B-9B8853D92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Variables </a:t>
            </a:r>
            <a:r>
              <a:rPr lang="en-IN" dirty="0"/>
              <a:t>(cont.)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CC69DB-A9B9-D043-A01B-6DAC1D135AE7}"/>
              </a:ext>
            </a:extLst>
          </p:cNvPr>
          <p:cNvSpPr/>
          <p:nvPr/>
        </p:nvSpPr>
        <p:spPr>
          <a:xfrm>
            <a:off x="688892" y="1316236"/>
            <a:ext cx="6473236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 = 0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sum( arg1, arg2 ):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 = arg1 + arg2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 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the function local total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total)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total; 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Now you can call sum function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sum(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 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"Outside the function global total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total)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15C9D8-9231-8F40-B942-09F0136C3410}"/>
              </a:ext>
            </a:extLst>
          </p:cNvPr>
          <p:cNvSpPr/>
          <p:nvPr/>
        </p:nvSpPr>
        <p:spPr>
          <a:xfrm>
            <a:off x="188899" y="1316236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6CD528B-D059-ED4D-A937-B6EECE9F21D9}"/>
              </a:ext>
            </a:extLst>
          </p:cNvPr>
          <p:cNvSpPr/>
          <p:nvPr/>
        </p:nvSpPr>
        <p:spPr>
          <a:xfrm>
            <a:off x="188899" y="9870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Local.py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102AC2-B5BA-5746-A9E2-366CA231CFCA}"/>
              </a:ext>
            </a:extLst>
          </p:cNvPr>
          <p:cNvSpPr/>
          <p:nvPr/>
        </p:nvSpPr>
        <p:spPr>
          <a:xfrm>
            <a:off x="7356088" y="1312754"/>
            <a:ext cx="4647013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Inside the function local total :  30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Outside the function global total :  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4D8C5D3-8927-FD47-A36B-D38D104D9310}"/>
              </a:ext>
            </a:extLst>
          </p:cNvPr>
          <p:cNvSpPr/>
          <p:nvPr/>
        </p:nvSpPr>
        <p:spPr>
          <a:xfrm>
            <a:off x="7356088" y="987052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DADAEE-7DA8-9F41-9492-818C624211A4}"/>
              </a:ext>
            </a:extLst>
          </p:cNvPr>
          <p:cNvSpPr/>
          <p:nvPr/>
        </p:nvSpPr>
        <p:spPr>
          <a:xfrm>
            <a:off x="688892" y="4100324"/>
            <a:ext cx="6473236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 = 0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sum( arg1, arg2 ):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total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 = arg1 + arg2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 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"Inside the function local total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total)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total; 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Now you can call sum function 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sum(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);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 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"Outside the function global total : 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total)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D7B9C8-9AD5-C447-8038-A9B4CDF0FA1C}"/>
              </a:ext>
            </a:extLst>
          </p:cNvPr>
          <p:cNvSpPr/>
          <p:nvPr/>
        </p:nvSpPr>
        <p:spPr>
          <a:xfrm>
            <a:off x="188899" y="4100324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DA56560C-80CA-E44B-A6C6-3A350CF67FCC}"/>
              </a:ext>
            </a:extLst>
          </p:cNvPr>
          <p:cNvSpPr/>
          <p:nvPr/>
        </p:nvSpPr>
        <p:spPr>
          <a:xfrm>
            <a:off x="188899" y="3771140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Global.py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05EB0A-DF87-1640-AF69-6F6E6890652A}"/>
              </a:ext>
            </a:extLst>
          </p:cNvPr>
          <p:cNvSpPr/>
          <p:nvPr/>
        </p:nvSpPr>
        <p:spPr>
          <a:xfrm>
            <a:off x="7356088" y="4096842"/>
            <a:ext cx="4647013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Inside the function local total :  30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Outside the function global total :  30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ED4B0AE6-2716-C44C-9FE0-A9BEA464C609}"/>
              </a:ext>
            </a:extLst>
          </p:cNvPr>
          <p:cNvSpPr/>
          <p:nvPr/>
        </p:nvSpPr>
        <p:spPr>
          <a:xfrm>
            <a:off x="7356088" y="3771140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2498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21E46-B0A0-274C-8A15-23F4D1E80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489B3-BBE1-3148-93B6-1F5D08D9F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use the </a:t>
            </a:r>
            <a:r>
              <a:rPr lang="en-US" dirty="0">
                <a:solidFill>
                  <a:schemeClr val="accent6"/>
                </a:solidFill>
              </a:rPr>
              <a:t>lambda keyword</a:t>
            </a:r>
            <a:r>
              <a:rPr lang="en-US" dirty="0"/>
              <a:t> to create small anonymous functions.</a:t>
            </a:r>
          </a:p>
          <a:p>
            <a:r>
              <a:rPr lang="en-US" altLang="en-US" dirty="0"/>
              <a:t>These functions are called anonymous because they are not declared in the standard manner by using the </a:t>
            </a:r>
            <a:r>
              <a:rPr lang="en-US" altLang="en-US" i="1" dirty="0">
                <a:solidFill>
                  <a:schemeClr val="accent6"/>
                </a:solidFill>
              </a:rPr>
              <a:t>def</a:t>
            </a:r>
            <a:r>
              <a:rPr lang="en-US" altLang="en-US" dirty="0">
                <a:solidFill>
                  <a:schemeClr val="accent6"/>
                </a:solidFill>
              </a:rPr>
              <a:t> keyword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lambda forms can take any number of arguments but return </a:t>
            </a:r>
            <a:r>
              <a:rPr lang="en-US" altLang="en-US" dirty="0">
                <a:solidFill>
                  <a:schemeClr val="accent6"/>
                </a:solidFill>
              </a:rPr>
              <a:t>just one value in the form of an expression</a:t>
            </a:r>
            <a:r>
              <a:rPr lang="en-US" altLang="en-US" dirty="0"/>
              <a:t>. They cannot contain </a:t>
            </a:r>
            <a:r>
              <a:rPr lang="en-US" altLang="en-US" dirty="0">
                <a:solidFill>
                  <a:schemeClr val="accent6"/>
                </a:solidFill>
              </a:rPr>
              <a:t>multiple expressions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An anonymous function cannot be a direct call to </a:t>
            </a:r>
            <a:r>
              <a:rPr lang="en-US" altLang="en-US" dirty="0">
                <a:solidFill>
                  <a:schemeClr val="accent6"/>
                </a:solidFill>
              </a:rPr>
              <a:t>print</a:t>
            </a:r>
            <a:r>
              <a:rPr lang="en-US" altLang="en-US" dirty="0"/>
              <a:t> because lambda requires an expression.</a:t>
            </a:r>
          </a:p>
          <a:p>
            <a:r>
              <a:rPr lang="en-US" altLang="en-US" dirty="0"/>
              <a:t>lambda functions have their own </a:t>
            </a:r>
            <a:r>
              <a:rPr lang="en-US" altLang="en-US" dirty="0">
                <a:solidFill>
                  <a:schemeClr val="accent6"/>
                </a:solidFill>
              </a:rPr>
              <a:t>local namespace and cannot access variables </a:t>
            </a:r>
            <a:r>
              <a:rPr lang="en-US" altLang="en-US" dirty="0"/>
              <a:t>other than those in their parameter list and those in the global namespace.</a:t>
            </a:r>
          </a:p>
          <a:p>
            <a:r>
              <a:rPr lang="en-US" altLang="en-US" dirty="0"/>
              <a:t>Although it appears that lambda's are a one-line version of a function, they are not equivalent to </a:t>
            </a:r>
            <a:r>
              <a:rPr lang="en-US" altLang="en-US" dirty="0">
                <a:solidFill>
                  <a:schemeClr val="accent6"/>
                </a:solidFill>
              </a:rPr>
              <a:t>inline statements </a:t>
            </a:r>
            <a:r>
              <a:rPr lang="en-US" altLang="en-US" dirty="0"/>
              <a:t>in C or C++.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0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D511-1B2D-E347-BB12-D95391DE9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 (cont.)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4F1BB0-B966-F44C-A9B7-F465DA5A1A9C}"/>
              </a:ext>
            </a:extLst>
          </p:cNvPr>
          <p:cNvSpPr/>
          <p:nvPr/>
        </p:nvSpPr>
        <p:spPr>
          <a:xfrm>
            <a:off x="1000793" y="1171175"/>
            <a:ext cx="475323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arg1,arg2..argN: expression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7CC1BA-B59E-934F-A041-DE7253B1D8BD}"/>
              </a:ext>
            </a:extLst>
          </p:cNvPr>
          <p:cNvSpPr/>
          <p:nvPr/>
        </p:nvSpPr>
        <p:spPr>
          <a:xfrm>
            <a:off x="500800" y="1171175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0" name="Rectangle: Top Corners Rounded 6">
            <a:extLst>
              <a:ext uri="{FF2B5EF4-FFF2-40B4-BE49-F238E27FC236}">
                <a16:creationId xmlns:a16="http://schemas.microsoft.com/office/drawing/2014/main" id="{03F4003D-B5E6-EE45-8FEC-E786E70CA076}"/>
              </a:ext>
            </a:extLst>
          </p:cNvPr>
          <p:cNvSpPr/>
          <p:nvPr/>
        </p:nvSpPr>
        <p:spPr>
          <a:xfrm>
            <a:off x="500800" y="84199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63901A8-FBEA-EA4B-9BB4-75308BC29795}"/>
              </a:ext>
            </a:extLst>
          </p:cNvPr>
          <p:cNvSpPr txBox="1">
            <a:spLocks/>
          </p:cNvSpPr>
          <p:nvPr/>
        </p:nvSpPr>
        <p:spPr>
          <a:xfrm>
            <a:off x="131180" y="1751091"/>
            <a:ext cx="11929641" cy="2229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parameters are </a:t>
            </a:r>
            <a:r>
              <a:rPr lang="en-US" dirty="0">
                <a:solidFill>
                  <a:schemeClr val="accent6"/>
                </a:solidFill>
              </a:rPr>
              <a:t>optional, </a:t>
            </a:r>
            <a:r>
              <a:rPr lang="en-US" dirty="0"/>
              <a:t>and if supplied they are normally just comma- separated variable names, that is, </a:t>
            </a:r>
            <a:r>
              <a:rPr lang="en-US" dirty="0">
                <a:solidFill>
                  <a:schemeClr val="accent6"/>
                </a:solidFill>
              </a:rPr>
              <a:t>positional arguments</a:t>
            </a:r>
            <a:r>
              <a:rPr lang="en-US" dirty="0"/>
              <a:t>.</a:t>
            </a:r>
          </a:p>
          <a:p>
            <a:r>
              <a:rPr lang="en-US" dirty="0"/>
              <a:t>Lambda functions accept all kinds of arguments, just like normal def function</a:t>
            </a:r>
          </a:p>
          <a:p>
            <a:r>
              <a:rPr lang="en-US" dirty="0"/>
              <a:t>The expression can </a:t>
            </a:r>
            <a:r>
              <a:rPr lang="en-US" dirty="0">
                <a:solidFill>
                  <a:schemeClr val="accent6"/>
                </a:solidFill>
              </a:rPr>
              <a:t>not contain branches or loops </a:t>
            </a:r>
            <a:r>
              <a:rPr lang="en-US" dirty="0"/>
              <a:t>(although conditional expressions are allowed), and cannot have a return statement. The result of a lambda expression is an </a:t>
            </a:r>
            <a:r>
              <a:rPr lang="en-US" dirty="0">
                <a:solidFill>
                  <a:schemeClr val="accent6"/>
                </a:solidFill>
              </a:rPr>
              <a:t>anonymous function</a:t>
            </a:r>
            <a:r>
              <a:rPr lang="en-US" dirty="0"/>
              <a:t>. </a:t>
            </a:r>
          </a:p>
          <a:p>
            <a:r>
              <a:rPr lang="en-US" dirty="0"/>
              <a:t>When a lambda function is called it </a:t>
            </a:r>
            <a:r>
              <a:rPr lang="en-US" dirty="0">
                <a:solidFill>
                  <a:schemeClr val="accent6"/>
                </a:solidFill>
              </a:rPr>
              <a:t>returns the result of computing the expression </a:t>
            </a:r>
            <a:r>
              <a:rPr lang="en-US" dirty="0"/>
              <a:t>as its result.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5A8C04-9352-8E4D-A0E9-46597911841B}"/>
              </a:ext>
            </a:extLst>
          </p:cNvPr>
          <p:cNvSpPr/>
          <p:nvPr/>
        </p:nvSpPr>
        <p:spPr>
          <a:xfrm>
            <a:off x="1000793" y="4864170"/>
            <a:ext cx="4262635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arg1,arg2: arg1 + arg2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Total"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,sum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77F1AB-3AE4-0F43-BA1B-D81E2560668F}"/>
              </a:ext>
            </a:extLst>
          </p:cNvPr>
          <p:cNvSpPr/>
          <p:nvPr/>
        </p:nvSpPr>
        <p:spPr>
          <a:xfrm>
            <a:off x="500800" y="4864170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24" name="Rectangle: Top Corners Rounded 6">
            <a:extLst>
              <a:ext uri="{FF2B5EF4-FFF2-40B4-BE49-F238E27FC236}">
                <a16:creationId xmlns:a16="http://schemas.microsoft.com/office/drawing/2014/main" id="{A281FFCC-ACB6-D141-B785-0488B2C65A70}"/>
              </a:ext>
            </a:extLst>
          </p:cNvPr>
          <p:cNvSpPr/>
          <p:nvPr/>
        </p:nvSpPr>
        <p:spPr>
          <a:xfrm>
            <a:off x="500800" y="4534986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Example.py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3B0B4D-F172-BD41-BDDB-A0BDB8A5E829}"/>
              </a:ext>
            </a:extLst>
          </p:cNvPr>
          <p:cNvSpPr/>
          <p:nvPr/>
        </p:nvSpPr>
        <p:spPr>
          <a:xfrm>
            <a:off x="546252" y="6016009"/>
            <a:ext cx="150562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Total 10</a:t>
            </a:r>
          </a:p>
        </p:txBody>
      </p:sp>
      <p:sp>
        <p:nvSpPr>
          <p:cNvPr id="26" name="Rectangle: Top Corners Rounded 6">
            <a:extLst>
              <a:ext uri="{FF2B5EF4-FFF2-40B4-BE49-F238E27FC236}">
                <a16:creationId xmlns:a16="http://schemas.microsoft.com/office/drawing/2014/main" id="{83E483C5-A7FE-8645-9426-0D5BC7E98939}"/>
              </a:ext>
            </a:extLst>
          </p:cNvPr>
          <p:cNvSpPr/>
          <p:nvPr/>
        </p:nvSpPr>
        <p:spPr>
          <a:xfrm>
            <a:off x="546251" y="5690307"/>
            <a:ext cx="803047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307513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 animBg="1"/>
      <p:bldP spid="19" grpId="0" animBg="1"/>
      <p:bldP spid="20" grpId="0" animBg="1"/>
      <p:bldP spid="22" grpId="0" build="p" animBg="1"/>
      <p:bldP spid="23" grpId="0" animBg="1"/>
      <p:bldP spid="24" grpId="0" animBg="1"/>
      <p:bldP spid="25" grpId="0" build="p" animBg="1"/>
      <p:bldP spid="2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AEC5-9F77-7D43-9C4F-30638DFF8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lambda Function (cont.)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5A4383-2032-D943-9031-6B2A3EB43FF7}"/>
              </a:ext>
            </a:extLst>
          </p:cNvPr>
          <p:cNvSpPr/>
          <p:nvPr/>
        </p:nvSpPr>
        <p:spPr>
          <a:xfrm>
            <a:off x="688892" y="1316236"/>
            <a:ext cx="6473236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cube(y):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y*y*y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lambda_cube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y: y*y*y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using the normally defined function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print(cube(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using the lambda function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lambda_cube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4AD1EB-B8CE-6A4C-98AA-2F27F0FD3A00}"/>
              </a:ext>
            </a:extLst>
          </p:cNvPr>
          <p:cNvSpPr/>
          <p:nvPr/>
        </p:nvSpPr>
        <p:spPr>
          <a:xfrm>
            <a:off x="188899" y="1316236"/>
            <a:ext cx="499993" cy="20621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FB0191A9-E61F-1F44-9B40-FEBB8AB9A9DE}"/>
              </a:ext>
            </a:extLst>
          </p:cNvPr>
          <p:cNvSpPr/>
          <p:nvPr/>
        </p:nvSpPr>
        <p:spPr>
          <a:xfrm>
            <a:off x="188899" y="9870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Cube.py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01C471-BCC3-064D-A97A-A76CACA96D3D}"/>
              </a:ext>
            </a:extLst>
          </p:cNvPr>
          <p:cNvSpPr/>
          <p:nvPr/>
        </p:nvSpPr>
        <p:spPr>
          <a:xfrm>
            <a:off x="7969405" y="1312754"/>
            <a:ext cx="151486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125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125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74257248-2D0C-EA4C-9AA7-367C5378D838}"/>
              </a:ext>
            </a:extLst>
          </p:cNvPr>
          <p:cNvSpPr/>
          <p:nvPr/>
        </p:nvSpPr>
        <p:spPr>
          <a:xfrm>
            <a:off x="7969406" y="987052"/>
            <a:ext cx="8512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2695F6-67F6-1B4B-8141-FABBB05B0BFB}"/>
              </a:ext>
            </a:extLst>
          </p:cNvPr>
          <p:cNvSpPr/>
          <p:nvPr/>
        </p:nvSpPr>
        <p:spPr>
          <a:xfrm>
            <a:off x="688892" y="3879771"/>
            <a:ext cx="647323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Example of lambda function using if-else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a, b : a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 &gt; b)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print(Max(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31C183-0DA8-5044-9767-C8FF2E86FDE6}"/>
              </a:ext>
            </a:extLst>
          </p:cNvPr>
          <p:cNvSpPr/>
          <p:nvPr/>
        </p:nvSpPr>
        <p:spPr>
          <a:xfrm>
            <a:off x="188899" y="3879771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4C8CFE06-B15F-5849-B4C0-180E2AEA184E}"/>
              </a:ext>
            </a:extLst>
          </p:cNvPr>
          <p:cNvSpPr/>
          <p:nvPr/>
        </p:nvSpPr>
        <p:spPr>
          <a:xfrm>
            <a:off x="188899" y="355058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WithIfElse.py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D84D73-694F-C544-8BA2-F9726DD50156}"/>
              </a:ext>
            </a:extLst>
          </p:cNvPr>
          <p:cNvSpPr/>
          <p:nvPr/>
        </p:nvSpPr>
        <p:spPr>
          <a:xfrm>
            <a:off x="7969405" y="3876289"/>
            <a:ext cx="151486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2F05F35D-DBD2-E944-999C-9B2D68F8A99A}"/>
              </a:ext>
            </a:extLst>
          </p:cNvPr>
          <p:cNvSpPr/>
          <p:nvPr/>
        </p:nvSpPr>
        <p:spPr>
          <a:xfrm>
            <a:off x="7969405" y="3550587"/>
            <a:ext cx="85121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8D68F5-B33D-8149-87C2-44546E334CB2}"/>
              </a:ext>
            </a:extLst>
          </p:cNvPr>
          <p:cNvSpPr/>
          <p:nvPr/>
        </p:nvSpPr>
        <p:spPr>
          <a:xfrm>
            <a:off x="688892" y="5212200"/>
            <a:ext cx="6473236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Lambda functions can be Immediately Invoked	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print((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x: x*x)(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6FA0DA-7840-0549-A6C4-68E95E0B3C83}"/>
              </a:ext>
            </a:extLst>
          </p:cNvPr>
          <p:cNvSpPr/>
          <p:nvPr/>
        </p:nvSpPr>
        <p:spPr>
          <a:xfrm>
            <a:off x="188899" y="5212200"/>
            <a:ext cx="499993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25" name="Rectangle: Top Corners Rounded 6">
            <a:extLst>
              <a:ext uri="{FF2B5EF4-FFF2-40B4-BE49-F238E27FC236}">
                <a16:creationId xmlns:a16="http://schemas.microsoft.com/office/drawing/2014/main" id="{64FA6205-402F-0746-8C5E-EF4D832B1074}"/>
              </a:ext>
            </a:extLst>
          </p:cNvPr>
          <p:cNvSpPr/>
          <p:nvPr/>
        </p:nvSpPr>
        <p:spPr>
          <a:xfrm>
            <a:off x="188899" y="4883016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call.py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0B1CF3-CB81-2C4B-8CF8-9EC092C3C6B2}"/>
              </a:ext>
            </a:extLst>
          </p:cNvPr>
          <p:cNvSpPr/>
          <p:nvPr/>
        </p:nvSpPr>
        <p:spPr>
          <a:xfrm>
            <a:off x="7969405" y="5373310"/>
            <a:ext cx="151486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9</a:t>
            </a:r>
          </a:p>
        </p:txBody>
      </p:sp>
      <p:sp>
        <p:nvSpPr>
          <p:cNvPr id="27" name="Rectangle: Top Corners Rounded 6">
            <a:extLst>
              <a:ext uri="{FF2B5EF4-FFF2-40B4-BE49-F238E27FC236}">
                <a16:creationId xmlns:a16="http://schemas.microsoft.com/office/drawing/2014/main" id="{D00B70CE-F934-F444-8B9F-C92CCC13C692}"/>
              </a:ext>
            </a:extLst>
          </p:cNvPr>
          <p:cNvSpPr/>
          <p:nvPr/>
        </p:nvSpPr>
        <p:spPr>
          <a:xfrm>
            <a:off x="7969405" y="5047608"/>
            <a:ext cx="85121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3788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  <p:bldP spid="18" grpId="0" build="p" animBg="1"/>
      <p:bldP spid="24" grpId="0" animBg="1"/>
      <p:bldP spid="25" grpId="0" animBg="1"/>
      <p:bldP spid="26" grpId="0" build="p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23AD2-453A-D16E-4A4D-E258EC48F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55F5B-0C2C-28F3-FB57-51A3465CC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950096"/>
          </a:xfrm>
        </p:spPr>
        <p:txBody>
          <a:bodyPr/>
          <a:lstStyle/>
          <a:p>
            <a:r>
              <a:rPr lang="en-US" dirty="0"/>
              <a:t>map() function returns a map </a:t>
            </a:r>
            <a:r>
              <a:rPr lang="en-US" dirty="0">
                <a:solidFill>
                  <a:srgbClr val="C62827"/>
                </a:solidFill>
              </a:rPr>
              <a:t>object(which is an iterator) </a:t>
            </a:r>
            <a:r>
              <a:rPr lang="en-US" dirty="0"/>
              <a:t>of the results after applying the given function to each item of a given </a:t>
            </a:r>
            <a:r>
              <a:rPr lang="en-US" dirty="0" err="1">
                <a:solidFill>
                  <a:srgbClr val="C62827"/>
                </a:solidFill>
              </a:rPr>
              <a:t>iterable</a:t>
            </a:r>
            <a:r>
              <a:rPr lang="en-US" dirty="0">
                <a:solidFill>
                  <a:srgbClr val="C62827"/>
                </a:solidFill>
              </a:rPr>
              <a:t> (list, tuple etc.)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97828A-9D7A-9F89-A43B-20AF6F1709F1}"/>
              </a:ext>
            </a:extLst>
          </p:cNvPr>
          <p:cNvSpPr/>
          <p:nvPr/>
        </p:nvSpPr>
        <p:spPr>
          <a:xfrm>
            <a:off x="1103663" y="2142725"/>
            <a:ext cx="4753236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map(fun, </a:t>
            </a:r>
            <a:r>
              <a:rPr lang="en-IN" sz="160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iterable</a:t>
            </a:r>
            <a:r>
              <a:rPr lang="en-IN" sz="1600" dirty="0">
                <a:solidFill>
                  <a:schemeClr val="tx1">
                    <a:lumMod val="90000"/>
                    <a:lumOff val="1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0DE704-BB0E-E9E0-C45F-DC0C8CE93D44}"/>
              </a:ext>
            </a:extLst>
          </p:cNvPr>
          <p:cNvSpPr/>
          <p:nvPr/>
        </p:nvSpPr>
        <p:spPr>
          <a:xfrm>
            <a:off x="603670" y="2142725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970D219-49F2-20BA-3D1B-3A7062B0BC2E}"/>
              </a:ext>
            </a:extLst>
          </p:cNvPr>
          <p:cNvSpPr/>
          <p:nvPr/>
        </p:nvSpPr>
        <p:spPr>
          <a:xfrm>
            <a:off x="603670" y="1813541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Syntax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75BA6F-0CC6-3BFD-1D26-DC6F124AE18A}"/>
              </a:ext>
            </a:extLst>
          </p:cNvPr>
          <p:cNvSpPr/>
          <p:nvPr/>
        </p:nvSpPr>
        <p:spPr>
          <a:xfrm>
            <a:off x="1103663" y="3092821"/>
            <a:ext cx="6473236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addition(n):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 * n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numbers = 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 = list(map(addition, numbers))</a:t>
            </a: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result = list(map(lambda 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n:n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IN" sz="1600" dirty="0" err="1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n,numbers</a:t>
            </a: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print(result)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411D93-D4F5-E916-0448-186FAB9D5E22}"/>
              </a:ext>
            </a:extLst>
          </p:cNvPr>
          <p:cNvSpPr/>
          <p:nvPr/>
        </p:nvSpPr>
        <p:spPr>
          <a:xfrm>
            <a:off x="603670" y="3092821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D2228FCD-B1A6-4A51-E6AE-56AE1D88D26D}"/>
              </a:ext>
            </a:extLst>
          </p:cNvPr>
          <p:cNvSpPr/>
          <p:nvPr/>
        </p:nvSpPr>
        <p:spPr>
          <a:xfrm>
            <a:off x="603670" y="2763637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demo1.py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06E3EC-4AFF-1124-D736-4D3DE8E2249F}"/>
              </a:ext>
            </a:extLst>
          </p:cNvPr>
          <p:cNvSpPr/>
          <p:nvPr/>
        </p:nvSpPr>
        <p:spPr>
          <a:xfrm>
            <a:off x="8384176" y="3089339"/>
            <a:ext cx="151486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[1, 4, 9, 16]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98F51169-E704-032E-3524-5B7BB22C2354}"/>
              </a:ext>
            </a:extLst>
          </p:cNvPr>
          <p:cNvSpPr/>
          <p:nvPr/>
        </p:nvSpPr>
        <p:spPr>
          <a:xfrm>
            <a:off x="8384177" y="2763637"/>
            <a:ext cx="8512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B74D2-E731-FE0A-2E3C-4322DC8AE5C6}"/>
              </a:ext>
            </a:extLst>
          </p:cNvPr>
          <p:cNvSpPr/>
          <p:nvPr/>
        </p:nvSpPr>
        <p:spPr>
          <a:xfrm>
            <a:off x="1103663" y="5358636"/>
            <a:ext cx="647323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Darshan"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"University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lengthdata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2B91A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map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len,strdata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lengthdata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BF6B85-0889-DF20-88FD-A967817C1BEA}"/>
              </a:ext>
            </a:extLst>
          </p:cNvPr>
          <p:cNvSpPr/>
          <p:nvPr/>
        </p:nvSpPr>
        <p:spPr>
          <a:xfrm>
            <a:off x="603670" y="535863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BDF8E526-936F-D23A-43DA-55D5BFF17255}"/>
              </a:ext>
            </a:extLst>
          </p:cNvPr>
          <p:cNvSpPr/>
          <p:nvPr/>
        </p:nvSpPr>
        <p:spPr>
          <a:xfrm>
            <a:off x="603670" y="50294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demo2.py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3A55E4-007D-7D47-91B3-DB7E97790FF1}"/>
              </a:ext>
            </a:extLst>
          </p:cNvPr>
          <p:cNvSpPr/>
          <p:nvPr/>
        </p:nvSpPr>
        <p:spPr>
          <a:xfrm>
            <a:off x="8076892" y="5524598"/>
            <a:ext cx="1514861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[7, 10]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9E02F882-F23C-0855-8191-EC4A7523E39F}"/>
              </a:ext>
            </a:extLst>
          </p:cNvPr>
          <p:cNvSpPr/>
          <p:nvPr/>
        </p:nvSpPr>
        <p:spPr>
          <a:xfrm>
            <a:off x="8076893" y="5198896"/>
            <a:ext cx="8512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69757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  <p:bldP spid="12" grpId="0" build="p" animBg="1"/>
      <p:bldP spid="13" grpId="0" animBg="1"/>
      <p:bldP spid="14" grpId="0" animBg="1"/>
      <p:bldP spid="15" grpId="0" build="p" animBg="1"/>
      <p:bldP spid="1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3F67-859B-947D-D381-7AD92A855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8FC77-602B-C036-839D-65E2A2856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919635"/>
          </a:xfrm>
        </p:spPr>
        <p:txBody>
          <a:bodyPr/>
          <a:lstStyle/>
          <a:p>
            <a:r>
              <a:rPr lang="en-US" dirty="0"/>
              <a:t>To find out items based on a test function we can use a Filter.</a:t>
            </a:r>
          </a:p>
          <a:p>
            <a:r>
              <a:rPr lang="en-US" dirty="0"/>
              <a:t>For example, the following filter call picks out items in a sequence that are divide by 2: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D4DE2B-F868-91A8-0066-B436C337D2A2}"/>
              </a:ext>
            </a:extLst>
          </p:cNvPr>
          <p:cNvSpPr/>
          <p:nvPr/>
        </p:nvSpPr>
        <p:spPr>
          <a:xfrm>
            <a:off x="955073" y="2264508"/>
            <a:ext cx="6473236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lista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[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6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]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ans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>
                <a:solidFill>
                  <a:srgbClr val="2B91AF"/>
                </a:solidFill>
                <a:latin typeface="Menlo" panose="020B0609030804020204" pitchFamily="49" charset="0"/>
              </a:rPr>
              <a:t>list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2B91AF"/>
                </a:solidFill>
                <a:latin typeface="Menlo" panose="020B0609030804020204" pitchFamily="49" charset="0"/>
              </a:rPr>
              <a:t>filter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lambda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808080"/>
                </a:solidFill>
                <a:latin typeface="Menlo" panose="020B060903080402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 </a:t>
            </a:r>
            <a:r>
              <a:rPr lang="en-IN" sz="1600" dirty="0">
                <a:solidFill>
                  <a:srgbClr val="808080"/>
                </a:solidFill>
                <a:latin typeface="Menlo" panose="020B0609030804020204" pitchFamily="49" charset="0"/>
              </a:rPr>
              <a:t>x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%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,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lista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ans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B445E-7B8E-A535-3A50-CCE5DE8E7464}"/>
              </a:ext>
            </a:extLst>
          </p:cNvPr>
          <p:cNvSpPr/>
          <p:nvPr/>
        </p:nvSpPr>
        <p:spPr>
          <a:xfrm>
            <a:off x="455080" y="2264508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E56461F4-D8DD-B5AC-AF93-E08502149666}"/>
              </a:ext>
            </a:extLst>
          </p:cNvPr>
          <p:cNvSpPr/>
          <p:nvPr/>
        </p:nvSpPr>
        <p:spPr>
          <a:xfrm>
            <a:off x="455080" y="1935324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demo1.py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EB9B76-5C39-7489-0679-FBF720FA53F6}"/>
              </a:ext>
            </a:extLst>
          </p:cNvPr>
          <p:cNvSpPr/>
          <p:nvPr/>
        </p:nvSpPr>
        <p:spPr>
          <a:xfrm>
            <a:off x="7928302" y="2430470"/>
            <a:ext cx="194721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[2, 4, 6, 8, 10]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8570AEE5-6C16-9D3B-1120-A77938B62F8D}"/>
              </a:ext>
            </a:extLst>
          </p:cNvPr>
          <p:cNvSpPr/>
          <p:nvPr/>
        </p:nvSpPr>
        <p:spPr>
          <a:xfrm>
            <a:off x="7928303" y="2104768"/>
            <a:ext cx="8512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98520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96C35-11AE-D641-8C00-674AA7656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765A0-0874-664D-A18B-9E12D89C9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function which calls </a:t>
            </a:r>
            <a:r>
              <a:rPr lang="en-US" dirty="0">
                <a:solidFill>
                  <a:schemeClr val="accent6"/>
                </a:solidFill>
              </a:rPr>
              <a:t>itself is </a:t>
            </a:r>
            <a:r>
              <a:rPr lang="en-US" dirty="0"/>
              <a:t>called recursive function and such function calls are called recursive calls. </a:t>
            </a:r>
          </a:p>
          <a:p>
            <a:r>
              <a:rPr lang="en-US" dirty="0"/>
              <a:t>Recursion cannot be applied to </a:t>
            </a:r>
            <a:r>
              <a:rPr lang="en-US" dirty="0">
                <a:solidFill>
                  <a:schemeClr val="accent6"/>
                </a:solidFill>
              </a:rPr>
              <a:t>all problems</a:t>
            </a:r>
            <a:r>
              <a:rPr lang="en-US" dirty="0"/>
              <a:t>, but it is more useful for the tasks that can be defined in terms of a </a:t>
            </a:r>
            <a:r>
              <a:rPr lang="en-US" dirty="0">
                <a:solidFill>
                  <a:schemeClr val="accent6"/>
                </a:solidFill>
              </a:rPr>
              <a:t>similar subtask</a:t>
            </a:r>
            <a:r>
              <a:rPr lang="en-US" dirty="0"/>
              <a:t>.</a:t>
            </a:r>
          </a:p>
          <a:p>
            <a:r>
              <a:rPr lang="en-US" dirty="0"/>
              <a:t>It is idea of representing </a:t>
            </a:r>
            <a:r>
              <a:rPr lang="en-US" dirty="0">
                <a:solidFill>
                  <a:schemeClr val="accent6"/>
                </a:solidFill>
              </a:rPr>
              <a:t>problem a with smaller problems</a:t>
            </a:r>
            <a:r>
              <a:rPr lang="en-US" dirty="0"/>
              <a:t>.</a:t>
            </a:r>
          </a:p>
          <a:p>
            <a:r>
              <a:rPr lang="en-US" dirty="0"/>
              <a:t>Any problem that can be solved recursively can be solved </a:t>
            </a:r>
            <a:r>
              <a:rPr lang="en-US" dirty="0">
                <a:solidFill>
                  <a:schemeClr val="accent6"/>
                </a:solidFill>
              </a:rPr>
              <a:t>iteratively</a:t>
            </a:r>
            <a:r>
              <a:rPr lang="en-US" dirty="0"/>
              <a:t>.</a:t>
            </a:r>
          </a:p>
          <a:p>
            <a:r>
              <a:rPr lang="en-US" dirty="0"/>
              <a:t>When recursive function call itself, the memory for called function allocated and different copy of the local variable </a:t>
            </a:r>
            <a:r>
              <a:rPr lang="en-US" dirty="0">
                <a:solidFill>
                  <a:schemeClr val="accent6"/>
                </a:solidFill>
              </a:rPr>
              <a:t>is created for each function call</a:t>
            </a:r>
            <a:r>
              <a:rPr lang="en-US" dirty="0"/>
              <a:t>.</a:t>
            </a:r>
          </a:p>
          <a:p>
            <a:r>
              <a:rPr lang="en-US" dirty="0"/>
              <a:t>Some of the problem best suitable for recursion are</a:t>
            </a:r>
          </a:p>
          <a:p>
            <a:pPr lvl="1"/>
            <a:r>
              <a:rPr lang="en-US" dirty="0"/>
              <a:t>Factorial</a:t>
            </a:r>
          </a:p>
          <a:p>
            <a:pPr lvl="1"/>
            <a:r>
              <a:rPr lang="en-US" dirty="0"/>
              <a:t>Fibonacci</a:t>
            </a:r>
          </a:p>
          <a:p>
            <a:pPr lvl="1"/>
            <a:r>
              <a:rPr lang="en-US" dirty="0"/>
              <a:t>Tower of Hanoi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56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9FACF-2080-C842-96A0-55E3925D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52901-72BC-3348-A7A1-A791659F0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recursive function can </a:t>
            </a:r>
            <a:r>
              <a:rPr lang="en-US" dirty="0">
                <a:solidFill>
                  <a:schemeClr val="accent6"/>
                </a:solidFill>
              </a:rPr>
              <a:t>go infinite like a loop</a:t>
            </a:r>
            <a:r>
              <a:rPr lang="en-US" dirty="0"/>
              <a:t>. To avoid infinite running of recursive function, there are two properties that a recursive function must have.</a:t>
            </a:r>
          </a:p>
          <a:p>
            <a:r>
              <a:rPr lang="en-US" dirty="0">
                <a:solidFill>
                  <a:schemeClr val="accent6"/>
                </a:solidFill>
              </a:rPr>
              <a:t>Base Case or Base criteria </a:t>
            </a:r>
          </a:p>
          <a:p>
            <a:pPr lvl="1"/>
            <a:r>
              <a:rPr lang="en-US" dirty="0"/>
              <a:t>It allows the recursion algorithm to stop.</a:t>
            </a:r>
          </a:p>
          <a:p>
            <a:pPr lvl="1"/>
            <a:r>
              <a:rPr lang="en-US" dirty="0"/>
              <a:t>A base case is typically a problem that is small enough to solve directly.</a:t>
            </a:r>
          </a:p>
          <a:p>
            <a:r>
              <a:rPr lang="en-US" dirty="0">
                <a:solidFill>
                  <a:schemeClr val="accent6"/>
                </a:solidFill>
              </a:rPr>
              <a:t>Progressive approach</a:t>
            </a:r>
          </a:p>
          <a:p>
            <a:pPr lvl="1"/>
            <a:r>
              <a:rPr lang="en-US" dirty="0"/>
              <a:t>A recursive algorithm must change its state in such a way that it moves forward to the base case.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1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A4029-BBBA-3A43-A984-6AD82C343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Recursion - factorial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018E6-4B42-434F-9E9C-4D171FD22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factorial of a integer n, is product of</a:t>
            </a:r>
          </a:p>
          <a:p>
            <a:pPr lvl="1"/>
            <a:r>
              <a:rPr lang="en-US" dirty="0"/>
              <a:t>n * (n-1) * (n-2) *  …. * 1</a:t>
            </a:r>
          </a:p>
          <a:p>
            <a:r>
              <a:rPr lang="en-US" dirty="0"/>
              <a:t>Recursive definition of factorial</a:t>
            </a:r>
          </a:p>
          <a:p>
            <a:pPr lvl="1"/>
            <a:r>
              <a:rPr lang="en-US" dirty="0"/>
              <a:t>n! = n * (n-1)!</a:t>
            </a:r>
          </a:p>
          <a:p>
            <a:pPr lvl="1"/>
            <a:r>
              <a:rPr lang="en-US" dirty="0"/>
              <a:t>Example</a:t>
            </a:r>
          </a:p>
          <a:p>
            <a:pPr lvl="2"/>
            <a:r>
              <a:rPr lang="en-US" dirty="0"/>
              <a:t>3! = 3 * 2 * 1</a:t>
            </a:r>
          </a:p>
          <a:p>
            <a:pPr lvl="2"/>
            <a:r>
              <a:rPr lang="en-US" dirty="0"/>
              <a:t>3! = 3 * (2 * 1)</a:t>
            </a:r>
          </a:p>
          <a:p>
            <a:pPr lvl="2"/>
            <a:r>
              <a:rPr lang="en-US" dirty="0"/>
              <a:t>3! = 3 * (2!) </a:t>
            </a:r>
          </a:p>
          <a:p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A116461B-B91D-6C4D-9594-2667175E4A25}"/>
              </a:ext>
            </a:extLst>
          </p:cNvPr>
          <p:cNvSpPr/>
          <p:nvPr/>
        </p:nvSpPr>
        <p:spPr>
          <a:xfrm>
            <a:off x="5694556" y="2166485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Fact(5)</a:t>
            </a: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980B115C-AAC7-A747-B695-327B9DF531C8}"/>
              </a:ext>
            </a:extLst>
          </p:cNvPr>
          <p:cNvSpPr/>
          <p:nvPr/>
        </p:nvSpPr>
        <p:spPr>
          <a:xfrm>
            <a:off x="6419833" y="3069627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Fact(4)</a:t>
            </a: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72A123A8-2240-3D47-A828-DE17365DF241}"/>
              </a:ext>
            </a:extLst>
          </p:cNvPr>
          <p:cNvSpPr/>
          <p:nvPr/>
        </p:nvSpPr>
        <p:spPr>
          <a:xfrm>
            <a:off x="7132201" y="3972769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Fact(3)</a:t>
            </a: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A3070383-1E06-7E4A-84DA-5258A3BC02D3}"/>
              </a:ext>
            </a:extLst>
          </p:cNvPr>
          <p:cNvSpPr/>
          <p:nvPr/>
        </p:nvSpPr>
        <p:spPr>
          <a:xfrm>
            <a:off x="7871544" y="4875911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Fact(2)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9AE233B3-E4CF-2144-8FE4-9792E4604726}"/>
              </a:ext>
            </a:extLst>
          </p:cNvPr>
          <p:cNvSpPr/>
          <p:nvPr/>
        </p:nvSpPr>
        <p:spPr>
          <a:xfrm>
            <a:off x="8615127" y="5779053"/>
            <a:ext cx="1252251" cy="398057"/>
          </a:xfrm>
          <a:custGeom>
            <a:avLst/>
            <a:gdLst>
              <a:gd name="connsiteX0" fmla="*/ 0 w 2778640"/>
              <a:gd name="connsiteY0" fmla="*/ 0 h 854424"/>
              <a:gd name="connsiteX1" fmla="*/ 2778640 w 2778640"/>
              <a:gd name="connsiteY1" fmla="*/ 0 h 854424"/>
              <a:gd name="connsiteX2" fmla="*/ 2778640 w 2778640"/>
              <a:gd name="connsiteY2" fmla="*/ 854424 h 854424"/>
              <a:gd name="connsiteX3" fmla="*/ 0 w 2778640"/>
              <a:gd name="connsiteY3" fmla="*/ 854424 h 854424"/>
              <a:gd name="connsiteX4" fmla="*/ 0 w 2778640"/>
              <a:gd name="connsiteY4" fmla="*/ 0 h 854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78640" h="854424">
                <a:moveTo>
                  <a:pt x="0" y="0"/>
                </a:moveTo>
                <a:lnTo>
                  <a:pt x="2778640" y="0"/>
                </a:lnTo>
                <a:lnTo>
                  <a:pt x="2778640" y="854424"/>
                </a:lnTo>
                <a:lnTo>
                  <a:pt x="0" y="854424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0" vert="horz" wrap="square" lIns="15240" tIns="15240" rIns="15240" bIns="15240" numCol="1" spcCol="1270" anchor="ctr" anchorCtr="0">
            <a:noAutofit/>
          </a:bodyPr>
          <a:lstStyle/>
          <a:p>
            <a:pPr lvl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 dirty="0">
                <a:solidFill>
                  <a:schemeClr val="bg1"/>
                </a:solidFill>
              </a:rPr>
              <a:t>Fact(1)</a:t>
            </a:r>
          </a:p>
        </p:txBody>
      </p: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C2AC85E9-346B-3149-B6C8-D079E7AB4B6D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29485" y="2456824"/>
            <a:ext cx="503999" cy="721606"/>
          </a:xfrm>
          <a:prstGeom prst="bentConnector3">
            <a:avLst>
              <a:gd name="adj1" fmla="val 55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DEC38AB0-AFB3-044D-8739-51696AF15A6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51092" y="3358881"/>
            <a:ext cx="503999" cy="721606"/>
          </a:xfrm>
          <a:prstGeom prst="bentConnector3">
            <a:avLst>
              <a:gd name="adj1" fmla="val 55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>
            <a:extLst>
              <a:ext uri="{FF2B5EF4-FFF2-40B4-BE49-F238E27FC236}">
                <a16:creationId xmlns:a16="http://schemas.microsoft.com/office/drawing/2014/main" id="{38664780-EC32-4841-ADD5-4DF4126742D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850818" y="4260938"/>
            <a:ext cx="503999" cy="721606"/>
          </a:xfrm>
          <a:prstGeom prst="bentConnector3">
            <a:avLst>
              <a:gd name="adj1" fmla="val 55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0320FF02-4EF8-C146-9106-D740251EC440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06472" y="5143599"/>
            <a:ext cx="503999" cy="721606"/>
          </a:xfrm>
          <a:prstGeom prst="bentConnector3">
            <a:avLst>
              <a:gd name="adj1" fmla="val 5563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A93CE37B-197F-764A-B5BD-4341310B6FB6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55153" y="5143581"/>
            <a:ext cx="681464" cy="544180"/>
          </a:xfrm>
          <a:prstGeom prst="bentConnector3">
            <a:avLst>
              <a:gd name="adj1" fmla="val 1001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E4BD6038-46CE-5843-84D0-A46EFFB020B4}"/>
              </a:ext>
            </a:extLst>
          </p:cNvPr>
          <p:cNvCxnSpPr>
            <a:cxnSpLocks/>
          </p:cNvCxnSpPr>
          <p:nvPr/>
        </p:nvCxnSpPr>
        <p:spPr>
          <a:xfrm rot="16200000" flipV="1">
            <a:off x="8315810" y="4219430"/>
            <a:ext cx="681464" cy="544180"/>
          </a:xfrm>
          <a:prstGeom prst="bentConnector3">
            <a:avLst>
              <a:gd name="adj1" fmla="val 1001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2FE8461-7901-1349-9180-952AD897766B}"/>
              </a:ext>
            </a:extLst>
          </p:cNvPr>
          <p:cNvCxnSpPr>
            <a:cxnSpLocks/>
          </p:cNvCxnSpPr>
          <p:nvPr/>
        </p:nvCxnSpPr>
        <p:spPr>
          <a:xfrm rot="16200000" flipV="1">
            <a:off x="7603442" y="3306711"/>
            <a:ext cx="681464" cy="544180"/>
          </a:xfrm>
          <a:prstGeom prst="bentConnector3">
            <a:avLst>
              <a:gd name="adj1" fmla="val 1001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BFF41A4D-1A71-284C-A876-8F1C5E7D2DD4}"/>
              </a:ext>
            </a:extLst>
          </p:cNvPr>
          <p:cNvCxnSpPr>
            <a:cxnSpLocks/>
          </p:cNvCxnSpPr>
          <p:nvPr/>
        </p:nvCxnSpPr>
        <p:spPr>
          <a:xfrm rot="16200000" flipV="1">
            <a:off x="6878165" y="2376745"/>
            <a:ext cx="681464" cy="544180"/>
          </a:xfrm>
          <a:prstGeom prst="bentConnector3">
            <a:avLst>
              <a:gd name="adj1" fmla="val 1001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17C1453-9020-AC4A-97F3-4C11DF8B73E0}"/>
              </a:ext>
            </a:extLst>
          </p:cNvPr>
          <p:cNvSpPr txBox="1"/>
          <p:nvPr/>
        </p:nvSpPr>
        <p:spPr>
          <a:xfrm>
            <a:off x="5694556" y="2664261"/>
            <a:ext cx="58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Calibri"/>
              </a:rPr>
              <a:t>call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4B8F6E-71C1-764F-A9A3-357F3DAA2879}"/>
              </a:ext>
            </a:extLst>
          </p:cNvPr>
          <p:cNvSpPr txBox="1"/>
          <p:nvPr/>
        </p:nvSpPr>
        <p:spPr>
          <a:xfrm>
            <a:off x="6476215" y="3602895"/>
            <a:ext cx="58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Calibri"/>
              </a:rPr>
              <a:t>call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8A1794-A3AA-9843-B46E-0BB4B7B66B54}"/>
              </a:ext>
            </a:extLst>
          </p:cNvPr>
          <p:cNvSpPr txBox="1"/>
          <p:nvPr/>
        </p:nvSpPr>
        <p:spPr>
          <a:xfrm>
            <a:off x="7149983" y="4444405"/>
            <a:ext cx="58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Calibri"/>
              </a:rPr>
              <a:t>call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ADFFA2-EE09-C744-AFC9-CC7EA07883AD}"/>
              </a:ext>
            </a:extLst>
          </p:cNvPr>
          <p:cNvSpPr txBox="1"/>
          <p:nvPr/>
        </p:nvSpPr>
        <p:spPr>
          <a:xfrm>
            <a:off x="7871544" y="5407353"/>
            <a:ext cx="58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Calibri"/>
              </a:rPr>
              <a:t>call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42B363-D36A-7047-9681-13089CE43F4E}"/>
              </a:ext>
            </a:extLst>
          </p:cNvPr>
          <p:cNvSpPr txBox="1"/>
          <p:nvPr/>
        </p:nvSpPr>
        <p:spPr>
          <a:xfrm>
            <a:off x="9867251" y="5273968"/>
            <a:ext cx="1144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/>
                </a:solidFill>
                <a:latin typeface="Calibri"/>
              </a:rPr>
              <a:t>return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4A7229A-4F56-9C43-A908-BED15AB49E4C}"/>
              </a:ext>
            </a:extLst>
          </p:cNvPr>
          <p:cNvSpPr txBox="1"/>
          <p:nvPr/>
        </p:nvSpPr>
        <p:spPr>
          <a:xfrm>
            <a:off x="9123794" y="4306854"/>
            <a:ext cx="18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/>
                </a:solidFill>
                <a:latin typeface="Calibri"/>
              </a:rPr>
              <a:t>return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2 * 1 = 2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C053BA0-61C6-4E4C-9D71-1262D1C73AD8}"/>
              </a:ext>
            </a:extLst>
          </p:cNvPr>
          <p:cNvSpPr txBox="1"/>
          <p:nvPr/>
        </p:nvSpPr>
        <p:spPr>
          <a:xfrm>
            <a:off x="8372452" y="3380001"/>
            <a:ext cx="18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/>
                </a:solidFill>
                <a:latin typeface="Calibri"/>
              </a:rPr>
              <a:t>return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3 * 2 = 6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10857B-A67C-0B40-AC43-D31504893EF1}"/>
              </a:ext>
            </a:extLst>
          </p:cNvPr>
          <p:cNvSpPr txBox="1"/>
          <p:nvPr/>
        </p:nvSpPr>
        <p:spPr>
          <a:xfrm>
            <a:off x="7611151" y="2507754"/>
            <a:ext cx="1888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accent6"/>
                </a:solidFill>
                <a:latin typeface="Calibri"/>
              </a:rPr>
              <a:t>return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4 * 6 = 24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86613D-736C-884E-9274-55EE48204294}"/>
              </a:ext>
            </a:extLst>
          </p:cNvPr>
          <p:cNvSpPr txBox="1"/>
          <p:nvPr/>
        </p:nvSpPr>
        <p:spPr>
          <a:xfrm>
            <a:off x="6814208" y="1701756"/>
            <a:ext cx="2685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Calibri"/>
              </a:rPr>
              <a:t>Final </a:t>
            </a:r>
            <a:r>
              <a:rPr lang="en-IN" b="1" dirty="0">
                <a:solidFill>
                  <a:schemeClr val="accent6"/>
                </a:solidFill>
                <a:latin typeface="Calibri"/>
              </a:rPr>
              <a:t>Ans 5 *24 = 120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763FC1-3DC8-6543-91C0-38EB5039A1AD}"/>
              </a:ext>
            </a:extLst>
          </p:cNvPr>
          <p:cNvSpPr txBox="1"/>
          <p:nvPr/>
        </p:nvSpPr>
        <p:spPr>
          <a:xfrm>
            <a:off x="6200405" y="993513"/>
            <a:ext cx="31480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/>
                </a:solidFill>
              </a:rPr>
              <a:t>Recursive</a:t>
            </a:r>
            <a:r>
              <a:rPr lang="en-US" sz="2400" b="1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chemeClr val="accent6"/>
                </a:solidFill>
              </a:rPr>
              <a:t>trace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0BF1ED-9B05-1344-BE3D-96E857CE0BE5}"/>
              </a:ext>
            </a:extLst>
          </p:cNvPr>
          <p:cNvSpPr txBox="1"/>
          <p:nvPr/>
        </p:nvSpPr>
        <p:spPr>
          <a:xfrm>
            <a:off x="10332205" y="24681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24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BF2E-781D-CD43-8E88-023268950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15222F-C749-494B-9C5D-43C6395137D2}"/>
              </a:ext>
            </a:extLst>
          </p:cNvPr>
          <p:cNvSpPr/>
          <p:nvPr/>
        </p:nvSpPr>
        <p:spPr>
          <a:xfrm>
            <a:off x="688892" y="1096015"/>
            <a:ext cx="7429196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recursive_factorial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(n):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 ==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 *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recursive_factorial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(n-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# recursive function call</a:t>
            </a:r>
          </a:p>
          <a:p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user input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int(input(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"Enter the number="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"Factorial of number"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"="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recursive_factorial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7F20F0-5337-2D46-BD61-E070A23A0753}"/>
              </a:ext>
            </a:extLst>
          </p:cNvPr>
          <p:cNvSpPr/>
          <p:nvPr/>
        </p:nvSpPr>
        <p:spPr>
          <a:xfrm>
            <a:off x="188899" y="1096015"/>
            <a:ext cx="499993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CE63FC7C-FB36-BE4B-AA5C-FB184EEA29CD}"/>
              </a:ext>
            </a:extLst>
          </p:cNvPr>
          <p:cNvSpPr/>
          <p:nvPr/>
        </p:nvSpPr>
        <p:spPr>
          <a:xfrm>
            <a:off x="188899" y="766831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Factorial.py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3A537F-616A-474A-B208-BE28193DAB0B}"/>
              </a:ext>
            </a:extLst>
          </p:cNvPr>
          <p:cNvSpPr/>
          <p:nvPr/>
        </p:nvSpPr>
        <p:spPr>
          <a:xfrm>
            <a:off x="8618081" y="1148162"/>
            <a:ext cx="314836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Enter the number=5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Factorial of number 5 = 120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D3C90013-EDB3-874B-BFBF-53323310D11F}"/>
              </a:ext>
            </a:extLst>
          </p:cNvPr>
          <p:cNvSpPr/>
          <p:nvPr/>
        </p:nvSpPr>
        <p:spPr>
          <a:xfrm>
            <a:off x="8618081" y="822460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FF9AE4-87FE-4446-9637-93FCAC3019DD}"/>
              </a:ext>
            </a:extLst>
          </p:cNvPr>
          <p:cNvSpPr/>
          <p:nvPr/>
        </p:nvSpPr>
        <p:spPr>
          <a:xfrm>
            <a:off x="688892" y="4144336"/>
            <a:ext cx="7429196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def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r_fibonacci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(n):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n &lt;=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n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else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	return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r_fibonacci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(n-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 +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r_fibonacci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(n-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n = </a:t>
            </a:r>
            <a:r>
              <a:rPr lang="en-IN" sz="1600" dirty="0">
                <a:solidFill>
                  <a:srgbClr val="098658"/>
                </a:solidFill>
                <a:latin typeface="Menlo" panose="020B0609030804020204" pitchFamily="49" charset="0"/>
              </a:rPr>
              <a:t>8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"Fibonacci series:"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for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range(n):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	print(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r_fibonacci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B48337-A617-1B49-9D65-B7908702D5CC}"/>
              </a:ext>
            </a:extLst>
          </p:cNvPr>
          <p:cNvSpPr/>
          <p:nvPr/>
        </p:nvSpPr>
        <p:spPr>
          <a:xfrm>
            <a:off x="188899" y="4144336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AABC27-27C4-7842-9597-4506985C59C4}"/>
              </a:ext>
            </a:extLst>
          </p:cNvPr>
          <p:cNvSpPr/>
          <p:nvPr/>
        </p:nvSpPr>
        <p:spPr>
          <a:xfrm>
            <a:off x="188899" y="3815152"/>
            <a:ext cx="168092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fibonacci.py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3E381D-432C-0641-8463-4411048969C7}"/>
              </a:ext>
            </a:extLst>
          </p:cNvPr>
          <p:cNvSpPr/>
          <p:nvPr/>
        </p:nvSpPr>
        <p:spPr>
          <a:xfrm>
            <a:off x="8618081" y="4196483"/>
            <a:ext cx="3148361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Fibonacci series: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-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-</a:t>
            </a:r>
          </a:p>
          <a:p>
            <a:r>
              <a:rPr lang="en-IN" sz="1400" b="1" dirty="0">
                <a:latin typeface="Consolas" pitchFamily="49" charset="0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F31E21F5-FB7D-8741-A04A-3D5BB24E2B5D}"/>
              </a:ext>
            </a:extLst>
          </p:cNvPr>
          <p:cNvSpPr/>
          <p:nvPr/>
        </p:nvSpPr>
        <p:spPr>
          <a:xfrm>
            <a:off x="8618081" y="3870781"/>
            <a:ext cx="132090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538861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build="p" animBg="1"/>
      <p:bldP spid="10" grpId="0" animBg="1"/>
      <p:bldP spid="11" grpId="0" animBg="1"/>
      <p:bldP spid="12" grpId="0" build="p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3035</TotalTime>
  <Words>4869</Words>
  <Application>Microsoft Office PowerPoint</Application>
  <PresentationFormat>Widescreen</PresentationFormat>
  <Paragraphs>1322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73" baseType="lpstr">
      <vt:lpstr>Arial</vt:lpstr>
      <vt:lpstr>Roboto Condensed Light</vt:lpstr>
      <vt:lpstr>Segoe UI Black</vt:lpstr>
      <vt:lpstr>Menlo</vt:lpstr>
      <vt:lpstr>Wingdings 3</vt:lpstr>
      <vt:lpstr>LM Roman 12</vt:lpstr>
      <vt:lpstr>Wingdings 2</vt:lpstr>
      <vt:lpstr>Courier New</vt:lpstr>
      <vt:lpstr>Times New Roman</vt:lpstr>
      <vt:lpstr>Wingdings</vt:lpstr>
      <vt:lpstr>Calibri</vt:lpstr>
      <vt:lpstr>Roboto Condensed</vt:lpstr>
      <vt:lpstr>Consolas</vt:lpstr>
      <vt:lpstr>Office Theme</vt:lpstr>
      <vt:lpstr>Unit-02  Data Structure and Function  </vt:lpstr>
      <vt:lpstr>PowerPoint Presentation</vt:lpstr>
      <vt:lpstr>String</vt:lpstr>
      <vt:lpstr>Concept of mutability</vt:lpstr>
      <vt:lpstr>Indexing &amp; Slicing </vt:lpstr>
      <vt:lpstr>String Methods</vt:lpstr>
      <vt:lpstr>String Methods (cont.)</vt:lpstr>
      <vt:lpstr>String Methods (cont.)</vt:lpstr>
      <vt:lpstr>String Methods (cont.)</vt:lpstr>
      <vt:lpstr>String Methods (cont.)</vt:lpstr>
      <vt:lpstr>String Methods (cont.)</vt:lpstr>
      <vt:lpstr>String Formatting</vt:lpstr>
      <vt:lpstr>String Formatting (cont.)</vt:lpstr>
      <vt:lpstr>String Formatting (cont.)</vt:lpstr>
      <vt:lpstr>Data Structures in Python</vt:lpstr>
      <vt:lpstr>Data Structures in Python</vt:lpstr>
      <vt:lpstr>List</vt:lpstr>
      <vt:lpstr>List </vt:lpstr>
      <vt:lpstr>List Methods</vt:lpstr>
      <vt:lpstr>List Methods (cont.)</vt:lpstr>
      <vt:lpstr>List Methods (cont.)</vt:lpstr>
      <vt:lpstr>List Comprehension</vt:lpstr>
      <vt:lpstr>List Comprehension (cont.)</vt:lpstr>
      <vt:lpstr>Tuple</vt:lpstr>
      <vt:lpstr>Set</vt:lpstr>
      <vt:lpstr>Dictionary </vt:lpstr>
      <vt:lpstr>Dictionary Methods</vt:lpstr>
      <vt:lpstr>List vs. Tuple vs. Set vs. Dictionary</vt:lpstr>
      <vt:lpstr>Functions</vt:lpstr>
      <vt:lpstr>Function</vt:lpstr>
      <vt:lpstr>Function Name</vt:lpstr>
      <vt:lpstr>DOCSTRING</vt:lpstr>
      <vt:lpstr>Function Types</vt:lpstr>
      <vt:lpstr>Exercise</vt:lpstr>
      <vt:lpstr>Function Arguments</vt:lpstr>
      <vt:lpstr>Positional Arguments</vt:lpstr>
      <vt:lpstr>Keyword arguments</vt:lpstr>
      <vt:lpstr>Default arguments</vt:lpstr>
      <vt:lpstr>Variable-length arguments</vt:lpstr>
      <vt:lpstr>Variable-length arguments</vt:lpstr>
      <vt:lpstr>Variable-length arguments</vt:lpstr>
      <vt:lpstr>Positional Only arguments</vt:lpstr>
      <vt:lpstr>Keyword Only arguments</vt:lpstr>
      <vt:lpstr>Pass by reference vs value</vt:lpstr>
      <vt:lpstr>Pass by reference vs value</vt:lpstr>
      <vt:lpstr>Pass by reference vs value</vt:lpstr>
      <vt:lpstr>return Statement</vt:lpstr>
      <vt:lpstr>return Multiple values</vt:lpstr>
      <vt:lpstr>Scope of Variables</vt:lpstr>
      <vt:lpstr>Scope of Variables (cont.)</vt:lpstr>
      <vt:lpstr>lambda Function</vt:lpstr>
      <vt:lpstr>lambda Function (cont.)</vt:lpstr>
      <vt:lpstr>lambda Function (cont.)</vt:lpstr>
      <vt:lpstr>map</vt:lpstr>
      <vt:lpstr>filter</vt:lpstr>
      <vt:lpstr>Recursion</vt:lpstr>
      <vt:lpstr>Properties of Recursion</vt:lpstr>
      <vt:lpstr>Recursion - factorial example</vt:lpstr>
      <vt:lpstr>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670</cp:revision>
  <dcterms:created xsi:type="dcterms:W3CDTF">2020-05-01T05:09:15Z</dcterms:created>
  <dcterms:modified xsi:type="dcterms:W3CDTF">2026-07-27T02:57:13Z</dcterms:modified>
</cp:coreProperties>
</file>